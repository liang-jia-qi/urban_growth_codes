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2B26F"/>
    <a:srgbClr val="8472D3"/>
    <a:srgbClr val="91D3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248" autoAdjust="0"/>
  </p:normalViewPr>
  <p:slideViewPr>
    <p:cSldViewPr snapToGrid="0">
      <p:cViewPr>
        <p:scale>
          <a:sx n="75" d="100"/>
          <a:sy n="75" d="100"/>
        </p:scale>
        <p:origin x="226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704D5-956F-0C07-E17C-2913D0EA79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97ED55-ED00-7C9A-14F2-1193CE037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510CB1-BEC2-FDB9-DE41-A03ECB922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4A0E5-8AF9-15AB-4951-2CD88AD68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BA11E6-007F-0E06-0C4C-5F312C0D4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1750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2D6E7-AD67-7D8F-D1AC-2D2C2129D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AC8BB-A783-3836-999D-4B3DBA1886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FA88B3-1287-F26D-DE1F-D5C54D65F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704DF8-3617-1227-614A-62418A501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D66276-295B-9DED-9353-1D0D63978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096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9ABCA-33F3-D29A-E0E7-4A553E1EA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1D8664-25EC-E82C-11F1-BAAFED3FD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F46C8-E4E3-E7B0-30A6-C2EEE055A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B6125-7A2C-5A63-7D8E-89DF5D0CE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409D44-5F22-B8C4-B0D0-CE643E22B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3067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CB2D4-B2FA-2B61-9BAD-691F49AB4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E7993-5331-633E-FFC5-3175AC57FC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9532E8-67CD-7B65-6E19-48F3B7DCB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75F0D8-45F3-6E85-C282-7BFD752A6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527C10-C55C-B34E-AA91-50575174C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F6198F-47D3-0DE2-E50C-8663ED903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181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A606A-A42E-0588-19EE-089ECD728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DCF64-79BE-1FFB-6EB2-B0815736C4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2DA19F-2C45-05FF-B4A5-37EC07268E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F842D5-90A6-B592-C51F-279C0EA6DC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7D13BC-14BF-EE5E-8B64-E2C74E07AB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4889EC-8362-8010-B9B5-776B52E3F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8C2C2E-A4F3-55C9-5818-3F1E16CC8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6AFEC9-8E2E-62AC-D9C7-073ABC6D3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209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C1B52-0F0F-91B7-6EE8-7D6B45AF1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A27D34-E683-38FC-64B7-41B8DE4BC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666F70-4502-4753-62A7-DB80A87E7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2D1CE6-CD43-5522-CFA9-F29EFD2EC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793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BA90E6-EE12-2685-4FED-5B31F963B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0FD9C9-9DEA-AA8C-F7BA-E3AF790FE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472EA9-CA86-3B35-A494-B91C01BBF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7051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8E5CD-83DA-E68E-0AAD-D2A72FDE2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25AB8-5094-4A23-8E1F-894515080C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9E6E41-7AA7-BDD5-1697-BCBC387CA5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55674F-759D-83C7-456E-BB62420E7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C3BAC4-6710-2F53-3568-6AD5D854B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F3843C-3CA9-13F2-130D-72B2AB83E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3451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0EAD3-47FA-4595-2B97-0D001038B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C384A1-36A2-913E-B811-857FF02D77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B92C70-07B0-7F5A-D4EE-AA6B5867D8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34DE53-544A-3D52-2858-171365F39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726DC5-CF0F-48CE-C8AB-9F9083867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66C628-D4AD-9D13-2AE7-1F8588E1E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699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9B148-836D-5B5E-44E7-A5E22E412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2EFB4F-35AE-6D43-F3C9-19BA15A165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58EAC4-11A8-D839-758A-E9CF512B0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CED098-9CD1-8E66-8D73-AED64AF4C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E47E7-2713-E92D-7BE8-808FBF1D2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200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19D5E0-0C91-3676-2DE5-5C4882AC14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85BCB8-3706-113F-0194-3A4C01876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B811B0-D98E-F1D3-8FB3-DF7D2F973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09CD2-1F05-EC6A-1C0D-8D03D4664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709E0B-C03F-B5AC-EC25-1F828CE7C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49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20CE3C7-41FE-343A-F31F-7D6E2D0FA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13840A-8BC5-D8FE-A4E5-13B967C443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D48887-FC9A-34EB-EAC4-62901D003A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1D41D5-CA81-4232-B0F3-C09376B2E785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60274-6925-A403-3FEC-8D44206D48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B9E743-1150-49E7-2318-5AAFFD2E3B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8294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6408A2DF-C3A8-0C66-1E68-B1BC0A379BD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4319216"/>
                  </p:ext>
                </p:extLst>
              </p:nvPr>
            </p:nvGraphicFramePr>
            <p:xfrm>
              <a:off x="5626168" y="5940737"/>
              <a:ext cx="5659504" cy="743583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707438">
                      <a:extLst>
                        <a:ext uri="{9D8B030D-6E8A-4147-A177-3AD203B41FA5}">
                          <a16:colId xmlns:a16="http://schemas.microsoft.com/office/drawing/2014/main" val="4114666085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3185546286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3891605319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948251390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2777085471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3153909739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2071051192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4148276775"/>
                        </a:ext>
                      </a:extLst>
                    </a:gridCol>
                  </a:tblGrid>
                  <a:tr h="247861">
                    <a:tc>
                      <a:txBody>
                        <a:bodyPr/>
                        <a:lstStyle/>
                        <a:p>
                          <a:pPr algn="ctr"/>
                          <a:endParaRPr lang="en-US" sz="1400" dirty="0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4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dirty="0" smtClean="0">
                                        <a:latin typeface="Cambria Math" panose="02040503050406030204" pitchFamily="18" charset="0"/>
                                      </a:rPr>
                                      <m:t>𝒑</m:t>
                                    </m:r>
                                  </m:e>
                                  <m:sub>
                                    <m:r>
                                      <a:rPr lang="en-US" sz="1400" dirty="0" smtClean="0">
                                        <a:latin typeface="Cambria Math" panose="02040503050406030204" pitchFamily="18" charset="0"/>
                                      </a:rPr>
                                      <m:t>𝜶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dirty="0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472D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𝜷</m:t>
                                </m:r>
                              </m:oMath>
                            </m:oMathPara>
                          </a14:m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472D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4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dirty="0" smtClean="0">
                                        <a:latin typeface="Cambria Math" panose="02040503050406030204" pitchFamily="18" charset="0"/>
                                      </a:rPr>
                                      <m:t>𝒑</m:t>
                                    </m:r>
                                  </m:e>
                                  <m:sub>
                                    <m:r>
                                      <a:rPr lang="en-US" sz="1400" b="1" dirty="0" smtClean="0">
                                        <a:latin typeface="Cambria Math" panose="02040503050406030204" pitchFamily="18" charset="0"/>
                                      </a:rPr>
                                      <m:t>𝜿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1D37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smtClean="0">
                                    <a:latin typeface="Cambria Math" panose="02040503050406030204" pitchFamily="18" charset="0"/>
                                  </a:rPr>
                                  <m:t>𝜹</m:t>
                                </m:r>
                              </m:oMath>
                            </m:oMathPara>
                          </a14:m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1D37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dirty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2B26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dirty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2B26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dirty="0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2B26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3394126"/>
                      </a:ext>
                    </a:extLst>
                  </a:tr>
                  <a:tr h="24786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2016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39.2%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0.387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33.9%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0.136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6.10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-0.053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0.002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35250859"/>
                      </a:ext>
                    </a:extLst>
                  </a:tr>
                  <a:tr h="24786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2023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35.4%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0.447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35.4%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0.162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6.42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-0.066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0.003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4175295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6408A2DF-C3A8-0C66-1E68-B1BC0A379BD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4319216"/>
                  </p:ext>
                </p:extLst>
              </p:nvPr>
            </p:nvGraphicFramePr>
            <p:xfrm>
              <a:off x="5626168" y="5940737"/>
              <a:ext cx="5659504" cy="743583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707438">
                      <a:extLst>
                        <a:ext uri="{9D8B030D-6E8A-4147-A177-3AD203B41FA5}">
                          <a16:colId xmlns:a16="http://schemas.microsoft.com/office/drawing/2014/main" val="4114666085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3185546286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3891605319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948251390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2777085471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3153909739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2071051192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4148276775"/>
                        </a:ext>
                      </a:extLst>
                    </a:gridCol>
                  </a:tblGrid>
                  <a:tr h="247861">
                    <a:tc>
                      <a:txBody>
                        <a:bodyPr/>
                        <a:lstStyle/>
                        <a:p>
                          <a:pPr algn="ctr"/>
                          <a:endParaRPr lang="en-US" sz="1400" dirty="0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000" t="-2439" r="-597436" b="-2365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1724" t="-2439" r="-502586" b="-2365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724" t="-2439" r="-402586" b="-2365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1724" t="-2439" r="-302586" b="-2365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97436" t="-2439" r="-200000" b="-2365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602586" t="-2439" r="-101724" b="-2365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702586" t="-2439" r="-1724" b="-2365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3394126"/>
                      </a:ext>
                    </a:extLst>
                  </a:tr>
                  <a:tr h="24786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2016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39.2%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0.387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33.9%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0.136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6.10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-0.053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0.002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35250859"/>
                      </a:ext>
                    </a:extLst>
                  </a:tr>
                  <a:tr h="24786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2023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35.4%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0.447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35.4%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0.162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6.42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-0.066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0.003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41752953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48" name="Group 47">
            <a:extLst>
              <a:ext uri="{FF2B5EF4-FFF2-40B4-BE49-F238E27FC236}">
                <a16:creationId xmlns:a16="http://schemas.microsoft.com/office/drawing/2014/main" id="{18887E32-5983-EE32-C011-05A85981731E}"/>
              </a:ext>
            </a:extLst>
          </p:cNvPr>
          <p:cNvGrpSpPr/>
          <p:nvPr/>
        </p:nvGrpSpPr>
        <p:grpSpPr>
          <a:xfrm>
            <a:off x="5966786" y="6862976"/>
            <a:ext cx="1811570" cy="2028531"/>
            <a:chOff x="860002" y="1378417"/>
            <a:chExt cx="1811570" cy="2028531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717C5B53-6F7E-620F-8824-8CA8FD2621A7}"/>
                </a:ext>
              </a:extLst>
            </p:cNvPr>
            <p:cNvSpPr/>
            <p:nvPr/>
          </p:nvSpPr>
          <p:spPr>
            <a:xfrm>
              <a:off x="1467658" y="2205990"/>
              <a:ext cx="597362" cy="597362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543BC997-0C00-0EB4-3CE1-2D6064A67220}"/>
                </a:ext>
              </a:extLst>
            </p:cNvPr>
            <p:cNvSpPr/>
            <p:nvPr/>
          </p:nvSpPr>
          <p:spPr>
            <a:xfrm>
              <a:off x="1274393" y="2005005"/>
              <a:ext cx="991560" cy="991560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419523A6-3302-6551-DCCF-F1AD301981AC}"/>
                </a:ext>
              </a:extLst>
            </p:cNvPr>
            <p:cNvSpPr/>
            <p:nvPr/>
          </p:nvSpPr>
          <p:spPr>
            <a:xfrm>
              <a:off x="860002" y="1595378"/>
              <a:ext cx="1811570" cy="1811570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848DAC31-A088-F3EE-AB48-A6E0FBD6E98D}"/>
                </a:ext>
              </a:extLst>
            </p:cNvPr>
            <p:cNvSpPr/>
            <p:nvPr/>
          </p:nvSpPr>
          <p:spPr>
            <a:xfrm>
              <a:off x="1746991" y="2477925"/>
              <a:ext cx="46363" cy="45719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22561D7-B1FD-1DA6-1675-5142A70F2A98}"/>
                </a:ext>
              </a:extLst>
            </p:cNvPr>
            <p:cNvSpPr txBox="1"/>
            <p:nvPr/>
          </p:nvSpPr>
          <p:spPr>
            <a:xfrm>
              <a:off x="1512081" y="1378417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 = 9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8E02713-4BD8-00C1-DC2B-D3B577D6A312}"/>
                </a:ext>
              </a:extLst>
            </p:cNvPr>
            <p:cNvSpPr txBox="1"/>
            <p:nvPr/>
          </p:nvSpPr>
          <p:spPr>
            <a:xfrm>
              <a:off x="1512081" y="1787782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 = 5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BE0EBB4-0222-7243-FC9C-8C48680D8EAD}"/>
                </a:ext>
              </a:extLst>
            </p:cNvPr>
            <p:cNvSpPr txBox="1"/>
            <p:nvPr/>
          </p:nvSpPr>
          <p:spPr>
            <a:xfrm>
              <a:off x="1520327" y="2006378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 = 3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F821FA1-8203-483E-2907-E6B455A2F96F}"/>
              </a:ext>
            </a:extLst>
          </p:cNvPr>
          <p:cNvGrpSpPr/>
          <p:nvPr/>
        </p:nvGrpSpPr>
        <p:grpSpPr>
          <a:xfrm>
            <a:off x="8154776" y="7001475"/>
            <a:ext cx="2159842" cy="2351461"/>
            <a:chOff x="3324018" y="1233590"/>
            <a:chExt cx="2159842" cy="2351461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3EC0BBF-FC5A-CF7D-849A-455D29EF46C7}"/>
                </a:ext>
              </a:extLst>
            </p:cNvPr>
            <p:cNvSpPr/>
            <p:nvPr/>
          </p:nvSpPr>
          <p:spPr>
            <a:xfrm>
              <a:off x="4048389" y="2152536"/>
              <a:ext cx="712204" cy="712204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8D38980D-9E05-337F-FCE2-582ACFBF458F}"/>
                </a:ext>
              </a:extLst>
            </p:cNvPr>
            <p:cNvSpPr/>
            <p:nvPr/>
          </p:nvSpPr>
          <p:spPr>
            <a:xfrm>
              <a:off x="3817232" y="1913659"/>
              <a:ext cx="1182186" cy="1182186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FC767CF5-3F7E-5898-9174-A1D68D84785E}"/>
                </a:ext>
              </a:extLst>
            </p:cNvPr>
            <p:cNvSpPr/>
            <p:nvPr/>
          </p:nvSpPr>
          <p:spPr>
            <a:xfrm>
              <a:off x="3324018" y="1425209"/>
              <a:ext cx="2159842" cy="2159842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E220E4FA-D09B-D2C9-F7B2-1640991D20B9}"/>
                </a:ext>
              </a:extLst>
            </p:cNvPr>
            <p:cNvSpPr/>
            <p:nvPr/>
          </p:nvSpPr>
          <p:spPr>
            <a:xfrm>
              <a:off x="4392763" y="2492052"/>
              <a:ext cx="46363" cy="45719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B3A76907-3FBF-879A-1D52-D28195EF35EE}"/>
                </a:ext>
              </a:extLst>
            </p:cNvPr>
            <p:cNvSpPr txBox="1"/>
            <p:nvPr/>
          </p:nvSpPr>
          <p:spPr>
            <a:xfrm>
              <a:off x="4167318" y="1233590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 = 9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4DE38E54-71C6-BD99-8E9B-834EF1B30091}"/>
                </a:ext>
              </a:extLst>
            </p:cNvPr>
            <p:cNvSpPr txBox="1"/>
            <p:nvPr/>
          </p:nvSpPr>
          <p:spPr>
            <a:xfrm>
              <a:off x="4160914" y="1696881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 = 5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0A72C66-707D-1978-92C0-B54B82BEA728}"/>
                </a:ext>
              </a:extLst>
            </p:cNvPr>
            <p:cNvSpPr txBox="1"/>
            <p:nvPr/>
          </p:nvSpPr>
          <p:spPr>
            <a:xfrm>
              <a:off x="4167319" y="1960290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 = 3</a:t>
              </a:r>
            </a:p>
          </p:txBody>
        </p:sp>
      </p:grpSp>
      <p:pic>
        <p:nvPicPr>
          <p:cNvPr id="31" name="Picture 30" descr="Screenshot from 2025-05-14 13-41-03">
            <a:extLst>
              <a:ext uri="{FF2B5EF4-FFF2-40B4-BE49-F238E27FC236}">
                <a16:creationId xmlns:a16="http://schemas.microsoft.com/office/drawing/2014/main" id="{BCDD229C-D1CC-7CF1-8D96-4FF395C97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6462" y="6993879"/>
            <a:ext cx="2628590" cy="2417285"/>
          </a:xfrm>
          <a:prstGeom prst="rect">
            <a:avLst/>
          </a:prstGeom>
        </p:spPr>
      </p:pic>
      <p:pic>
        <p:nvPicPr>
          <p:cNvPr id="44" name="Picture 43" descr="Screenshot from 2025-05-14 13-40-46">
            <a:extLst>
              <a:ext uri="{FF2B5EF4-FFF2-40B4-BE49-F238E27FC236}">
                <a16:creationId xmlns:a16="http://schemas.microsoft.com/office/drawing/2014/main" id="{B34C7A28-594B-8A66-9D30-DAF9C18DB0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8619" y="6993879"/>
            <a:ext cx="2628590" cy="2417285"/>
          </a:xfrm>
          <a:prstGeom prst="rect">
            <a:avLst/>
          </a:prstGeom>
        </p:spPr>
      </p:pic>
      <p:grpSp>
        <p:nvGrpSpPr>
          <p:cNvPr id="167" name="Group 166">
            <a:extLst>
              <a:ext uri="{FF2B5EF4-FFF2-40B4-BE49-F238E27FC236}">
                <a16:creationId xmlns:a16="http://schemas.microsoft.com/office/drawing/2014/main" id="{ED54173B-6A5C-E5C0-4723-38AFFB7E395D}"/>
              </a:ext>
            </a:extLst>
          </p:cNvPr>
          <p:cNvGrpSpPr/>
          <p:nvPr/>
        </p:nvGrpSpPr>
        <p:grpSpPr>
          <a:xfrm>
            <a:off x="1182589" y="487680"/>
            <a:ext cx="10633492" cy="4318000"/>
            <a:chOff x="1182589" y="487680"/>
            <a:chExt cx="10633492" cy="4318000"/>
          </a:xfrm>
        </p:grpSpPr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B3C88A38-37BE-30EE-242B-81D3224D1375}"/>
                </a:ext>
              </a:extLst>
            </p:cNvPr>
            <p:cNvSpPr/>
            <p:nvPr/>
          </p:nvSpPr>
          <p:spPr>
            <a:xfrm>
              <a:off x="1182589" y="487680"/>
              <a:ext cx="10633492" cy="431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5" name="Group 164">
              <a:extLst>
                <a:ext uri="{FF2B5EF4-FFF2-40B4-BE49-F238E27FC236}">
                  <a16:creationId xmlns:a16="http://schemas.microsoft.com/office/drawing/2014/main" id="{8A8C1248-3FCA-EE73-06C9-A6B2EB9B259A}"/>
                </a:ext>
              </a:extLst>
            </p:cNvPr>
            <p:cNvGrpSpPr/>
            <p:nvPr/>
          </p:nvGrpSpPr>
          <p:grpSpPr>
            <a:xfrm>
              <a:off x="1297038" y="561113"/>
              <a:ext cx="10423365" cy="4132336"/>
              <a:chOff x="1297038" y="561113"/>
              <a:chExt cx="10423365" cy="4132336"/>
            </a:xfrm>
          </p:grpSpPr>
          <p:pic>
            <p:nvPicPr>
              <p:cNvPr id="164" name="Picture 163">
                <a:extLst>
                  <a:ext uri="{FF2B5EF4-FFF2-40B4-BE49-F238E27FC236}">
                    <a16:creationId xmlns:a16="http://schemas.microsoft.com/office/drawing/2014/main" id="{C3357DB4-C113-E0CE-31C1-A687EA879E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317582" y="1484912"/>
                <a:ext cx="4333731" cy="2161861"/>
              </a:xfrm>
              <a:prstGeom prst="rect">
                <a:avLst/>
              </a:prstGeom>
            </p:spPr>
          </p:pic>
          <p:grpSp>
            <p:nvGrpSpPr>
              <p:cNvPr id="162" name="Group 161">
                <a:extLst>
                  <a:ext uri="{FF2B5EF4-FFF2-40B4-BE49-F238E27FC236}">
                    <a16:creationId xmlns:a16="http://schemas.microsoft.com/office/drawing/2014/main" id="{67AAB57E-46FC-EE6B-E188-8A28E7C006DC}"/>
                  </a:ext>
                </a:extLst>
              </p:cNvPr>
              <p:cNvGrpSpPr/>
              <p:nvPr/>
            </p:nvGrpSpPr>
            <p:grpSpPr>
              <a:xfrm>
                <a:off x="1297038" y="561113"/>
                <a:ext cx="10423365" cy="4132336"/>
                <a:chOff x="1297038" y="561113"/>
                <a:chExt cx="10423365" cy="4132336"/>
              </a:xfrm>
            </p:grpSpPr>
            <p:pic>
              <p:nvPicPr>
                <p:cNvPr id="59" name="Picture 58">
                  <a:extLst>
                    <a:ext uri="{FF2B5EF4-FFF2-40B4-BE49-F238E27FC236}">
                      <a16:creationId xmlns:a16="http://schemas.microsoft.com/office/drawing/2014/main" id="{3AEE5A37-24A9-CD09-28AF-BCBDF8A6476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313659" y="1469064"/>
                  <a:ext cx="4337931" cy="2164956"/>
                </a:xfrm>
                <a:prstGeom prst="rect">
                  <a:avLst/>
                </a:prstGeom>
              </p:spPr>
            </p:pic>
            <p:pic>
              <p:nvPicPr>
                <p:cNvPr id="47" name="Picture 46">
                  <a:extLst>
                    <a:ext uri="{FF2B5EF4-FFF2-40B4-BE49-F238E27FC236}">
                      <a16:creationId xmlns:a16="http://schemas.microsoft.com/office/drawing/2014/main" id="{F0F4096D-917E-3986-3120-252F590A0B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rcRect r="49822"/>
                <a:stretch>
                  <a:fillRect/>
                </a:stretch>
              </p:blipFill>
              <p:spPr>
                <a:xfrm>
                  <a:off x="5840520" y="1036660"/>
                  <a:ext cx="2815090" cy="2752725"/>
                </a:xfrm>
                <a:prstGeom prst="rect">
                  <a:avLst/>
                </a:prstGeom>
                <a:solidFill>
                  <a:srgbClr val="91D372"/>
                </a:solidFill>
              </p:spPr>
            </p:pic>
            <p:pic>
              <p:nvPicPr>
                <p:cNvPr id="81" name="Picture 80">
                  <a:extLst>
                    <a:ext uri="{FF2B5EF4-FFF2-40B4-BE49-F238E27FC236}">
                      <a16:creationId xmlns:a16="http://schemas.microsoft.com/office/drawing/2014/main" id="{D12D44C7-FCDD-56D0-4803-CC655BD1B49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rcRect l="50598"/>
                <a:stretch>
                  <a:fillRect/>
                </a:stretch>
              </p:blipFill>
              <p:spPr>
                <a:xfrm>
                  <a:off x="8862342" y="993974"/>
                  <a:ext cx="2771569" cy="2752725"/>
                </a:xfrm>
                <a:prstGeom prst="rect">
                  <a:avLst/>
                </a:prstGeom>
                <a:solidFill>
                  <a:srgbClr val="91D372"/>
                </a:solidFill>
              </p:spPr>
            </p:pic>
            <p:sp>
              <p:nvSpPr>
                <p:cNvPr id="11" name="Text Box 9">
                  <a:extLst>
                    <a:ext uri="{FF2B5EF4-FFF2-40B4-BE49-F238E27FC236}">
                      <a16:creationId xmlns:a16="http://schemas.microsoft.com/office/drawing/2014/main" id="{71EE8E13-96EA-910A-81F3-E9688BF50613}"/>
                    </a:ext>
                  </a:extLst>
                </p:cNvPr>
                <p:cNvSpPr txBox="1"/>
                <p:nvPr/>
              </p:nvSpPr>
              <p:spPr>
                <a:xfrm>
                  <a:off x="1297038" y="567053"/>
                  <a:ext cx="4440976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algn="ctr"/>
                  <a:r>
                    <a:rPr lang="en-US" sz="1600" dirty="0"/>
                    <a:t>(a)</a:t>
                  </a:r>
                  <a:r>
                    <a:rPr lang="zh-CN" altLang="en-US" sz="1600" dirty="0"/>
                    <a:t> </a:t>
                  </a:r>
                  <a:r>
                    <a:rPr lang="en-US" altLang="zh-CN" sz="1600" dirty="0"/>
                    <a:t>Building Existence and Height Map (Antananarivo)</a:t>
                  </a:r>
                  <a:endParaRPr lang="en-US" sz="1600" dirty="0"/>
                </a:p>
              </p:txBody>
            </p:sp>
            <p:grpSp>
              <p:nvGrpSpPr>
                <p:cNvPr id="10" name="Google Shape;156;p16">
                  <a:extLst>
                    <a:ext uri="{FF2B5EF4-FFF2-40B4-BE49-F238E27FC236}">
                      <a16:creationId xmlns:a16="http://schemas.microsoft.com/office/drawing/2014/main" id="{5E731B56-553C-28A0-B977-8FA0B7143C61}"/>
                    </a:ext>
                  </a:extLst>
                </p:cNvPr>
                <p:cNvGrpSpPr/>
                <p:nvPr/>
              </p:nvGrpSpPr>
              <p:grpSpPr>
                <a:xfrm>
                  <a:off x="1692595" y="3686616"/>
                  <a:ext cx="3041592" cy="658323"/>
                  <a:chOff x="4807925" y="4484375"/>
                  <a:chExt cx="2693250" cy="582180"/>
                </a:xfrm>
              </p:grpSpPr>
              <p:sp>
                <p:nvSpPr>
                  <p:cNvPr id="17" name="Google Shape;157;p16">
                    <a:extLst>
                      <a:ext uri="{FF2B5EF4-FFF2-40B4-BE49-F238E27FC236}">
                        <a16:creationId xmlns:a16="http://schemas.microsoft.com/office/drawing/2014/main" id="{8B13B24B-FBD8-5930-DE5D-C55C619CE57A}"/>
                      </a:ext>
                    </a:extLst>
                  </p:cNvPr>
                  <p:cNvSpPr/>
                  <p:nvPr/>
                </p:nvSpPr>
                <p:spPr>
                  <a:xfrm>
                    <a:off x="4913433" y="4758200"/>
                    <a:ext cx="432300" cy="234600"/>
                  </a:xfrm>
                  <a:prstGeom prst="rect">
                    <a:avLst/>
                  </a:pr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9pPr>
                  </a:lstStyle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/>
                  </a:p>
                </p:txBody>
              </p:sp>
              <p:sp>
                <p:nvSpPr>
                  <p:cNvPr id="18" name="Google Shape;158;p16">
                    <a:extLst>
                      <a:ext uri="{FF2B5EF4-FFF2-40B4-BE49-F238E27FC236}">
                        <a16:creationId xmlns:a16="http://schemas.microsoft.com/office/drawing/2014/main" id="{E38C44FB-852A-E8CE-AA35-AD40BB952321}"/>
                      </a:ext>
                    </a:extLst>
                  </p:cNvPr>
                  <p:cNvSpPr txBox="1"/>
                  <p:nvPr/>
                </p:nvSpPr>
                <p:spPr>
                  <a:xfrm>
                    <a:off x="4807925" y="4484375"/>
                    <a:ext cx="800100" cy="50757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9pPr>
                  </a:lstStyle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de-AT" sz="1000" b="1" dirty="0">
                        <a:solidFill>
                          <a:schemeClr val="dk1"/>
                        </a:solidFill>
                      </a:rPr>
                      <a:t>No Building</a:t>
                    </a:r>
                    <a:endParaRPr sz="1000" b="1" dirty="0">
                      <a:solidFill>
                        <a:schemeClr val="dk1"/>
                      </a:solidFill>
                    </a:endParaRPr>
                  </a:p>
                </p:txBody>
              </p:sp>
              <p:sp>
                <p:nvSpPr>
                  <p:cNvPr id="19" name="Google Shape;159;p16">
                    <a:extLst>
                      <a:ext uri="{FF2B5EF4-FFF2-40B4-BE49-F238E27FC236}">
                        <a16:creationId xmlns:a16="http://schemas.microsoft.com/office/drawing/2014/main" id="{4D00177F-CDC7-0F25-08C3-B4767BE48A71}"/>
                      </a:ext>
                    </a:extLst>
                  </p:cNvPr>
                  <p:cNvSpPr/>
                  <p:nvPr/>
                </p:nvSpPr>
                <p:spPr>
                  <a:xfrm>
                    <a:off x="5890875" y="4753925"/>
                    <a:ext cx="1009200" cy="234600"/>
                  </a:xfrm>
                  <a:prstGeom prst="rect">
                    <a:avLst/>
                  </a:prstGeom>
                  <a:gradFill>
                    <a:gsLst>
                      <a:gs pos="0">
                        <a:srgbClr val="1D4877"/>
                      </a:gs>
                      <a:gs pos="24000">
                        <a:srgbClr val="1B8A5A"/>
                      </a:gs>
                      <a:gs pos="50000">
                        <a:srgbClr val="FBB021"/>
                      </a:gs>
                      <a:gs pos="75000">
                        <a:srgbClr val="F68838"/>
                      </a:gs>
                      <a:gs pos="100000">
                        <a:srgbClr val="EE3E32"/>
                      </a:gs>
                    </a:gsLst>
                    <a:lin ang="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9pPr>
                  </a:lstStyle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/>
                  </a:p>
                </p:txBody>
              </p:sp>
              <p:sp>
                <p:nvSpPr>
                  <p:cNvPr id="20" name="Google Shape;160;p16">
                    <a:extLst>
                      <a:ext uri="{FF2B5EF4-FFF2-40B4-BE49-F238E27FC236}">
                        <a16:creationId xmlns:a16="http://schemas.microsoft.com/office/drawing/2014/main" id="{2A44F1C0-705F-63B6-1892-E834A7E81E7A}"/>
                      </a:ext>
                    </a:extLst>
                  </p:cNvPr>
                  <p:cNvSpPr txBox="1"/>
                  <p:nvPr/>
                </p:nvSpPr>
                <p:spPr>
                  <a:xfrm>
                    <a:off x="5647974" y="4709676"/>
                    <a:ext cx="233100" cy="356879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9pPr>
                  </a:lstStyle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de-AT" sz="1050">
                        <a:solidFill>
                          <a:schemeClr val="dk1"/>
                        </a:solidFill>
                      </a:rPr>
                      <a:t>0</a:t>
                    </a:r>
                    <a:endParaRPr sz="1050">
                      <a:solidFill>
                        <a:schemeClr val="dk1"/>
                      </a:solidFill>
                    </a:endParaRPr>
                  </a:p>
                </p:txBody>
              </p:sp>
              <p:sp>
                <p:nvSpPr>
                  <p:cNvPr id="21" name="Google Shape;161;p16">
                    <a:extLst>
                      <a:ext uri="{FF2B5EF4-FFF2-40B4-BE49-F238E27FC236}">
                        <a16:creationId xmlns:a16="http://schemas.microsoft.com/office/drawing/2014/main" id="{1AC6F036-707E-BE20-2985-A19BC9824237}"/>
                      </a:ext>
                    </a:extLst>
                  </p:cNvPr>
                  <p:cNvSpPr txBox="1"/>
                  <p:nvPr/>
                </p:nvSpPr>
                <p:spPr>
                  <a:xfrm>
                    <a:off x="6866956" y="4725897"/>
                    <a:ext cx="591300" cy="30617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9pPr>
                  </a:lstStyle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de-AT" sz="1050" dirty="0">
                        <a:solidFill>
                          <a:schemeClr val="dk1"/>
                        </a:solidFill>
                      </a:rPr>
                      <a:t>10m</a:t>
                    </a:r>
                    <a:endParaRPr sz="1050" dirty="0">
                      <a:solidFill>
                        <a:schemeClr val="dk1"/>
                      </a:solidFill>
                    </a:endParaRPr>
                  </a:p>
                </p:txBody>
              </p:sp>
              <p:sp>
                <p:nvSpPr>
                  <p:cNvPr id="22" name="Google Shape;162;p16">
                    <a:extLst>
                      <a:ext uri="{FF2B5EF4-FFF2-40B4-BE49-F238E27FC236}">
                        <a16:creationId xmlns:a16="http://schemas.microsoft.com/office/drawing/2014/main" id="{FC8456CD-8F64-C977-7C60-F1174824676B}"/>
                      </a:ext>
                    </a:extLst>
                  </p:cNvPr>
                  <p:cNvSpPr txBox="1"/>
                  <p:nvPr/>
                </p:nvSpPr>
                <p:spPr>
                  <a:xfrm>
                    <a:off x="5819375" y="4484376"/>
                    <a:ext cx="1681800" cy="348948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9pPr>
                  </a:lstStyle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de-AT" sz="1000" b="1">
                        <a:solidFill>
                          <a:schemeClr val="dk1"/>
                        </a:solidFill>
                      </a:rPr>
                      <a:t>Building Height (pixel)</a:t>
                    </a:r>
                    <a:endParaRPr sz="1000" b="1">
                      <a:solidFill>
                        <a:schemeClr val="dk1"/>
                      </a:solidFill>
                    </a:endParaRPr>
                  </a:p>
                </p:txBody>
              </p:sp>
            </p:grp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A0718CCF-89C6-9A5B-D8D8-35DFE5557012}"/>
                    </a:ext>
                  </a:extLst>
                </p:cNvPr>
                <p:cNvSpPr txBox="1"/>
                <p:nvPr/>
              </p:nvSpPr>
              <p:spPr>
                <a:xfrm>
                  <a:off x="1986766" y="1232850"/>
                  <a:ext cx="811806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2016</a:t>
                  </a:r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B11A087-864B-B7F0-F2EF-92C7834CE9A7}"/>
                    </a:ext>
                  </a:extLst>
                </p:cNvPr>
                <p:cNvSpPr txBox="1"/>
                <p:nvPr/>
              </p:nvSpPr>
              <p:spPr>
                <a:xfrm>
                  <a:off x="4173728" y="1200391"/>
                  <a:ext cx="811806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2023</a:t>
                  </a:r>
                </a:p>
              </p:txBody>
            </p:sp>
            <p:sp>
              <p:nvSpPr>
                <p:cNvPr id="56" name="Text Box 9">
                  <a:extLst>
                    <a:ext uri="{FF2B5EF4-FFF2-40B4-BE49-F238E27FC236}">
                      <a16:creationId xmlns:a16="http://schemas.microsoft.com/office/drawing/2014/main" id="{9D877299-2E12-77FB-747A-C7C7C4A027AF}"/>
                    </a:ext>
                  </a:extLst>
                </p:cNvPr>
                <p:cNvSpPr txBox="1"/>
                <p:nvPr/>
              </p:nvSpPr>
              <p:spPr>
                <a:xfrm>
                  <a:off x="5966786" y="567053"/>
                  <a:ext cx="2763833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(b) Horizontal Constraint and Construction Curves</a:t>
                  </a:r>
                </a:p>
              </p:txBody>
            </p:sp>
            <p:sp>
              <p:nvSpPr>
                <p:cNvPr id="57" name="Text Box 9">
                  <a:extLst>
                    <a:ext uri="{FF2B5EF4-FFF2-40B4-BE49-F238E27FC236}">
                      <a16:creationId xmlns:a16="http://schemas.microsoft.com/office/drawing/2014/main" id="{5E124426-FCA4-B31D-F11B-9CDD824BA24F}"/>
                    </a:ext>
                  </a:extLst>
                </p:cNvPr>
                <p:cNvSpPr txBox="1"/>
                <p:nvPr/>
              </p:nvSpPr>
              <p:spPr>
                <a:xfrm>
                  <a:off x="8959391" y="561113"/>
                  <a:ext cx="276101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(c) Vertical Profile Curves</a:t>
                  </a:r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CAFEBD21-9D7F-E049-2B8D-EEEDFACA6F7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246252" y="1159592"/>
                      <a:ext cx="1899544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1" i="1" smtClean="0">
                                <a:solidFill>
                                  <a:srgbClr val="8472D3"/>
                                </a:solidFill>
                                <a:latin typeface="Cambria Math" panose="02040503050406030204" pitchFamily="18" charset="0"/>
                              </a:rPr>
                              <m:t>𝝍</m:t>
                            </m:r>
                            <m:d>
                              <m:dPr>
                                <m:ctrlPr>
                                  <a:rPr lang="en-US" sz="1200" b="1" i="1" smtClean="0">
                                    <a:solidFill>
                                      <a:srgbClr val="8472D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200" b="1" i="1" smtClean="0">
                                    <a:solidFill>
                                      <a:srgbClr val="8472D3"/>
                                    </a:solidFill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</m:d>
                            <m:r>
                              <a:rPr lang="en-US" sz="1200" b="1" i="1" smtClean="0">
                                <a:solidFill>
                                  <a:srgbClr val="8472D3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zh-CN" sz="1200" b="1" i="0">
                                <a:solidFill>
                                  <a:srgbClr val="8472D3"/>
                                </a:solidFill>
                                <a:latin typeface="Cambria Math" panose="02040503050406030204" pitchFamily="18" charset="0"/>
                              </a:rPr>
                              <m:t>𝐥𝐨𝐠𝐢𝐬𝐭𝐢𝐜</m:t>
                            </m:r>
                            <m:d>
                              <m:dPr>
                                <m:ctrlPr>
                                  <a:rPr lang="en-US" sz="1200" b="1" i="1" smtClean="0">
                                    <a:solidFill>
                                      <a:srgbClr val="8472D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200" b="1" i="1" smtClean="0">
                                    <a:solidFill>
                                      <a:srgbClr val="8472D3"/>
                                    </a:solidFill>
                                    <a:latin typeface="Cambria Math" panose="02040503050406030204" pitchFamily="18" charset="0"/>
                                  </a:rPr>
                                  <m:t>𝜶</m:t>
                                </m:r>
                                <m:r>
                                  <a:rPr lang="en-US" sz="1200" b="1" i="1" smtClean="0">
                                    <a:solidFill>
                                      <a:srgbClr val="8472D3"/>
                                    </a:solidFill>
                                    <a:latin typeface="Cambria Math" panose="02040503050406030204" pitchFamily="18" charset="0"/>
                                  </a:rPr>
                                  <m:t>+ </m:t>
                                </m:r>
                                <m:r>
                                  <a:rPr lang="en-US" sz="1200" b="1" i="1" smtClean="0">
                                    <a:solidFill>
                                      <a:srgbClr val="8472D3"/>
                                    </a:solidFill>
                                    <a:latin typeface="Cambria Math" panose="02040503050406030204" pitchFamily="18" charset="0"/>
                                  </a:rPr>
                                  <m:t>𝜷</m:t>
                                </m:r>
                                <m:r>
                                  <a:rPr lang="en-US" sz="1200" b="1" i="1" smtClean="0">
                                    <a:solidFill>
                                      <a:srgbClr val="8472D3"/>
                                    </a:solidFill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</m:d>
                          </m:oMath>
                        </m:oMathPara>
                      </a14:m>
                      <a:endParaRPr lang="en-US" sz="1200" b="1" dirty="0">
                        <a:solidFill>
                          <a:srgbClr val="8472D3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CAFEBD21-9D7F-E049-2B8D-EEEDFACA6F7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246252" y="1159592"/>
                      <a:ext cx="1899544" cy="27699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b="-434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432B4E6A-77D3-AA49-2686-573C14A8279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88386" y="3173467"/>
                      <a:ext cx="1899544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1" i="1" dirty="0" smtClean="0">
                                <a:solidFill>
                                  <a:srgbClr val="91D372"/>
                                </a:solidFill>
                                <a:latin typeface="Cambria Math" panose="02040503050406030204" pitchFamily="18" charset="0"/>
                              </a:rPr>
                              <m:t>𝝅</m:t>
                            </m:r>
                            <m:d>
                              <m:dPr>
                                <m:ctrlPr>
                                  <a:rPr lang="en-US" sz="1200" b="1" i="1" dirty="0" smtClean="0">
                                    <a:solidFill>
                                      <a:srgbClr val="91D37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200" b="1" i="1" dirty="0" smtClean="0">
                                    <a:solidFill>
                                      <a:srgbClr val="91D372"/>
                                    </a:solidFill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</m:d>
                            <m:r>
                              <a:rPr lang="en-US" sz="1200" b="1" i="1" dirty="0" smtClean="0">
                                <a:solidFill>
                                  <a:srgbClr val="91D372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1200" b="1" i="0" dirty="0" smtClean="0">
                                <a:solidFill>
                                  <a:srgbClr val="91D372"/>
                                </a:solidFill>
                                <a:latin typeface="Cambria Math" panose="02040503050406030204" pitchFamily="18" charset="0"/>
                              </a:rPr>
                              <m:t>𝐥𝐨𝐠𝐢𝐬𝐭𝐢𝐜</m:t>
                            </m:r>
                            <m:d>
                              <m:dPr>
                                <m:ctrlPr>
                                  <a:rPr lang="en-US" sz="1200" b="1" i="1" dirty="0" smtClean="0">
                                    <a:solidFill>
                                      <a:srgbClr val="91D37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200" b="1" i="1" dirty="0" smtClean="0">
                                    <a:solidFill>
                                      <a:srgbClr val="91D372"/>
                                    </a:solidFill>
                                    <a:latin typeface="Cambria Math" panose="02040503050406030204" pitchFamily="18" charset="0"/>
                                  </a:rPr>
                                  <m:t>𝜿</m:t>
                                </m:r>
                                <m:r>
                                  <a:rPr lang="en-US" sz="1200" b="1" i="1" dirty="0" smtClean="0">
                                    <a:solidFill>
                                      <a:srgbClr val="91D372"/>
                                    </a:solidFill>
                                    <a:latin typeface="Cambria Math" panose="02040503050406030204" pitchFamily="18" charset="0"/>
                                  </a:rPr>
                                  <m:t> –</m:t>
                                </m:r>
                                <m:r>
                                  <a:rPr lang="en-US" sz="1200" b="1" i="1" dirty="0" smtClean="0">
                                    <a:solidFill>
                                      <a:srgbClr val="91D372"/>
                                    </a:solidFill>
                                    <a:latin typeface="Cambria Math" panose="02040503050406030204" pitchFamily="18" charset="0"/>
                                  </a:rPr>
                                  <m:t>𝜹</m:t>
                                </m:r>
                                <m:r>
                                  <a:rPr lang="en-US" sz="1200" b="1" i="1" dirty="0" smtClean="0">
                                    <a:solidFill>
                                      <a:srgbClr val="91D372"/>
                                    </a:solidFill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</m:d>
                          </m:oMath>
                        </m:oMathPara>
                      </a14:m>
                      <a:endParaRPr lang="en-US" sz="1200" b="1" dirty="0">
                        <a:solidFill>
                          <a:srgbClr val="91D372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432B4E6A-77D3-AA49-2686-573C14A8279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88386" y="3173467"/>
                      <a:ext cx="1899544" cy="27699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8B0D0E01-791E-2D75-5AD5-E76682D8CEF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204466" y="1301761"/>
                      <a:ext cx="2435082" cy="300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1" i="1" dirty="0" smtClean="0">
                                <a:solidFill>
                                  <a:srgbClr val="D2B26F"/>
                                </a:solidFill>
                                <a:latin typeface="Cambria Math" panose="02040503050406030204" pitchFamily="18" charset="0"/>
                              </a:rPr>
                              <m:t>𝑯</m:t>
                            </m:r>
                            <m:d>
                              <m:dPr>
                                <m:ctrlPr>
                                  <a:rPr lang="en-US" sz="1200" b="1" i="1" dirty="0" smtClean="0">
                                    <a:solidFill>
                                      <a:srgbClr val="D2B26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200" b="1" i="1" dirty="0" smtClean="0">
                                    <a:solidFill>
                                      <a:srgbClr val="D2B26F"/>
                                    </a:solidFill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</m:d>
                            <m:r>
                              <a:rPr lang="en-US" sz="1200" b="1" i="1" dirty="0" smtClean="0">
                                <a:solidFill>
                                  <a:srgbClr val="D2B26F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1200" b="1" i="1" dirty="0" smtClean="0">
                                <a:solidFill>
                                  <a:srgbClr val="D2B26F"/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  <m:r>
                              <a:rPr lang="en-US" sz="1200" b="1" i="1" dirty="0" smtClean="0">
                                <a:solidFill>
                                  <a:srgbClr val="D2B26F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func>
                              <m:funcPr>
                                <m:ctrlPr>
                                  <a:rPr lang="en-US" sz="1200" b="1" i="1" dirty="0" smtClean="0">
                                    <a:solidFill>
                                      <a:srgbClr val="D2B26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sz="1200" b="1" i="1" dirty="0" smtClean="0">
                                    <a:solidFill>
                                      <a:srgbClr val="D2B26F"/>
                                    </a:solidFill>
                                    <a:latin typeface="Cambria Math" panose="02040503050406030204" pitchFamily="18" charset="0"/>
                                  </a:rPr>
                                  <m:t>𝒆𝒙𝒑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1200" b="1" i="1" dirty="0" smtClean="0">
                                        <a:solidFill>
                                          <a:srgbClr val="D2B26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b="1" i="1" dirty="0" smtClean="0">
                                        <a:solidFill>
                                          <a:srgbClr val="D2B26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𝑩𝒓</m:t>
                                    </m:r>
                                    <m:r>
                                      <a:rPr lang="en-US" sz="1200" b="1" i="1" dirty="0" smtClean="0">
                                        <a:solidFill>
                                          <a:srgbClr val="D2B26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1200" b="1" i="1" dirty="0" smtClean="0">
                                        <a:solidFill>
                                          <a:srgbClr val="D2B26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sSup>
                                      <m:sSupPr>
                                        <m:ctrlPr>
                                          <a:rPr lang="en-US" sz="1200" b="1" i="1" dirty="0" smtClean="0">
                                            <a:solidFill>
                                              <a:srgbClr val="D2B26F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200" b="1" i="1" dirty="0" smtClean="0">
                                            <a:solidFill>
                                              <a:srgbClr val="D2B26F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𝒓</m:t>
                                        </m:r>
                                      </m:e>
                                      <m:sup>
                                        <m:r>
                                          <a:rPr lang="en-US" sz="1200" b="1" i="1" dirty="0" smtClean="0">
                                            <a:solidFill>
                                              <a:srgbClr val="D2B26F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𝟐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func>
                          </m:oMath>
                        </m:oMathPara>
                      </a14:m>
                      <a:endParaRPr lang="en-US" sz="1400" b="1" dirty="0"/>
                    </a:p>
                  </p:txBody>
                </p:sp>
              </mc:Choice>
              <mc:Fallback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8B0D0E01-791E-2D75-5AD5-E76682D8CEF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04466" y="1301761"/>
                      <a:ext cx="2435082" cy="300788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62" name="Straight Arrow Connector 61">
                  <a:extLst>
                    <a:ext uri="{FF2B5EF4-FFF2-40B4-BE49-F238E27FC236}">
                      <a16:creationId xmlns:a16="http://schemas.microsoft.com/office/drawing/2014/main" id="{21BAAB8C-1115-F17B-51A1-C97204B6A9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42052" y="986849"/>
                  <a:ext cx="0" cy="248761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Straight Arrow Connector 64">
                  <a:extLst>
                    <a:ext uri="{FF2B5EF4-FFF2-40B4-BE49-F238E27FC236}">
                      <a16:creationId xmlns:a16="http://schemas.microsoft.com/office/drawing/2014/main" id="{6466C4D8-B7CE-5318-7C0C-7A6EDCCE24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42052" y="3474468"/>
                  <a:ext cx="2496187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9978AD4C-994F-9D4D-C6CD-48416111665F}"/>
                    </a:ext>
                  </a:extLst>
                </p:cNvPr>
                <p:cNvSpPr txBox="1"/>
                <p:nvPr/>
              </p:nvSpPr>
              <p:spPr>
                <a:xfrm>
                  <a:off x="6907758" y="3642713"/>
                  <a:ext cx="125463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Remoteness (r)</a:t>
                  </a:r>
                  <a:endParaRPr lang="en-US" sz="12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2D07CDBB-95B2-F17E-DE16-53CEFC57B8CF}"/>
                    </a:ext>
                  </a:extLst>
                </p:cNvPr>
                <p:cNvSpPr txBox="1"/>
                <p:nvPr/>
              </p:nvSpPr>
              <p:spPr>
                <a:xfrm>
                  <a:off x="9754773" y="3631869"/>
                  <a:ext cx="125463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Remoteness (r)</a:t>
                  </a:r>
                  <a:endParaRPr lang="en-US" sz="12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D5F11B2B-E5B9-EC70-5DE0-EF256CDFEB82}"/>
                    </a:ext>
                  </a:extLst>
                </p:cNvPr>
                <p:cNvSpPr txBox="1"/>
                <p:nvPr/>
              </p:nvSpPr>
              <p:spPr>
                <a:xfrm rot="16200000">
                  <a:off x="5333207" y="2080157"/>
                  <a:ext cx="98484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</a:t>
                  </a:r>
                  <a:endParaRPr lang="en-US" sz="12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702B8312-94F0-E453-8CB0-AC841579A539}"/>
                    </a:ext>
                  </a:extLst>
                </p:cNvPr>
                <p:cNvSpPr txBox="1"/>
                <p:nvPr/>
              </p:nvSpPr>
              <p:spPr>
                <a:xfrm rot="16200000">
                  <a:off x="8301689" y="2106903"/>
                  <a:ext cx="98484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Height  (m)</a:t>
                  </a:r>
                </a:p>
              </p:txBody>
            </p:sp>
            <p:cxnSp>
              <p:nvCxnSpPr>
                <p:cNvPr id="83" name="Straight Arrow Connector 82">
                  <a:extLst>
                    <a:ext uri="{FF2B5EF4-FFF2-40B4-BE49-F238E27FC236}">
                      <a16:creationId xmlns:a16="http://schemas.microsoft.com/office/drawing/2014/main" id="{94E87273-FD66-919A-31D7-5018941759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204466" y="945489"/>
                  <a:ext cx="0" cy="248761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Arrow Connector 83">
                  <a:extLst>
                    <a:ext uri="{FF2B5EF4-FFF2-40B4-BE49-F238E27FC236}">
                      <a16:creationId xmlns:a16="http://schemas.microsoft.com/office/drawing/2014/main" id="{BD32987B-2150-7455-B52C-1B8D87F48B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04466" y="3433108"/>
                  <a:ext cx="2496187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pic>
              <p:nvPicPr>
                <p:cNvPr id="86" name="Picture 85">
                  <a:extLst>
                    <a:ext uri="{FF2B5EF4-FFF2-40B4-BE49-F238E27FC236}">
                      <a16:creationId xmlns:a16="http://schemas.microsoft.com/office/drawing/2014/main" id="{BF937252-3A59-CE3C-B670-8F981B05994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025095" y="3894196"/>
                  <a:ext cx="5608816" cy="799253"/>
                </a:xfrm>
                <a:prstGeom prst="rect">
                  <a:avLst/>
                </a:prstGeom>
              </p:spPr>
            </p:pic>
            <p:grpSp>
              <p:nvGrpSpPr>
                <p:cNvPr id="94" name="Group 93">
                  <a:extLst>
                    <a:ext uri="{FF2B5EF4-FFF2-40B4-BE49-F238E27FC236}">
                      <a16:creationId xmlns:a16="http://schemas.microsoft.com/office/drawing/2014/main" id="{05E787A7-100F-5839-F3EF-499C16E03504}"/>
                    </a:ext>
                  </a:extLst>
                </p:cNvPr>
                <p:cNvGrpSpPr/>
                <p:nvPr/>
              </p:nvGrpSpPr>
              <p:grpSpPr>
                <a:xfrm>
                  <a:off x="8012019" y="1591303"/>
                  <a:ext cx="208151" cy="98349"/>
                  <a:chOff x="7490172" y="4151158"/>
                  <a:chExt cx="397912" cy="77180"/>
                </a:xfrm>
              </p:grpSpPr>
              <p:cxnSp>
                <p:nvCxnSpPr>
                  <p:cNvPr id="88" name="Straight Connector 87">
                    <a:extLst>
                      <a:ext uri="{FF2B5EF4-FFF2-40B4-BE49-F238E27FC236}">
                        <a16:creationId xmlns:a16="http://schemas.microsoft.com/office/drawing/2014/main" id="{985B4F9E-8FAC-3900-92C4-35022D54465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490172" y="4151158"/>
                    <a:ext cx="397912" cy="0"/>
                  </a:xfrm>
                  <a:prstGeom prst="line">
                    <a:avLst/>
                  </a:prstGeom>
                  <a:ln w="28575">
                    <a:solidFill>
                      <a:srgbClr val="8472D3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9" name="Straight Connector 88">
                    <a:extLst>
                      <a:ext uri="{FF2B5EF4-FFF2-40B4-BE49-F238E27FC236}">
                        <a16:creationId xmlns:a16="http://schemas.microsoft.com/office/drawing/2014/main" id="{D07FEDBD-4006-C688-C4C1-0EBD95E7684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490172" y="4228338"/>
                    <a:ext cx="397912" cy="0"/>
                  </a:xfrm>
                  <a:prstGeom prst="line">
                    <a:avLst/>
                  </a:prstGeom>
                  <a:ln w="28575">
                    <a:solidFill>
                      <a:srgbClr val="91D372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B60906C8-0DB4-5247-0A27-917494A9C245}"/>
                    </a:ext>
                  </a:extLst>
                </p:cNvPr>
                <p:cNvSpPr txBox="1"/>
                <p:nvPr/>
              </p:nvSpPr>
              <p:spPr>
                <a:xfrm>
                  <a:off x="8178146" y="1506138"/>
                  <a:ext cx="466794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2016</a:t>
                  </a:r>
                </a:p>
              </p:txBody>
            </p:sp>
            <p:grpSp>
              <p:nvGrpSpPr>
                <p:cNvPr id="96" name="Group 95">
                  <a:extLst>
                    <a:ext uri="{FF2B5EF4-FFF2-40B4-BE49-F238E27FC236}">
                      <a16:creationId xmlns:a16="http://schemas.microsoft.com/office/drawing/2014/main" id="{F4EB9B2B-2B46-2424-E028-41482DC0A0A2}"/>
                    </a:ext>
                  </a:extLst>
                </p:cNvPr>
                <p:cNvGrpSpPr/>
                <p:nvPr/>
              </p:nvGrpSpPr>
              <p:grpSpPr>
                <a:xfrm>
                  <a:off x="8012019" y="1874557"/>
                  <a:ext cx="208151" cy="98349"/>
                  <a:chOff x="7490172" y="4151158"/>
                  <a:chExt cx="397912" cy="77180"/>
                </a:xfrm>
              </p:grpSpPr>
              <p:cxnSp>
                <p:nvCxnSpPr>
                  <p:cNvPr id="97" name="Straight Connector 96">
                    <a:extLst>
                      <a:ext uri="{FF2B5EF4-FFF2-40B4-BE49-F238E27FC236}">
                        <a16:creationId xmlns:a16="http://schemas.microsoft.com/office/drawing/2014/main" id="{C35089AD-5BCD-6DCE-6081-1065D5090E9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490172" y="4151158"/>
                    <a:ext cx="397912" cy="0"/>
                  </a:xfrm>
                  <a:prstGeom prst="line">
                    <a:avLst/>
                  </a:prstGeom>
                  <a:ln w="28575">
                    <a:solidFill>
                      <a:srgbClr val="8472D3"/>
                    </a:solidFill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8" name="Straight Connector 97">
                    <a:extLst>
                      <a:ext uri="{FF2B5EF4-FFF2-40B4-BE49-F238E27FC236}">
                        <a16:creationId xmlns:a16="http://schemas.microsoft.com/office/drawing/2014/main" id="{F3FE4848-689B-2101-C402-2524750B674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490172" y="4228338"/>
                    <a:ext cx="397912" cy="0"/>
                  </a:xfrm>
                  <a:prstGeom prst="line">
                    <a:avLst/>
                  </a:prstGeom>
                  <a:ln w="28575">
                    <a:solidFill>
                      <a:srgbClr val="91D372"/>
                    </a:solidFill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7F8070C5-9A1B-BC19-49B8-175B6F37DCB4}"/>
                    </a:ext>
                  </a:extLst>
                </p:cNvPr>
                <p:cNvSpPr txBox="1"/>
                <p:nvPr/>
              </p:nvSpPr>
              <p:spPr>
                <a:xfrm>
                  <a:off x="8181458" y="1789868"/>
                  <a:ext cx="466794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2023</a:t>
                  </a:r>
                </a:p>
              </p:txBody>
            </p: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AB9A4B58-98D2-1550-6B41-946ACD3F8B60}"/>
                    </a:ext>
                  </a:extLst>
                </p:cNvPr>
                <p:cNvGrpSpPr/>
                <p:nvPr/>
              </p:nvGrpSpPr>
              <p:grpSpPr>
                <a:xfrm>
                  <a:off x="4619876" y="3844406"/>
                  <a:ext cx="601400" cy="346218"/>
                  <a:chOff x="4619876" y="3844406"/>
                  <a:chExt cx="601400" cy="346218"/>
                </a:xfrm>
              </p:grpSpPr>
              <p:cxnSp>
                <p:nvCxnSpPr>
                  <p:cNvPr id="13" name="Straight Arrow Connector 12">
                    <a:extLst>
                      <a:ext uri="{FF2B5EF4-FFF2-40B4-BE49-F238E27FC236}">
                        <a16:creationId xmlns:a16="http://schemas.microsoft.com/office/drawing/2014/main" id="{7002651F-A00B-4E5F-8A89-20BD15899721}"/>
                      </a:ext>
                    </a:extLst>
                  </p:cNvPr>
                  <p:cNvCxnSpPr/>
                  <p:nvPr/>
                </p:nvCxnSpPr>
                <p:spPr>
                  <a:xfrm>
                    <a:off x="4655400" y="4143161"/>
                    <a:ext cx="530352" cy="0"/>
                  </a:xfrm>
                  <a:prstGeom prst="straightConnector1">
                    <a:avLst/>
                  </a:prstGeom>
                  <a:ln w="19050">
                    <a:headEnd type="none"/>
                    <a:tailEnd type="non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" name="Google Shape;161;p16">
                    <a:extLst>
                      <a:ext uri="{FF2B5EF4-FFF2-40B4-BE49-F238E27FC236}">
                        <a16:creationId xmlns:a16="http://schemas.microsoft.com/office/drawing/2014/main" id="{E4BAC250-6F45-21BF-A9F9-15F556E8B35E}"/>
                      </a:ext>
                    </a:extLst>
                  </p:cNvPr>
                  <p:cNvSpPr txBox="1"/>
                  <p:nvPr/>
                </p:nvSpPr>
                <p:spPr>
                  <a:xfrm>
                    <a:off x="4619876" y="3844406"/>
                    <a:ext cx="601400" cy="346218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 panose="020B0604020202020204"/>
                      <a:defRPr sz="1400" b="0" i="0" u="none" strike="noStrike" cap="none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defRPr>
                    </a:lvl9pPr>
                  </a:lstStyle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n-US" altLang="de-AT" sz="1050" dirty="0">
                        <a:solidFill>
                          <a:schemeClr val="dk1"/>
                        </a:solidFill>
                      </a:rPr>
                      <a:t>10 km</a:t>
                    </a:r>
                  </a:p>
                </p:txBody>
              </p:sp>
              <p:cxnSp>
                <p:nvCxnSpPr>
                  <p:cNvPr id="107" name="Straight Arrow Connector 106">
                    <a:extLst>
                      <a:ext uri="{FF2B5EF4-FFF2-40B4-BE49-F238E27FC236}">
                        <a16:creationId xmlns:a16="http://schemas.microsoft.com/office/drawing/2014/main" id="{72467AEB-4DFA-3F7D-0458-5D31D0DC19A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>
                    <a:off x="4617299" y="4105061"/>
                    <a:ext cx="91440" cy="0"/>
                  </a:xfrm>
                  <a:prstGeom prst="straightConnector1">
                    <a:avLst/>
                  </a:prstGeom>
                  <a:ln w="19050">
                    <a:headEnd type="none"/>
                    <a:tailEnd type="non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9" name="Straight Arrow Connector 108">
                    <a:extLst>
                      <a:ext uri="{FF2B5EF4-FFF2-40B4-BE49-F238E27FC236}">
                        <a16:creationId xmlns:a16="http://schemas.microsoft.com/office/drawing/2014/main" id="{C6E81757-123E-AD20-ECE0-6686004CCA8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>
                    <a:off x="5131775" y="4105061"/>
                    <a:ext cx="91440" cy="0"/>
                  </a:xfrm>
                  <a:prstGeom prst="straightConnector1">
                    <a:avLst/>
                  </a:prstGeom>
                  <a:ln w="19050">
                    <a:headEnd type="none"/>
                    <a:tailEnd type="non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935C710B-A974-31A9-5330-3A7813C3D8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1967" y="1689652"/>
                  <a:ext cx="208151" cy="0"/>
                </a:xfrm>
                <a:prstGeom prst="line">
                  <a:avLst/>
                </a:prstGeom>
                <a:ln w="28575">
                  <a:solidFill>
                    <a:srgbClr val="D2B26F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92AA3E1A-7164-FDC4-7452-37299FB721D8}"/>
                    </a:ext>
                  </a:extLst>
                </p:cNvPr>
                <p:cNvSpPr txBox="1"/>
                <p:nvPr/>
              </p:nvSpPr>
              <p:spPr>
                <a:xfrm>
                  <a:off x="11118094" y="1561537"/>
                  <a:ext cx="466794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2016</a:t>
                  </a:r>
                </a:p>
              </p:txBody>
            </p:sp>
            <p:cxnSp>
              <p:nvCxnSpPr>
                <p:cNvPr id="146" name="Straight Connector 145">
                  <a:extLst>
                    <a:ext uri="{FF2B5EF4-FFF2-40B4-BE49-F238E27FC236}">
                      <a16:creationId xmlns:a16="http://schemas.microsoft.com/office/drawing/2014/main" id="{3F0007BC-05AB-CB9C-1C65-A3A3725C52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71017" y="1962853"/>
                  <a:ext cx="208151" cy="0"/>
                </a:xfrm>
                <a:prstGeom prst="line">
                  <a:avLst/>
                </a:prstGeom>
                <a:ln w="28575">
                  <a:solidFill>
                    <a:srgbClr val="D2B26F"/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450E4D3E-AA30-FEDD-4EB7-CF9CA1F497C5}"/>
                    </a:ext>
                  </a:extLst>
                </p:cNvPr>
                <p:cNvSpPr txBox="1"/>
                <p:nvPr/>
              </p:nvSpPr>
              <p:spPr>
                <a:xfrm>
                  <a:off x="11121406" y="1845267"/>
                  <a:ext cx="466794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2023</a:t>
                  </a:r>
                </a:p>
              </p:txBody>
            </p:sp>
            <p:grpSp>
              <p:nvGrpSpPr>
                <p:cNvPr id="157" name="Group 156">
                  <a:extLst>
                    <a:ext uri="{FF2B5EF4-FFF2-40B4-BE49-F238E27FC236}">
                      <a16:creationId xmlns:a16="http://schemas.microsoft.com/office/drawing/2014/main" id="{3519EBBD-439C-D7A4-D5C8-46B4A2CC26FA}"/>
                    </a:ext>
                  </a:extLst>
                </p:cNvPr>
                <p:cNvGrpSpPr/>
                <p:nvPr/>
              </p:nvGrpSpPr>
              <p:grpSpPr>
                <a:xfrm>
                  <a:off x="2144043" y="1551052"/>
                  <a:ext cx="500567" cy="827742"/>
                  <a:chOff x="2152289" y="2101931"/>
                  <a:chExt cx="500567" cy="827742"/>
                </a:xfrm>
              </p:grpSpPr>
              <p:sp>
                <p:nvSpPr>
                  <p:cNvPr id="152" name="TextBox 151">
                    <a:extLst>
                      <a:ext uri="{FF2B5EF4-FFF2-40B4-BE49-F238E27FC236}">
                        <a16:creationId xmlns:a16="http://schemas.microsoft.com/office/drawing/2014/main" id="{2ADCC7E8-5D5A-D4A0-0DFC-8A30C7E93EAE}"/>
                      </a:ext>
                    </a:extLst>
                  </p:cNvPr>
                  <p:cNvSpPr txBox="1"/>
                  <p:nvPr/>
                </p:nvSpPr>
                <p:spPr>
                  <a:xfrm>
                    <a:off x="2152289" y="2101931"/>
                    <a:ext cx="497252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20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 = 9</a:t>
                    </a:r>
                  </a:p>
                </p:txBody>
              </p:sp>
              <p:sp>
                <p:nvSpPr>
                  <p:cNvPr id="154" name="TextBox 153">
                    <a:extLst>
                      <a:ext uri="{FF2B5EF4-FFF2-40B4-BE49-F238E27FC236}">
                        <a16:creationId xmlns:a16="http://schemas.microsoft.com/office/drawing/2014/main" id="{086E3FCE-B314-BF10-46F1-86AE86828147}"/>
                      </a:ext>
                    </a:extLst>
                  </p:cNvPr>
                  <p:cNvSpPr txBox="1"/>
                  <p:nvPr/>
                </p:nvSpPr>
                <p:spPr>
                  <a:xfrm>
                    <a:off x="2155604" y="2448468"/>
                    <a:ext cx="497252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20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 = 5</a:t>
                    </a:r>
                  </a:p>
                </p:txBody>
              </p:sp>
              <p:sp>
                <p:nvSpPr>
                  <p:cNvPr id="156" name="TextBox 155">
                    <a:extLst>
                      <a:ext uri="{FF2B5EF4-FFF2-40B4-BE49-F238E27FC236}">
                        <a16:creationId xmlns:a16="http://schemas.microsoft.com/office/drawing/2014/main" id="{B53FBDE0-C91F-4D0F-BD01-B950226FAFA6}"/>
                      </a:ext>
                    </a:extLst>
                  </p:cNvPr>
                  <p:cNvSpPr txBox="1"/>
                  <p:nvPr/>
                </p:nvSpPr>
                <p:spPr>
                  <a:xfrm>
                    <a:off x="2152289" y="2652674"/>
                    <a:ext cx="497252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20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 = 3</a:t>
                    </a:r>
                  </a:p>
                </p:txBody>
              </p:sp>
            </p:grpSp>
            <p:grpSp>
              <p:nvGrpSpPr>
                <p:cNvPr id="158" name="Group 157">
                  <a:extLst>
                    <a:ext uri="{FF2B5EF4-FFF2-40B4-BE49-F238E27FC236}">
                      <a16:creationId xmlns:a16="http://schemas.microsoft.com/office/drawing/2014/main" id="{EFBF7D95-C7D2-300D-126E-BFEA8CC3C36F}"/>
                    </a:ext>
                  </a:extLst>
                </p:cNvPr>
                <p:cNvGrpSpPr/>
                <p:nvPr/>
              </p:nvGrpSpPr>
              <p:grpSpPr>
                <a:xfrm>
                  <a:off x="4333731" y="1438182"/>
                  <a:ext cx="506543" cy="857658"/>
                  <a:chOff x="2152289" y="2072015"/>
                  <a:chExt cx="506543" cy="857658"/>
                </a:xfrm>
              </p:grpSpPr>
              <p:sp>
                <p:nvSpPr>
                  <p:cNvPr id="159" name="TextBox 158">
                    <a:extLst>
                      <a:ext uri="{FF2B5EF4-FFF2-40B4-BE49-F238E27FC236}">
                        <a16:creationId xmlns:a16="http://schemas.microsoft.com/office/drawing/2014/main" id="{C2980A5F-1A3D-5594-4051-87248DA5AA7C}"/>
                      </a:ext>
                    </a:extLst>
                  </p:cNvPr>
                  <p:cNvSpPr txBox="1"/>
                  <p:nvPr/>
                </p:nvSpPr>
                <p:spPr>
                  <a:xfrm>
                    <a:off x="2161580" y="2072015"/>
                    <a:ext cx="497252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20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 = 9</a:t>
                    </a:r>
                  </a:p>
                </p:txBody>
              </p:sp>
              <p:sp>
                <p:nvSpPr>
                  <p:cNvPr id="160" name="TextBox 159">
                    <a:extLst>
                      <a:ext uri="{FF2B5EF4-FFF2-40B4-BE49-F238E27FC236}">
                        <a16:creationId xmlns:a16="http://schemas.microsoft.com/office/drawing/2014/main" id="{2CEC9E11-6A51-DE37-4BF4-1B8B37D0AA53}"/>
                      </a:ext>
                    </a:extLst>
                  </p:cNvPr>
                  <p:cNvSpPr txBox="1"/>
                  <p:nvPr/>
                </p:nvSpPr>
                <p:spPr>
                  <a:xfrm>
                    <a:off x="2155604" y="2448468"/>
                    <a:ext cx="497252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20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 = 5</a:t>
                    </a:r>
                  </a:p>
                </p:txBody>
              </p:sp>
              <p:sp>
                <p:nvSpPr>
                  <p:cNvPr id="161" name="TextBox 160">
                    <a:extLst>
                      <a:ext uri="{FF2B5EF4-FFF2-40B4-BE49-F238E27FC236}">
                        <a16:creationId xmlns:a16="http://schemas.microsoft.com/office/drawing/2014/main" id="{C901D873-EDCC-59A7-B715-C5485C93ADCB}"/>
                      </a:ext>
                    </a:extLst>
                  </p:cNvPr>
                  <p:cNvSpPr txBox="1"/>
                  <p:nvPr/>
                </p:nvSpPr>
                <p:spPr>
                  <a:xfrm>
                    <a:off x="2152289" y="2652674"/>
                    <a:ext cx="497252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20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 = 3</a:t>
                    </a:r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4028139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750</TotalTime>
  <Words>135</Words>
  <Application>Microsoft Office PowerPoint</Application>
  <PresentationFormat>Widescreen</PresentationFormat>
  <Paragraphs>56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Jiaqi Liang</dc:creator>
  <cp:lastModifiedBy>Jiaqi Liang</cp:lastModifiedBy>
  <cp:revision>5</cp:revision>
  <dcterms:created xsi:type="dcterms:W3CDTF">2026-07-07T15:37:20Z</dcterms:created>
  <dcterms:modified xsi:type="dcterms:W3CDTF">2026-07-13T15:56:11Z</dcterms:modified>
</cp:coreProperties>
</file>