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D372"/>
    <a:srgbClr val="8472D3"/>
    <a:srgbClr val="D2B2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8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704D5-956F-0C07-E17C-2913D0EA79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97ED55-ED00-7C9A-14F2-1193CE037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10CB1-BEC2-FDB9-DE41-A03ECB92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4A0E5-8AF9-15AB-4951-2CD88AD6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A11E6-007F-0E06-0C4C-5F312C0D4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175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2D6E7-AD67-7D8F-D1AC-2D2C2129D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AC8BB-A783-3836-999D-4B3DBA18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A88B3-1287-F26D-DE1F-D5C54D65F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04DF8-3617-1227-614A-62418A501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66276-295B-9DED-9353-1D0D63978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096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9ABCA-33F3-D29A-E0E7-4A553E1EA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D8664-25EC-E82C-11F1-BAAFED3FD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F46C8-E4E3-E7B0-30A6-C2EEE055A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B6125-7A2C-5A63-7D8E-89DF5D0CE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09D44-5F22-B8C4-B0D0-CE643E22B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06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CB2D4-B2FA-2B61-9BAD-691F49AB4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E7993-5331-633E-FFC5-3175AC57FC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532E8-67CD-7B65-6E19-48F3B7DCB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5F0D8-45F3-6E85-C282-7BFD752A6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27C10-C55C-B34E-AA91-50575174C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6198F-47D3-0DE2-E50C-8663ED903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181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606A-A42E-0588-19EE-089ECD728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DCF64-79BE-1FFB-6EB2-B0815736C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2DA19F-2C45-05FF-B4A5-37EC07268E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F842D5-90A6-B592-C51F-279C0EA6DC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7D13BC-14BF-EE5E-8B64-E2C74E07AB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4889EC-8362-8010-B9B5-776B52E3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8C2C2E-A4F3-55C9-5818-3F1E16CC8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6AFEC9-8E2E-62AC-D9C7-073ABC6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209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C1B52-0F0F-91B7-6EE8-7D6B45AF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A27D34-E683-38FC-64B7-41B8DE4BC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666F70-4502-4753-62A7-DB80A87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2D1CE6-CD43-5522-CFA9-F29EFD2EC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9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BA90E6-EE12-2685-4FED-5B31F963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0FD9C9-9DEA-AA8C-F7BA-E3AF790F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2EA9-CA86-3B35-A494-B91C01B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05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8E5CD-83DA-E68E-0AAD-D2A72FDE2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25AB8-5094-4A23-8E1F-894515080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9E6E41-7AA7-BDD5-1697-BCBC387CA5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5674F-759D-83C7-456E-BB62420E7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3BAC4-6710-2F53-3568-6AD5D854B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3843C-3CA9-13F2-130D-72B2AB83E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345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0EAD3-47FA-4595-2B97-0D001038B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384A1-36A2-913E-B811-857FF02D77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92C70-07B0-7F5A-D4EE-AA6B5867D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4DE53-544A-3D52-2858-171365F39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26DC5-CF0F-48CE-C8AB-9F9083867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66C628-D4AD-9D13-2AE7-1F8588E1E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699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9B148-836D-5B5E-44E7-A5E22E412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EFB4F-35AE-6D43-F3C9-19BA15A165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8EAC4-11A8-D839-758A-E9CF512B0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ED098-9CD1-8E66-8D73-AED64AF4C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E47E7-2713-E92D-7BE8-808FBF1D2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200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19D5E0-0C91-3676-2DE5-5C4882AC14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85BCB8-3706-113F-0194-3A4C01876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811B0-D98E-F1D3-8FB3-DF7D2F973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9CD2-1F05-EC6A-1C0D-8D03D4664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09E0B-C03F-B5AC-EC25-1F828CE7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49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0CE3C7-41FE-343A-F31F-7D6E2D0F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3840A-8BC5-D8FE-A4E5-13B967C44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48887-FC9A-34EB-EAC4-62901D003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1D41D5-CA81-4232-B0F3-C09376B2E785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60274-6925-A403-3FEC-8D44206D48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9E743-1150-49E7-2318-5AAFFD2E3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29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9">
            <a:extLst>
              <a:ext uri="{FF2B5EF4-FFF2-40B4-BE49-F238E27FC236}">
                <a16:creationId xmlns:a16="http://schemas.microsoft.com/office/drawing/2014/main" id="{71EE8E13-96EA-910A-81F3-E9688BF50613}"/>
              </a:ext>
            </a:extLst>
          </p:cNvPr>
          <p:cNvSpPr txBox="1"/>
          <p:nvPr/>
        </p:nvSpPr>
        <p:spPr>
          <a:xfrm>
            <a:off x="392188" y="562071"/>
            <a:ext cx="5338052" cy="430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altLang="zh-CN" sz="1800" dirty="0"/>
              <a:t>Case City: </a:t>
            </a:r>
            <a:r>
              <a:rPr lang="en-US" sz="1800" dirty="0"/>
              <a:t>Antananarivo,</a:t>
            </a:r>
            <a:r>
              <a:rPr lang="zh-CN" altLang="en-US" sz="1800" dirty="0"/>
              <a:t> </a:t>
            </a:r>
            <a:r>
              <a:rPr lang="en-US" altLang="zh-CN" sz="1800" dirty="0"/>
              <a:t>Madagascar</a:t>
            </a:r>
            <a:endParaRPr lang="en-US" sz="1800" dirty="0"/>
          </a:p>
        </p:txBody>
      </p:sp>
      <p:pic>
        <p:nvPicPr>
          <p:cNvPr id="8" name="Picture 7" descr="Screenshot from 2025-05-14 13-41-03">
            <a:extLst>
              <a:ext uri="{FF2B5EF4-FFF2-40B4-BE49-F238E27FC236}">
                <a16:creationId xmlns:a16="http://schemas.microsoft.com/office/drawing/2014/main" id="{056F824A-2F53-240E-AC0C-0D72D54D8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650" y="1293770"/>
            <a:ext cx="2628590" cy="2417285"/>
          </a:xfrm>
          <a:prstGeom prst="rect">
            <a:avLst/>
          </a:prstGeom>
        </p:spPr>
      </p:pic>
      <p:pic>
        <p:nvPicPr>
          <p:cNvPr id="9" name="Picture 8" descr="Screenshot from 2025-05-14 13-40-46">
            <a:extLst>
              <a:ext uri="{FF2B5EF4-FFF2-40B4-BE49-F238E27FC236}">
                <a16:creationId xmlns:a16="http://schemas.microsoft.com/office/drawing/2014/main" id="{55CEAB13-7257-3152-494A-9D1F6233A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69" y="1293770"/>
            <a:ext cx="2628590" cy="2417285"/>
          </a:xfrm>
          <a:prstGeom prst="rect">
            <a:avLst/>
          </a:prstGeom>
        </p:spPr>
      </p:pic>
      <p:grpSp>
        <p:nvGrpSpPr>
          <p:cNvPr id="10" name="Google Shape;156;p16">
            <a:extLst>
              <a:ext uri="{FF2B5EF4-FFF2-40B4-BE49-F238E27FC236}">
                <a16:creationId xmlns:a16="http://schemas.microsoft.com/office/drawing/2014/main" id="{5E731B56-553C-28A0-B977-8FA0B7143C61}"/>
              </a:ext>
            </a:extLst>
          </p:cNvPr>
          <p:cNvGrpSpPr/>
          <p:nvPr/>
        </p:nvGrpSpPr>
        <p:grpSpPr>
          <a:xfrm>
            <a:off x="1323444" y="3711051"/>
            <a:ext cx="3041592" cy="658323"/>
            <a:chOff x="4807925" y="4484375"/>
            <a:chExt cx="2693250" cy="582180"/>
          </a:xfrm>
        </p:grpSpPr>
        <p:sp>
          <p:nvSpPr>
            <p:cNvPr id="17" name="Google Shape;157;p16">
              <a:extLst>
                <a:ext uri="{FF2B5EF4-FFF2-40B4-BE49-F238E27FC236}">
                  <a16:creationId xmlns:a16="http://schemas.microsoft.com/office/drawing/2014/main" id="{8B13B24B-FBD8-5930-DE5D-C55C619CE57A}"/>
                </a:ext>
              </a:extLst>
            </p:cNvPr>
            <p:cNvSpPr/>
            <p:nvPr/>
          </p:nvSpPr>
          <p:spPr>
            <a:xfrm>
              <a:off x="4913433" y="4758200"/>
              <a:ext cx="432300" cy="234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" name="Google Shape;158;p16">
              <a:extLst>
                <a:ext uri="{FF2B5EF4-FFF2-40B4-BE49-F238E27FC236}">
                  <a16:creationId xmlns:a16="http://schemas.microsoft.com/office/drawing/2014/main" id="{E38C44FB-852A-E8CE-AA35-AD40BB952321}"/>
                </a:ext>
              </a:extLst>
            </p:cNvPr>
            <p:cNvSpPr txBox="1"/>
            <p:nvPr/>
          </p:nvSpPr>
          <p:spPr>
            <a:xfrm>
              <a:off x="4807925" y="4484375"/>
              <a:ext cx="800100" cy="5075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AT" sz="1000" b="1" dirty="0">
                  <a:solidFill>
                    <a:schemeClr val="dk1"/>
                  </a:solidFill>
                </a:rPr>
                <a:t>No Building</a:t>
              </a:r>
              <a:endParaRPr sz="1000" b="1" dirty="0">
                <a:solidFill>
                  <a:schemeClr val="dk1"/>
                </a:solidFill>
              </a:endParaRPr>
            </a:p>
          </p:txBody>
        </p:sp>
        <p:sp>
          <p:nvSpPr>
            <p:cNvPr id="19" name="Google Shape;159;p16">
              <a:extLst>
                <a:ext uri="{FF2B5EF4-FFF2-40B4-BE49-F238E27FC236}">
                  <a16:creationId xmlns:a16="http://schemas.microsoft.com/office/drawing/2014/main" id="{4D00177F-CDC7-0F25-08C3-B4767BE48A71}"/>
                </a:ext>
              </a:extLst>
            </p:cNvPr>
            <p:cNvSpPr/>
            <p:nvPr/>
          </p:nvSpPr>
          <p:spPr>
            <a:xfrm>
              <a:off x="5890875" y="4753925"/>
              <a:ext cx="1009200" cy="234600"/>
            </a:xfrm>
            <a:prstGeom prst="rect">
              <a:avLst/>
            </a:prstGeom>
            <a:gradFill>
              <a:gsLst>
                <a:gs pos="0">
                  <a:srgbClr val="1D4877"/>
                </a:gs>
                <a:gs pos="24000">
                  <a:srgbClr val="1B8A5A"/>
                </a:gs>
                <a:gs pos="50000">
                  <a:srgbClr val="FBB021"/>
                </a:gs>
                <a:gs pos="75000">
                  <a:srgbClr val="F68838"/>
                </a:gs>
                <a:gs pos="100000">
                  <a:srgbClr val="EE3E3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" name="Google Shape;160;p16">
              <a:extLst>
                <a:ext uri="{FF2B5EF4-FFF2-40B4-BE49-F238E27FC236}">
                  <a16:creationId xmlns:a16="http://schemas.microsoft.com/office/drawing/2014/main" id="{2A44F1C0-705F-63B6-1892-E834A7E81E7A}"/>
                </a:ext>
              </a:extLst>
            </p:cNvPr>
            <p:cNvSpPr txBox="1"/>
            <p:nvPr/>
          </p:nvSpPr>
          <p:spPr>
            <a:xfrm>
              <a:off x="5647974" y="4709676"/>
              <a:ext cx="233100" cy="3568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AT" sz="1050">
                  <a:solidFill>
                    <a:schemeClr val="dk1"/>
                  </a:solidFill>
                </a:rPr>
                <a:t>0</a:t>
              </a:r>
              <a:endParaRPr sz="1050">
                <a:solidFill>
                  <a:schemeClr val="dk1"/>
                </a:solidFill>
              </a:endParaRPr>
            </a:p>
          </p:txBody>
        </p:sp>
        <p:sp>
          <p:nvSpPr>
            <p:cNvPr id="21" name="Google Shape;161;p16">
              <a:extLst>
                <a:ext uri="{FF2B5EF4-FFF2-40B4-BE49-F238E27FC236}">
                  <a16:creationId xmlns:a16="http://schemas.microsoft.com/office/drawing/2014/main" id="{1AC6F036-707E-BE20-2985-A19BC9824237}"/>
                </a:ext>
              </a:extLst>
            </p:cNvPr>
            <p:cNvSpPr txBox="1"/>
            <p:nvPr/>
          </p:nvSpPr>
          <p:spPr>
            <a:xfrm>
              <a:off x="6909875" y="4709675"/>
              <a:ext cx="591300" cy="3568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AT" sz="1050">
                  <a:solidFill>
                    <a:schemeClr val="dk1"/>
                  </a:solidFill>
                </a:rPr>
                <a:t>100m</a:t>
              </a:r>
              <a:endParaRPr sz="1050">
                <a:solidFill>
                  <a:schemeClr val="dk1"/>
                </a:solidFill>
              </a:endParaRPr>
            </a:p>
          </p:txBody>
        </p:sp>
        <p:sp>
          <p:nvSpPr>
            <p:cNvPr id="22" name="Google Shape;162;p16">
              <a:extLst>
                <a:ext uri="{FF2B5EF4-FFF2-40B4-BE49-F238E27FC236}">
                  <a16:creationId xmlns:a16="http://schemas.microsoft.com/office/drawing/2014/main" id="{FC8456CD-8F64-C977-7C60-F1174824676B}"/>
                </a:ext>
              </a:extLst>
            </p:cNvPr>
            <p:cNvSpPr txBox="1"/>
            <p:nvPr/>
          </p:nvSpPr>
          <p:spPr>
            <a:xfrm>
              <a:off x="5819375" y="4484375"/>
              <a:ext cx="1681800" cy="3489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AT" sz="1000" b="1">
                  <a:solidFill>
                    <a:schemeClr val="dk1"/>
                  </a:solidFill>
                </a:rPr>
                <a:t>Building Height (pixel)</a:t>
              </a:r>
              <a:endParaRPr sz="1000" b="1">
                <a:solidFill>
                  <a:schemeClr val="dk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535C9F1-4CA4-885B-8432-CC933F4B0C0B}"/>
              </a:ext>
            </a:extLst>
          </p:cNvPr>
          <p:cNvGrpSpPr/>
          <p:nvPr/>
        </p:nvGrpSpPr>
        <p:grpSpPr>
          <a:xfrm>
            <a:off x="4402322" y="3801411"/>
            <a:ext cx="850384" cy="403718"/>
            <a:chOff x="9532" y="3515"/>
            <a:chExt cx="1186" cy="563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002651F-A00B-4E5F-8A89-20BD15899721}"/>
                </a:ext>
              </a:extLst>
            </p:cNvPr>
            <p:cNvCxnSpPr/>
            <p:nvPr/>
          </p:nvCxnSpPr>
          <p:spPr>
            <a:xfrm>
              <a:off x="9532" y="4006"/>
              <a:ext cx="1186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B77F212-63FB-51BA-811E-5A58EEF8B3FC}"/>
                </a:ext>
              </a:extLst>
            </p:cNvPr>
            <p:cNvCxnSpPr/>
            <p:nvPr/>
          </p:nvCxnSpPr>
          <p:spPr>
            <a:xfrm flipV="1">
              <a:off x="9551" y="3894"/>
              <a:ext cx="3" cy="13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CE63090-3263-99FF-383B-8DB1E9DDAA54}"/>
                </a:ext>
              </a:extLst>
            </p:cNvPr>
            <p:cNvCxnSpPr/>
            <p:nvPr/>
          </p:nvCxnSpPr>
          <p:spPr>
            <a:xfrm flipV="1">
              <a:off x="10706" y="3894"/>
              <a:ext cx="3" cy="13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6" name="Google Shape;161;p16">
              <a:extLst>
                <a:ext uri="{FF2B5EF4-FFF2-40B4-BE49-F238E27FC236}">
                  <a16:creationId xmlns:a16="http://schemas.microsoft.com/office/drawing/2014/main" id="{E4BAC250-6F45-21BF-A9F9-15F556E8B35E}"/>
                </a:ext>
              </a:extLst>
            </p:cNvPr>
            <p:cNvSpPr txBox="1"/>
            <p:nvPr/>
          </p:nvSpPr>
          <p:spPr>
            <a:xfrm>
              <a:off x="9677" y="3515"/>
              <a:ext cx="931" cy="5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de-AT" sz="1050">
                  <a:solidFill>
                    <a:schemeClr val="dk1"/>
                  </a:solidFill>
                </a:rPr>
                <a:t>10 km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0718CCF-89C6-9A5B-D8D8-35DFE5557012}"/>
              </a:ext>
            </a:extLst>
          </p:cNvPr>
          <p:cNvSpPr txBox="1"/>
          <p:nvPr/>
        </p:nvSpPr>
        <p:spPr>
          <a:xfrm>
            <a:off x="1280803" y="1000306"/>
            <a:ext cx="811806" cy="358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2016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11A087-864B-B7F0-F2EF-92C7834CE9A7}"/>
              </a:ext>
            </a:extLst>
          </p:cNvPr>
          <p:cNvSpPr txBox="1"/>
          <p:nvPr/>
        </p:nvSpPr>
        <p:spPr>
          <a:xfrm>
            <a:off x="3959134" y="972454"/>
            <a:ext cx="811806" cy="358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2023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17C5B53-6F7E-620F-8824-8CA8FD2621A7}"/>
              </a:ext>
            </a:extLst>
          </p:cNvPr>
          <p:cNvSpPr/>
          <p:nvPr/>
        </p:nvSpPr>
        <p:spPr>
          <a:xfrm>
            <a:off x="1467658" y="2205990"/>
            <a:ext cx="597362" cy="597362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43BC997-0C00-0EB4-3CE1-2D6064A67220}"/>
              </a:ext>
            </a:extLst>
          </p:cNvPr>
          <p:cNvSpPr/>
          <p:nvPr/>
        </p:nvSpPr>
        <p:spPr>
          <a:xfrm>
            <a:off x="1274393" y="2005005"/>
            <a:ext cx="991560" cy="9915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19523A6-3302-6551-DCCF-F1AD301981AC}"/>
              </a:ext>
            </a:extLst>
          </p:cNvPr>
          <p:cNvSpPr/>
          <p:nvPr/>
        </p:nvSpPr>
        <p:spPr>
          <a:xfrm>
            <a:off x="860002" y="1595378"/>
            <a:ext cx="1811570" cy="181157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48DAC31-A088-F3EE-AB48-A6E0FBD6E98D}"/>
              </a:ext>
            </a:extLst>
          </p:cNvPr>
          <p:cNvSpPr/>
          <p:nvPr/>
        </p:nvSpPr>
        <p:spPr>
          <a:xfrm>
            <a:off x="1746991" y="2477925"/>
            <a:ext cx="46363" cy="4571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3EC0BBF-FC5A-CF7D-849A-455D29EF46C7}"/>
              </a:ext>
            </a:extLst>
          </p:cNvPr>
          <p:cNvSpPr/>
          <p:nvPr/>
        </p:nvSpPr>
        <p:spPr>
          <a:xfrm>
            <a:off x="4048389" y="2152536"/>
            <a:ext cx="712204" cy="712204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D38980D-9E05-337F-FCE2-582ACFBF458F}"/>
              </a:ext>
            </a:extLst>
          </p:cNvPr>
          <p:cNvSpPr/>
          <p:nvPr/>
        </p:nvSpPr>
        <p:spPr>
          <a:xfrm>
            <a:off x="3817232" y="1913659"/>
            <a:ext cx="1182186" cy="1182186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C767CF5-3F7E-5898-9174-A1D68D84785E}"/>
              </a:ext>
            </a:extLst>
          </p:cNvPr>
          <p:cNvSpPr/>
          <p:nvPr/>
        </p:nvSpPr>
        <p:spPr>
          <a:xfrm>
            <a:off x="3324018" y="1425209"/>
            <a:ext cx="2159842" cy="2159842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20E4FA-D09B-D2C9-F7B2-1640991D20B9}"/>
              </a:ext>
            </a:extLst>
          </p:cNvPr>
          <p:cNvSpPr/>
          <p:nvPr/>
        </p:nvSpPr>
        <p:spPr>
          <a:xfrm>
            <a:off x="4392763" y="2492052"/>
            <a:ext cx="46363" cy="4571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2561D7-B1FD-1DA6-1675-5142A70F2A98}"/>
              </a:ext>
            </a:extLst>
          </p:cNvPr>
          <p:cNvSpPr txBox="1"/>
          <p:nvPr/>
        </p:nvSpPr>
        <p:spPr>
          <a:xfrm>
            <a:off x="1512081" y="1378417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E02713-4BD8-00C1-DC2B-D3B577D6A312}"/>
              </a:ext>
            </a:extLst>
          </p:cNvPr>
          <p:cNvSpPr txBox="1"/>
          <p:nvPr/>
        </p:nvSpPr>
        <p:spPr>
          <a:xfrm>
            <a:off x="1512081" y="1787782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E0EBB4-0222-7243-FC9C-8C48680D8EAD}"/>
              </a:ext>
            </a:extLst>
          </p:cNvPr>
          <p:cNvSpPr txBox="1"/>
          <p:nvPr/>
        </p:nvSpPr>
        <p:spPr>
          <a:xfrm>
            <a:off x="1520327" y="2006378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3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F0F4096D-917E-3986-3120-252F590A0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031" y="701351"/>
            <a:ext cx="5610225" cy="27527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BFF03B53-8874-C1A9-EE0C-D12FA8B9DA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3190717"/>
                  </p:ext>
                </p:extLst>
              </p:nvPr>
            </p:nvGraphicFramePr>
            <p:xfrm>
              <a:off x="5985794" y="3596755"/>
              <a:ext cx="5551976" cy="914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693997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dirty="0" smtClean="0"/>
                                    </m:ctrlPr>
                                  </m:sSubPr>
                                  <m:e>
                                    <m:r>
                                      <a:rPr lang="en-US" sz="1400" b="1" dirty="0" smtClean="0"/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dirty="0" smtClean="0"/>
                                      <m:t>𝜶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/>
                                  <m:t>𝜷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dirty="0" smtClean="0"/>
                                    </m:ctrlPr>
                                  </m:sSubPr>
                                  <m:e>
                                    <m:r>
                                      <a:rPr lang="en-US" sz="1400" b="1" dirty="0" smtClean="0"/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b="1" dirty="0" smtClean="0"/>
                                      <m:t>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smtClean="0"/>
                                  <m:t>𝜹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/>
                                  <m:t>𝐴</m:t>
                                </m:r>
                              </m:oMath>
                            </m:oMathPara>
                          </a14:m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/>
                                  <m:t>𝐵</m:t>
                                </m:r>
                              </m:oMath>
                            </m:oMathPara>
                          </a14:m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/>
                                  <m:t>𝐶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2016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39.2%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0.387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33.9%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0.136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6.10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-0.053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2023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0.447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0.162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6.42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-0.066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BFF03B53-8874-C1A9-EE0C-D12FA8B9DA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3190717"/>
                  </p:ext>
                </p:extLst>
              </p:nvPr>
            </p:nvGraphicFramePr>
            <p:xfrm>
              <a:off x="5985794" y="3596755"/>
              <a:ext cx="5551976" cy="914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693997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877" t="-6000" r="-6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0877" t="-6000" r="-5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00877" t="-6000" r="-4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00877" t="-6000" r="-3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500877" t="-6000" r="-2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600877" t="-6000" r="-1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00877" t="-6000" r="-3509" b="-2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2016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39.2%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0.387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33.9%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0.136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6.10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-0.053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2023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0.447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0.162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6.42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-0.066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3" name="TextBox 52">
            <a:extLst>
              <a:ext uri="{FF2B5EF4-FFF2-40B4-BE49-F238E27FC236}">
                <a16:creationId xmlns:a16="http://schemas.microsoft.com/office/drawing/2014/main" id="{B3A76907-3FBF-879A-1D52-D28195EF35EE}"/>
              </a:ext>
            </a:extLst>
          </p:cNvPr>
          <p:cNvSpPr txBox="1"/>
          <p:nvPr/>
        </p:nvSpPr>
        <p:spPr>
          <a:xfrm>
            <a:off x="4167318" y="123359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E38E54-71C6-BD99-8E9B-834EF1B30091}"/>
              </a:ext>
            </a:extLst>
          </p:cNvPr>
          <p:cNvSpPr txBox="1"/>
          <p:nvPr/>
        </p:nvSpPr>
        <p:spPr>
          <a:xfrm>
            <a:off x="4160914" y="169688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0A72C66-707D-1978-92C0-B54B82BEA728}"/>
              </a:ext>
            </a:extLst>
          </p:cNvPr>
          <p:cNvSpPr txBox="1"/>
          <p:nvPr/>
        </p:nvSpPr>
        <p:spPr>
          <a:xfrm>
            <a:off x="4167319" y="196029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3</a:t>
            </a:r>
          </a:p>
        </p:txBody>
      </p:sp>
      <p:sp>
        <p:nvSpPr>
          <p:cNvPr id="56" name="Text Box 9">
            <a:extLst>
              <a:ext uri="{FF2B5EF4-FFF2-40B4-BE49-F238E27FC236}">
                <a16:creationId xmlns:a16="http://schemas.microsoft.com/office/drawing/2014/main" id="{9D877299-2E12-77FB-747A-C7C7C4A027AF}"/>
              </a:ext>
            </a:extLst>
          </p:cNvPr>
          <p:cNvSpPr txBox="1"/>
          <p:nvPr/>
        </p:nvSpPr>
        <p:spPr>
          <a:xfrm>
            <a:off x="6533353" y="415177"/>
            <a:ext cx="1642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sz="1800" dirty="0"/>
              <a:t>Horizontal</a:t>
            </a:r>
          </a:p>
          <a:p>
            <a:pPr algn="ctr"/>
            <a:r>
              <a:rPr lang="en-US" sz="1800" dirty="0"/>
              <a:t>\psi(</a:t>
            </a:r>
            <a:r>
              <a:rPr lang="en-US" sz="1800"/>
              <a:t>r) = </a:t>
            </a:r>
            <a:endParaRPr lang="en-US" sz="1800" dirty="0"/>
          </a:p>
        </p:txBody>
      </p:sp>
      <p:sp>
        <p:nvSpPr>
          <p:cNvPr id="57" name="Text Box 9">
            <a:extLst>
              <a:ext uri="{FF2B5EF4-FFF2-40B4-BE49-F238E27FC236}">
                <a16:creationId xmlns:a16="http://schemas.microsoft.com/office/drawing/2014/main" id="{5E124426-FCA4-B31D-F11B-9CDD824BA24F}"/>
              </a:ext>
            </a:extLst>
          </p:cNvPr>
          <p:cNvSpPr txBox="1"/>
          <p:nvPr/>
        </p:nvSpPr>
        <p:spPr>
          <a:xfrm>
            <a:off x="9398473" y="407987"/>
            <a:ext cx="1642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sz="1800" dirty="0"/>
              <a:t>Vertical</a:t>
            </a:r>
          </a:p>
        </p:txBody>
      </p:sp>
    </p:spTree>
    <p:extLst>
      <p:ext uri="{BB962C8B-B14F-4D97-AF65-F5344CB8AC3E}">
        <p14:creationId xmlns:p14="http://schemas.microsoft.com/office/powerpoint/2010/main" val="402813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74</Words>
  <Application>Microsoft Office PowerPoint</Application>
  <PresentationFormat>Widescreen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April Liang</cp:lastModifiedBy>
  <cp:revision>2</cp:revision>
  <dcterms:created xsi:type="dcterms:W3CDTF">2026-07-07T15:37:20Z</dcterms:created>
  <dcterms:modified xsi:type="dcterms:W3CDTF">2026-07-08T15:50:15Z</dcterms:modified>
</cp:coreProperties>
</file>