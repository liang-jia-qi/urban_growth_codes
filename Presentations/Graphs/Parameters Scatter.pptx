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0"/>
  </p:handoutMasterIdLst>
  <p:sldIdLst>
    <p:sldId id="262" r:id="rId3"/>
    <p:sldId id="264" r:id="rId4"/>
    <p:sldId id="260" r:id="rId6"/>
    <p:sldId id="273" r:id="rId7"/>
    <p:sldId id="259" r:id="rId8"/>
    <p:sldId id="266" r:id="rId9"/>
    <p:sldId id="270" r:id="rId10"/>
    <p:sldId id="261" r:id="rId11"/>
    <p:sldId id="265" r:id="rId12"/>
    <p:sldId id="268" r:id="rId13"/>
    <p:sldId id="256" r:id="rId14"/>
    <p:sldId id="257" r:id="rId15"/>
    <p:sldId id="258" r:id="rId16"/>
    <p:sldId id="267" r:id="rId17"/>
    <p:sldId id="263" r:id="rId18"/>
    <p:sldId id="269" r:id="rId19"/>
  </p:sldIdLst>
  <p:sldSz cx="14399895" cy="1439989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3"/>
            <p14:sldId id="259"/>
            <p14:sldId id="266"/>
            <p14:sldId id="270"/>
            <p14:sldId id="261"/>
            <p14:sldId id="265"/>
            <p14:sldId id="268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5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493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EDDE"/>
    <a:srgbClr val="FDAE6B"/>
    <a:srgbClr val="E6550D"/>
    <a:srgbClr val="A63603"/>
    <a:srgbClr val="7F2704"/>
    <a:srgbClr val="00441B"/>
    <a:srgbClr val="238B45"/>
    <a:srgbClr val="74C476"/>
    <a:srgbClr val="C7E9C0"/>
    <a:srgbClr val="3F00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730" y="43"/>
      </p:cViewPr>
      <p:guideLst>
        <p:guide orient="horz" pos="2382"/>
        <p:guide pos="4535"/>
        <p:guide orient="horz" pos="4536"/>
        <p:guide orient="horz" pos="3493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commentAuthors" Target="commentAuthors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handoutMaster" Target="handoutMasters/handoutMaster1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0.363636363636364</c:v>
                </c:pt>
                <c:pt idx="1">
                  <c:v>0.5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0.227272727272727</c:v>
                </c:pt>
                <c:pt idx="1">
                  <c:v>0.3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0.333333333333333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0.166666666666667</c:v>
                </c:pt>
                <c:pt idx="2">
                  <c:v>0.0666666666666667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0.363636363636364</c:v>
                </c:pt>
                <c:pt idx="1">
                  <c:v>0.466666666666667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0.227272727272727</c:v>
                </c:pt>
                <c:pt idx="1">
                  <c:v>0.366666666666667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0.431818181818182</c:v>
                </c:pt>
                <c:pt idx="1">
                  <c:v>0.266666666666667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0.166666666666667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0.0333333333333333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0.113636363636364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.png"/><Relationship Id="rId8" Type="http://schemas.openxmlformats.org/officeDocument/2006/relationships/image" Target="../media/image22.png"/><Relationship Id="rId7" Type="http://schemas.openxmlformats.org/officeDocument/2006/relationships/image" Target="../media/image21.png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1" Type="http://schemas.openxmlformats.org/officeDocument/2006/relationships/notesSlide" Target="../notesSlides/notesSlide1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13.png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39.png"/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49.png"/><Relationship Id="rId8" Type="http://schemas.openxmlformats.org/officeDocument/2006/relationships/image" Target="../media/image48.png"/><Relationship Id="rId7" Type="http://schemas.openxmlformats.org/officeDocument/2006/relationships/image" Target="../media/image47.png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tags" Target="../tags/tag2.xml"/><Relationship Id="rId14" Type="http://schemas.openxmlformats.org/officeDocument/2006/relationships/slideLayout" Target="../slideLayouts/slideLayout7.xml"/><Relationship Id="rId13" Type="http://schemas.openxmlformats.org/officeDocument/2006/relationships/image" Target="../media/image53.png"/><Relationship Id="rId12" Type="http://schemas.openxmlformats.org/officeDocument/2006/relationships/image" Target="../media/image52.png"/><Relationship Id="rId11" Type="http://schemas.openxmlformats.org/officeDocument/2006/relationships/image" Target="../media/image51.png"/><Relationship Id="rId10" Type="http://schemas.openxmlformats.org/officeDocument/2006/relationships/image" Target="../media/image50.png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62.png"/><Relationship Id="rId8" Type="http://schemas.openxmlformats.org/officeDocument/2006/relationships/image" Target="../media/image61.png"/><Relationship Id="rId7" Type="http://schemas.openxmlformats.org/officeDocument/2006/relationships/image" Target="../media/image60.png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63.png"/><Relationship Id="rId1" Type="http://schemas.openxmlformats.org/officeDocument/2006/relationships/image" Target="../media/image54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72.png"/><Relationship Id="rId8" Type="http://schemas.openxmlformats.org/officeDocument/2006/relationships/image" Target="../media/image71.png"/><Relationship Id="rId7" Type="http://schemas.openxmlformats.org/officeDocument/2006/relationships/image" Target="../media/image70.png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79.png"/><Relationship Id="rId15" Type="http://schemas.openxmlformats.org/officeDocument/2006/relationships/image" Target="../media/image78.png"/><Relationship Id="rId14" Type="http://schemas.openxmlformats.org/officeDocument/2006/relationships/image" Target="../media/image77.png"/><Relationship Id="rId13" Type="http://schemas.openxmlformats.org/officeDocument/2006/relationships/image" Target="../media/image76.png"/><Relationship Id="rId12" Type="http://schemas.openxmlformats.org/officeDocument/2006/relationships/image" Target="../media/image75.png"/><Relationship Id="rId11" Type="http://schemas.openxmlformats.org/officeDocument/2006/relationships/image" Target="../media/image74.png"/><Relationship Id="rId10" Type="http://schemas.openxmlformats.org/officeDocument/2006/relationships/image" Target="../media/image73.png"/><Relationship Id="rId1" Type="http://schemas.openxmlformats.org/officeDocument/2006/relationships/image" Target="../media/image64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image" Target="../media/image80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image" Target="../media/image8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7.png"/><Relationship Id="rId1" Type="http://schemas.openxmlformats.org/officeDocument/2006/relationships/image" Target="../media/image86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88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p:grpSp>
        <p:nvGrpSpPr>
          <p:cNvPr id="43" name="组合 42"/>
          <p:cNvGrpSpPr/>
          <p:nvPr/>
        </p:nvGrpSpPr>
        <p:grpSpPr>
          <a:xfrm>
            <a:off x="3087370" y="3930650"/>
            <a:ext cx="7763510" cy="6623050"/>
            <a:chOff x="4862" y="6190"/>
            <a:chExt cx="12226" cy="10430"/>
          </a:xfrm>
        </p:grpSpPr>
        <p:sp>
          <p:nvSpPr>
            <p:cNvPr id="66" name="矩形 65"/>
            <p:cNvSpPr/>
            <p:nvPr/>
          </p:nvSpPr>
          <p:spPr>
            <a:xfrm>
              <a:off x="4862" y="6190"/>
              <a:ext cx="12226" cy="104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51" name="组合 50"/>
            <p:cNvGrpSpPr/>
            <p:nvPr/>
          </p:nvGrpSpPr>
          <p:grpSpPr>
            <a:xfrm>
              <a:off x="5096" y="6382"/>
              <a:ext cx="11992" cy="10119"/>
              <a:chOff x="135" y="6382"/>
              <a:chExt cx="11992" cy="10119"/>
            </a:xfrm>
          </p:grpSpPr>
          <p:grpSp>
            <p:nvGrpSpPr>
              <p:cNvPr id="8" name="组合 7"/>
              <p:cNvGrpSpPr/>
              <p:nvPr/>
            </p:nvGrpSpPr>
            <p:grpSpPr>
              <a:xfrm rot="0">
                <a:off x="193" y="7052"/>
                <a:ext cx="11934" cy="4292"/>
                <a:chOff x="583" y="2529"/>
                <a:chExt cx="21216" cy="7630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1" name="TextBox 30"/>
                    <p:cNvSpPr txBox="1"/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31" name="TextBox 3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blipFill rotWithShape="1">
                      <a:blip r:embed="rId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" name="TextBox 10"/>
                    <p:cNvSpPr txBox="1"/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small,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11" name="TextBox 1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Box 20"/>
                    <p:cNvSpPr txBox="1"/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large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TextBox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8" name="TextBox 57"/>
                    <p:cNvSpPr txBox="1"/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small</a:t>
                      </a:r>
                      <a:r>
                        <a:rPr lang="en-US" sz="1240" dirty="0">
                          <a:latin typeface="Arial" panose="020B0604020202020204" pitchFamily="34" charset="0"/>
                        </a:rPr>
                        <a:t>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large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58" name="TextBox 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TextBox 12"/>
                <p:cNvSpPr txBox="1"/>
                <p:nvPr/>
              </p:nvSpPr>
              <p:spPr>
                <a:xfrm>
                  <a:off x="2645" y="2655"/>
                  <a:ext cx="7452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Structural Zeros (cannot be constructed)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33" name="TextBox 98"/>
                <p:cNvSpPr txBox="1"/>
                <p:nvPr/>
              </p:nvSpPr>
              <p:spPr>
                <a:xfrm>
                  <a:off x="10880" y="2676"/>
                  <a:ext cx="5239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Constructable Area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34" name="矩形 33"/>
                <p:cNvSpPr/>
                <p:nvPr/>
              </p:nvSpPr>
              <p:spPr>
                <a:xfrm>
                  <a:off x="1832" y="2529"/>
                  <a:ext cx="813" cy="813"/>
                </a:xfrm>
                <a:prstGeom prst="rect">
                  <a:avLst/>
                </a:prstGeom>
                <a:solidFill>
                  <a:srgbClr val="696969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sp>
              <p:nvSpPr>
                <p:cNvPr id="37" name="矩形 36"/>
                <p:cNvSpPr/>
                <p:nvPr/>
              </p:nvSpPr>
              <p:spPr>
                <a:xfrm>
                  <a:off x="10068" y="2551"/>
                  <a:ext cx="813" cy="813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696969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grpSp>
              <p:nvGrpSpPr>
                <p:cNvPr id="2" name="组合 1"/>
                <p:cNvGrpSpPr/>
                <p:nvPr/>
              </p:nvGrpSpPr>
              <p:grpSpPr>
                <a:xfrm>
                  <a:off x="583" y="3473"/>
                  <a:ext cx="5083" cy="5043"/>
                  <a:chOff x="493" y="2941"/>
                  <a:chExt cx="4304" cy="4270"/>
                </a:xfrm>
              </p:grpSpPr>
              <p:pic>
                <p:nvPicPr>
                  <p:cNvPr id="40" name="图片 39"/>
                  <p:cNvPicPr>
                    <a:picLocks noChangeAspect="1"/>
                  </p:cNvPicPr>
                  <p:nvPr/>
                </p:nvPicPr>
                <p:blipFill>
                  <a:blip r:embed="rId5">
                    <a:grayscl/>
                  </a:blip>
                  <a:stretch>
                    <a:fillRect/>
                  </a:stretch>
                </p:blipFill>
                <p:spPr>
                  <a:xfrm>
                    <a:off x="493" y="2941"/>
                    <a:ext cx="4304" cy="4271"/>
                  </a:xfrm>
                  <a:prstGeom prst="rect">
                    <a:avLst/>
                  </a:prstGeom>
                </p:spPr>
              </p:pic>
              <p:sp>
                <p:nvSpPr>
                  <p:cNvPr id="19" name="椭圆 18"/>
                  <p:cNvSpPr/>
                  <p:nvPr/>
                </p:nvSpPr>
                <p:spPr>
                  <a:xfrm>
                    <a:off x="59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3" name="组合 2"/>
                <p:cNvGrpSpPr/>
                <p:nvPr/>
              </p:nvGrpSpPr>
              <p:grpSpPr>
                <a:xfrm>
                  <a:off x="5822" y="3473"/>
                  <a:ext cx="5081" cy="5043"/>
                  <a:chOff x="4929" y="2941"/>
                  <a:chExt cx="4302" cy="4270"/>
                </a:xfrm>
              </p:grpSpPr>
              <p:pic>
                <p:nvPicPr>
                  <p:cNvPr id="44" name="图片 43"/>
                  <p:cNvPicPr>
                    <a:picLocks noChangeAspect="1"/>
                  </p:cNvPicPr>
                  <p:nvPr/>
                </p:nvPicPr>
                <p:blipFill>
                  <a:blip r:embed="rId6">
                    <a:grayscl/>
                  </a:blip>
                  <a:stretch>
                    <a:fillRect/>
                  </a:stretch>
                </p:blipFill>
                <p:spPr>
                  <a:xfrm>
                    <a:off x="492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39" name="椭圆 38"/>
                  <p:cNvSpPr/>
                  <p:nvPr/>
                </p:nvSpPr>
                <p:spPr>
                  <a:xfrm>
                    <a:off x="502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4" name="组合 3"/>
                <p:cNvGrpSpPr/>
                <p:nvPr/>
              </p:nvGrpSpPr>
              <p:grpSpPr>
                <a:xfrm>
                  <a:off x="11060" y="3473"/>
                  <a:ext cx="5081" cy="5043"/>
                  <a:chOff x="9364" y="2941"/>
                  <a:chExt cx="4302" cy="4270"/>
                </a:xfrm>
              </p:grpSpPr>
              <p:pic>
                <p:nvPicPr>
                  <p:cNvPr id="46" name="图片 45"/>
                  <p:cNvPicPr>
                    <a:picLocks noChangeAspect="1"/>
                  </p:cNvPicPr>
                  <p:nvPr/>
                </p:nvPicPr>
                <p:blipFill>
                  <a:blip r:embed="rId7">
                    <a:grayscl/>
                  </a:blip>
                  <a:stretch>
                    <a:fillRect/>
                  </a:stretch>
                </p:blipFill>
                <p:spPr>
                  <a:xfrm>
                    <a:off x="9364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5" name="椭圆 44"/>
                  <p:cNvSpPr/>
                  <p:nvPr/>
                </p:nvSpPr>
                <p:spPr>
                  <a:xfrm>
                    <a:off x="945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6" name="组合 5"/>
                <p:cNvGrpSpPr/>
                <p:nvPr/>
              </p:nvGrpSpPr>
              <p:grpSpPr>
                <a:xfrm>
                  <a:off x="16298" y="3473"/>
                  <a:ext cx="5081" cy="5043"/>
                  <a:chOff x="13799" y="2941"/>
                  <a:chExt cx="4302" cy="4270"/>
                </a:xfrm>
              </p:grpSpPr>
              <p:pic>
                <p:nvPicPr>
                  <p:cNvPr id="47" name="图片 46"/>
                  <p:cNvPicPr>
                    <a:picLocks noChangeAspect="1"/>
                  </p:cNvPicPr>
                  <p:nvPr/>
                </p:nvPicPr>
                <p:blipFill>
                  <a:blip r:embed="rId8">
                    <a:grayscl/>
                  </a:blip>
                  <a:stretch>
                    <a:fillRect/>
                  </a:stretch>
                </p:blipFill>
                <p:spPr>
                  <a:xfrm>
                    <a:off x="1379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8" name="椭圆 47"/>
                  <p:cNvSpPr/>
                  <p:nvPr/>
                </p:nvSpPr>
                <p:spPr>
                  <a:xfrm>
                    <a:off x="1388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8" name="TextBox 8"/>
                    <p:cNvSpPr txBox="1"/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𝜑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𝛼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+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𝛽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595" b="0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38" name="TextBox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1" name="文本框 60"/>
                <p:cNvSpPr txBox="1"/>
                <p:nvPr/>
              </p:nvSpPr>
              <p:spPr>
                <a:xfrm>
                  <a:off x="5933" y="9322"/>
                  <a:ext cx="4928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Edge constrained</a:t>
                  </a:r>
                  <a:endParaRPr lang="en-US" altLang="zh-CN" sz="135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932" y="9302"/>
                  <a:ext cx="4734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Open</a:t>
                  </a:r>
                  <a:endParaRPr lang="en-US" altLang="zh-CN" sz="1350" dirty="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60" name="文本框 59"/>
                <p:cNvSpPr txBox="1"/>
                <p:nvPr/>
              </p:nvSpPr>
              <p:spPr>
                <a:xfrm>
                  <a:off x="16422" y="9322"/>
                  <a:ext cx="4936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Locked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62" name="文本框 61"/>
                <p:cNvSpPr txBox="1"/>
                <p:nvPr/>
              </p:nvSpPr>
              <p:spPr>
                <a:xfrm>
                  <a:off x="11095" y="9322"/>
                  <a:ext cx="5252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constrained</a:t>
                  </a:r>
                  <a:endParaRPr lang="en-US" altLang="zh-CN" sz="135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 rot="0">
                <a:off x="135" y="12332"/>
                <a:ext cx="11992" cy="4169"/>
                <a:chOff x="775" y="2738"/>
                <a:chExt cx="21319" cy="7412"/>
              </a:xfrm>
            </p:grpSpPr>
            <p:grpSp>
              <p:nvGrpSpPr>
                <p:cNvPr id="9" name="组合 8"/>
                <p:cNvGrpSpPr/>
                <p:nvPr/>
              </p:nvGrpSpPr>
              <p:grpSpPr>
                <a:xfrm>
                  <a:off x="775" y="2738"/>
                  <a:ext cx="21319" cy="6876"/>
                  <a:chOff x="1249" y="1355"/>
                  <a:chExt cx="21319" cy="6876"/>
                </a:xfrm>
              </p:grpSpPr>
              <p:sp>
                <p:nvSpPr>
                  <p:cNvPr id="126" name="Google Shape;421;p29"/>
                  <p:cNvSpPr txBox="1"/>
                  <p:nvPr/>
                </p:nvSpPr>
                <p:spPr>
                  <a:xfrm>
                    <a:off x="7112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7" name="Google Shape;422;p29"/>
                  <p:cNvSpPr txBox="1"/>
                  <p:nvPr/>
                </p:nvSpPr>
                <p:spPr>
                  <a:xfrm>
                    <a:off x="17905" y="7170"/>
                    <a:ext cx="4249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8" name="Google Shape;423;p29"/>
                  <p:cNvSpPr txBox="1"/>
                  <p:nvPr/>
                </p:nvSpPr>
                <p:spPr>
                  <a:xfrm>
                    <a:off x="1714" y="7170"/>
                    <a:ext cx="4044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9" name="Google Shape;424;p29"/>
                  <p:cNvSpPr txBox="1"/>
                  <p:nvPr/>
                </p:nvSpPr>
                <p:spPr>
                  <a:xfrm>
                    <a:off x="12509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32" name="TextBox 12"/>
                  <p:cNvSpPr txBox="1"/>
                  <p:nvPr/>
                </p:nvSpPr>
                <p:spPr>
                  <a:xfrm>
                    <a:off x="2886" y="1378"/>
                    <a:ext cx="2508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Buildings</a:t>
                    </a:r>
                    <a:endParaRPr lang="en-US" sz="1065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0" name="TextBox 98"/>
                  <p:cNvSpPr txBox="1"/>
                  <p:nvPr/>
                </p:nvSpPr>
                <p:spPr>
                  <a:xfrm>
                    <a:off x="11123" y="1379"/>
                    <a:ext cx="5239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Constructable Area</a:t>
                    </a:r>
                    <a:endParaRPr lang="en-US" sz="1065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" name="矩形 11"/>
                  <p:cNvSpPr/>
                  <p:nvPr/>
                </p:nvSpPr>
                <p:spPr>
                  <a:xfrm>
                    <a:off x="2073" y="1357"/>
                    <a:ext cx="813" cy="813"/>
                  </a:xfrm>
                  <a:prstGeom prst="rect">
                    <a:avLst/>
                  </a:prstGeom>
                  <a:solidFill>
                    <a:srgbClr val="69A2B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sp>
                <p:nvSpPr>
                  <p:cNvPr id="13" name="矩形 12"/>
                  <p:cNvSpPr/>
                  <p:nvPr/>
                </p:nvSpPr>
                <p:spPr>
                  <a:xfrm>
                    <a:off x="10309" y="1355"/>
                    <a:ext cx="813" cy="813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grpSp>
                <p:nvGrpSpPr>
                  <p:cNvPr id="14" name="组合 13"/>
                  <p:cNvGrpSpPr/>
                  <p:nvPr/>
                </p:nvGrpSpPr>
                <p:grpSpPr>
                  <a:xfrm>
                    <a:off x="1249" y="2420"/>
                    <a:ext cx="4974" cy="4859"/>
                    <a:chOff x="1057" y="2049"/>
                    <a:chExt cx="4212" cy="4114"/>
                  </a:xfrm>
                </p:grpSpPr>
                <p:pic>
                  <p:nvPicPr>
                    <p:cNvPr id="15" name="图片 14"/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57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7" name="椭圆 26"/>
                    <p:cNvSpPr/>
                    <p:nvPr/>
                  </p:nvSpPr>
                  <p:spPr>
                    <a:xfrm>
                      <a:off x="12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6" name="组合 15"/>
                  <p:cNvGrpSpPr/>
                  <p:nvPr/>
                </p:nvGrpSpPr>
                <p:grpSpPr>
                  <a:xfrm>
                    <a:off x="6580" y="2420"/>
                    <a:ext cx="4974" cy="4859"/>
                    <a:chOff x="5571" y="2049"/>
                    <a:chExt cx="4212" cy="4114"/>
                  </a:xfrm>
                </p:grpSpPr>
                <p:pic>
                  <p:nvPicPr>
                    <p:cNvPr id="17" name="图片 16"/>
                    <p:cNvPicPr>
                      <a:picLocks noChangeAspect="1"/>
                    </p:cNvPicPr>
                    <p:nvPr/>
                  </p:nvPicPr>
                  <p:blipFill>
                    <a:blip r:embed="rId11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5571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8" name="椭圆 27"/>
                    <p:cNvSpPr/>
                    <p:nvPr/>
                  </p:nvSpPr>
                  <p:spPr>
                    <a:xfrm>
                      <a:off x="5813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11910" y="2420"/>
                    <a:ext cx="4974" cy="4859"/>
                    <a:chOff x="10084" y="2049"/>
                    <a:chExt cx="4212" cy="4114"/>
                  </a:xfrm>
                </p:grpSpPr>
                <p:pic>
                  <p:nvPicPr>
                    <p:cNvPr id="20" name="图片 19"/>
                    <p:cNvPicPr>
                      <a:picLocks noChangeAspect="1"/>
                    </p:cNvPicPr>
                    <p:nvPr/>
                  </p:nvPicPr>
                  <p:blipFill>
                    <a:blip r:embed="rId12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084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2" name="椭圆 21"/>
                    <p:cNvSpPr/>
                    <p:nvPr/>
                  </p:nvSpPr>
                  <p:spPr>
                    <a:xfrm>
                      <a:off x="10347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23" name="组合 22"/>
                  <p:cNvGrpSpPr/>
                  <p:nvPr/>
                </p:nvGrpSpPr>
                <p:grpSpPr>
                  <a:xfrm>
                    <a:off x="17241" y="2420"/>
                    <a:ext cx="4974" cy="4859"/>
                    <a:chOff x="14598" y="2049"/>
                    <a:chExt cx="4212" cy="4114"/>
                  </a:xfrm>
                </p:grpSpPr>
                <p:pic>
                  <p:nvPicPr>
                    <p:cNvPr id="24" name="图片 23"/>
                    <p:cNvPicPr>
                      <a:picLocks noChangeAspect="1"/>
                    </p:cNvPicPr>
                    <p:nvPr/>
                  </p:nvPicPr>
                  <p:blipFill>
                    <a:blip r:embed="rId13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4598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0" name="椭圆 29"/>
                    <p:cNvSpPr/>
                    <p:nvPr/>
                  </p:nvSpPr>
                  <p:spPr>
                    <a:xfrm>
                      <a:off x="148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sp>
                <p:nvSpPr>
                  <p:cNvPr id="25" name="TextBox 12"/>
                  <p:cNvSpPr txBox="1"/>
                  <p:nvPr/>
                </p:nvSpPr>
                <p:spPr>
                  <a:xfrm>
                    <a:off x="6570" y="1378"/>
                    <a:ext cx="3374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Structural Zeros</a:t>
                    </a:r>
                    <a:endParaRPr lang="en-US" sz="1065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6" name="矩形 25"/>
                  <p:cNvSpPr/>
                  <p:nvPr/>
                </p:nvSpPr>
                <p:spPr>
                  <a:xfrm>
                    <a:off x="5768" y="1357"/>
                    <a:ext cx="813" cy="813"/>
                  </a:xfrm>
                  <a:prstGeom prst="rect">
                    <a:avLst/>
                  </a:prstGeom>
                  <a:solidFill>
                    <a:srgbClr val="BFBFB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88" name="文本框 87"/>
                      <p:cNvSpPr txBox="1"/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 anchor="t">
                        <a:spAutoFit/>
                      </a:bodyPr>
                      <a:lstStyle/>
                      <a:p>
                        <a:pPr marL="0" indent="0">
                          <a:lnSpc>
                            <a:spcPct val="100000"/>
                          </a:lnSpc>
                          <a:spcBef>
                            <a:spcPts val="1200"/>
                          </a:spcBef>
                          <a:buFont typeface="Wingdings" panose="05000000000000000000" charset="0"/>
                          <a:buNone/>
                        </a:pPr>
                        <a14:m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𝜋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 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𝛿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 </m:t>
                            </m:r>
                          </m:oMath>
                        </a14:m>
                        <a:r>
                          <a:rPr lang="en-US" sz="1595" dirty="0">
                            <a:latin typeface="Arial" panose="020B0604020202020204" pitchFamily="34" charset="0"/>
                            <a:cs typeface="Arial" panose="020B0604020202020204" pitchFamily="34" charset="0"/>
                            <a:sym typeface="+mn-ea"/>
                          </a:rPr>
                          <a:t> </a:t>
                        </a:r>
                        <a:endParaRPr lang="en-US" altLang="en-US" sz="1595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88" name="文本框 87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blipFill rotWithShape="1">
                        <a:blip r:embed="rId14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5" name="文本框 34"/>
                <p:cNvSpPr txBox="1"/>
                <p:nvPr/>
              </p:nvSpPr>
              <p:spPr>
                <a:xfrm>
                  <a:off x="6703" y="9322"/>
                  <a:ext cx="410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Thinly built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36" name="文本框 35"/>
                <p:cNvSpPr txBox="1"/>
                <p:nvPr/>
              </p:nvSpPr>
              <p:spPr>
                <a:xfrm>
                  <a:off x="1050" y="9322"/>
                  <a:ext cx="4604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sparse</a:t>
                  </a:r>
                  <a:endParaRPr lang="en-US" altLang="zh-CN" sz="1330" dirty="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7634" y="9322"/>
                  <a:ext cx="381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Core-dense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1759" y="9322"/>
                  <a:ext cx="4599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dense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</p:grpSp>
          <p:sp>
            <p:nvSpPr>
              <p:cNvPr id="49" name="文本框 48"/>
              <p:cNvSpPr txBox="1"/>
              <p:nvPr/>
            </p:nvSpPr>
            <p:spPr>
              <a:xfrm>
                <a:off x="448" y="6382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Horizontal Constraints Types</a:t>
                </a:r>
                <a:endParaRPr lang="en-US" altLang="zh-CN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528" y="11577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Horizontal Construction Types</a:t>
                </a:r>
                <a:endParaRPr lang="en-US" altLang="zh-CN"/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3195345" y="2879131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</a:endParaRP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  <a:endParaRPr lang="en-US" altLang="zh-CN" sz="1065">
                    <a:latin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  <a:endPara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  <a:endParaRPr lang="en-US" altLang="zh-CN" sz="1065">
                    <a:latin typeface="Arial" panose="020B0604020202020204" pitchFamily="34" charset="0"/>
                    <a:sym typeface="+mn-ea"/>
                  </a:endParaRP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  <a:endPara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Vertical Profile Types</a:t>
              </a:r>
              <a:endParaRPr lang="en-US" altLang="zh-CN"/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7610" y="11002010"/>
            <a:ext cx="9753600" cy="15144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2834543" y="11244273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  <a:endParaRPr lang="en-US" altLang="zh-CN" sz="9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  <a:endParaRPr lang="en-US" altLang="zh-CN" sz="9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  <a:endParaRPr lang="en-US" altLang="zh-CN" sz="9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  <a:endParaRPr lang="en-US" altLang="zh-CN" sz="900"/>
            </a:p>
          </p:txBody>
        </p:sp>
      </p:grpSp>
      <p:grpSp>
        <p:nvGrpSpPr>
          <p:cNvPr id="75" name="组合 74"/>
          <p:cNvGrpSpPr/>
          <p:nvPr/>
        </p:nvGrpSpPr>
        <p:grpSpPr>
          <a:xfrm>
            <a:off x="3824086" y="3354404"/>
            <a:ext cx="6587705" cy="3602288"/>
            <a:chOff x="2562" y="774"/>
            <a:chExt cx="18443" cy="10085"/>
          </a:xfrm>
        </p:grpSpPr>
        <p:sp>
          <p:nvSpPr>
            <p:cNvPr id="66" name="矩形 65"/>
            <p:cNvSpPr/>
            <p:nvPr/>
          </p:nvSpPr>
          <p:spPr>
            <a:xfrm>
              <a:off x="2562" y="775"/>
              <a:ext cx="18361" cy="1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149" name="组合 148"/>
            <p:cNvGrpSpPr/>
            <p:nvPr/>
          </p:nvGrpSpPr>
          <p:grpSpPr>
            <a:xfrm>
              <a:off x="5545" y="9577"/>
              <a:ext cx="12840" cy="1259"/>
              <a:chOff x="5545" y="9577"/>
              <a:chExt cx="12840" cy="11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8" y="957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8" y="1006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356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358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>
              <a:off x="2735" y="774"/>
              <a:ext cx="8414" cy="8385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1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400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457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  <a:endPara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279" y="6961"/>
                <a:ext cx="2441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790" i="1">
                    <a:solidFill>
                      <a:schemeClr val="tx1"/>
                    </a:solidFill>
                  </a:rPr>
                  <a:t>29% Uniformly open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4" y="2113"/>
                <a:ext cx="2347" cy="1332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1% Locked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45% Edge-constrianed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25% Uniform constrianed landscape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0646" y="774"/>
              <a:ext cx="10359" cy="8463"/>
              <a:chOff x="10646" y="774"/>
              <a:chExt cx="10359" cy="8463"/>
            </a:xfrm>
          </p:grpSpPr>
          <p:pic>
            <p:nvPicPr>
              <p:cNvPr id="129" name="图片 128"/>
              <p:cNvPicPr/>
              <p:nvPr/>
            </p:nvPicPr>
            <p:blipFill>
              <a:blip r:embed="rId3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393"/>
                <a:chOff x="9406" y="1694"/>
                <a:chExt cx="8319" cy="7393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  <a:endParaRPr lang="en-US" altLang="zh-CN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12" y="8574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  <a:endParaRPr lang="en-US" altLang="zh-CN" sz="1125"/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4"/>
                <a:ext cx="2971" cy="747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296" y="7316"/>
                <a:ext cx="2990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  <a:endPara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2557848" y="12153748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0531819" y="11842276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352837" y="9523955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3582991" y="11845848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135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205" y="8985250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7903845"/>
            <a:ext cx="1419860" cy="699135"/>
          </a:xfrm>
          <a:prstGeom prst="rect">
            <a:avLst/>
          </a:prstGeom>
        </p:spPr>
      </p:pic>
      <p:grpSp>
        <p:nvGrpSpPr>
          <p:cNvPr id="120" name="组合 119"/>
          <p:cNvGrpSpPr/>
          <p:nvPr/>
        </p:nvGrpSpPr>
        <p:grpSpPr>
          <a:xfrm>
            <a:off x="3049270" y="2152015"/>
            <a:ext cx="8300720" cy="4268470"/>
            <a:chOff x="4802" y="3389"/>
            <a:chExt cx="13072" cy="6722"/>
          </a:xfrm>
        </p:grpSpPr>
        <p:sp>
          <p:nvSpPr>
            <p:cNvPr id="73" name="矩形 72"/>
            <p:cNvSpPr/>
            <p:nvPr/>
          </p:nvSpPr>
          <p:spPr>
            <a:xfrm>
              <a:off x="4802" y="3389"/>
              <a:ext cx="13072" cy="672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8" y="4215"/>
              <a:ext cx="6415" cy="4917"/>
            </a:xfrm>
            <a:prstGeom prst="rect">
              <a:avLst/>
            </a:prstGeom>
          </p:spPr>
        </p:pic>
        <p:grpSp>
          <p:nvGrpSpPr>
            <p:cNvPr id="37" name="组合 36"/>
            <p:cNvGrpSpPr/>
            <p:nvPr/>
          </p:nvGrpSpPr>
          <p:grpSpPr>
            <a:xfrm rot="0">
              <a:off x="5680" y="9013"/>
              <a:ext cx="5625" cy="769"/>
              <a:chOff x="5468" y="13333"/>
              <a:chExt cx="5625" cy="769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open</a:t>
                </a:r>
                <a:endParaRPr lang="en-US" altLang="zh-CN" sz="1200"/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Edge constrained</a:t>
                </a:r>
                <a:endParaRPr lang="en-US" altLang="zh-CN" sz="1200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435" y="1333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constrianed</a:t>
                </a:r>
                <a:endParaRPr lang="en-US" altLang="zh-CN" sz="12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Locked</a:t>
                </a:r>
                <a:endParaRPr lang="en-US" altLang="zh-CN" sz="1200"/>
              </a:p>
            </p:txBody>
          </p:sp>
        </p:grpSp>
        <p:sp>
          <p:nvSpPr>
            <p:cNvPr id="31" name="文本框 30"/>
            <p:cNvSpPr txBox="1"/>
            <p:nvPr/>
          </p:nvSpPr>
          <p:spPr>
            <a:xfrm>
              <a:off x="5602" y="3609"/>
              <a:ext cx="521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(a) Horizontal Constraint Types</a:t>
              </a:r>
              <a:endParaRPr lang="en-US" altLang="zh-CN" sz="140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410" y="3609"/>
              <a:ext cx="611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(b) Horizontal Construction Types</a:t>
              </a:r>
              <a:endParaRPr lang="en-US" altLang="zh-CN" sz="1400"/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13" y="4198"/>
              <a:ext cx="6095" cy="4840"/>
            </a:xfrm>
            <a:prstGeom prst="rect">
              <a:avLst/>
            </a:prstGeom>
          </p:spPr>
        </p:pic>
        <p:grpSp>
          <p:nvGrpSpPr>
            <p:cNvPr id="119" name="组合 118"/>
            <p:cNvGrpSpPr/>
            <p:nvPr/>
          </p:nvGrpSpPr>
          <p:grpSpPr>
            <a:xfrm>
              <a:off x="11748" y="9013"/>
              <a:ext cx="5625" cy="769"/>
              <a:chOff x="11808" y="9013"/>
              <a:chExt cx="5625" cy="769"/>
            </a:xfrm>
          </p:grpSpPr>
          <p:sp>
            <p:nvSpPr>
              <p:cNvPr id="39" name="矩形 38"/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41" name="矩形 40"/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Thinly built</a:t>
                </a:r>
                <a:endParaRPr lang="en-US" altLang="zh-CN" sz="1200"/>
              </a:p>
            </p:txBody>
          </p:sp>
          <p:sp>
            <p:nvSpPr>
              <p:cNvPr id="43" name="矩形 42"/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4" name="矩形 43"/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dense</a:t>
                </a:r>
                <a:endParaRPr lang="en-US" altLang="zh-CN" sz="1200"/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  <a:endParaRPr lang="en-US" altLang="zh-CN" sz="1200"/>
              </a:p>
            </p:txBody>
          </p:sp>
        </p:grpSp>
      </p:grpSp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060" y="9973310"/>
            <a:ext cx="947420" cy="782320"/>
          </a:xfrm>
          <a:prstGeom prst="rect">
            <a:avLst/>
          </a:prstGeom>
        </p:spPr>
      </p:pic>
      <p:grpSp>
        <p:nvGrpSpPr>
          <p:cNvPr id="121" name="组合 120"/>
          <p:cNvGrpSpPr/>
          <p:nvPr/>
        </p:nvGrpSpPr>
        <p:grpSpPr>
          <a:xfrm>
            <a:off x="4538980" y="7019925"/>
            <a:ext cx="5536565" cy="3533775"/>
            <a:chOff x="7148" y="11055"/>
            <a:chExt cx="8719" cy="5565"/>
          </a:xfrm>
        </p:grpSpPr>
        <p:sp>
          <p:nvSpPr>
            <p:cNvPr id="75" name="矩形 74"/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  <a:endParaRPr lang="en-US" altLang="zh-CN" sz="1400" dirty="0"/>
            </a:p>
          </p:txBody>
        </p:sp>
        <p:grpSp>
          <p:nvGrpSpPr>
            <p:cNvPr id="113" name="组合 112"/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97" name="矩形 96"/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  <a:endParaRPr lang="en-US" altLang="zh-CN" sz="845"/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98" name="矩形 97"/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0" name="文本框 99"/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  <a:endParaRPr lang="en-US" altLang="zh-CN" sz="84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14017" y="12159"/>
              <a:ext cx="1849" cy="348"/>
              <a:chOff x="14132" y="13393"/>
              <a:chExt cx="1849" cy="348"/>
            </a:xfrm>
          </p:grpSpPr>
          <p:sp>
            <p:nvSpPr>
              <p:cNvPr id="96" name="文本框 95"/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Pyramid</a:t>
                </a:r>
                <a:endParaRPr lang="en-US" altLang="zh-CN" sz="845"/>
              </a:p>
            </p:txBody>
          </p:sp>
          <p:sp>
            <p:nvSpPr>
              <p:cNvPr id="101" name="矩形 100"/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14017" y="12468"/>
              <a:ext cx="1849" cy="348"/>
              <a:chOff x="14132" y="13074"/>
              <a:chExt cx="1849" cy="348"/>
            </a:xfrm>
          </p:grpSpPr>
          <p:sp>
            <p:nvSpPr>
              <p:cNvPr id="95" name="矩形 94"/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2" name="文本框 101"/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  <a:endParaRPr lang="en-US" altLang="zh-CN" sz="84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4017" y="12777"/>
              <a:ext cx="1849" cy="348"/>
              <a:chOff x="14132" y="12755"/>
              <a:chExt cx="1849" cy="348"/>
            </a:xfrm>
          </p:grpSpPr>
          <p:sp>
            <p:nvSpPr>
              <p:cNvPr id="109" name="矩形 108"/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10" name="文本框 109"/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Pancake</a:t>
                </a:r>
                <a:endParaRPr lang="en-US" altLang="zh-CN" sz="845"/>
              </a:p>
            </p:txBody>
          </p:sp>
        </p:grp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99" y="11574"/>
              <a:ext cx="6557" cy="492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/>
          <p:cNvGrpSpPr/>
          <p:nvPr/>
        </p:nvGrpSpPr>
        <p:grpSpPr>
          <a:xfrm>
            <a:off x="4507590" y="9564133"/>
            <a:ext cx="5570421" cy="417915"/>
            <a:chOff x="3800" y="12996"/>
            <a:chExt cx="15595" cy="1170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  <a:endParaRPr lang="en-US" altLang="zh-CN" sz="900"/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  <a:endParaRPr lang="en-US" altLang="zh-CN" sz="900"/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  <a:endParaRPr lang="en-US" altLang="zh-CN" sz="900"/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  <a:endParaRPr lang="en-US" altLang="zh-CN" sz="900"/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3150258" y="5231028"/>
            <a:ext cx="8100059" cy="4051427"/>
            <a:chOff x="0" y="865"/>
            <a:chExt cx="22677" cy="11342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  <a:endParaRPr lang="en-US" altLang="zh-CN" sz="1575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6034" cy="1684"/>
              <a:chOff x="3914" y="9142"/>
              <a:chExt cx="14213" cy="1493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10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4"/>
              <a:ext cx="1830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2"/>
              <a:ext cx="2140" cy="872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1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1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3324925" y="5370690"/>
            <a:ext cx="7104564" cy="3814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 dirty="0"/>
          </a:p>
        </p:txBody>
      </p:sp>
      <p:grpSp>
        <p:nvGrpSpPr>
          <p:cNvPr id="30" name="Group 29"/>
          <p:cNvGrpSpPr/>
          <p:nvPr/>
        </p:nvGrpSpPr>
        <p:grpSpPr>
          <a:xfrm>
            <a:off x="3381362" y="5443915"/>
            <a:ext cx="6929897" cy="3798388"/>
            <a:chOff x="410845" y="927735"/>
            <a:chExt cx="12319635" cy="6752590"/>
          </a:xfrm>
        </p:grpSpPr>
        <p:grpSp>
          <p:nvGrpSpPr>
            <p:cNvPr id="64" name="组合 63"/>
            <p:cNvGrpSpPr/>
            <p:nvPr/>
          </p:nvGrpSpPr>
          <p:grpSpPr>
            <a:xfrm>
              <a:off x="410845" y="927735"/>
              <a:ext cx="12319635" cy="6752590"/>
              <a:chOff x="647" y="1461"/>
              <a:chExt cx="19401" cy="10634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2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  <a:endParaRPr lang="en-US" altLang="zh-CN" sz="1125"/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 useBgFill="1"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Structural Zero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Actual Construction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  <a:endParaRPr lang="en-US" altLang="zh-CN" sz="1125"/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  <a:endParaRPr lang="en-US" altLang="zh-CN" sz="1125"/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8899" cy="1212"/>
                <a:chOff x="6124" y="10847"/>
                <a:chExt cx="8899" cy="1212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2540" cy="11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Latin America</a:t>
                  </a:r>
                  <a:endParaRPr lang="en-US" altLang="zh-CN" sz="101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310" cy="11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Africa</a:t>
                  </a:r>
                  <a:endParaRPr lang="en-US" altLang="zh-CN" sz="1015"/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South&amp;South-east Asia</a:t>
                  </a:r>
                  <a:endParaRPr lang="en-US" altLang="zh-CN" sz="1015"/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" name="文本框 1"/>
            <p:cNvSpPr txBox="1"/>
            <p:nvPr/>
          </p:nvSpPr>
          <p:spPr>
            <a:xfrm>
              <a:off x="238569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36%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06844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12%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63957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89712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30%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593965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8%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593965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21%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901680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27%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901680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44%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65"/>
          <p:cNvSpPr/>
          <p:nvPr/>
        </p:nvSpPr>
        <p:spPr>
          <a:xfrm>
            <a:off x="651510" y="5314315"/>
            <a:ext cx="8441055" cy="33712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l="49624"/>
          <a:stretch>
            <a:fillRect/>
          </a:stretch>
        </p:blipFill>
        <p:spPr>
          <a:xfrm>
            <a:off x="3380740" y="6019800"/>
            <a:ext cx="2720975" cy="225361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rot="5400000">
            <a:off x="4992370" y="4238625"/>
            <a:ext cx="329565" cy="78701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7" name="矩形 6"/>
          <p:cNvSpPr/>
          <p:nvPr/>
        </p:nvSpPr>
        <p:spPr>
          <a:xfrm>
            <a:off x="787400" y="5884545"/>
            <a:ext cx="330200" cy="2610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5" name="矩形 4"/>
          <p:cNvSpPr/>
          <p:nvPr/>
        </p:nvSpPr>
        <p:spPr>
          <a:xfrm>
            <a:off x="3411220" y="5846445"/>
            <a:ext cx="413385" cy="2610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14" name="文本框 13"/>
          <p:cNvSpPr txBox="1"/>
          <p:nvPr/>
        </p:nvSpPr>
        <p:spPr>
          <a:xfrm>
            <a:off x="3992880" y="8008620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125"/>
              <a:t>-0.04</a:t>
            </a:r>
            <a:endParaRPr lang="en-US" altLang="zh-CN" sz="1125"/>
          </a:p>
        </p:txBody>
      </p:sp>
      <p:sp>
        <p:nvSpPr>
          <p:cNvPr id="15" name="文本框 14"/>
          <p:cNvSpPr txBox="1"/>
          <p:nvPr/>
        </p:nvSpPr>
        <p:spPr>
          <a:xfrm>
            <a:off x="5277485" y="8008620"/>
            <a:ext cx="30099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125"/>
              <a:t>0.04</a:t>
            </a:r>
            <a:endParaRPr lang="en-US" altLang="zh-CN" sz="1125"/>
          </a:p>
        </p:txBody>
      </p:sp>
      <p:sp>
        <p:nvSpPr>
          <p:cNvPr id="16" name="文本框 15"/>
          <p:cNvSpPr txBox="1"/>
          <p:nvPr/>
        </p:nvSpPr>
        <p:spPr>
          <a:xfrm>
            <a:off x="5735955" y="8008620"/>
            <a:ext cx="4699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zh-CN" altLang="en-US" sz="135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Δ</a:t>
            </a:r>
            <a:r>
              <a:rPr lang="en-US" altLang="zh-CN" sz="1350" i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altLang="zh-CN" sz="1350" i="1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510915" y="5907405"/>
            <a:ext cx="34417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zh-CN" altLang="en-US" sz="135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Δ</a:t>
            </a:r>
            <a:r>
              <a:rPr lang="en-US" altLang="zh-CN" sz="1350" i="1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altLang="zh-CN" sz="135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74565" y="8008620"/>
            <a:ext cx="94615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altLang="zh-CN" sz="1125"/>
              <a:t>0</a:t>
            </a:r>
            <a:endParaRPr lang="en-US" altLang="zh-CN" sz="1125"/>
          </a:p>
        </p:txBody>
      </p:sp>
      <p:sp>
        <p:nvSpPr>
          <p:cNvPr id="21" name="文本框 20"/>
          <p:cNvSpPr txBox="1"/>
          <p:nvPr/>
        </p:nvSpPr>
        <p:spPr>
          <a:xfrm>
            <a:off x="3449320" y="6925310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125"/>
              <a:t>0</a:t>
            </a:r>
            <a:endParaRPr lang="en-US" altLang="zh-CN" sz="1125"/>
          </a:p>
        </p:txBody>
      </p:sp>
      <p:sp>
        <p:nvSpPr>
          <p:cNvPr id="23" name="文本框 22"/>
          <p:cNvSpPr txBox="1"/>
          <p:nvPr/>
        </p:nvSpPr>
        <p:spPr>
          <a:xfrm>
            <a:off x="3300730" y="7394575"/>
            <a:ext cx="506095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015"/>
              <a:t>-0.005</a:t>
            </a:r>
            <a:endParaRPr lang="en-US" altLang="zh-CN" sz="1015"/>
          </a:p>
        </p:txBody>
      </p:sp>
      <p:sp>
        <p:nvSpPr>
          <p:cNvPr id="24" name="文本框 23"/>
          <p:cNvSpPr txBox="1"/>
          <p:nvPr/>
        </p:nvSpPr>
        <p:spPr>
          <a:xfrm>
            <a:off x="3413125" y="6415405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015"/>
              <a:t>0.005</a:t>
            </a:r>
            <a:endParaRPr lang="en-US" altLang="zh-CN" sz="101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文本框 54"/>
              <p:cNvSpPr txBox="1"/>
              <p:nvPr/>
            </p:nvSpPr>
            <p:spPr>
              <a:xfrm>
                <a:off x="2417445" y="5375275"/>
                <a:ext cx="4459605" cy="57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575">
                    <a:latin typeface="Arial" panose="020B0604020202020204" pitchFamily="34" charset="0"/>
                    <a:cs typeface="Arial" panose="020B0604020202020204" pitchFamily="34" charset="0"/>
                  </a:rPr>
                  <a:t>Change of Vertical Params</a:t>
                </a:r>
                <a:endParaRPr lang="en-US" altLang="zh-CN" sz="1575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𝑒𝑥𝑝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𝐵𝑟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p>
                        <m:sSupPr>
                          <m:ctrlP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57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575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5" name="文本框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445" y="5375275"/>
                <a:ext cx="4459605" cy="57150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文本框 55"/>
          <p:cNvSpPr txBox="1"/>
          <p:nvPr/>
        </p:nvSpPr>
        <p:spPr>
          <a:xfrm>
            <a:off x="5578475" y="8381365"/>
            <a:ext cx="90741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Latin America</a:t>
            </a:r>
            <a:endParaRPr lang="en-US" altLang="zh-CN" sz="1015"/>
          </a:p>
        </p:txBody>
      </p:sp>
      <p:sp>
        <p:nvSpPr>
          <p:cNvPr id="57" name="文本框 56"/>
          <p:cNvSpPr txBox="1"/>
          <p:nvPr/>
        </p:nvSpPr>
        <p:spPr>
          <a:xfrm>
            <a:off x="3380740" y="8394065"/>
            <a:ext cx="46799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Africa</a:t>
            </a:r>
            <a:endParaRPr lang="en-US" altLang="zh-CN" sz="1015"/>
          </a:p>
        </p:txBody>
      </p:sp>
      <p:sp>
        <p:nvSpPr>
          <p:cNvPr id="58" name="文本框 57"/>
          <p:cNvSpPr txBox="1"/>
          <p:nvPr/>
        </p:nvSpPr>
        <p:spPr>
          <a:xfrm>
            <a:off x="3981450" y="8389620"/>
            <a:ext cx="1597025" cy="247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South&amp;South-east Asia</a:t>
            </a:r>
            <a:endParaRPr lang="en-US" altLang="zh-CN" sz="1015"/>
          </a:p>
        </p:txBody>
      </p:sp>
      <p:sp>
        <p:nvSpPr>
          <p:cNvPr id="59" name="上箭头 58"/>
          <p:cNvSpPr/>
          <p:nvPr/>
        </p:nvSpPr>
        <p:spPr>
          <a:xfrm>
            <a:off x="5474970" y="8364855"/>
            <a:ext cx="103505" cy="232410"/>
          </a:xfrm>
          <a:prstGeom prst="upArrow">
            <a:avLst>
              <a:gd name="adj1" fmla="val 50000"/>
              <a:gd name="adj2" fmla="val 101034"/>
            </a:avLst>
          </a:prstGeom>
          <a:solidFill>
            <a:srgbClr val="47A2DE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60" name="上箭头 59"/>
          <p:cNvSpPr/>
          <p:nvPr/>
        </p:nvSpPr>
        <p:spPr>
          <a:xfrm>
            <a:off x="3307080" y="8369935"/>
            <a:ext cx="103505" cy="232410"/>
          </a:xfrm>
          <a:prstGeom prst="upArrow">
            <a:avLst>
              <a:gd name="adj1" fmla="val 50000"/>
              <a:gd name="adj2" fmla="val 93103"/>
            </a:avLst>
          </a:prstGeom>
          <a:solidFill>
            <a:srgbClr val="E85748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>
              <a:solidFill>
                <a:srgbClr val="9467BD"/>
              </a:solidFill>
            </a:endParaRPr>
          </a:p>
        </p:txBody>
      </p:sp>
      <p:sp>
        <p:nvSpPr>
          <p:cNvPr id="61" name="上箭头 60"/>
          <p:cNvSpPr/>
          <p:nvPr/>
        </p:nvSpPr>
        <p:spPr>
          <a:xfrm>
            <a:off x="3909060" y="8364855"/>
            <a:ext cx="103505" cy="232410"/>
          </a:xfrm>
          <a:prstGeom prst="upArrow">
            <a:avLst>
              <a:gd name="adj1" fmla="val 50000"/>
              <a:gd name="adj2" fmla="val 108620"/>
            </a:avLst>
          </a:prstGeom>
          <a:solidFill>
            <a:srgbClr val="F39F1B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4" name="文本框 3"/>
          <p:cNvSpPr txBox="1"/>
          <p:nvPr/>
        </p:nvSpPr>
        <p:spPr>
          <a:xfrm>
            <a:off x="8516375" y="6020065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3855273" y="6983217"/>
            <a:ext cx="220245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4821961" y="5987759"/>
            <a:ext cx="0" cy="198563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6422163" y="8494991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3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1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  <a:endParaRPr lang="en-US" altLang="zh-CN" sz="1125">
                <a:ea typeface="宋体" panose="02010600030101010101" pitchFamily="2" charset="-122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2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  <a:endParaRPr lang="en-US" altLang="zh-CN" sz="1015" b="1">
              <a:sym typeface="+mn-ea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4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5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5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5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5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5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5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0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  <a:endParaRPr lang="en-US" altLang="zh-CN" sz="1015" b="1" i="1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  <a:endParaRPr lang="en-US" altLang="zh-CN" sz="1015" b="1" i="1"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1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  <a:endParaRPr lang="en-US" altLang="zh-CN" sz="1575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  <a:endParaRPr lang="en-US" altLang="zh-CN" sz="1575"/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3187065" y="5614035"/>
            <a:ext cx="8021320" cy="2885440"/>
            <a:chOff x="5019" y="8841"/>
            <a:chExt cx="12632" cy="4544"/>
          </a:xfrm>
        </p:grpSpPr>
        <p:pic>
          <p:nvPicPr>
            <p:cNvPr id="56" name="图片 55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 rot="0">
              <a:off x="5019" y="9218"/>
              <a:ext cx="4305" cy="3824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 rot="0">
              <a:off x="9191" y="9218"/>
              <a:ext cx="4305" cy="3824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  <a:endParaRPr lang="en-US" altLang="zh-CN" sz="1350" b="1">
                <a:solidFill>
                  <a:srgbClr val="E85748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  <a:endParaRPr lang="en-US" altLang="zh-CN" sz="1350" b="1">
                <a:solidFill>
                  <a:srgbClr val="F39F1B"/>
                </a:solidFill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 rot="0">
              <a:off x="13347" y="9227"/>
              <a:ext cx="4305" cy="3824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  <a:endParaRPr lang="en-US" altLang="zh-CN" sz="1350" b="1">
                <a:solidFill>
                  <a:srgbClr val="47A2DE"/>
                </a:solidFill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  <a:endParaRPr lang="en-US" altLang="zh-CN" sz="1125">
                <a:sym typeface="+mn-ea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 rot="0"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 rot="0"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  <a:endParaRPr lang="en-US" altLang="zh-CN" sz="1125">
                <a:sym typeface="+mn-ea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  <a:endParaRPr lang="en-US" altLang="zh-CN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  <a:endParaRPr lang="en-US" altLang="zh-CN" sz="101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  <a:endParaRPr lang="en-US" altLang="zh-CN" sz="9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  <a:endParaRPr lang="en-US" altLang="zh-CN" sz="9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  <a:endParaRPr lang="en-US" altLang="zh-CN" sz="9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  <a:endParaRPr lang="en-US" altLang="zh-CN" sz="9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  <a:endParaRPr lang="en-US" altLang="zh-CN" sz="9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  <a:endParaRPr lang="en-US" altLang="zh-CN" sz="9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  <a:endParaRPr lang="en-US" altLang="zh-CN" sz="9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  <a:endParaRPr lang="en-US" altLang="zh-CN" sz="9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  <a:endParaRPr lang="en-US" altLang="zh-CN" sz="9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  <a:endParaRPr lang="en-US" altLang="zh-CN" sz="1015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  <a:endParaRPr lang="en-US" altLang="zh-CN" sz="1015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  <a:endParaRPr lang="en-US" altLang="zh-CN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  <a:endParaRPr lang="en-US" altLang="zh-CN" sz="1015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  <a:endParaRPr lang="en-US" altLang="zh-CN" sz="1015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  <a:endParaRPr lang="en-US" altLang="zh-CN" sz="1015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  <a:endParaRPr lang="en-US" altLang="zh-CN" sz="1015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135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135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79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  <a:endParaRPr lang="en-US" altLang="zh-CN" sz="1125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1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2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  <a:endParaRPr lang="en-US" altLang="zh-CN" sz="133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1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2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  <a:endParaRPr lang="en-US" altLang="zh-CN" sz="1015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  <a:endParaRPr lang="en-US" altLang="zh-CN" sz="1015"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  <a:endParaRPr lang="en-US" altLang="zh-CN" sz="1015">
                <a:ea typeface="宋体" panose="02010600030101010101" pitchFamily="2" charset="-122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  <a:endParaRPr lang="en-US" altLang="zh-CN" sz="845"/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  <a:endParaRPr lang="en-US" altLang="zh-CN" sz="845"/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  <a:endParaRPr lang="en-US" altLang="zh-CN" sz="84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  <a:endParaRPr lang="en-US" altLang="zh-CN" sz="845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  <a:endParaRPr lang="en-US" altLang="zh-CN" sz="135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  <a:endParaRPr lang="en-US" altLang="zh-CN" sz="1350"/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  <a:endParaRPr lang="en-US" altLang="zh-CN" sz="845"/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  <a:endParaRPr lang="en-US" altLang="zh-CN" sz="845"/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  <a:endParaRPr lang="en-US" altLang="zh-CN" sz="84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  <a:endParaRPr lang="en-US" altLang="zh-CN" sz="845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0" name="组合 69"/>
            <p:cNvGrpSpPr/>
            <p:nvPr/>
          </p:nvGrpSpPr>
          <p:grpSpPr>
            <a:xfrm rot="0"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  <a:endParaRPr lang="en-US" altLang="zh-CN" sz="1015"/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  <a:endParaRPr lang="en-US" altLang="zh-CN" sz="1015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  <a:endParaRPr lang="en-US" altLang="zh-CN" sz="1015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  <a:endParaRPr lang="en-US" altLang="zh-CN" sz="1015">
                  <a:ea typeface="宋体" panose="02010600030101010101" pitchFamily="2" charset="-122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3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  <a:endParaRPr lang="en-US" altLang="zh-CN" sz="1350" dirty="0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  <a:endParaRPr lang="en-US" altLang="zh-CN" sz="1015"/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  <a:endParaRPr lang="en-US" altLang="zh-CN" sz="1015"/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  <a:endParaRPr lang="en-US" altLang="zh-CN" sz="1015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  <a:endParaRPr lang="en-US" altLang="zh-CN" sz="1015">
                  <a:ea typeface="宋体" panose="02010600030101010101" pitchFamily="2" charset="-122"/>
                </a:endParaRP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  <a:endParaRPr lang="en-US" altLang="zh-CN" sz="845"/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  <a:endParaRPr lang="en-US" altLang="zh-CN" sz="845"/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  <a:endParaRPr lang="en-US" altLang="zh-CN" sz="845"/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  <a:endParaRPr lang="en-US" altLang="zh-CN" sz="845"/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  <a:endParaRPr lang="en-US" altLang="zh-CN" sz="845"/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  <a:endParaRPr lang="en-US" altLang="zh-CN" sz="845"/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  <a:endParaRPr lang="en-US" altLang="zh-CN" sz="845"/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6243</Words>
  <Application>WPS 演示</Application>
  <PresentationFormat>Custom</PresentationFormat>
  <Paragraphs>1034</Paragraphs>
  <Slides>16</Slides>
  <Notes>4</Notes>
  <HiddenSlides>5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7" baseType="lpstr">
      <vt:lpstr>Arial</vt:lpstr>
      <vt:lpstr>宋体</vt:lpstr>
      <vt:lpstr>Wingdings</vt:lpstr>
      <vt:lpstr>Cambria Math</vt:lpstr>
      <vt:lpstr>MS Mincho</vt:lpstr>
      <vt:lpstr>Wingdings</vt:lpstr>
      <vt:lpstr>微软雅黑</vt:lpstr>
      <vt:lpstr>Arial Unicode MS</vt:lpstr>
      <vt:lpstr>东文宋体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37</cp:revision>
  <dcterms:created xsi:type="dcterms:W3CDTF">2026-05-21T15:38:16Z</dcterms:created>
  <dcterms:modified xsi:type="dcterms:W3CDTF">2026-05-21T15:38:16Z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