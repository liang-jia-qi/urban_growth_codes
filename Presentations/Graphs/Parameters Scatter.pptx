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charts/chart4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tags/tag1.xml" ContentType="application/vnd.openxmlformats-officedocument.presentationml.tag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tags/tag2.xml" ContentType="application/vnd.openxmlformats-officedocument.presentationml.tag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9"/>
  </p:notesMasterIdLst>
  <p:handoutMasterIdLst>
    <p:handoutMasterId r:id="rId20"/>
  </p:handoutMasterIdLst>
  <p:sldIdLst>
    <p:sldId id="256" r:id="rId2"/>
    <p:sldId id="257" r:id="rId3"/>
    <p:sldId id="258" r:id="rId4"/>
    <p:sldId id="267" r:id="rId5"/>
    <p:sldId id="262" r:id="rId6"/>
    <p:sldId id="263" r:id="rId7"/>
    <p:sldId id="264" r:id="rId8"/>
    <p:sldId id="260" r:id="rId9"/>
    <p:sldId id="269" r:id="rId10"/>
    <p:sldId id="271" r:id="rId11"/>
    <p:sldId id="259" r:id="rId12"/>
    <p:sldId id="266" r:id="rId13"/>
    <p:sldId id="270" r:id="rId14"/>
    <p:sldId id="261" r:id="rId15"/>
    <p:sldId id="272" r:id="rId16"/>
    <p:sldId id="265" r:id="rId17"/>
    <p:sldId id="268" r:id="rId18"/>
  </p:sldIdLst>
  <p:sldSz cx="14400213" cy="8099425"/>
  <p:notesSz cx="7104063" cy="10234613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Not used" id="{81244984-FFB1-4A92-8F35-FF698557D6D0}">
          <p14:sldIdLst>
            <p14:sldId id="256"/>
            <p14:sldId id="257"/>
            <p14:sldId id="258"/>
            <p14:sldId id="267"/>
          </p14:sldIdLst>
        </p14:section>
        <p14:section name="无标题节" id="{7174F263-5FF1-488A-9BA9-16647EAD2F01}">
          <p14:sldIdLst>
            <p14:sldId id="262"/>
            <p14:sldId id="263"/>
            <p14:sldId id="264"/>
            <p14:sldId id="260"/>
            <p14:sldId id="269"/>
            <p14:sldId id="271"/>
            <p14:sldId id="259"/>
            <p14:sldId id="266"/>
            <p14:sldId id="270"/>
            <p14:sldId id="261"/>
            <p14:sldId id="272"/>
            <p14:sldId id="265"/>
            <p14:sldId id="268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1340" userDrawn="1">
          <p15:clr>
            <a:srgbClr val="A4A3A4"/>
          </p15:clr>
        </p15:guide>
        <p15:guide id="2" pos="4533" userDrawn="1">
          <p15:clr>
            <a:srgbClr val="A4A3A4"/>
          </p15:clr>
        </p15:guide>
        <p15:guide id="3" orient="horz" pos="2568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April Liang" initials="AL" lastIdx="0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3B3B3"/>
    <a:srgbClr val="E5C494"/>
    <a:srgbClr val="FFD92F"/>
    <a:srgbClr val="A6D854"/>
    <a:srgbClr val="8DA0CB"/>
    <a:srgbClr val="FC8D62"/>
    <a:srgbClr val="66C2A5"/>
    <a:srgbClr val="47A2DE"/>
    <a:srgbClr val="F39F1B"/>
    <a:srgbClr val="E8574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D7B26C5-4107-4FEC-AEDC-1716B250A1EF}" styleName="浅色样式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2278" autoAdjust="0"/>
    <p:restoredTop sz="94660"/>
  </p:normalViewPr>
  <p:slideViewPr>
    <p:cSldViewPr snapToGrid="0" showGuides="1">
      <p:cViewPr varScale="1">
        <p:scale>
          <a:sx n="72" d="100"/>
          <a:sy n="72" d="100"/>
        </p:scale>
        <p:origin x="730" y="43"/>
      </p:cViewPr>
      <p:guideLst>
        <p:guide orient="horz" pos="1340"/>
        <p:guide pos="4533"/>
        <p:guide orient="horz" pos="2568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90001" cy="90001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commentAuthors" Target="commentAuthor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handoutMaster" Target="handoutMasters/handout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oleObject" Target="/home/liang/Documents/Research/Urban_Growth/Python_Codes/Presentations/Graphs/Continental%20Average.xlsx" TargetMode="External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oleObject" Target="/home/liang/Documents/Research/Urban_Growth/Python_Codes/Presentations/Graphs/Continental%20Average.xlsx" TargetMode="External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oleObject" Target="/home/liang/Documents/Research/Urban_Growth/Python_Codes/Presentations/Graphs/Continental%20Average.xlsx" TargetMode="External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oleObject" Target="/home/liang/Documents/Research/Urban_Growth/Python_Codes/Presentations/Graphs/Continental%20Average.xlsx" TargetMode="External"/><Relationship Id="rId2" Type="http://schemas.microsoft.com/office/2011/relationships/chartColorStyle" Target="colors4.xml"/><Relationship Id="rId1" Type="http://schemas.microsoft.com/office/2011/relationships/chartStyle" Target="style4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'[Continental Average.xlsx]Sheet2'!$U$2</c:f>
              <c:strCache>
                <c:ptCount val="1"/>
                <c:pt idx="0">
                  <c:v>LC-SG</c:v>
                </c:pt>
              </c:strCache>
            </c:strRef>
          </c:tx>
          <c:spPr>
            <a:solidFill>
              <a:schemeClr val="accent1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'[Continental Average.xlsx]Sheet2'!$T$3:$T$5</c:f>
              <c:strCache>
                <c:ptCount val="3"/>
                <c:pt idx="0">
                  <c:v>Africa</c:v>
                </c:pt>
                <c:pt idx="1">
                  <c:v>Asia</c:v>
                </c:pt>
                <c:pt idx="2">
                  <c:v>Latin America</c:v>
                </c:pt>
              </c:strCache>
            </c:strRef>
          </c:cat>
          <c:val>
            <c:numRef>
              <c:f>'[Continental Average.xlsx]Sheet2'!$U$3:$U$5</c:f>
              <c:numCache>
                <c:formatCode>0%</c:formatCode>
                <c:ptCount val="3"/>
                <c:pt idx="0">
                  <c:v>0.36363636363636398</c:v>
                </c:pt>
                <c:pt idx="1">
                  <c:v>0.5</c:v>
                </c:pt>
                <c:pt idx="2">
                  <c:v>0.53333333333333299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57E2-4B16-9F6D-5020ED77A6CB}"/>
            </c:ext>
          </c:extLst>
        </c:ser>
        <c:ser>
          <c:idx val="1"/>
          <c:order val="1"/>
          <c:tx>
            <c:strRef>
              <c:f>'[Continental Average.xlsx]Sheet2'!$V$2</c:f>
              <c:strCache>
                <c:ptCount val="1"/>
                <c:pt idx="0">
                  <c:v>LC-FG</c:v>
                </c:pt>
              </c:strCache>
            </c:strRef>
          </c:tx>
          <c:spPr>
            <a:solidFill>
              <a:schemeClr val="accent2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'[Continental Average.xlsx]Sheet2'!$T$3:$T$5</c:f>
              <c:strCache>
                <c:ptCount val="3"/>
                <c:pt idx="0">
                  <c:v>Africa</c:v>
                </c:pt>
                <c:pt idx="1">
                  <c:v>Asia</c:v>
                </c:pt>
                <c:pt idx="2">
                  <c:v>Latin America</c:v>
                </c:pt>
              </c:strCache>
            </c:strRef>
          </c:cat>
          <c:val>
            <c:numRef>
              <c:f>'[Continental Average.xlsx]Sheet2'!$V$3:$V$5</c:f>
              <c:numCache>
                <c:formatCode>0%</c:formatCode>
                <c:ptCount val="3"/>
                <c:pt idx="0">
                  <c:v>0.22727272727272699</c:v>
                </c:pt>
                <c:pt idx="1">
                  <c:v>0.3</c:v>
                </c:pt>
                <c:pt idx="2">
                  <c:v>0.33333333333333298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57E2-4B16-9F6D-5020ED77A6CB}"/>
            </c:ext>
          </c:extLst>
        </c:ser>
        <c:ser>
          <c:idx val="2"/>
          <c:order val="2"/>
          <c:tx>
            <c:strRef>
              <c:f>'[Continental Average.xlsx]Sheet2'!$W$2</c:f>
              <c:strCache>
                <c:ptCount val="1"/>
                <c:pt idx="0">
                  <c:v>HC-SG</c:v>
                </c:pt>
              </c:strCache>
            </c:strRef>
          </c:tx>
          <c:spPr>
            <a:solidFill>
              <a:schemeClr val="accent3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'[Continental Average.xlsx]Sheet2'!$T$3:$T$5</c:f>
              <c:strCache>
                <c:ptCount val="3"/>
                <c:pt idx="0">
                  <c:v>Africa</c:v>
                </c:pt>
                <c:pt idx="1">
                  <c:v>Asia</c:v>
                </c:pt>
                <c:pt idx="2">
                  <c:v>Latin America</c:v>
                </c:pt>
              </c:strCache>
            </c:strRef>
          </c:cat>
          <c:val>
            <c:numRef>
              <c:f>'[Continental Average.xlsx]Sheet2'!$W$3:$W$5</c:f>
              <c:numCache>
                <c:formatCode>0%</c:formatCode>
                <c:ptCount val="3"/>
                <c:pt idx="0">
                  <c:v>0</c:v>
                </c:pt>
                <c:pt idx="1">
                  <c:v>3.3333333333333298E-2</c:v>
                </c:pt>
                <c:pt idx="2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57E2-4B16-9F6D-5020ED77A6CB}"/>
            </c:ext>
          </c:extLst>
        </c:ser>
        <c:ser>
          <c:idx val="3"/>
          <c:order val="3"/>
          <c:tx>
            <c:strRef>
              <c:f>'[Continental Average.xlsx]Sheet2'!$X$2</c:f>
              <c:strCache>
                <c:ptCount val="1"/>
                <c:pt idx="0">
                  <c:v>HC-FG</c:v>
                </c:pt>
              </c:strCache>
            </c:strRef>
          </c:tx>
          <c:spPr>
            <a:solidFill>
              <a:schemeClr val="accent4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'[Continental Average.xlsx]Sheet2'!$T$3:$T$5</c:f>
              <c:strCache>
                <c:ptCount val="3"/>
                <c:pt idx="0">
                  <c:v>Africa</c:v>
                </c:pt>
                <c:pt idx="1">
                  <c:v>Asia</c:v>
                </c:pt>
                <c:pt idx="2">
                  <c:v>Latin America</c:v>
                </c:pt>
              </c:strCache>
            </c:strRef>
          </c:cat>
          <c:val>
            <c:numRef>
              <c:f>'[Continental Average.xlsx]Sheet2'!$X$3:$X$5</c:f>
              <c:numCache>
                <c:formatCode>0%</c:formatCode>
                <c:ptCount val="3"/>
                <c:pt idx="0">
                  <c:v>0.40909090909090901</c:v>
                </c:pt>
                <c:pt idx="1">
                  <c:v>0.16666666666666699</c:v>
                </c:pt>
                <c:pt idx="2">
                  <c:v>0.133333333333333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57E2-4B16-9F6D-5020ED77A6CB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54"/>
        <c:overlap val="100"/>
        <c:axId val="864058613"/>
        <c:axId val="414164983"/>
      </c:barChart>
      <c:catAx>
        <c:axId val="864058613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14164983"/>
        <c:crosses val="autoZero"/>
        <c:auto val="1"/>
        <c:lblAlgn val="ctr"/>
        <c:lblOffset val="100"/>
        <c:noMultiLvlLbl val="0"/>
      </c:catAx>
      <c:valAx>
        <c:axId val="414164983"/>
        <c:scaling>
          <c:orientation val="minMax"/>
          <c:max val="1"/>
        </c:scaling>
        <c:delete val="0"/>
        <c:axPos val="l"/>
        <c:majorGridlines>
          <c:spPr>
            <a:ln w="9525" cap="flat" cmpd="sng" algn="ctr">
              <a:solidFill>
                <a:schemeClr val="lt1">
                  <a:lumMod val="90200"/>
                </a:schemeClr>
              </a:solidFill>
              <a:round/>
            </a:ln>
            <a:effectLst/>
          </c:spPr>
        </c:majorGridlines>
        <c:numFmt formatCode="0%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864058613"/>
        <c:crosses val="autoZero"/>
        <c:crossBetween val="between"/>
        <c:majorUnit val="0.5"/>
      </c:valAx>
      <c:spPr>
        <a:noFill/>
        <a:ln>
          <a:noFill/>
        </a:ln>
        <a:effectLst/>
      </c:spPr>
    </c:plotArea>
    <c:legend>
      <c:legendPos val="b"/>
      <c:legendEntry>
        <c:idx val="0"/>
        <c:txPr>
          <a:bodyPr rot="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</c:legendEntry>
      <c:legendEntry>
        <c:idx val="1"/>
        <c:txPr>
          <a:bodyPr rot="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</c:legendEntry>
      <c:legendEntry>
        <c:idx val="2"/>
        <c:txPr>
          <a:bodyPr rot="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</c:legendEntry>
      <c:legendEntry>
        <c:idx val="3"/>
        <c:txPr>
          <a:bodyPr rot="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</c:legendEntry>
      <c:overlay val="0"/>
      <c:spPr>
        <a:noFill/>
        <a:ln>
          <a:noFill/>
        </a:ln>
        <a:effectLst/>
      </c:spPr>
      <c:txPr>
        <a:bodyPr rot="0" spcFirstLastPara="0" vertOverflow="ellipsis" vert="horz" wrap="square" anchor="ctr" anchorCtr="1"/>
        <a:lstStyle/>
        <a:p>
          <a:pPr>
            <a:defRPr lang="zh-CN" sz="12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uri="{0b15fc19-7d7d-44ad-8c2d-2c3a37ce22c3}">
        <chartProps xmlns="https://web.wps.cn/et/2018/main" chartId="{2bb8adb4-ffa1-4c27-94d4-ea17a12fad31}"/>
      </c:ext>
    </c:extLst>
  </c:chart>
  <c:spPr>
    <a:solidFill>
      <a:schemeClr val="bg1"/>
    </a:solidFill>
    <a:ln w="9525" cap="flat" cmpd="sng" algn="ctr">
      <a:noFill/>
      <a:round/>
    </a:ln>
    <a:effectLst/>
  </c:spPr>
  <c:txPr>
    <a:bodyPr/>
    <a:lstStyle/>
    <a:p>
      <a:pPr>
        <a:defRPr lang="zh-CN" sz="1200"/>
      </a:pPr>
      <a:endParaRPr lang="en-US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'[Continental Average.xlsx]Sheet2'!$U$18</c:f>
              <c:strCache>
                <c:ptCount val="1"/>
                <c:pt idx="0">
                  <c:v>LI-SG</c:v>
                </c:pt>
              </c:strCache>
            </c:strRef>
          </c:tx>
          <c:spPr>
            <a:solidFill>
              <a:schemeClr val="accent6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'[Continental Average.xlsx]Sheet2'!$T$19:$T$21</c:f>
              <c:strCache>
                <c:ptCount val="3"/>
                <c:pt idx="0">
                  <c:v>Africa</c:v>
                </c:pt>
                <c:pt idx="1">
                  <c:v>Asia</c:v>
                </c:pt>
                <c:pt idx="2">
                  <c:v>Latin America</c:v>
                </c:pt>
              </c:strCache>
            </c:strRef>
          </c:cat>
          <c:val>
            <c:numRef>
              <c:f>'[Continental Average.xlsx]Sheet2'!$U$19:$U$21</c:f>
              <c:numCache>
                <c:formatCode>0%</c:formatCode>
                <c:ptCount val="3"/>
                <c:pt idx="0">
                  <c:v>0.45454545454545497</c:v>
                </c:pt>
                <c:pt idx="1">
                  <c:v>0.33333333333333298</c:v>
                </c:pt>
                <c:pt idx="2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7404-477A-B649-05FA4987ED67}"/>
            </c:ext>
          </c:extLst>
        </c:ser>
        <c:ser>
          <c:idx val="1"/>
          <c:order val="1"/>
          <c:tx>
            <c:strRef>
              <c:f>'[Continental Average.xlsx]Sheet2'!$V$18</c:f>
              <c:strCache>
                <c:ptCount val="1"/>
                <c:pt idx="0">
                  <c:v>LI-FG</c:v>
                </c:pt>
              </c:strCache>
            </c:strRef>
          </c:tx>
          <c:spPr>
            <a:solidFill>
              <a:schemeClr val="accent5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'[Continental Average.xlsx]Sheet2'!$T$19:$T$21</c:f>
              <c:strCache>
                <c:ptCount val="3"/>
                <c:pt idx="0">
                  <c:v>Africa</c:v>
                </c:pt>
                <c:pt idx="1">
                  <c:v>Asia</c:v>
                </c:pt>
                <c:pt idx="2">
                  <c:v>Latin America</c:v>
                </c:pt>
              </c:strCache>
            </c:strRef>
          </c:cat>
          <c:val>
            <c:numRef>
              <c:f>'[Continental Average.xlsx]Sheet2'!$V$19:$V$21</c:f>
              <c:numCache>
                <c:formatCode>0%</c:formatCode>
                <c:ptCount val="3"/>
                <c:pt idx="0">
                  <c:v>0.45454545454545497</c:v>
                </c:pt>
                <c:pt idx="1">
                  <c:v>0.2</c:v>
                </c:pt>
                <c:pt idx="2">
                  <c:v>0.233333333333333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7404-477A-B649-05FA4987ED67}"/>
            </c:ext>
          </c:extLst>
        </c:ser>
        <c:ser>
          <c:idx val="2"/>
          <c:order val="2"/>
          <c:tx>
            <c:strRef>
              <c:f>'[Continental Average.xlsx]Sheet2'!$W$18</c:f>
              <c:strCache>
                <c:ptCount val="1"/>
                <c:pt idx="0">
                  <c:v>HI-SG</c:v>
                </c:pt>
              </c:strCache>
            </c:strRef>
          </c:tx>
          <c:spPr>
            <a:solidFill>
              <a:schemeClr val="bg2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'[Continental Average.xlsx]Sheet2'!$T$19:$T$21</c:f>
              <c:strCache>
                <c:ptCount val="3"/>
                <c:pt idx="0">
                  <c:v>Africa</c:v>
                </c:pt>
                <c:pt idx="1">
                  <c:v>Asia</c:v>
                </c:pt>
                <c:pt idx="2">
                  <c:v>Latin America</c:v>
                </c:pt>
              </c:strCache>
            </c:strRef>
          </c:cat>
          <c:val>
            <c:numRef>
              <c:f>'[Continental Average.xlsx]Sheet2'!$W$19:$W$21</c:f>
              <c:numCache>
                <c:formatCode>0%</c:formatCode>
                <c:ptCount val="3"/>
                <c:pt idx="0">
                  <c:v>4.5454545454545497E-2</c:v>
                </c:pt>
                <c:pt idx="1">
                  <c:v>0.16666666666666699</c:v>
                </c:pt>
                <c:pt idx="2">
                  <c:v>6.6666666666666693E-2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7404-477A-B649-05FA4987ED67}"/>
            </c:ext>
          </c:extLst>
        </c:ser>
        <c:ser>
          <c:idx val="3"/>
          <c:order val="3"/>
          <c:tx>
            <c:strRef>
              <c:f>'[Continental Average.xlsx]Sheet2'!$X$18</c:f>
              <c:strCache>
                <c:ptCount val="1"/>
                <c:pt idx="0">
                  <c:v>HI-FG</c:v>
                </c:pt>
              </c:strCache>
            </c:strRef>
          </c:tx>
          <c:spPr>
            <a:solidFill>
              <a:schemeClr val="bg2">
                <a:lumMod val="40000"/>
                <a:lumOff val="60000"/>
              </a:schemeClr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'[Continental Average.xlsx]Sheet2'!$T$19:$T$21</c:f>
              <c:strCache>
                <c:ptCount val="3"/>
                <c:pt idx="0">
                  <c:v>Africa</c:v>
                </c:pt>
                <c:pt idx="1">
                  <c:v>Asia</c:v>
                </c:pt>
                <c:pt idx="2">
                  <c:v>Latin America</c:v>
                </c:pt>
              </c:strCache>
            </c:strRef>
          </c:cat>
          <c:val>
            <c:numRef>
              <c:f>'[Continental Average.xlsx]Sheet2'!$X$19:$X$21</c:f>
              <c:numCache>
                <c:formatCode>0%</c:formatCode>
                <c:ptCount val="3"/>
                <c:pt idx="0">
                  <c:v>4.5454545454545497E-2</c:v>
                </c:pt>
                <c:pt idx="1">
                  <c:v>0.3</c:v>
                </c:pt>
                <c:pt idx="2">
                  <c:v>0.2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7404-477A-B649-05FA4987ED67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54"/>
        <c:overlap val="100"/>
        <c:axId val="515141581"/>
        <c:axId val="430121534"/>
      </c:barChart>
      <c:catAx>
        <c:axId val="51514158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30121534"/>
        <c:crosses val="autoZero"/>
        <c:auto val="1"/>
        <c:lblAlgn val="ctr"/>
        <c:lblOffset val="100"/>
        <c:noMultiLvlLbl val="0"/>
      </c:catAx>
      <c:valAx>
        <c:axId val="430121534"/>
        <c:scaling>
          <c:orientation val="minMax"/>
          <c:max val="1"/>
        </c:scaling>
        <c:delete val="0"/>
        <c:axPos val="l"/>
        <c:majorGridlines>
          <c:spPr>
            <a:ln w="9525" cap="flat" cmpd="sng" algn="ctr">
              <a:solidFill>
                <a:schemeClr val="lt1">
                  <a:lumMod val="90200"/>
                </a:schemeClr>
              </a:solidFill>
              <a:round/>
            </a:ln>
            <a:effectLst/>
          </c:spPr>
        </c:majorGridlines>
        <c:numFmt formatCode="0%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515141581"/>
        <c:crosses val="autoZero"/>
        <c:crossBetween val="between"/>
        <c:majorUnit val="0.5"/>
      </c:valAx>
      <c:spPr>
        <a:noFill/>
        <a:ln>
          <a:noFill/>
        </a:ln>
        <a:effectLst/>
      </c:spPr>
    </c:plotArea>
    <c:legend>
      <c:legendPos val="b"/>
      <c:legendEntry>
        <c:idx val="0"/>
        <c:txPr>
          <a:bodyPr rot="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</c:legendEntry>
      <c:legendEntry>
        <c:idx val="1"/>
        <c:txPr>
          <a:bodyPr rot="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</c:legendEntry>
      <c:legendEntry>
        <c:idx val="2"/>
        <c:txPr>
          <a:bodyPr rot="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</c:legendEntry>
      <c:legendEntry>
        <c:idx val="3"/>
        <c:txPr>
          <a:bodyPr rot="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</c:legendEntry>
      <c:overlay val="0"/>
      <c:spPr>
        <a:noFill/>
        <a:ln>
          <a:noFill/>
        </a:ln>
        <a:effectLst/>
      </c:spPr>
      <c:txPr>
        <a:bodyPr rot="0" spcFirstLastPara="0" vertOverflow="ellipsis" vert="horz" wrap="square" anchor="ctr" anchorCtr="1"/>
        <a:lstStyle/>
        <a:p>
          <a:pPr>
            <a:defRPr lang="zh-CN" sz="12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uri="{0b15fc19-7d7d-44ad-8c2d-2c3a37ce22c3}">
        <chartProps xmlns="https://web.wps.cn/et/2018/main" chartId="{28ed8364-554b-47b0-9384-8bfc9afc1021}"/>
      </c:ext>
    </c:extLst>
  </c:chart>
  <c:spPr>
    <a:solidFill>
      <a:schemeClr val="bg1"/>
    </a:solidFill>
    <a:ln w="9525" cap="flat" cmpd="sng" algn="ctr">
      <a:noFill/>
      <a:round/>
    </a:ln>
    <a:effectLst/>
  </c:spPr>
  <c:txPr>
    <a:bodyPr/>
    <a:lstStyle/>
    <a:p>
      <a:pPr>
        <a:defRPr lang="zh-CN" sz="1200"/>
      </a:pPr>
      <a:endParaRPr lang="en-US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'[Continental Average.xlsx]Sheet2'!$U$33</c:f>
              <c:strCache>
                <c:ptCount val="1"/>
                <c:pt idx="0">
                  <c:v>LC-SG</c:v>
                </c:pt>
              </c:strCache>
            </c:strRef>
          </c:tx>
          <c:spPr>
            <a:solidFill>
              <a:schemeClr val="accent1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'[Continental Average.xlsx]Sheet2'!$T$34:$T$36</c:f>
              <c:strCache>
                <c:ptCount val="3"/>
                <c:pt idx="0">
                  <c:v>Africa</c:v>
                </c:pt>
                <c:pt idx="1">
                  <c:v>Asia</c:v>
                </c:pt>
                <c:pt idx="2">
                  <c:v>Latin America</c:v>
                </c:pt>
              </c:strCache>
            </c:strRef>
          </c:cat>
          <c:val>
            <c:numRef>
              <c:f>'[Continental Average.xlsx]Sheet2'!$U$34:$U$36</c:f>
              <c:numCache>
                <c:formatCode>0%</c:formatCode>
                <c:ptCount val="3"/>
                <c:pt idx="0">
                  <c:v>0.36363636363636398</c:v>
                </c:pt>
                <c:pt idx="1">
                  <c:v>0.46666666666666701</c:v>
                </c:pt>
                <c:pt idx="2">
                  <c:v>0.53333333333333299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CDE2-4063-BBEF-AD5BF1BD75F4}"/>
            </c:ext>
          </c:extLst>
        </c:ser>
        <c:ser>
          <c:idx val="1"/>
          <c:order val="1"/>
          <c:tx>
            <c:strRef>
              <c:f>'[Continental Average.xlsx]Sheet2'!$V$33</c:f>
              <c:strCache>
                <c:ptCount val="1"/>
                <c:pt idx="0">
                  <c:v>LC-FG</c:v>
                </c:pt>
              </c:strCache>
            </c:strRef>
          </c:tx>
          <c:spPr>
            <a:solidFill>
              <a:schemeClr val="accent2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'[Continental Average.xlsx]Sheet2'!$T$34:$T$36</c:f>
              <c:strCache>
                <c:ptCount val="3"/>
                <c:pt idx="0">
                  <c:v>Africa</c:v>
                </c:pt>
                <c:pt idx="1">
                  <c:v>Asia</c:v>
                </c:pt>
                <c:pt idx="2">
                  <c:v>Latin America</c:v>
                </c:pt>
              </c:strCache>
            </c:strRef>
          </c:cat>
          <c:val>
            <c:numRef>
              <c:f>'[Continental Average.xlsx]Sheet2'!$V$34:$V$36</c:f>
              <c:numCache>
                <c:formatCode>0%</c:formatCode>
                <c:ptCount val="3"/>
                <c:pt idx="0">
                  <c:v>0.22727272727272699</c:v>
                </c:pt>
                <c:pt idx="1">
                  <c:v>0.36666666666666697</c:v>
                </c:pt>
                <c:pt idx="2">
                  <c:v>0.33333333333333298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CDE2-4063-BBEF-AD5BF1BD75F4}"/>
            </c:ext>
          </c:extLst>
        </c:ser>
        <c:ser>
          <c:idx val="2"/>
          <c:order val="2"/>
          <c:tx>
            <c:strRef>
              <c:f>'[Continental Average.xlsx]Sheet2'!$W$33</c:f>
              <c:strCache>
                <c:ptCount val="1"/>
                <c:pt idx="0">
                  <c:v>HC-SG</c:v>
                </c:pt>
              </c:strCache>
            </c:strRef>
          </c:tx>
          <c:spPr>
            <a:solidFill>
              <a:schemeClr val="accent3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'[Continental Average.xlsx]Sheet2'!$T$34:$T$36</c:f>
              <c:strCache>
                <c:ptCount val="3"/>
                <c:pt idx="0">
                  <c:v>Africa</c:v>
                </c:pt>
                <c:pt idx="1">
                  <c:v>Asia</c:v>
                </c:pt>
                <c:pt idx="2">
                  <c:v>Latin America</c:v>
                </c:pt>
              </c:strCache>
            </c:strRef>
          </c:cat>
          <c:val>
            <c:numRef>
              <c:f>'[Continental Average.xlsx]Sheet2'!$W$34:$W$36</c:f>
              <c:numCache>
                <c:formatCode>0%</c:formatCode>
                <c:ptCount val="3"/>
                <c:pt idx="0">
                  <c:v>0</c:v>
                </c:pt>
                <c:pt idx="1">
                  <c:v>3.3333333333333298E-2</c:v>
                </c:pt>
                <c:pt idx="2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CDE2-4063-BBEF-AD5BF1BD75F4}"/>
            </c:ext>
          </c:extLst>
        </c:ser>
        <c:ser>
          <c:idx val="3"/>
          <c:order val="3"/>
          <c:tx>
            <c:strRef>
              <c:f>'[Continental Average.xlsx]Sheet2'!$X$33</c:f>
              <c:strCache>
                <c:ptCount val="1"/>
                <c:pt idx="0">
                  <c:v>HC-FG</c:v>
                </c:pt>
              </c:strCache>
            </c:strRef>
          </c:tx>
          <c:spPr>
            <a:solidFill>
              <a:schemeClr val="accent4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'[Continental Average.xlsx]Sheet2'!$T$34:$T$36</c:f>
              <c:strCache>
                <c:ptCount val="3"/>
                <c:pt idx="0">
                  <c:v>Africa</c:v>
                </c:pt>
                <c:pt idx="1">
                  <c:v>Asia</c:v>
                </c:pt>
                <c:pt idx="2">
                  <c:v>Latin America</c:v>
                </c:pt>
              </c:strCache>
            </c:strRef>
          </c:cat>
          <c:val>
            <c:numRef>
              <c:f>'[Continental Average.xlsx]Sheet2'!$X$34:$X$36</c:f>
              <c:numCache>
                <c:formatCode>0%</c:formatCode>
                <c:ptCount val="3"/>
                <c:pt idx="0">
                  <c:v>0.40909090909090901</c:v>
                </c:pt>
                <c:pt idx="1">
                  <c:v>0.133333333333333</c:v>
                </c:pt>
                <c:pt idx="2">
                  <c:v>0.133333333333333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CDE2-4063-BBEF-AD5BF1BD75F4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54"/>
        <c:overlap val="100"/>
        <c:axId val="864058613"/>
        <c:axId val="414164983"/>
      </c:barChart>
      <c:catAx>
        <c:axId val="864058613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14164983"/>
        <c:crosses val="autoZero"/>
        <c:auto val="1"/>
        <c:lblAlgn val="ctr"/>
        <c:lblOffset val="100"/>
        <c:noMultiLvlLbl val="0"/>
      </c:catAx>
      <c:valAx>
        <c:axId val="414164983"/>
        <c:scaling>
          <c:orientation val="minMax"/>
          <c:max val="1"/>
        </c:scaling>
        <c:delete val="0"/>
        <c:axPos val="l"/>
        <c:majorGridlines>
          <c:spPr>
            <a:ln w="9525" cap="flat" cmpd="sng" algn="ctr">
              <a:solidFill>
                <a:schemeClr val="lt1">
                  <a:lumMod val="90200"/>
                </a:schemeClr>
              </a:solidFill>
              <a:round/>
            </a:ln>
            <a:effectLst/>
          </c:spPr>
        </c:majorGridlines>
        <c:numFmt formatCode="0%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864058613"/>
        <c:crosses val="autoZero"/>
        <c:crossBetween val="between"/>
        <c:majorUnit val="0.5"/>
      </c:valAx>
      <c:spPr>
        <a:noFill/>
        <a:ln>
          <a:noFill/>
        </a:ln>
        <a:effectLst/>
      </c:spPr>
    </c:plotArea>
    <c:legend>
      <c:legendPos val="b"/>
      <c:legendEntry>
        <c:idx val="0"/>
        <c:txPr>
          <a:bodyPr rot="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</c:legendEntry>
      <c:legendEntry>
        <c:idx val="1"/>
        <c:txPr>
          <a:bodyPr rot="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</c:legendEntry>
      <c:legendEntry>
        <c:idx val="2"/>
        <c:txPr>
          <a:bodyPr rot="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</c:legendEntry>
      <c:legendEntry>
        <c:idx val="3"/>
        <c:txPr>
          <a:bodyPr rot="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</c:legendEntry>
      <c:overlay val="0"/>
      <c:spPr>
        <a:noFill/>
        <a:ln>
          <a:noFill/>
        </a:ln>
        <a:effectLst/>
      </c:spPr>
      <c:txPr>
        <a:bodyPr rot="0" spcFirstLastPara="0" vertOverflow="ellipsis" vert="horz" wrap="square" anchor="ctr" anchorCtr="1"/>
        <a:lstStyle/>
        <a:p>
          <a:pPr>
            <a:defRPr lang="zh-CN" sz="12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uri="{0b15fc19-7d7d-44ad-8c2d-2c3a37ce22c3}">
        <chartProps xmlns="https://web.wps.cn/et/2018/main" chartId="{bab19804-f4c2-4642-9de8-99d2b0eed63c}"/>
      </c:ext>
    </c:extLst>
  </c:chart>
  <c:spPr>
    <a:solidFill>
      <a:schemeClr val="bg1"/>
    </a:solidFill>
    <a:ln w="9525" cap="flat" cmpd="sng" algn="ctr">
      <a:noFill/>
      <a:round/>
    </a:ln>
    <a:effectLst/>
  </c:spPr>
  <c:txPr>
    <a:bodyPr/>
    <a:lstStyle/>
    <a:p>
      <a:pPr>
        <a:defRPr lang="zh-CN" sz="1200"/>
      </a:pPr>
      <a:endParaRPr lang="en-US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'[Continental Average.xlsx]Sheet2'!$U$48</c:f>
              <c:strCache>
                <c:ptCount val="1"/>
                <c:pt idx="0">
                  <c:v>LI-SG</c:v>
                </c:pt>
              </c:strCache>
            </c:strRef>
          </c:tx>
          <c:spPr>
            <a:solidFill>
              <a:schemeClr val="accent6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'[Continental Average.xlsx]Sheet2'!$T$49:$T$51</c:f>
              <c:strCache>
                <c:ptCount val="3"/>
                <c:pt idx="0">
                  <c:v>Africa</c:v>
                </c:pt>
                <c:pt idx="1">
                  <c:v>Asia</c:v>
                </c:pt>
                <c:pt idx="2">
                  <c:v>Latin America</c:v>
                </c:pt>
              </c:strCache>
            </c:strRef>
          </c:cat>
          <c:val>
            <c:numRef>
              <c:f>'[Continental Average.xlsx]Sheet2'!$U$49:$U$51</c:f>
              <c:numCache>
                <c:formatCode>0%</c:formatCode>
                <c:ptCount val="3"/>
                <c:pt idx="0">
                  <c:v>0.43181818181818199</c:v>
                </c:pt>
                <c:pt idx="1">
                  <c:v>0.266666666666667</c:v>
                </c:pt>
                <c:pt idx="2">
                  <c:v>0.53333333333333299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10AE-42F6-8946-8FBB497B8709}"/>
            </c:ext>
          </c:extLst>
        </c:ser>
        <c:ser>
          <c:idx val="1"/>
          <c:order val="1"/>
          <c:tx>
            <c:strRef>
              <c:f>'[Continental Average.xlsx]Sheet2'!$V$48</c:f>
              <c:strCache>
                <c:ptCount val="1"/>
                <c:pt idx="0">
                  <c:v>LI-FG</c:v>
                </c:pt>
              </c:strCache>
            </c:strRef>
          </c:tx>
          <c:spPr>
            <a:solidFill>
              <a:schemeClr val="accent5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'[Continental Average.xlsx]Sheet2'!$T$49:$T$51</c:f>
              <c:strCache>
                <c:ptCount val="3"/>
                <c:pt idx="0">
                  <c:v>Africa</c:v>
                </c:pt>
                <c:pt idx="1">
                  <c:v>Asia</c:v>
                </c:pt>
                <c:pt idx="2">
                  <c:v>Latin America</c:v>
                </c:pt>
              </c:strCache>
            </c:strRef>
          </c:cat>
          <c:val>
            <c:numRef>
              <c:f>'[Continental Average.xlsx]Sheet2'!$V$49:$V$51</c:f>
              <c:numCache>
                <c:formatCode>0%</c:formatCode>
                <c:ptCount val="3"/>
                <c:pt idx="0">
                  <c:v>0.40909090909090901</c:v>
                </c:pt>
                <c:pt idx="1">
                  <c:v>0.16666666666666699</c:v>
                </c:pt>
                <c:pt idx="2">
                  <c:v>0.16666666666666699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10AE-42F6-8946-8FBB497B8709}"/>
            </c:ext>
          </c:extLst>
        </c:ser>
        <c:ser>
          <c:idx val="2"/>
          <c:order val="2"/>
          <c:tx>
            <c:strRef>
              <c:f>'[Continental Average.xlsx]Sheet2'!$W$48</c:f>
              <c:strCache>
                <c:ptCount val="1"/>
                <c:pt idx="0">
                  <c:v>HI-SG</c:v>
                </c:pt>
              </c:strCache>
            </c:strRef>
          </c:tx>
          <c:spPr>
            <a:solidFill>
              <a:schemeClr val="bg2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'[Continental Average.xlsx]Sheet2'!$T$49:$T$51</c:f>
              <c:strCache>
                <c:ptCount val="3"/>
                <c:pt idx="0">
                  <c:v>Africa</c:v>
                </c:pt>
                <c:pt idx="1">
                  <c:v>Asia</c:v>
                </c:pt>
                <c:pt idx="2">
                  <c:v>Latin America</c:v>
                </c:pt>
              </c:strCache>
            </c:strRef>
          </c:cat>
          <c:val>
            <c:numRef>
              <c:f>'[Continental Average.xlsx]Sheet2'!$W$49:$W$51</c:f>
              <c:numCache>
                <c:formatCode>0%</c:formatCode>
                <c:ptCount val="3"/>
                <c:pt idx="0">
                  <c:v>4.5454545454545497E-2</c:v>
                </c:pt>
                <c:pt idx="1">
                  <c:v>0.3</c:v>
                </c:pt>
                <c:pt idx="2">
                  <c:v>3.3333333333333298E-2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10AE-42F6-8946-8FBB497B8709}"/>
            </c:ext>
          </c:extLst>
        </c:ser>
        <c:ser>
          <c:idx val="3"/>
          <c:order val="3"/>
          <c:tx>
            <c:strRef>
              <c:f>'[Continental Average.xlsx]Sheet2'!$X$48</c:f>
              <c:strCache>
                <c:ptCount val="1"/>
                <c:pt idx="0">
                  <c:v>HI-FG</c:v>
                </c:pt>
              </c:strCache>
            </c:strRef>
          </c:tx>
          <c:spPr>
            <a:solidFill>
              <a:schemeClr val="bg2">
                <a:lumMod val="40000"/>
                <a:lumOff val="60000"/>
              </a:schemeClr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'[Continental Average.xlsx]Sheet2'!$T$49:$T$51</c:f>
              <c:strCache>
                <c:ptCount val="3"/>
                <c:pt idx="0">
                  <c:v>Africa</c:v>
                </c:pt>
                <c:pt idx="1">
                  <c:v>Asia</c:v>
                </c:pt>
                <c:pt idx="2">
                  <c:v>Latin America</c:v>
                </c:pt>
              </c:strCache>
            </c:strRef>
          </c:cat>
          <c:val>
            <c:numRef>
              <c:f>'[Continental Average.xlsx]Sheet2'!$X$49:$X$51</c:f>
              <c:numCache>
                <c:formatCode>0%</c:formatCode>
                <c:ptCount val="3"/>
                <c:pt idx="0">
                  <c:v>0.11363636363636399</c:v>
                </c:pt>
                <c:pt idx="1">
                  <c:v>0.266666666666667</c:v>
                </c:pt>
                <c:pt idx="2">
                  <c:v>0.266666666666667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10AE-42F6-8946-8FBB497B8709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54"/>
        <c:overlap val="100"/>
        <c:axId val="515141581"/>
        <c:axId val="430121534"/>
      </c:barChart>
      <c:catAx>
        <c:axId val="51514158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30121534"/>
        <c:crosses val="autoZero"/>
        <c:auto val="1"/>
        <c:lblAlgn val="ctr"/>
        <c:lblOffset val="100"/>
        <c:noMultiLvlLbl val="0"/>
      </c:catAx>
      <c:valAx>
        <c:axId val="430121534"/>
        <c:scaling>
          <c:orientation val="minMax"/>
          <c:max val="1"/>
        </c:scaling>
        <c:delete val="0"/>
        <c:axPos val="l"/>
        <c:majorGridlines>
          <c:spPr>
            <a:ln w="9525" cap="flat" cmpd="sng" algn="ctr">
              <a:solidFill>
                <a:schemeClr val="lt1">
                  <a:lumMod val="90200"/>
                </a:schemeClr>
              </a:solidFill>
              <a:round/>
            </a:ln>
            <a:effectLst/>
          </c:spPr>
        </c:majorGridlines>
        <c:numFmt formatCode="0%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515141581"/>
        <c:crosses val="autoZero"/>
        <c:crossBetween val="between"/>
        <c:majorUnit val="0.5"/>
      </c:valAx>
      <c:spPr>
        <a:noFill/>
        <a:ln>
          <a:noFill/>
        </a:ln>
        <a:effectLst/>
      </c:spPr>
    </c:plotArea>
    <c:legend>
      <c:legendPos val="b"/>
      <c:legendEntry>
        <c:idx val="0"/>
        <c:txPr>
          <a:bodyPr rot="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</c:legendEntry>
      <c:legendEntry>
        <c:idx val="1"/>
        <c:txPr>
          <a:bodyPr rot="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</c:legendEntry>
      <c:legendEntry>
        <c:idx val="2"/>
        <c:txPr>
          <a:bodyPr rot="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</c:legendEntry>
      <c:legendEntry>
        <c:idx val="3"/>
        <c:txPr>
          <a:bodyPr rot="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</c:legendEntry>
      <c:overlay val="0"/>
      <c:spPr>
        <a:noFill/>
        <a:ln>
          <a:noFill/>
        </a:ln>
        <a:effectLst/>
      </c:spPr>
      <c:txPr>
        <a:bodyPr rot="0" spcFirstLastPara="0" vertOverflow="ellipsis" vert="horz" wrap="square" anchor="ctr" anchorCtr="1"/>
        <a:lstStyle/>
        <a:p>
          <a:pPr>
            <a:defRPr lang="zh-CN" sz="12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uri="{0b15fc19-7d7d-44ad-8c2d-2c3a37ce22c3}">
        <chartProps xmlns="https://web.wps.cn/et/2018/main" chartId="{480ab477-e90b-4b03-a63e-2f8def5d9791}"/>
      </c:ext>
    </c:extLst>
  </c:chart>
  <c:spPr>
    <a:solidFill>
      <a:schemeClr val="bg1"/>
    </a:solidFill>
    <a:ln w="9525" cap="flat" cmpd="sng" algn="ctr">
      <a:noFill/>
      <a:round/>
    </a:ln>
    <a:effectLst/>
  </c:spPr>
  <c:txPr>
    <a:bodyPr/>
    <a:lstStyle/>
    <a:p>
      <a:pPr>
        <a:defRPr lang="zh-CN" sz="1200"/>
      </a:pPr>
      <a:endParaRPr lang="en-US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3">
  <a:schemeClr val="accent6"/>
  <a:schemeClr val="accent5"/>
  <a:schemeClr val="accent4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3">
  <a:schemeClr val="accent6"/>
  <a:schemeClr val="accent5"/>
  <a:schemeClr val="accent4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1001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0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0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>
      <cs:styleClr val="auto"/>
    </cs:lnRef>
    <cs:fillRef idx="1">
      <cs:styleClr val="auto"/>
    </cs:fillRef>
    <cs:effectRef idx="0"/>
    <cs:fontRef idx="minor">
      <a:schemeClr val="dk1"/>
    </cs:fontRef>
    <cs:spPr>
      <a:ln>
        <a:solidFill>
          <a:schemeClr val="bg1"/>
        </a:solidFill>
      </a:ln>
      <a:effectLst/>
    </cs:spPr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lt1">
            <a:lumMod val="902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75000"/>
        <a:lumOff val="25000"/>
      </a:schemeClr>
    </cs:fontRef>
    <cs:defRPr sz="1400" b="1" kern="120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1001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0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0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>
      <cs:styleClr val="auto"/>
    </cs:lnRef>
    <cs:fillRef idx="1">
      <cs:styleClr val="auto"/>
    </cs:fillRef>
    <cs:effectRef idx="0"/>
    <cs:fontRef idx="minor">
      <a:schemeClr val="dk1"/>
    </cs:fontRef>
    <cs:spPr>
      <a:ln>
        <a:solidFill>
          <a:schemeClr val="bg1"/>
        </a:solidFill>
      </a:ln>
      <a:effectLst/>
    </cs:spPr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lt1">
            <a:lumMod val="902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75000"/>
        <a:lumOff val="25000"/>
      </a:schemeClr>
    </cs:fontRef>
    <cs:defRPr sz="1400" b="1" kern="120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1001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0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0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>
      <cs:styleClr val="auto"/>
    </cs:lnRef>
    <cs:fillRef idx="1">
      <cs:styleClr val="auto"/>
    </cs:fillRef>
    <cs:effectRef idx="0"/>
    <cs:fontRef idx="minor">
      <a:schemeClr val="dk1"/>
    </cs:fontRef>
    <cs:spPr>
      <a:ln>
        <a:solidFill>
          <a:schemeClr val="bg1"/>
        </a:solidFill>
      </a:ln>
      <a:effectLst/>
    </cs:spPr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lt1">
            <a:lumMod val="902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75000"/>
        <a:lumOff val="25000"/>
      </a:schemeClr>
    </cs:fontRef>
    <cs:defRPr sz="1400" b="1" kern="120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1001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0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0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>
      <cs:styleClr val="auto"/>
    </cs:lnRef>
    <cs:fillRef idx="1">
      <cs:styleClr val="auto"/>
    </cs:fillRef>
    <cs:effectRef idx="0"/>
    <cs:fontRef idx="minor">
      <a:schemeClr val="dk1"/>
    </cs:fontRef>
    <cs:spPr>
      <a:ln>
        <a:solidFill>
          <a:schemeClr val="bg1"/>
        </a:solidFill>
      </a:ln>
      <a:effectLst/>
    </cs:spPr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lt1">
            <a:lumMod val="902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75000"/>
        <a:lumOff val="25000"/>
      </a:schemeClr>
    </cs:fontRef>
    <cs:defRPr sz="1400" b="1" kern="120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290" cy="51349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45"/>
            </a:lvl1pPr>
          </a:lstStyle>
          <a:p>
            <a:endParaRPr lang="zh-CN" altLang="en-US">
              <a:latin typeface="Arial" panose="020B0604020202020204" pitchFamily="34" charset="0"/>
              <a:ea typeface="Arial" panose="020B0604020202020204" pitchFamily="34" charset="0"/>
            </a:endParaRPr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4023812" y="0"/>
            <a:ext cx="3078290" cy="51349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45"/>
            </a:lvl1pPr>
          </a:lstStyle>
          <a:p>
            <a:fld id="{0F9B84EA-7D68-4D60-9CB1-D50884785D1C}" type="datetimeFigureOut">
              <a:rPr lang="zh-CN" altLang="en-US" smtClean="0">
                <a:latin typeface="Arial" panose="020B0604020202020204" pitchFamily="34" charset="0"/>
                <a:ea typeface="Arial" panose="020B0604020202020204" pitchFamily="34" charset="0"/>
              </a:rPr>
              <a:t>2026/3/24</a:t>
            </a:fld>
            <a:endParaRPr lang="zh-CN" altLang="en-US">
              <a:latin typeface="Arial" panose="020B0604020202020204" pitchFamily="34" charset="0"/>
              <a:ea typeface="Arial" panose="020B0604020202020204" pitchFamily="34" charset="0"/>
            </a:endParaRPr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9720804"/>
            <a:ext cx="3078290" cy="51349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45"/>
            </a:lvl1pPr>
          </a:lstStyle>
          <a:p>
            <a:endParaRPr lang="zh-CN" altLang="en-US">
              <a:latin typeface="Arial" panose="020B0604020202020204" pitchFamily="34" charset="0"/>
              <a:ea typeface="Arial" panose="020B0604020202020204" pitchFamily="34" charset="0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4023812" y="9720804"/>
            <a:ext cx="3078290" cy="51349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45"/>
            </a:lvl1pPr>
          </a:lstStyle>
          <a:p>
            <a:fld id="{8D4E0FC9-F1F8-4FAE-9988-3BA365CFD46F}" type="slidenum">
              <a:rPr lang="zh-CN" altLang="en-US" smtClean="0">
                <a:latin typeface="Arial" panose="020B0604020202020204" pitchFamily="34" charset="0"/>
                <a:ea typeface="Arial" panose="020B0604020202020204" pitchFamily="34" charset="0"/>
              </a:rPr>
              <a:t>‹#›</a:t>
            </a:fld>
            <a:endParaRPr lang="zh-CN" altLang="en-US">
              <a:latin typeface="Arial" panose="020B0604020202020204" pitchFamily="34" charset="0"/>
              <a:ea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Arial" panose="020B0604020202020204" pitchFamily="34" charset="0"/>
                <a:ea typeface="Arial" panose="020B0604020202020204" pitchFamily="34" charset="0"/>
              </a:defRPr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4024313" y="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Arial" panose="020B0604020202020204" pitchFamily="34" charset="0"/>
                <a:ea typeface="Arial" panose="020B0604020202020204" pitchFamily="34" charset="0"/>
              </a:defRPr>
            </a:lvl1pPr>
          </a:lstStyle>
          <a:p>
            <a:fld id="{D6C8D182-E4C8-4120-9249-FC9774456FFA}" type="datetimeFigureOut">
              <a:rPr lang="zh-CN" altLang="en-US" smtClean="0"/>
              <a:t>2026/3/24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482247" y="1279525"/>
            <a:ext cx="6141155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711200" y="4926013"/>
            <a:ext cx="5683250" cy="402907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972185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Arial" panose="020B0604020202020204" pitchFamily="34" charset="0"/>
                <a:ea typeface="Arial" panose="020B0604020202020204" pitchFamily="34" charset="0"/>
              </a:defRPr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4024313" y="972185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Arial" panose="020B0604020202020204" pitchFamily="34" charset="0"/>
                <a:ea typeface="Arial" panose="020B0604020202020204" pitchFamily="34" charset="0"/>
              </a:defRPr>
            </a:lvl1pPr>
          </a:lstStyle>
          <a:p>
            <a:fld id="{85D0DACE-38E0-42D2-9336-2B707D34BC6D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Arial" panose="020B0604020202020204" pitchFamily="34" charset="0"/>
        <a:ea typeface="Arial" panose="020B0604020202020204" pitchFamily="34" charset="0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Arial" panose="020B0604020202020204" pitchFamily="34" charset="0"/>
        <a:ea typeface="Arial" panose="020B0604020202020204" pitchFamily="34" charset="0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Arial" panose="020B0604020202020204" pitchFamily="34" charset="0"/>
        <a:ea typeface="Arial" panose="020B0604020202020204" pitchFamily="34" charset="0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Arial" panose="020B0604020202020204" pitchFamily="34" charset="0"/>
        <a:ea typeface="Arial" panose="020B0604020202020204" pitchFamily="34" charset="0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Arial" panose="020B0604020202020204" pitchFamily="34" charset="0"/>
        <a:ea typeface="Arial" panose="020B0604020202020204" pitchFamily="34" charset="0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>
          <a:xfrm>
            <a:off x="482600" y="1279525"/>
            <a:ext cx="6140450" cy="3454400"/>
          </a:xfrm>
        </p:spPr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 hasCustomPrompt="1"/>
          </p:nvPr>
        </p:nvSpPr>
        <p:spPr>
          <a:xfrm>
            <a:off x="1800000" y="1562554"/>
            <a:ext cx="10800000" cy="2583072"/>
          </a:xfrm>
        </p:spPr>
        <p:txBody>
          <a:bodyPr anchor="b">
            <a:normAutofit/>
          </a:bodyPr>
          <a:lstStyle>
            <a:lvl1pPr algn="ctr">
              <a:defRPr sz="7085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单击此处添加标题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2026/3/24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1800000" y="4254376"/>
            <a:ext cx="10800000" cy="1955625"/>
          </a:xfrm>
        </p:spPr>
        <p:txBody>
          <a:bodyPr>
            <a:normAutofit/>
          </a:bodyPr>
          <a:lstStyle>
            <a:lvl1pPr marL="0" indent="0" algn="ctr">
              <a:buNone/>
              <a:defRPr sz="2125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+mj-lt"/>
                <a:ea typeface="+mj-ea"/>
              </a:defRPr>
            </a:lvl1pPr>
            <a:lvl2pPr marL="539750" indent="0" algn="ctr">
              <a:buNone/>
              <a:defRPr sz="2360"/>
            </a:lvl2pPr>
            <a:lvl3pPr marL="1080135" indent="0" algn="ctr">
              <a:buNone/>
              <a:defRPr sz="2125"/>
            </a:lvl3pPr>
            <a:lvl4pPr marL="1619885" indent="0" algn="ctr">
              <a:buNone/>
              <a:defRPr sz="1890"/>
            </a:lvl4pPr>
            <a:lvl5pPr marL="2160270" indent="0" algn="ctr">
              <a:buNone/>
              <a:defRPr sz="1890"/>
            </a:lvl5pPr>
            <a:lvl6pPr marL="2700020" indent="0" algn="ctr">
              <a:buNone/>
              <a:defRPr sz="1890"/>
            </a:lvl6pPr>
            <a:lvl7pPr marL="3239770" indent="0" algn="ctr">
              <a:buNone/>
              <a:defRPr sz="1890"/>
            </a:lvl7pPr>
            <a:lvl8pPr marL="3780155" indent="0" algn="ctr">
              <a:buNone/>
              <a:defRPr sz="1890"/>
            </a:lvl8pPr>
            <a:lvl9pPr marL="4319905" indent="0" algn="ctr">
              <a:buNone/>
              <a:defRPr sz="1890"/>
            </a:lvl9pPr>
          </a:lstStyle>
          <a:p>
            <a:r>
              <a:rPr lang="zh-CN" altLang="en-US" dirty="0"/>
              <a:t>单击此处添加副标题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765000" y="305250"/>
            <a:ext cx="12420000" cy="1565626"/>
          </a:xfrm>
        </p:spPr>
        <p:txBody>
          <a:bodyPr anchor="ctr" anchorCtr="0">
            <a:normAutofit/>
          </a:bodyPr>
          <a:lstStyle>
            <a:lvl1pPr>
              <a:defRPr sz="2835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765000" y="2156250"/>
            <a:ext cx="12420000" cy="5139376"/>
          </a:xfrm>
        </p:spPr>
        <p:txBody>
          <a:bodyPr>
            <a:normAutofit/>
          </a:bodyPr>
          <a:lstStyle>
            <a:lvl1pPr>
              <a:defRPr sz="236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2125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89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89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89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2026/3/24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982500" y="4430453"/>
            <a:ext cx="8647500" cy="958296"/>
          </a:xfrm>
        </p:spPr>
        <p:txBody>
          <a:bodyPr anchor="b">
            <a:normAutofit/>
          </a:bodyPr>
          <a:lstStyle>
            <a:lvl1pPr>
              <a:defRPr sz="4725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982500" y="5444915"/>
            <a:ext cx="8647500" cy="764829"/>
          </a:xfrm>
        </p:spPr>
        <p:txBody>
          <a:bodyPr>
            <a:normAutofit/>
          </a:bodyPr>
          <a:lstStyle>
            <a:lvl1pPr marL="0" indent="0">
              <a:buNone/>
              <a:defRPr sz="2125">
                <a:solidFill>
                  <a:schemeClr val="tx1"/>
                </a:solidFill>
              </a:defRPr>
            </a:lvl1pPr>
            <a:lvl2pPr marL="539750" indent="0">
              <a:buNone/>
              <a:defRPr sz="2360">
                <a:solidFill>
                  <a:schemeClr val="tx1">
                    <a:tint val="75000"/>
                  </a:schemeClr>
                </a:solidFill>
              </a:defRPr>
            </a:lvl2pPr>
            <a:lvl3pPr marL="1080135" indent="0">
              <a:buNone/>
              <a:defRPr sz="2125">
                <a:solidFill>
                  <a:schemeClr val="tx1">
                    <a:tint val="75000"/>
                  </a:schemeClr>
                </a:solidFill>
              </a:defRPr>
            </a:lvl3pPr>
            <a:lvl4pPr marL="1619885" indent="0">
              <a:buNone/>
              <a:defRPr sz="1890">
                <a:solidFill>
                  <a:schemeClr val="tx1">
                    <a:tint val="75000"/>
                  </a:schemeClr>
                </a:solidFill>
              </a:defRPr>
            </a:lvl4pPr>
            <a:lvl5pPr marL="2160270" indent="0">
              <a:buNone/>
              <a:defRPr sz="1890">
                <a:solidFill>
                  <a:schemeClr val="tx1">
                    <a:tint val="75000"/>
                  </a:schemeClr>
                </a:solidFill>
              </a:defRPr>
            </a:lvl5pPr>
            <a:lvl6pPr marL="2700020" indent="0">
              <a:buNone/>
              <a:defRPr sz="1890">
                <a:solidFill>
                  <a:schemeClr val="tx1">
                    <a:tint val="75000"/>
                  </a:schemeClr>
                </a:solidFill>
              </a:defRPr>
            </a:lvl6pPr>
            <a:lvl7pPr marL="3239770" indent="0">
              <a:buNone/>
              <a:defRPr sz="1890">
                <a:solidFill>
                  <a:schemeClr val="tx1">
                    <a:tint val="75000"/>
                  </a:schemeClr>
                </a:solidFill>
              </a:defRPr>
            </a:lvl7pPr>
            <a:lvl8pPr marL="3780155" indent="0">
              <a:buNone/>
              <a:defRPr sz="1890">
                <a:solidFill>
                  <a:schemeClr val="tx1">
                    <a:tint val="75000"/>
                  </a:schemeClr>
                </a:solidFill>
              </a:defRPr>
            </a:lvl8pPr>
            <a:lvl9pPr marL="4319905" indent="0">
              <a:buNone/>
              <a:defRPr sz="189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dirty="0"/>
              <a:t>单击此处编辑母版文本样式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2026/3/24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765000" y="305250"/>
            <a:ext cx="12420000" cy="1565626"/>
          </a:xfrm>
        </p:spPr>
        <p:txBody>
          <a:bodyPr>
            <a:normAutofit/>
          </a:bodyPr>
          <a:lstStyle>
            <a:lvl1pPr>
              <a:defRPr sz="2835" b="1" i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765000" y="2156250"/>
            <a:ext cx="6120000" cy="5139376"/>
          </a:xfrm>
        </p:spPr>
        <p:txBody>
          <a:bodyPr>
            <a:normAutofit/>
          </a:bodyPr>
          <a:lstStyle>
            <a:lvl1pPr>
              <a:lnSpc>
                <a:spcPct val="150000"/>
              </a:lnSpc>
              <a:defRPr sz="236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lnSpc>
                <a:spcPct val="150000"/>
              </a:lnSpc>
              <a:defRPr sz="2125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lnSpc>
                <a:spcPct val="150000"/>
              </a:lnSpc>
              <a:defRPr sz="189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lnSpc>
                <a:spcPct val="150000"/>
              </a:lnSpc>
              <a:defRPr sz="189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lnSpc>
                <a:spcPct val="150000"/>
              </a:lnSpc>
              <a:defRPr sz="189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7065000" y="2156250"/>
            <a:ext cx="6120000" cy="5139376"/>
          </a:xfrm>
        </p:spPr>
        <p:txBody>
          <a:bodyPr>
            <a:normAutofit/>
          </a:bodyPr>
          <a:lstStyle>
            <a:lvl1pPr>
              <a:lnSpc>
                <a:spcPct val="150000"/>
              </a:lnSpc>
              <a:defRPr sz="236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lnSpc>
                <a:spcPct val="150000"/>
              </a:lnSpc>
              <a:defRPr sz="2125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lnSpc>
                <a:spcPct val="150000"/>
              </a:lnSpc>
              <a:defRPr sz="189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lnSpc>
                <a:spcPct val="150000"/>
              </a:lnSpc>
              <a:defRPr sz="189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lnSpc>
                <a:spcPct val="150000"/>
              </a:lnSpc>
              <a:defRPr sz="189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2026/3/24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991876" y="431250"/>
            <a:ext cx="12420000" cy="1565626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991876" y="2060978"/>
            <a:ext cx="6091875" cy="973124"/>
          </a:xfrm>
        </p:spPr>
        <p:txBody>
          <a:bodyPr anchor="b"/>
          <a:lstStyle>
            <a:lvl1pPr marL="0" indent="0">
              <a:buNone/>
              <a:defRPr sz="2835" b="1"/>
            </a:lvl1pPr>
            <a:lvl2pPr marL="539750" indent="0">
              <a:buNone/>
              <a:defRPr sz="2360" b="1"/>
            </a:lvl2pPr>
            <a:lvl3pPr marL="1080135" indent="0">
              <a:buNone/>
              <a:defRPr sz="2125" b="1"/>
            </a:lvl3pPr>
            <a:lvl4pPr marL="1619885" indent="0">
              <a:buNone/>
              <a:defRPr sz="1890" b="1"/>
            </a:lvl4pPr>
            <a:lvl5pPr marL="2160270" indent="0">
              <a:buNone/>
              <a:defRPr sz="1890" b="1"/>
            </a:lvl5pPr>
            <a:lvl6pPr marL="2700020" indent="0">
              <a:buNone/>
              <a:defRPr sz="1890" b="1"/>
            </a:lvl6pPr>
            <a:lvl7pPr marL="3239770" indent="0">
              <a:buNone/>
              <a:defRPr sz="1890" b="1"/>
            </a:lvl7pPr>
            <a:lvl8pPr marL="3780155" indent="0">
              <a:buNone/>
              <a:defRPr sz="1890" b="1"/>
            </a:lvl8pPr>
            <a:lvl9pPr marL="4319905" indent="0">
              <a:buNone/>
              <a:defRPr sz="1890" b="1"/>
            </a:lvl9pPr>
          </a:lstStyle>
          <a:p>
            <a:pPr lvl="0"/>
            <a:r>
              <a:rPr lang="zh-CN" altLang="en-US" dirty="0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991876" y="3089302"/>
            <a:ext cx="6091875" cy="4221324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7290000" y="2060978"/>
            <a:ext cx="6121876" cy="973124"/>
          </a:xfrm>
        </p:spPr>
        <p:txBody>
          <a:bodyPr anchor="b"/>
          <a:lstStyle>
            <a:lvl1pPr marL="0" indent="0">
              <a:buNone/>
              <a:defRPr sz="2835" b="1"/>
            </a:lvl1pPr>
            <a:lvl2pPr marL="539750" indent="0">
              <a:buNone/>
              <a:defRPr sz="2360" b="1"/>
            </a:lvl2pPr>
            <a:lvl3pPr marL="1080135" indent="0">
              <a:buNone/>
              <a:defRPr sz="2125" b="1"/>
            </a:lvl3pPr>
            <a:lvl4pPr marL="1619885" indent="0">
              <a:buNone/>
              <a:defRPr sz="1890" b="1"/>
            </a:lvl4pPr>
            <a:lvl5pPr marL="2160270" indent="0">
              <a:buNone/>
              <a:defRPr sz="1890" b="1"/>
            </a:lvl5pPr>
            <a:lvl6pPr marL="2700020" indent="0">
              <a:buNone/>
              <a:defRPr sz="1890" b="1"/>
            </a:lvl6pPr>
            <a:lvl7pPr marL="3239770" indent="0">
              <a:buNone/>
              <a:defRPr sz="1890" b="1"/>
            </a:lvl7pPr>
            <a:lvl8pPr marL="3780155" indent="0">
              <a:buNone/>
              <a:defRPr sz="1890" b="1"/>
            </a:lvl8pPr>
            <a:lvl9pPr marL="4319905" indent="0">
              <a:buNone/>
              <a:defRPr sz="1890" b="1"/>
            </a:lvl9pPr>
          </a:lstStyle>
          <a:p>
            <a:pPr lvl="0"/>
            <a:r>
              <a:rPr lang="zh-CN" altLang="en-US" dirty="0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7290000" y="3089302"/>
            <a:ext cx="6121876" cy="4221324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2026/3/24</a:t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990000" y="3267188"/>
            <a:ext cx="12420000" cy="1565626"/>
          </a:xfrm>
        </p:spPr>
        <p:txBody>
          <a:bodyPr>
            <a:normAutofit/>
          </a:bodyPr>
          <a:lstStyle>
            <a:lvl1pPr algn="ctr">
              <a:defRPr sz="5670" b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2026/3/24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2026/3/24</a:t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763874" y="150000"/>
            <a:ext cx="4919528" cy="1890000"/>
          </a:xfrm>
        </p:spPr>
        <p:txBody>
          <a:bodyPr anchor="ctr" anchorCtr="0">
            <a:normAutofit/>
          </a:bodyPr>
          <a:lstStyle>
            <a:lvl1pPr>
              <a:defRPr sz="2835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单击此处编辑标题</a:t>
            </a:r>
          </a:p>
        </p:txBody>
      </p:sp>
      <p:sp>
        <p:nvSpPr>
          <p:cNvPr id="3" name="图片占位符 2"/>
          <p:cNvSpPr>
            <a:spLocks noGrp="1" noChangeAspect="1"/>
          </p:cNvSpPr>
          <p:nvPr>
            <p:ph type="pic" idx="1"/>
          </p:nvPr>
        </p:nvSpPr>
        <p:spPr>
          <a:xfrm>
            <a:off x="6122835" y="905143"/>
            <a:ext cx="6870916" cy="6017063"/>
          </a:xfrm>
        </p:spPr>
        <p:txBody>
          <a:bodyPr/>
          <a:lstStyle>
            <a:lvl1pPr marL="0" indent="0">
              <a:buNone/>
              <a:defRPr sz="3780"/>
            </a:lvl1pPr>
            <a:lvl2pPr marL="539750" indent="0">
              <a:buNone/>
              <a:defRPr sz="3305"/>
            </a:lvl2pPr>
            <a:lvl3pPr marL="1080135" indent="0">
              <a:buNone/>
              <a:defRPr sz="2835"/>
            </a:lvl3pPr>
            <a:lvl4pPr marL="1619885" indent="0">
              <a:buNone/>
              <a:defRPr sz="2360"/>
            </a:lvl4pPr>
            <a:lvl5pPr marL="2160270" indent="0">
              <a:buNone/>
              <a:defRPr sz="2360"/>
            </a:lvl5pPr>
            <a:lvl6pPr marL="2700020" indent="0">
              <a:buNone/>
              <a:defRPr sz="2360"/>
            </a:lvl6pPr>
            <a:lvl7pPr marL="3239770" indent="0">
              <a:buNone/>
              <a:defRPr sz="2360"/>
            </a:lvl7pPr>
            <a:lvl8pPr marL="3780155" indent="0">
              <a:buNone/>
              <a:defRPr sz="2360"/>
            </a:lvl8pPr>
            <a:lvl9pPr marL="4319905" indent="0">
              <a:buNone/>
              <a:defRPr sz="2360"/>
            </a:lvl9pPr>
          </a:lstStyle>
          <a:p>
            <a:endParaRPr lang="zh-CN" altLang="en-US" dirty="0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769874" y="2430000"/>
            <a:ext cx="4919528" cy="4501876"/>
          </a:xfrm>
        </p:spPr>
        <p:txBody>
          <a:bodyPr>
            <a:normAutofit/>
          </a:bodyPr>
          <a:lstStyle>
            <a:lvl1pPr marL="0" indent="0">
              <a:lnSpc>
                <a:spcPct val="150000"/>
              </a:lnSpc>
              <a:buNone/>
              <a:defRPr sz="1890"/>
            </a:lvl1pPr>
            <a:lvl2pPr marL="539750" indent="0">
              <a:buNone/>
              <a:defRPr sz="1655"/>
            </a:lvl2pPr>
            <a:lvl3pPr marL="1080135" indent="0">
              <a:buNone/>
              <a:defRPr sz="1415"/>
            </a:lvl3pPr>
            <a:lvl4pPr marL="1619885" indent="0">
              <a:buNone/>
              <a:defRPr sz="1180"/>
            </a:lvl4pPr>
            <a:lvl5pPr marL="2160270" indent="0">
              <a:buNone/>
              <a:defRPr sz="1180"/>
            </a:lvl5pPr>
            <a:lvl6pPr marL="2700020" indent="0">
              <a:buNone/>
              <a:defRPr sz="1180"/>
            </a:lvl6pPr>
            <a:lvl7pPr marL="3239770" indent="0">
              <a:buNone/>
              <a:defRPr sz="1180"/>
            </a:lvl7pPr>
            <a:lvl8pPr marL="3780155" indent="0">
              <a:buNone/>
              <a:defRPr sz="1180"/>
            </a:lvl8pPr>
            <a:lvl9pPr marL="4319905" indent="0">
              <a:buNone/>
              <a:defRPr sz="1180"/>
            </a:lvl9pPr>
          </a:lstStyle>
          <a:p>
            <a:pPr lvl="0"/>
            <a:r>
              <a:rPr lang="zh-CN" altLang="en-US" dirty="0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FD9D74-47D9-4702-A33C-335B63B48DBF}" type="datetimeFigureOut">
              <a:rPr lang="zh-CN" altLang="en-US" smtClean="0"/>
              <a:t>2026/3/24</a:t>
            </a:fld>
            <a:endParaRPr lang="zh-CN" altLang="en-US" dirty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BC47A4-756D-490B-A52F-7D9E2C9FC05F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11603722" y="431250"/>
            <a:ext cx="1806279" cy="6864376"/>
          </a:xfrm>
        </p:spPr>
        <p:txBody>
          <a:bodyPr vert="eaVert">
            <a:normAutofit/>
          </a:bodyPr>
          <a:lstStyle>
            <a:lvl1pPr>
              <a:defRPr sz="425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990000" y="431250"/>
            <a:ext cx="10488140" cy="6864376"/>
          </a:xfrm>
        </p:spPr>
        <p:txBody>
          <a:bodyPr vert="eaVert"/>
          <a:lstStyle/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2026/3/24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2026/3/24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sz="quarter" idx="13"/>
          </p:nvPr>
        </p:nvSpPr>
        <p:spPr>
          <a:xfrm>
            <a:off x="990000" y="651429"/>
            <a:ext cx="12420000" cy="6565714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990000" y="431250"/>
            <a:ext cx="12420000" cy="156562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dirty="0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990000" y="2156250"/>
            <a:ext cx="12420000" cy="513937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990000" y="7507500"/>
            <a:ext cx="3240000" cy="431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415">
                <a:solidFill>
                  <a:schemeClr val="tx1">
                    <a:tint val="75000"/>
                  </a:schemeClr>
                </a:solidFill>
                <a:latin typeface="Arial" panose="020B0604020202020204" pitchFamily="34" charset="0"/>
                <a:ea typeface="Arial" panose="020B0604020202020204" pitchFamily="34" charset="0"/>
              </a:defRPr>
            </a:lvl1pPr>
          </a:lstStyle>
          <a:p>
            <a:fld id="{760FBDFE-C587-4B4C-A407-44438C67B59E}" type="datetimeFigureOut">
              <a:rPr lang="zh-CN" altLang="en-US" smtClean="0"/>
              <a:t>2026/3/24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770000" y="7507500"/>
            <a:ext cx="4860000" cy="431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415">
                <a:solidFill>
                  <a:schemeClr val="tx1">
                    <a:tint val="75000"/>
                  </a:schemeClr>
                </a:solidFill>
                <a:latin typeface="Arial" panose="020B0604020202020204" pitchFamily="34" charset="0"/>
                <a:ea typeface="Arial" panose="020B0604020202020204" pitchFamily="34" charset="0"/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10170000" y="7507500"/>
            <a:ext cx="3240000" cy="431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415">
                <a:solidFill>
                  <a:schemeClr val="tx1">
                    <a:tint val="75000"/>
                  </a:schemeClr>
                </a:solidFill>
                <a:latin typeface="Arial" panose="020B0604020202020204" pitchFamily="34" charset="0"/>
                <a:ea typeface="Arial" panose="020B0604020202020204" pitchFamily="34" charset="0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txStyles>
    <p:titleStyle>
      <a:lvl1pPr algn="l" defTabSz="1080135" rtl="0" eaLnBrk="1" latinLnBrk="0" hangingPunct="1">
        <a:lnSpc>
          <a:spcPct val="90000"/>
        </a:lnSpc>
        <a:spcBef>
          <a:spcPct val="0"/>
        </a:spcBef>
        <a:buNone/>
        <a:defRPr sz="4725" kern="1200">
          <a:solidFill>
            <a:schemeClr val="tx1"/>
          </a:solidFill>
          <a:latin typeface="Arial" panose="020B0604020202020204" pitchFamily="34" charset="0"/>
          <a:ea typeface="Arial" panose="020B0604020202020204" pitchFamily="34" charset="0"/>
          <a:cs typeface="+mj-cs"/>
        </a:defRPr>
      </a:lvl1pPr>
    </p:titleStyle>
    <p:bodyStyle>
      <a:lvl1pPr marL="269875" indent="-269875" algn="l" defTabSz="1080135" rtl="0" eaLnBrk="1" latinLnBrk="0" hangingPunct="1">
        <a:lnSpc>
          <a:spcPct val="90000"/>
        </a:lnSpc>
        <a:spcBef>
          <a:spcPts val="1180"/>
        </a:spcBef>
        <a:buFont typeface="Arial" panose="020B0604020202020204" pitchFamily="34" charset="0"/>
        <a:buChar char="•"/>
        <a:defRPr sz="2835" kern="1200">
          <a:solidFill>
            <a:schemeClr val="tx1"/>
          </a:solidFill>
          <a:latin typeface="Arial" panose="020B0604020202020204" pitchFamily="34" charset="0"/>
          <a:ea typeface="Arial" panose="020B0604020202020204" pitchFamily="34" charset="0"/>
          <a:cs typeface="+mn-cs"/>
        </a:defRPr>
      </a:lvl1pPr>
      <a:lvl2pPr marL="810260" indent="-269875" algn="l" defTabSz="1080135" rtl="0" eaLnBrk="1" latinLnBrk="0" hangingPunct="1">
        <a:lnSpc>
          <a:spcPct val="90000"/>
        </a:lnSpc>
        <a:spcBef>
          <a:spcPts val="590"/>
        </a:spcBef>
        <a:buFont typeface="Arial" panose="020B0604020202020204" pitchFamily="34" charset="0"/>
        <a:buChar char="•"/>
        <a:defRPr sz="2360" kern="1200">
          <a:solidFill>
            <a:schemeClr val="tx1"/>
          </a:solidFill>
          <a:latin typeface="Arial" panose="020B0604020202020204" pitchFamily="34" charset="0"/>
          <a:ea typeface="Arial" panose="020B0604020202020204" pitchFamily="34" charset="0"/>
          <a:cs typeface="+mn-cs"/>
        </a:defRPr>
      </a:lvl2pPr>
      <a:lvl3pPr marL="1350010" indent="-269875" algn="l" defTabSz="1080135" rtl="0" eaLnBrk="1" latinLnBrk="0" hangingPunct="1">
        <a:lnSpc>
          <a:spcPct val="90000"/>
        </a:lnSpc>
        <a:spcBef>
          <a:spcPts val="590"/>
        </a:spcBef>
        <a:buFont typeface="Arial" panose="020B0604020202020204" pitchFamily="34" charset="0"/>
        <a:buChar char="•"/>
        <a:defRPr sz="2125" kern="1200">
          <a:solidFill>
            <a:schemeClr val="tx1"/>
          </a:solidFill>
          <a:latin typeface="Arial" panose="020B0604020202020204" pitchFamily="34" charset="0"/>
          <a:ea typeface="Arial" panose="020B0604020202020204" pitchFamily="34" charset="0"/>
          <a:cs typeface="+mn-cs"/>
        </a:defRPr>
      </a:lvl3pPr>
      <a:lvl4pPr marL="1889760" indent="-269875" algn="l" defTabSz="1080135" rtl="0" eaLnBrk="1" latinLnBrk="0" hangingPunct="1">
        <a:lnSpc>
          <a:spcPct val="90000"/>
        </a:lnSpc>
        <a:spcBef>
          <a:spcPts val="590"/>
        </a:spcBef>
        <a:buFont typeface="Arial" panose="020B0604020202020204" pitchFamily="34" charset="0"/>
        <a:buChar char="•"/>
        <a:defRPr sz="2125" kern="1200">
          <a:solidFill>
            <a:schemeClr val="tx1"/>
          </a:solidFill>
          <a:latin typeface="Arial" panose="020B0604020202020204" pitchFamily="34" charset="0"/>
          <a:ea typeface="Arial" panose="020B0604020202020204" pitchFamily="34" charset="0"/>
          <a:cs typeface="+mn-cs"/>
        </a:defRPr>
      </a:lvl4pPr>
      <a:lvl5pPr marL="2430145" indent="-269875" algn="l" defTabSz="1080135" rtl="0" eaLnBrk="1" latinLnBrk="0" hangingPunct="1">
        <a:lnSpc>
          <a:spcPct val="90000"/>
        </a:lnSpc>
        <a:spcBef>
          <a:spcPts val="590"/>
        </a:spcBef>
        <a:buFont typeface="Arial" panose="020B0604020202020204" pitchFamily="34" charset="0"/>
        <a:buChar char="•"/>
        <a:defRPr sz="2125" kern="1200">
          <a:solidFill>
            <a:schemeClr val="tx1"/>
          </a:solidFill>
          <a:latin typeface="Arial" panose="020B0604020202020204" pitchFamily="34" charset="0"/>
          <a:ea typeface="Arial" panose="020B0604020202020204" pitchFamily="34" charset="0"/>
          <a:cs typeface="+mn-cs"/>
        </a:defRPr>
      </a:lvl5pPr>
      <a:lvl6pPr marL="2969895" indent="-269875" algn="l" defTabSz="1080135" rtl="0" eaLnBrk="1" latinLnBrk="0" hangingPunct="1">
        <a:lnSpc>
          <a:spcPct val="90000"/>
        </a:lnSpc>
        <a:spcBef>
          <a:spcPts val="590"/>
        </a:spcBef>
        <a:buFont typeface="Arial" panose="020B0604020202020204" pitchFamily="34" charset="0"/>
        <a:buChar char="•"/>
        <a:defRPr sz="2125" kern="1200">
          <a:solidFill>
            <a:schemeClr val="tx1"/>
          </a:solidFill>
          <a:latin typeface="+mn-lt"/>
          <a:ea typeface="+mn-ea"/>
          <a:cs typeface="+mn-cs"/>
        </a:defRPr>
      </a:lvl6pPr>
      <a:lvl7pPr marL="3510280" indent="-269875" algn="l" defTabSz="1080135" rtl="0" eaLnBrk="1" latinLnBrk="0" hangingPunct="1">
        <a:lnSpc>
          <a:spcPct val="90000"/>
        </a:lnSpc>
        <a:spcBef>
          <a:spcPts val="590"/>
        </a:spcBef>
        <a:buFont typeface="Arial" panose="020B0604020202020204" pitchFamily="34" charset="0"/>
        <a:buChar char="•"/>
        <a:defRPr sz="2125" kern="1200">
          <a:solidFill>
            <a:schemeClr val="tx1"/>
          </a:solidFill>
          <a:latin typeface="+mn-lt"/>
          <a:ea typeface="+mn-ea"/>
          <a:cs typeface="+mn-cs"/>
        </a:defRPr>
      </a:lvl7pPr>
      <a:lvl8pPr marL="4050030" indent="-269875" algn="l" defTabSz="1080135" rtl="0" eaLnBrk="1" latinLnBrk="0" hangingPunct="1">
        <a:lnSpc>
          <a:spcPct val="90000"/>
        </a:lnSpc>
        <a:spcBef>
          <a:spcPts val="590"/>
        </a:spcBef>
        <a:buFont typeface="Arial" panose="020B0604020202020204" pitchFamily="34" charset="0"/>
        <a:buChar char="•"/>
        <a:defRPr sz="2125" kern="1200">
          <a:solidFill>
            <a:schemeClr val="tx1"/>
          </a:solidFill>
          <a:latin typeface="+mn-lt"/>
          <a:ea typeface="+mn-ea"/>
          <a:cs typeface="+mn-cs"/>
        </a:defRPr>
      </a:lvl8pPr>
      <a:lvl9pPr marL="4589780" indent="-269875" algn="l" defTabSz="1080135" rtl="0" eaLnBrk="1" latinLnBrk="0" hangingPunct="1">
        <a:lnSpc>
          <a:spcPct val="90000"/>
        </a:lnSpc>
        <a:spcBef>
          <a:spcPts val="590"/>
        </a:spcBef>
        <a:buFont typeface="Arial" panose="020B0604020202020204" pitchFamily="34" charset="0"/>
        <a:buChar char="•"/>
        <a:defRPr sz="2125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1080135" rtl="0" eaLnBrk="1" latinLnBrk="0" hangingPunct="1">
        <a:defRPr sz="2125" kern="1200">
          <a:solidFill>
            <a:schemeClr val="tx1"/>
          </a:solidFill>
          <a:latin typeface="+mn-lt"/>
          <a:ea typeface="+mn-ea"/>
          <a:cs typeface="+mn-cs"/>
        </a:defRPr>
      </a:lvl1pPr>
      <a:lvl2pPr marL="539750" algn="l" defTabSz="1080135" rtl="0" eaLnBrk="1" latinLnBrk="0" hangingPunct="1">
        <a:defRPr sz="2125" kern="1200">
          <a:solidFill>
            <a:schemeClr val="tx1"/>
          </a:solidFill>
          <a:latin typeface="+mn-lt"/>
          <a:ea typeface="+mn-ea"/>
          <a:cs typeface="+mn-cs"/>
        </a:defRPr>
      </a:lvl2pPr>
      <a:lvl3pPr marL="1080135" algn="l" defTabSz="1080135" rtl="0" eaLnBrk="1" latinLnBrk="0" hangingPunct="1">
        <a:defRPr sz="2125" kern="1200">
          <a:solidFill>
            <a:schemeClr val="tx1"/>
          </a:solidFill>
          <a:latin typeface="+mn-lt"/>
          <a:ea typeface="+mn-ea"/>
          <a:cs typeface="+mn-cs"/>
        </a:defRPr>
      </a:lvl3pPr>
      <a:lvl4pPr marL="1619885" algn="l" defTabSz="1080135" rtl="0" eaLnBrk="1" latinLnBrk="0" hangingPunct="1">
        <a:defRPr sz="2125" kern="1200">
          <a:solidFill>
            <a:schemeClr val="tx1"/>
          </a:solidFill>
          <a:latin typeface="+mn-lt"/>
          <a:ea typeface="+mn-ea"/>
          <a:cs typeface="+mn-cs"/>
        </a:defRPr>
      </a:lvl4pPr>
      <a:lvl5pPr marL="2160270" algn="l" defTabSz="1080135" rtl="0" eaLnBrk="1" latinLnBrk="0" hangingPunct="1">
        <a:defRPr sz="2125" kern="1200">
          <a:solidFill>
            <a:schemeClr val="tx1"/>
          </a:solidFill>
          <a:latin typeface="+mn-lt"/>
          <a:ea typeface="+mn-ea"/>
          <a:cs typeface="+mn-cs"/>
        </a:defRPr>
      </a:lvl5pPr>
      <a:lvl6pPr marL="2700020" algn="l" defTabSz="1080135" rtl="0" eaLnBrk="1" latinLnBrk="0" hangingPunct="1">
        <a:defRPr sz="2125" kern="1200">
          <a:solidFill>
            <a:schemeClr val="tx1"/>
          </a:solidFill>
          <a:latin typeface="+mn-lt"/>
          <a:ea typeface="+mn-ea"/>
          <a:cs typeface="+mn-cs"/>
        </a:defRPr>
      </a:lvl6pPr>
      <a:lvl7pPr marL="3239770" algn="l" defTabSz="1080135" rtl="0" eaLnBrk="1" latinLnBrk="0" hangingPunct="1">
        <a:defRPr sz="2125" kern="1200">
          <a:solidFill>
            <a:schemeClr val="tx1"/>
          </a:solidFill>
          <a:latin typeface="+mn-lt"/>
          <a:ea typeface="+mn-ea"/>
          <a:cs typeface="+mn-cs"/>
        </a:defRPr>
      </a:lvl7pPr>
      <a:lvl8pPr marL="3780155" algn="l" defTabSz="1080135" rtl="0" eaLnBrk="1" latinLnBrk="0" hangingPunct="1">
        <a:defRPr sz="2125" kern="1200">
          <a:solidFill>
            <a:schemeClr val="tx1"/>
          </a:solidFill>
          <a:latin typeface="+mn-lt"/>
          <a:ea typeface="+mn-ea"/>
          <a:cs typeface="+mn-cs"/>
        </a:defRPr>
      </a:lvl8pPr>
      <a:lvl9pPr marL="4319905" algn="l" defTabSz="1080135" rtl="0" eaLnBrk="1" latinLnBrk="0" hangingPunct="1">
        <a:defRPr sz="2125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2.xml"/><Relationship Id="rId5" Type="http://schemas.openxmlformats.org/officeDocument/2006/relationships/chart" Target="../charts/chart4.xml"/><Relationship Id="rId4" Type="http://schemas.openxmlformats.org/officeDocument/2006/relationships/chart" Target="../charts/chart3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10" Type="http://schemas.openxmlformats.org/officeDocument/2006/relationships/image" Target="../media/image17.png"/><Relationship Id="rId4" Type="http://schemas.openxmlformats.org/officeDocument/2006/relationships/image" Target="../media/image11.png"/><Relationship Id="rId9" Type="http://schemas.openxmlformats.org/officeDocument/2006/relationships/image" Target="../media/image16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7" Type="http://schemas.openxmlformats.org/officeDocument/2006/relationships/image" Target="../media/image23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2.png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.png"/><Relationship Id="rId3" Type="http://schemas.openxmlformats.org/officeDocument/2006/relationships/image" Target="../media/image25.png"/><Relationship Id="rId7" Type="http://schemas.openxmlformats.org/officeDocument/2006/relationships/image" Target="../media/image29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8.png"/><Relationship Id="rId5" Type="http://schemas.openxmlformats.org/officeDocument/2006/relationships/image" Target="../media/image27.png"/><Relationship Id="rId4" Type="http://schemas.openxmlformats.org/officeDocument/2006/relationships/image" Target="../media/image26.png"/><Relationship Id="rId9" Type="http://schemas.openxmlformats.org/officeDocument/2006/relationships/image" Target="../media/image31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13" Type="http://schemas.openxmlformats.org/officeDocument/2006/relationships/image" Target="../media/image21.png"/><Relationship Id="rId3" Type="http://schemas.openxmlformats.org/officeDocument/2006/relationships/image" Target="../media/image32.png"/><Relationship Id="rId7" Type="http://schemas.openxmlformats.org/officeDocument/2006/relationships/image" Target="../media/image13.png"/><Relationship Id="rId12" Type="http://schemas.openxmlformats.org/officeDocument/2006/relationships/image" Target="../media/image20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5.png"/><Relationship Id="rId11" Type="http://schemas.openxmlformats.org/officeDocument/2006/relationships/image" Target="../media/image19.png"/><Relationship Id="rId5" Type="http://schemas.openxmlformats.org/officeDocument/2006/relationships/image" Target="../media/image34.png"/><Relationship Id="rId10" Type="http://schemas.openxmlformats.org/officeDocument/2006/relationships/image" Target="../media/image16.png"/><Relationship Id="rId4" Type="http://schemas.openxmlformats.org/officeDocument/2006/relationships/image" Target="../media/image33.png"/><Relationship Id="rId9" Type="http://schemas.openxmlformats.org/officeDocument/2006/relationships/image" Target="../media/image15.png"/><Relationship Id="rId14" Type="http://schemas.openxmlformats.org/officeDocument/2006/relationships/image" Target="../media/image2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7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4.png"/><Relationship Id="rId4" Type="http://schemas.openxmlformats.org/officeDocument/2006/relationships/image" Target="../media/image43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7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52.png"/><Relationship Id="rId13" Type="http://schemas.openxmlformats.org/officeDocument/2006/relationships/image" Target="../media/image57.png"/><Relationship Id="rId3" Type="http://schemas.openxmlformats.org/officeDocument/2006/relationships/tags" Target="../tags/tag2.xml"/><Relationship Id="rId7" Type="http://schemas.openxmlformats.org/officeDocument/2006/relationships/image" Target="../media/image51.png"/><Relationship Id="rId12" Type="http://schemas.openxmlformats.org/officeDocument/2006/relationships/image" Target="../media/image56.png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1.xml"/><Relationship Id="rId6" Type="http://schemas.openxmlformats.org/officeDocument/2006/relationships/image" Target="../media/image50.png"/><Relationship Id="rId11" Type="http://schemas.openxmlformats.org/officeDocument/2006/relationships/image" Target="../media/image55.png"/><Relationship Id="rId5" Type="http://schemas.openxmlformats.org/officeDocument/2006/relationships/image" Target="../media/image48.png"/><Relationship Id="rId10" Type="http://schemas.openxmlformats.org/officeDocument/2006/relationships/image" Target="../media/image54.png"/><Relationship Id="rId4" Type="http://schemas.openxmlformats.org/officeDocument/2006/relationships/image" Target="../media/image49.png"/><Relationship Id="rId9" Type="http://schemas.openxmlformats.org/officeDocument/2006/relationships/image" Target="../media/image53.png"/><Relationship Id="rId14" Type="http://schemas.openxmlformats.org/officeDocument/2006/relationships/image" Target="../media/image58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66.png"/><Relationship Id="rId3" Type="http://schemas.openxmlformats.org/officeDocument/2006/relationships/image" Target="../media/image61.png"/><Relationship Id="rId7" Type="http://schemas.openxmlformats.org/officeDocument/2006/relationships/image" Target="../media/image65.png"/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4.png"/><Relationship Id="rId5" Type="http://schemas.openxmlformats.org/officeDocument/2006/relationships/image" Target="../media/image63.png"/><Relationship Id="rId10" Type="http://schemas.openxmlformats.org/officeDocument/2006/relationships/image" Target="../media/image68.png"/><Relationship Id="rId4" Type="http://schemas.openxmlformats.org/officeDocument/2006/relationships/image" Target="../media/image62.png"/><Relationship Id="rId9" Type="http://schemas.openxmlformats.org/officeDocument/2006/relationships/image" Target="../media/image67.pn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75.png"/><Relationship Id="rId13" Type="http://schemas.openxmlformats.org/officeDocument/2006/relationships/image" Target="../media/image80.png"/><Relationship Id="rId3" Type="http://schemas.openxmlformats.org/officeDocument/2006/relationships/image" Target="../media/image70.png"/><Relationship Id="rId7" Type="http://schemas.openxmlformats.org/officeDocument/2006/relationships/image" Target="../media/image74.png"/><Relationship Id="rId12" Type="http://schemas.openxmlformats.org/officeDocument/2006/relationships/image" Target="../media/image79.png"/><Relationship Id="rId17" Type="http://schemas.openxmlformats.org/officeDocument/2006/relationships/image" Target="../media/image84.png"/><Relationship Id="rId2" Type="http://schemas.openxmlformats.org/officeDocument/2006/relationships/image" Target="../media/image69.png"/><Relationship Id="rId16" Type="http://schemas.openxmlformats.org/officeDocument/2006/relationships/image" Target="../media/image8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3.png"/><Relationship Id="rId11" Type="http://schemas.openxmlformats.org/officeDocument/2006/relationships/image" Target="../media/image78.png"/><Relationship Id="rId5" Type="http://schemas.openxmlformats.org/officeDocument/2006/relationships/image" Target="../media/image72.png"/><Relationship Id="rId15" Type="http://schemas.openxmlformats.org/officeDocument/2006/relationships/image" Target="../media/image82.png"/><Relationship Id="rId10" Type="http://schemas.openxmlformats.org/officeDocument/2006/relationships/image" Target="../media/image77.png"/><Relationship Id="rId4" Type="http://schemas.openxmlformats.org/officeDocument/2006/relationships/image" Target="../media/image71.png"/><Relationship Id="rId9" Type="http://schemas.openxmlformats.org/officeDocument/2006/relationships/image" Target="../media/image76.png"/><Relationship Id="rId14" Type="http://schemas.openxmlformats.org/officeDocument/2006/relationships/image" Target="../media/image8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9" name="组合 58"/>
          <p:cNvGrpSpPr/>
          <p:nvPr/>
        </p:nvGrpSpPr>
        <p:grpSpPr>
          <a:xfrm>
            <a:off x="1930135" y="915640"/>
            <a:ext cx="10486390" cy="6350635"/>
            <a:chOff x="1301" y="464"/>
            <a:chExt cx="16514" cy="10001"/>
          </a:xfrm>
        </p:grpSpPr>
        <p:grpSp>
          <p:nvGrpSpPr>
            <p:cNvPr id="33" name="组合 32"/>
            <p:cNvGrpSpPr/>
            <p:nvPr/>
          </p:nvGrpSpPr>
          <p:grpSpPr>
            <a:xfrm>
              <a:off x="1301" y="1635"/>
              <a:ext cx="16514" cy="6542"/>
              <a:chOff x="0" y="1154"/>
              <a:chExt cx="19116" cy="7572"/>
            </a:xfrm>
          </p:grpSpPr>
          <p:pic>
            <p:nvPicPr>
              <p:cNvPr id="6" name="图片 5"/>
              <p:cNvPicPr/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0" y="1154"/>
                <a:ext cx="19116" cy="7538"/>
              </a:xfrm>
              <a:prstGeom prst="rect">
                <a:avLst/>
              </a:prstGeom>
            </p:spPr>
          </p:pic>
          <p:sp>
            <p:nvSpPr>
              <p:cNvPr id="7" name="矩形 6"/>
              <p:cNvSpPr/>
              <p:nvPr/>
            </p:nvSpPr>
            <p:spPr>
              <a:xfrm>
                <a:off x="161" y="1193"/>
                <a:ext cx="630" cy="7499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8" name="矩形 7"/>
              <p:cNvSpPr/>
              <p:nvPr/>
            </p:nvSpPr>
            <p:spPr>
              <a:xfrm rot="5400000">
                <a:off x="4742" y="4127"/>
                <a:ext cx="630" cy="8533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9" name="矩形 8"/>
              <p:cNvSpPr/>
              <p:nvPr/>
            </p:nvSpPr>
            <p:spPr>
              <a:xfrm>
                <a:off x="9418" y="1193"/>
                <a:ext cx="986" cy="7499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0" name="矩形 9"/>
              <p:cNvSpPr/>
              <p:nvPr/>
            </p:nvSpPr>
            <p:spPr>
              <a:xfrm rot="5400000">
                <a:off x="14022" y="3732"/>
                <a:ext cx="630" cy="9357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p:grpSp>
          <p:nvGrpSpPr>
            <p:cNvPr id="56" name="组合 55"/>
            <p:cNvGrpSpPr/>
            <p:nvPr/>
          </p:nvGrpSpPr>
          <p:grpSpPr>
            <a:xfrm>
              <a:off x="1984" y="8434"/>
              <a:ext cx="15595" cy="2031"/>
              <a:chOff x="2352" y="8858"/>
              <a:chExt cx="15488" cy="2031"/>
            </a:xfrm>
          </p:grpSpPr>
          <p:sp>
            <p:nvSpPr>
              <p:cNvPr id="32" name="文本框 31"/>
              <p:cNvSpPr txBox="1"/>
              <p:nvPr/>
            </p:nvSpPr>
            <p:spPr>
              <a:xfrm>
                <a:off x="13434" y="9840"/>
                <a:ext cx="4406" cy="5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600"/>
                  <a:t>Latin America Mean, 2016</a:t>
                </a:r>
              </a:p>
            </p:txBody>
          </p:sp>
          <p:sp>
            <p:nvSpPr>
              <p:cNvPr id="4" name="文本框 3"/>
              <p:cNvSpPr txBox="1"/>
              <p:nvPr/>
            </p:nvSpPr>
            <p:spPr>
              <a:xfrm>
                <a:off x="13434" y="8858"/>
                <a:ext cx="3146" cy="5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600"/>
                  <a:t>Latin America, 2016</a:t>
                </a:r>
              </a:p>
            </p:txBody>
          </p:sp>
          <p:sp>
            <p:nvSpPr>
              <p:cNvPr id="11" name="椭圆 10"/>
              <p:cNvSpPr/>
              <p:nvPr/>
            </p:nvSpPr>
            <p:spPr>
              <a:xfrm>
                <a:off x="13067" y="8972"/>
                <a:ext cx="255" cy="255"/>
              </a:xfrm>
              <a:prstGeom prst="ellipse">
                <a:avLst/>
              </a:prstGeom>
              <a:solidFill>
                <a:srgbClr val="1F77B4">
                  <a:alpha val="3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2" name="椭圆 11"/>
              <p:cNvSpPr/>
              <p:nvPr/>
            </p:nvSpPr>
            <p:spPr>
              <a:xfrm>
                <a:off x="13067" y="9435"/>
                <a:ext cx="255" cy="255"/>
              </a:xfrm>
              <a:prstGeom prst="ellipse">
                <a:avLst/>
              </a:prstGeom>
              <a:solidFill>
                <a:srgbClr val="1F77B4">
                  <a:alpha val="6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3" name="文本框 12"/>
              <p:cNvSpPr txBox="1"/>
              <p:nvPr/>
            </p:nvSpPr>
            <p:spPr>
              <a:xfrm>
                <a:off x="13434" y="9349"/>
                <a:ext cx="3146" cy="5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600"/>
                  <a:t>Latin America, 2023</a:t>
                </a:r>
              </a:p>
            </p:txBody>
          </p:sp>
          <p:sp>
            <p:nvSpPr>
              <p:cNvPr id="14" name="文本框 13"/>
              <p:cNvSpPr txBox="1"/>
              <p:nvPr/>
            </p:nvSpPr>
            <p:spPr>
              <a:xfrm>
                <a:off x="2848" y="8858"/>
                <a:ext cx="3205" cy="5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600"/>
                  <a:t>Africa, 2016</a:t>
                </a:r>
              </a:p>
            </p:txBody>
          </p:sp>
          <p:sp>
            <p:nvSpPr>
              <p:cNvPr id="15" name="椭圆 14"/>
              <p:cNvSpPr/>
              <p:nvPr/>
            </p:nvSpPr>
            <p:spPr>
              <a:xfrm>
                <a:off x="2465" y="8972"/>
                <a:ext cx="255" cy="255"/>
              </a:xfrm>
              <a:prstGeom prst="ellipse">
                <a:avLst/>
              </a:prstGeom>
              <a:solidFill>
                <a:srgbClr val="9467BD">
                  <a:alpha val="3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solidFill>
                    <a:srgbClr val="9467BD"/>
                  </a:solidFill>
                </a:endParaRPr>
              </a:p>
            </p:txBody>
          </p:sp>
          <p:sp>
            <p:nvSpPr>
              <p:cNvPr id="16" name="椭圆 15"/>
              <p:cNvSpPr/>
              <p:nvPr/>
            </p:nvSpPr>
            <p:spPr>
              <a:xfrm>
                <a:off x="2465" y="9435"/>
                <a:ext cx="255" cy="255"/>
              </a:xfrm>
              <a:prstGeom prst="ellipse">
                <a:avLst/>
              </a:prstGeom>
              <a:solidFill>
                <a:srgbClr val="9467BD">
                  <a:alpha val="6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" name="文本框 16"/>
              <p:cNvSpPr txBox="1"/>
              <p:nvPr/>
            </p:nvSpPr>
            <p:spPr>
              <a:xfrm>
                <a:off x="2848" y="9358"/>
                <a:ext cx="3205" cy="5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600"/>
                  <a:t>Africa, 2023</a:t>
                </a:r>
              </a:p>
            </p:txBody>
          </p:sp>
          <p:sp>
            <p:nvSpPr>
              <p:cNvPr id="18" name="文本框 17"/>
              <p:cNvSpPr txBox="1"/>
              <p:nvPr/>
            </p:nvSpPr>
            <p:spPr>
              <a:xfrm>
                <a:off x="7053" y="8858"/>
                <a:ext cx="4526" cy="5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600"/>
                  <a:t>South&amp;South-east Asia, 2016</a:t>
                </a:r>
              </a:p>
            </p:txBody>
          </p:sp>
          <p:sp>
            <p:nvSpPr>
              <p:cNvPr id="19" name="椭圆 18"/>
              <p:cNvSpPr/>
              <p:nvPr/>
            </p:nvSpPr>
            <p:spPr>
              <a:xfrm>
                <a:off x="6647" y="8972"/>
                <a:ext cx="255" cy="255"/>
              </a:xfrm>
              <a:prstGeom prst="ellipse">
                <a:avLst/>
              </a:prstGeom>
              <a:solidFill>
                <a:srgbClr val="2CA02C">
                  <a:alpha val="3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0" name="椭圆 19"/>
              <p:cNvSpPr/>
              <p:nvPr/>
            </p:nvSpPr>
            <p:spPr>
              <a:xfrm>
                <a:off x="6647" y="9435"/>
                <a:ext cx="255" cy="255"/>
              </a:xfrm>
              <a:prstGeom prst="ellipse">
                <a:avLst/>
              </a:prstGeom>
              <a:solidFill>
                <a:srgbClr val="2CA02C">
                  <a:alpha val="6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1" name="文本框 20"/>
              <p:cNvSpPr txBox="1"/>
              <p:nvPr/>
            </p:nvSpPr>
            <p:spPr>
              <a:xfrm>
                <a:off x="7053" y="9345"/>
                <a:ext cx="4526" cy="5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600">
                    <a:sym typeface="+mn-ea"/>
                  </a:rPr>
                  <a:t>South&amp;South-east Asia, 2023</a:t>
                </a:r>
                <a:endParaRPr lang="en-US" altLang="zh-CN" sz="1600"/>
              </a:p>
            </p:txBody>
          </p:sp>
          <p:sp>
            <p:nvSpPr>
              <p:cNvPr id="22" name="乘号 21"/>
              <p:cNvSpPr/>
              <p:nvPr/>
            </p:nvSpPr>
            <p:spPr>
              <a:xfrm>
                <a:off x="2352" y="9845"/>
                <a:ext cx="480" cy="480"/>
              </a:xfrm>
              <a:prstGeom prst="mathMultiply">
                <a:avLst/>
              </a:prstGeom>
              <a:solidFill>
                <a:srgbClr val="9467BD">
                  <a:alpha val="80000"/>
                </a:srgb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solidFill>
                    <a:srgbClr val="A985CA"/>
                  </a:solidFill>
                </a:endParaRPr>
              </a:p>
            </p:txBody>
          </p:sp>
          <p:sp>
            <p:nvSpPr>
              <p:cNvPr id="23" name="文本框 22"/>
              <p:cNvSpPr txBox="1"/>
              <p:nvPr/>
            </p:nvSpPr>
            <p:spPr>
              <a:xfrm>
                <a:off x="2848" y="9858"/>
                <a:ext cx="3205" cy="5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600"/>
                  <a:t>Africa Mean, 2016</a:t>
                </a:r>
              </a:p>
            </p:txBody>
          </p:sp>
          <p:sp>
            <p:nvSpPr>
              <p:cNvPr id="24" name="乘号 23"/>
              <p:cNvSpPr/>
              <p:nvPr/>
            </p:nvSpPr>
            <p:spPr>
              <a:xfrm>
                <a:off x="2352" y="10359"/>
                <a:ext cx="480" cy="480"/>
              </a:xfrm>
              <a:prstGeom prst="mathMultiply">
                <a:avLst/>
              </a:prstGeom>
              <a:solidFill>
                <a:srgbClr val="9467BD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solidFill>
                    <a:srgbClr val="A985CA"/>
                  </a:solidFill>
                </a:endParaRPr>
              </a:p>
            </p:txBody>
          </p:sp>
          <p:sp>
            <p:nvSpPr>
              <p:cNvPr id="25" name="文本框 24"/>
              <p:cNvSpPr txBox="1"/>
              <p:nvPr/>
            </p:nvSpPr>
            <p:spPr>
              <a:xfrm>
                <a:off x="2848" y="10358"/>
                <a:ext cx="3205" cy="5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600"/>
                  <a:t>Africa Mean, 2023</a:t>
                </a:r>
              </a:p>
            </p:txBody>
          </p:sp>
          <p:sp>
            <p:nvSpPr>
              <p:cNvPr id="26" name="乘号 25"/>
              <p:cNvSpPr/>
              <p:nvPr/>
            </p:nvSpPr>
            <p:spPr>
              <a:xfrm>
                <a:off x="6534" y="9845"/>
                <a:ext cx="480" cy="480"/>
              </a:xfrm>
              <a:prstGeom prst="mathMultiply">
                <a:avLst/>
              </a:prstGeom>
              <a:solidFill>
                <a:srgbClr val="2CA02C">
                  <a:alpha val="80000"/>
                </a:srgb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solidFill>
                    <a:srgbClr val="A985CA"/>
                  </a:solidFill>
                </a:endParaRPr>
              </a:p>
            </p:txBody>
          </p:sp>
          <p:sp>
            <p:nvSpPr>
              <p:cNvPr id="27" name="文本框 26"/>
              <p:cNvSpPr txBox="1"/>
              <p:nvPr/>
            </p:nvSpPr>
            <p:spPr>
              <a:xfrm>
                <a:off x="7053" y="9832"/>
                <a:ext cx="5582" cy="5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600">
                    <a:sym typeface="+mn-ea"/>
                  </a:rPr>
                  <a:t>South&amp;South-east Asia Mean, 2016</a:t>
                </a:r>
                <a:endParaRPr lang="zh-CN" altLang="en-US" sz="1600">
                  <a:ea typeface="宋体" panose="02010600030101010101" pitchFamily="2" charset="-122"/>
                  <a:sym typeface="+mn-ea"/>
                </a:endParaRPr>
              </a:p>
            </p:txBody>
          </p:sp>
          <p:sp>
            <p:nvSpPr>
              <p:cNvPr id="28" name="乘号 27"/>
              <p:cNvSpPr/>
              <p:nvPr/>
            </p:nvSpPr>
            <p:spPr>
              <a:xfrm>
                <a:off x="6534" y="10359"/>
                <a:ext cx="480" cy="480"/>
              </a:xfrm>
              <a:prstGeom prst="mathMultiply">
                <a:avLst/>
              </a:prstGeom>
              <a:solidFill>
                <a:srgbClr val="2CA02C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solidFill>
                    <a:srgbClr val="A985CA"/>
                  </a:solidFill>
                </a:endParaRPr>
              </a:p>
            </p:txBody>
          </p:sp>
          <p:sp>
            <p:nvSpPr>
              <p:cNvPr id="29" name="文本框 28"/>
              <p:cNvSpPr txBox="1"/>
              <p:nvPr/>
            </p:nvSpPr>
            <p:spPr>
              <a:xfrm>
                <a:off x="7053" y="10319"/>
                <a:ext cx="5581" cy="5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600">
                    <a:sym typeface="+mn-ea"/>
                  </a:rPr>
                  <a:t>South&amp;South-east Asia Mean, 2023</a:t>
                </a:r>
                <a:endParaRPr lang="en-US" altLang="zh-CN" sz="1600"/>
              </a:p>
            </p:txBody>
          </p:sp>
          <p:sp>
            <p:nvSpPr>
              <p:cNvPr id="31" name="乘号 30"/>
              <p:cNvSpPr/>
              <p:nvPr/>
            </p:nvSpPr>
            <p:spPr>
              <a:xfrm>
                <a:off x="12954" y="9845"/>
                <a:ext cx="480" cy="480"/>
              </a:xfrm>
              <a:prstGeom prst="mathMultiply">
                <a:avLst/>
              </a:prstGeom>
              <a:solidFill>
                <a:srgbClr val="1F77B4">
                  <a:alpha val="80000"/>
                </a:srgb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solidFill>
                    <a:srgbClr val="A985CA"/>
                  </a:solidFill>
                </a:endParaRPr>
              </a:p>
            </p:txBody>
          </p:sp>
          <p:sp>
            <p:nvSpPr>
              <p:cNvPr id="34" name="乘号 33"/>
              <p:cNvSpPr/>
              <p:nvPr/>
            </p:nvSpPr>
            <p:spPr>
              <a:xfrm>
                <a:off x="12954" y="10359"/>
                <a:ext cx="480" cy="480"/>
              </a:xfrm>
              <a:prstGeom prst="mathMultiply">
                <a:avLst/>
              </a:prstGeom>
              <a:solidFill>
                <a:srgbClr val="1F77B4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solidFill>
                    <a:srgbClr val="A985CA"/>
                  </a:solidFill>
                </a:endParaRPr>
              </a:p>
            </p:txBody>
          </p:sp>
          <p:sp>
            <p:nvSpPr>
              <p:cNvPr id="35" name="文本框 34"/>
              <p:cNvSpPr txBox="1"/>
              <p:nvPr/>
            </p:nvSpPr>
            <p:spPr>
              <a:xfrm>
                <a:off x="13434" y="10331"/>
                <a:ext cx="4228" cy="5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600"/>
                  <a:t>Latin America Mean, 2023</a:t>
                </a: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" name="文本框 35"/>
                <p:cNvSpPr txBox="1"/>
                <p:nvPr/>
              </p:nvSpPr>
              <p:spPr>
                <a:xfrm>
                  <a:off x="1974" y="464"/>
                  <a:ext cx="7243" cy="130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altLang="zh-CN" sz="2400">
                      <a:latin typeface="Arial" panose="020B0604020202020204" pitchFamily="34" charset="0"/>
                      <a:cs typeface="Arial" panose="020B0604020202020204" pitchFamily="34" charset="0"/>
                    </a:rPr>
                    <a:t>Structural Zero Params</a:t>
                  </a:r>
                </a:p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𝜑</m:t>
                        </m:r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𝑟</m:t>
                        </m:r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)=</m:t>
                        </m:r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𝑙𝑜𝑔𝑖𝑠𝑡𝑖𝑐</m:t>
                        </m:r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𝛼</m:t>
                        </m:r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+</m:t>
                        </m:r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𝛽</m:t>
                        </m:r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𝑟</m:t>
                        </m:r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)</m:t>
                        </m:r>
                      </m:oMath>
                    </m:oMathPara>
                  </a14:m>
                  <a:endParaRPr lang="en-US" altLang="zh-CN" sz="2400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</mc:Choice>
          <mc:Fallback xmlns="">
            <p:sp>
              <p:nvSpPr>
                <p:cNvPr id="36" name="文本框 35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974" y="464"/>
                  <a:ext cx="7243" cy="1307"/>
                </a:xfrm>
                <a:prstGeom prst="rect">
                  <a:avLst/>
                </a:prstGeom>
                <a:blipFill rotWithShape="1">
                  <a:blip r:embed="rId3"/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7" name="文本框 36"/>
            <p:cNvSpPr txBox="1"/>
            <p:nvPr/>
          </p:nvSpPr>
          <p:spPr>
            <a:xfrm>
              <a:off x="5263" y="7644"/>
              <a:ext cx="885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r>
                <a:rPr lang="en-US" altLang="zh-CN"/>
                <a:t>50%</a:t>
              </a:r>
            </a:p>
          </p:txBody>
        </p:sp>
        <p:sp>
          <p:nvSpPr>
            <p:cNvPr id="38" name="文本框 37"/>
            <p:cNvSpPr txBox="1"/>
            <p:nvPr/>
          </p:nvSpPr>
          <p:spPr>
            <a:xfrm>
              <a:off x="8394" y="7617"/>
              <a:ext cx="1043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r>
                <a:rPr lang="en-US" altLang="zh-CN"/>
                <a:t>100%</a:t>
              </a:r>
            </a:p>
          </p:txBody>
        </p:sp>
        <p:sp>
          <p:nvSpPr>
            <p:cNvPr id="39" name="文本框 38"/>
            <p:cNvSpPr txBox="1"/>
            <p:nvPr/>
          </p:nvSpPr>
          <p:spPr>
            <a:xfrm>
              <a:off x="1706" y="7601"/>
              <a:ext cx="252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/>
                <a:t>0</a:t>
              </a:r>
            </a:p>
          </p:txBody>
        </p:sp>
        <p:sp>
          <p:nvSpPr>
            <p:cNvPr id="40" name="文本框 39"/>
            <p:cNvSpPr txBox="1"/>
            <p:nvPr/>
          </p:nvSpPr>
          <p:spPr>
            <a:xfrm>
              <a:off x="1424" y="1653"/>
              <a:ext cx="543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/>
                <a:t>0.6</a:t>
              </a:r>
            </a:p>
          </p:txBody>
        </p:sp>
        <p:sp>
          <p:nvSpPr>
            <p:cNvPr id="41" name="文本框 40"/>
            <p:cNvSpPr txBox="1"/>
            <p:nvPr/>
          </p:nvSpPr>
          <p:spPr>
            <a:xfrm>
              <a:off x="1415" y="4843"/>
              <a:ext cx="543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/>
                <a:t>0.3</a:t>
              </a:r>
            </a:p>
          </p:txBody>
        </p:sp>
        <p:sp>
          <p:nvSpPr>
            <p:cNvPr id="42" name="文本框 41"/>
            <p:cNvSpPr txBox="1"/>
            <p:nvPr/>
          </p:nvSpPr>
          <p:spPr>
            <a:xfrm>
              <a:off x="1441" y="1267"/>
              <a:ext cx="543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2000" i="1">
                  <a:latin typeface="Arial" panose="020B0604020202020204" pitchFamily="34" charset="0"/>
                  <a:cs typeface="Arial" panose="020B0604020202020204" pitchFamily="34" charset="0"/>
                </a:rPr>
                <a:t>β</a:t>
              </a:r>
            </a:p>
          </p:txBody>
        </p:sp>
        <p:sp>
          <p:nvSpPr>
            <p:cNvPr id="43" name="文本框 42"/>
            <p:cNvSpPr txBox="1"/>
            <p:nvPr/>
          </p:nvSpPr>
          <p:spPr>
            <a:xfrm>
              <a:off x="6173" y="7985"/>
              <a:ext cx="3182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2000" i="1">
                  <a:latin typeface="Arial" panose="020B0604020202020204" pitchFamily="34" charset="0"/>
                  <a:cs typeface="Arial" panose="020B0604020202020204" pitchFamily="34" charset="0"/>
                </a:rPr>
                <a:t>probability(α)</a:t>
              </a:r>
            </a:p>
          </p:txBody>
        </p:sp>
        <p:sp>
          <p:nvSpPr>
            <p:cNvPr id="46" name="文本框 45"/>
            <p:cNvSpPr txBox="1"/>
            <p:nvPr/>
          </p:nvSpPr>
          <p:spPr>
            <a:xfrm>
              <a:off x="16838" y="7632"/>
              <a:ext cx="743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r>
                <a:rPr lang="en-US" altLang="zh-CN"/>
                <a:t>70%</a:t>
              </a:r>
            </a:p>
          </p:txBody>
        </p:sp>
        <p:sp>
          <p:nvSpPr>
            <p:cNvPr id="47" name="文本框 46"/>
            <p:cNvSpPr txBox="1"/>
            <p:nvPr/>
          </p:nvSpPr>
          <p:spPr>
            <a:xfrm>
              <a:off x="10288" y="7670"/>
              <a:ext cx="871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r>
                <a:rPr lang="en-US" altLang="zh-CN"/>
                <a:t>20%</a:t>
              </a:r>
            </a:p>
          </p:txBody>
        </p:sp>
        <p:sp>
          <p:nvSpPr>
            <p:cNvPr id="48" name="文本框 47"/>
            <p:cNvSpPr txBox="1"/>
            <p:nvPr/>
          </p:nvSpPr>
          <p:spPr>
            <a:xfrm>
              <a:off x="9666" y="2267"/>
              <a:ext cx="543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/>
                <a:t>0</a:t>
              </a:r>
            </a:p>
          </p:txBody>
        </p:sp>
        <p:sp>
          <p:nvSpPr>
            <p:cNvPr id="49" name="文本框 48"/>
            <p:cNvSpPr txBox="1"/>
            <p:nvPr/>
          </p:nvSpPr>
          <p:spPr>
            <a:xfrm>
              <a:off x="9483" y="4691"/>
              <a:ext cx="773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/>
                <a:t>-0.2</a:t>
              </a:r>
            </a:p>
          </p:txBody>
        </p:sp>
        <p:sp>
          <p:nvSpPr>
            <p:cNvPr id="50" name="文本框 49"/>
            <p:cNvSpPr txBox="1"/>
            <p:nvPr/>
          </p:nvSpPr>
          <p:spPr>
            <a:xfrm>
              <a:off x="9746" y="1403"/>
              <a:ext cx="543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2000" i="1">
                  <a:latin typeface="Arial" panose="020B0604020202020204" pitchFamily="34" charset="0"/>
                  <a:cs typeface="Arial" panose="020B0604020202020204" pitchFamily="34" charset="0"/>
                </a:rPr>
                <a:t>δ</a:t>
              </a:r>
            </a:p>
          </p:txBody>
        </p:sp>
        <p:sp>
          <p:nvSpPr>
            <p:cNvPr id="51" name="文本框 50"/>
            <p:cNvSpPr txBox="1"/>
            <p:nvPr/>
          </p:nvSpPr>
          <p:spPr>
            <a:xfrm>
              <a:off x="14398" y="7985"/>
              <a:ext cx="3182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2000" i="1">
                  <a:latin typeface="Arial" panose="020B0604020202020204" pitchFamily="34" charset="0"/>
                  <a:cs typeface="Arial" panose="020B0604020202020204" pitchFamily="34" charset="0"/>
                </a:rPr>
                <a:t>probability(κ)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" name="文本框 51"/>
                <p:cNvSpPr txBox="1"/>
                <p:nvPr/>
              </p:nvSpPr>
              <p:spPr>
                <a:xfrm>
                  <a:off x="10288" y="464"/>
                  <a:ext cx="7293" cy="130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altLang="zh-CN" sz="2400">
                      <a:latin typeface="Arial" panose="020B0604020202020204" pitchFamily="34" charset="0"/>
                      <a:cs typeface="Arial" panose="020B0604020202020204" pitchFamily="34" charset="0"/>
                    </a:rPr>
                    <a:t>Actual Construction Params</a:t>
                  </a:r>
                </a:p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𝜋</m:t>
                        </m:r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𝑟</m:t>
                        </m:r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)=</m:t>
                        </m:r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𝑙𝑜𝑔𝑖𝑠𝑡𝑖𝑐</m:t>
                        </m:r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𝜅</m:t>
                        </m:r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+</m:t>
                        </m:r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𝛿</m:t>
                        </m:r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𝑟</m:t>
                        </m:r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)</m:t>
                        </m:r>
                      </m:oMath>
                    </m:oMathPara>
                  </a14:m>
                  <a:endParaRPr lang="en-US" altLang="zh-CN" sz="2400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</mc:Choice>
          <mc:Fallback xmlns="">
            <p:sp>
              <p:nvSpPr>
                <p:cNvPr id="52" name="文本框 5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288" y="464"/>
                  <a:ext cx="7293" cy="1307"/>
                </a:xfrm>
                <a:prstGeom prst="rect">
                  <a:avLst/>
                </a:prstGeom>
                <a:blipFill rotWithShape="1">
                  <a:blip r:embed="rId4"/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3" name="文本框 52"/>
            <p:cNvSpPr txBox="1"/>
            <p:nvPr/>
          </p:nvSpPr>
          <p:spPr>
            <a:xfrm>
              <a:off x="14149" y="7644"/>
              <a:ext cx="885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r>
                <a:rPr lang="en-US" altLang="zh-CN"/>
                <a:t>50%</a:t>
              </a:r>
            </a:p>
          </p:txBody>
        </p:sp>
        <p:sp>
          <p:nvSpPr>
            <p:cNvPr id="55" name="文本框 54"/>
            <p:cNvSpPr txBox="1"/>
            <p:nvPr/>
          </p:nvSpPr>
          <p:spPr>
            <a:xfrm>
              <a:off x="9436" y="7076"/>
              <a:ext cx="763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/>
                <a:t>-0.4</a:t>
              </a:r>
            </a:p>
          </p:txBody>
        </p:sp>
        <p:sp>
          <p:nvSpPr>
            <p:cNvPr id="57" name="文本框 56"/>
            <p:cNvSpPr txBox="1"/>
            <p:nvPr/>
          </p:nvSpPr>
          <p:spPr>
            <a:xfrm>
              <a:off x="6781" y="4616"/>
              <a:ext cx="2574" cy="5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160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mean </a:t>
              </a:r>
              <a:r>
                <a:rPr lang="en-US" altLang="zh-CN" sz="160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β = 0.3</a:t>
              </a:r>
            </a:p>
          </p:txBody>
        </p:sp>
        <p:sp>
          <p:nvSpPr>
            <p:cNvPr id="58" name="文本框 57"/>
            <p:cNvSpPr txBox="1"/>
            <p:nvPr/>
          </p:nvSpPr>
          <p:spPr>
            <a:xfrm>
              <a:off x="10380" y="3475"/>
              <a:ext cx="2574" cy="5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160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mean </a:t>
              </a:r>
              <a:r>
                <a:rPr lang="en-US" altLang="zh-CN" sz="160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δ = -0.09</a:t>
              </a:r>
            </a:p>
          </p:txBody>
        </p:sp>
      </p:grpSp>
    </p:spTree>
  </p:cSld>
  <p:clrMapOvr>
    <a:masterClrMapping/>
  </p:clrMapOvr>
  <p:transition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组合 4"/>
          <p:cNvGrpSpPr/>
          <p:nvPr/>
        </p:nvGrpSpPr>
        <p:grpSpPr>
          <a:xfrm>
            <a:off x="1950720" y="693420"/>
            <a:ext cx="10474960" cy="6572885"/>
            <a:chOff x="1333" y="114"/>
            <a:chExt cx="16496" cy="10351"/>
          </a:xfrm>
        </p:grpSpPr>
        <p:grpSp>
          <p:nvGrpSpPr>
            <p:cNvPr id="30" name="组合 29"/>
            <p:cNvGrpSpPr/>
            <p:nvPr/>
          </p:nvGrpSpPr>
          <p:grpSpPr>
            <a:xfrm>
              <a:off x="1333" y="114"/>
              <a:ext cx="16496" cy="10351"/>
              <a:chOff x="1333" y="114"/>
              <a:chExt cx="16496" cy="10351"/>
            </a:xfrm>
          </p:grpSpPr>
          <p:pic>
            <p:nvPicPr>
              <p:cNvPr id="3" name="图片 2"/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333" y="1508"/>
                <a:ext cx="16496" cy="6670"/>
              </a:xfrm>
              <a:prstGeom prst="rect">
                <a:avLst/>
              </a:prstGeom>
            </p:spPr>
          </p:pic>
          <p:grpSp>
            <p:nvGrpSpPr>
              <p:cNvPr id="33" name="组合 32"/>
              <p:cNvGrpSpPr/>
              <p:nvPr/>
            </p:nvGrpSpPr>
            <p:grpSpPr>
              <a:xfrm>
                <a:off x="1440" y="1669"/>
                <a:ext cx="16289" cy="6551"/>
                <a:chOff x="161" y="1193"/>
                <a:chExt cx="18855" cy="7582"/>
              </a:xfrm>
            </p:grpSpPr>
            <p:sp>
              <p:nvSpPr>
                <p:cNvPr id="7" name="矩形 6"/>
                <p:cNvSpPr/>
                <p:nvPr/>
              </p:nvSpPr>
              <p:spPr>
                <a:xfrm>
                  <a:off x="161" y="1193"/>
                  <a:ext cx="630" cy="7499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8" name="矩形 7"/>
                <p:cNvSpPr/>
                <p:nvPr/>
              </p:nvSpPr>
              <p:spPr>
                <a:xfrm rot="5400000">
                  <a:off x="4742" y="4193"/>
                  <a:ext cx="630" cy="8533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9" name="矩形 8"/>
                <p:cNvSpPr/>
                <p:nvPr/>
              </p:nvSpPr>
              <p:spPr>
                <a:xfrm>
                  <a:off x="9418" y="1193"/>
                  <a:ext cx="986" cy="7499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10" name="矩形 9"/>
                <p:cNvSpPr/>
                <p:nvPr/>
              </p:nvSpPr>
              <p:spPr>
                <a:xfrm rot="5400000">
                  <a:off x="14022" y="3732"/>
                  <a:ext cx="630" cy="9357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</p:grpSp>
          <p:grpSp>
            <p:nvGrpSpPr>
              <p:cNvPr id="56" name="组合 55"/>
              <p:cNvGrpSpPr/>
              <p:nvPr/>
            </p:nvGrpSpPr>
            <p:grpSpPr>
              <a:xfrm>
                <a:off x="1984" y="8434"/>
                <a:ext cx="15595" cy="2031"/>
                <a:chOff x="2352" y="8858"/>
                <a:chExt cx="15488" cy="2031"/>
              </a:xfrm>
            </p:grpSpPr>
            <p:sp>
              <p:nvSpPr>
                <p:cNvPr id="32" name="文本框 31"/>
                <p:cNvSpPr txBox="1"/>
                <p:nvPr/>
              </p:nvSpPr>
              <p:spPr>
                <a:xfrm>
                  <a:off x="13434" y="9840"/>
                  <a:ext cx="4406" cy="53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1600"/>
                    <a:t>Latin America Mean, 2016</a:t>
                  </a:r>
                </a:p>
              </p:txBody>
            </p:sp>
            <p:sp>
              <p:nvSpPr>
                <p:cNvPr id="4" name="文本框 3"/>
                <p:cNvSpPr txBox="1"/>
                <p:nvPr/>
              </p:nvSpPr>
              <p:spPr>
                <a:xfrm>
                  <a:off x="13434" y="8858"/>
                  <a:ext cx="3146" cy="53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1600"/>
                    <a:t>Latin America, 2016</a:t>
                  </a:r>
                </a:p>
              </p:txBody>
            </p:sp>
            <p:sp>
              <p:nvSpPr>
                <p:cNvPr id="11" name="椭圆 10"/>
                <p:cNvSpPr/>
                <p:nvPr/>
              </p:nvSpPr>
              <p:spPr>
                <a:xfrm>
                  <a:off x="13067" y="8972"/>
                  <a:ext cx="255" cy="255"/>
                </a:xfrm>
                <a:prstGeom prst="ellipse">
                  <a:avLst/>
                </a:prstGeom>
                <a:solidFill>
                  <a:srgbClr val="47A2DE">
                    <a:alpha val="30000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12" name="椭圆 11"/>
                <p:cNvSpPr/>
                <p:nvPr/>
              </p:nvSpPr>
              <p:spPr>
                <a:xfrm>
                  <a:off x="13067" y="9435"/>
                  <a:ext cx="255" cy="255"/>
                </a:xfrm>
                <a:prstGeom prst="ellipse">
                  <a:avLst/>
                </a:prstGeom>
                <a:solidFill>
                  <a:srgbClr val="47A2DE">
                    <a:alpha val="60000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13" name="文本框 12"/>
                <p:cNvSpPr txBox="1"/>
                <p:nvPr/>
              </p:nvSpPr>
              <p:spPr>
                <a:xfrm>
                  <a:off x="13434" y="9349"/>
                  <a:ext cx="3146" cy="53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1600"/>
                    <a:t>Latin America, 2023</a:t>
                  </a:r>
                </a:p>
              </p:txBody>
            </p:sp>
            <p:sp>
              <p:nvSpPr>
                <p:cNvPr id="14" name="文本框 13"/>
                <p:cNvSpPr txBox="1"/>
                <p:nvPr/>
              </p:nvSpPr>
              <p:spPr>
                <a:xfrm>
                  <a:off x="2848" y="8858"/>
                  <a:ext cx="3205" cy="53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1600"/>
                    <a:t>Africa, 2016</a:t>
                  </a:r>
                </a:p>
              </p:txBody>
            </p:sp>
            <p:sp>
              <p:nvSpPr>
                <p:cNvPr id="15" name="椭圆 14"/>
                <p:cNvSpPr/>
                <p:nvPr/>
              </p:nvSpPr>
              <p:spPr>
                <a:xfrm>
                  <a:off x="2465" y="8972"/>
                  <a:ext cx="255" cy="255"/>
                </a:xfrm>
                <a:prstGeom prst="ellipse">
                  <a:avLst/>
                </a:prstGeom>
                <a:solidFill>
                  <a:srgbClr val="E85748">
                    <a:alpha val="30000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>
                    <a:solidFill>
                      <a:srgbClr val="9467BD"/>
                    </a:solidFill>
                  </a:endParaRPr>
                </a:p>
              </p:txBody>
            </p:sp>
            <p:sp>
              <p:nvSpPr>
                <p:cNvPr id="16" name="椭圆 15"/>
                <p:cNvSpPr/>
                <p:nvPr/>
              </p:nvSpPr>
              <p:spPr>
                <a:xfrm>
                  <a:off x="2465" y="9435"/>
                  <a:ext cx="255" cy="255"/>
                </a:xfrm>
                <a:prstGeom prst="ellipse">
                  <a:avLst/>
                </a:prstGeom>
                <a:solidFill>
                  <a:srgbClr val="E85748">
                    <a:alpha val="60000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17" name="文本框 16"/>
                <p:cNvSpPr txBox="1"/>
                <p:nvPr/>
              </p:nvSpPr>
              <p:spPr>
                <a:xfrm>
                  <a:off x="2848" y="9358"/>
                  <a:ext cx="3205" cy="53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1600"/>
                    <a:t>Africa, 2023</a:t>
                  </a:r>
                </a:p>
              </p:txBody>
            </p:sp>
            <p:sp>
              <p:nvSpPr>
                <p:cNvPr id="18" name="文本框 17"/>
                <p:cNvSpPr txBox="1"/>
                <p:nvPr/>
              </p:nvSpPr>
              <p:spPr>
                <a:xfrm>
                  <a:off x="7053" y="8858"/>
                  <a:ext cx="4526" cy="53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1600"/>
                    <a:t>South&amp;South-east Asia, 2016</a:t>
                  </a:r>
                </a:p>
              </p:txBody>
            </p:sp>
            <p:sp>
              <p:nvSpPr>
                <p:cNvPr id="19" name="椭圆 18"/>
                <p:cNvSpPr/>
                <p:nvPr/>
              </p:nvSpPr>
              <p:spPr>
                <a:xfrm>
                  <a:off x="6647" y="8972"/>
                  <a:ext cx="255" cy="255"/>
                </a:xfrm>
                <a:prstGeom prst="ellipse">
                  <a:avLst/>
                </a:prstGeom>
                <a:solidFill>
                  <a:srgbClr val="F39F1B">
                    <a:alpha val="30000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20" name="椭圆 19"/>
                <p:cNvSpPr/>
                <p:nvPr/>
              </p:nvSpPr>
              <p:spPr>
                <a:xfrm>
                  <a:off x="6647" y="9435"/>
                  <a:ext cx="255" cy="255"/>
                </a:xfrm>
                <a:prstGeom prst="ellipse">
                  <a:avLst/>
                </a:prstGeom>
                <a:solidFill>
                  <a:srgbClr val="F39F1B">
                    <a:alpha val="60000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21" name="文本框 20"/>
                <p:cNvSpPr txBox="1"/>
                <p:nvPr/>
              </p:nvSpPr>
              <p:spPr>
                <a:xfrm>
                  <a:off x="7053" y="9345"/>
                  <a:ext cx="4526" cy="53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1600">
                      <a:sym typeface="+mn-ea"/>
                    </a:rPr>
                    <a:t>South&amp;South-east Asia, 2023</a:t>
                  </a:r>
                  <a:endParaRPr lang="en-US" altLang="zh-CN" sz="1600"/>
                </a:p>
              </p:txBody>
            </p:sp>
            <p:sp>
              <p:nvSpPr>
                <p:cNvPr id="22" name="乘号 21"/>
                <p:cNvSpPr/>
                <p:nvPr/>
              </p:nvSpPr>
              <p:spPr>
                <a:xfrm>
                  <a:off x="2352" y="9845"/>
                  <a:ext cx="480" cy="480"/>
                </a:xfrm>
                <a:prstGeom prst="mathMultiply">
                  <a:avLst/>
                </a:prstGeom>
                <a:solidFill>
                  <a:srgbClr val="E85748">
                    <a:alpha val="80000"/>
                  </a:srgbClr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>
                    <a:solidFill>
                      <a:srgbClr val="A985CA"/>
                    </a:solidFill>
                  </a:endParaRPr>
                </a:p>
              </p:txBody>
            </p:sp>
            <p:sp>
              <p:nvSpPr>
                <p:cNvPr id="23" name="文本框 22"/>
                <p:cNvSpPr txBox="1"/>
                <p:nvPr/>
              </p:nvSpPr>
              <p:spPr>
                <a:xfrm>
                  <a:off x="2848" y="9858"/>
                  <a:ext cx="3205" cy="53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1600"/>
                    <a:t>Africa Mean, 2016</a:t>
                  </a:r>
                </a:p>
              </p:txBody>
            </p:sp>
            <p:sp>
              <p:nvSpPr>
                <p:cNvPr id="24" name="乘号 23"/>
                <p:cNvSpPr/>
                <p:nvPr/>
              </p:nvSpPr>
              <p:spPr>
                <a:xfrm>
                  <a:off x="2352" y="10359"/>
                  <a:ext cx="480" cy="480"/>
                </a:xfrm>
                <a:prstGeom prst="mathMultiply">
                  <a:avLst/>
                </a:prstGeom>
                <a:solidFill>
                  <a:srgbClr val="E85748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>
                    <a:solidFill>
                      <a:srgbClr val="A985CA"/>
                    </a:solidFill>
                  </a:endParaRPr>
                </a:p>
              </p:txBody>
            </p:sp>
            <p:sp>
              <p:nvSpPr>
                <p:cNvPr id="25" name="文本框 24"/>
                <p:cNvSpPr txBox="1"/>
                <p:nvPr/>
              </p:nvSpPr>
              <p:spPr>
                <a:xfrm>
                  <a:off x="2848" y="10358"/>
                  <a:ext cx="3205" cy="53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1600"/>
                    <a:t>Africa Mean, 2023</a:t>
                  </a:r>
                </a:p>
              </p:txBody>
            </p:sp>
            <p:sp>
              <p:nvSpPr>
                <p:cNvPr id="26" name="乘号 25"/>
                <p:cNvSpPr/>
                <p:nvPr/>
              </p:nvSpPr>
              <p:spPr>
                <a:xfrm>
                  <a:off x="6534" y="9845"/>
                  <a:ext cx="480" cy="480"/>
                </a:xfrm>
                <a:prstGeom prst="mathMultiply">
                  <a:avLst/>
                </a:prstGeom>
                <a:solidFill>
                  <a:srgbClr val="F39F1B">
                    <a:alpha val="80000"/>
                  </a:srgbClr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>
                    <a:solidFill>
                      <a:srgbClr val="A985CA"/>
                    </a:solidFill>
                  </a:endParaRPr>
                </a:p>
              </p:txBody>
            </p:sp>
            <p:sp>
              <p:nvSpPr>
                <p:cNvPr id="27" name="文本框 26"/>
                <p:cNvSpPr txBox="1"/>
                <p:nvPr/>
              </p:nvSpPr>
              <p:spPr>
                <a:xfrm>
                  <a:off x="7053" y="9832"/>
                  <a:ext cx="5582" cy="53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1600">
                      <a:sym typeface="+mn-ea"/>
                    </a:rPr>
                    <a:t>South&amp;South-east Asia Mean, 2016</a:t>
                  </a:r>
                  <a:endParaRPr lang="zh-CN" altLang="en-US" sz="1600">
                    <a:ea typeface="宋体" panose="02010600030101010101" pitchFamily="2" charset="-122"/>
                    <a:sym typeface="+mn-ea"/>
                  </a:endParaRPr>
                </a:p>
              </p:txBody>
            </p:sp>
            <p:sp>
              <p:nvSpPr>
                <p:cNvPr id="28" name="乘号 27"/>
                <p:cNvSpPr/>
                <p:nvPr/>
              </p:nvSpPr>
              <p:spPr>
                <a:xfrm>
                  <a:off x="6534" y="10359"/>
                  <a:ext cx="480" cy="480"/>
                </a:xfrm>
                <a:prstGeom prst="mathMultiply">
                  <a:avLst/>
                </a:prstGeom>
                <a:solidFill>
                  <a:srgbClr val="F39F1B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>
                    <a:solidFill>
                      <a:srgbClr val="A985CA"/>
                    </a:solidFill>
                  </a:endParaRPr>
                </a:p>
              </p:txBody>
            </p:sp>
            <p:sp>
              <p:nvSpPr>
                <p:cNvPr id="29" name="文本框 28"/>
                <p:cNvSpPr txBox="1"/>
                <p:nvPr/>
              </p:nvSpPr>
              <p:spPr>
                <a:xfrm>
                  <a:off x="7053" y="10319"/>
                  <a:ext cx="5581" cy="53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1600">
                      <a:sym typeface="+mn-ea"/>
                    </a:rPr>
                    <a:t>South&amp;South-east Asia Mean, 2023</a:t>
                  </a:r>
                  <a:endParaRPr lang="en-US" altLang="zh-CN" sz="1600"/>
                </a:p>
              </p:txBody>
            </p:sp>
            <p:sp>
              <p:nvSpPr>
                <p:cNvPr id="31" name="乘号 30"/>
                <p:cNvSpPr/>
                <p:nvPr/>
              </p:nvSpPr>
              <p:spPr>
                <a:xfrm>
                  <a:off x="12954" y="9845"/>
                  <a:ext cx="480" cy="480"/>
                </a:xfrm>
                <a:prstGeom prst="mathMultiply">
                  <a:avLst/>
                </a:prstGeom>
                <a:solidFill>
                  <a:srgbClr val="47A2DE">
                    <a:alpha val="80000"/>
                  </a:srgbClr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>
                    <a:solidFill>
                      <a:srgbClr val="A985CA"/>
                    </a:solidFill>
                  </a:endParaRPr>
                </a:p>
              </p:txBody>
            </p:sp>
            <p:sp>
              <p:nvSpPr>
                <p:cNvPr id="34" name="乘号 33"/>
                <p:cNvSpPr/>
                <p:nvPr/>
              </p:nvSpPr>
              <p:spPr>
                <a:xfrm>
                  <a:off x="12954" y="10359"/>
                  <a:ext cx="480" cy="480"/>
                </a:xfrm>
                <a:prstGeom prst="mathMultiply">
                  <a:avLst/>
                </a:prstGeom>
                <a:solidFill>
                  <a:srgbClr val="47A2DE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>
                    <a:solidFill>
                      <a:srgbClr val="A985CA"/>
                    </a:solidFill>
                  </a:endParaRPr>
                </a:p>
              </p:txBody>
            </p:sp>
            <p:sp>
              <p:nvSpPr>
                <p:cNvPr id="35" name="文本框 34"/>
                <p:cNvSpPr txBox="1"/>
                <p:nvPr/>
              </p:nvSpPr>
              <p:spPr>
                <a:xfrm>
                  <a:off x="13434" y="10331"/>
                  <a:ext cx="4228" cy="53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1600"/>
                    <a:t>Latin America Mean, 2023</a:t>
                  </a:r>
                </a:p>
              </p:txBody>
            </p: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6" name="文本框 35"/>
                  <p:cNvSpPr txBox="1"/>
                  <p:nvPr/>
                </p:nvSpPr>
                <p:spPr>
                  <a:xfrm>
                    <a:off x="1974" y="658"/>
                    <a:ext cx="7243" cy="1113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en-US" altLang="zh-CN" sz="2000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Structural Zero</a:t>
                    </a:r>
                  </a:p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altLang="zh-CN" sz="20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𝜑</m:t>
                          </m:r>
                          <m:r>
                            <a:rPr lang="en-US" altLang="zh-CN" sz="20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(</m:t>
                          </m:r>
                          <m:r>
                            <a:rPr lang="en-US" altLang="zh-CN" sz="20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𝑟</m:t>
                          </m:r>
                          <m:r>
                            <a:rPr lang="en-US" altLang="zh-CN" sz="20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)=</m:t>
                          </m:r>
                          <m:r>
                            <a:rPr lang="en-US" altLang="zh-CN" sz="20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𝑙𝑜𝑔𝑖𝑠𝑡𝑖𝑐</m:t>
                          </m:r>
                          <m:r>
                            <a:rPr lang="en-US" altLang="zh-CN" sz="20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(</m:t>
                          </m:r>
                          <m:r>
                            <a:rPr lang="en-US" altLang="zh-CN" sz="20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𝛼</m:t>
                          </m:r>
                          <m:r>
                            <a:rPr lang="en-US" altLang="zh-CN" sz="20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+</m:t>
                          </m:r>
                          <m:r>
                            <a:rPr lang="en-US" altLang="zh-CN" sz="20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𝛽</m:t>
                          </m:r>
                          <m:r>
                            <a:rPr lang="en-US" altLang="zh-CN" sz="20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𝑟</m:t>
                          </m:r>
                          <m:r>
                            <a:rPr lang="en-US" altLang="zh-CN" sz="2000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)</m:t>
                          </m:r>
                        </m:oMath>
                      </m:oMathPara>
                    </a14:m>
                    <a:endParaRPr lang="en-US" altLang="zh-CN" sz="2000" i="1">
                      <a:latin typeface="Cambria Math" panose="02040503050406030204" charset="0"/>
                      <a:cs typeface="Cambria Math" panose="02040503050406030204" charset="0"/>
                    </a:endParaRPr>
                  </a:p>
                </p:txBody>
              </p:sp>
            </mc:Choice>
            <mc:Fallback xmlns="">
              <p:sp>
                <p:nvSpPr>
                  <p:cNvPr id="36" name="文本框 35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974" y="658"/>
                    <a:ext cx="7243" cy="1113"/>
                  </a:xfrm>
                  <a:prstGeom prst="rect">
                    <a:avLst/>
                  </a:prstGeom>
                  <a:blipFill rotWithShape="1">
                    <a:blip r:embed="rId4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37" name="文本框 36"/>
              <p:cNvSpPr txBox="1"/>
              <p:nvPr/>
            </p:nvSpPr>
            <p:spPr>
              <a:xfrm>
                <a:off x="5263" y="7644"/>
                <a:ext cx="885" cy="36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lstStyle/>
              <a:p>
                <a:r>
                  <a:rPr lang="en-US" altLang="zh-CN"/>
                  <a:t>50%</a:t>
                </a: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8394" y="7617"/>
                <a:ext cx="1043" cy="36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lstStyle/>
              <a:p>
                <a:r>
                  <a:rPr lang="en-US" altLang="zh-CN"/>
                  <a:t>100%</a:t>
                </a:r>
              </a:p>
            </p:txBody>
          </p:sp>
          <p:sp>
            <p:nvSpPr>
              <p:cNvPr id="39" name="文本框 38"/>
              <p:cNvSpPr txBox="1"/>
              <p:nvPr/>
            </p:nvSpPr>
            <p:spPr>
              <a:xfrm>
                <a:off x="1706" y="7601"/>
                <a:ext cx="252" cy="36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lstStyle/>
              <a:p>
                <a:pPr algn="r"/>
                <a:r>
                  <a:rPr lang="en-US" altLang="zh-CN"/>
                  <a:t>0</a:t>
                </a:r>
              </a:p>
            </p:txBody>
          </p:sp>
          <p:sp>
            <p:nvSpPr>
              <p:cNvPr id="40" name="文本框 39"/>
              <p:cNvSpPr txBox="1"/>
              <p:nvPr/>
            </p:nvSpPr>
            <p:spPr>
              <a:xfrm>
                <a:off x="1424" y="1653"/>
                <a:ext cx="543" cy="36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lstStyle/>
              <a:p>
                <a:pPr algn="r"/>
                <a:r>
                  <a:rPr lang="en-US" altLang="zh-CN"/>
                  <a:t>0.6</a:t>
                </a:r>
              </a:p>
            </p:txBody>
          </p:sp>
          <p:sp>
            <p:nvSpPr>
              <p:cNvPr id="41" name="文本框 40"/>
              <p:cNvSpPr txBox="1"/>
              <p:nvPr/>
            </p:nvSpPr>
            <p:spPr>
              <a:xfrm>
                <a:off x="1415" y="4843"/>
                <a:ext cx="543" cy="36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lstStyle/>
              <a:p>
                <a:pPr algn="r"/>
                <a:r>
                  <a:rPr lang="en-US" altLang="zh-CN"/>
                  <a:t>0.3</a:t>
                </a:r>
              </a:p>
            </p:txBody>
          </p:sp>
          <p:sp>
            <p:nvSpPr>
              <p:cNvPr id="42" name="文本框 41"/>
              <p:cNvSpPr txBox="1"/>
              <p:nvPr/>
            </p:nvSpPr>
            <p:spPr>
              <a:xfrm>
                <a:off x="1441" y="1210"/>
                <a:ext cx="543" cy="36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lstStyle/>
              <a:p>
                <a:pPr algn="ctr"/>
                <a:r>
                  <a:rPr lang="en-US" altLang="zh-CN" sz="2000" i="1">
                    <a:latin typeface="Arial" panose="020B0604020202020204" pitchFamily="34" charset="0"/>
                    <a:cs typeface="Arial" panose="020B0604020202020204" pitchFamily="34" charset="0"/>
                  </a:rPr>
                  <a:t>β</a:t>
                </a:r>
              </a:p>
            </p:txBody>
          </p:sp>
          <p:sp>
            <p:nvSpPr>
              <p:cNvPr id="43" name="文本框 42"/>
              <p:cNvSpPr txBox="1"/>
              <p:nvPr/>
            </p:nvSpPr>
            <p:spPr>
              <a:xfrm>
                <a:off x="6173" y="7985"/>
                <a:ext cx="3182" cy="36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lstStyle/>
              <a:p>
                <a:pPr algn="r"/>
                <a:r>
                  <a:rPr lang="en-US" altLang="zh-CN" sz="2000" i="1">
                    <a:latin typeface="Arial" panose="020B0604020202020204" pitchFamily="34" charset="0"/>
                    <a:cs typeface="Arial" panose="020B0604020202020204" pitchFamily="34" charset="0"/>
                  </a:rPr>
                  <a:t>probability(α)</a:t>
                </a:r>
              </a:p>
            </p:txBody>
          </p:sp>
          <p:sp>
            <p:nvSpPr>
              <p:cNvPr id="46" name="文本框 45"/>
              <p:cNvSpPr txBox="1"/>
              <p:nvPr/>
            </p:nvSpPr>
            <p:spPr>
              <a:xfrm>
                <a:off x="16838" y="7632"/>
                <a:ext cx="743" cy="36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lstStyle/>
              <a:p>
                <a:r>
                  <a:rPr lang="en-US" altLang="zh-CN"/>
                  <a:t>70%</a:t>
                </a:r>
              </a:p>
            </p:txBody>
          </p:sp>
          <p:sp>
            <p:nvSpPr>
              <p:cNvPr id="47" name="文本框 46"/>
              <p:cNvSpPr txBox="1"/>
              <p:nvPr/>
            </p:nvSpPr>
            <p:spPr>
              <a:xfrm>
                <a:off x="10288" y="7670"/>
                <a:ext cx="871" cy="36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lstStyle/>
              <a:p>
                <a:r>
                  <a:rPr lang="en-US" altLang="zh-CN"/>
                  <a:t>20%</a:t>
                </a:r>
              </a:p>
            </p:txBody>
          </p:sp>
          <p:sp>
            <p:nvSpPr>
              <p:cNvPr id="48" name="文本框 47"/>
              <p:cNvSpPr txBox="1"/>
              <p:nvPr/>
            </p:nvSpPr>
            <p:spPr>
              <a:xfrm>
                <a:off x="9666" y="2267"/>
                <a:ext cx="543" cy="36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lstStyle/>
              <a:p>
                <a:pPr algn="r"/>
                <a:r>
                  <a:rPr lang="en-US" altLang="zh-CN"/>
                  <a:t>0</a:t>
                </a:r>
              </a:p>
            </p:txBody>
          </p:sp>
          <p:sp>
            <p:nvSpPr>
              <p:cNvPr id="49" name="文本框 48"/>
              <p:cNvSpPr txBox="1"/>
              <p:nvPr/>
            </p:nvSpPr>
            <p:spPr>
              <a:xfrm>
                <a:off x="9483" y="4691"/>
                <a:ext cx="773" cy="36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lstStyle/>
              <a:p>
                <a:pPr algn="r"/>
                <a:r>
                  <a:rPr lang="en-US" altLang="zh-CN"/>
                  <a:t>-0.2</a:t>
                </a:r>
              </a:p>
            </p:txBody>
          </p:sp>
          <p:sp>
            <p:nvSpPr>
              <p:cNvPr id="50" name="文本框 49"/>
              <p:cNvSpPr txBox="1"/>
              <p:nvPr/>
            </p:nvSpPr>
            <p:spPr>
              <a:xfrm>
                <a:off x="9746" y="1403"/>
                <a:ext cx="543" cy="36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lstStyle/>
              <a:p>
                <a:pPr algn="ctr"/>
                <a:r>
                  <a:rPr lang="en-US" altLang="zh-CN" sz="2000" i="1">
                    <a:latin typeface="Arial" panose="020B0604020202020204" pitchFamily="34" charset="0"/>
                    <a:cs typeface="Arial" panose="020B0604020202020204" pitchFamily="34" charset="0"/>
                  </a:rPr>
                  <a:t>δ</a:t>
                </a:r>
              </a:p>
            </p:txBody>
          </p:sp>
          <p:sp>
            <p:nvSpPr>
              <p:cNvPr id="51" name="文本框 50"/>
              <p:cNvSpPr txBox="1"/>
              <p:nvPr/>
            </p:nvSpPr>
            <p:spPr>
              <a:xfrm>
                <a:off x="14398" y="7985"/>
                <a:ext cx="3182" cy="36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lstStyle/>
              <a:p>
                <a:pPr algn="r"/>
                <a:r>
                  <a:rPr lang="en-US" altLang="zh-CN" sz="2000" i="1">
                    <a:latin typeface="Arial" panose="020B0604020202020204" pitchFamily="34" charset="0"/>
                    <a:cs typeface="Arial" panose="020B0604020202020204" pitchFamily="34" charset="0"/>
                  </a:rPr>
                  <a:t>probability(κ)</a:t>
                </a: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2" name="文本框 51"/>
                  <p:cNvSpPr txBox="1"/>
                  <p:nvPr/>
                </p:nvSpPr>
                <p:spPr>
                  <a:xfrm>
                    <a:off x="10288" y="658"/>
                    <a:ext cx="7293" cy="1113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en-US" altLang="zh-CN" sz="2000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Actual Construction</a:t>
                    </a:r>
                  </a:p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altLang="zh-CN" sz="20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𝜋</m:t>
                          </m:r>
                          <m:r>
                            <a:rPr lang="en-US" altLang="zh-CN" sz="20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(</m:t>
                          </m:r>
                          <m:r>
                            <a:rPr lang="en-US" altLang="zh-CN" sz="20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𝑟</m:t>
                          </m:r>
                          <m:r>
                            <a:rPr lang="en-US" altLang="zh-CN" sz="20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)=</m:t>
                          </m:r>
                          <m:r>
                            <a:rPr lang="en-US" altLang="zh-CN" sz="20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𝑙𝑜𝑔𝑖𝑠𝑡𝑖𝑐</m:t>
                          </m:r>
                          <m:r>
                            <a:rPr lang="en-US" altLang="zh-CN" sz="20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(</m:t>
                          </m:r>
                          <m:r>
                            <a:rPr lang="en-US" altLang="zh-CN" sz="20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𝜅</m:t>
                          </m:r>
                          <m:r>
                            <a:rPr lang="en-US" altLang="zh-CN" sz="20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+</m:t>
                          </m:r>
                          <m:r>
                            <a:rPr lang="en-US" altLang="zh-CN" sz="20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𝛿</m:t>
                          </m:r>
                          <m:r>
                            <a:rPr lang="en-US" altLang="zh-CN" sz="20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𝑟</m:t>
                          </m:r>
                          <m:r>
                            <a:rPr lang="en-US" altLang="zh-CN" sz="2000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)</m:t>
                          </m:r>
                        </m:oMath>
                      </m:oMathPara>
                    </a14:m>
                    <a:endParaRPr lang="en-US" altLang="zh-CN" sz="2000" i="1">
                      <a:latin typeface="Cambria Math" panose="02040503050406030204" charset="0"/>
                      <a:cs typeface="Cambria Math" panose="02040503050406030204" charset="0"/>
                    </a:endParaRPr>
                  </a:p>
                </p:txBody>
              </p:sp>
            </mc:Choice>
            <mc:Fallback xmlns="">
              <p:sp>
                <p:nvSpPr>
                  <p:cNvPr id="52" name="文本框 51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0288" y="658"/>
                    <a:ext cx="7293" cy="1113"/>
                  </a:xfrm>
                  <a:prstGeom prst="rect">
                    <a:avLst/>
                  </a:prstGeom>
                  <a:blipFill rotWithShape="1">
                    <a:blip r:embed="rId5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53" name="文本框 52"/>
              <p:cNvSpPr txBox="1"/>
              <p:nvPr/>
            </p:nvSpPr>
            <p:spPr>
              <a:xfrm>
                <a:off x="14149" y="7644"/>
                <a:ext cx="885" cy="36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lstStyle/>
              <a:p>
                <a:r>
                  <a:rPr lang="en-US" altLang="zh-CN"/>
                  <a:t>50%</a:t>
                </a:r>
              </a:p>
            </p:txBody>
          </p:sp>
          <p:sp>
            <p:nvSpPr>
              <p:cNvPr id="55" name="文本框 54"/>
              <p:cNvSpPr txBox="1"/>
              <p:nvPr/>
            </p:nvSpPr>
            <p:spPr>
              <a:xfrm>
                <a:off x="9436" y="7076"/>
                <a:ext cx="763" cy="36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lstStyle/>
              <a:p>
                <a:pPr algn="r"/>
                <a:r>
                  <a:rPr lang="en-US" altLang="zh-CN"/>
                  <a:t>-0.4</a:t>
                </a:r>
              </a:p>
            </p:txBody>
          </p:sp>
          <p:sp>
            <p:nvSpPr>
              <p:cNvPr id="57" name="文本框 56"/>
              <p:cNvSpPr txBox="1"/>
              <p:nvPr/>
            </p:nvSpPr>
            <p:spPr>
              <a:xfrm>
                <a:off x="6781" y="4584"/>
                <a:ext cx="2574" cy="5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600" i="1">
                    <a:solidFill>
                      <a:schemeClr val="bg1">
                        <a:lumMod val="50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mean </a:t>
                </a:r>
                <a:r>
                  <a:rPr lang="en-US" altLang="zh-CN" sz="1600" i="1">
                    <a:solidFill>
                      <a:schemeClr val="bg1">
                        <a:lumMod val="50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  <a:sym typeface="+mn-ea"/>
                  </a:rPr>
                  <a:t>β = 0.3</a:t>
                </a:r>
              </a:p>
            </p:txBody>
          </p:sp>
          <p:sp>
            <p:nvSpPr>
              <p:cNvPr id="58" name="文本框 57"/>
              <p:cNvSpPr txBox="1"/>
              <p:nvPr/>
            </p:nvSpPr>
            <p:spPr>
              <a:xfrm>
                <a:off x="10380" y="3395"/>
                <a:ext cx="2574" cy="5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600" i="1">
                    <a:solidFill>
                      <a:schemeClr val="bg1">
                        <a:lumMod val="50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mean </a:t>
                </a:r>
                <a:r>
                  <a:rPr lang="en-US" altLang="zh-CN" sz="1600" i="1">
                    <a:solidFill>
                      <a:schemeClr val="bg1">
                        <a:lumMod val="50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  <a:sym typeface="+mn-ea"/>
                  </a:rPr>
                  <a:t>δ = -0.09</a:t>
                </a:r>
              </a:p>
            </p:txBody>
          </p:sp>
          <p:sp>
            <p:nvSpPr>
              <p:cNvPr id="2" name="文本框 1"/>
              <p:cNvSpPr txBox="1"/>
              <p:nvPr/>
            </p:nvSpPr>
            <p:spPr>
              <a:xfrm>
                <a:off x="1958" y="114"/>
                <a:ext cx="15623" cy="725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algn="ctr"/>
                <a:r>
                  <a:rPr lang="en-US" altLang="zh-CN" sz="2400" b="1">
                    <a:latin typeface="Arial" panose="020B0604020202020204" pitchFamily="34" charset="0"/>
                    <a:cs typeface="Arial" panose="020B0604020202020204" pitchFamily="34" charset="0"/>
                    <a:sym typeface="+mn-ea"/>
                  </a:rPr>
                  <a:t>Horizontal Construction Params</a:t>
                </a:r>
              </a:p>
            </p:txBody>
          </p:sp>
        </p:grpSp>
        <p:sp>
          <p:nvSpPr>
            <p:cNvPr id="54" name="文本框 53"/>
            <p:cNvSpPr txBox="1"/>
            <p:nvPr/>
          </p:nvSpPr>
          <p:spPr>
            <a:xfrm>
              <a:off x="1984" y="6876"/>
              <a:ext cx="2151" cy="725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altLang="zh-CN" sz="1200" i="1">
                  <a:solidFill>
                    <a:schemeClr val="bg1">
                      <a:lumMod val="50000"/>
                    </a:schemeClr>
                  </a:solidFill>
                </a:rPr>
                <a:t>Low-Constraint, Flat-Gradient</a:t>
              </a:r>
            </a:p>
          </p:txBody>
        </p:sp>
        <p:sp>
          <p:nvSpPr>
            <p:cNvPr id="60" name="文本框 59"/>
            <p:cNvSpPr txBox="1"/>
            <p:nvPr/>
          </p:nvSpPr>
          <p:spPr>
            <a:xfrm>
              <a:off x="6781" y="1716"/>
              <a:ext cx="2404" cy="725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r"/>
              <a:r>
                <a:rPr lang="en-US" altLang="zh-CN" sz="1200" i="1">
                  <a:solidFill>
                    <a:schemeClr val="bg1">
                      <a:lumMod val="50000"/>
                    </a:schemeClr>
                  </a:solidFill>
                </a:rPr>
                <a:t>High-Constraint, Steep-Gradient</a:t>
              </a:r>
            </a:p>
          </p:txBody>
        </p:sp>
        <p:sp>
          <p:nvSpPr>
            <p:cNvPr id="61" name="文本框 60"/>
            <p:cNvSpPr txBox="1"/>
            <p:nvPr/>
          </p:nvSpPr>
          <p:spPr>
            <a:xfrm>
              <a:off x="3396" y="1716"/>
              <a:ext cx="2211" cy="725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r">
                <a:buClrTx/>
                <a:buSzTx/>
                <a:buFontTx/>
              </a:pPr>
              <a:r>
                <a:rPr lang="en-US" altLang="zh-CN" sz="1200" i="1">
                  <a:solidFill>
                    <a:schemeClr val="bg1">
                      <a:lumMod val="50000"/>
                    </a:schemeClr>
                  </a:solidFill>
                  <a:sym typeface="+mn-ea"/>
                </a:rPr>
                <a:t>Low-Constraint,</a:t>
              </a:r>
            </a:p>
            <a:p>
              <a:pPr lvl="0" algn="r">
                <a:buClrTx/>
                <a:buSzTx/>
                <a:buFontTx/>
              </a:pPr>
              <a:r>
                <a:rPr lang="en-US" altLang="zh-CN" sz="1200" i="1">
                  <a:solidFill>
                    <a:schemeClr val="bg1">
                      <a:lumMod val="50000"/>
                    </a:schemeClr>
                  </a:solidFill>
                  <a:sym typeface="+mn-ea"/>
                </a:rPr>
                <a:t>Steep-Gradient</a:t>
              </a:r>
            </a:p>
          </p:txBody>
        </p:sp>
        <p:sp>
          <p:nvSpPr>
            <p:cNvPr id="62" name="文本框 61"/>
            <p:cNvSpPr txBox="1"/>
            <p:nvPr/>
          </p:nvSpPr>
          <p:spPr>
            <a:xfrm>
              <a:off x="6992" y="4969"/>
              <a:ext cx="2151" cy="725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r"/>
              <a:r>
                <a:rPr lang="en-US" altLang="zh-CN" sz="1200" i="1">
                  <a:solidFill>
                    <a:schemeClr val="bg1">
                      <a:lumMod val="50000"/>
                    </a:schemeClr>
                  </a:solidFill>
                </a:rPr>
                <a:t>High-Constraint, Flat-Gradient</a:t>
              </a:r>
            </a:p>
          </p:txBody>
        </p:sp>
        <p:sp>
          <p:nvSpPr>
            <p:cNvPr id="65" name="文本框 64"/>
            <p:cNvSpPr txBox="1"/>
            <p:nvPr/>
          </p:nvSpPr>
          <p:spPr>
            <a:xfrm>
              <a:off x="10380" y="1716"/>
              <a:ext cx="2211" cy="725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l">
                <a:buClrTx/>
                <a:buSzTx/>
                <a:buFontTx/>
              </a:pPr>
              <a:r>
                <a:rPr lang="en-US" altLang="zh-CN" sz="1200" i="1">
                  <a:solidFill>
                    <a:schemeClr val="bg1">
                      <a:lumMod val="50000"/>
                    </a:schemeClr>
                  </a:solidFill>
                  <a:sym typeface="+mn-ea"/>
                </a:rPr>
                <a:t>Low-Intensity, Flat-Gradient</a:t>
              </a:r>
            </a:p>
          </p:txBody>
        </p:sp>
        <p:sp>
          <p:nvSpPr>
            <p:cNvPr id="66" name="文本框 65"/>
            <p:cNvSpPr txBox="1"/>
            <p:nvPr/>
          </p:nvSpPr>
          <p:spPr>
            <a:xfrm>
              <a:off x="10388" y="6840"/>
              <a:ext cx="2211" cy="725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l">
                <a:buClrTx/>
                <a:buSzTx/>
                <a:buFontTx/>
              </a:pPr>
              <a:r>
                <a:rPr lang="en-US" altLang="zh-CN" sz="1200" i="1">
                  <a:solidFill>
                    <a:schemeClr val="bg1">
                      <a:lumMod val="50000"/>
                    </a:schemeClr>
                  </a:solidFill>
                  <a:sym typeface="+mn-ea"/>
                </a:rPr>
                <a:t>Low-Intensity, Steep-Gradient</a:t>
              </a:r>
            </a:p>
          </p:txBody>
        </p:sp>
        <p:sp>
          <p:nvSpPr>
            <p:cNvPr id="67" name="文本框 66"/>
            <p:cNvSpPr txBox="1"/>
            <p:nvPr/>
          </p:nvSpPr>
          <p:spPr>
            <a:xfrm>
              <a:off x="15264" y="1669"/>
              <a:ext cx="2211" cy="725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r">
                <a:buClrTx/>
                <a:buSzTx/>
                <a:buFontTx/>
              </a:pPr>
              <a:r>
                <a:rPr lang="en-US" altLang="zh-CN" sz="1200" i="1">
                  <a:solidFill>
                    <a:schemeClr val="bg1">
                      <a:lumMod val="50000"/>
                    </a:schemeClr>
                  </a:solidFill>
                  <a:sym typeface="+mn-ea"/>
                </a:rPr>
                <a:t>High-Intensity, Flat-Gradient</a:t>
              </a:r>
            </a:p>
          </p:txBody>
        </p:sp>
        <p:sp>
          <p:nvSpPr>
            <p:cNvPr id="68" name="文本框 67"/>
            <p:cNvSpPr txBox="1"/>
            <p:nvPr/>
          </p:nvSpPr>
          <p:spPr>
            <a:xfrm>
              <a:off x="15278" y="6839"/>
              <a:ext cx="2211" cy="725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r">
                <a:buClrTx/>
                <a:buSzTx/>
                <a:buFontTx/>
              </a:pPr>
              <a:r>
                <a:rPr lang="en-US" altLang="zh-CN" sz="1200" i="1">
                  <a:solidFill>
                    <a:schemeClr val="bg1">
                      <a:lumMod val="50000"/>
                    </a:schemeClr>
                  </a:solidFill>
                  <a:sym typeface="+mn-ea"/>
                </a:rPr>
                <a:t>High-Intensity, Steep-Gradient</a:t>
              </a:r>
            </a:p>
          </p:txBody>
        </p:sp>
      </p:grpSp>
    </p:spTree>
  </p:cSld>
  <p:clrMapOvr>
    <a:masterClrMapping/>
  </p:clrMapOvr>
  <p:transition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9" name="组合 68"/>
          <p:cNvGrpSpPr/>
          <p:nvPr/>
        </p:nvGrpSpPr>
        <p:grpSpPr>
          <a:xfrm>
            <a:off x="1104000" y="845790"/>
            <a:ext cx="12237720" cy="6249035"/>
            <a:chOff x="0" y="354"/>
            <a:chExt cx="19272" cy="9841"/>
          </a:xfrm>
        </p:grpSpPr>
        <p:pic>
          <p:nvPicPr>
            <p:cNvPr id="4" name="图片 3"/>
            <p:cNvPicPr/>
            <p:nvPr/>
          </p:nvPicPr>
          <p:blipFill>
            <a:blip r:embed="rId2"/>
            <a:stretch>
              <a:fillRect/>
            </a:stretch>
          </p:blipFill>
          <p:spPr>
            <a:xfrm>
              <a:off x="0" y="1805"/>
              <a:ext cx="19192" cy="6290"/>
            </a:xfrm>
            <a:prstGeom prst="rect">
              <a:avLst/>
            </a:prstGeom>
          </p:spPr>
        </p:pic>
        <p:sp>
          <p:nvSpPr>
            <p:cNvPr id="8" name="矩形 7"/>
            <p:cNvSpPr/>
            <p:nvPr/>
          </p:nvSpPr>
          <p:spPr>
            <a:xfrm rot="5400000">
              <a:off x="9795" y="-1270"/>
              <a:ext cx="544" cy="1825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7" name="矩形 6"/>
            <p:cNvSpPr/>
            <p:nvPr/>
          </p:nvSpPr>
          <p:spPr>
            <a:xfrm>
              <a:off x="0" y="1648"/>
              <a:ext cx="818" cy="647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altLang="zh-CN"/>
            </a:p>
          </p:txBody>
        </p:sp>
        <p:sp>
          <p:nvSpPr>
            <p:cNvPr id="5" name="矩形 4"/>
            <p:cNvSpPr/>
            <p:nvPr/>
          </p:nvSpPr>
          <p:spPr>
            <a:xfrm>
              <a:off x="6424" y="1487"/>
              <a:ext cx="818" cy="647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altLang="zh-CN"/>
            </a:p>
          </p:txBody>
        </p:sp>
        <p:sp>
          <p:nvSpPr>
            <p:cNvPr id="6" name="矩形 5"/>
            <p:cNvSpPr/>
            <p:nvPr/>
          </p:nvSpPr>
          <p:spPr>
            <a:xfrm>
              <a:off x="12864" y="1616"/>
              <a:ext cx="818" cy="647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altLang="zh-CN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" name="文本框 35"/>
                <p:cNvSpPr txBox="1"/>
                <p:nvPr/>
              </p:nvSpPr>
              <p:spPr>
                <a:xfrm>
                  <a:off x="5977" y="354"/>
                  <a:ext cx="7243" cy="129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altLang="zh-CN" sz="2400" b="1">
                      <a:latin typeface="Arial" panose="020B0604020202020204" pitchFamily="34" charset="0"/>
                      <a:cs typeface="Arial" panose="020B0604020202020204" pitchFamily="34" charset="0"/>
                    </a:rPr>
                    <a:t>Vertical Profile Params</a:t>
                  </a:r>
                </a:p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𝐻</m:t>
                        </m:r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𝑟</m:t>
                        </m:r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)=</m:t>
                        </m:r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𝐴</m:t>
                        </m:r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∙</m:t>
                        </m:r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𝑒𝑥𝑝</m:t>
                        </m:r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𝐵𝑟</m:t>
                        </m:r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+</m:t>
                        </m:r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𝐶</m:t>
                        </m:r>
                        <m:sSup>
                          <m:sSupPr>
                            <m:ctrlPr>
                              <a:rPr lang="en-US" altLang="zh-CN" sz="2400" i="1">
                                <a:latin typeface="Cambria Math" panose="02040503050406030204" pitchFamily="18" charset="0"/>
                                <a:cs typeface="Cambria Math" panose="02040503050406030204" charset="0"/>
                              </a:rPr>
                            </m:ctrlPr>
                          </m:sSupPr>
                          <m:e>
                            <m:r>
                              <a:rPr lang="en-US" altLang="zh-CN" sz="2400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en-US" altLang="zh-CN" sz="2400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2</m:t>
                            </m:r>
                          </m:sup>
                        </m:sSup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)</m:t>
                        </m:r>
                      </m:oMath>
                    </m:oMathPara>
                  </a14:m>
                  <a:endParaRPr lang="en-US" altLang="zh-CN" sz="2400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</mc:Choice>
          <mc:Fallback xmlns="">
            <p:sp>
              <p:nvSpPr>
                <p:cNvPr id="36" name="文本框 35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77" y="354"/>
                  <a:ext cx="7243" cy="1294"/>
                </a:xfrm>
                <a:prstGeom prst="rect">
                  <a:avLst/>
                </a:prstGeom>
                <a:blipFill rotWithShape="1">
                  <a:blip r:embed="rId3"/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7" name="文本框 36"/>
            <p:cNvSpPr txBox="1"/>
            <p:nvPr/>
          </p:nvSpPr>
          <p:spPr>
            <a:xfrm>
              <a:off x="3044" y="7598"/>
              <a:ext cx="450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r>
                <a:rPr lang="en-US" altLang="zh-CN"/>
                <a:t>10</a:t>
              </a:r>
            </a:p>
          </p:txBody>
        </p:sp>
        <p:sp>
          <p:nvSpPr>
            <p:cNvPr id="39" name="文本框 38"/>
            <p:cNvSpPr txBox="1"/>
            <p:nvPr/>
          </p:nvSpPr>
          <p:spPr>
            <a:xfrm>
              <a:off x="7" y="6430"/>
              <a:ext cx="747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/>
                <a:t>-0.4</a:t>
              </a:r>
            </a:p>
          </p:txBody>
        </p:sp>
        <p:sp>
          <p:nvSpPr>
            <p:cNvPr id="41" name="文本框 40"/>
            <p:cNvSpPr txBox="1"/>
            <p:nvPr/>
          </p:nvSpPr>
          <p:spPr>
            <a:xfrm>
              <a:off x="1212" y="7598"/>
              <a:ext cx="543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/>
                <a:t>5</a:t>
              </a:r>
            </a:p>
          </p:txBody>
        </p:sp>
        <p:sp>
          <p:nvSpPr>
            <p:cNvPr id="42" name="文本框 41"/>
            <p:cNvSpPr txBox="1"/>
            <p:nvPr/>
          </p:nvSpPr>
          <p:spPr>
            <a:xfrm>
              <a:off x="5608" y="7638"/>
              <a:ext cx="1166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2000" i="1">
                  <a:latin typeface="Arial" panose="020B0604020202020204" pitchFamily="34" charset="0"/>
                  <a:cs typeface="Arial" panose="020B0604020202020204" pitchFamily="34" charset="0"/>
                </a:rPr>
                <a:t>A(m)</a:t>
              </a:r>
              <a:endParaRPr lang="zh-CN" altLang="en-US" sz="2000" i="1">
                <a:latin typeface="Arial" panose="020B0604020202020204" pitchFamily="34" charset="0"/>
                <a:ea typeface="宋体" panose="02010600030101010101" pitchFamily="2" charset="-122"/>
                <a:cs typeface="Arial" panose="020B0604020202020204" pitchFamily="34" charset="0"/>
              </a:endParaRPr>
            </a:p>
          </p:txBody>
        </p:sp>
        <p:sp>
          <p:nvSpPr>
            <p:cNvPr id="9" name="文本框 8"/>
            <p:cNvSpPr txBox="1"/>
            <p:nvPr/>
          </p:nvSpPr>
          <p:spPr>
            <a:xfrm>
              <a:off x="259" y="1616"/>
              <a:ext cx="543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2000" i="1">
                  <a:latin typeface="Arial" panose="020B0604020202020204" pitchFamily="34" charset="0"/>
                  <a:cs typeface="Arial" panose="020B0604020202020204" pitchFamily="34" charset="0"/>
                </a:rPr>
                <a:t>B</a:t>
              </a:r>
            </a:p>
          </p:txBody>
        </p:sp>
        <p:sp>
          <p:nvSpPr>
            <p:cNvPr id="10" name="文本框 9"/>
            <p:cNvSpPr txBox="1"/>
            <p:nvPr/>
          </p:nvSpPr>
          <p:spPr>
            <a:xfrm>
              <a:off x="4794" y="7598"/>
              <a:ext cx="450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r>
                <a:rPr lang="en-US" altLang="zh-CN"/>
                <a:t>15</a:t>
              </a:r>
            </a:p>
          </p:txBody>
        </p:sp>
        <p:sp>
          <p:nvSpPr>
            <p:cNvPr id="11" name="文本框 10"/>
            <p:cNvSpPr txBox="1"/>
            <p:nvPr/>
          </p:nvSpPr>
          <p:spPr>
            <a:xfrm>
              <a:off x="284" y="2751"/>
              <a:ext cx="470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/>
                <a:t>0</a:t>
              </a:r>
            </a:p>
          </p:txBody>
        </p:sp>
        <p:sp>
          <p:nvSpPr>
            <p:cNvPr id="12" name="文本框 11"/>
            <p:cNvSpPr txBox="1"/>
            <p:nvPr/>
          </p:nvSpPr>
          <p:spPr>
            <a:xfrm>
              <a:off x="20" y="4583"/>
              <a:ext cx="734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/>
                <a:t>-0.2</a:t>
              </a:r>
            </a:p>
          </p:txBody>
        </p:sp>
        <p:sp>
          <p:nvSpPr>
            <p:cNvPr id="13" name="文本框 12"/>
            <p:cNvSpPr txBox="1"/>
            <p:nvPr/>
          </p:nvSpPr>
          <p:spPr>
            <a:xfrm>
              <a:off x="9600" y="7638"/>
              <a:ext cx="702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r>
                <a:rPr lang="en-US" altLang="zh-CN"/>
                <a:t>-0.2</a:t>
              </a:r>
            </a:p>
          </p:txBody>
        </p:sp>
        <p:sp>
          <p:nvSpPr>
            <p:cNvPr id="14" name="文本框 13"/>
            <p:cNvSpPr txBox="1"/>
            <p:nvPr/>
          </p:nvSpPr>
          <p:spPr>
            <a:xfrm>
              <a:off x="6228" y="7126"/>
              <a:ext cx="978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/>
                <a:t>-0.02</a:t>
              </a:r>
            </a:p>
          </p:txBody>
        </p:sp>
        <p:sp>
          <p:nvSpPr>
            <p:cNvPr id="15" name="文本框 14"/>
            <p:cNvSpPr txBox="1"/>
            <p:nvPr/>
          </p:nvSpPr>
          <p:spPr>
            <a:xfrm>
              <a:off x="7759" y="7638"/>
              <a:ext cx="747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/>
                <a:t>-0.4</a:t>
              </a:r>
            </a:p>
          </p:txBody>
        </p:sp>
        <p:sp>
          <p:nvSpPr>
            <p:cNvPr id="16" name="文本框 15"/>
            <p:cNvSpPr txBox="1"/>
            <p:nvPr/>
          </p:nvSpPr>
          <p:spPr>
            <a:xfrm>
              <a:off x="12060" y="7638"/>
              <a:ext cx="1166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2000" i="1">
                  <a:latin typeface="Arial" panose="020B0604020202020204" pitchFamily="34" charset="0"/>
                  <a:cs typeface="Arial" panose="020B0604020202020204" pitchFamily="34" charset="0"/>
                </a:rPr>
                <a:t>B</a:t>
              </a:r>
              <a:endParaRPr lang="zh-CN" altLang="en-US" sz="2000" i="1">
                <a:latin typeface="Arial" panose="020B0604020202020204" pitchFamily="34" charset="0"/>
                <a:ea typeface="宋体" panose="02010600030101010101" pitchFamily="2" charset="-122"/>
                <a:cs typeface="Arial" panose="020B0604020202020204" pitchFamily="34" charset="0"/>
              </a:endParaRPr>
            </a:p>
          </p:txBody>
        </p:sp>
        <p:sp>
          <p:nvSpPr>
            <p:cNvPr id="17" name="文本框 16"/>
            <p:cNvSpPr txBox="1"/>
            <p:nvPr/>
          </p:nvSpPr>
          <p:spPr>
            <a:xfrm>
              <a:off x="6934" y="1534"/>
              <a:ext cx="543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2000" i="1">
                  <a:latin typeface="Arial" panose="020B0604020202020204" pitchFamily="34" charset="0"/>
                  <a:cs typeface="Arial" panose="020B0604020202020204" pitchFamily="34" charset="0"/>
                </a:rPr>
                <a:t>C</a:t>
              </a:r>
            </a:p>
          </p:txBody>
        </p:sp>
        <p:sp>
          <p:nvSpPr>
            <p:cNvPr id="18" name="文本框 17"/>
            <p:cNvSpPr txBox="1"/>
            <p:nvPr/>
          </p:nvSpPr>
          <p:spPr>
            <a:xfrm>
              <a:off x="11624" y="7638"/>
              <a:ext cx="235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r>
                <a:rPr lang="en-US" altLang="zh-CN"/>
                <a:t>0</a:t>
              </a:r>
            </a:p>
          </p:txBody>
        </p:sp>
        <p:sp>
          <p:nvSpPr>
            <p:cNvPr id="21" name="文本框 20"/>
            <p:cNvSpPr txBox="1"/>
            <p:nvPr/>
          </p:nvSpPr>
          <p:spPr>
            <a:xfrm>
              <a:off x="6228" y="5826"/>
              <a:ext cx="978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/>
                <a:t>0</a:t>
              </a:r>
            </a:p>
          </p:txBody>
        </p:sp>
        <p:sp>
          <p:nvSpPr>
            <p:cNvPr id="23" name="文本框 22"/>
            <p:cNvSpPr txBox="1"/>
            <p:nvPr/>
          </p:nvSpPr>
          <p:spPr>
            <a:xfrm>
              <a:off x="6228" y="4538"/>
              <a:ext cx="978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/>
                <a:t>0.02</a:t>
              </a:r>
            </a:p>
          </p:txBody>
        </p:sp>
        <p:sp>
          <p:nvSpPr>
            <p:cNvPr id="24" name="文本框 23"/>
            <p:cNvSpPr txBox="1"/>
            <p:nvPr/>
          </p:nvSpPr>
          <p:spPr>
            <a:xfrm>
              <a:off x="6228" y="3172"/>
              <a:ext cx="978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/>
                <a:t>0.04</a:t>
              </a:r>
            </a:p>
          </p:txBody>
        </p:sp>
        <p:sp>
          <p:nvSpPr>
            <p:cNvPr id="25" name="文本框 24"/>
            <p:cNvSpPr txBox="1"/>
            <p:nvPr/>
          </p:nvSpPr>
          <p:spPr>
            <a:xfrm>
              <a:off x="6228" y="1912"/>
              <a:ext cx="978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/>
                <a:t>0.06</a:t>
              </a:r>
            </a:p>
          </p:txBody>
        </p:sp>
        <p:sp>
          <p:nvSpPr>
            <p:cNvPr id="26" name="文本框 25"/>
            <p:cNvSpPr txBox="1"/>
            <p:nvPr/>
          </p:nvSpPr>
          <p:spPr>
            <a:xfrm>
              <a:off x="15906" y="7652"/>
              <a:ext cx="450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r>
                <a:rPr lang="en-US" altLang="zh-CN"/>
                <a:t>10</a:t>
              </a:r>
            </a:p>
          </p:txBody>
        </p:sp>
        <p:sp>
          <p:nvSpPr>
            <p:cNvPr id="27" name="文本框 26"/>
            <p:cNvSpPr txBox="1"/>
            <p:nvPr/>
          </p:nvSpPr>
          <p:spPr>
            <a:xfrm>
              <a:off x="14074" y="7652"/>
              <a:ext cx="543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/>
                <a:t>5</a:t>
              </a:r>
            </a:p>
          </p:txBody>
        </p:sp>
        <p:sp>
          <p:nvSpPr>
            <p:cNvPr id="28" name="文本框 27"/>
            <p:cNvSpPr txBox="1"/>
            <p:nvPr/>
          </p:nvSpPr>
          <p:spPr>
            <a:xfrm>
              <a:off x="18106" y="7638"/>
              <a:ext cx="1166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2000" i="1">
                  <a:latin typeface="Arial" panose="020B0604020202020204" pitchFamily="34" charset="0"/>
                  <a:cs typeface="Arial" panose="020B0604020202020204" pitchFamily="34" charset="0"/>
                </a:rPr>
                <a:t>A(m)</a:t>
              </a:r>
              <a:endParaRPr lang="zh-CN" altLang="en-US" sz="2000" i="1">
                <a:latin typeface="Arial" panose="020B0604020202020204" pitchFamily="34" charset="0"/>
                <a:ea typeface="宋体" panose="02010600030101010101" pitchFamily="2" charset="-122"/>
                <a:cs typeface="Arial" panose="020B0604020202020204" pitchFamily="34" charset="0"/>
              </a:endParaRPr>
            </a:p>
          </p:txBody>
        </p:sp>
        <p:sp>
          <p:nvSpPr>
            <p:cNvPr id="29" name="文本框 28"/>
            <p:cNvSpPr txBox="1"/>
            <p:nvPr/>
          </p:nvSpPr>
          <p:spPr>
            <a:xfrm>
              <a:off x="17656" y="7652"/>
              <a:ext cx="450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r>
                <a:rPr lang="en-US" altLang="zh-CN"/>
                <a:t>15</a:t>
              </a:r>
            </a:p>
          </p:txBody>
        </p:sp>
        <p:sp>
          <p:nvSpPr>
            <p:cNvPr id="2" name="文本框 1"/>
            <p:cNvSpPr txBox="1"/>
            <p:nvPr/>
          </p:nvSpPr>
          <p:spPr>
            <a:xfrm>
              <a:off x="12689" y="7126"/>
              <a:ext cx="978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/>
                <a:t>-0.02</a:t>
              </a:r>
            </a:p>
          </p:txBody>
        </p:sp>
        <p:sp>
          <p:nvSpPr>
            <p:cNvPr id="3" name="文本框 2"/>
            <p:cNvSpPr txBox="1"/>
            <p:nvPr/>
          </p:nvSpPr>
          <p:spPr>
            <a:xfrm>
              <a:off x="13395" y="1534"/>
              <a:ext cx="543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2000" i="1">
                  <a:latin typeface="Arial" panose="020B0604020202020204" pitchFamily="34" charset="0"/>
                  <a:cs typeface="Arial" panose="020B0604020202020204" pitchFamily="34" charset="0"/>
                </a:rPr>
                <a:t>C</a:t>
              </a:r>
            </a:p>
          </p:txBody>
        </p:sp>
        <p:sp>
          <p:nvSpPr>
            <p:cNvPr id="19" name="文本框 18"/>
            <p:cNvSpPr txBox="1"/>
            <p:nvPr/>
          </p:nvSpPr>
          <p:spPr>
            <a:xfrm>
              <a:off x="12689" y="5826"/>
              <a:ext cx="978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/>
                <a:t>0</a:t>
              </a:r>
            </a:p>
          </p:txBody>
        </p:sp>
        <p:sp>
          <p:nvSpPr>
            <p:cNvPr id="20" name="文本框 19"/>
            <p:cNvSpPr txBox="1"/>
            <p:nvPr/>
          </p:nvSpPr>
          <p:spPr>
            <a:xfrm>
              <a:off x="12689" y="4538"/>
              <a:ext cx="978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/>
                <a:t>0.02</a:t>
              </a:r>
            </a:p>
          </p:txBody>
        </p:sp>
        <p:sp>
          <p:nvSpPr>
            <p:cNvPr id="22" name="文本框 21"/>
            <p:cNvSpPr txBox="1"/>
            <p:nvPr/>
          </p:nvSpPr>
          <p:spPr>
            <a:xfrm>
              <a:off x="12689" y="3172"/>
              <a:ext cx="978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/>
                <a:t>0.04</a:t>
              </a:r>
            </a:p>
          </p:txBody>
        </p:sp>
        <p:sp>
          <p:nvSpPr>
            <p:cNvPr id="31" name="文本框 30"/>
            <p:cNvSpPr txBox="1"/>
            <p:nvPr/>
          </p:nvSpPr>
          <p:spPr>
            <a:xfrm>
              <a:off x="12689" y="1912"/>
              <a:ext cx="978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/>
                <a:t>0.06</a:t>
              </a:r>
            </a:p>
          </p:txBody>
        </p:sp>
        <p:grpSp>
          <p:nvGrpSpPr>
            <p:cNvPr id="56" name="组合 55"/>
            <p:cNvGrpSpPr/>
            <p:nvPr/>
          </p:nvGrpSpPr>
          <p:grpSpPr>
            <a:xfrm>
              <a:off x="2061" y="8164"/>
              <a:ext cx="15595" cy="2031"/>
              <a:chOff x="2352" y="8858"/>
              <a:chExt cx="15488" cy="2031"/>
            </a:xfrm>
          </p:grpSpPr>
          <p:sp>
            <p:nvSpPr>
              <p:cNvPr id="32" name="文本框 31"/>
              <p:cNvSpPr txBox="1"/>
              <p:nvPr/>
            </p:nvSpPr>
            <p:spPr>
              <a:xfrm>
                <a:off x="13434" y="9840"/>
                <a:ext cx="4406" cy="5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600"/>
                  <a:t>Latin America Mean, 2016</a:t>
                </a:r>
              </a:p>
            </p:txBody>
          </p:sp>
          <p:sp>
            <p:nvSpPr>
              <p:cNvPr id="33" name="文本框 32"/>
              <p:cNvSpPr txBox="1"/>
              <p:nvPr/>
            </p:nvSpPr>
            <p:spPr>
              <a:xfrm>
                <a:off x="13434" y="8858"/>
                <a:ext cx="3146" cy="5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600"/>
                  <a:t>Latin America, 2016</a:t>
                </a:r>
              </a:p>
            </p:txBody>
          </p:sp>
          <p:sp>
            <p:nvSpPr>
              <p:cNvPr id="34" name="椭圆 33"/>
              <p:cNvSpPr/>
              <p:nvPr/>
            </p:nvSpPr>
            <p:spPr>
              <a:xfrm>
                <a:off x="13067" y="8972"/>
                <a:ext cx="255" cy="255"/>
              </a:xfrm>
              <a:prstGeom prst="ellipse">
                <a:avLst/>
              </a:prstGeom>
              <a:solidFill>
                <a:srgbClr val="47A2DE">
                  <a:alpha val="3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5" name="椭圆 34"/>
              <p:cNvSpPr/>
              <p:nvPr/>
            </p:nvSpPr>
            <p:spPr>
              <a:xfrm>
                <a:off x="13067" y="9435"/>
                <a:ext cx="255" cy="255"/>
              </a:xfrm>
              <a:prstGeom prst="ellipse">
                <a:avLst/>
              </a:prstGeom>
              <a:solidFill>
                <a:srgbClr val="47A2DE">
                  <a:alpha val="6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3434" y="9349"/>
                <a:ext cx="3146" cy="5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600"/>
                  <a:t>Latin America, 2023</a:t>
                </a:r>
              </a:p>
            </p:txBody>
          </p:sp>
          <p:sp>
            <p:nvSpPr>
              <p:cNvPr id="40" name="文本框 39"/>
              <p:cNvSpPr txBox="1"/>
              <p:nvPr/>
            </p:nvSpPr>
            <p:spPr>
              <a:xfrm>
                <a:off x="2848" y="8858"/>
                <a:ext cx="3205" cy="5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600"/>
                  <a:t>Africa, 2016</a:t>
                </a:r>
              </a:p>
            </p:txBody>
          </p:sp>
          <p:sp>
            <p:nvSpPr>
              <p:cNvPr id="43" name="椭圆 42"/>
              <p:cNvSpPr/>
              <p:nvPr/>
            </p:nvSpPr>
            <p:spPr>
              <a:xfrm>
                <a:off x="2465" y="8972"/>
                <a:ext cx="255" cy="255"/>
              </a:xfrm>
              <a:prstGeom prst="ellipse">
                <a:avLst/>
              </a:prstGeom>
              <a:solidFill>
                <a:srgbClr val="E85748">
                  <a:alpha val="3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solidFill>
                    <a:srgbClr val="9467BD"/>
                  </a:solidFill>
                </a:endParaRPr>
              </a:p>
            </p:txBody>
          </p:sp>
          <p:sp>
            <p:nvSpPr>
              <p:cNvPr id="44" name="椭圆 43"/>
              <p:cNvSpPr/>
              <p:nvPr/>
            </p:nvSpPr>
            <p:spPr>
              <a:xfrm>
                <a:off x="2465" y="9435"/>
                <a:ext cx="255" cy="255"/>
              </a:xfrm>
              <a:prstGeom prst="ellipse">
                <a:avLst/>
              </a:prstGeom>
              <a:solidFill>
                <a:srgbClr val="E85748">
                  <a:alpha val="6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5" name="文本框 44"/>
              <p:cNvSpPr txBox="1"/>
              <p:nvPr/>
            </p:nvSpPr>
            <p:spPr>
              <a:xfrm>
                <a:off x="2848" y="9358"/>
                <a:ext cx="3205" cy="5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600"/>
                  <a:t>Africa, 2023</a:t>
                </a:r>
              </a:p>
            </p:txBody>
          </p:sp>
          <p:sp>
            <p:nvSpPr>
              <p:cNvPr id="46" name="文本框 45"/>
              <p:cNvSpPr txBox="1"/>
              <p:nvPr/>
            </p:nvSpPr>
            <p:spPr>
              <a:xfrm>
                <a:off x="7053" y="8858"/>
                <a:ext cx="4526" cy="5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600"/>
                  <a:t>South&amp;South-east Asia, 2016</a:t>
                </a:r>
              </a:p>
            </p:txBody>
          </p:sp>
          <p:sp>
            <p:nvSpPr>
              <p:cNvPr id="47" name="椭圆 46"/>
              <p:cNvSpPr/>
              <p:nvPr/>
            </p:nvSpPr>
            <p:spPr>
              <a:xfrm>
                <a:off x="6647" y="8972"/>
                <a:ext cx="255" cy="255"/>
              </a:xfrm>
              <a:prstGeom prst="ellipse">
                <a:avLst/>
              </a:prstGeom>
              <a:solidFill>
                <a:srgbClr val="F39F1B">
                  <a:alpha val="3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8" name="椭圆 47"/>
              <p:cNvSpPr/>
              <p:nvPr/>
            </p:nvSpPr>
            <p:spPr>
              <a:xfrm>
                <a:off x="6647" y="9435"/>
                <a:ext cx="255" cy="255"/>
              </a:xfrm>
              <a:prstGeom prst="ellipse">
                <a:avLst/>
              </a:prstGeom>
              <a:solidFill>
                <a:srgbClr val="F39F1B">
                  <a:alpha val="6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9" name="文本框 48"/>
              <p:cNvSpPr txBox="1"/>
              <p:nvPr/>
            </p:nvSpPr>
            <p:spPr>
              <a:xfrm>
                <a:off x="7053" y="9345"/>
                <a:ext cx="4526" cy="5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600">
                    <a:sym typeface="+mn-ea"/>
                  </a:rPr>
                  <a:t>South&amp;South-east Asia, 2023</a:t>
                </a:r>
                <a:endParaRPr lang="en-US" altLang="zh-CN" sz="1600"/>
              </a:p>
            </p:txBody>
          </p:sp>
          <p:sp>
            <p:nvSpPr>
              <p:cNvPr id="50" name="乘号 49"/>
              <p:cNvSpPr/>
              <p:nvPr/>
            </p:nvSpPr>
            <p:spPr>
              <a:xfrm>
                <a:off x="2352" y="9845"/>
                <a:ext cx="480" cy="480"/>
              </a:xfrm>
              <a:prstGeom prst="mathMultiply">
                <a:avLst/>
              </a:prstGeom>
              <a:solidFill>
                <a:srgbClr val="E85748">
                  <a:alpha val="80000"/>
                </a:srgb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solidFill>
                    <a:srgbClr val="A985CA"/>
                  </a:solidFill>
                </a:endParaRPr>
              </a:p>
            </p:txBody>
          </p:sp>
          <p:sp>
            <p:nvSpPr>
              <p:cNvPr id="51" name="文本框 50"/>
              <p:cNvSpPr txBox="1"/>
              <p:nvPr/>
            </p:nvSpPr>
            <p:spPr>
              <a:xfrm>
                <a:off x="2848" y="9858"/>
                <a:ext cx="3205" cy="5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600"/>
                  <a:t>Africa Mean, 2016</a:t>
                </a:r>
              </a:p>
            </p:txBody>
          </p:sp>
          <p:sp>
            <p:nvSpPr>
              <p:cNvPr id="52" name="乘号 51"/>
              <p:cNvSpPr/>
              <p:nvPr/>
            </p:nvSpPr>
            <p:spPr>
              <a:xfrm>
                <a:off x="2352" y="10359"/>
                <a:ext cx="480" cy="480"/>
              </a:xfrm>
              <a:prstGeom prst="mathMultiply">
                <a:avLst/>
              </a:prstGeom>
              <a:solidFill>
                <a:srgbClr val="E85748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solidFill>
                    <a:srgbClr val="A985CA"/>
                  </a:solidFill>
                </a:endParaRPr>
              </a:p>
            </p:txBody>
          </p:sp>
          <p:sp>
            <p:nvSpPr>
              <p:cNvPr id="53" name="文本框 52"/>
              <p:cNvSpPr txBox="1"/>
              <p:nvPr/>
            </p:nvSpPr>
            <p:spPr>
              <a:xfrm>
                <a:off x="2848" y="10358"/>
                <a:ext cx="3205" cy="5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600"/>
                  <a:t>Africa Mean, 2023</a:t>
                </a:r>
              </a:p>
            </p:txBody>
          </p:sp>
          <p:sp>
            <p:nvSpPr>
              <p:cNvPr id="54" name="乘号 53"/>
              <p:cNvSpPr/>
              <p:nvPr/>
            </p:nvSpPr>
            <p:spPr>
              <a:xfrm>
                <a:off x="6534" y="9845"/>
                <a:ext cx="480" cy="480"/>
              </a:xfrm>
              <a:prstGeom prst="mathMultiply">
                <a:avLst/>
              </a:prstGeom>
              <a:solidFill>
                <a:srgbClr val="F39F1B">
                  <a:alpha val="80000"/>
                </a:srgb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solidFill>
                    <a:srgbClr val="A985CA"/>
                  </a:solidFill>
                </a:endParaRPr>
              </a:p>
            </p:txBody>
          </p:sp>
          <p:sp>
            <p:nvSpPr>
              <p:cNvPr id="55" name="文本框 54"/>
              <p:cNvSpPr txBox="1"/>
              <p:nvPr/>
            </p:nvSpPr>
            <p:spPr>
              <a:xfrm>
                <a:off x="7053" y="9832"/>
                <a:ext cx="5582" cy="5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600">
                    <a:sym typeface="+mn-ea"/>
                  </a:rPr>
                  <a:t>South&amp;South-east Asia Mean, 2016</a:t>
                </a:r>
                <a:endParaRPr lang="zh-CN" altLang="en-US" sz="1600">
                  <a:ea typeface="宋体" panose="02010600030101010101" pitchFamily="2" charset="-122"/>
                  <a:sym typeface="+mn-ea"/>
                </a:endParaRPr>
              </a:p>
            </p:txBody>
          </p:sp>
          <p:sp>
            <p:nvSpPr>
              <p:cNvPr id="57" name="乘号 56"/>
              <p:cNvSpPr/>
              <p:nvPr/>
            </p:nvSpPr>
            <p:spPr>
              <a:xfrm>
                <a:off x="6534" y="10359"/>
                <a:ext cx="480" cy="480"/>
              </a:xfrm>
              <a:prstGeom prst="mathMultiply">
                <a:avLst/>
              </a:prstGeom>
              <a:solidFill>
                <a:srgbClr val="F39F1B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solidFill>
                    <a:srgbClr val="A985CA"/>
                  </a:solidFill>
                </a:endParaRPr>
              </a:p>
            </p:txBody>
          </p:sp>
          <p:sp>
            <p:nvSpPr>
              <p:cNvPr id="58" name="文本框 57"/>
              <p:cNvSpPr txBox="1"/>
              <p:nvPr/>
            </p:nvSpPr>
            <p:spPr>
              <a:xfrm>
                <a:off x="7053" y="10319"/>
                <a:ext cx="5581" cy="5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600">
                    <a:sym typeface="+mn-ea"/>
                  </a:rPr>
                  <a:t>South&amp;South-east Asia Mean, 2023</a:t>
                </a:r>
                <a:endParaRPr lang="en-US" altLang="zh-CN" sz="1600"/>
              </a:p>
            </p:txBody>
          </p:sp>
          <p:sp>
            <p:nvSpPr>
              <p:cNvPr id="59" name="乘号 58"/>
              <p:cNvSpPr/>
              <p:nvPr/>
            </p:nvSpPr>
            <p:spPr>
              <a:xfrm>
                <a:off x="12954" y="9845"/>
                <a:ext cx="480" cy="480"/>
              </a:xfrm>
              <a:prstGeom prst="mathMultiply">
                <a:avLst/>
              </a:prstGeom>
              <a:solidFill>
                <a:srgbClr val="47A2DE">
                  <a:alpha val="80000"/>
                </a:srgb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solidFill>
                    <a:srgbClr val="A985CA"/>
                  </a:solidFill>
                </a:endParaRPr>
              </a:p>
            </p:txBody>
          </p:sp>
          <p:sp>
            <p:nvSpPr>
              <p:cNvPr id="60" name="乘号 59"/>
              <p:cNvSpPr/>
              <p:nvPr/>
            </p:nvSpPr>
            <p:spPr>
              <a:xfrm>
                <a:off x="12954" y="10359"/>
                <a:ext cx="480" cy="480"/>
              </a:xfrm>
              <a:prstGeom prst="mathMultiply">
                <a:avLst/>
              </a:prstGeom>
              <a:solidFill>
                <a:srgbClr val="47A2DE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solidFill>
                    <a:srgbClr val="A985CA"/>
                  </a:solidFill>
                </a:endParaRPr>
              </a:p>
            </p:txBody>
          </p:sp>
          <p:sp>
            <p:nvSpPr>
              <p:cNvPr id="61" name="文本框 60"/>
              <p:cNvSpPr txBox="1"/>
              <p:nvPr/>
            </p:nvSpPr>
            <p:spPr>
              <a:xfrm>
                <a:off x="13434" y="10331"/>
                <a:ext cx="4228" cy="5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600"/>
                  <a:t>Latin America Mean, 2023</a:t>
                </a:r>
              </a:p>
            </p:txBody>
          </p:sp>
        </p:grpSp>
        <p:sp>
          <p:nvSpPr>
            <p:cNvPr id="63" name="文本框 62"/>
            <p:cNvSpPr txBox="1"/>
            <p:nvPr/>
          </p:nvSpPr>
          <p:spPr>
            <a:xfrm>
              <a:off x="2432" y="6672"/>
              <a:ext cx="1485" cy="82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140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mean A</a:t>
              </a:r>
              <a:r>
                <a:rPr lang="en-US" altLang="zh-CN" sz="140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 </a:t>
              </a:r>
            </a:p>
            <a:p>
              <a:r>
                <a:rPr lang="en-US" altLang="zh-CN" sz="140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= 7.58</a:t>
              </a:r>
            </a:p>
          </p:txBody>
        </p:sp>
        <p:sp>
          <p:nvSpPr>
            <p:cNvPr id="65" name="文本框 64"/>
            <p:cNvSpPr txBox="1"/>
            <p:nvPr/>
          </p:nvSpPr>
          <p:spPr>
            <a:xfrm>
              <a:off x="3917" y="3540"/>
              <a:ext cx="2355" cy="48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140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mean B </a:t>
              </a:r>
              <a:r>
                <a:rPr lang="en-US" altLang="zh-CN" sz="140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= -0.08</a:t>
              </a:r>
            </a:p>
          </p:txBody>
        </p:sp>
        <p:sp>
          <p:nvSpPr>
            <p:cNvPr id="66" name="文本框 65"/>
            <p:cNvSpPr txBox="1"/>
            <p:nvPr/>
          </p:nvSpPr>
          <p:spPr>
            <a:xfrm>
              <a:off x="15284" y="6672"/>
              <a:ext cx="1485" cy="82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140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mean A</a:t>
              </a:r>
              <a:r>
                <a:rPr lang="en-US" altLang="zh-CN" sz="140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 </a:t>
              </a:r>
            </a:p>
            <a:p>
              <a:r>
                <a:rPr lang="en-US" altLang="zh-CN" sz="140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= 7.58</a:t>
              </a:r>
            </a:p>
          </p:txBody>
        </p:sp>
        <p:sp>
          <p:nvSpPr>
            <p:cNvPr id="67" name="文本框 66"/>
            <p:cNvSpPr txBox="1"/>
            <p:nvPr/>
          </p:nvSpPr>
          <p:spPr>
            <a:xfrm>
              <a:off x="7387" y="5711"/>
              <a:ext cx="2355" cy="48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140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mean C </a:t>
              </a:r>
              <a:r>
                <a:rPr lang="en-US" altLang="zh-CN" sz="140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= 0.00</a:t>
              </a:r>
            </a:p>
          </p:txBody>
        </p:sp>
        <p:sp>
          <p:nvSpPr>
            <p:cNvPr id="68" name="文本框 67"/>
            <p:cNvSpPr txBox="1"/>
            <p:nvPr/>
          </p:nvSpPr>
          <p:spPr>
            <a:xfrm>
              <a:off x="16703" y="5711"/>
              <a:ext cx="2355" cy="48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140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mean C </a:t>
              </a:r>
              <a:r>
                <a:rPr lang="en-US" altLang="zh-CN" sz="140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= 0.00</a:t>
              </a:r>
            </a:p>
          </p:txBody>
        </p:sp>
      </p:grpSp>
      <p:sp>
        <p:nvSpPr>
          <p:cNvPr id="30" name="文本框 29"/>
          <p:cNvSpPr txBox="1"/>
          <p:nvPr/>
        </p:nvSpPr>
        <p:spPr>
          <a:xfrm>
            <a:off x="6608815" y="1964025"/>
            <a:ext cx="149542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zh-CN" sz="1400" i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mean B </a:t>
            </a:r>
            <a:r>
              <a:rPr lang="en-US" altLang="zh-CN" sz="1400" i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= -0.08</a:t>
            </a:r>
          </a:p>
        </p:txBody>
      </p:sp>
    </p:spTree>
  </p:cSld>
  <p:clrMapOvr>
    <a:masterClrMapping/>
  </p:clrMapOvr>
  <p:transition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组合 14"/>
          <p:cNvGrpSpPr/>
          <p:nvPr/>
        </p:nvGrpSpPr>
        <p:grpSpPr>
          <a:xfrm>
            <a:off x="0" y="1102360"/>
            <a:ext cx="14400530" cy="4257675"/>
            <a:chOff x="0" y="1736"/>
            <a:chExt cx="22678" cy="6705"/>
          </a:xfrm>
        </p:grpSpPr>
        <p:graphicFrame>
          <p:nvGraphicFramePr>
            <p:cNvPr id="3" name="图表 2"/>
            <p:cNvGraphicFramePr/>
            <p:nvPr/>
          </p:nvGraphicFramePr>
          <p:xfrm>
            <a:off x="0" y="2773"/>
            <a:ext cx="5669" cy="5669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2"/>
            </a:graphicData>
          </a:graphic>
        </p:graphicFrame>
        <p:graphicFrame>
          <p:nvGraphicFramePr>
            <p:cNvPr id="2" name="图表 1"/>
            <p:cNvGraphicFramePr/>
            <p:nvPr/>
          </p:nvGraphicFramePr>
          <p:xfrm>
            <a:off x="11554" y="2773"/>
            <a:ext cx="5669" cy="5669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3"/>
            </a:graphicData>
          </a:graphic>
        </p:graphicFrame>
        <p:graphicFrame>
          <p:nvGraphicFramePr>
            <p:cNvPr id="6" name="图表 5"/>
            <p:cNvGraphicFramePr/>
            <p:nvPr/>
          </p:nvGraphicFramePr>
          <p:xfrm>
            <a:off x="5639" y="2773"/>
            <a:ext cx="5669" cy="5669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4"/>
            </a:graphicData>
          </a:graphic>
        </p:graphicFrame>
        <p:graphicFrame>
          <p:nvGraphicFramePr>
            <p:cNvPr id="7" name="图表 6"/>
            <p:cNvGraphicFramePr/>
            <p:nvPr/>
          </p:nvGraphicFramePr>
          <p:xfrm>
            <a:off x="17008" y="2773"/>
            <a:ext cx="5669" cy="5669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5"/>
            </a:graphicData>
          </a:graphic>
        </p:graphicFrame>
        <p:sp>
          <p:nvSpPr>
            <p:cNvPr id="9" name="文本框 8"/>
            <p:cNvSpPr txBox="1"/>
            <p:nvPr/>
          </p:nvSpPr>
          <p:spPr>
            <a:xfrm>
              <a:off x="0" y="1736"/>
              <a:ext cx="11307" cy="62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2000"/>
                <a:t>Horizontal - Structural Zero Part</a:t>
              </a:r>
            </a:p>
          </p:txBody>
        </p:sp>
        <p:sp>
          <p:nvSpPr>
            <p:cNvPr id="10" name="文本框 9"/>
            <p:cNvSpPr txBox="1"/>
            <p:nvPr/>
          </p:nvSpPr>
          <p:spPr>
            <a:xfrm>
              <a:off x="11554" y="1736"/>
              <a:ext cx="11124" cy="62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2000"/>
                <a:t>Horizontal - Binomial (Real Construction) Part</a:t>
              </a:r>
            </a:p>
          </p:txBody>
        </p:sp>
        <p:sp>
          <p:nvSpPr>
            <p:cNvPr id="11" name="文本框 10"/>
            <p:cNvSpPr txBox="1"/>
            <p:nvPr/>
          </p:nvSpPr>
          <p:spPr>
            <a:xfrm>
              <a:off x="2265" y="2364"/>
              <a:ext cx="1968" cy="58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/>
                <a:t>2016</a:t>
              </a:r>
            </a:p>
          </p:txBody>
        </p:sp>
        <p:sp>
          <p:nvSpPr>
            <p:cNvPr id="12" name="文本框 11"/>
            <p:cNvSpPr txBox="1"/>
            <p:nvPr/>
          </p:nvSpPr>
          <p:spPr>
            <a:xfrm>
              <a:off x="7841" y="2364"/>
              <a:ext cx="1968" cy="58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/>
                <a:t>2023</a:t>
              </a:r>
            </a:p>
          </p:txBody>
        </p:sp>
        <p:sp>
          <p:nvSpPr>
            <p:cNvPr id="13" name="文本框 12"/>
            <p:cNvSpPr txBox="1"/>
            <p:nvPr/>
          </p:nvSpPr>
          <p:spPr>
            <a:xfrm>
              <a:off x="13632" y="2364"/>
              <a:ext cx="1968" cy="58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/>
                <a:t>2016</a:t>
              </a:r>
            </a:p>
          </p:txBody>
        </p:sp>
        <p:sp>
          <p:nvSpPr>
            <p:cNvPr id="14" name="文本框 13"/>
            <p:cNvSpPr txBox="1"/>
            <p:nvPr/>
          </p:nvSpPr>
          <p:spPr>
            <a:xfrm>
              <a:off x="19208" y="2364"/>
              <a:ext cx="1968" cy="58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/>
                <a:t>2023</a:t>
              </a:r>
            </a:p>
          </p:txBody>
        </p:sp>
      </p:grpSp>
    </p:spTree>
  </p:cSld>
  <p:clrMapOvr>
    <a:masterClrMapping/>
  </p:clrMapOvr>
  <p:transition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0CDCABCE-D623-4CDD-A77A-7869E116686A}" type="slidenum">
              <a:rPr lang="de-AT" sz="1890" smtClean="0"/>
              <a:t>5</a:t>
            </a:fld>
            <a:endParaRPr lang="de-AT" sz="1890" dirty="0"/>
          </a:p>
        </p:txBody>
      </p:sp>
      <p:grpSp>
        <p:nvGrpSpPr>
          <p:cNvPr id="8" name="组合 7"/>
          <p:cNvGrpSpPr/>
          <p:nvPr/>
        </p:nvGrpSpPr>
        <p:grpSpPr>
          <a:xfrm>
            <a:off x="370205" y="1605915"/>
            <a:ext cx="13336905" cy="5143500"/>
            <a:chOff x="583" y="2529"/>
            <a:chExt cx="21003" cy="8100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" name="TextBox 30"/>
                <p:cNvSpPr txBox="1"/>
                <p:nvPr/>
              </p:nvSpPr>
              <p:spPr>
                <a:xfrm>
                  <a:off x="11630" y="8665"/>
                  <a:ext cx="3967" cy="67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 xmlns:m="http://schemas.openxmlformats.org/officeDocument/2006/math">
                      <m:r>
                        <a:rPr lang="en-US" sz="2205" i="1" smtClean="0">
                          <a:latin typeface="Cambria Math" panose="02040503050406030204" charset="0"/>
                          <a:ea typeface="Cambria Math" panose="02040503050406030204" charset="0"/>
                        </a:rPr>
                        <m:t>𝛼</m:t>
                      </m:r>
                    </m:oMath>
                  </a14:m>
                  <a:r>
                    <a:rPr lang="en-US" sz="2205" dirty="0">
                      <a:latin typeface="Arial" panose="020B0604020202020204" pitchFamily="34" charset="0"/>
                    </a:rPr>
                    <a:t> large, </a:t>
                  </a:r>
                  <a14:m>
                    <m:oMath xmlns:m="http://schemas.openxmlformats.org/officeDocument/2006/math">
                      <m:r>
                        <a:rPr lang="en-US" sz="2205" i="1" smtClean="0">
                          <a:latin typeface="Cambria Math" panose="02040503050406030204" charset="0"/>
                          <a:ea typeface="Cambria Math" panose="02040503050406030204" charset="0"/>
                        </a:rPr>
                        <m:t>𝛽</m:t>
                      </m:r>
                      <m:r>
                        <a:rPr lang="en-US" sz="2205" b="0" i="1" smtClean="0">
                          <a:latin typeface="Cambria Math" panose="02040503050406030204" charset="0"/>
                          <a:ea typeface="Cambria Math" panose="02040503050406030204" charset="0"/>
                        </a:rPr>
                        <m:t> </m:t>
                      </m:r>
                    </m:oMath>
                  </a14:m>
                  <a:r>
                    <a:rPr lang="en-US" sz="2205" dirty="0">
                      <a:latin typeface="Arial" panose="020B0604020202020204" pitchFamily="34" charset="0"/>
                    </a:rPr>
                    <a:t>small</a:t>
                  </a:r>
                </a:p>
              </p:txBody>
            </p:sp>
          </mc:Choice>
          <mc:Fallback xmlns="">
            <p:sp>
              <p:nvSpPr>
                <p:cNvPr id="31" name="TextBox 30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630" y="8665"/>
                  <a:ext cx="3967" cy="679"/>
                </a:xfrm>
                <a:prstGeom prst="rect">
                  <a:avLst/>
                </a:prstGeom>
                <a:blipFill rotWithShape="1">
                  <a:blip r:embed="rId2"/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TextBox 10"/>
                <p:cNvSpPr txBox="1"/>
                <p:nvPr/>
              </p:nvSpPr>
              <p:spPr>
                <a:xfrm>
                  <a:off x="1098" y="8646"/>
                  <a:ext cx="4052" cy="67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 xmlns:m="http://schemas.openxmlformats.org/officeDocument/2006/math">
                      <m:r>
                        <a:rPr lang="en-US" sz="2205" i="1" smtClean="0">
                          <a:latin typeface="Cambria Math" panose="02040503050406030204" charset="0"/>
                          <a:ea typeface="Cambria Math" panose="02040503050406030204" charset="0"/>
                        </a:rPr>
                        <m:t>𝛼</m:t>
                      </m:r>
                    </m:oMath>
                  </a14:m>
                  <a:r>
                    <a:rPr lang="en-US" sz="2205" dirty="0">
                      <a:latin typeface="Arial" panose="020B0604020202020204" pitchFamily="34" charset="0"/>
                    </a:rPr>
                    <a:t> small, </a:t>
                  </a:r>
                  <a14:m>
                    <m:oMath xmlns:m="http://schemas.openxmlformats.org/officeDocument/2006/math">
                      <m:r>
                        <a:rPr lang="en-US" sz="2205" i="1" smtClean="0">
                          <a:latin typeface="Cambria Math" panose="02040503050406030204" charset="0"/>
                          <a:ea typeface="Cambria Math" panose="02040503050406030204" charset="0"/>
                        </a:rPr>
                        <m:t>𝛽</m:t>
                      </m:r>
                      <m:r>
                        <a:rPr lang="en-US" sz="2205" b="0" i="1" smtClean="0">
                          <a:latin typeface="Cambria Math" panose="02040503050406030204" charset="0"/>
                          <a:ea typeface="Cambria Math" panose="02040503050406030204" charset="0"/>
                        </a:rPr>
                        <m:t> </m:t>
                      </m:r>
                    </m:oMath>
                  </a14:m>
                  <a:r>
                    <a:rPr lang="en-US" sz="2205" dirty="0">
                      <a:latin typeface="Arial" panose="020B0604020202020204" pitchFamily="34" charset="0"/>
                    </a:rPr>
                    <a:t>small</a:t>
                  </a:r>
                </a:p>
              </p:txBody>
            </p:sp>
          </mc:Choice>
          <mc:Fallback xmlns="">
            <p:sp>
              <p:nvSpPr>
                <p:cNvPr id="11" name="TextBox 10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98" y="8646"/>
                  <a:ext cx="4052" cy="679"/>
                </a:xfrm>
                <a:prstGeom prst="rect">
                  <a:avLst/>
                </a:prstGeom>
                <a:blipFill rotWithShape="1">
                  <a:blip r:embed="rId3"/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TextBox 20"/>
                <p:cNvSpPr txBox="1"/>
                <p:nvPr/>
              </p:nvSpPr>
              <p:spPr>
                <a:xfrm>
                  <a:off x="16811" y="8646"/>
                  <a:ext cx="4052" cy="67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 xmlns:m="http://schemas.openxmlformats.org/officeDocument/2006/math">
                      <m:r>
                        <a:rPr lang="en-US" sz="2205" i="1" smtClean="0">
                          <a:latin typeface="Cambria Math" panose="02040503050406030204" charset="0"/>
                          <a:ea typeface="Cambria Math" panose="02040503050406030204" charset="0"/>
                        </a:rPr>
                        <m:t>𝛼</m:t>
                      </m:r>
                    </m:oMath>
                  </a14:m>
                  <a:r>
                    <a:rPr lang="en-US" sz="2205" dirty="0">
                      <a:latin typeface="Arial" panose="020B0604020202020204" pitchFamily="34" charset="0"/>
                    </a:rPr>
                    <a:t> large, </a:t>
                  </a:r>
                  <a14:m>
                    <m:oMath xmlns:m="http://schemas.openxmlformats.org/officeDocument/2006/math">
                      <m:r>
                        <a:rPr lang="en-US" sz="2205" i="1" smtClean="0">
                          <a:latin typeface="Cambria Math" panose="02040503050406030204" charset="0"/>
                          <a:ea typeface="Cambria Math" panose="02040503050406030204" charset="0"/>
                        </a:rPr>
                        <m:t>𝛽</m:t>
                      </m:r>
                      <m:r>
                        <a:rPr lang="en-US" sz="2205" b="0" i="1" smtClean="0">
                          <a:latin typeface="Cambria Math" panose="02040503050406030204" charset="0"/>
                          <a:ea typeface="Cambria Math" panose="02040503050406030204" charset="0"/>
                        </a:rPr>
                        <m:t> </m:t>
                      </m:r>
                    </m:oMath>
                  </a14:m>
                  <a:r>
                    <a:rPr lang="en-US" sz="2205" dirty="0">
                      <a:latin typeface="Arial" panose="020B0604020202020204" pitchFamily="34" charset="0"/>
                    </a:rPr>
                    <a:t>large</a:t>
                  </a:r>
                </a:p>
              </p:txBody>
            </p:sp>
          </mc:Choice>
          <mc:Fallback xmlns="">
            <p:sp>
              <p:nvSpPr>
                <p:cNvPr id="21" name="TextBox 20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811" y="8646"/>
                  <a:ext cx="4052" cy="679"/>
                </a:xfrm>
                <a:prstGeom prst="rect">
                  <a:avLst/>
                </a:prstGeom>
                <a:blipFill rotWithShape="1">
                  <a:blip r:embed="rId4"/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8" name="TextBox 57"/>
                <p:cNvSpPr txBox="1"/>
                <p:nvPr/>
              </p:nvSpPr>
              <p:spPr>
                <a:xfrm>
                  <a:off x="6364" y="8637"/>
                  <a:ext cx="4052" cy="67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 xmlns:m="http://schemas.openxmlformats.org/officeDocument/2006/math">
                      <m:r>
                        <a:rPr lang="en-US" sz="2205" i="1" smtClean="0">
                          <a:latin typeface="Cambria Math" panose="02040503050406030204" charset="0"/>
                          <a:ea typeface="Cambria Math" panose="02040503050406030204" charset="0"/>
                        </a:rPr>
                        <m:t>𝛼</m:t>
                      </m:r>
                    </m:oMath>
                  </a14:m>
                  <a:r>
                    <a:rPr lang="en-US" sz="2205" dirty="0">
                      <a:latin typeface="Arial" panose="020B0604020202020204" pitchFamily="34" charset="0"/>
                    </a:rPr>
                    <a:t> </a:t>
                  </a:r>
                  <a:r>
                    <a:rPr lang="en-US" altLang="zh-CN" sz="2205" dirty="0">
                      <a:latin typeface="Arial" panose="020B0604020202020204" pitchFamily="34" charset="0"/>
                    </a:rPr>
                    <a:t>small</a:t>
                  </a:r>
                  <a:r>
                    <a:rPr lang="en-US" sz="2205" dirty="0">
                      <a:latin typeface="Arial" panose="020B0604020202020204" pitchFamily="34" charset="0"/>
                    </a:rPr>
                    <a:t>, </a:t>
                  </a:r>
                  <a14:m>
                    <m:oMath xmlns:m="http://schemas.openxmlformats.org/officeDocument/2006/math">
                      <m:r>
                        <a:rPr lang="en-US" sz="2205" i="1" smtClean="0">
                          <a:latin typeface="Cambria Math" panose="02040503050406030204" charset="0"/>
                          <a:ea typeface="Cambria Math" panose="02040503050406030204" charset="0"/>
                        </a:rPr>
                        <m:t>𝛽</m:t>
                      </m:r>
                      <m:r>
                        <a:rPr lang="en-US" sz="2205" b="0" i="1" smtClean="0">
                          <a:latin typeface="Cambria Math" panose="02040503050406030204" charset="0"/>
                          <a:ea typeface="Cambria Math" panose="02040503050406030204" charset="0"/>
                        </a:rPr>
                        <m:t> </m:t>
                      </m:r>
                    </m:oMath>
                  </a14:m>
                  <a:r>
                    <a:rPr lang="en-US" altLang="zh-CN" sz="2205" dirty="0">
                      <a:latin typeface="Arial" panose="020B0604020202020204" pitchFamily="34" charset="0"/>
                    </a:rPr>
                    <a:t>large</a:t>
                  </a:r>
                  <a:endParaRPr lang="en-US" sz="2205" dirty="0">
                    <a:latin typeface="Arial" panose="020B0604020202020204" pitchFamily="34" charset="0"/>
                  </a:endParaRPr>
                </a:p>
              </p:txBody>
            </p:sp>
          </mc:Choice>
          <mc:Fallback xmlns="">
            <p:sp>
              <p:nvSpPr>
                <p:cNvPr id="58" name="TextBox 57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364" y="8637"/>
                  <a:ext cx="4052" cy="679"/>
                </a:xfrm>
                <a:prstGeom prst="rect">
                  <a:avLst/>
                </a:prstGeom>
                <a:blipFill rotWithShape="1">
                  <a:blip r:embed="rId5"/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9" name="TextBox 12"/>
            <p:cNvSpPr txBox="1"/>
            <p:nvPr/>
          </p:nvSpPr>
          <p:spPr>
            <a:xfrm>
              <a:off x="2645" y="2655"/>
              <a:ext cx="7452" cy="60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890" dirty="0">
                  <a:latin typeface="Arial" panose="020B0604020202020204" pitchFamily="34" charset="0"/>
                </a:rPr>
                <a:t>Structural Zeros (cannot be constructed)</a:t>
              </a:r>
            </a:p>
          </p:txBody>
        </p:sp>
        <p:sp>
          <p:nvSpPr>
            <p:cNvPr id="33" name="TextBox 98"/>
            <p:cNvSpPr txBox="1"/>
            <p:nvPr/>
          </p:nvSpPr>
          <p:spPr>
            <a:xfrm>
              <a:off x="10880" y="2676"/>
              <a:ext cx="5239" cy="60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890" dirty="0">
                  <a:latin typeface="Arial" panose="020B0604020202020204" pitchFamily="34" charset="0"/>
                </a:rPr>
                <a:t>Constructable Area</a:t>
              </a:r>
            </a:p>
          </p:txBody>
        </p:sp>
        <p:sp>
          <p:nvSpPr>
            <p:cNvPr id="34" name="矩形 33"/>
            <p:cNvSpPr/>
            <p:nvPr/>
          </p:nvSpPr>
          <p:spPr>
            <a:xfrm>
              <a:off x="1832" y="2529"/>
              <a:ext cx="813" cy="813"/>
            </a:xfrm>
            <a:prstGeom prst="rect">
              <a:avLst/>
            </a:prstGeom>
            <a:solidFill>
              <a:srgbClr val="696969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20"/>
            </a:p>
          </p:txBody>
        </p:sp>
        <p:sp>
          <p:nvSpPr>
            <p:cNvPr id="37" name="矩形 36"/>
            <p:cNvSpPr/>
            <p:nvPr/>
          </p:nvSpPr>
          <p:spPr>
            <a:xfrm>
              <a:off x="10068" y="2551"/>
              <a:ext cx="813" cy="813"/>
            </a:xfrm>
            <a:prstGeom prst="rect">
              <a:avLst/>
            </a:prstGeom>
            <a:solidFill>
              <a:schemeClr val="bg1"/>
            </a:solidFill>
            <a:ln w="3175">
              <a:solidFill>
                <a:srgbClr val="696969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20"/>
            </a:p>
          </p:txBody>
        </p:sp>
        <p:grpSp>
          <p:nvGrpSpPr>
            <p:cNvPr id="2" name="组合 1"/>
            <p:cNvGrpSpPr/>
            <p:nvPr/>
          </p:nvGrpSpPr>
          <p:grpSpPr>
            <a:xfrm>
              <a:off x="583" y="3473"/>
              <a:ext cx="5083" cy="5043"/>
              <a:chOff x="493" y="2941"/>
              <a:chExt cx="4304" cy="4270"/>
            </a:xfrm>
          </p:grpSpPr>
          <p:pic>
            <p:nvPicPr>
              <p:cNvPr id="40" name="图片 39"/>
              <p:cNvPicPr>
                <a:picLocks noChangeAspect="1"/>
              </p:cNvPicPr>
              <p:nvPr/>
            </p:nvPicPr>
            <p:blipFill>
              <a:blip r:embed="rId6">
                <a:grayscl/>
              </a:blip>
              <a:stretch>
                <a:fillRect/>
              </a:stretch>
            </p:blipFill>
            <p:spPr>
              <a:xfrm>
                <a:off x="493" y="2941"/>
                <a:ext cx="4304" cy="4271"/>
              </a:xfrm>
              <a:prstGeom prst="rect">
                <a:avLst/>
              </a:prstGeom>
            </p:spPr>
          </p:pic>
          <p:sp>
            <p:nvSpPr>
              <p:cNvPr id="19" name="椭圆 18"/>
              <p:cNvSpPr/>
              <p:nvPr/>
            </p:nvSpPr>
            <p:spPr>
              <a:xfrm>
                <a:off x="598" y="3013"/>
                <a:ext cx="4199" cy="4199"/>
              </a:xfrm>
              <a:prstGeom prst="ellipse">
                <a:avLst/>
              </a:prstGeom>
              <a:noFill/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20"/>
              </a:p>
            </p:txBody>
          </p:sp>
        </p:grpSp>
        <p:grpSp>
          <p:nvGrpSpPr>
            <p:cNvPr id="3" name="组合 2"/>
            <p:cNvGrpSpPr/>
            <p:nvPr/>
          </p:nvGrpSpPr>
          <p:grpSpPr>
            <a:xfrm>
              <a:off x="5822" y="3473"/>
              <a:ext cx="5081" cy="5043"/>
              <a:chOff x="4929" y="2941"/>
              <a:chExt cx="4302" cy="4270"/>
            </a:xfrm>
          </p:grpSpPr>
          <p:pic>
            <p:nvPicPr>
              <p:cNvPr id="44" name="图片 43"/>
              <p:cNvPicPr>
                <a:picLocks noChangeAspect="1"/>
              </p:cNvPicPr>
              <p:nvPr/>
            </p:nvPicPr>
            <p:blipFill>
              <a:blip r:embed="rId7">
                <a:grayscl/>
              </a:blip>
              <a:stretch>
                <a:fillRect/>
              </a:stretch>
            </p:blipFill>
            <p:spPr>
              <a:xfrm>
                <a:off x="4929" y="2941"/>
                <a:ext cx="4303" cy="4271"/>
              </a:xfrm>
              <a:prstGeom prst="rect">
                <a:avLst/>
              </a:prstGeom>
            </p:spPr>
          </p:pic>
          <p:sp>
            <p:nvSpPr>
              <p:cNvPr id="39" name="椭圆 38"/>
              <p:cNvSpPr/>
              <p:nvPr/>
            </p:nvSpPr>
            <p:spPr>
              <a:xfrm>
                <a:off x="5028" y="3013"/>
                <a:ext cx="4199" cy="4199"/>
              </a:xfrm>
              <a:prstGeom prst="ellipse">
                <a:avLst/>
              </a:prstGeom>
              <a:noFill/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20"/>
              </a:p>
            </p:txBody>
          </p:sp>
        </p:grpSp>
        <p:grpSp>
          <p:nvGrpSpPr>
            <p:cNvPr id="4" name="组合 3"/>
            <p:cNvGrpSpPr/>
            <p:nvPr/>
          </p:nvGrpSpPr>
          <p:grpSpPr>
            <a:xfrm>
              <a:off x="11060" y="3473"/>
              <a:ext cx="5081" cy="5043"/>
              <a:chOff x="9364" y="2941"/>
              <a:chExt cx="4302" cy="4270"/>
            </a:xfrm>
          </p:grpSpPr>
          <p:pic>
            <p:nvPicPr>
              <p:cNvPr id="46" name="图片 45"/>
              <p:cNvPicPr>
                <a:picLocks noChangeAspect="1"/>
              </p:cNvPicPr>
              <p:nvPr/>
            </p:nvPicPr>
            <p:blipFill>
              <a:blip r:embed="rId8">
                <a:grayscl/>
              </a:blip>
              <a:stretch>
                <a:fillRect/>
              </a:stretch>
            </p:blipFill>
            <p:spPr>
              <a:xfrm>
                <a:off x="9364" y="2941"/>
                <a:ext cx="4303" cy="4271"/>
              </a:xfrm>
              <a:prstGeom prst="rect">
                <a:avLst/>
              </a:prstGeom>
            </p:spPr>
          </p:pic>
          <p:sp>
            <p:nvSpPr>
              <p:cNvPr id="45" name="椭圆 44"/>
              <p:cNvSpPr/>
              <p:nvPr/>
            </p:nvSpPr>
            <p:spPr>
              <a:xfrm>
                <a:off x="9457" y="3013"/>
                <a:ext cx="4199" cy="4199"/>
              </a:xfrm>
              <a:prstGeom prst="ellipse">
                <a:avLst/>
              </a:prstGeom>
              <a:noFill/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20"/>
              </a:p>
            </p:txBody>
          </p:sp>
        </p:grpSp>
        <p:grpSp>
          <p:nvGrpSpPr>
            <p:cNvPr id="6" name="组合 5"/>
            <p:cNvGrpSpPr/>
            <p:nvPr/>
          </p:nvGrpSpPr>
          <p:grpSpPr>
            <a:xfrm>
              <a:off x="16298" y="3473"/>
              <a:ext cx="5081" cy="5043"/>
              <a:chOff x="13799" y="2941"/>
              <a:chExt cx="4302" cy="4270"/>
            </a:xfrm>
          </p:grpSpPr>
          <p:pic>
            <p:nvPicPr>
              <p:cNvPr id="47" name="图片 46"/>
              <p:cNvPicPr>
                <a:picLocks noChangeAspect="1"/>
              </p:cNvPicPr>
              <p:nvPr/>
            </p:nvPicPr>
            <p:blipFill>
              <a:blip r:embed="rId9">
                <a:grayscl/>
              </a:blip>
              <a:stretch>
                <a:fillRect/>
              </a:stretch>
            </p:blipFill>
            <p:spPr>
              <a:xfrm>
                <a:off x="13799" y="2941"/>
                <a:ext cx="4303" cy="4271"/>
              </a:xfrm>
              <a:prstGeom prst="rect">
                <a:avLst/>
              </a:prstGeom>
            </p:spPr>
          </p:pic>
          <p:sp>
            <p:nvSpPr>
              <p:cNvPr id="48" name="椭圆 47"/>
              <p:cNvSpPr/>
              <p:nvPr/>
            </p:nvSpPr>
            <p:spPr>
              <a:xfrm>
                <a:off x="13887" y="3013"/>
                <a:ext cx="4199" cy="4199"/>
              </a:xfrm>
              <a:prstGeom prst="ellipse">
                <a:avLst/>
              </a:prstGeom>
              <a:noFill/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20"/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8" name="TextBox 8"/>
                <p:cNvSpPr txBox="1"/>
                <p:nvPr/>
              </p:nvSpPr>
              <p:spPr>
                <a:xfrm>
                  <a:off x="14972" y="2557"/>
                  <a:ext cx="6614" cy="831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835" i="1" smtClean="0">
                            <a:latin typeface="Cambria Math" panose="02040503050406030204" charset="0"/>
                            <a:ea typeface="Cambria Math" panose="02040503050406030204" charset="0"/>
                          </a:rPr>
                          <m:t>𝜑</m:t>
                        </m:r>
                        <m:r>
                          <a:rPr lang="en-US" sz="2835" b="0" i="1" smtClean="0">
                            <a:latin typeface="Cambria Math" panose="02040503050406030204" charset="0"/>
                            <a:ea typeface="Cambria Math" panose="02040503050406030204" charset="0"/>
                          </a:rPr>
                          <m:t>(</m:t>
                        </m:r>
                        <m:r>
                          <a:rPr lang="en-US" sz="2835" b="0" i="1" smtClean="0">
                            <a:latin typeface="Cambria Math" panose="02040503050406030204" charset="0"/>
                            <a:ea typeface="Cambria Math" panose="02040503050406030204" charset="0"/>
                          </a:rPr>
                          <m:t>𝑟</m:t>
                        </m:r>
                        <m:r>
                          <a:rPr lang="en-US" sz="2835" b="0" i="1" smtClean="0">
                            <a:latin typeface="Cambria Math" panose="02040503050406030204" charset="0"/>
                            <a:ea typeface="Cambria Math" panose="02040503050406030204" charset="0"/>
                          </a:rPr>
                          <m:t>)=</m:t>
                        </m:r>
                        <m:r>
                          <a:rPr lang="en-US" sz="2835" b="0" i="1" smtClean="0">
                            <a:latin typeface="Cambria Math" panose="02040503050406030204" charset="0"/>
                            <a:ea typeface="Cambria Math" panose="02040503050406030204" charset="0"/>
                          </a:rPr>
                          <m:t>𝑙𝑜𝑔𝑖𝑠𝑡𝑖𝑐</m:t>
                        </m:r>
                        <m:r>
                          <a:rPr lang="en-US" sz="2835" b="0" i="1" smtClean="0">
                            <a:latin typeface="Cambria Math" panose="02040503050406030204" charset="0"/>
                            <a:ea typeface="Cambria Math" panose="02040503050406030204" charset="0"/>
                          </a:rPr>
                          <m:t>(</m:t>
                        </m:r>
                        <m:r>
                          <a:rPr lang="en-US" sz="2835" b="0" i="1" smtClean="0">
                            <a:latin typeface="Cambria Math" panose="02040503050406030204" charset="0"/>
                            <a:ea typeface="Cambria Math" panose="02040503050406030204" charset="0"/>
                          </a:rPr>
                          <m:t>𝛼</m:t>
                        </m:r>
                        <m:r>
                          <a:rPr lang="en-US" sz="2835" b="0" i="1" smtClean="0">
                            <a:latin typeface="Cambria Math" panose="02040503050406030204" charset="0"/>
                            <a:ea typeface="Cambria Math" panose="02040503050406030204" charset="0"/>
                          </a:rPr>
                          <m:t>+</m:t>
                        </m:r>
                        <m:r>
                          <a:rPr lang="en-US" sz="2835" b="0" i="1" smtClean="0">
                            <a:latin typeface="Cambria Math" panose="02040503050406030204" charset="0"/>
                            <a:ea typeface="Cambria Math" panose="02040503050406030204" charset="0"/>
                          </a:rPr>
                          <m:t>𝛽</m:t>
                        </m:r>
                        <m:r>
                          <a:rPr lang="en-US" sz="2835" b="0" i="1" smtClean="0">
                            <a:latin typeface="Cambria Math" panose="02040503050406030204" charset="0"/>
                            <a:ea typeface="Cambria Math" panose="02040503050406030204" charset="0"/>
                          </a:rPr>
                          <m:t>∙</m:t>
                        </m:r>
                        <m:r>
                          <a:rPr lang="en-US" sz="2835" b="0" i="1" smtClean="0">
                            <a:latin typeface="Cambria Math" panose="02040503050406030204" charset="0"/>
                            <a:ea typeface="Cambria Math" panose="02040503050406030204" charset="0"/>
                          </a:rPr>
                          <m:t>𝑟</m:t>
                        </m:r>
                        <m:r>
                          <a:rPr lang="en-US" sz="2835" b="0" i="1" smtClean="0">
                            <a:latin typeface="Cambria Math" panose="02040503050406030204" charset="0"/>
                            <a:ea typeface="MS Mincho" charset="0"/>
                            <a:cs typeface="Cambria Math" panose="02040503050406030204" charset="0"/>
                          </a:rPr>
                          <m:t>)</m:t>
                        </m:r>
                      </m:oMath>
                    </m:oMathPara>
                  </a14:m>
                  <a:endParaRPr lang="en-US" sz="2835" b="0" i="1" dirty="0">
                    <a:latin typeface="Cambria Math" panose="02040503050406030204" charset="0"/>
                    <a:ea typeface="MS Mincho" charset="0"/>
                    <a:cs typeface="Cambria Math" panose="02040503050406030204" charset="0"/>
                  </a:endParaRPr>
                </a:p>
              </p:txBody>
            </p:sp>
          </mc:Choice>
          <mc:Fallback xmlns="">
            <p:sp>
              <p:nvSpPr>
                <p:cNvPr id="38" name="TextBox 8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4972" y="2557"/>
                  <a:ext cx="6614" cy="831"/>
                </a:xfrm>
                <a:prstGeom prst="rect">
                  <a:avLst/>
                </a:prstGeom>
                <a:blipFill rotWithShape="1">
                  <a:blip r:embed="rId10"/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61" name="文本框 60"/>
            <p:cNvSpPr txBox="1"/>
            <p:nvPr/>
          </p:nvSpPr>
          <p:spPr>
            <a:xfrm>
              <a:off x="5933" y="9322"/>
              <a:ext cx="4928" cy="13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ctr">
                <a:buClrTx/>
                <a:buSzTx/>
                <a:buFontTx/>
              </a:pPr>
              <a:r>
                <a:rPr lang="en-US" altLang="zh-CN" sz="2400">
                  <a:solidFill>
                    <a:schemeClr val="bg1">
                      <a:lumMod val="50000"/>
                    </a:schemeClr>
                  </a:solidFill>
                  <a:latin typeface="+mn-lt"/>
                  <a:cs typeface="+mn-lt"/>
                  <a:sym typeface="+mn-ea"/>
                </a:rPr>
                <a:t>Core open &amp; </a:t>
              </a:r>
            </a:p>
            <a:p>
              <a:pPr lvl="0" algn="ctr">
                <a:buClrTx/>
                <a:buSzTx/>
                <a:buFontTx/>
              </a:pPr>
              <a:r>
                <a:rPr lang="en-US" altLang="zh-CN" sz="2400">
                  <a:solidFill>
                    <a:schemeClr val="bg1">
                      <a:lumMod val="50000"/>
                    </a:schemeClr>
                  </a:solidFill>
                  <a:latin typeface="+mn-lt"/>
                  <a:cs typeface="+mn-lt"/>
                  <a:sym typeface="+mn-ea"/>
                </a:rPr>
                <a:t>edge locked</a:t>
              </a:r>
            </a:p>
          </p:txBody>
        </p:sp>
        <p:sp>
          <p:nvSpPr>
            <p:cNvPr id="54" name="文本框 53"/>
            <p:cNvSpPr txBox="1"/>
            <p:nvPr/>
          </p:nvSpPr>
          <p:spPr>
            <a:xfrm>
              <a:off x="932" y="9302"/>
              <a:ext cx="4734" cy="13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ctr">
                <a:buClrTx/>
                <a:buSzTx/>
                <a:buFontTx/>
              </a:pPr>
              <a:r>
                <a:rPr lang="en-US" altLang="zh-CN" sz="2400" dirty="0">
                  <a:solidFill>
                    <a:schemeClr val="bg1">
                      <a:lumMod val="50000"/>
                    </a:schemeClr>
                  </a:solidFill>
                  <a:latin typeface="+mn-lt"/>
                  <a:cs typeface="+mn-lt"/>
                  <a:sym typeface="+mn-ea"/>
                </a:rPr>
                <a:t>Uniform developable</a:t>
              </a:r>
            </a:p>
            <a:p>
              <a:pPr lvl="0" algn="ctr">
                <a:buClrTx/>
                <a:buSzTx/>
                <a:buFontTx/>
              </a:pPr>
              <a:r>
                <a:rPr lang="en-US" altLang="zh-CN" sz="2400" dirty="0">
                  <a:solidFill>
                    <a:schemeClr val="bg1">
                      <a:lumMod val="50000"/>
                    </a:schemeClr>
                  </a:solidFill>
                  <a:latin typeface="+mn-lt"/>
                  <a:cs typeface="+mn-lt"/>
                  <a:sym typeface="+mn-ea"/>
                </a:rPr>
                <a:t>landscape</a:t>
              </a:r>
            </a:p>
          </p:txBody>
        </p:sp>
        <p:sp>
          <p:nvSpPr>
            <p:cNvPr id="60" name="文本框 59"/>
            <p:cNvSpPr txBox="1"/>
            <p:nvPr/>
          </p:nvSpPr>
          <p:spPr>
            <a:xfrm>
              <a:off x="16422" y="9322"/>
              <a:ext cx="4936" cy="128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ctr">
                <a:buClrTx/>
                <a:buSzTx/>
                <a:buFontTx/>
              </a:pPr>
              <a:r>
                <a:rPr lang="en-US" altLang="zh-CN" sz="2360">
                  <a:solidFill>
                    <a:schemeClr val="bg1">
                      <a:lumMod val="50000"/>
                    </a:schemeClr>
                  </a:solidFill>
                  <a:latin typeface="+mn-lt"/>
                  <a:cs typeface="+mn-lt"/>
                  <a:sym typeface="+mn-ea"/>
                </a:rPr>
                <a:t>Core limited &amp; </a:t>
              </a:r>
            </a:p>
            <a:p>
              <a:pPr lvl="0" algn="ctr">
                <a:buClrTx/>
                <a:buSzTx/>
                <a:buFontTx/>
              </a:pPr>
              <a:r>
                <a:rPr lang="en-US" altLang="zh-CN" sz="2360">
                  <a:solidFill>
                    <a:schemeClr val="bg1">
                      <a:lumMod val="50000"/>
                    </a:schemeClr>
                  </a:solidFill>
                  <a:latin typeface="+mn-lt"/>
                  <a:cs typeface="+mn-lt"/>
                  <a:sym typeface="+mn-ea"/>
                </a:rPr>
                <a:t>edge locked</a:t>
              </a:r>
            </a:p>
          </p:txBody>
        </p:sp>
        <p:sp>
          <p:nvSpPr>
            <p:cNvPr id="62" name="文本框 61"/>
            <p:cNvSpPr txBox="1"/>
            <p:nvPr/>
          </p:nvSpPr>
          <p:spPr>
            <a:xfrm>
              <a:off x="11169" y="9322"/>
              <a:ext cx="4945" cy="13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ctr">
                <a:buClrTx/>
                <a:buSzTx/>
                <a:buFontTx/>
              </a:pPr>
              <a:r>
                <a:rPr lang="en-US" altLang="zh-CN" sz="2400">
                  <a:solidFill>
                    <a:schemeClr val="bg1">
                      <a:lumMod val="50000"/>
                    </a:schemeClr>
                  </a:solidFill>
                  <a:latin typeface="+mn-lt"/>
                  <a:cs typeface="+mn-lt"/>
                  <a:sym typeface="+mn-ea"/>
                </a:rPr>
                <a:t>Uniform constrained</a:t>
              </a:r>
            </a:p>
            <a:p>
              <a:pPr lvl="0" algn="ctr">
                <a:buClrTx/>
                <a:buSzTx/>
                <a:buFontTx/>
              </a:pPr>
              <a:r>
                <a:rPr lang="en-US" altLang="zh-CN" sz="2400">
                  <a:solidFill>
                    <a:schemeClr val="bg1">
                      <a:lumMod val="50000"/>
                    </a:schemeClr>
                  </a:solidFill>
                  <a:latin typeface="+mn-lt"/>
                  <a:cs typeface="+mn-lt"/>
                  <a:sym typeface="+mn-ea"/>
                </a:rPr>
                <a:t>landscape 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0CDCABCE-D623-4CDD-A77A-7869E116686A}" type="slidenum">
              <a:rPr lang="de-AT" sz="1890" smtClean="0"/>
              <a:t>6</a:t>
            </a:fld>
            <a:endParaRPr lang="de-AT" sz="189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2" name="文本框 4"/>
              <p:cNvSpPr txBox="1"/>
              <p:nvPr/>
            </p:nvSpPr>
            <p:spPr>
              <a:xfrm>
                <a:off x="4158915" y="11292410"/>
                <a:ext cx="6243015" cy="865505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m:rPr>
                        <m:nor/>
                      </m:rPr>
                      <a:rPr lang="de-AT" sz="2520" dirty="0">
                        <a:solidFill>
                          <a:schemeClr val="dk1"/>
                        </a:solidFill>
                        <a:latin typeface="Cambria Math" panose="02040503050406030204" charset="0"/>
                      </a:rPr>
                      <m:t>κ</m:t>
                    </m:r>
                  </m:oMath>
                </a14:m>
                <a:r>
                  <a:rPr lang="en-US" altLang="zh-CN" sz="2520" dirty="0">
                    <a:latin typeface="Arial" panose="020B0604020202020204" pitchFamily="34" charset="0"/>
                  </a:rPr>
                  <a:t>: central building presence probability.</a:t>
                </a:r>
              </a:p>
              <a:p>
                <a:pPr algn="ctr"/>
                <a:r>
                  <a:rPr lang="en-US" altLang="zh-CN" sz="2520" dirty="0">
                    <a:latin typeface="Arial" panose="020B0604020202020204" pitchFamily="34" charset="0"/>
                  </a:rPr>
                  <a:t>δ (delta): decay rate.</a:t>
                </a:r>
              </a:p>
            </p:txBody>
          </p:sp>
        </mc:Choice>
        <mc:Fallback xmlns="">
          <p:sp>
            <p:nvSpPr>
              <p:cNvPr id="182" name="文本框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58915" y="11292410"/>
                <a:ext cx="6243015" cy="865505"/>
              </a:xfrm>
              <a:prstGeom prst="rect">
                <a:avLst/>
              </a:prstGeom>
              <a:blipFill rotWithShape="1">
                <a:blip r:embed="rId2"/>
                <a:stretch>
                  <a:fillRect l="-5" t="-24" r="10" b="24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8" name="组合 7"/>
          <p:cNvGrpSpPr/>
          <p:nvPr/>
        </p:nvGrpSpPr>
        <p:grpSpPr>
          <a:xfrm>
            <a:off x="492125" y="1739900"/>
            <a:ext cx="13313410" cy="4996815"/>
            <a:chOff x="775" y="2740"/>
            <a:chExt cx="20966" cy="7869"/>
          </a:xfrm>
        </p:grpSpPr>
        <p:grpSp>
          <p:nvGrpSpPr>
            <p:cNvPr id="6" name="组合 5"/>
            <p:cNvGrpSpPr/>
            <p:nvPr/>
          </p:nvGrpSpPr>
          <p:grpSpPr>
            <a:xfrm>
              <a:off x="775" y="2740"/>
              <a:ext cx="20966" cy="6874"/>
              <a:chOff x="1249" y="1357"/>
              <a:chExt cx="20966" cy="6874"/>
            </a:xfrm>
          </p:grpSpPr>
          <p:sp>
            <p:nvSpPr>
              <p:cNvPr id="126" name="Google Shape;421;p29"/>
              <p:cNvSpPr txBox="1"/>
              <p:nvPr/>
            </p:nvSpPr>
            <p:spPr>
              <a:xfrm>
                <a:off x="7112" y="7170"/>
                <a:ext cx="4043" cy="106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143929" tIns="143929" rIns="143929" bIns="143929" anchor="t" anchorCtr="0">
                <a:spAutoFit/>
              </a:bodyPr>
              <a:lstStyle/>
              <a:p>
                <a:pPr lvl="0" algn="ctr"/>
                <a:r>
                  <a:rPr lang="de-AT" sz="2520" dirty="0">
                    <a:solidFill>
                      <a:schemeClr val="dk1"/>
                    </a:solidFill>
                    <a:latin typeface="Arial" panose="020B0604020202020204" pitchFamily="34" charset="0"/>
                  </a:rPr>
                  <a:t>κ small δ large </a:t>
                </a:r>
                <a:endParaRPr sz="2520" dirty="0">
                  <a:solidFill>
                    <a:schemeClr val="dk1"/>
                  </a:solidFill>
                  <a:latin typeface="Arial" panose="020B0604020202020204" pitchFamily="34" charset="0"/>
                </a:endParaRPr>
              </a:p>
            </p:txBody>
          </p:sp>
          <p:sp>
            <p:nvSpPr>
              <p:cNvPr id="127" name="Google Shape;422;p29"/>
              <p:cNvSpPr txBox="1"/>
              <p:nvPr/>
            </p:nvSpPr>
            <p:spPr>
              <a:xfrm>
                <a:off x="17905" y="7170"/>
                <a:ext cx="4249" cy="106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143929" tIns="143929" rIns="143929" bIns="143929" anchor="t" anchorCtr="0">
                <a:spAutoFit/>
              </a:bodyPr>
              <a:lstStyle/>
              <a:p>
                <a:pPr lvl="0" algn="ctr"/>
                <a:r>
                  <a:rPr lang="de-AT" sz="2520" dirty="0">
                    <a:solidFill>
                      <a:schemeClr val="dk1"/>
                    </a:solidFill>
                    <a:latin typeface="Arial" panose="020B0604020202020204" pitchFamily="34" charset="0"/>
                  </a:rPr>
                  <a:t>κ large δ large </a:t>
                </a:r>
                <a:endParaRPr sz="2520" dirty="0">
                  <a:solidFill>
                    <a:schemeClr val="dk1"/>
                  </a:solidFill>
                  <a:latin typeface="Arial" panose="020B0604020202020204" pitchFamily="34" charset="0"/>
                </a:endParaRPr>
              </a:p>
            </p:txBody>
          </p:sp>
          <p:sp>
            <p:nvSpPr>
              <p:cNvPr id="128" name="Google Shape;423;p29"/>
              <p:cNvSpPr txBox="1"/>
              <p:nvPr/>
            </p:nvSpPr>
            <p:spPr>
              <a:xfrm>
                <a:off x="1714" y="7170"/>
                <a:ext cx="4044" cy="106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143929" tIns="143929" rIns="143929" bIns="143929" anchor="t" anchorCtr="0">
                <a:spAutoFit/>
              </a:bodyPr>
              <a:lstStyle/>
              <a:p>
                <a:pPr lvl="0" algn="ctr"/>
                <a:r>
                  <a:rPr lang="de-AT" sz="2520" dirty="0">
                    <a:solidFill>
                      <a:schemeClr val="dk1"/>
                    </a:solidFill>
                    <a:latin typeface="Arial" panose="020B0604020202020204" pitchFamily="34" charset="0"/>
                  </a:rPr>
                  <a:t>κ small δ small </a:t>
                </a:r>
                <a:endParaRPr sz="2520" dirty="0">
                  <a:solidFill>
                    <a:schemeClr val="dk1"/>
                  </a:solidFill>
                  <a:latin typeface="Arial" panose="020B0604020202020204" pitchFamily="34" charset="0"/>
                </a:endParaRPr>
              </a:p>
            </p:txBody>
          </p:sp>
          <p:sp>
            <p:nvSpPr>
              <p:cNvPr id="129" name="Google Shape;424;p29"/>
              <p:cNvSpPr txBox="1"/>
              <p:nvPr/>
            </p:nvSpPr>
            <p:spPr>
              <a:xfrm>
                <a:off x="12509" y="7170"/>
                <a:ext cx="4043" cy="106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143929" tIns="143929" rIns="143929" bIns="143929" anchor="t" anchorCtr="0">
                <a:spAutoFit/>
              </a:bodyPr>
              <a:lstStyle/>
              <a:p>
                <a:pPr lvl="0" algn="ctr"/>
                <a:r>
                  <a:rPr lang="de-AT" sz="2520" dirty="0">
                    <a:solidFill>
                      <a:schemeClr val="dk1"/>
                    </a:solidFill>
                    <a:latin typeface="Arial" panose="020B0604020202020204" pitchFamily="34" charset="0"/>
                  </a:rPr>
                  <a:t>κ large δ small </a:t>
                </a:r>
                <a:endParaRPr sz="2520" dirty="0">
                  <a:solidFill>
                    <a:schemeClr val="dk1"/>
                  </a:solidFill>
                  <a:latin typeface="Arial" panose="020B0604020202020204" pitchFamily="34" charset="0"/>
                </a:endParaRPr>
              </a:p>
            </p:txBody>
          </p:sp>
          <p:sp>
            <p:nvSpPr>
              <p:cNvPr id="32" name="TextBox 12"/>
              <p:cNvSpPr txBox="1"/>
              <p:nvPr/>
            </p:nvSpPr>
            <p:spPr>
              <a:xfrm>
                <a:off x="2886" y="1379"/>
                <a:ext cx="2022" cy="60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890" dirty="0">
                    <a:latin typeface="Arial" panose="020B0604020202020204" pitchFamily="34" charset="0"/>
                  </a:rPr>
                  <a:t>Buildings</a:t>
                </a:r>
              </a:p>
            </p:txBody>
          </p:sp>
          <p:sp>
            <p:nvSpPr>
              <p:cNvPr id="33" name="TextBox 98"/>
              <p:cNvSpPr txBox="1"/>
              <p:nvPr/>
            </p:nvSpPr>
            <p:spPr>
              <a:xfrm>
                <a:off x="11121" y="1505"/>
                <a:ext cx="5239" cy="60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890" dirty="0">
                    <a:latin typeface="Arial" panose="020B0604020202020204" pitchFamily="34" charset="0"/>
                  </a:rPr>
                  <a:t>Constructable Area</a:t>
                </a:r>
              </a:p>
            </p:txBody>
          </p:sp>
          <p:sp>
            <p:nvSpPr>
              <p:cNvPr id="34" name="矩形 33"/>
              <p:cNvSpPr/>
              <p:nvPr/>
            </p:nvSpPr>
            <p:spPr>
              <a:xfrm>
                <a:off x="2073" y="1357"/>
                <a:ext cx="813" cy="813"/>
              </a:xfrm>
              <a:prstGeom prst="rect">
                <a:avLst/>
              </a:prstGeom>
              <a:solidFill>
                <a:srgbClr val="69A2BC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20"/>
              </a:p>
            </p:txBody>
          </p:sp>
          <p:sp>
            <p:nvSpPr>
              <p:cNvPr id="37" name="矩形 36"/>
              <p:cNvSpPr/>
              <p:nvPr/>
            </p:nvSpPr>
            <p:spPr>
              <a:xfrm>
                <a:off x="10309" y="1379"/>
                <a:ext cx="813" cy="813"/>
              </a:xfrm>
              <a:prstGeom prst="rect">
                <a:avLst/>
              </a:prstGeom>
              <a:solidFill>
                <a:schemeClr val="bg1"/>
              </a:solidFill>
              <a:ln w="3175">
                <a:solidFill>
                  <a:schemeClr val="tx1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20"/>
              </a:p>
            </p:txBody>
          </p:sp>
          <p:grpSp>
            <p:nvGrpSpPr>
              <p:cNvPr id="2" name="组合 1"/>
              <p:cNvGrpSpPr/>
              <p:nvPr/>
            </p:nvGrpSpPr>
            <p:grpSpPr>
              <a:xfrm>
                <a:off x="1249" y="2420"/>
                <a:ext cx="4974" cy="4859"/>
                <a:chOff x="1057" y="2049"/>
                <a:chExt cx="4212" cy="4114"/>
              </a:xfrm>
            </p:grpSpPr>
            <p:pic>
              <p:nvPicPr>
                <p:cNvPr id="38" name="图片 37"/>
                <p:cNvPicPr>
                  <a:picLocks noChangeAspect="1"/>
                </p:cNvPicPr>
                <p:nvPr/>
              </p:nvPicPr>
              <p:blipFill>
                <a:blip r:embed="rId3">
                  <a:clrChange>
                    <a:clrFrom>
                      <a:srgbClr val="F7F7F7">
                        <a:alpha val="100000"/>
                      </a:srgbClr>
                    </a:clrFrom>
                    <a:clrTo>
                      <a:srgbClr val="F7F7F7">
                        <a:alpha val="100000"/>
                        <a:alpha val="0"/>
                      </a:srgbClr>
                    </a:clrTo>
                  </a:clrChange>
                </a:blip>
                <a:stretch>
                  <a:fillRect/>
                </a:stretch>
              </p:blipFill>
              <p:spPr>
                <a:xfrm>
                  <a:off x="1057" y="2049"/>
                  <a:ext cx="4212" cy="4115"/>
                </a:xfrm>
                <a:prstGeom prst="rect">
                  <a:avLst/>
                </a:prstGeom>
              </p:spPr>
            </p:pic>
            <p:sp>
              <p:nvSpPr>
                <p:cNvPr id="27" name="椭圆 26"/>
                <p:cNvSpPr/>
                <p:nvPr/>
              </p:nvSpPr>
              <p:spPr>
                <a:xfrm>
                  <a:off x="1280" y="2210"/>
                  <a:ext cx="3862" cy="3862"/>
                </a:xfrm>
                <a:prstGeom prst="ellipse">
                  <a:avLst/>
                </a:prstGeom>
                <a:noFill/>
                <a:ln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20"/>
                </a:p>
              </p:txBody>
            </p:sp>
          </p:grpSp>
          <p:grpSp>
            <p:nvGrpSpPr>
              <p:cNvPr id="3" name="组合 2"/>
              <p:cNvGrpSpPr/>
              <p:nvPr/>
            </p:nvGrpSpPr>
            <p:grpSpPr>
              <a:xfrm>
                <a:off x="6580" y="2420"/>
                <a:ext cx="4974" cy="4859"/>
                <a:chOff x="5571" y="2049"/>
                <a:chExt cx="4212" cy="4114"/>
              </a:xfrm>
            </p:grpSpPr>
            <p:pic>
              <p:nvPicPr>
                <p:cNvPr id="44" name="图片 43"/>
                <p:cNvPicPr>
                  <a:picLocks noChangeAspect="1"/>
                </p:cNvPicPr>
                <p:nvPr/>
              </p:nvPicPr>
              <p:blipFill>
                <a:blip r:embed="rId4">
                  <a:clrChange>
                    <a:clrFrom>
                      <a:srgbClr val="F7F7F7">
                        <a:alpha val="100000"/>
                      </a:srgbClr>
                    </a:clrFrom>
                    <a:clrTo>
                      <a:srgbClr val="F7F7F7">
                        <a:alpha val="100000"/>
                        <a:alpha val="0"/>
                      </a:srgbClr>
                    </a:clrTo>
                  </a:clrChange>
                </a:blip>
                <a:stretch>
                  <a:fillRect/>
                </a:stretch>
              </p:blipFill>
              <p:spPr>
                <a:xfrm>
                  <a:off x="5571" y="2049"/>
                  <a:ext cx="4212" cy="4115"/>
                </a:xfrm>
                <a:prstGeom prst="rect">
                  <a:avLst/>
                </a:prstGeom>
              </p:spPr>
            </p:pic>
            <p:sp>
              <p:nvSpPr>
                <p:cNvPr id="28" name="椭圆 27"/>
                <p:cNvSpPr/>
                <p:nvPr/>
              </p:nvSpPr>
              <p:spPr>
                <a:xfrm>
                  <a:off x="5813" y="2210"/>
                  <a:ext cx="3862" cy="3862"/>
                </a:xfrm>
                <a:prstGeom prst="ellipse">
                  <a:avLst/>
                </a:prstGeom>
                <a:noFill/>
                <a:ln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20"/>
                </a:p>
              </p:txBody>
            </p:sp>
          </p:grpSp>
          <p:grpSp>
            <p:nvGrpSpPr>
              <p:cNvPr id="4" name="组合 3"/>
              <p:cNvGrpSpPr/>
              <p:nvPr/>
            </p:nvGrpSpPr>
            <p:grpSpPr>
              <a:xfrm>
                <a:off x="11910" y="2420"/>
                <a:ext cx="4974" cy="4859"/>
                <a:chOff x="10084" y="2049"/>
                <a:chExt cx="4212" cy="4114"/>
              </a:xfrm>
            </p:grpSpPr>
            <p:pic>
              <p:nvPicPr>
                <p:cNvPr id="45" name="图片 44"/>
                <p:cNvPicPr>
                  <a:picLocks noChangeAspect="1"/>
                </p:cNvPicPr>
                <p:nvPr/>
              </p:nvPicPr>
              <p:blipFill>
                <a:blip r:embed="rId5">
                  <a:clrChange>
                    <a:clrFrom>
                      <a:srgbClr val="F7F7F7">
                        <a:alpha val="100000"/>
                      </a:srgbClr>
                    </a:clrFrom>
                    <a:clrTo>
                      <a:srgbClr val="F7F7F7">
                        <a:alpha val="100000"/>
                        <a:alpha val="0"/>
                      </a:srgbClr>
                    </a:clrTo>
                  </a:clrChange>
                </a:blip>
                <a:stretch>
                  <a:fillRect/>
                </a:stretch>
              </p:blipFill>
              <p:spPr>
                <a:xfrm>
                  <a:off x="10084" y="2049"/>
                  <a:ext cx="4212" cy="4115"/>
                </a:xfrm>
                <a:prstGeom prst="rect">
                  <a:avLst/>
                </a:prstGeom>
              </p:spPr>
            </p:pic>
            <p:sp>
              <p:nvSpPr>
                <p:cNvPr id="29" name="椭圆 28"/>
                <p:cNvSpPr/>
                <p:nvPr/>
              </p:nvSpPr>
              <p:spPr>
                <a:xfrm>
                  <a:off x="10347" y="2210"/>
                  <a:ext cx="3862" cy="3862"/>
                </a:xfrm>
                <a:prstGeom prst="ellipse">
                  <a:avLst/>
                </a:prstGeom>
                <a:noFill/>
                <a:ln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20"/>
                </a:p>
              </p:txBody>
            </p:sp>
          </p:grpSp>
          <p:grpSp>
            <p:nvGrpSpPr>
              <p:cNvPr id="7" name="组合 6"/>
              <p:cNvGrpSpPr/>
              <p:nvPr/>
            </p:nvGrpSpPr>
            <p:grpSpPr>
              <a:xfrm>
                <a:off x="17241" y="2420"/>
                <a:ext cx="4974" cy="4859"/>
                <a:chOff x="14598" y="2049"/>
                <a:chExt cx="4212" cy="4114"/>
              </a:xfrm>
            </p:grpSpPr>
            <p:pic>
              <p:nvPicPr>
                <p:cNvPr id="46" name="图片 45"/>
                <p:cNvPicPr>
                  <a:picLocks noChangeAspect="1"/>
                </p:cNvPicPr>
                <p:nvPr/>
              </p:nvPicPr>
              <p:blipFill>
                <a:blip r:embed="rId6">
                  <a:clrChange>
                    <a:clrFrom>
                      <a:srgbClr val="F7F7F7">
                        <a:alpha val="100000"/>
                      </a:srgbClr>
                    </a:clrFrom>
                    <a:clrTo>
                      <a:srgbClr val="F7F7F7">
                        <a:alpha val="100000"/>
                        <a:alpha val="0"/>
                      </a:srgbClr>
                    </a:clrTo>
                  </a:clrChange>
                </a:blip>
                <a:stretch>
                  <a:fillRect/>
                </a:stretch>
              </p:blipFill>
              <p:spPr>
                <a:xfrm>
                  <a:off x="14598" y="2049"/>
                  <a:ext cx="4212" cy="4115"/>
                </a:xfrm>
                <a:prstGeom prst="rect">
                  <a:avLst/>
                </a:prstGeom>
              </p:spPr>
            </p:pic>
            <p:sp>
              <p:nvSpPr>
                <p:cNvPr id="30" name="椭圆 29"/>
                <p:cNvSpPr/>
                <p:nvPr/>
              </p:nvSpPr>
              <p:spPr>
                <a:xfrm>
                  <a:off x="14880" y="2210"/>
                  <a:ext cx="3862" cy="3862"/>
                </a:xfrm>
                <a:prstGeom prst="ellipse">
                  <a:avLst/>
                </a:prstGeom>
                <a:noFill/>
                <a:ln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20"/>
                </a:p>
              </p:txBody>
            </p:sp>
          </p:grpSp>
          <p:sp>
            <p:nvSpPr>
              <p:cNvPr id="31" name="TextBox 12"/>
              <p:cNvSpPr txBox="1"/>
              <p:nvPr/>
            </p:nvSpPr>
            <p:spPr>
              <a:xfrm>
                <a:off x="6570" y="1378"/>
                <a:ext cx="3374" cy="60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890" dirty="0">
                    <a:latin typeface="Arial" panose="020B0604020202020204" pitchFamily="34" charset="0"/>
                  </a:rPr>
                  <a:t>Structural Zeros</a:t>
                </a:r>
              </a:p>
            </p:txBody>
          </p:sp>
          <p:sp>
            <p:nvSpPr>
              <p:cNvPr id="39" name="矩形 38"/>
              <p:cNvSpPr/>
              <p:nvPr/>
            </p:nvSpPr>
            <p:spPr>
              <a:xfrm>
                <a:off x="5768" y="1357"/>
                <a:ext cx="813" cy="813"/>
              </a:xfrm>
              <a:prstGeom prst="rect">
                <a:avLst/>
              </a:prstGeom>
              <a:solidFill>
                <a:srgbClr val="BFBFBF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20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88" name="文本框 87"/>
                  <p:cNvSpPr txBox="1"/>
                  <p:nvPr/>
                </p:nvSpPr>
                <p:spPr>
                  <a:xfrm>
                    <a:off x="15323" y="1378"/>
                    <a:ext cx="6830" cy="831"/>
                  </a:xfrm>
                  <a:prstGeom prst="rect">
                    <a:avLst/>
                  </a:prstGeom>
                  <a:noFill/>
                </p:spPr>
                <p:txBody>
                  <a:bodyPr wrap="square" rtlCol="0" anchor="t">
                    <a:spAutoFit/>
                  </a:bodyPr>
                  <a:lstStyle/>
                  <a:p>
                    <a:pPr marL="0" indent="0">
                      <a:lnSpc>
                        <a:spcPct val="100000"/>
                      </a:lnSpc>
                      <a:spcBef>
                        <a:spcPts val="1200"/>
                      </a:spcBef>
                      <a:buFont typeface="Wingdings" panose="05000000000000000000" charset="0"/>
                      <a:buNone/>
                    </a:pPr>
                    <a14:m>
                      <m:oMath xmlns:m="http://schemas.openxmlformats.org/officeDocument/2006/math">
                        <m:r>
                          <a:rPr lang="en-US" sz="2835" i="1" smtClean="0">
                            <a:latin typeface="Cambria Math" panose="02040503050406030204" charset="0"/>
                            <a:cs typeface="Cambria Math" panose="02040503050406030204" charset="0"/>
                          </a:rPr>
                          <m:t>𝜋</m:t>
                        </m:r>
                        <m:r>
                          <a:rPr lang="en-US" sz="2835" i="1" smtClean="0">
                            <a:latin typeface="Cambria Math" panose="02040503050406030204" charset="0"/>
                            <a:cs typeface="Cambria Math" panose="02040503050406030204" charset="0"/>
                          </a:rPr>
                          <m:t> (</m:t>
                        </m:r>
                        <m:r>
                          <a:rPr lang="en-US" sz="2835" i="1" smtClean="0">
                            <a:latin typeface="Cambria Math" panose="02040503050406030204" charset="0"/>
                            <a:cs typeface="Cambria Math" panose="02040503050406030204" charset="0"/>
                          </a:rPr>
                          <m:t>𝑟</m:t>
                        </m:r>
                        <m:r>
                          <a:rPr lang="en-US" sz="2835" i="1" smtClean="0">
                            <a:latin typeface="Cambria Math" panose="02040503050406030204" charset="0"/>
                            <a:cs typeface="Cambria Math" panose="02040503050406030204" charset="0"/>
                          </a:rPr>
                          <m:t>)=</m:t>
                        </m:r>
                        <m:r>
                          <a:rPr lang="en-US" sz="2835" i="1" smtClean="0">
                            <a:latin typeface="Cambria Math" panose="02040503050406030204" charset="0"/>
                            <a:cs typeface="Cambria Math" panose="02040503050406030204" charset="0"/>
                          </a:rPr>
                          <m:t>𝑙𝑜𝑔𝑖𝑠𝑡𝑖𝑐</m:t>
                        </m:r>
                        <m:r>
                          <a:rPr lang="en-US" sz="2835" i="1" smtClean="0"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sz="2835" i="1" smtClean="0">
                            <a:latin typeface="Cambria Math" panose="02040503050406030204" charset="0"/>
                            <a:ea typeface="Cambria Math" panose="02040503050406030204" charset="0"/>
                            <a:cs typeface="Cambria Math" panose="02040503050406030204" charset="0"/>
                          </a:rPr>
                          <m:t>𝜅</m:t>
                        </m:r>
                        <m:r>
                          <a:rPr lang="en-US" sz="2835" i="1" smtClean="0">
                            <a:latin typeface="Cambria Math" panose="02040503050406030204" charset="0"/>
                            <a:ea typeface="Cambria Math" panose="02040503050406030204" charset="0"/>
                            <a:cs typeface="Cambria Math" panose="02040503050406030204" charset="0"/>
                          </a:rPr>
                          <m:t>−</m:t>
                        </m:r>
                        <m:r>
                          <a:rPr lang="en-US" sz="2835" i="1" smtClean="0">
                            <a:latin typeface="Cambria Math" panose="02040503050406030204" charset="0"/>
                            <a:ea typeface="Cambria Math" panose="02040503050406030204" charset="0"/>
                            <a:cs typeface="Cambria Math" panose="02040503050406030204" charset="0"/>
                          </a:rPr>
                          <m:t>𝛿</m:t>
                        </m:r>
                        <m:r>
                          <a:rPr lang="en-US" sz="2835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∙</m:t>
                        </m:r>
                        <m:r>
                          <a:rPr lang="en-US" sz="2835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𝑟</m:t>
                        </m:r>
                        <m:r>
                          <a:rPr lang="en-US" sz="2835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) </m:t>
                        </m:r>
                      </m:oMath>
                    </a14:m>
                    <a:r>
                      <a:rPr lang="en-US" sz="2835" dirty="0">
                        <a:latin typeface="Arial" panose="020B0604020202020204" pitchFamily="34" charset="0"/>
                        <a:cs typeface="Arial" panose="020B0604020202020204" pitchFamily="34" charset="0"/>
                        <a:sym typeface="+mn-ea"/>
                      </a:rPr>
                      <a:t> </a:t>
                    </a:r>
                    <a:endParaRPr lang="en-US" altLang="en-US" sz="2835" dirty="0">
                      <a:latin typeface="Arial" panose="020B0604020202020204" pitchFamily="34" charset="0"/>
                      <a:cs typeface="Arial" panose="020B0604020202020204" pitchFamily="34" charset="0"/>
                      <a:sym typeface="+mn-ea"/>
                    </a:endParaRPr>
                  </a:p>
                </p:txBody>
              </p:sp>
            </mc:Choice>
            <mc:Fallback xmlns="">
              <p:sp>
                <p:nvSpPr>
                  <p:cNvPr id="88" name="文本框 87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5323" y="1378"/>
                    <a:ext cx="6830" cy="831"/>
                  </a:xfrm>
                  <a:prstGeom prst="rect">
                    <a:avLst/>
                  </a:prstGeom>
                  <a:blipFill rotWithShape="1">
                    <a:blip r:embed="rId7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61" name="文本框 60"/>
            <p:cNvSpPr txBox="1"/>
            <p:nvPr/>
          </p:nvSpPr>
          <p:spPr>
            <a:xfrm>
              <a:off x="6703" y="9322"/>
              <a:ext cx="4100" cy="128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ctr">
                <a:buClrTx/>
                <a:buSzTx/>
                <a:buFontTx/>
              </a:pPr>
              <a:r>
                <a:rPr lang="en-US" altLang="zh-CN" sz="2360">
                  <a:solidFill>
                    <a:schemeClr val="bg1">
                      <a:lumMod val="50000"/>
                    </a:schemeClr>
                  </a:solidFill>
                  <a:latin typeface="+mn-lt"/>
                  <a:cs typeface="+mn-lt"/>
                  <a:sym typeface="+mn-ea"/>
                </a:rPr>
                <a:t>Small core, sparse periphery</a:t>
              </a:r>
            </a:p>
          </p:txBody>
        </p:sp>
        <p:sp>
          <p:nvSpPr>
            <p:cNvPr id="54" name="文本框 53"/>
            <p:cNvSpPr txBox="1"/>
            <p:nvPr/>
          </p:nvSpPr>
          <p:spPr>
            <a:xfrm>
              <a:off x="1050" y="9322"/>
              <a:ext cx="4604" cy="128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ctr">
                <a:buClrTx/>
                <a:buSzTx/>
                <a:buFontTx/>
              </a:pPr>
              <a:r>
                <a:rPr lang="en-US" altLang="zh-CN" sz="2360" dirty="0">
                  <a:solidFill>
                    <a:schemeClr val="bg1">
                      <a:lumMod val="50000"/>
                    </a:schemeClr>
                  </a:solidFill>
                  <a:latin typeface="+mn-lt"/>
                  <a:cs typeface="+mn-lt"/>
                  <a:sym typeface="+mn-ea"/>
                </a:rPr>
                <a:t>Uniform sparse construction</a:t>
              </a:r>
            </a:p>
          </p:txBody>
        </p:sp>
        <p:sp>
          <p:nvSpPr>
            <p:cNvPr id="60" name="文本框 59"/>
            <p:cNvSpPr txBox="1"/>
            <p:nvPr/>
          </p:nvSpPr>
          <p:spPr>
            <a:xfrm>
              <a:off x="17634" y="9322"/>
              <a:ext cx="3810" cy="128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ctr">
                <a:buClrTx/>
                <a:buSzTx/>
                <a:buFontTx/>
              </a:pPr>
              <a:r>
                <a:rPr lang="en-US" altLang="zh-CN" sz="2360">
                  <a:solidFill>
                    <a:schemeClr val="bg1">
                      <a:lumMod val="50000"/>
                    </a:schemeClr>
                  </a:solidFill>
                  <a:latin typeface="+mn-lt"/>
                  <a:cs typeface="+mn-lt"/>
                  <a:sym typeface="+mn-ea"/>
                </a:rPr>
                <a:t>Dense core, sparse periphery</a:t>
              </a:r>
            </a:p>
          </p:txBody>
        </p:sp>
        <p:sp>
          <p:nvSpPr>
            <p:cNvPr id="62" name="文本框 61"/>
            <p:cNvSpPr txBox="1"/>
            <p:nvPr/>
          </p:nvSpPr>
          <p:spPr>
            <a:xfrm>
              <a:off x="11759" y="9322"/>
              <a:ext cx="4599" cy="128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ctr">
                <a:buClrTx/>
                <a:buSzTx/>
                <a:buFontTx/>
              </a:pPr>
              <a:r>
                <a:rPr lang="en-US" altLang="zh-CN" sz="2360">
                  <a:solidFill>
                    <a:schemeClr val="bg1">
                      <a:lumMod val="50000"/>
                    </a:schemeClr>
                  </a:solidFill>
                  <a:latin typeface="+mn-lt"/>
                  <a:cs typeface="+mn-lt"/>
                  <a:sym typeface="+mn-ea"/>
                </a:rPr>
                <a:t>Uniform dense construction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98" name="图片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7595" y="8506646"/>
            <a:ext cx="4038463" cy="2486074"/>
          </a:xfrm>
          <a:prstGeom prst="rect">
            <a:avLst/>
          </a:prstGeom>
          <a:noFill/>
          <a:ln w="9525">
            <a:noFill/>
          </a:ln>
        </p:spPr>
      </p:pic>
      <p:pic>
        <p:nvPicPr>
          <p:cNvPr id="35" name="图片 3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1998" y="8638637"/>
            <a:ext cx="3185774" cy="1766125"/>
          </a:xfrm>
          <a:prstGeom prst="rect">
            <a:avLst/>
          </a:prstGeom>
        </p:spPr>
      </p:pic>
      <p:pic>
        <p:nvPicPr>
          <p:cNvPr id="50" name="图片 49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01234" y="8638637"/>
            <a:ext cx="2975789" cy="1649133"/>
          </a:xfrm>
          <a:prstGeom prst="rect">
            <a:avLst/>
          </a:prstGeom>
        </p:spPr>
      </p:pic>
      <p:grpSp>
        <p:nvGrpSpPr>
          <p:cNvPr id="78" name="组合 77"/>
          <p:cNvGrpSpPr/>
          <p:nvPr/>
        </p:nvGrpSpPr>
        <p:grpSpPr>
          <a:xfrm>
            <a:off x="485674" y="1542640"/>
            <a:ext cx="13394799" cy="4149455"/>
            <a:chOff x="647" y="2057"/>
            <a:chExt cx="17861" cy="5533"/>
          </a:xfrm>
        </p:grpSpPr>
        <p:grpSp>
          <p:nvGrpSpPr>
            <p:cNvPr id="73" name="组合 72"/>
            <p:cNvGrpSpPr/>
            <p:nvPr/>
          </p:nvGrpSpPr>
          <p:grpSpPr>
            <a:xfrm>
              <a:off x="647" y="2057"/>
              <a:ext cx="3551" cy="5533"/>
              <a:chOff x="647" y="2057"/>
              <a:chExt cx="3551" cy="5533"/>
            </a:xfrm>
          </p:grpSpPr>
          <p:sp>
            <p:nvSpPr>
              <p:cNvPr id="5163" name="TextBox 264"/>
              <p:cNvSpPr txBox="1"/>
              <p:nvPr/>
            </p:nvSpPr>
            <p:spPr>
              <a:xfrm>
                <a:off x="647" y="4712"/>
                <a:ext cx="3551" cy="919"/>
              </a:xfrm>
              <a:prstGeom prst="rect">
                <a:avLst/>
              </a:prstGeom>
              <a:noFill/>
            </p:spPr>
            <p:txBody>
              <a:bodyPr wrap="square" rtlCol="0" anchor="t" anchorCtr="0">
                <a:noAutofit/>
              </a:bodyPr>
              <a:lstStyle/>
              <a:p>
                <a:pPr lvl="0" algn="ctr">
                  <a:buClrTx/>
                  <a:buSzTx/>
                  <a:buFontTx/>
                </a:pPr>
                <a:r>
                  <a:rPr lang="en-US" altLang="zh-CN" sz="1890">
                    <a:latin typeface="Arial" panose="020B0604020202020204" pitchFamily="34" charset="0"/>
                    <a:ea typeface="Arial" panose="020B0604020202020204" pitchFamily="34" charset="0"/>
                    <a:sym typeface="+mn-ea"/>
                  </a:rPr>
                  <a:t>C&gt;0, B&gt;0</a:t>
                </a:r>
              </a:p>
              <a:p>
                <a:pPr lvl="0" algn="ctr">
                  <a:buClrTx/>
                  <a:buSzTx/>
                  <a:buFontTx/>
                </a:pPr>
                <a:r>
                  <a:rPr lang="en-US" altLang="zh-CN" sz="1890">
                    <a:latin typeface="Arial" panose="020B0604020202020204" pitchFamily="34" charset="0"/>
                    <a:ea typeface="Arial" panose="020B0604020202020204" pitchFamily="34" charset="0"/>
                    <a:sym typeface="+mn-ea"/>
                  </a:rPr>
                  <a:t>“Bowl” City</a:t>
                </a:r>
              </a:p>
            </p:txBody>
          </p:sp>
          <p:grpSp>
            <p:nvGrpSpPr>
              <p:cNvPr id="26" name="组合 25"/>
              <p:cNvGrpSpPr/>
              <p:nvPr/>
            </p:nvGrpSpPr>
            <p:grpSpPr>
              <a:xfrm>
                <a:off x="1094" y="5693"/>
                <a:ext cx="2657" cy="1897"/>
                <a:chOff x="3202" y="5108"/>
                <a:chExt cx="2657" cy="1897"/>
              </a:xfrm>
            </p:grpSpPr>
            <p:cxnSp>
              <p:nvCxnSpPr>
                <p:cNvPr id="8" name="直接箭头连接符 7"/>
                <p:cNvCxnSpPr/>
                <p:nvPr/>
              </p:nvCxnSpPr>
              <p:spPr>
                <a:xfrm flipV="1">
                  <a:off x="3755" y="5227"/>
                  <a:ext cx="0" cy="1545"/>
                </a:xfrm>
                <a:prstGeom prst="straightConnector1">
                  <a:avLst/>
                </a:prstGeom>
                <a:ln>
                  <a:solidFill>
                    <a:schemeClr val="tx1"/>
                  </a:solidFill>
                  <a:tailEnd type="arrow"/>
                </a:ln>
              </p:spPr>
              <p:style>
                <a:lnRef idx="2">
                  <a:schemeClr val="accent1"/>
                </a:lnRef>
                <a:fillRef idx="0">
                  <a:srgbClr val="FFFFFF"/>
                </a:fillRef>
                <a:effectRef idx="0">
                  <a:srgbClr val="FFFFFF"/>
                </a:effectRef>
                <a:fontRef idx="minor">
                  <a:schemeClr val="tx1"/>
                </a:fontRef>
              </p:style>
            </p:cxnSp>
            <p:cxnSp>
              <p:nvCxnSpPr>
                <p:cNvPr id="9" name="直接箭头连接符 8"/>
                <p:cNvCxnSpPr/>
                <p:nvPr/>
              </p:nvCxnSpPr>
              <p:spPr>
                <a:xfrm>
                  <a:off x="3755" y="6786"/>
                  <a:ext cx="1740" cy="0"/>
                </a:xfrm>
                <a:prstGeom prst="straightConnector1">
                  <a:avLst/>
                </a:prstGeom>
                <a:ln>
                  <a:solidFill>
                    <a:schemeClr val="tx1"/>
                  </a:solidFill>
                  <a:tailEnd type="arrow"/>
                </a:ln>
              </p:spPr>
              <p:style>
                <a:lnRef idx="2">
                  <a:schemeClr val="accent1"/>
                </a:lnRef>
                <a:fillRef idx="0">
                  <a:srgbClr val="FFFFFF"/>
                </a:fillRef>
                <a:effectRef idx="0">
                  <a:srgbClr val="FFFFFF"/>
                </a:effectRef>
                <a:fontRef idx="minor">
                  <a:schemeClr val="tx1"/>
                </a:fontRef>
              </p:style>
            </p:cxnSp>
            <p:sp>
              <p:nvSpPr>
                <p:cNvPr id="13" name="任意多边形 12"/>
                <p:cNvSpPr/>
                <p:nvPr/>
              </p:nvSpPr>
              <p:spPr>
                <a:xfrm>
                  <a:off x="3755" y="5568"/>
                  <a:ext cx="1606" cy="503"/>
                </a:xfrm>
                <a:custGeom>
                  <a:avLst/>
                  <a:gdLst>
                    <a:gd name="connsiteX0" fmla="*/ 0 w 7905"/>
                    <a:gd name="connsiteY0" fmla="*/ 2460 h 2476"/>
                    <a:gd name="connsiteX1" fmla="*/ 7905 w 7905"/>
                    <a:gd name="connsiteY1" fmla="*/ 0 h 247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</a:cxnLst>
                  <a:rect l="l" t="t" r="r" b="b"/>
                  <a:pathLst>
                    <a:path w="7905" h="2477">
                      <a:moveTo>
                        <a:pt x="0" y="2460"/>
                      </a:moveTo>
                      <a:cubicBezTo>
                        <a:pt x="4710" y="2655"/>
                        <a:pt x="7095" y="1095"/>
                        <a:pt x="7905" y="0"/>
                      </a:cubicBezTo>
                    </a:path>
                  </a:pathLst>
                </a:custGeom>
                <a:ln w="38100">
                  <a:solidFill>
                    <a:srgbClr val="47A2DE"/>
                  </a:solidFill>
                </a:ln>
              </p:spPr>
              <p:style>
                <a:lnRef idx="2">
                  <a:schemeClr val="accent1"/>
                </a:lnRef>
                <a:fillRef idx="0">
                  <a:srgbClr val="FFFFFF"/>
                </a:fillRef>
                <a:effectRef idx="0">
                  <a:srgbClr val="FFFFFF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2125"/>
                </a:p>
              </p:txBody>
            </p:sp>
            <p:grpSp>
              <p:nvGrpSpPr>
                <p:cNvPr id="18" name="组合 17"/>
                <p:cNvGrpSpPr/>
                <p:nvPr/>
              </p:nvGrpSpPr>
              <p:grpSpPr>
                <a:xfrm>
                  <a:off x="3202" y="5108"/>
                  <a:ext cx="2657" cy="1897"/>
                  <a:chOff x="3202" y="5108"/>
                  <a:chExt cx="2657" cy="1897"/>
                </a:xfrm>
              </p:grpSpPr>
              <p:sp>
                <p:nvSpPr>
                  <p:cNvPr id="41" name="TextBox 256"/>
                  <p:cNvSpPr txBox="1"/>
                  <p:nvPr/>
                </p:nvSpPr>
                <p:spPr>
                  <a:xfrm>
                    <a:off x="3320" y="6496"/>
                    <a:ext cx="422" cy="509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fontAlgn="auto"/>
                    <a:r>
                      <a:rPr lang="en-US" sz="1890" noProof="1"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rPr>
                      <a:t>0</a:t>
                    </a:r>
                  </a:p>
                </p:txBody>
              </p:sp>
              <p:sp>
                <p:nvSpPr>
                  <p:cNvPr id="14" name="文本框 13"/>
                  <p:cNvSpPr txBox="1"/>
                  <p:nvPr/>
                </p:nvSpPr>
                <p:spPr>
                  <a:xfrm>
                    <a:off x="3202" y="5108"/>
                    <a:ext cx="446" cy="50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US" altLang="zh-CN" sz="1890" i="1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H</a:t>
                    </a:r>
                  </a:p>
                </p:txBody>
              </p:sp>
              <p:sp>
                <p:nvSpPr>
                  <p:cNvPr id="15" name="文本框 14"/>
                  <p:cNvSpPr txBox="1"/>
                  <p:nvPr/>
                </p:nvSpPr>
                <p:spPr>
                  <a:xfrm>
                    <a:off x="5413" y="6496"/>
                    <a:ext cx="446" cy="50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US" altLang="zh-CN" sz="1890" i="1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r</a:t>
                    </a:r>
                  </a:p>
                </p:txBody>
              </p:sp>
            </p:grpSp>
          </p:grpSp>
          <p:pic>
            <p:nvPicPr>
              <p:cNvPr id="16" name="图片 15"/>
              <p:cNvPicPr>
                <a:picLocks noChangeAspect="1"/>
              </p:cNvPicPr>
              <p:nvPr/>
            </p:nvPicPr>
            <p:blipFill>
              <a:blip r:embed="rId5">
                <a:clrChange>
                  <a:clrFrom>
                    <a:srgbClr val="F7F7F7">
                      <a:alpha val="100000"/>
                    </a:srgbClr>
                  </a:clrFrom>
                  <a:clrTo>
                    <a:srgbClr val="F7F7F7">
                      <a:alpha val="100000"/>
                      <a:alpha val="0"/>
                    </a:srgbClr>
                  </a:clrTo>
                </a:clrChange>
                <a:lum bright="12000" contrast="48000"/>
              </a:blip>
              <a:stretch>
                <a:fillRect/>
              </a:stretch>
            </p:blipFill>
            <p:spPr>
              <a:xfrm>
                <a:off x="647" y="2057"/>
                <a:ext cx="3441" cy="2731"/>
              </a:xfrm>
              <a:prstGeom prst="rect">
                <a:avLst/>
              </a:prstGeom>
              <a:noFill/>
              <a:ln w="9525">
                <a:noFill/>
              </a:ln>
            </p:spPr>
          </p:pic>
        </p:grpSp>
        <p:grpSp>
          <p:nvGrpSpPr>
            <p:cNvPr id="75" name="组合 74"/>
            <p:cNvGrpSpPr/>
            <p:nvPr/>
          </p:nvGrpSpPr>
          <p:grpSpPr>
            <a:xfrm>
              <a:off x="7659" y="2455"/>
              <a:ext cx="3661" cy="5135"/>
              <a:chOff x="7722" y="2455"/>
              <a:chExt cx="3661" cy="5135"/>
            </a:xfrm>
          </p:grpSpPr>
          <p:pic>
            <p:nvPicPr>
              <p:cNvPr id="2" name="图片 1"/>
              <p:cNvPicPr>
                <a:picLocks noChangeAspect="1"/>
              </p:cNvPicPr>
              <p:nvPr/>
            </p:nvPicPr>
            <p:blipFill>
              <a:blip r:embed="rId6">
                <a:clrChange>
                  <a:clrFrom>
                    <a:srgbClr val="F7F7F7">
                      <a:alpha val="100000"/>
                    </a:srgbClr>
                  </a:clrFrom>
                  <a:clrTo>
                    <a:srgbClr val="F7F7F7">
                      <a:alpha val="100000"/>
                      <a:alpha val="0"/>
                    </a:srgbClr>
                  </a:clrTo>
                </a:clrChange>
                <a:lum bright="12000" contrast="36000"/>
              </a:blip>
              <a:stretch>
                <a:fillRect/>
              </a:stretch>
            </p:blipFill>
            <p:spPr>
              <a:xfrm>
                <a:off x="7722" y="2455"/>
                <a:ext cx="3470" cy="2199"/>
              </a:xfrm>
              <a:prstGeom prst="rect">
                <a:avLst/>
              </a:prstGeom>
              <a:noFill/>
              <a:ln w="9525">
                <a:noFill/>
              </a:ln>
            </p:spPr>
          </p:pic>
          <p:sp>
            <p:nvSpPr>
              <p:cNvPr id="3" name="文本框 2"/>
              <p:cNvSpPr txBox="1"/>
              <p:nvPr/>
            </p:nvSpPr>
            <p:spPr>
              <a:xfrm>
                <a:off x="7740" y="4712"/>
                <a:ext cx="3643" cy="919"/>
              </a:xfrm>
              <a:prstGeom prst="rect">
                <a:avLst/>
              </a:prstGeom>
              <a:noFill/>
            </p:spPr>
            <p:txBody>
              <a:bodyPr wrap="square" rtlCol="0">
                <a:noAutofit/>
              </a:bodyPr>
              <a:lstStyle/>
              <a:p>
                <a:pPr algn="ctr"/>
                <a:r>
                  <a:rPr lang="en-US" altLang="zh-CN" sz="1890">
                    <a:latin typeface="Arial" panose="020B0604020202020204" pitchFamily="34" charset="0"/>
                    <a:ea typeface="Arial" panose="020B0604020202020204" pitchFamily="34" charset="0"/>
                  </a:rPr>
                  <a:t>C=0, B=0</a:t>
                </a:r>
              </a:p>
              <a:p>
                <a:pPr algn="ctr"/>
                <a:r>
                  <a:rPr lang="en-US" altLang="zh-CN" sz="1890">
                    <a:latin typeface="Arial" panose="020B0604020202020204" pitchFamily="34" charset="0"/>
                    <a:ea typeface="Arial" panose="020B0604020202020204" pitchFamily="34" charset="0"/>
                  </a:rPr>
                  <a:t>“Pancake” City</a:t>
                </a:r>
              </a:p>
            </p:txBody>
          </p:sp>
          <p:grpSp>
            <p:nvGrpSpPr>
              <p:cNvPr id="23" name="组合 22"/>
              <p:cNvGrpSpPr/>
              <p:nvPr/>
            </p:nvGrpSpPr>
            <p:grpSpPr>
              <a:xfrm>
                <a:off x="8233" y="5693"/>
                <a:ext cx="2657" cy="1897"/>
                <a:chOff x="5687" y="5068"/>
                <a:chExt cx="2657" cy="1897"/>
              </a:xfrm>
            </p:grpSpPr>
            <p:cxnSp>
              <p:nvCxnSpPr>
                <p:cNvPr id="4" name="直接箭头连接符 3"/>
                <p:cNvCxnSpPr/>
                <p:nvPr/>
              </p:nvCxnSpPr>
              <p:spPr>
                <a:xfrm flipV="1">
                  <a:off x="6221" y="5213"/>
                  <a:ext cx="0" cy="1545"/>
                </a:xfrm>
                <a:prstGeom prst="straightConnector1">
                  <a:avLst/>
                </a:prstGeom>
                <a:ln>
                  <a:solidFill>
                    <a:schemeClr val="tx1"/>
                  </a:solidFill>
                  <a:tailEnd type="arrow"/>
                </a:ln>
              </p:spPr>
              <p:style>
                <a:lnRef idx="2">
                  <a:schemeClr val="accent1"/>
                </a:lnRef>
                <a:fillRef idx="0">
                  <a:srgbClr val="FFFFFF"/>
                </a:fillRef>
                <a:effectRef idx="0">
                  <a:srgbClr val="FFFFFF"/>
                </a:effectRef>
                <a:fontRef idx="minor">
                  <a:schemeClr val="tx1"/>
                </a:fontRef>
              </p:style>
            </p:cxnSp>
            <p:cxnSp>
              <p:nvCxnSpPr>
                <p:cNvPr id="5" name="直接箭头连接符 4"/>
                <p:cNvCxnSpPr/>
                <p:nvPr/>
              </p:nvCxnSpPr>
              <p:spPr>
                <a:xfrm>
                  <a:off x="6221" y="6772"/>
                  <a:ext cx="1740" cy="0"/>
                </a:xfrm>
                <a:prstGeom prst="straightConnector1">
                  <a:avLst/>
                </a:prstGeom>
                <a:ln>
                  <a:solidFill>
                    <a:schemeClr val="tx1"/>
                  </a:solidFill>
                  <a:tailEnd type="arrow"/>
                </a:ln>
              </p:spPr>
              <p:style>
                <a:lnRef idx="2">
                  <a:schemeClr val="accent1"/>
                </a:lnRef>
                <a:fillRef idx="0">
                  <a:srgbClr val="FFFFFF"/>
                </a:fillRef>
                <a:effectRef idx="0">
                  <a:srgbClr val="FFFFFF"/>
                </a:effectRef>
                <a:fontRef idx="minor">
                  <a:schemeClr val="tx1"/>
                </a:fontRef>
              </p:style>
            </p:cxnSp>
            <p:cxnSp>
              <p:nvCxnSpPr>
                <p:cNvPr id="6" name="直接连接符 5"/>
                <p:cNvCxnSpPr/>
                <p:nvPr/>
              </p:nvCxnSpPr>
              <p:spPr>
                <a:xfrm>
                  <a:off x="6236" y="6085"/>
                  <a:ext cx="1665" cy="0"/>
                </a:xfrm>
                <a:prstGeom prst="line">
                  <a:avLst/>
                </a:prstGeom>
                <a:ln w="38100">
                  <a:solidFill>
                    <a:srgbClr val="47A2DE"/>
                  </a:solidFill>
                </a:ln>
              </p:spPr>
              <p:style>
                <a:lnRef idx="2">
                  <a:schemeClr val="accent1"/>
                </a:lnRef>
                <a:fillRef idx="0">
                  <a:srgbClr val="FFFFFF"/>
                </a:fillRef>
                <a:effectRef idx="0">
                  <a:srgbClr val="FFFFFF"/>
                </a:effectRef>
                <a:fontRef idx="minor">
                  <a:schemeClr val="tx1"/>
                </a:fontRef>
              </p:style>
            </p:cxnSp>
            <p:grpSp>
              <p:nvGrpSpPr>
                <p:cNvPr id="19" name="组合 18"/>
                <p:cNvGrpSpPr/>
                <p:nvPr/>
              </p:nvGrpSpPr>
              <p:grpSpPr>
                <a:xfrm>
                  <a:off x="5687" y="5068"/>
                  <a:ext cx="2657" cy="1897"/>
                  <a:chOff x="3202" y="5108"/>
                  <a:chExt cx="2657" cy="1897"/>
                </a:xfrm>
              </p:grpSpPr>
              <p:sp>
                <p:nvSpPr>
                  <p:cNvPr id="20" name="TextBox 256"/>
                  <p:cNvSpPr txBox="1"/>
                  <p:nvPr/>
                </p:nvSpPr>
                <p:spPr>
                  <a:xfrm>
                    <a:off x="3320" y="6496"/>
                    <a:ext cx="422" cy="509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fontAlgn="auto"/>
                    <a:r>
                      <a:rPr lang="en-US" sz="1890" noProof="1"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rPr>
                      <a:t>0</a:t>
                    </a:r>
                  </a:p>
                </p:txBody>
              </p:sp>
              <p:sp>
                <p:nvSpPr>
                  <p:cNvPr id="21" name="文本框 20"/>
                  <p:cNvSpPr txBox="1"/>
                  <p:nvPr/>
                </p:nvSpPr>
                <p:spPr>
                  <a:xfrm>
                    <a:off x="3202" y="5108"/>
                    <a:ext cx="446" cy="50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US" altLang="zh-CN" sz="1890" i="1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H</a:t>
                    </a:r>
                  </a:p>
                </p:txBody>
              </p:sp>
              <p:sp>
                <p:nvSpPr>
                  <p:cNvPr id="22" name="文本框 21"/>
                  <p:cNvSpPr txBox="1"/>
                  <p:nvPr/>
                </p:nvSpPr>
                <p:spPr>
                  <a:xfrm>
                    <a:off x="5413" y="6496"/>
                    <a:ext cx="446" cy="50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US" altLang="zh-CN" sz="1890" i="1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r</a:t>
                    </a:r>
                  </a:p>
                </p:txBody>
              </p:sp>
            </p:grpSp>
          </p:grpSp>
        </p:grpSp>
        <p:grpSp>
          <p:nvGrpSpPr>
            <p:cNvPr id="77" name="组合 76"/>
            <p:cNvGrpSpPr/>
            <p:nvPr/>
          </p:nvGrpSpPr>
          <p:grpSpPr>
            <a:xfrm>
              <a:off x="14741" y="2761"/>
              <a:ext cx="3767" cy="4829"/>
              <a:chOff x="14737" y="2761"/>
              <a:chExt cx="3767" cy="4829"/>
            </a:xfrm>
          </p:grpSpPr>
          <p:pic>
            <p:nvPicPr>
              <p:cNvPr id="17" name="图片 16"/>
              <p:cNvPicPr>
                <a:picLocks noChangeAspect="1"/>
              </p:cNvPicPr>
              <p:nvPr/>
            </p:nvPicPr>
            <p:blipFill>
              <a:blip r:embed="rId7">
                <a:clrChange>
                  <a:clrFrom>
                    <a:srgbClr val="F7F7F7">
                      <a:alpha val="100000"/>
                    </a:srgbClr>
                  </a:clrFrom>
                  <a:clrTo>
                    <a:srgbClr val="F7F7F7">
                      <a:alpha val="100000"/>
                      <a:alpha val="0"/>
                    </a:srgbClr>
                  </a:clrTo>
                </a:clrChange>
                <a:lum bright="12000" contrast="36000"/>
              </a:blip>
              <a:srcRect l="8333" t="26856" r="10968" b="26289"/>
              <a:stretch>
                <a:fillRect/>
              </a:stretch>
            </p:blipFill>
            <p:spPr>
              <a:xfrm>
                <a:off x="14737" y="2761"/>
                <a:ext cx="3767" cy="1736"/>
              </a:xfrm>
              <a:prstGeom prst="rect">
                <a:avLst/>
              </a:prstGeom>
              <a:noFill/>
              <a:ln w="9525">
                <a:noFill/>
              </a:ln>
            </p:spPr>
          </p:pic>
          <p:sp>
            <p:nvSpPr>
              <p:cNvPr id="5126" name="TextBox 190"/>
              <p:cNvSpPr txBox="1"/>
              <p:nvPr/>
            </p:nvSpPr>
            <p:spPr>
              <a:xfrm>
                <a:off x="14861" y="4712"/>
                <a:ext cx="3643" cy="919"/>
              </a:xfrm>
              <a:prstGeom prst="rect">
                <a:avLst/>
              </a:prstGeom>
              <a:noFill/>
            </p:spPr>
            <p:txBody>
              <a:bodyPr wrap="square" rtlCol="0" anchor="t" anchorCtr="0">
                <a:noAutofit/>
              </a:bodyPr>
              <a:lstStyle/>
              <a:p>
                <a:pPr lvl="0" algn="ctr">
                  <a:buClrTx/>
                  <a:buSzTx/>
                  <a:buFontTx/>
                </a:pPr>
                <a:r>
                  <a:rPr lang="en-US" altLang="zh-CN" sz="1890">
                    <a:latin typeface="Arial" panose="020B0604020202020204" pitchFamily="34" charset="0"/>
                    <a:ea typeface="Arial" panose="020B0604020202020204" pitchFamily="34" charset="0"/>
                    <a:sym typeface="+mn-ea"/>
                  </a:rPr>
                  <a:t>C&lt;0, B&lt;0</a:t>
                </a:r>
              </a:p>
              <a:p>
                <a:pPr lvl="0" algn="ctr">
                  <a:buClrTx/>
                  <a:buSzTx/>
                  <a:buFontTx/>
                </a:pPr>
                <a:r>
                  <a:rPr lang="en-US" altLang="zh-CN" sz="1890">
                    <a:latin typeface="Arial" panose="020B0604020202020204" pitchFamily="34" charset="0"/>
                    <a:sym typeface="+mn-ea"/>
                  </a:rPr>
                  <a:t>“Pyramid”City</a:t>
                </a:r>
              </a:p>
            </p:txBody>
          </p:sp>
          <p:grpSp>
            <p:nvGrpSpPr>
              <p:cNvPr id="49" name="组合 48"/>
              <p:cNvGrpSpPr/>
              <p:nvPr/>
            </p:nvGrpSpPr>
            <p:grpSpPr>
              <a:xfrm>
                <a:off x="15354" y="5693"/>
                <a:ext cx="2657" cy="1897"/>
                <a:chOff x="10870" y="5054"/>
                <a:chExt cx="2657" cy="1897"/>
              </a:xfrm>
            </p:grpSpPr>
            <p:sp>
              <p:nvSpPr>
                <p:cNvPr id="37" name="任意多边形 36"/>
                <p:cNvSpPr/>
                <p:nvPr/>
              </p:nvSpPr>
              <p:spPr>
                <a:xfrm>
                  <a:off x="11415" y="6023"/>
                  <a:ext cx="1395" cy="695"/>
                </a:xfrm>
                <a:custGeom>
                  <a:avLst/>
                  <a:gdLst>
                    <a:gd name="connsiteX0" fmla="*/ 0 w 6210"/>
                    <a:gd name="connsiteY0" fmla="*/ 0 h 2550"/>
                    <a:gd name="connsiteX1" fmla="*/ 6210 w 6210"/>
                    <a:gd name="connsiteY1" fmla="*/ 2550 h 255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</a:cxnLst>
                  <a:rect l="l" t="t" r="r" b="b"/>
                  <a:pathLst>
                    <a:path w="6210" h="2550">
                      <a:moveTo>
                        <a:pt x="0" y="0"/>
                      </a:moveTo>
                      <a:cubicBezTo>
                        <a:pt x="2385" y="1290"/>
                        <a:pt x="4110" y="2085"/>
                        <a:pt x="6210" y="2550"/>
                      </a:cubicBezTo>
                    </a:path>
                  </a:pathLst>
                </a:custGeom>
                <a:ln w="38100">
                  <a:solidFill>
                    <a:srgbClr val="47A2DE"/>
                  </a:solidFill>
                </a:ln>
              </p:spPr>
              <p:style>
                <a:lnRef idx="2">
                  <a:schemeClr val="accent1"/>
                </a:lnRef>
                <a:fillRef idx="0">
                  <a:srgbClr val="FFFFFF"/>
                </a:fillRef>
                <a:effectRef idx="0">
                  <a:srgbClr val="FFFFFF"/>
                </a:effectRef>
                <a:fontRef idx="minor">
                  <a:schemeClr val="tx1"/>
                </a:fontRef>
              </p:style>
              <p:txBody>
                <a:bodyPr vertOverflow="overflow" horzOverflow="overflow" vert="horz" wrap="square" numCol="1" spcCol="0" rtlCol="0" fromWordArt="0" anchor="ctr" anchorCtr="0" forceAA="0" compatLnSpc="1">
                  <a:noAutofit/>
                </a:bodyPr>
                <a:lstStyle/>
                <a:p>
                  <a:pPr lvl="0" algn="ctr">
                    <a:buClrTx/>
                    <a:buSzTx/>
                    <a:buFontTx/>
                  </a:pPr>
                  <a:endParaRPr lang="zh-CN" altLang="en-US" sz="2125">
                    <a:sym typeface="+mn-ea"/>
                  </a:endParaRPr>
                </a:p>
              </p:txBody>
            </p:sp>
            <p:cxnSp>
              <p:nvCxnSpPr>
                <p:cNvPr id="39" name="直接箭头连接符 38"/>
                <p:cNvCxnSpPr/>
                <p:nvPr/>
              </p:nvCxnSpPr>
              <p:spPr>
                <a:xfrm flipV="1">
                  <a:off x="11423" y="5173"/>
                  <a:ext cx="0" cy="1545"/>
                </a:xfrm>
                <a:prstGeom prst="straightConnector1">
                  <a:avLst/>
                </a:prstGeom>
                <a:ln>
                  <a:solidFill>
                    <a:schemeClr val="tx1"/>
                  </a:solidFill>
                  <a:tailEnd type="arrow"/>
                </a:ln>
              </p:spPr>
              <p:style>
                <a:lnRef idx="2">
                  <a:schemeClr val="accent1"/>
                </a:lnRef>
                <a:fillRef idx="0">
                  <a:srgbClr val="FFFFFF"/>
                </a:fillRef>
                <a:effectRef idx="0">
                  <a:srgbClr val="FFFFFF"/>
                </a:effectRef>
                <a:fontRef idx="minor">
                  <a:schemeClr val="tx1"/>
                </a:fontRef>
              </p:style>
            </p:cxnSp>
            <p:cxnSp>
              <p:nvCxnSpPr>
                <p:cNvPr id="40" name="直接箭头连接符 39"/>
                <p:cNvCxnSpPr/>
                <p:nvPr/>
              </p:nvCxnSpPr>
              <p:spPr>
                <a:xfrm>
                  <a:off x="11423" y="6732"/>
                  <a:ext cx="1740" cy="0"/>
                </a:xfrm>
                <a:prstGeom prst="straightConnector1">
                  <a:avLst/>
                </a:prstGeom>
                <a:ln>
                  <a:solidFill>
                    <a:schemeClr val="tx1"/>
                  </a:solidFill>
                  <a:tailEnd type="arrow"/>
                </a:ln>
              </p:spPr>
              <p:style>
                <a:lnRef idx="2">
                  <a:schemeClr val="accent1"/>
                </a:lnRef>
                <a:fillRef idx="0">
                  <a:srgbClr val="FFFFFF"/>
                </a:fillRef>
                <a:effectRef idx="0">
                  <a:srgbClr val="FFFFFF"/>
                </a:effectRef>
                <a:fontRef idx="minor">
                  <a:schemeClr val="tx1"/>
                </a:fontRef>
              </p:style>
            </p:cxnSp>
            <p:grpSp>
              <p:nvGrpSpPr>
                <p:cNvPr id="45" name="组合 44"/>
                <p:cNvGrpSpPr/>
                <p:nvPr/>
              </p:nvGrpSpPr>
              <p:grpSpPr>
                <a:xfrm>
                  <a:off x="10870" y="5054"/>
                  <a:ext cx="2657" cy="1897"/>
                  <a:chOff x="3202" y="5108"/>
                  <a:chExt cx="2657" cy="1897"/>
                </a:xfrm>
              </p:grpSpPr>
              <p:sp>
                <p:nvSpPr>
                  <p:cNvPr id="46" name="TextBox 256"/>
                  <p:cNvSpPr txBox="1"/>
                  <p:nvPr/>
                </p:nvSpPr>
                <p:spPr>
                  <a:xfrm>
                    <a:off x="3320" y="6496"/>
                    <a:ext cx="422" cy="509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fontAlgn="auto"/>
                    <a:r>
                      <a:rPr lang="en-US" sz="1890" noProof="1"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rPr>
                      <a:t>0</a:t>
                    </a:r>
                  </a:p>
                </p:txBody>
              </p:sp>
              <p:sp>
                <p:nvSpPr>
                  <p:cNvPr id="47" name="文本框 46"/>
                  <p:cNvSpPr txBox="1"/>
                  <p:nvPr/>
                </p:nvSpPr>
                <p:spPr>
                  <a:xfrm>
                    <a:off x="3202" y="5108"/>
                    <a:ext cx="446" cy="50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US" altLang="zh-CN" sz="1890" i="1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H</a:t>
                    </a:r>
                  </a:p>
                </p:txBody>
              </p:sp>
              <p:sp>
                <p:nvSpPr>
                  <p:cNvPr id="48" name="文本框 47"/>
                  <p:cNvSpPr txBox="1"/>
                  <p:nvPr/>
                </p:nvSpPr>
                <p:spPr>
                  <a:xfrm>
                    <a:off x="5413" y="6496"/>
                    <a:ext cx="446" cy="50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US" altLang="zh-CN" sz="1890" i="1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r</a:t>
                    </a:r>
                  </a:p>
                </p:txBody>
              </p:sp>
            </p:grpSp>
          </p:grpSp>
        </p:grpSp>
        <p:grpSp>
          <p:nvGrpSpPr>
            <p:cNvPr id="76" name="组合 75"/>
            <p:cNvGrpSpPr/>
            <p:nvPr/>
          </p:nvGrpSpPr>
          <p:grpSpPr>
            <a:xfrm>
              <a:off x="11209" y="2584"/>
              <a:ext cx="3643" cy="5006"/>
              <a:chOff x="11192" y="2584"/>
              <a:chExt cx="3643" cy="5006"/>
            </a:xfrm>
          </p:grpSpPr>
          <p:pic>
            <p:nvPicPr>
              <p:cNvPr id="4100" name="图片 6"/>
              <p:cNvPicPr>
                <a:picLocks noChangeAspect="1"/>
              </p:cNvPicPr>
              <p:nvPr/>
            </p:nvPicPr>
            <p:blipFill>
              <a:blip r:embed="rId8">
                <a:clrChange>
                  <a:clrFrom>
                    <a:srgbClr val="F7F7F7">
                      <a:alpha val="100000"/>
                    </a:srgbClr>
                  </a:clrFrom>
                  <a:clrTo>
                    <a:srgbClr val="F7F7F7">
                      <a:alpha val="100000"/>
                      <a:alpha val="0"/>
                    </a:srgbClr>
                  </a:clrTo>
                </a:clrChange>
                <a:lum bright="12000" contrast="36000"/>
              </a:blip>
              <a:stretch>
                <a:fillRect/>
              </a:stretch>
            </p:blipFill>
            <p:spPr>
              <a:xfrm>
                <a:off x="11510" y="2584"/>
                <a:ext cx="3007" cy="2070"/>
              </a:xfrm>
              <a:prstGeom prst="rect">
                <a:avLst/>
              </a:prstGeom>
              <a:noFill/>
              <a:ln w="9525">
                <a:noFill/>
              </a:ln>
            </p:spPr>
          </p:pic>
          <p:sp>
            <p:nvSpPr>
              <p:cNvPr id="5127" name="TextBox 191"/>
              <p:cNvSpPr txBox="1"/>
              <p:nvPr/>
            </p:nvSpPr>
            <p:spPr>
              <a:xfrm>
                <a:off x="11192" y="4712"/>
                <a:ext cx="3643" cy="919"/>
              </a:xfrm>
              <a:prstGeom prst="rect">
                <a:avLst/>
              </a:prstGeom>
              <a:noFill/>
            </p:spPr>
            <p:txBody>
              <a:bodyPr wrap="square" rtlCol="0" anchor="t" anchorCtr="0">
                <a:noAutofit/>
              </a:bodyPr>
              <a:lstStyle/>
              <a:p>
                <a:pPr lvl="0" algn="ctr">
                  <a:buClrTx/>
                  <a:buSzTx/>
                  <a:buFontTx/>
                </a:pPr>
                <a:r>
                  <a:rPr lang="en-US" altLang="zh-CN" sz="1890">
                    <a:latin typeface="Arial" panose="020B0604020202020204" pitchFamily="34" charset="0"/>
                    <a:ea typeface="Arial" panose="020B0604020202020204" pitchFamily="34" charset="0"/>
                    <a:sym typeface="+mn-ea"/>
                  </a:rPr>
                  <a:t>C&lt;0, B&gt;0</a:t>
                </a:r>
              </a:p>
              <a:p>
                <a:pPr lvl="0" algn="ctr">
                  <a:buClrTx/>
                  <a:buSzTx/>
                  <a:buFontTx/>
                </a:pPr>
                <a:r>
                  <a:rPr lang="en-US" altLang="zh-CN" sz="1890">
                    <a:latin typeface="Arial" panose="020B0604020202020204" pitchFamily="34" charset="0"/>
                    <a:ea typeface="Arial" panose="020B0604020202020204" pitchFamily="34" charset="0"/>
                    <a:sym typeface="+mn-ea"/>
                  </a:rPr>
                  <a:t>“Volcanic Cone” City</a:t>
                </a:r>
              </a:p>
            </p:txBody>
          </p:sp>
          <p:grpSp>
            <p:nvGrpSpPr>
              <p:cNvPr id="52" name="组合 51"/>
              <p:cNvGrpSpPr/>
              <p:nvPr/>
            </p:nvGrpSpPr>
            <p:grpSpPr>
              <a:xfrm>
                <a:off x="11686" y="5693"/>
                <a:ext cx="2657" cy="1897"/>
                <a:chOff x="8290" y="5068"/>
                <a:chExt cx="2657" cy="1897"/>
              </a:xfrm>
            </p:grpSpPr>
            <p:grpSp>
              <p:nvGrpSpPr>
                <p:cNvPr id="27" name="组合 26"/>
                <p:cNvGrpSpPr/>
                <p:nvPr/>
              </p:nvGrpSpPr>
              <p:grpSpPr>
                <a:xfrm>
                  <a:off x="8290" y="5068"/>
                  <a:ext cx="2657" cy="1897"/>
                  <a:chOff x="3202" y="5108"/>
                  <a:chExt cx="2657" cy="1897"/>
                </a:xfrm>
              </p:grpSpPr>
              <p:cxnSp>
                <p:nvCxnSpPr>
                  <p:cNvPr id="28" name="直接箭头连接符 27"/>
                  <p:cNvCxnSpPr/>
                  <p:nvPr/>
                </p:nvCxnSpPr>
                <p:spPr>
                  <a:xfrm flipV="1">
                    <a:off x="3755" y="5227"/>
                    <a:ext cx="0" cy="1545"/>
                  </a:xfrm>
                  <a:prstGeom prst="straightConnector1">
                    <a:avLst/>
                  </a:prstGeom>
                  <a:ln>
                    <a:solidFill>
                      <a:schemeClr val="tx1"/>
                    </a:solidFill>
                    <a:tailEnd type="arrow"/>
                  </a:ln>
                </p:spPr>
                <p:style>
                  <a:lnRef idx="2">
                    <a:schemeClr val="accent1"/>
                  </a:lnRef>
                  <a:fillRef idx="0">
                    <a:srgbClr val="FFFFFF"/>
                  </a:fillRef>
                  <a:effectRef idx="0">
                    <a:srgbClr val="FFFFFF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9" name="直接箭头连接符 28"/>
                  <p:cNvCxnSpPr/>
                  <p:nvPr/>
                </p:nvCxnSpPr>
                <p:spPr>
                  <a:xfrm>
                    <a:off x="3755" y="6786"/>
                    <a:ext cx="1740" cy="0"/>
                  </a:xfrm>
                  <a:prstGeom prst="straightConnector1">
                    <a:avLst/>
                  </a:prstGeom>
                  <a:ln>
                    <a:solidFill>
                      <a:schemeClr val="tx1"/>
                    </a:solidFill>
                    <a:tailEnd type="arrow"/>
                  </a:ln>
                </p:spPr>
                <p:style>
                  <a:lnRef idx="2">
                    <a:schemeClr val="accent1"/>
                  </a:lnRef>
                  <a:fillRef idx="0">
                    <a:srgbClr val="FFFFFF"/>
                  </a:fillRef>
                  <a:effectRef idx="0">
                    <a:srgbClr val="FFFFFF"/>
                  </a:effectRef>
                  <a:fontRef idx="minor">
                    <a:schemeClr val="tx1"/>
                  </a:fontRef>
                </p:style>
              </p:cxnSp>
              <p:grpSp>
                <p:nvGrpSpPr>
                  <p:cNvPr id="31" name="组合 30"/>
                  <p:cNvGrpSpPr/>
                  <p:nvPr/>
                </p:nvGrpSpPr>
                <p:grpSpPr>
                  <a:xfrm>
                    <a:off x="3202" y="5108"/>
                    <a:ext cx="2657" cy="1897"/>
                    <a:chOff x="3202" y="5108"/>
                    <a:chExt cx="2657" cy="1897"/>
                  </a:xfrm>
                </p:grpSpPr>
                <p:sp>
                  <p:nvSpPr>
                    <p:cNvPr id="32" name="TextBox 256"/>
                    <p:cNvSpPr txBox="1"/>
                    <p:nvPr/>
                  </p:nvSpPr>
                  <p:spPr>
                    <a:xfrm>
                      <a:off x="3320" y="6496"/>
                      <a:ext cx="422" cy="509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pPr fontAlgn="auto"/>
                      <a:r>
                        <a:rPr lang="en-US" sz="1890" noProof="1"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0</a:t>
                      </a:r>
                    </a:p>
                  </p:txBody>
                </p:sp>
                <p:sp>
                  <p:nvSpPr>
                    <p:cNvPr id="33" name="文本框 32"/>
                    <p:cNvSpPr txBox="1"/>
                    <p:nvPr/>
                  </p:nvSpPr>
                  <p:spPr>
                    <a:xfrm>
                      <a:off x="3202" y="5108"/>
                      <a:ext cx="446" cy="509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n-US" altLang="zh-CN" sz="1890" i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H</a:t>
                      </a:r>
                    </a:p>
                  </p:txBody>
                </p:sp>
                <p:sp>
                  <p:nvSpPr>
                    <p:cNvPr id="34" name="文本框 33"/>
                    <p:cNvSpPr txBox="1"/>
                    <p:nvPr/>
                  </p:nvSpPr>
                  <p:spPr>
                    <a:xfrm>
                      <a:off x="5413" y="6496"/>
                      <a:ext cx="446" cy="509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n-US" altLang="zh-CN" sz="1890" i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</a:t>
                      </a:r>
                    </a:p>
                  </p:txBody>
                </p:sp>
              </p:grpSp>
            </p:grpSp>
            <p:sp>
              <p:nvSpPr>
                <p:cNvPr id="51" name="任意多边形 50"/>
                <p:cNvSpPr/>
                <p:nvPr/>
              </p:nvSpPr>
              <p:spPr>
                <a:xfrm>
                  <a:off x="8843" y="5741"/>
                  <a:ext cx="1742" cy="701"/>
                </a:xfrm>
                <a:custGeom>
                  <a:avLst/>
                  <a:gdLst>
                    <a:gd name="connsiteX0" fmla="*/ 0 w 6165"/>
                    <a:gd name="connsiteY0" fmla="*/ 895 h 1794"/>
                    <a:gd name="connsiteX1" fmla="*/ 2745 w 6165"/>
                    <a:gd name="connsiteY1" fmla="*/ 25 h 1794"/>
                    <a:gd name="connsiteX2" fmla="*/ 6165 w 6165"/>
                    <a:gd name="connsiteY2" fmla="*/ 1795 h 179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6165" h="1795">
                      <a:moveTo>
                        <a:pt x="0" y="895"/>
                      </a:moveTo>
                      <a:cubicBezTo>
                        <a:pt x="411" y="669"/>
                        <a:pt x="1506" y="-152"/>
                        <a:pt x="2745" y="25"/>
                      </a:cubicBezTo>
                      <a:cubicBezTo>
                        <a:pt x="3984" y="202"/>
                        <a:pt x="5415" y="1432"/>
                        <a:pt x="6165" y="1795"/>
                      </a:cubicBezTo>
                    </a:path>
                  </a:pathLst>
                </a:custGeom>
                <a:ln w="38100">
                  <a:solidFill>
                    <a:srgbClr val="47A2DE"/>
                  </a:solidFill>
                </a:ln>
              </p:spPr>
              <p:style>
                <a:lnRef idx="2">
                  <a:schemeClr val="accent1"/>
                </a:lnRef>
                <a:fillRef idx="0">
                  <a:srgbClr val="FFFFFF"/>
                </a:fillRef>
                <a:effectRef idx="0">
                  <a:srgbClr val="FFFFFF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2125"/>
                </a:p>
              </p:txBody>
            </p:sp>
          </p:grpSp>
        </p:grpSp>
        <p:grpSp>
          <p:nvGrpSpPr>
            <p:cNvPr id="74" name="组合 73"/>
            <p:cNvGrpSpPr/>
            <p:nvPr/>
          </p:nvGrpSpPr>
          <p:grpSpPr>
            <a:xfrm>
              <a:off x="4087" y="2348"/>
              <a:ext cx="3683" cy="5242"/>
              <a:chOff x="4198" y="2348"/>
              <a:chExt cx="3683" cy="5242"/>
            </a:xfrm>
          </p:grpSpPr>
          <p:sp>
            <p:nvSpPr>
              <p:cNvPr id="64" name="TextBox 190"/>
              <p:cNvSpPr txBox="1"/>
              <p:nvPr/>
            </p:nvSpPr>
            <p:spPr>
              <a:xfrm>
                <a:off x="4218" y="4712"/>
                <a:ext cx="3643" cy="919"/>
              </a:xfrm>
              <a:prstGeom prst="rect">
                <a:avLst/>
              </a:prstGeom>
              <a:noFill/>
            </p:spPr>
            <p:txBody>
              <a:bodyPr wrap="square" rtlCol="0" anchor="t" anchorCtr="0">
                <a:noAutofit/>
              </a:bodyPr>
              <a:lstStyle/>
              <a:p>
                <a:pPr lvl="0" algn="ctr">
                  <a:buClrTx/>
                  <a:buSzTx/>
                  <a:buFontTx/>
                </a:pPr>
                <a:r>
                  <a:rPr lang="en-US" altLang="zh-CN" sz="1890">
                    <a:latin typeface="Arial" panose="020B0604020202020204" pitchFamily="34" charset="0"/>
                    <a:ea typeface="Arial" panose="020B0604020202020204" pitchFamily="34" charset="0"/>
                    <a:sym typeface="+mn-ea"/>
                  </a:rPr>
                  <a:t>C&gt;0, B&lt;0</a:t>
                </a:r>
              </a:p>
              <a:p>
                <a:pPr lvl="0" algn="ctr">
                  <a:buClrTx/>
                  <a:buSzTx/>
                  <a:buFontTx/>
                </a:pPr>
                <a:r>
                  <a:rPr lang="en-US" altLang="zh-CN" sz="1890">
                    <a:latin typeface="Arial" panose="020B0604020202020204" pitchFamily="34" charset="0"/>
                    <a:sym typeface="+mn-ea"/>
                  </a:rPr>
                  <a:t>“Crown”City</a:t>
                </a:r>
              </a:p>
            </p:txBody>
          </p:sp>
          <p:pic>
            <p:nvPicPr>
              <p:cNvPr id="66" name="图片 65"/>
              <p:cNvPicPr>
                <a:picLocks noChangeAspect="1"/>
              </p:cNvPicPr>
              <p:nvPr/>
            </p:nvPicPr>
            <p:blipFill>
              <a:blip r:embed="rId9">
                <a:clrChange>
                  <a:clrFrom>
                    <a:srgbClr val="F7F7F7">
                      <a:alpha val="100000"/>
                    </a:srgbClr>
                  </a:clrFrom>
                  <a:clrTo>
                    <a:srgbClr val="F7F7F7">
                      <a:alpha val="100000"/>
                      <a:alpha val="0"/>
                    </a:srgbClr>
                  </a:clrTo>
                </a:clrChange>
                <a:lum bright="12000" contrast="36000"/>
              </a:blip>
              <a:stretch>
                <a:fillRect/>
              </a:stretch>
            </p:blipFill>
            <p:spPr>
              <a:xfrm>
                <a:off x="4198" y="2348"/>
                <a:ext cx="3683" cy="2478"/>
              </a:xfrm>
              <a:prstGeom prst="rect">
                <a:avLst/>
              </a:prstGeom>
              <a:noFill/>
              <a:ln w="9525">
                <a:noFill/>
              </a:ln>
            </p:spPr>
          </p:pic>
          <p:grpSp>
            <p:nvGrpSpPr>
              <p:cNvPr id="72" name="组合 71"/>
              <p:cNvGrpSpPr/>
              <p:nvPr/>
            </p:nvGrpSpPr>
            <p:grpSpPr>
              <a:xfrm>
                <a:off x="4712" y="5693"/>
                <a:ext cx="2657" cy="1897"/>
                <a:chOff x="4673" y="5693"/>
                <a:chExt cx="2657" cy="1897"/>
              </a:xfrm>
            </p:grpSpPr>
            <p:grpSp>
              <p:nvGrpSpPr>
                <p:cNvPr id="56" name="组合 55"/>
                <p:cNvGrpSpPr/>
                <p:nvPr/>
              </p:nvGrpSpPr>
              <p:grpSpPr>
                <a:xfrm>
                  <a:off x="4673" y="5693"/>
                  <a:ext cx="2657" cy="1897"/>
                  <a:chOff x="10870" y="5054"/>
                  <a:chExt cx="2657" cy="1897"/>
                </a:xfrm>
              </p:grpSpPr>
              <p:cxnSp>
                <p:nvCxnSpPr>
                  <p:cNvPr id="58" name="直接箭头连接符 57"/>
                  <p:cNvCxnSpPr/>
                  <p:nvPr/>
                </p:nvCxnSpPr>
                <p:spPr>
                  <a:xfrm flipV="1">
                    <a:off x="11423" y="5173"/>
                    <a:ext cx="0" cy="1545"/>
                  </a:xfrm>
                  <a:prstGeom prst="straightConnector1">
                    <a:avLst/>
                  </a:prstGeom>
                  <a:ln>
                    <a:solidFill>
                      <a:schemeClr val="tx1"/>
                    </a:solidFill>
                    <a:tailEnd type="arrow"/>
                  </a:ln>
                </p:spPr>
                <p:style>
                  <a:lnRef idx="2">
                    <a:schemeClr val="accent1"/>
                  </a:lnRef>
                  <a:fillRef idx="0">
                    <a:srgbClr val="FFFFFF"/>
                  </a:fillRef>
                  <a:effectRef idx="0">
                    <a:srgbClr val="FFFFFF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9" name="直接箭头连接符 58"/>
                  <p:cNvCxnSpPr/>
                  <p:nvPr/>
                </p:nvCxnSpPr>
                <p:spPr>
                  <a:xfrm>
                    <a:off x="11423" y="6732"/>
                    <a:ext cx="1740" cy="0"/>
                  </a:xfrm>
                  <a:prstGeom prst="straightConnector1">
                    <a:avLst/>
                  </a:prstGeom>
                  <a:ln>
                    <a:solidFill>
                      <a:schemeClr val="tx1"/>
                    </a:solidFill>
                    <a:tailEnd type="arrow"/>
                  </a:ln>
                </p:spPr>
                <p:style>
                  <a:lnRef idx="2">
                    <a:schemeClr val="accent1"/>
                  </a:lnRef>
                  <a:fillRef idx="0">
                    <a:srgbClr val="FFFFFF"/>
                  </a:fillRef>
                  <a:effectRef idx="0">
                    <a:srgbClr val="FFFFFF"/>
                  </a:effectRef>
                  <a:fontRef idx="minor">
                    <a:schemeClr val="tx1"/>
                  </a:fontRef>
                </p:style>
              </p:cxnSp>
              <p:grpSp>
                <p:nvGrpSpPr>
                  <p:cNvPr id="60" name="组合 59"/>
                  <p:cNvGrpSpPr/>
                  <p:nvPr/>
                </p:nvGrpSpPr>
                <p:grpSpPr>
                  <a:xfrm>
                    <a:off x="10870" y="5054"/>
                    <a:ext cx="2657" cy="1897"/>
                    <a:chOff x="3202" y="5108"/>
                    <a:chExt cx="2657" cy="1897"/>
                  </a:xfrm>
                </p:grpSpPr>
                <p:sp>
                  <p:nvSpPr>
                    <p:cNvPr id="61" name="TextBox 256"/>
                    <p:cNvSpPr txBox="1"/>
                    <p:nvPr/>
                  </p:nvSpPr>
                  <p:spPr>
                    <a:xfrm>
                      <a:off x="3320" y="6496"/>
                      <a:ext cx="422" cy="509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pPr fontAlgn="auto"/>
                      <a:r>
                        <a:rPr lang="en-US" sz="1890" noProof="1"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0</a:t>
                      </a:r>
                    </a:p>
                  </p:txBody>
                </p:sp>
                <p:sp>
                  <p:nvSpPr>
                    <p:cNvPr id="62" name="文本框 61"/>
                    <p:cNvSpPr txBox="1"/>
                    <p:nvPr/>
                  </p:nvSpPr>
                  <p:spPr>
                    <a:xfrm>
                      <a:off x="3202" y="5108"/>
                      <a:ext cx="446" cy="509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n-US" altLang="zh-CN" sz="1890" i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H</a:t>
                      </a:r>
                    </a:p>
                  </p:txBody>
                </p:sp>
                <p:sp>
                  <p:nvSpPr>
                    <p:cNvPr id="63" name="文本框 62"/>
                    <p:cNvSpPr txBox="1"/>
                    <p:nvPr/>
                  </p:nvSpPr>
                  <p:spPr>
                    <a:xfrm>
                      <a:off x="5413" y="6496"/>
                      <a:ext cx="446" cy="509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n-US" altLang="zh-CN" sz="1890" i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</a:t>
                      </a:r>
                    </a:p>
                  </p:txBody>
                </p:sp>
              </p:grpSp>
            </p:grpSp>
            <p:sp>
              <p:nvSpPr>
                <p:cNvPr id="68" name="任意多边形 67"/>
                <p:cNvSpPr/>
                <p:nvPr/>
              </p:nvSpPr>
              <p:spPr>
                <a:xfrm>
                  <a:off x="5227" y="6643"/>
                  <a:ext cx="1770" cy="296"/>
                </a:xfrm>
                <a:custGeom>
                  <a:avLst/>
                  <a:gdLst>
                    <a:gd name="connsiteX0" fmla="*/ 0 w 6127"/>
                    <a:gd name="connsiteY0" fmla="*/ 0 h 836"/>
                    <a:gd name="connsiteX1" fmla="*/ 3080 w 6127"/>
                    <a:gd name="connsiteY1" fmla="*/ 836 h 836"/>
                    <a:gd name="connsiteX2" fmla="*/ 6127 w 6127"/>
                    <a:gd name="connsiteY2" fmla="*/ 82 h 83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6127" h="836">
                      <a:moveTo>
                        <a:pt x="0" y="0"/>
                      </a:moveTo>
                      <a:cubicBezTo>
                        <a:pt x="492" y="328"/>
                        <a:pt x="1855" y="829"/>
                        <a:pt x="3080" y="836"/>
                      </a:cubicBezTo>
                      <a:cubicBezTo>
                        <a:pt x="4305" y="843"/>
                        <a:pt x="5586" y="344"/>
                        <a:pt x="6127" y="82"/>
                      </a:cubicBezTo>
                    </a:path>
                  </a:pathLst>
                </a:custGeom>
                <a:ln w="38100">
                  <a:solidFill>
                    <a:srgbClr val="47A2DE"/>
                  </a:solidFill>
                </a:ln>
              </p:spPr>
              <p:style>
                <a:lnRef idx="2">
                  <a:schemeClr val="accent1"/>
                </a:lnRef>
                <a:fillRef idx="0">
                  <a:srgbClr val="FFFFFF"/>
                </a:fillRef>
                <a:effectRef idx="0">
                  <a:srgbClr val="FFFFFF"/>
                </a:effectRef>
                <a:fontRef idx="minor">
                  <a:schemeClr val="tx1"/>
                </a:fontRef>
              </p:style>
              <p:txBody>
                <a:bodyPr vertOverflow="overflow" horzOverflow="overflow" vert="horz" wrap="square" numCol="1" spcCol="0" rtlCol="0" fromWordArt="0" anchor="ctr" anchorCtr="0" forceAA="0" compatLnSpc="1">
                  <a:noAutofit/>
                </a:bodyPr>
                <a:lstStyle/>
                <a:p>
                  <a:pPr lvl="0" algn="ctr">
                    <a:buClrTx/>
                    <a:buSzTx/>
                    <a:buFontTx/>
                  </a:pPr>
                  <a:endParaRPr lang="zh-CN" altLang="en-US" sz="2125">
                    <a:sym typeface="+mn-ea"/>
                  </a:endParaRPr>
                </a:p>
              </p:txBody>
            </p:sp>
          </p:grpSp>
        </p:grp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" name="组合 43"/>
          <p:cNvGrpSpPr/>
          <p:nvPr/>
        </p:nvGrpSpPr>
        <p:grpSpPr>
          <a:xfrm>
            <a:off x="1627505" y="8510905"/>
            <a:ext cx="9902825" cy="671195"/>
            <a:chOff x="1984" y="9408"/>
            <a:chExt cx="15595" cy="1057"/>
          </a:xfrm>
        </p:grpSpPr>
        <p:sp>
          <p:nvSpPr>
            <p:cNvPr id="32" name="文本框 31"/>
            <p:cNvSpPr txBox="1"/>
            <p:nvPr/>
          </p:nvSpPr>
          <p:spPr>
            <a:xfrm>
              <a:off x="13143" y="9416"/>
              <a:ext cx="4436" cy="5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1600"/>
                <a:t>Latin America Mean, 2016</a:t>
              </a:r>
            </a:p>
          </p:txBody>
        </p:sp>
        <p:sp>
          <p:nvSpPr>
            <p:cNvPr id="22" name="乘号 21"/>
            <p:cNvSpPr/>
            <p:nvPr/>
          </p:nvSpPr>
          <p:spPr>
            <a:xfrm>
              <a:off x="1984" y="9421"/>
              <a:ext cx="483" cy="480"/>
            </a:xfrm>
            <a:prstGeom prst="mathMultiply">
              <a:avLst/>
            </a:prstGeom>
            <a:solidFill>
              <a:srgbClr val="E85748">
                <a:alpha val="80000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solidFill>
                  <a:srgbClr val="A985CA"/>
                </a:solidFill>
              </a:endParaRPr>
            </a:p>
          </p:txBody>
        </p:sp>
        <p:sp>
          <p:nvSpPr>
            <p:cNvPr id="23" name="文本框 22"/>
            <p:cNvSpPr txBox="1"/>
            <p:nvPr/>
          </p:nvSpPr>
          <p:spPr>
            <a:xfrm>
              <a:off x="2483" y="9434"/>
              <a:ext cx="3227" cy="5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1600"/>
                <a:t>Africa Mean, 2016</a:t>
              </a:r>
            </a:p>
          </p:txBody>
        </p:sp>
        <p:sp>
          <p:nvSpPr>
            <p:cNvPr id="24" name="乘号 23"/>
            <p:cNvSpPr/>
            <p:nvPr/>
          </p:nvSpPr>
          <p:spPr>
            <a:xfrm>
              <a:off x="1984" y="9935"/>
              <a:ext cx="483" cy="480"/>
            </a:xfrm>
            <a:prstGeom prst="mathMultiply">
              <a:avLst/>
            </a:prstGeom>
            <a:solidFill>
              <a:srgbClr val="E85748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solidFill>
                  <a:srgbClr val="A985CA"/>
                </a:solidFill>
              </a:endParaRPr>
            </a:p>
          </p:txBody>
        </p:sp>
        <p:sp>
          <p:nvSpPr>
            <p:cNvPr id="25" name="文本框 24"/>
            <p:cNvSpPr txBox="1"/>
            <p:nvPr/>
          </p:nvSpPr>
          <p:spPr>
            <a:xfrm>
              <a:off x="2483" y="9934"/>
              <a:ext cx="3227" cy="5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1600"/>
                <a:t>Africa Mean, 2023</a:t>
              </a:r>
            </a:p>
          </p:txBody>
        </p:sp>
        <p:sp>
          <p:nvSpPr>
            <p:cNvPr id="26" name="乘号 25"/>
            <p:cNvSpPr/>
            <p:nvPr/>
          </p:nvSpPr>
          <p:spPr>
            <a:xfrm>
              <a:off x="6195" y="9421"/>
              <a:ext cx="483" cy="480"/>
            </a:xfrm>
            <a:prstGeom prst="mathMultiply">
              <a:avLst/>
            </a:prstGeom>
            <a:solidFill>
              <a:srgbClr val="F39F1B">
                <a:alpha val="80000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solidFill>
                  <a:srgbClr val="A985CA"/>
                </a:solidFill>
              </a:endParaRPr>
            </a:p>
          </p:txBody>
        </p:sp>
        <p:sp>
          <p:nvSpPr>
            <p:cNvPr id="27" name="文本框 26"/>
            <p:cNvSpPr txBox="1"/>
            <p:nvPr/>
          </p:nvSpPr>
          <p:spPr>
            <a:xfrm>
              <a:off x="6717" y="9408"/>
              <a:ext cx="5621" cy="5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1600">
                  <a:sym typeface="+mn-ea"/>
                </a:rPr>
                <a:t>South&amp;South-east Asia Mean, 2016</a:t>
              </a:r>
              <a:endParaRPr lang="zh-CN" altLang="en-US" sz="1600">
                <a:ea typeface="宋体" panose="02010600030101010101" pitchFamily="2" charset="-122"/>
                <a:sym typeface="+mn-ea"/>
              </a:endParaRPr>
            </a:p>
          </p:txBody>
        </p:sp>
        <p:sp>
          <p:nvSpPr>
            <p:cNvPr id="28" name="乘号 27"/>
            <p:cNvSpPr/>
            <p:nvPr/>
          </p:nvSpPr>
          <p:spPr>
            <a:xfrm>
              <a:off x="6195" y="9935"/>
              <a:ext cx="483" cy="480"/>
            </a:xfrm>
            <a:prstGeom prst="mathMultiply">
              <a:avLst/>
            </a:prstGeom>
            <a:solidFill>
              <a:srgbClr val="F39F1B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solidFill>
                  <a:srgbClr val="A985CA"/>
                </a:solidFill>
              </a:endParaRPr>
            </a:p>
          </p:txBody>
        </p:sp>
        <p:sp>
          <p:nvSpPr>
            <p:cNvPr id="29" name="文本框 28"/>
            <p:cNvSpPr txBox="1"/>
            <p:nvPr/>
          </p:nvSpPr>
          <p:spPr>
            <a:xfrm>
              <a:off x="6717" y="9895"/>
              <a:ext cx="5620" cy="5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1600">
                  <a:sym typeface="+mn-ea"/>
                </a:rPr>
                <a:t>South&amp;South-east Asia Mean, 2023</a:t>
              </a:r>
              <a:endParaRPr lang="en-US" altLang="zh-CN" sz="1600"/>
            </a:p>
          </p:txBody>
        </p:sp>
        <p:sp>
          <p:nvSpPr>
            <p:cNvPr id="31" name="乘号 30"/>
            <p:cNvSpPr/>
            <p:nvPr/>
          </p:nvSpPr>
          <p:spPr>
            <a:xfrm>
              <a:off x="12659" y="9421"/>
              <a:ext cx="483" cy="480"/>
            </a:xfrm>
            <a:prstGeom prst="mathMultiply">
              <a:avLst/>
            </a:prstGeom>
            <a:solidFill>
              <a:srgbClr val="47A2DE">
                <a:alpha val="80000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solidFill>
                  <a:srgbClr val="A985CA"/>
                </a:solidFill>
              </a:endParaRPr>
            </a:p>
          </p:txBody>
        </p:sp>
        <p:sp>
          <p:nvSpPr>
            <p:cNvPr id="34" name="乘号 33"/>
            <p:cNvSpPr/>
            <p:nvPr/>
          </p:nvSpPr>
          <p:spPr>
            <a:xfrm>
              <a:off x="12659" y="9935"/>
              <a:ext cx="483" cy="480"/>
            </a:xfrm>
            <a:prstGeom prst="mathMultiply">
              <a:avLst/>
            </a:prstGeom>
            <a:solidFill>
              <a:srgbClr val="47A2DE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solidFill>
                  <a:srgbClr val="A985CA"/>
                </a:solidFill>
              </a:endParaRPr>
            </a:p>
          </p:txBody>
        </p:sp>
        <p:sp>
          <p:nvSpPr>
            <p:cNvPr id="35" name="文本框 34"/>
            <p:cNvSpPr txBox="1"/>
            <p:nvPr/>
          </p:nvSpPr>
          <p:spPr>
            <a:xfrm>
              <a:off x="13143" y="9907"/>
              <a:ext cx="4257" cy="5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1600"/>
                <a:t>Latin America Mean, 2023</a:t>
              </a:r>
            </a:p>
          </p:txBody>
        </p:sp>
      </p:grpSp>
      <p:grpSp>
        <p:nvGrpSpPr>
          <p:cNvPr id="75" name="组合 74"/>
          <p:cNvGrpSpPr/>
          <p:nvPr/>
        </p:nvGrpSpPr>
        <p:grpSpPr>
          <a:xfrm>
            <a:off x="1626870" y="480060"/>
            <a:ext cx="11659235" cy="6403975"/>
            <a:chOff x="2562" y="774"/>
            <a:chExt cx="18361" cy="10085"/>
          </a:xfrm>
        </p:grpSpPr>
        <p:sp>
          <p:nvSpPr>
            <p:cNvPr id="66" name="矩形 65"/>
            <p:cNvSpPr/>
            <p:nvPr/>
          </p:nvSpPr>
          <p:spPr>
            <a:xfrm>
              <a:off x="2562" y="775"/>
              <a:ext cx="18361" cy="10084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grpSp>
          <p:nvGrpSpPr>
            <p:cNvPr id="149" name="组合 148"/>
            <p:cNvGrpSpPr/>
            <p:nvPr/>
          </p:nvGrpSpPr>
          <p:grpSpPr>
            <a:xfrm>
              <a:off x="5545" y="9577"/>
              <a:ext cx="12613" cy="1146"/>
              <a:chOff x="5545" y="9577"/>
              <a:chExt cx="12613" cy="1013"/>
            </a:xfrm>
          </p:grpSpPr>
          <p:sp>
            <p:nvSpPr>
              <p:cNvPr id="4" name="文本框 3"/>
              <p:cNvSpPr txBox="1"/>
              <p:nvPr/>
            </p:nvSpPr>
            <p:spPr>
              <a:xfrm>
                <a:off x="14589" y="9577"/>
                <a:ext cx="3569" cy="51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/>
                  <a:t>Latin America, 2016</a:t>
                </a:r>
              </a:p>
            </p:txBody>
          </p:sp>
          <p:sp>
            <p:nvSpPr>
              <p:cNvPr id="11" name="椭圆 10"/>
              <p:cNvSpPr/>
              <p:nvPr/>
            </p:nvSpPr>
            <p:spPr>
              <a:xfrm>
                <a:off x="14172" y="9691"/>
                <a:ext cx="290" cy="255"/>
              </a:xfrm>
              <a:prstGeom prst="ellipse">
                <a:avLst/>
              </a:prstGeom>
              <a:solidFill>
                <a:srgbClr val="47A2DE">
                  <a:alpha val="3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2000"/>
              </a:p>
            </p:txBody>
          </p:sp>
          <p:sp>
            <p:nvSpPr>
              <p:cNvPr id="12" name="椭圆 11"/>
              <p:cNvSpPr/>
              <p:nvPr/>
            </p:nvSpPr>
            <p:spPr>
              <a:xfrm>
                <a:off x="14172" y="10154"/>
                <a:ext cx="290" cy="255"/>
              </a:xfrm>
              <a:prstGeom prst="ellipse">
                <a:avLst/>
              </a:prstGeom>
              <a:solidFill>
                <a:srgbClr val="47A2DE">
                  <a:alpha val="6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2000"/>
              </a:p>
            </p:txBody>
          </p:sp>
          <p:sp>
            <p:nvSpPr>
              <p:cNvPr id="13" name="文本框 12"/>
              <p:cNvSpPr txBox="1"/>
              <p:nvPr/>
            </p:nvSpPr>
            <p:spPr>
              <a:xfrm>
                <a:off x="14589" y="10068"/>
                <a:ext cx="3569" cy="51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/>
                  <a:t>Latin America, 2023</a:t>
                </a:r>
              </a:p>
            </p:txBody>
          </p:sp>
          <p:sp>
            <p:nvSpPr>
              <p:cNvPr id="14" name="文本框 13"/>
              <p:cNvSpPr txBox="1"/>
              <p:nvPr/>
            </p:nvSpPr>
            <p:spPr>
              <a:xfrm>
                <a:off x="5979" y="9577"/>
                <a:ext cx="3635" cy="51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/>
                  <a:t>Africa, 2016</a:t>
                </a:r>
              </a:p>
            </p:txBody>
          </p:sp>
          <p:sp>
            <p:nvSpPr>
              <p:cNvPr id="15" name="椭圆 14"/>
              <p:cNvSpPr/>
              <p:nvPr/>
            </p:nvSpPr>
            <p:spPr>
              <a:xfrm>
                <a:off x="5545" y="9691"/>
                <a:ext cx="290" cy="255"/>
              </a:xfrm>
              <a:prstGeom prst="ellipse">
                <a:avLst/>
              </a:prstGeom>
              <a:solidFill>
                <a:srgbClr val="E85748">
                  <a:alpha val="3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2000">
                  <a:solidFill>
                    <a:srgbClr val="9467BD"/>
                  </a:solidFill>
                </a:endParaRPr>
              </a:p>
            </p:txBody>
          </p:sp>
          <p:sp>
            <p:nvSpPr>
              <p:cNvPr id="16" name="椭圆 15"/>
              <p:cNvSpPr/>
              <p:nvPr/>
            </p:nvSpPr>
            <p:spPr>
              <a:xfrm>
                <a:off x="5545" y="10154"/>
                <a:ext cx="290" cy="255"/>
              </a:xfrm>
              <a:prstGeom prst="ellipse">
                <a:avLst/>
              </a:prstGeom>
              <a:solidFill>
                <a:srgbClr val="E85748">
                  <a:alpha val="6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2000"/>
              </a:p>
            </p:txBody>
          </p:sp>
          <p:sp>
            <p:nvSpPr>
              <p:cNvPr id="17" name="文本框 16"/>
              <p:cNvSpPr txBox="1"/>
              <p:nvPr/>
            </p:nvSpPr>
            <p:spPr>
              <a:xfrm>
                <a:off x="5979" y="10077"/>
                <a:ext cx="3635" cy="51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/>
                  <a:t>Africa, 2023</a:t>
                </a:r>
              </a:p>
            </p:txBody>
          </p:sp>
          <p:sp>
            <p:nvSpPr>
              <p:cNvPr id="18" name="文本框 17"/>
              <p:cNvSpPr txBox="1"/>
              <p:nvPr/>
            </p:nvSpPr>
            <p:spPr>
              <a:xfrm>
                <a:off x="9106" y="9577"/>
                <a:ext cx="5133" cy="51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/>
                  <a:t>South&amp;South-east Asia, 2016</a:t>
                </a:r>
              </a:p>
            </p:txBody>
          </p:sp>
          <p:sp>
            <p:nvSpPr>
              <p:cNvPr id="19" name="椭圆 18"/>
              <p:cNvSpPr/>
              <p:nvPr/>
            </p:nvSpPr>
            <p:spPr>
              <a:xfrm>
                <a:off x="8647" y="9691"/>
                <a:ext cx="290" cy="255"/>
              </a:xfrm>
              <a:prstGeom prst="ellipse">
                <a:avLst/>
              </a:prstGeom>
              <a:solidFill>
                <a:srgbClr val="F39F1B">
                  <a:alpha val="3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2000"/>
              </a:p>
            </p:txBody>
          </p:sp>
          <p:sp>
            <p:nvSpPr>
              <p:cNvPr id="20" name="椭圆 19"/>
              <p:cNvSpPr/>
              <p:nvPr/>
            </p:nvSpPr>
            <p:spPr>
              <a:xfrm>
                <a:off x="8647" y="10154"/>
                <a:ext cx="290" cy="255"/>
              </a:xfrm>
              <a:prstGeom prst="ellipse">
                <a:avLst/>
              </a:prstGeom>
              <a:solidFill>
                <a:srgbClr val="F39F1B">
                  <a:alpha val="6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2000"/>
              </a:p>
            </p:txBody>
          </p:sp>
          <p:sp>
            <p:nvSpPr>
              <p:cNvPr id="21" name="文本框 20"/>
              <p:cNvSpPr txBox="1"/>
              <p:nvPr/>
            </p:nvSpPr>
            <p:spPr>
              <a:xfrm>
                <a:off x="9106" y="10064"/>
                <a:ext cx="5133" cy="51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>
                    <a:sym typeface="+mn-ea"/>
                  </a:rPr>
                  <a:t>South&amp;South-east Asia, 2023</a:t>
                </a:r>
              </a:p>
            </p:txBody>
          </p:sp>
        </p:grpSp>
        <p:grpSp>
          <p:nvGrpSpPr>
            <p:cNvPr id="145" name="组合 144"/>
            <p:cNvGrpSpPr/>
            <p:nvPr/>
          </p:nvGrpSpPr>
          <p:grpSpPr>
            <a:xfrm>
              <a:off x="2735" y="774"/>
              <a:ext cx="8414" cy="8385"/>
              <a:chOff x="1166" y="687"/>
              <a:chExt cx="8414" cy="8385"/>
            </a:xfrm>
          </p:grpSpPr>
          <p:grpSp>
            <p:nvGrpSpPr>
              <p:cNvPr id="99" name="组合 98"/>
              <p:cNvGrpSpPr/>
              <p:nvPr/>
            </p:nvGrpSpPr>
            <p:grpSpPr>
              <a:xfrm>
                <a:off x="1166" y="1626"/>
                <a:ext cx="8414" cy="7446"/>
                <a:chOff x="1166" y="1626"/>
                <a:chExt cx="8414" cy="7446"/>
              </a:xfrm>
            </p:grpSpPr>
            <p:pic>
              <p:nvPicPr>
                <p:cNvPr id="6" name="图片 5"/>
                <p:cNvPicPr/>
                <p:nvPr/>
              </p:nvPicPr>
              <p:blipFill>
                <a:blip r:embed="rId3"/>
                <a:srcRect r="50879"/>
                <a:stretch>
                  <a:fillRect/>
                </a:stretch>
              </p:blipFill>
              <p:spPr>
                <a:xfrm>
                  <a:off x="1477" y="1942"/>
                  <a:ext cx="8103" cy="6670"/>
                </a:xfrm>
                <a:prstGeom prst="rect">
                  <a:avLst/>
                </a:prstGeom>
              </p:spPr>
            </p:pic>
            <p:sp>
              <p:nvSpPr>
                <p:cNvPr id="7" name="矩形 6"/>
                <p:cNvSpPr/>
                <p:nvPr/>
              </p:nvSpPr>
              <p:spPr>
                <a:xfrm>
                  <a:off x="1584" y="2085"/>
                  <a:ext cx="544" cy="6479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2000"/>
                </a:p>
              </p:txBody>
            </p:sp>
            <p:sp>
              <p:nvSpPr>
                <p:cNvPr id="8" name="矩形 7"/>
                <p:cNvSpPr/>
                <p:nvPr/>
              </p:nvSpPr>
              <p:spPr>
                <a:xfrm rot="5400000">
                  <a:off x="5542" y="4678"/>
                  <a:ext cx="544" cy="7372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2000"/>
                </a:p>
              </p:txBody>
            </p:sp>
            <p:sp>
              <p:nvSpPr>
                <p:cNvPr id="37" name="文本框 36"/>
                <p:cNvSpPr txBox="1"/>
                <p:nvPr/>
              </p:nvSpPr>
              <p:spPr>
                <a:xfrm>
                  <a:off x="5407" y="8196"/>
                  <a:ext cx="885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r>
                    <a:rPr lang="en-US" altLang="zh-CN" sz="2000"/>
                    <a:t>50%</a:t>
                  </a:r>
                </a:p>
              </p:txBody>
            </p:sp>
            <p:sp>
              <p:nvSpPr>
                <p:cNvPr id="38" name="文本框 37"/>
                <p:cNvSpPr txBox="1"/>
                <p:nvPr/>
              </p:nvSpPr>
              <p:spPr>
                <a:xfrm>
                  <a:off x="8502" y="8196"/>
                  <a:ext cx="1043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r>
                    <a:rPr lang="en-US" altLang="zh-CN" sz="2000"/>
                    <a:t>100%</a:t>
                  </a:r>
                </a:p>
              </p:txBody>
            </p:sp>
            <p:sp>
              <p:nvSpPr>
                <p:cNvPr id="39" name="文本框 38"/>
                <p:cNvSpPr txBox="1"/>
                <p:nvPr/>
              </p:nvSpPr>
              <p:spPr>
                <a:xfrm>
                  <a:off x="1850" y="8017"/>
                  <a:ext cx="252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r"/>
                  <a:r>
                    <a:rPr lang="en-US" altLang="zh-CN" sz="2000"/>
                    <a:t>0</a:t>
                  </a:r>
                </a:p>
              </p:txBody>
            </p:sp>
            <p:sp>
              <p:nvSpPr>
                <p:cNvPr id="40" name="文本框 39"/>
                <p:cNvSpPr txBox="1"/>
                <p:nvPr/>
              </p:nvSpPr>
              <p:spPr>
                <a:xfrm>
                  <a:off x="1368" y="2050"/>
                  <a:ext cx="724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r"/>
                  <a:r>
                    <a:rPr lang="en-US" altLang="zh-CN" sz="2000"/>
                    <a:t>0.6</a:t>
                  </a:r>
                </a:p>
              </p:txBody>
            </p:sp>
            <p:sp>
              <p:nvSpPr>
                <p:cNvPr id="41" name="文本框 40"/>
                <p:cNvSpPr txBox="1"/>
                <p:nvPr/>
              </p:nvSpPr>
              <p:spPr>
                <a:xfrm>
                  <a:off x="1166" y="5259"/>
                  <a:ext cx="936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r"/>
                  <a:r>
                    <a:rPr lang="en-US" altLang="zh-CN" sz="2000"/>
                    <a:t>0.3</a:t>
                  </a:r>
                </a:p>
              </p:txBody>
            </p:sp>
            <p:sp>
              <p:nvSpPr>
                <p:cNvPr id="42" name="文本框 41"/>
                <p:cNvSpPr txBox="1"/>
                <p:nvPr/>
              </p:nvSpPr>
              <p:spPr>
                <a:xfrm>
                  <a:off x="1585" y="1626"/>
                  <a:ext cx="543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ctr"/>
                  <a:r>
                    <a:rPr lang="en-US" altLang="zh-CN" sz="2400" i="1">
                      <a:latin typeface="Arial" panose="020B0604020202020204" pitchFamily="34" charset="0"/>
                      <a:cs typeface="Arial" panose="020B0604020202020204" pitchFamily="34" charset="0"/>
                    </a:rPr>
                    <a:t>β</a:t>
                  </a:r>
                </a:p>
              </p:txBody>
            </p:sp>
            <p:sp>
              <p:nvSpPr>
                <p:cNvPr id="43" name="文本框 42"/>
                <p:cNvSpPr txBox="1"/>
                <p:nvPr/>
              </p:nvSpPr>
              <p:spPr>
                <a:xfrm>
                  <a:off x="6292" y="8636"/>
                  <a:ext cx="3099" cy="436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l"/>
                  <a:r>
                    <a:rPr lang="en-US" altLang="zh-CN" sz="2400" i="1">
                      <a:latin typeface="Arial" panose="020B0604020202020204" pitchFamily="34" charset="0"/>
                      <a:cs typeface="Arial" panose="020B0604020202020204" pitchFamily="34" charset="0"/>
                    </a:rPr>
                    <a:t>probability(α)</a:t>
                  </a:r>
                </a:p>
              </p:txBody>
            </p:sp>
            <p:sp>
              <p:nvSpPr>
                <p:cNvPr id="57" name="文本框 56"/>
                <p:cNvSpPr txBox="1"/>
                <p:nvPr/>
              </p:nvSpPr>
              <p:spPr>
                <a:xfrm>
                  <a:off x="6925" y="5000"/>
                  <a:ext cx="2574" cy="58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i="1">
                      <a:solidFill>
                        <a:schemeClr val="bg1">
                          <a:lumMod val="50000"/>
                        </a:schemeClr>
                      </a:solidFill>
                      <a:latin typeface="Arial" panose="020B0604020202020204" pitchFamily="34" charset="0"/>
                      <a:cs typeface="Arial" panose="020B0604020202020204" pitchFamily="34" charset="0"/>
                    </a:rPr>
                    <a:t>mean </a:t>
                  </a:r>
                  <a:r>
                    <a:rPr lang="en-US" altLang="zh-CN" i="1">
                      <a:solidFill>
                        <a:schemeClr val="bg1">
                          <a:lumMod val="50000"/>
                        </a:schemeClr>
                      </a:solidFill>
                      <a:latin typeface="Arial" panose="020B0604020202020204" pitchFamily="34" charset="0"/>
                      <a:cs typeface="Arial" panose="020B0604020202020204" pitchFamily="34" charset="0"/>
                      <a:sym typeface="+mn-ea"/>
                    </a:rPr>
                    <a:t>β = 0.3</a:t>
                  </a:r>
                </a:p>
              </p:txBody>
            </p: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6" name="文本框 35"/>
                  <p:cNvSpPr txBox="1"/>
                  <p:nvPr/>
                </p:nvSpPr>
                <p:spPr>
                  <a:xfrm>
                    <a:off x="1645" y="687"/>
                    <a:ext cx="7243" cy="1307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en-US" altLang="zh-CN" sz="2400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(a) Horizontal - Structural Zero</a:t>
                    </a:r>
                  </a:p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altLang="zh-CN" sz="24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𝜑</m:t>
                          </m:r>
                          <m:r>
                            <a:rPr lang="en-US" altLang="zh-CN" sz="24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(</m:t>
                          </m:r>
                          <m:r>
                            <a:rPr lang="en-US" altLang="zh-CN" sz="24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𝑟</m:t>
                          </m:r>
                          <m:r>
                            <a:rPr lang="en-US" altLang="zh-CN" sz="24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)=</m:t>
                          </m:r>
                          <m:r>
                            <a:rPr lang="en-US" altLang="zh-CN" sz="24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𝑙𝑜𝑔𝑖𝑠𝑡𝑖𝑐</m:t>
                          </m:r>
                          <m:r>
                            <a:rPr lang="en-US" altLang="zh-CN" sz="24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(</m:t>
                          </m:r>
                          <m:r>
                            <a:rPr lang="en-US" altLang="zh-CN" sz="24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𝛼</m:t>
                          </m:r>
                          <m:r>
                            <a:rPr lang="en-US" altLang="zh-CN" sz="24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+</m:t>
                          </m:r>
                          <m:r>
                            <a:rPr lang="en-US" altLang="zh-CN" sz="24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𝛽</m:t>
                          </m:r>
                          <m:r>
                            <a:rPr lang="en-US" altLang="zh-CN" sz="24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𝑟</m:t>
                          </m:r>
                          <m:r>
                            <a:rPr lang="en-US" altLang="zh-CN" sz="2400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)</m:t>
                          </m:r>
                        </m:oMath>
                      </m:oMathPara>
                    </a14:m>
                    <a:endParaRPr lang="en-US" altLang="zh-CN" sz="2400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 xmlns="">
              <p:sp>
                <p:nvSpPr>
                  <p:cNvPr id="36" name="文本框 35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645" y="687"/>
                    <a:ext cx="7243" cy="1307"/>
                  </a:xfrm>
                  <a:prstGeom prst="rect">
                    <a:avLst/>
                  </a:prstGeom>
                  <a:blipFill rotWithShape="1">
                    <a:blip r:embed="rId4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54" name="文本框 53"/>
              <p:cNvSpPr txBox="1"/>
              <p:nvPr/>
            </p:nvSpPr>
            <p:spPr>
              <a:xfrm>
                <a:off x="2199" y="6889"/>
                <a:ext cx="2265" cy="1161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l"/>
                <a:r>
                  <a:rPr lang="en-US" altLang="zh-CN" sz="1400" i="1">
                    <a:solidFill>
                      <a:schemeClr val="tx1"/>
                    </a:solidFill>
                  </a:rPr>
                  <a:t>29% Uniform developable</a:t>
                </a:r>
              </a:p>
              <a:p>
                <a:pPr algn="l"/>
                <a:r>
                  <a:rPr lang="en-US" altLang="zh-CN" sz="1400" i="1">
                    <a:solidFill>
                      <a:schemeClr val="tx1"/>
                    </a:solidFill>
                  </a:rPr>
                  <a:t>landscape</a:t>
                </a:r>
              </a:p>
            </p:txBody>
          </p:sp>
          <p:sp>
            <p:nvSpPr>
              <p:cNvPr id="60" name="文本框 59"/>
              <p:cNvSpPr txBox="1"/>
              <p:nvPr/>
            </p:nvSpPr>
            <p:spPr>
              <a:xfrm>
                <a:off x="6925" y="2112"/>
                <a:ext cx="2346" cy="679"/>
              </a:xfrm>
              <a:prstGeom prst="rect">
                <a:avLst/>
              </a:prstGeom>
            </p:spPr>
            <p:txBody>
              <a:bodyPr wrap="square">
                <a:noAutofit/>
              </a:bodyPr>
              <a:lstStyle/>
              <a:p>
                <a:pPr algn="r"/>
                <a:r>
                  <a:rPr lang="en-US" altLang="zh-CN" sz="1400" i="1">
                    <a:solidFill>
                      <a:schemeClr val="tx1"/>
                    </a:solidFill>
                  </a:rPr>
                  <a:t>1% Core limited, edge locked</a:t>
                </a:r>
              </a:p>
            </p:txBody>
          </p:sp>
          <p:sp>
            <p:nvSpPr>
              <p:cNvPr id="61" name="文本框 60"/>
              <p:cNvSpPr txBox="1"/>
              <p:nvPr/>
            </p:nvSpPr>
            <p:spPr>
              <a:xfrm>
                <a:off x="3472" y="2112"/>
                <a:ext cx="2309" cy="822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lvl="0" algn="r">
                  <a:buClrTx/>
                  <a:buSzTx/>
                  <a:buFontTx/>
                </a:pPr>
                <a:r>
                  <a:rPr lang="en-US" altLang="zh-CN" sz="1400" i="1">
                    <a:solidFill>
                      <a:schemeClr val="tx1"/>
                    </a:solidFill>
                    <a:sym typeface="+mn-ea"/>
                  </a:rPr>
                  <a:t>45% Core open, edge locked</a:t>
                </a:r>
              </a:p>
            </p:txBody>
          </p:sp>
          <p:sp>
            <p:nvSpPr>
              <p:cNvPr id="62" name="文本框 61"/>
              <p:cNvSpPr txBox="1"/>
              <p:nvPr/>
            </p:nvSpPr>
            <p:spPr>
              <a:xfrm>
                <a:off x="6944" y="5474"/>
                <a:ext cx="2327" cy="1161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r"/>
                <a:r>
                  <a:rPr lang="en-US" altLang="zh-CN" sz="1400" i="1">
                    <a:solidFill>
                      <a:schemeClr val="tx1"/>
                    </a:solidFill>
                  </a:rPr>
                  <a:t>25% Uniform constrianed landscape</a:t>
                </a:r>
              </a:p>
            </p:txBody>
          </p:sp>
        </p:grpSp>
        <p:grpSp>
          <p:nvGrpSpPr>
            <p:cNvPr id="56" name="组合 55"/>
            <p:cNvGrpSpPr/>
            <p:nvPr/>
          </p:nvGrpSpPr>
          <p:grpSpPr>
            <a:xfrm>
              <a:off x="10646" y="774"/>
              <a:ext cx="10073" cy="8317"/>
              <a:chOff x="10646" y="774"/>
              <a:chExt cx="10073" cy="8317"/>
            </a:xfrm>
          </p:grpSpPr>
          <p:pic>
            <p:nvPicPr>
              <p:cNvPr id="129" name="图片 128"/>
              <p:cNvPicPr/>
              <p:nvPr/>
            </p:nvPicPr>
            <p:blipFill>
              <a:blip r:embed="rId5"/>
              <a:srcRect l="50483" b="-95"/>
              <a:stretch>
                <a:fillRect/>
              </a:stretch>
            </p:blipFill>
            <p:spPr>
              <a:xfrm>
                <a:off x="11571" y="2030"/>
                <a:ext cx="8033" cy="6693"/>
              </a:xfrm>
              <a:prstGeom prst="rect">
                <a:avLst/>
              </a:prstGeom>
            </p:spPr>
          </p:pic>
          <p:sp>
            <p:nvSpPr>
              <p:cNvPr id="45" name="矩形 44"/>
              <p:cNvSpPr/>
              <p:nvPr/>
            </p:nvSpPr>
            <p:spPr>
              <a:xfrm rot="5400000">
                <a:off x="15482" y="4679"/>
                <a:ext cx="544" cy="7546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2000"/>
              </a:p>
            </p:txBody>
          </p:sp>
          <p:sp>
            <p:nvSpPr>
              <p:cNvPr id="3" name="矩形 2"/>
              <p:cNvSpPr/>
              <p:nvPr/>
            </p:nvSpPr>
            <p:spPr>
              <a:xfrm>
                <a:off x="11545" y="1757"/>
                <a:ext cx="544" cy="6479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2000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2" name="文本框 51"/>
                  <p:cNvSpPr txBox="1"/>
                  <p:nvPr/>
                </p:nvSpPr>
                <p:spPr>
                  <a:xfrm>
                    <a:off x="10646" y="774"/>
                    <a:ext cx="10073" cy="1307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en-US" altLang="zh-CN" sz="2400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(b) Horizontal - Binomial (Actual Construction)</a:t>
                    </a:r>
                  </a:p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altLang="zh-CN" sz="24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𝜋</m:t>
                          </m:r>
                          <m:r>
                            <a:rPr lang="en-US" altLang="zh-CN" sz="24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(</m:t>
                          </m:r>
                          <m:r>
                            <a:rPr lang="en-US" altLang="zh-CN" sz="24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𝑟</m:t>
                          </m:r>
                          <m:r>
                            <a:rPr lang="en-US" altLang="zh-CN" sz="24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)=</m:t>
                          </m:r>
                          <m:r>
                            <a:rPr lang="en-US" altLang="zh-CN" sz="24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𝑙𝑜𝑔𝑖𝑠𝑡𝑖𝑐</m:t>
                          </m:r>
                          <m:r>
                            <a:rPr lang="en-US" altLang="zh-CN" sz="24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(</m:t>
                          </m:r>
                          <m:r>
                            <a:rPr lang="en-US" altLang="zh-CN" sz="24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𝜅</m:t>
                          </m:r>
                          <m:r>
                            <a:rPr lang="en-US" altLang="zh-CN" sz="24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−</m:t>
                          </m:r>
                          <m:r>
                            <a:rPr lang="en-US" altLang="zh-CN" sz="24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𝛿</m:t>
                          </m:r>
                          <m:r>
                            <a:rPr lang="en-US" altLang="zh-CN" sz="24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𝑟</m:t>
                          </m:r>
                          <m:r>
                            <a:rPr lang="en-US" altLang="zh-CN" sz="2400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)</m:t>
                          </m:r>
                        </m:oMath>
                      </m:oMathPara>
                    </a14:m>
                    <a:endParaRPr lang="en-US" altLang="zh-CN" sz="2400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 xmlns="">
              <p:sp>
                <p:nvSpPr>
                  <p:cNvPr id="52" name="文本框 51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0646" y="774"/>
                    <a:ext cx="10073" cy="1307"/>
                  </a:xfrm>
                  <a:prstGeom prst="rect">
                    <a:avLst/>
                  </a:prstGeom>
                  <a:blipFill rotWithShape="1">
                    <a:blip r:embed="rId6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grpSp>
            <p:nvGrpSpPr>
              <p:cNvPr id="30" name="组合 29"/>
              <p:cNvGrpSpPr/>
              <p:nvPr/>
            </p:nvGrpSpPr>
            <p:grpSpPr>
              <a:xfrm>
                <a:off x="11207" y="1844"/>
                <a:ext cx="8319" cy="7247"/>
                <a:chOff x="9406" y="1694"/>
                <a:chExt cx="8319" cy="7247"/>
              </a:xfrm>
            </p:grpSpPr>
            <p:sp>
              <p:nvSpPr>
                <p:cNvPr id="46" name="文本框 45"/>
                <p:cNvSpPr txBox="1"/>
                <p:nvPr/>
              </p:nvSpPr>
              <p:spPr>
                <a:xfrm>
                  <a:off x="16838" y="8048"/>
                  <a:ext cx="887" cy="380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r>
                    <a:rPr lang="en-US" altLang="zh-CN" sz="2000"/>
                    <a:t>70%</a:t>
                  </a:r>
                </a:p>
              </p:txBody>
            </p:sp>
            <p:sp>
              <p:nvSpPr>
                <p:cNvPr id="47" name="文本框 46"/>
                <p:cNvSpPr txBox="1"/>
                <p:nvPr/>
              </p:nvSpPr>
              <p:spPr>
                <a:xfrm>
                  <a:off x="10288" y="8086"/>
                  <a:ext cx="871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r>
                    <a:rPr lang="en-US" altLang="zh-CN" sz="2000"/>
                    <a:t>20%</a:t>
                  </a:r>
                </a:p>
              </p:txBody>
            </p:sp>
            <p:sp>
              <p:nvSpPr>
                <p:cNvPr id="48" name="文本框 47"/>
                <p:cNvSpPr txBox="1"/>
                <p:nvPr/>
              </p:nvSpPr>
              <p:spPr>
                <a:xfrm>
                  <a:off x="9636" y="7086"/>
                  <a:ext cx="543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r"/>
                  <a:r>
                    <a:rPr lang="en-US" altLang="zh-CN" sz="2000"/>
                    <a:t>0</a:t>
                  </a:r>
                </a:p>
              </p:txBody>
            </p:sp>
            <p:sp>
              <p:nvSpPr>
                <p:cNvPr id="49" name="文本框 48"/>
                <p:cNvSpPr txBox="1"/>
                <p:nvPr/>
              </p:nvSpPr>
              <p:spPr>
                <a:xfrm>
                  <a:off x="9406" y="4656"/>
                  <a:ext cx="773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r"/>
                  <a:r>
                    <a:rPr lang="en-US" altLang="zh-CN" sz="2000"/>
                    <a:t>0.2</a:t>
                  </a:r>
                </a:p>
              </p:txBody>
            </p:sp>
            <p:sp>
              <p:nvSpPr>
                <p:cNvPr id="50" name="文本框 49"/>
                <p:cNvSpPr txBox="1"/>
                <p:nvPr/>
              </p:nvSpPr>
              <p:spPr>
                <a:xfrm>
                  <a:off x="9746" y="1694"/>
                  <a:ext cx="543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ctr"/>
                  <a:r>
                    <a:rPr lang="en-US" altLang="zh-CN" sz="2400" i="1">
                      <a:latin typeface="Arial" panose="020B0604020202020204" pitchFamily="34" charset="0"/>
                      <a:cs typeface="Arial" panose="020B0604020202020204" pitchFamily="34" charset="0"/>
                    </a:rPr>
                    <a:t>δ</a:t>
                  </a:r>
                </a:p>
              </p:txBody>
            </p:sp>
            <p:sp>
              <p:nvSpPr>
                <p:cNvPr id="51" name="文本框 50"/>
                <p:cNvSpPr txBox="1"/>
                <p:nvPr/>
              </p:nvSpPr>
              <p:spPr>
                <a:xfrm>
                  <a:off x="14839" y="8428"/>
                  <a:ext cx="2741" cy="513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l"/>
                  <a:r>
                    <a:rPr lang="en-US" altLang="zh-CN" sz="2400" i="1">
                      <a:latin typeface="Arial" panose="020B0604020202020204" pitchFamily="34" charset="0"/>
                      <a:cs typeface="Arial" panose="020B0604020202020204" pitchFamily="34" charset="0"/>
                    </a:rPr>
                    <a:t>probability(κ)</a:t>
                  </a:r>
                </a:p>
              </p:txBody>
            </p:sp>
            <p:sp>
              <p:nvSpPr>
                <p:cNvPr id="53" name="文本框 52"/>
                <p:cNvSpPr txBox="1"/>
                <p:nvPr/>
              </p:nvSpPr>
              <p:spPr>
                <a:xfrm>
                  <a:off x="14149" y="8060"/>
                  <a:ext cx="885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r>
                    <a:rPr lang="en-US" altLang="zh-CN" sz="2000"/>
                    <a:t>50%</a:t>
                  </a:r>
                </a:p>
              </p:txBody>
            </p:sp>
            <p:sp>
              <p:nvSpPr>
                <p:cNvPr id="55" name="文本框 54"/>
                <p:cNvSpPr txBox="1"/>
                <p:nvPr/>
              </p:nvSpPr>
              <p:spPr>
                <a:xfrm>
                  <a:off x="9439" y="2187"/>
                  <a:ext cx="763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r"/>
                  <a:r>
                    <a:rPr lang="en-US" altLang="zh-CN" sz="2000"/>
                    <a:t>0.4</a:t>
                  </a:r>
                </a:p>
              </p:txBody>
            </p:sp>
          </p:grpSp>
          <p:sp>
            <p:nvSpPr>
              <p:cNvPr id="65" name="文本框 64"/>
              <p:cNvSpPr txBox="1"/>
              <p:nvPr/>
            </p:nvSpPr>
            <p:spPr>
              <a:xfrm>
                <a:off x="12166" y="7365"/>
                <a:ext cx="2759" cy="746"/>
              </a:xfrm>
              <a:prstGeom prst="rect">
                <a:avLst/>
              </a:prstGeom>
            </p:spPr>
            <p:txBody>
              <a:bodyPr wrap="square">
                <a:noAutofit/>
              </a:bodyPr>
              <a:lstStyle/>
              <a:p>
                <a:pPr lvl="0" algn="l">
                  <a:buClrTx/>
                  <a:buSzTx/>
                  <a:buFontTx/>
                </a:pPr>
                <a:r>
                  <a:rPr lang="en-US" altLang="zh-CN" sz="1400" i="1">
                    <a:solidFill>
                      <a:schemeClr val="tx1"/>
                    </a:solidFill>
                    <a:sym typeface="+mn-ea"/>
                  </a:rPr>
                  <a:t>30% Uniform sparse construction</a:t>
                </a:r>
              </a:p>
            </p:txBody>
          </p:sp>
          <p:sp>
            <p:nvSpPr>
              <p:cNvPr id="67" name="文本框 66"/>
              <p:cNvSpPr txBox="1"/>
              <p:nvPr/>
            </p:nvSpPr>
            <p:spPr>
              <a:xfrm>
                <a:off x="16641" y="7316"/>
                <a:ext cx="2646" cy="822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lvl="0" algn="r">
                  <a:buClrTx/>
                  <a:buSzTx/>
                  <a:buFontTx/>
                </a:pPr>
                <a:r>
                  <a:rPr lang="en-US" altLang="zh-CN" sz="1400" i="1">
                    <a:solidFill>
                      <a:schemeClr val="tx1"/>
                    </a:solidFill>
                    <a:sym typeface="+mn-ea"/>
                  </a:rPr>
                  <a:t>18% Uniform dense construction</a:t>
                </a:r>
              </a:p>
            </p:txBody>
          </p:sp>
          <p:sp>
            <p:nvSpPr>
              <p:cNvPr id="68" name="文本框 67"/>
              <p:cNvSpPr txBox="1"/>
              <p:nvPr/>
            </p:nvSpPr>
            <p:spPr>
              <a:xfrm>
                <a:off x="17437" y="2212"/>
                <a:ext cx="1850" cy="1161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lvl="0" algn="r">
                  <a:buClrTx/>
                  <a:buSzTx/>
                  <a:buFontTx/>
                </a:pPr>
                <a:r>
                  <a:rPr lang="en-US" altLang="zh-CN" sz="1400" i="1">
                    <a:solidFill>
                      <a:schemeClr val="tx1"/>
                    </a:solidFill>
                    <a:sym typeface="+mn-ea"/>
                  </a:rPr>
                  <a:t>10% Dense core, sparse periphery</a:t>
                </a:r>
              </a:p>
            </p:txBody>
          </p:sp>
          <p:sp>
            <p:nvSpPr>
              <p:cNvPr id="143" name="文本框 142"/>
              <p:cNvSpPr txBox="1"/>
              <p:nvPr/>
            </p:nvSpPr>
            <p:spPr>
              <a:xfrm>
                <a:off x="12167" y="2212"/>
                <a:ext cx="2759" cy="746"/>
              </a:xfrm>
              <a:prstGeom prst="rect">
                <a:avLst/>
              </a:prstGeom>
            </p:spPr>
            <p:txBody>
              <a:bodyPr wrap="square">
                <a:noAutofit/>
              </a:bodyPr>
              <a:lstStyle/>
              <a:p>
                <a:pPr lvl="0" algn="l">
                  <a:buClrTx/>
                  <a:buSzTx/>
                  <a:buFontTx/>
                </a:pPr>
                <a:r>
                  <a:rPr lang="en-US" altLang="zh-CN" sz="1400" i="1">
                    <a:solidFill>
                      <a:schemeClr val="tx1"/>
                    </a:solidFill>
                    <a:sym typeface="+mn-ea"/>
                  </a:rPr>
                  <a:t>43% Small Core, sparse periphery</a:t>
                </a:r>
              </a:p>
            </p:txBody>
          </p:sp>
          <p:sp>
            <p:nvSpPr>
              <p:cNvPr id="148" name="文本框 147"/>
              <p:cNvSpPr txBox="1"/>
              <p:nvPr/>
            </p:nvSpPr>
            <p:spPr>
              <a:xfrm>
                <a:off x="17418" y="5362"/>
                <a:ext cx="1936" cy="101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r"/>
                <a:r>
                  <a:rPr lang="en-US" altLang="zh-CN" i="1">
                    <a:solidFill>
                      <a:schemeClr val="bg1">
                        <a:lumMod val="50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mean </a:t>
                </a:r>
                <a:r>
                  <a:rPr lang="en-US" altLang="zh-CN" i="1">
                    <a:solidFill>
                      <a:schemeClr val="bg1">
                        <a:lumMod val="50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  <a:sym typeface="+mn-ea"/>
                  </a:rPr>
                  <a:t>δ = 0.09</a:t>
                </a:r>
              </a:p>
            </p:txBody>
          </p:sp>
        </p:grpSp>
      </p:grpSp>
      <p:cxnSp>
        <p:nvCxnSpPr>
          <p:cNvPr id="33" name="直接连接符 32"/>
          <p:cNvCxnSpPr/>
          <p:nvPr/>
        </p:nvCxnSpPr>
        <p:spPr>
          <a:xfrm>
            <a:off x="655955" y="-645160"/>
            <a:ext cx="135382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grpSp>
        <p:nvGrpSpPr>
          <p:cNvPr id="97" name="组合 96"/>
          <p:cNvGrpSpPr/>
          <p:nvPr/>
        </p:nvGrpSpPr>
        <p:grpSpPr>
          <a:xfrm>
            <a:off x="14831695" y="-1198880"/>
            <a:ext cx="2746375" cy="913130"/>
            <a:chOff x="2166" y="1724"/>
            <a:chExt cx="19159" cy="6372"/>
          </a:xfrm>
        </p:grpSpPr>
        <p:cxnSp>
          <p:nvCxnSpPr>
            <p:cNvPr id="70" name="直接箭头连接符 69"/>
            <p:cNvCxnSpPr/>
            <p:nvPr/>
          </p:nvCxnSpPr>
          <p:spPr>
            <a:xfrm flipV="1">
              <a:off x="2166" y="1724"/>
              <a:ext cx="0" cy="6327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92" name="直接箭头连接符 91"/>
            <p:cNvCxnSpPr/>
            <p:nvPr/>
          </p:nvCxnSpPr>
          <p:spPr>
            <a:xfrm flipV="1">
              <a:off x="2166" y="8047"/>
              <a:ext cx="7744" cy="5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95" name="直接箭头连接符 94"/>
            <p:cNvCxnSpPr/>
            <p:nvPr/>
          </p:nvCxnSpPr>
          <p:spPr>
            <a:xfrm flipV="1">
              <a:off x="13581" y="1769"/>
              <a:ext cx="0" cy="6327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96" name="直接箭头连接符 95"/>
            <p:cNvCxnSpPr/>
            <p:nvPr/>
          </p:nvCxnSpPr>
          <p:spPr>
            <a:xfrm flipV="1">
              <a:off x="13581" y="8092"/>
              <a:ext cx="7744" cy="5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</p:grpSp>
      <p:grpSp>
        <p:nvGrpSpPr>
          <p:cNvPr id="124" name="组合 123"/>
          <p:cNvGrpSpPr/>
          <p:nvPr/>
        </p:nvGrpSpPr>
        <p:grpSpPr>
          <a:xfrm>
            <a:off x="120015" y="10464800"/>
            <a:ext cx="14569440" cy="2619375"/>
            <a:chOff x="186" y="3371"/>
            <a:chExt cx="22944" cy="4125"/>
          </a:xfrm>
        </p:grpSpPr>
        <p:sp>
          <p:nvSpPr>
            <p:cNvPr id="5" name="文本框 4"/>
            <p:cNvSpPr txBox="1"/>
            <p:nvPr/>
          </p:nvSpPr>
          <p:spPr>
            <a:xfrm>
              <a:off x="186" y="5928"/>
              <a:ext cx="2265" cy="822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r"/>
              <a:r>
                <a:rPr lang="en-US" altLang="zh-CN" sz="1400" i="1">
                  <a:solidFill>
                    <a:schemeClr val="tx1"/>
                  </a:solidFill>
                </a:rPr>
                <a:t>Low-Constraint, Flat-Gradient</a:t>
              </a:r>
            </a:p>
          </p:txBody>
        </p:sp>
        <p:sp>
          <p:nvSpPr>
            <p:cNvPr id="9" name="文本框 8"/>
            <p:cNvSpPr txBox="1"/>
            <p:nvPr/>
          </p:nvSpPr>
          <p:spPr>
            <a:xfrm>
              <a:off x="9533" y="4232"/>
              <a:ext cx="2346" cy="679"/>
            </a:xfrm>
            <a:prstGeom prst="rect">
              <a:avLst/>
            </a:prstGeom>
          </p:spPr>
          <p:txBody>
            <a:bodyPr wrap="square">
              <a:noAutofit/>
            </a:bodyPr>
            <a:lstStyle/>
            <a:p>
              <a:pPr algn="l"/>
              <a:r>
                <a:rPr lang="en-US" altLang="zh-CN" sz="1400" i="1">
                  <a:solidFill>
                    <a:schemeClr val="tx1"/>
                  </a:solidFill>
                </a:rPr>
                <a:t>High-Constraint, Steep-Gradient</a:t>
              </a:r>
            </a:p>
          </p:txBody>
        </p:sp>
        <p:sp>
          <p:nvSpPr>
            <p:cNvPr id="10" name="文本框 9"/>
            <p:cNvSpPr txBox="1"/>
            <p:nvPr/>
          </p:nvSpPr>
          <p:spPr>
            <a:xfrm>
              <a:off x="200" y="4186"/>
              <a:ext cx="2211" cy="822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r">
                <a:buClrTx/>
                <a:buSzTx/>
                <a:buFontTx/>
              </a:pPr>
              <a:r>
                <a:rPr lang="en-US" altLang="zh-CN" sz="1400" i="1">
                  <a:solidFill>
                    <a:schemeClr val="tx1"/>
                  </a:solidFill>
                  <a:sym typeface="+mn-ea"/>
                </a:rPr>
                <a:t>Low-Constraint,</a:t>
              </a:r>
            </a:p>
            <a:p>
              <a:pPr lvl="0" algn="r">
                <a:buClrTx/>
                <a:buSzTx/>
                <a:buFontTx/>
              </a:pPr>
              <a:r>
                <a:rPr lang="en-US" altLang="zh-CN" sz="1400" i="1">
                  <a:solidFill>
                    <a:schemeClr val="tx1"/>
                  </a:solidFill>
                  <a:sym typeface="+mn-ea"/>
                </a:rPr>
                <a:t>Steep-Gradient</a:t>
              </a:r>
            </a:p>
          </p:txBody>
        </p:sp>
        <p:sp>
          <p:nvSpPr>
            <p:cNvPr id="59" name="文本框 58"/>
            <p:cNvSpPr txBox="1"/>
            <p:nvPr/>
          </p:nvSpPr>
          <p:spPr>
            <a:xfrm>
              <a:off x="9552" y="5928"/>
              <a:ext cx="2327" cy="822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l"/>
              <a:r>
                <a:rPr lang="en-US" altLang="zh-CN" sz="1400" i="1">
                  <a:solidFill>
                    <a:schemeClr val="tx1"/>
                  </a:solidFill>
                </a:rPr>
                <a:t>High-Constraint, Flat-Gradient</a:t>
              </a:r>
            </a:p>
          </p:txBody>
        </p:sp>
        <p:sp>
          <p:nvSpPr>
            <p:cNvPr id="63" name="文本框 62"/>
            <p:cNvSpPr txBox="1"/>
            <p:nvPr/>
          </p:nvSpPr>
          <p:spPr>
            <a:xfrm>
              <a:off x="11568" y="4232"/>
              <a:ext cx="2211" cy="746"/>
            </a:xfrm>
            <a:prstGeom prst="rect">
              <a:avLst/>
            </a:prstGeom>
          </p:spPr>
          <p:txBody>
            <a:bodyPr wrap="square">
              <a:noAutofit/>
            </a:bodyPr>
            <a:lstStyle/>
            <a:p>
              <a:pPr lvl="0" algn="r">
                <a:buClrTx/>
                <a:buSzTx/>
                <a:buFontTx/>
              </a:pPr>
              <a:r>
                <a:rPr lang="en-US" altLang="zh-CN" sz="1400" i="1">
                  <a:solidFill>
                    <a:schemeClr val="tx1"/>
                  </a:solidFill>
                  <a:sym typeface="+mn-ea"/>
                </a:rPr>
                <a:t>Low-Intensity, Flat-Gradient</a:t>
              </a:r>
            </a:p>
          </p:txBody>
        </p:sp>
        <p:sp>
          <p:nvSpPr>
            <p:cNvPr id="64" name="文本框 63"/>
            <p:cNvSpPr txBox="1"/>
            <p:nvPr/>
          </p:nvSpPr>
          <p:spPr>
            <a:xfrm>
              <a:off x="11568" y="5928"/>
              <a:ext cx="2211" cy="822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r">
                <a:buClrTx/>
                <a:buSzTx/>
                <a:buFontTx/>
              </a:pPr>
              <a:r>
                <a:rPr lang="en-US" altLang="zh-CN" sz="1400" i="1">
                  <a:solidFill>
                    <a:schemeClr val="tx1"/>
                  </a:solidFill>
                  <a:sym typeface="+mn-ea"/>
                </a:rPr>
                <a:t>Low-Intensity, Steep-Gradient</a:t>
              </a:r>
            </a:p>
          </p:txBody>
        </p:sp>
        <p:sp>
          <p:nvSpPr>
            <p:cNvPr id="69" name="文本框 68"/>
            <p:cNvSpPr txBox="1"/>
            <p:nvPr/>
          </p:nvSpPr>
          <p:spPr>
            <a:xfrm>
              <a:off x="20920" y="4182"/>
              <a:ext cx="2211" cy="822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l">
                <a:buClrTx/>
                <a:buSzTx/>
                <a:buFontTx/>
              </a:pPr>
              <a:r>
                <a:rPr lang="en-US" altLang="zh-CN" sz="1400" i="1">
                  <a:solidFill>
                    <a:schemeClr val="tx1"/>
                  </a:solidFill>
                  <a:sym typeface="+mn-ea"/>
                </a:rPr>
                <a:t>High-Intensity, Flat-Gradient</a:t>
              </a:r>
            </a:p>
          </p:txBody>
        </p:sp>
        <p:sp>
          <p:nvSpPr>
            <p:cNvPr id="98" name="文本框 97"/>
            <p:cNvSpPr txBox="1"/>
            <p:nvPr/>
          </p:nvSpPr>
          <p:spPr>
            <a:xfrm>
              <a:off x="20874" y="5928"/>
              <a:ext cx="2211" cy="822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l">
                <a:buClrTx/>
                <a:buSzTx/>
                <a:buFontTx/>
              </a:pPr>
              <a:r>
                <a:rPr lang="en-US" altLang="zh-CN" sz="1400" i="1">
                  <a:solidFill>
                    <a:schemeClr val="tx1"/>
                  </a:solidFill>
                  <a:sym typeface="+mn-ea"/>
                </a:rPr>
                <a:t>High-Intensity, Steep-Gradient</a:t>
              </a:r>
            </a:p>
          </p:txBody>
        </p:sp>
        <p:grpSp>
          <p:nvGrpSpPr>
            <p:cNvPr id="100" name="组合 99"/>
            <p:cNvGrpSpPr/>
            <p:nvPr/>
          </p:nvGrpSpPr>
          <p:grpSpPr>
            <a:xfrm>
              <a:off x="1395" y="6639"/>
              <a:ext cx="831" cy="826"/>
              <a:chOff x="493" y="2941"/>
              <a:chExt cx="4304" cy="4270"/>
            </a:xfrm>
          </p:grpSpPr>
          <p:pic>
            <p:nvPicPr>
              <p:cNvPr id="101" name="图片 100"/>
              <p:cNvPicPr>
                <a:picLocks noChangeAspect="1"/>
              </p:cNvPicPr>
              <p:nvPr/>
            </p:nvPicPr>
            <p:blipFill>
              <a:blip r:embed="rId7">
                <a:grayscl/>
              </a:blip>
              <a:stretch>
                <a:fillRect/>
              </a:stretch>
            </p:blipFill>
            <p:spPr>
              <a:xfrm>
                <a:off x="493" y="2941"/>
                <a:ext cx="4304" cy="4271"/>
              </a:xfrm>
              <a:prstGeom prst="rect">
                <a:avLst/>
              </a:prstGeom>
            </p:spPr>
          </p:pic>
          <p:sp>
            <p:nvSpPr>
              <p:cNvPr id="102" name="椭圆 101"/>
              <p:cNvSpPr/>
              <p:nvPr/>
            </p:nvSpPr>
            <p:spPr>
              <a:xfrm>
                <a:off x="598" y="3013"/>
                <a:ext cx="4199" cy="4199"/>
              </a:xfrm>
              <a:prstGeom prst="ellipse">
                <a:avLst/>
              </a:prstGeom>
              <a:noFill/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200"/>
              </a:p>
            </p:txBody>
          </p:sp>
        </p:grpSp>
        <p:grpSp>
          <p:nvGrpSpPr>
            <p:cNvPr id="103" name="组合 102"/>
            <p:cNvGrpSpPr/>
            <p:nvPr/>
          </p:nvGrpSpPr>
          <p:grpSpPr>
            <a:xfrm>
              <a:off x="1365" y="3374"/>
              <a:ext cx="831" cy="826"/>
              <a:chOff x="4929" y="2941"/>
              <a:chExt cx="4302" cy="4270"/>
            </a:xfrm>
          </p:grpSpPr>
          <p:pic>
            <p:nvPicPr>
              <p:cNvPr id="104" name="图片 103"/>
              <p:cNvPicPr>
                <a:picLocks noChangeAspect="1"/>
              </p:cNvPicPr>
              <p:nvPr/>
            </p:nvPicPr>
            <p:blipFill>
              <a:blip r:embed="rId8">
                <a:grayscl/>
              </a:blip>
              <a:stretch>
                <a:fillRect/>
              </a:stretch>
            </p:blipFill>
            <p:spPr>
              <a:xfrm>
                <a:off x="4929" y="2941"/>
                <a:ext cx="4303" cy="4271"/>
              </a:xfrm>
              <a:prstGeom prst="rect">
                <a:avLst/>
              </a:prstGeom>
            </p:spPr>
          </p:pic>
          <p:sp>
            <p:nvSpPr>
              <p:cNvPr id="105" name="椭圆 104"/>
              <p:cNvSpPr/>
              <p:nvPr/>
            </p:nvSpPr>
            <p:spPr>
              <a:xfrm>
                <a:off x="5028" y="3013"/>
                <a:ext cx="4199" cy="4199"/>
              </a:xfrm>
              <a:prstGeom prst="ellipse">
                <a:avLst/>
              </a:prstGeom>
              <a:noFill/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200"/>
              </a:p>
            </p:txBody>
          </p:sp>
        </p:grpSp>
        <p:grpSp>
          <p:nvGrpSpPr>
            <p:cNvPr id="106" name="组合 105"/>
            <p:cNvGrpSpPr/>
            <p:nvPr/>
          </p:nvGrpSpPr>
          <p:grpSpPr>
            <a:xfrm>
              <a:off x="9591" y="6639"/>
              <a:ext cx="831" cy="826"/>
              <a:chOff x="9364" y="2941"/>
              <a:chExt cx="4302" cy="4270"/>
            </a:xfrm>
          </p:grpSpPr>
          <p:pic>
            <p:nvPicPr>
              <p:cNvPr id="107" name="图片 106"/>
              <p:cNvPicPr>
                <a:picLocks noChangeAspect="1"/>
              </p:cNvPicPr>
              <p:nvPr/>
            </p:nvPicPr>
            <p:blipFill>
              <a:blip r:embed="rId9">
                <a:grayscl/>
              </a:blip>
              <a:stretch>
                <a:fillRect/>
              </a:stretch>
            </p:blipFill>
            <p:spPr>
              <a:xfrm>
                <a:off x="9364" y="2941"/>
                <a:ext cx="4303" cy="4271"/>
              </a:xfrm>
              <a:prstGeom prst="rect">
                <a:avLst/>
              </a:prstGeom>
            </p:spPr>
          </p:pic>
          <p:sp>
            <p:nvSpPr>
              <p:cNvPr id="108" name="椭圆 107"/>
              <p:cNvSpPr/>
              <p:nvPr/>
            </p:nvSpPr>
            <p:spPr>
              <a:xfrm>
                <a:off x="9457" y="3013"/>
                <a:ext cx="4199" cy="4199"/>
              </a:xfrm>
              <a:prstGeom prst="ellipse">
                <a:avLst/>
              </a:prstGeom>
              <a:noFill/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200"/>
              </a:p>
            </p:txBody>
          </p:sp>
        </p:grpSp>
        <p:grpSp>
          <p:nvGrpSpPr>
            <p:cNvPr id="109" name="组合 108"/>
            <p:cNvGrpSpPr/>
            <p:nvPr/>
          </p:nvGrpSpPr>
          <p:grpSpPr>
            <a:xfrm>
              <a:off x="9594" y="3374"/>
              <a:ext cx="831" cy="826"/>
              <a:chOff x="13799" y="2941"/>
              <a:chExt cx="4302" cy="4270"/>
            </a:xfrm>
          </p:grpSpPr>
          <p:pic>
            <p:nvPicPr>
              <p:cNvPr id="110" name="图片 109"/>
              <p:cNvPicPr>
                <a:picLocks noChangeAspect="1"/>
              </p:cNvPicPr>
              <p:nvPr/>
            </p:nvPicPr>
            <p:blipFill>
              <a:blip r:embed="rId10">
                <a:grayscl/>
              </a:blip>
              <a:stretch>
                <a:fillRect/>
              </a:stretch>
            </p:blipFill>
            <p:spPr>
              <a:xfrm>
                <a:off x="13799" y="2941"/>
                <a:ext cx="4303" cy="4271"/>
              </a:xfrm>
              <a:prstGeom prst="rect">
                <a:avLst/>
              </a:prstGeom>
            </p:spPr>
          </p:pic>
          <p:sp>
            <p:nvSpPr>
              <p:cNvPr id="111" name="椭圆 110"/>
              <p:cNvSpPr/>
              <p:nvPr/>
            </p:nvSpPr>
            <p:spPr>
              <a:xfrm>
                <a:off x="13887" y="3013"/>
                <a:ext cx="4199" cy="4199"/>
              </a:xfrm>
              <a:prstGeom prst="ellipse">
                <a:avLst/>
              </a:prstGeom>
              <a:noFill/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200"/>
              </a:p>
            </p:txBody>
          </p:sp>
        </p:grpSp>
        <p:grpSp>
          <p:nvGrpSpPr>
            <p:cNvPr id="112" name="组合 111"/>
            <p:cNvGrpSpPr/>
            <p:nvPr/>
          </p:nvGrpSpPr>
          <p:grpSpPr>
            <a:xfrm>
              <a:off x="12704" y="3371"/>
              <a:ext cx="848" cy="829"/>
              <a:chOff x="1057" y="2049"/>
              <a:chExt cx="4212" cy="4114"/>
            </a:xfrm>
          </p:grpSpPr>
          <p:pic>
            <p:nvPicPr>
              <p:cNvPr id="113" name="图片 112"/>
              <p:cNvPicPr>
                <a:picLocks noChangeAspect="1"/>
              </p:cNvPicPr>
              <p:nvPr/>
            </p:nvPicPr>
            <p:blipFill>
              <a:blip r:embed="rId11">
                <a:clrChange>
                  <a:clrFrom>
                    <a:srgbClr val="F7F7F7">
                      <a:alpha val="100000"/>
                    </a:srgbClr>
                  </a:clrFrom>
                  <a:clrTo>
                    <a:srgbClr val="F7F7F7">
                      <a:alpha val="100000"/>
                      <a:alpha val="0"/>
                    </a:srgbClr>
                  </a:clrTo>
                </a:clrChange>
              </a:blip>
              <a:stretch>
                <a:fillRect/>
              </a:stretch>
            </p:blipFill>
            <p:spPr>
              <a:xfrm>
                <a:off x="1057" y="2049"/>
                <a:ext cx="4212" cy="4115"/>
              </a:xfrm>
              <a:prstGeom prst="rect">
                <a:avLst/>
              </a:prstGeom>
            </p:spPr>
          </p:pic>
          <p:sp>
            <p:nvSpPr>
              <p:cNvPr id="114" name="椭圆 113"/>
              <p:cNvSpPr/>
              <p:nvPr/>
            </p:nvSpPr>
            <p:spPr>
              <a:xfrm>
                <a:off x="1280" y="2210"/>
                <a:ext cx="3862" cy="3862"/>
              </a:xfrm>
              <a:prstGeom prst="ellipse">
                <a:avLst/>
              </a:prstGeom>
              <a:noFill/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200"/>
              </a:p>
            </p:txBody>
          </p:sp>
        </p:grpSp>
        <p:grpSp>
          <p:nvGrpSpPr>
            <p:cNvPr id="115" name="组合 114"/>
            <p:cNvGrpSpPr/>
            <p:nvPr/>
          </p:nvGrpSpPr>
          <p:grpSpPr>
            <a:xfrm>
              <a:off x="12734" y="6636"/>
              <a:ext cx="848" cy="829"/>
              <a:chOff x="5571" y="2049"/>
              <a:chExt cx="4212" cy="4114"/>
            </a:xfrm>
          </p:grpSpPr>
          <p:pic>
            <p:nvPicPr>
              <p:cNvPr id="116" name="图片 115"/>
              <p:cNvPicPr>
                <a:picLocks noChangeAspect="1"/>
              </p:cNvPicPr>
              <p:nvPr/>
            </p:nvPicPr>
            <p:blipFill>
              <a:blip r:embed="rId12">
                <a:clrChange>
                  <a:clrFrom>
                    <a:srgbClr val="F7F7F7">
                      <a:alpha val="100000"/>
                    </a:srgbClr>
                  </a:clrFrom>
                  <a:clrTo>
                    <a:srgbClr val="F7F7F7">
                      <a:alpha val="100000"/>
                      <a:alpha val="0"/>
                    </a:srgbClr>
                  </a:clrTo>
                </a:clrChange>
              </a:blip>
              <a:stretch>
                <a:fillRect/>
              </a:stretch>
            </p:blipFill>
            <p:spPr>
              <a:xfrm>
                <a:off x="5571" y="2049"/>
                <a:ext cx="4212" cy="4115"/>
              </a:xfrm>
              <a:prstGeom prst="rect">
                <a:avLst/>
              </a:prstGeom>
            </p:spPr>
          </p:pic>
          <p:sp>
            <p:nvSpPr>
              <p:cNvPr id="117" name="椭圆 116"/>
              <p:cNvSpPr/>
              <p:nvPr/>
            </p:nvSpPr>
            <p:spPr>
              <a:xfrm>
                <a:off x="5813" y="2210"/>
                <a:ext cx="3862" cy="3862"/>
              </a:xfrm>
              <a:prstGeom prst="ellipse">
                <a:avLst/>
              </a:prstGeom>
              <a:noFill/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200"/>
              </a:p>
            </p:txBody>
          </p:sp>
        </p:grpSp>
        <p:grpSp>
          <p:nvGrpSpPr>
            <p:cNvPr id="118" name="组合 117"/>
            <p:cNvGrpSpPr/>
            <p:nvPr/>
          </p:nvGrpSpPr>
          <p:grpSpPr>
            <a:xfrm>
              <a:off x="21052" y="3371"/>
              <a:ext cx="848" cy="829"/>
              <a:chOff x="10084" y="2049"/>
              <a:chExt cx="4212" cy="4114"/>
            </a:xfrm>
          </p:grpSpPr>
          <p:pic>
            <p:nvPicPr>
              <p:cNvPr id="119" name="图片 118"/>
              <p:cNvPicPr>
                <a:picLocks noChangeAspect="1"/>
              </p:cNvPicPr>
              <p:nvPr/>
            </p:nvPicPr>
            <p:blipFill>
              <a:blip r:embed="rId13">
                <a:clrChange>
                  <a:clrFrom>
                    <a:srgbClr val="F7F7F7">
                      <a:alpha val="100000"/>
                    </a:srgbClr>
                  </a:clrFrom>
                  <a:clrTo>
                    <a:srgbClr val="F7F7F7">
                      <a:alpha val="100000"/>
                      <a:alpha val="0"/>
                    </a:srgbClr>
                  </a:clrTo>
                </a:clrChange>
              </a:blip>
              <a:stretch>
                <a:fillRect/>
              </a:stretch>
            </p:blipFill>
            <p:spPr>
              <a:xfrm>
                <a:off x="10084" y="2049"/>
                <a:ext cx="4212" cy="4115"/>
              </a:xfrm>
              <a:prstGeom prst="rect">
                <a:avLst/>
              </a:prstGeom>
            </p:spPr>
          </p:pic>
          <p:sp>
            <p:nvSpPr>
              <p:cNvPr id="120" name="椭圆 119"/>
              <p:cNvSpPr/>
              <p:nvPr/>
            </p:nvSpPr>
            <p:spPr>
              <a:xfrm>
                <a:off x="10347" y="2210"/>
                <a:ext cx="3862" cy="3862"/>
              </a:xfrm>
              <a:prstGeom prst="ellipse">
                <a:avLst/>
              </a:prstGeom>
              <a:noFill/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200"/>
              </a:p>
            </p:txBody>
          </p:sp>
        </p:grpSp>
        <p:grpSp>
          <p:nvGrpSpPr>
            <p:cNvPr id="121" name="组合 120"/>
            <p:cNvGrpSpPr/>
            <p:nvPr/>
          </p:nvGrpSpPr>
          <p:grpSpPr>
            <a:xfrm>
              <a:off x="21000" y="6668"/>
              <a:ext cx="848" cy="828"/>
              <a:chOff x="22212" y="8641"/>
              <a:chExt cx="848" cy="828"/>
            </a:xfrm>
          </p:grpSpPr>
          <p:pic>
            <p:nvPicPr>
              <p:cNvPr id="122" name="图片 121"/>
              <p:cNvPicPr>
                <a:picLocks noChangeAspect="1"/>
              </p:cNvPicPr>
              <p:nvPr/>
            </p:nvPicPr>
            <p:blipFill>
              <a:blip r:embed="rId14">
                <a:clrChange>
                  <a:clrFrom>
                    <a:srgbClr val="F7F7F7">
                      <a:alpha val="100000"/>
                    </a:srgbClr>
                  </a:clrFrom>
                  <a:clrTo>
                    <a:srgbClr val="F7F7F7">
                      <a:alpha val="100000"/>
                      <a:alpha val="0"/>
                    </a:srgbClr>
                  </a:clrTo>
                </a:clrChange>
              </a:blip>
              <a:stretch>
                <a:fillRect/>
              </a:stretch>
            </p:blipFill>
            <p:spPr>
              <a:xfrm>
                <a:off x="22212" y="8641"/>
                <a:ext cx="848" cy="829"/>
              </a:xfrm>
              <a:prstGeom prst="rect">
                <a:avLst/>
              </a:prstGeom>
            </p:spPr>
          </p:pic>
          <p:sp>
            <p:nvSpPr>
              <p:cNvPr id="123" name="椭圆 122"/>
              <p:cNvSpPr/>
              <p:nvPr/>
            </p:nvSpPr>
            <p:spPr>
              <a:xfrm>
                <a:off x="22232" y="8657"/>
                <a:ext cx="778" cy="778"/>
              </a:xfrm>
              <a:prstGeom prst="ellipse">
                <a:avLst/>
              </a:prstGeom>
              <a:noFill/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200"/>
              </a:p>
            </p:txBody>
          </p:sp>
        </p:grpSp>
      </p:grpSp>
      <p:sp>
        <p:nvSpPr>
          <p:cNvPr id="71" name="文本框 70"/>
          <p:cNvSpPr txBox="1"/>
          <p:nvPr/>
        </p:nvSpPr>
        <p:spPr>
          <a:xfrm>
            <a:off x="2478405" y="-1192530"/>
            <a:ext cx="9920605" cy="4603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algn="ctr"/>
            <a:r>
              <a:rPr lang="en-US" altLang="zh-CN" sz="2400" b="1"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Horizontal Construction Params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组合 3"/>
          <p:cNvGrpSpPr/>
          <p:nvPr/>
        </p:nvGrpSpPr>
        <p:grpSpPr>
          <a:xfrm>
            <a:off x="720725" y="692150"/>
            <a:ext cx="13425805" cy="6262370"/>
            <a:chOff x="1135" y="1090"/>
            <a:chExt cx="21143" cy="9862"/>
          </a:xfrm>
        </p:grpSpPr>
        <p:sp>
          <p:nvSpPr>
            <p:cNvPr id="73" name="矩形 72"/>
            <p:cNvSpPr/>
            <p:nvPr/>
          </p:nvSpPr>
          <p:spPr>
            <a:xfrm>
              <a:off x="1136" y="1090"/>
              <a:ext cx="21143" cy="9863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pic>
          <p:nvPicPr>
            <p:cNvPr id="3" name="图片 2"/>
            <p:cNvPicPr/>
            <p:nvPr/>
          </p:nvPicPr>
          <p:blipFill>
            <a:blip r:embed="rId3"/>
            <a:srcRect t="6059" r="30212" b="5321"/>
            <a:stretch>
              <a:fillRect/>
            </a:stretch>
          </p:blipFill>
          <p:spPr>
            <a:xfrm>
              <a:off x="10877" y="1882"/>
              <a:ext cx="9845" cy="6245"/>
            </a:xfrm>
            <a:prstGeom prst="rect">
              <a:avLst/>
            </a:prstGeom>
          </p:spPr>
        </p:pic>
        <p:pic>
          <p:nvPicPr>
            <p:cNvPr id="2" name="图片 1"/>
            <p:cNvPicPr/>
            <p:nvPr/>
          </p:nvPicPr>
          <p:blipFill>
            <a:blip r:embed="rId4"/>
            <a:srcRect t="6058" r="32331" b="5235"/>
            <a:stretch>
              <a:fillRect/>
            </a:stretch>
          </p:blipFill>
          <p:spPr>
            <a:xfrm>
              <a:off x="1135" y="1950"/>
              <a:ext cx="9269" cy="6075"/>
            </a:xfrm>
            <a:prstGeom prst="rect">
              <a:avLst/>
            </a:prstGeom>
          </p:spPr>
        </p:pic>
        <p:sp>
          <p:nvSpPr>
            <p:cNvPr id="55" name="文本框 54"/>
            <p:cNvSpPr txBox="1"/>
            <p:nvPr/>
          </p:nvSpPr>
          <p:spPr>
            <a:xfrm>
              <a:off x="12366" y="7966"/>
              <a:ext cx="1765" cy="58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/>
                <a:t>Africa</a:t>
              </a:r>
            </a:p>
          </p:txBody>
        </p:sp>
        <p:sp>
          <p:nvSpPr>
            <p:cNvPr id="56" name="文本框 55"/>
            <p:cNvSpPr txBox="1"/>
            <p:nvPr/>
          </p:nvSpPr>
          <p:spPr>
            <a:xfrm>
              <a:off x="14699" y="7967"/>
              <a:ext cx="2818" cy="10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/>
                <a:t>South &amp; Southeast Asia</a:t>
              </a:r>
            </a:p>
          </p:txBody>
        </p:sp>
        <p:sp>
          <p:nvSpPr>
            <p:cNvPr id="57" name="文本框 56"/>
            <p:cNvSpPr txBox="1"/>
            <p:nvPr/>
          </p:nvSpPr>
          <p:spPr>
            <a:xfrm>
              <a:off x="17864" y="7967"/>
              <a:ext cx="1994" cy="10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>
                  <a:ea typeface="宋体" panose="02010600030101010101" pitchFamily="2" charset="-122"/>
                </a:rPr>
                <a:t>Latin</a:t>
              </a:r>
            </a:p>
            <a:p>
              <a:pPr algn="ctr"/>
              <a:r>
                <a:rPr lang="en-US" altLang="zh-CN">
                  <a:ea typeface="宋体" panose="02010600030101010101" pitchFamily="2" charset="-122"/>
                </a:rPr>
                <a:t>America</a:t>
              </a:r>
            </a:p>
          </p:txBody>
        </p:sp>
        <p:sp>
          <p:nvSpPr>
            <p:cNvPr id="64" name="文本框 63"/>
            <p:cNvSpPr txBox="1"/>
            <p:nvPr/>
          </p:nvSpPr>
          <p:spPr>
            <a:xfrm>
              <a:off x="12219" y="1882"/>
              <a:ext cx="1028" cy="48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400"/>
                <a:t>2016</a:t>
              </a:r>
            </a:p>
          </p:txBody>
        </p:sp>
        <p:sp>
          <p:nvSpPr>
            <p:cNvPr id="65" name="文本框 64"/>
            <p:cNvSpPr txBox="1"/>
            <p:nvPr/>
          </p:nvSpPr>
          <p:spPr>
            <a:xfrm>
              <a:off x="13293" y="1882"/>
              <a:ext cx="1028" cy="48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400"/>
                <a:t>2023</a:t>
              </a:r>
            </a:p>
          </p:txBody>
        </p:sp>
        <p:sp>
          <p:nvSpPr>
            <p:cNvPr id="66" name="文本框 65"/>
            <p:cNvSpPr txBox="1"/>
            <p:nvPr/>
          </p:nvSpPr>
          <p:spPr>
            <a:xfrm>
              <a:off x="14971" y="1882"/>
              <a:ext cx="1028" cy="48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400"/>
                <a:t>2016</a:t>
              </a:r>
            </a:p>
          </p:txBody>
        </p:sp>
        <p:sp>
          <p:nvSpPr>
            <p:cNvPr id="67" name="文本框 66"/>
            <p:cNvSpPr txBox="1"/>
            <p:nvPr/>
          </p:nvSpPr>
          <p:spPr>
            <a:xfrm>
              <a:off x="16045" y="1882"/>
              <a:ext cx="1028" cy="48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400"/>
                <a:t>2023</a:t>
              </a:r>
            </a:p>
          </p:txBody>
        </p:sp>
        <p:sp>
          <p:nvSpPr>
            <p:cNvPr id="68" name="文本框 67"/>
            <p:cNvSpPr txBox="1"/>
            <p:nvPr/>
          </p:nvSpPr>
          <p:spPr>
            <a:xfrm>
              <a:off x="17823" y="1882"/>
              <a:ext cx="1028" cy="48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400"/>
                <a:t>2016</a:t>
              </a:r>
            </a:p>
          </p:txBody>
        </p:sp>
        <p:sp>
          <p:nvSpPr>
            <p:cNvPr id="69" name="文本框 68"/>
            <p:cNvSpPr txBox="1"/>
            <p:nvPr/>
          </p:nvSpPr>
          <p:spPr>
            <a:xfrm>
              <a:off x="18897" y="1882"/>
              <a:ext cx="1028" cy="48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400"/>
                <a:t>2023</a:t>
              </a:r>
            </a:p>
          </p:txBody>
        </p:sp>
        <p:sp>
          <p:nvSpPr>
            <p:cNvPr id="14" name="矩形 13"/>
            <p:cNvSpPr/>
            <p:nvPr/>
          </p:nvSpPr>
          <p:spPr>
            <a:xfrm>
              <a:off x="2194" y="9790"/>
              <a:ext cx="737" cy="442"/>
            </a:xfrm>
            <a:prstGeom prst="rect">
              <a:avLst/>
            </a:prstGeom>
            <a:solidFill>
              <a:srgbClr val="9EDAE5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5" name="文本框 14"/>
            <p:cNvSpPr txBox="1"/>
            <p:nvPr/>
          </p:nvSpPr>
          <p:spPr>
            <a:xfrm>
              <a:off x="3056" y="9725"/>
              <a:ext cx="3409" cy="50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1500"/>
                <a:t>Uniformly Developable</a:t>
              </a:r>
            </a:p>
          </p:txBody>
        </p:sp>
        <p:sp>
          <p:nvSpPr>
            <p:cNvPr id="16" name="矩形 15"/>
            <p:cNvSpPr/>
            <p:nvPr/>
          </p:nvSpPr>
          <p:spPr>
            <a:xfrm>
              <a:off x="2194" y="10340"/>
              <a:ext cx="737" cy="442"/>
            </a:xfrm>
            <a:prstGeom prst="rect">
              <a:avLst/>
            </a:prstGeom>
            <a:solidFill>
              <a:srgbClr val="F7B6D2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7" name="文本框 16"/>
            <p:cNvSpPr txBox="1"/>
            <p:nvPr/>
          </p:nvSpPr>
          <p:spPr>
            <a:xfrm>
              <a:off x="3056" y="10275"/>
              <a:ext cx="3690" cy="50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1500"/>
                <a:t>Uniformly Constrianed</a:t>
              </a:r>
            </a:p>
          </p:txBody>
        </p:sp>
        <p:sp>
          <p:nvSpPr>
            <p:cNvPr id="18" name="矩形 17"/>
            <p:cNvSpPr/>
            <p:nvPr/>
          </p:nvSpPr>
          <p:spPr>
            <a:xfrm>
              <a:off x="6868" y="9769"/>
              <a:ext cx="737" cy="442"/>
            </a:xfrm>
            <a:prstGeom prst="rect">
              <a:avLst/>
            </a:prstGeom>
            <a:solidFill>
              <a:srgbClr val="D62728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9" name="矩形 18"/>
            <p:cNvSpPr/>
            <p:nvPr/>
          </p:nvSpPr>
          <p:spPr>
            <a:xfrm>
              <a:off x="6868" y="10319"/>
              <a:ext cx="737" cy="442"/>
            </a:xfrm>
            <a:prstGeom prst="rect">
              <a:avLst/>
            </a:prstGeom>
            <a:solidFill>
              <a:srgbClr val="1F77B4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0" name="文本框 19"/>
            <p:cNvSpPr txBox="1"/>
            <p:nvPr/>
          </p:nvSpPr>
          <p:spPr>
            <a:xfrm>
              <a:off x="7721" y="9747"/>
              <a:ext cx="4039" cy="50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1500"/>
                <a:t>Core-Open, Edge-Locked</a:t>
              </a:r>
            </a:p>
          </p:txBody>
        </p:sp>
        <p:sp>
          <p:nvSpPr>
            <p:cNvPr id="21" name="文本框 20"/>
            <p:cNvSpPr txBox="1"/>
            <p:nvPr/>
          </p:nvSpPr>
          <p:spPr>
            <a:xfrm>
              <a:off x="7721" y="10254"/>
              <a:ext cx="4039" cy="50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1500"/>
                <a:t>Core-Limited, Edge-Locked</a:t>
              </a:r>
            </a:p>
          </p:txBody>
        </p:sp>
        <p:sp>
          <p:nvSpPr>
            <p:cNvPr id="29" name="文本框 28"/>
            <p:cNvSpPr txBox="1"/>
            <p:nvPr/>
          </p:nvSpPr>
          <p:spPr>
            <a:xfrm>
              <a:off x="4076" y="9218"/>
              <a:ext cx="5625" cy="50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500" b="1">
                  <a:latin typeface="Arial" panose="020B0604020202020204" pitchFamily="34" charset="0"/>
                  <a:cs typeface="Arial" panose="020B0604020202020204" pitchFamily="34" charset="0"/>
                </a:rPr>
                <a:t>α-β Categories</a:t>
              </a:r>
            </a:p>
          </p:txBody>
        </p:sp>
        <p:sp>
          <p:nvSpPr>
            <p:cNvPr id="31" name="文本框 30"/>
            <p:cNvSpPr txBox="1"/>
            <p:nvPr/>
          </p:nvSpPr>
          <p:spPr>
            <a:xfrm>
              <a:off x="1136" y="1090"/>
              <a:ext cx="9268" cy="72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2400"/>
                <a:t>(a) Horizontal - Structural Zero Part</a:t>
              </a:r>
            </a:p>
          </p:txBody>
        </p:sp>
        <p:sp>
          <p:nvSpPr>
            <p:cNvPr id="36" name="文本框 35"/>
            <p:cNvSpPr txBox="1"/>
            <p:nvPr/>
          </p:nvSpPr>
          <p:spPr>
            <a:xfrm>
              <a:off x="10675" y="1090"/>
              <a:ext cx="10867" cy="72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2400"/>
                <a:t>(b) Horizontal - Binomial (Real Construction) Part</a:t>
              </a:r>
            </a:p>
          </p:txBody>
        </p:sp>
        <p:sp>
          <p:nvSpPr>
            <p:cNvPr id="46" name="矩形 45"/>
            <p:cNvSpPr/>
            <p:nvPr/>
          </p:nvSpPr>
          <p:spPr>
            <a:xfrm>
              <a:off x="12681" y="9790"/>
              <a:ext cx="737" cy="442"/>
            </a:xfrm>
            <a:prstGeom prst="rect">
              <a:avLst/>
            </a:prstGeom>
            <a:solidFill>
              <a:srgbClr val="B3B3B3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7" name="文本框 46"/>
            <p:cNvSpPr txBox="1"/>
            <p:nvPr/>
          </p:nvSpPr>
          <p:spPr>
            <a:xfrm>
              <a:off x="13543" y="9725"/>
              <a:ext cx="5625" cy="50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1500"/>
                <a:t>Uniformly Sparse</a:t>
              </a:r>
            </a:p>
          </p:txBody>
        </p:sp>
        <p:sp>
          <p:nvSpPr>
            <p:cNvPr id="48" name="矩形 47"/>
            <p:cNvSpPr/>
            <p:nvPr/>
          </p:nvSpPr>
          <p:spPr>
            <a:xfrm>
              <a:off x="12681" y="10340"/>
              <a:ext cx="737" cy="442"/>
            </a:xfrm>
            <a:prstGeom prst="rect">
              <a:avLst/>
            </a:prstGeom>
            <a:solidFill>
              <a:srgbClr val="FFD92F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9" name="文本框 48"/>
            <p:cNvSpPr txBox="1"/>
            <p:nvPr/>
          </p:nvSpPr>
          <p:spPr>
            <a:xfrm>
              <a:off x="13543" y="10296"/>
              <a:ext cx="5626" cy="50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1500"/>
                <a:t>Uniformly Dense</a:t>
              </a:r>
            </a:p>
          </p:txBody>
        </p:sp>
        <p:sp>
          <p:nvSpPr>
            <p:cNvPr id="50" name="矩形 49"/>
            <p:cNvSpPr/>
            <p:nvPr/>
          </p:nvSpPr>
          <p:spPr>
            <a:xfrm>
              <a:off x="16233" y="9769"/>
              <a:ext cx="737" cy="442"/>
            </a:xfrm>
            <a:prstGeom prst="rect">
              <a:avLst/>
            </a:prstGeom>
            <a:solidFill>
              <a:srgbClr val="8DA0CB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1" name="矩形 50"/>
            <p:cNvSpPr/>
            <p:nvPr/>
          </p:nvSpPr>
          <p:spPr>
            <a:xfrm>
              <a:off x="16233" y="10319"/>
              <a:ext cx="737" cy="442"/>
            </a:xfrm>
            <a:prstGeom prst="rect">
              <a:avLst/>
            </a:prstGeom>
            <a:solidFill>
              <a:srgbClr val="66C2A5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2" name="文本框 51"/>
            <p:cNvSpPr txBox="1"/>
            <p:nvPr/>
          </p:nvSpPr>
          <p:spPr>
            <a:xfrm>
              <a:off x="17086" y="9747"/>
              <a:ext cx="4455" cy="50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1500"/>
                <a:t>Small-Core, Sparse-Periphery</a:t>
              </a:r>
            </a:p>
          </p:txBody>
        </p:sp>
        <p:sp>
          <p:nvSpPr>
            <p:cNvPr id="53" name="文本框 52"/>
            <p:cNvSpPr txBox="1"/>
            <p:nvPr/>
          </p:nvSpPr>
          <p:spPr>
            <a:xfrm>
              <a:off x="17086" y="10254"/>
              <a:ext cx="4456" cy="50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1500"/>
                <a:t>Dense-Core, Sparse-Periphery</a:t>
              </a:r>
            </a:p>
          </p:txBody>
        </p:sp>
        <p:sp>
          <p:nvSpPr>
            <p:cNvPr id="54" name="文本框 53"/>
            <p:cNvSpPr txBox="1"/>
            <p:nvPr/>
          </p:nvSpPr>
          <p:spPr>
            <a:xfrm>
              <a:off x="14207" y="9154"/>
              <a:ext cx="5625" cy="50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500" b="1">
                  <a:latin typeface="Arial" panose="020B0604020202020204" pitchFamily="34" charset="0"/>
                  <a:cs typeface="Arial" panose="020B0604020202020204" pitchFamily="34" charset="0"/>
                </a:rPr>
                <a:t>κ-δ Categories</a:t>
              </a:r>
            </a:p>
          </p:txBody>
        </p:sp>
        <p:grpSp>
          <p:nvGrpSpPr>
            <p:cNvPr id="70" name="组合 69"/>
            <p:cNvGrpSpPr/>
            <p:nvPr/>
          </p:nvGrpSpPr>
          <p:grpSpPr>
            <a:xfrm>
              <a:off x="2376" y="1900"/>
              <a:ext cx="7636" cy="7079"/>
              <a:chOff x="3143" y="2576"/>
              <a:chExt cx="6906" cy="6401"/>
            </a:xfrm>
          </p:grpSpPr>
          <p:sp>
            <p:nvSpPr>
              <p:cNvPr id="10" name="文本框 9"/>
              <p:cNvSpPr txBox="1"/>
              <p:nvPr/>
            </p:nvSpPr>
            <p:spPr>
              <a:xfrm>
                <a:off x="3279" y="8057"/>
                <a:ext cx="1602" cy="52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/>
                  <a:t>Africa</a:t>
                </a:r>
              </a:p>
            </p:txBody>
          </p:sp>
          <p:sp>
            <p:nvSpPr>
              <p:cNvPr id="11" name="文本框 10"/>
              <p:cNvSpPr txBox="1"/>
              <p:nvPr/>
            </p:nvSpPr>
            <p:spPr>
              <a:xfrm>
                <a:off x="5397" y="8058"/>
                <a:ext cx="2558" cy="91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/>
                  <a:t>South &amp; Southeast Asia</a:t>
                </a:r>
              </a:p>
            </p:txBody>
          </p:sp>
          <p:sp>
            <p:nvSpPr>
              <p:cNvPr id="12" name="文本框 11"/>
              <p:cNvSpPr txBox="1"/>
              <p:nvPr/>
            </p:nvSpPr>
            <p:spPr>
              <a:xfrm>
                <a:off x="8099" y="8058"/>
                <a:ext cx="1810" cy="91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>
                    <a:ea typeface="宋体" panose="02010600030101010101" pitchFamily="2" charset="-122"/>
                  </a:rPr>
                  <a:t>Latin</a:t>
                </a:r>
              </a:p>
              <a:p>
                <a:pPr algn="ctr"/>
                <a:r>
                  <a:rPr lang="en-US" altLang="zh-CN">
                    <a:ea typeface="宋体" panose="02010600030101010101" pitchFamily="2" charset="-122"/>
                  </a:rPr>
                  <a:t>America</a:t>
                </a:r>
              </a:p>
            </p:txBody>
          </p:sp>
          <p:sp>
            <p:nvSpPr>
              <p:cNvPr id="58" name="文本框 57"/>
              <p:cNvSpPr txBox="1"/>
              <p:nvPr/>
            </p:nvSpPr>
            <p:spPr>
              <a:xfrm>
                <a:off x="3143" y="2576"/>
                <a:ext cx="933" cy="43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400"/>
                  <a:t>2016</a:t>
                </a:r>
              </a:p>
            </p:txBody>
          </p:sp>
          <p:sp>
            <p:nvSpPr>
              <p:cNvPr id="59" name="文本框 58"/>
              <p:cNvSpPr txBox="1"/>
              <p:nvPr/>
            </p:nvSpPr>
            <p:spPr>
              <a:xfrm>
                <a:off x="4118" y="2576"/>
                <a:ext cx="933" cy="43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400"/>
                  <a:t>2023</a:t>
                </a:r>
              </a:p>
            </p:txBody>
          </p:sp>
          <p:sp>
            <p:nvSpPr>
              <p:cNvPr id="60" name="文本框 59"/>
              <p:cNvSpPr txBox="1"/>
              <p:nvPr/>
            </p:nvSpPr>
            <p:spPr>
              <a:xfrm>
                <a:off x="5642" y="2576"/>
                <a:ext cx="933" cy="43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400"/>
                  <a:t>2016</a:t>
                </a:r>
              </a:p>
            </p:txBody>
          </p:sp>
          <p:sp>
            <p:nvSpPr>
              <p:cNvPr id="61" name="文本框 60"/>
              <p:cNvSpPr txBox="1"/>
              <p:nvPr/>
            </p:nvSpPr>
            <p:spPr>
              <a:xfrm>
                <a:off x="6617" y="2576"/>
                <a:ext cx="933" cy="43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400"/>
                  <a:t>2023</a:t>
                </a:r>
              </a:p>
            </p:txBody>
          </p:sp>
          <p:sp>
            <p:nvSpPr>
              <p:cNvPr id="62" name="文本框 61"/>
              <p:cNvSpPr txBox="1"/>
              <p:nvPr/>
            </p:nvSpPr>
            <p:spPr>
              <a:xfrm>
                <a:off x="8141" y="2576"/>
                <a:ext cx="933" cy="43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400"/>
                  <a:t>2016</a:t>
                </a:r>
              </a:p>
            </p:txBody>
          </p:sp>
          <p:sp>
            <p:nvSpPr>
              <p:cNvPr id="63" name="文本框 62"/>
              <p:cNvSpPr txBox="1"/>
              <p:nvPr/>
            </p:nvSpPr>
            <p:spPr>
              <a:xfrm>
                <a:off x="9116" y="2576"/>
                <a:ext cx="933" cy="43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400"/>
                  <a:t>2023</a:t>
                </a:r>
              </a:p>
            </p:txBody>
          </p:sp>
        </p:grpSp>
      </p:grp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组合 8"/>
          <p:cNvGrpSpPr/>
          <p:nvPr/>
        </p:nvGrpSpPr>
        <p:grpSpPr>
          <a:xfrm>
            <a:off x="3465195" y="692150"/>
            <a:ext cx="6700520" cy="6842760"/>
            <a:chOff x="5457" y="1090"/>
            <a:chExt cx="10552" cy="10776"/>
          </a:xfrm>
        </p:grpSpPr>
        <p:sp>
          <p:nvSpPr>
            <p:cNvPr id="73" name="矩形 72"/>
            <p:cNvSpPr/>
            <p:nvPr/>
          </p:nvSpPr>
          <p:spPr>
            <a:xfrm>
              <a:off x="5457" y="1090"/>
              <a:ext cx="10553" cy="1077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pic>
          <p:nvPicPr>
            <p:cNvPr id="8" name="图片 7"/>
            <p:cNvPicPr/>
            <p:nvPr/>
          </p:nvPicPr>
          <p:blipFill>
            <a:blip r:embed="rId3"/>
            <a:srcRect r="23787" b="5455"/>
            <a:stretch>
              <a:fillRect/>
            </a:stretch>
          </p:blipFill>
          <p:spPr>
            <a:xfrm>
              <a:off x="5683" y="2161"/>
              <a:ext cx="9394" cy="5868"/>
            </a:xfrm>
            <a:prstGeom prst="rect">
              <a:avLst/>
            </a:prstGeom>
          </p:spPr>
        </p:pic>
        <p:sp>
          <p:nvSpPr>
            <p:cNvPr id="31" name="文本框 30"/>
            <p:cNvSpPr txBox="1"/>
            <p:nvPr/>
          </p:nvSpPr>
          <p:spPr>
            <a:xfrm>
              <a:off x="6120" y="1175"/>
              <a:ext cx="9268" cy="72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2400" dirty="0"/>
                <a:t>Vertical - Height</a:t>
              </a:r>
            </a:p>
          </p:txBody>
        </p:sp>
        <p:sp>
          <p:nvSpPr>
            <p:cNvPr id="54" name="文本框 53"/>
            <p:cNvSpPr txBox="1"/>
            <p:nvPr/>
          </p:nvSpPr>
          <p:spPr>
            <a:xfrm>
              <a:off x="8369" y="9019"/>
              <a:ext cx="5625" cy="50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500" b="1">
                  <a:latin typeface="Arial" panose="020B0604020202020204" pitchFamily="34" charset="0"/>
                  <a:cs typeface="Arial" panose="020B0604020202020204" pitchFamily="34" charset="0"/>
                </a:rPr>
                <a:t>Vertical Profile Categories</a:t>
              </a:r>
            </a:p>
          </p:txBody>
        </p:sp>
        <p:grpSp>
          <p:nvGrpSpPr>
            <p:cNvPr id="70" name="组合 69"/>
            <p:cNvGrpSpPr/>
            <p:nvPr/>
          </p:nvGrpSpPr>
          <p:grpSpPr>
            <a:xfrm>
              <a:off x="6974" y="1967"/>
              <a:ext cx="7820" cy="7079"/>
              <a:chOff x="3143" y="2576"/>
              <a:chExt cx="7072" cy="6401"/>
            </a:xfrm>
          </p:grpSpPr>
          <p:sp>
            <p:nvSpPr>
              <p:cNvPr id="10" name="文本框 9"/>
              <p:cNvSpPr txBox="1"/>
              <p:nvPr/>
            </p:nvSpPr>
            <p:spPr>
              <a:xfrm>
                <a:off x="3279" y="8057"/>
                <a:ext cx="1602" cy="52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/>
                  <a:t>Africa</a:t>
                </a:r>
              </a:p>
            </p:txBody>
          </p:sp>
          <p:sp>
            <p:nvSpPr>
              <p:cNvPr id="11" name="文本框 10"/>
              <p:cNvSpPr txBox="1"/>
              <p:nvPr/>
            </p:nvSpPr>
            <p:spPr>
              <a:xfrm>
                <a:off x="5397" y="8058"/>
                <a:ext cx="2558" cy="91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/>
                  <a:t>South &amp; Southeast Asia</a:t>
                </a:r>
              </a:p>
            </p:txBody>
          </p:sp>
          <p:sp>
            <p:nvSpPr>
              <p:cNvPr id="12" name="文本框 11"/>
              <p:cNvSpPr txBox="1"/>
              <p:nvPr/>
            </p:nvSpPr>
            <p:spPr>
              <a:xfrm>
                <a:off x="8099" y="8058"/>
                <a:ext cx="2116" cy="91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>
                    <a:ea typeface="宋体" panose="02010600030101010101" pitchFamily="2" charset="-122"/>
                  </a:rPr>
                  <a:t>Latin</a:t>
                </a:r>
              </a:p>
              <a:p>
                <a:pPr algn="ctr"/>
                <a:r>
                  <a:rPr lang="en-US" altLang="zh-CN">
                    <a:ea typeface="宋体" panose="02010600030101010101" pitchFamily="2" charset="-122"/>
                  </a:rPr>
                  <a:t>America</a:t>
                </a:r>
              </a:p>
            </p:txBody>
          </p:sp>
          <p:sp>
            <p:nvSpPr>
              <p:cNvPr id="58" name="文本框 57"/>
              <p:cNvSpPr txBox="1"/>
              <p:nvPr/>
            </p:nvSpPr>
            <p:spPr>
              <a:xfrm>
                <a:off x="3143" y="2576"/>
                <a:ext cx="933" cy="43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400"/>
                  <a:t>2016</a:t>
                </a:r>
              </a:p>
            </p:txBody>
          </p:sp>
          <p:sp>
            <p:nvSpPr>
              <p:cNvPr id="59" name="文本框 58"/>
              <p:cNvSpPr txBox="1"/>
              <p:nvPr/>
            </p:nvSpPr>
            <p:spPr>
              <a:xfrm>
                <a:off x="4118" y="2576"/>
                <a:ext cx="933" cy="43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400"/>
                  <a:t>2023</a:t>
                </a:r>
              </a:p>
            </p:txBody>
          </p:sp>
          <p:sp>
            <p:nvSpPr>
              <p:cNvPr id="60" name="文本框 59"/>
              <p:cNvSpPr txBox="1"/>
              <p:nvPr/>
            </p:nvSpPr>
            <p:spPr>
              <a:xfrm>
                <a:off x="5642" y="2576"/>
                <a:ext cx="933" cy="43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400"/>
                  <a:t>2016</a:t>
                </a:r>
              </a:p>
            </p:txBody>
          </p:sp>
          <p:sp>
            <p:nvSpPr>
              <p:cNvPr id="61" name="文本框 60"/>
              <p:cNvSpPr txBox="1"/>
              <p:nvPr/>
            </p:nvSpPr>
            <p:spPr>
              <a:xfrm>
                <a:off x="6617" y="2576"/>
                <a:ext cx="933" cy="43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400"/>
                  <a:t>2023</a:t>
                </a:r>
              </a:p>
            </p:txBody>
          </p:sp>
          <p:sp>
            <p:nvSpPr>
              <p:cNvPr id="62" name="文本框 61"/>
              <p:cNvSpPr txBox="1"/>
              <p:nvPr/>
            </p:nvSpPr>
            <p:spPr>
              <a:xfrm>
                <a:off x="8141" y="2576"/>
                <a:ext cx="933" cy="43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400"/>
                  <a:t>2016</a:t>
                </a:r>
              </a:p>
            </p:txBody>
          </p:sp>
          <p:sp>
            <p:nvSpPr>
              <p:cNvPr id="63" name="文本框 62"/>
              <p:cNvSpPr txBox="1"/>
              <p:nvPr/>
            </p:nvSpPr>
            <p:spPr>
              <a:xfrm>
                <a:off x="9116" y="2576"/>
                <a:ext cx="933" cy="43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400"/>
                  <a:t>2023</a:t>
                </a:r>
              </a:p>
            </p:txBody>
          </p:sp>
        </p:grpSp>
        <p:sp>
          <p:nvSpPr>
            <p:cNvPr id="18" name="矩形 17"/>
            <p:cNvSpPr/>
            <p:nvPr/>
          </p:nvSpPr>
          <p:spPr>
            <a:xfrm>
              <a:off x="7005" y="9636"/>
              <a:ext cx="619" cy="442"/>
            </a:xfrm>
            <a:prstGeom prst="rect">
              <a:avLst/>
            </a:prstGeom>
            <a:solidFill>
              <a:srgbClr val="66C2A5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9" name="矩形 18"/>
            <p:cNvSpPr/>
            <p:nvPr/>
          </p:nvSpPr>
          <p:spPr>
            <a:xfrm>
              <a:off x="7005" y="10214"/>
              <a:ext cx="619" cy="442"/>
            </a:xfrm>
            <a:prstGeom prst="rect">
              <a:avLst/>
            </a:prstGeom>
            <a:solidFill>
              <a:srgbClr val="FC8D62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0" name="文本框 19"/>
            <p:cNvSpPr txBox="1"/>
            <p:nvPr/>
          </p:nvSpPr>
          <p:spPr>
            <a:xfrm>
              <a:off x="7740" y="9636"/>
              <a:ext cx="3393" cy="50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1500"/>
                <a:t>High-scale, Crown</a:t>
              </a:r>
            </a:p>
          </p:txBody>
        </p:sp>
        <p:sp>
          <p:nvSpPr>
            <p:cNvPr id="21" name="文本框 20"/>
            <p:cNvSpPr txBox="1"/>
            <p:nvPr/>
          </p:nvSpPr>
          <p:spPr>
            <a:xfrm>
              <a:off x="7740" y="10182"/>
              <a:ext cx="3393" cy="50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1500"/>
                <a:t>High-scale, Pyramid</a:t>
              </a:r>
            </a:p>
          </p:txBody>
        </p:sp>
        <p:sp>
          <p:nvSpPr>
            <p:cNvPr id="46" name="矩形 45"/>
            <p:cNvSpPr/>
            <p:nvPr/>
          </p:nvSpPr>
          <p:spPr>
            <a:xfrm>
              <a:off x="7005" y="10792"/>
              <a:ext cx="619" cy="442"/>
            </a:xfrm>
            <a:prstGeom prst="rect">
              <a:avLst/>
            </a:prstGeom>
            <a:solidFill>
              <a:srgbClr val="8DA0CB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" name="文本框 4"/>
            <p:cNvSpPr txBox="1"/>
            <p:nvPr/>
          </p:nvSpPr>
          <p:spPr>
            <a:xfrm>
              <a:off x="7740" y="10728"/>
              <a:ext cx="3393" cy="50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1500"/>
                <a:t>High-scale, Volcanic</a:t>
              </a:r>
            </a:p>
          </p:txBody>
        </p:sp>
        <p:sp>
          <p:nvSpPr>
            <p:cNvPr id="48" name="矩形 47"/>
            <p:cNvSpPr/>
            <p:nvPr/>
          </p:nvSpPr>
          <p:spPr>
            <a:xfrm>
              <a:off x="11399" y="10812"/>
              <a:ext cx="653" cy="442"/>
            </a:xfrm>
            <a:prstGeom prst="rect">
              <a:avLst/>
            </a:prstGeom>
            <a:solidFill>
              <a:srgbClr val="E5C494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9" name="文本框 48"/>
            <p:cNvSpPr txBox="1"/>
            <p:nvPr/>
          </p:nvSpPr>
          <p:spPr>
            <a:xfrm>
              <a:off x="12163" y="10784"/>
              <a:ext cx="3225" cy="50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1500"/>
                <a:t>Low-scale, Pyramid</a:t>
              </a:r>
            </a:p>
          </p:txBody>
        </p:sp>
        <p:sp>
          <p:nvSpPr>
            <p:cNvPr id="50" name="矩形 49"/>
            <p:cNvSpPr/>
            <p:nvPr/>
          </p:nvSpPr>
          <p:spPr>
            <a:xfrm>
              <a:off x="11399" y="9636"/>
              <a:ext cx="653" cy="442"/>
            </a:xfrm>
            <a:prstGeom prst="rect">
              <a:avLst/>
            </a:prstGeom>
            <a:solidFill>
              <a:srgbClr val="A6D854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1" name="矩形 50"/>
            <p:cNvSpPr/>
            <p:nvPr/>
          </p:nvSpPr>
          <p:spPr>
            <a:xfrm>
              <a:off x="11399" y="10242"/>
              <a:ext cx="653" cy="442"/>
            </a:xfrm>
            <a:prstGeom prst="rect">
              <a:avLst/>
            </a:prstGeom>
            <a:solidFill>
              <a:srgbClr val="FFD92F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2" name="文本框 51"/>
            <p:cNvSpPr txBox="1"/>
            <p:nvPr/>
          </p:nvSpPr>
          <p:spPr>
            <a:xfrm>
              <a:off x="12163" y="9636"/>
              <a:ext cx="3224" cy="50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1500"/>
                <a:t>Low-scale, Bowl</a:t>
              </a:r>
            </a:p>
          </p:txBody>
        </p:sp>
        <p:sp>
          <p:nvSpPr>
            <p:cNvPr id="53" name="文本框 52"/>
            <p:cNvSpPr txBox="1"/>
            <p:nvPr/>
          </p:nvSpPr>
          <p:spPr>
            <a:xfrm>
              <a:off x="12163" y="10210"/>
              <a:ext cx="3224" cy="50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1500"/>
                <a:t>Low-scale, Crown</a:t>
              </a:r>
            </a:p>
          </p:txBody>
        </p:sp>
        <p:sp>
          <p:nvSpPr>
            <p:cNvPr id="6" name="矩形 5"/>
            <p:cNvSpPr/>
            <p:nvPr/>
          </p:nvSpPr>
          <p:spPr>
            <a:xfrm>
              <a:off x="11399" y="11403"/>
              <a:ext cx="653" cy="442"/>
            </a:xfrm>
            <a:prstGeom prst="rect">
              <a:avLst/>
            </a:prstGeom>
            <a:solidFill>
              <a:srgbClr val="B3B3B3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7" name="文本框 6"/>
            <p:cNvSpPr txBox="1"/>
            <p:nvPr/>
          </p:nvSpPr>
          <p:spPr>
            <a:xfrm>
              <a:off x="12163" y="11358"/>
              <a:ext cx="3225" cy="50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1500"/>
                <a:t>Low-scale, Volcanic</a:t>
              </a:r>
            </a:p>
          </p:txBody>
        </p:sp>
      </p:grp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0" name="组合 79"/>
          <p:cNvGrpSpPr/>
          <p:nvPr/>
        </p:nvGrpSpPr>
        <p:grpSpPr>
          <a:xfrm>
            <a:off x="2413000" y="8252460"/>
            <a:ext cx="9902825" cy="670560"/>
            <a:chOff x="3800" y="12996"/>
            <a:chExt cx="15595" cy="1056"/>
          </a:xfrm>
        </p:grpSpPr>
        <p:sp>
          <p:nvSpPr>
            <p:cNvPr id="62" name="文本框 61"/>
            <p:cNvSpPr txBox="1"/>
            <p:nvPr/>
          </p:nvSpPr>
          <p:spPr>
            <a:xfrm>
              <a:off x="14959" y="13004"/>
              <a:ext cx="4436" cy="5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1600"/>
                <a:t>Latin America Mean, 2016</a:t>
              </a:r>
            </a:p>
          </p:txBody>
        </p:sp>
        <p:sp>
          <p:nvSpPr>
            <p:cNvPr id="64" name="乘号 63"/>
            <p:cNvSpPr/>
            <p:nvPr/>
          </p:nvSpPr>
          <p:spPr>
            <a:xfrm>
              <a:off x="3800" y="13009"/>
              <a:ext cx="483" cy="480"/>
            </a:xfrm>
            <a:prstGeom prst="mathMultiply">
              <a:avLst/>
            </a:prstGeom>
            <a:solidFill>
              <a:srgbClr val="E85748">
                <a:alpha val="80000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solidFill>
                  <a:srgbClr val="A985CA"/>
                </a:solidFill>
              </a:endParaRPr>
            </a:p>
          </p:txBody>
        </p:sp>
        <p:sp>
          <p:nvSpPr>
            <p:cNvPr id="70" name="文本框 69"/>
            <p:cNvSpPr txBox="1"/>
            <p:nvPr/>
          </p:nvSpPr>
          <p:spPr>
            <a:xfrm>
              <a:off x="4299" y="13022"/>
              <a:ext cx="3227" cy="5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1600"/>
                <a:t>Africa Mean, 2016</a:t>
              </a:r>
            </a:p>
          </p:txBody>
        </p:sp>
        <p:sp>
          <p:nvSpPr>
            <p:cNvPr id="71" name="乘号 70"/>
            <p:cNvSpPr/>
            <p:nvPr/>
          </p:nvSpPr>
          <p:spPr>
            <a:xfrm>
              <a:off x="3800" y="13523"/>
              <a:ext cx="483" cy="480"/>
            </a:xfrm>
            <a:prstGeom prst="mathMultiply">
              <a:avLst/>
            </a:prstGeom>
            <a:solidFill>
              <a:srgbClr val="E85748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solidFill>
                  <a:srgbClr val="A985CA"/>
                </a:solidFill>
              </a:endParaRPr>
            </a:p>
          </p:txBody>
        </p:sp>
        <p:sp>
          <p:nvSpPr>
            <p:cNvPr id="72" name="文本框 71"/>
            <p:cNvSpPr txBox="1"/>
            <p:nvPr/>
          </p:nvSpPr>
          <p:spPr>
            <a:xfrm>
              <a:off x="4299" y="13522"/>
              <a:ext cx="3227" cy="5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1600"/>
                <a:t>Africa Mean, 2023</a:t>
              </a:r>
            </a:p>
          </p:txBody>
        </p:sp>
        <p:sp>
          <p:nvSpPr>
            <p:cNvPr id="73" name="乘号 72"/>
            <p:cNvSpPr/>
            <p:nvPr/>
          </p:nvSpPr>
          <p:spPr>
            <a:xfrm>
              <a:off x="8011" y="13009"/>
              <a:ext cx="483" cy="480"/>
            </a:xfrm>
            <a:prstGeom prst="mathMultiply">
              <a:avLst/>
            </a:prstGeom>
            <a:solidFill>
              <a:srgbClr val="F39F1B">
                <a:alpha val="80000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solidFill>
                  <a:srgbClr val="A985CA"/>
                </a:solidFill>
              </a:endParaRPr>
            </a:p>
          </p:txBody>
        </p:sp>
        <p:sp>
          <p:nvSpPr>
            <p:cNvPr id="74" name="文本框 73"/>
            <p:cNvSpPr txBox="1"/>
            <p:nvPr/>
          </p:nvSpPr>
          <p:spPr>
            <a:xfrm>
              <a:off x="8533" y="12996"/>
              <a:ext cx="5621" cy="5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1600">
                  <a:sym typeface="+mn-ea"/>
                </a:rPr>
                <a:t>South&amp;South-east Asia Mean, 2016</a:t>
              </a:r>
              <a:endParaRPr lang="zh-CN" altLang="en-US" sz="1600">
                <a:ea typeface="宋体" panose="02010600030101010101" pitchFamily="2" charset="-122"/>
                <a:sym typeface="+mn-ea"/>
              </a:endParaRPr>
            </a:p>
          </p:txBody>
        </p:sp>
        <p:sp>
          <p:nvSpPr>
            <p:cNvPr id="75" name="乘号 74"/>
            <p:cNvSpPr/>
            <p:nvPr/>
          </p:nvSpPr>
          <p:spPr>
            <a:xfrm>
              <a:off x="8011" y="13523"/>
              <a:ext cx="483" cy="480"/>
            </a:xfrm>
            <a:prstGeom prst="mathMultiply">
              <a:avLst/>
            </a:prstGeom>
            <a:solidFill>
              <a:srgbClr val="F39F1B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solidFill>
                  <a:srgbClr val="A985CA"/>
                </a:solidFill>
              </a:endParaRPr>
            </a:p>
          </p:txBody>
        </p:sp>
        <p:sp>
          <p:nvSpPr>
            <p:cNvPr id="76" name="文本框 75"/>
            <p:cNvSpPr txBox="1"/>
            <p:nvPr/>
          </p:nvSpPr>
          <p:spPr>
            <a:xfrm>
              <a:off x="8533" y="13483"/>
              <a:ext cx="5620" cy="5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1600">
                  <a:sym typeface="+mn-ea"/>
                </a:rPr>
                <a:t>South&amp;South-east Asia Mean, 2023</a:t>
              </a:r>
              <a:endParaRPr lang="en-US" altLang="zh-CN" sz="1600"/>
            </a:p>
          </p:txBody>
        </p:sp>
        <p:sp>
          <p:nvSpPr>
            <p:cNvPr id="77" name="乘号 76"/>
            <p:cNvSpPr/>
            <p:nvPr/>
          </p:nvSpPr>
          <p:spPr>
            <a:xfrm>
              <a:off x="14475" y="13009"/>
              <a:ext cx="483" cy="480"/>
            </a:xfrm>
            <a:prstGeom prst="mathMultiply">
              <a:avLst/>
            </a:prstGeom>
            <a:solidFill>
              <a:srgbClr val="47A2DE">
                <a:alpha val="80000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solidFill>
                  <a:srgbClr val="A985CA"/>
                </a:solidFill>
              </a:endParaRPr>
            </a:p>
          </p:txBody>
        </p:sp>
        <p:sp>
          <p:nvSpPr>
            <p:cNvPr id="78" name="乘号 77"/>
            <p:cNvSpPr/>
            <p:nvPr/>
          </p:nvSpPr>
          <p:spPr>
            <a:xfrm>
              <a:off x="14475" y="13523"/>
              <a:ext cx="483" cy="480"/>
            </a:xfrm>
            <a:prstGeom prst="mathMultiply">
              <a:avLst/>
            </a:prstGeom>
            <a:solidFill>
              <a:srgbClr val="47A2DE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solidFill>
                  <a:srgbClr val="A985CA"/>
                </a:solidFill>
              </a:endParaRPr>
            </a:p>
          </p:txBody>
        </p:sp>
        <p:sp>
          <p:nvSpPr>
            <p:cNvPr id="79" name="文本框 78"/>
            <p:cNvSpPr txBox="1"/>
            <p:nvPr/>
          </p:nvSpPr>
          <p:spPr>
            <a:xfrm>
              <a:off x="14959" y="13495"/>
              <a:ext cx="4257" cy="5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1600"/>
                <a:t>Latin America Mean, 2023</a:t>
              </a:r>
            </a:p>
          </p:txBody>
        </p:sp>
      </p:grpSp>
      <p:grpSp>
        <p:nvGrpSpPr>
          <p:cNvPr id="30" name="组合 29"/>
          <p:cNvGrpSpPr/>
          <p:nvPr/>
        </p:nvGrpSpPr>
        <p:grpSpPr>
          <a:xfrm>
            <a:off x="0" y="549275"/>
            <a:ext cx="14399260" cy="6859270"/>
            <a:chOff x="0" y="865"/>
            <a:chExt cx="22676" cy="10802"/>
          </a:xfrm>
        </p:grpSpPr>
        <p:sp>
          <p:nvSpPr>
            <p:cNvPr id="66" name="矩形 65"/>
            <p:cNvSpPr/>
            <p:nvPr/>
          </p:nvSpPr>
          <p:spPr>
            <a:xfrm>
              <a:off x="0" y="865"/>
              <a:ext cx="22677" cy="1080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pic>
          <p:nvPicPr>
            <p:cNvPr id="4" name="图片 3"/>
            <p:cNvPicPr/>
            <p:nvPr/>
          </p:nvPicPr>
          <p:blipFill>
            <a:blip r:embed="rId2"/>
            <a:stretch>
              <a:fillRect/>
            </a:stretch>
          </p:blipFill>
          <p:spPr>
            <a:xfrm>
              <a:off x="314" y="2846"/>
              <a:ext cx="21426" cy="7022"/>
            </a:xfrm>
            <a:prstGeom prst="rect">
              <a:avLst/>
            </a:prstGeom>
          </p:spPr>
        </p:pic>
        <p:sp>
          <p:nvSpPr>
            <p:cNvPr id="8" name="矩形 7"/>
            <p:cNvSpPr/>
            <p:nvPr/>
          </p:nvSpPr>
          <p:spPr>
            <a:xfrm rot="5400000">
              <a:off x="11231" y="-696"/>
              <a:ext cx="614" cy="20588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2000"/>
            </a:p>
          </p:txBody>
        </p:sp>
        <p:sp>
          <p:nvSpPr>
            <p:cNvPr id="7" name="矩形 6"/>
            <p:cNvSpPr/>
            <p:nvPr/>
          </p:nvSpPr>
          <p:spPr>
            <a:xfrm>
              <a:off x="181" y="2595"/>
              <a:ext cx="923" cy="730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altLang="zh-CN" sz="2000"/>
            </a:p>
          </p:txBody>
        </p:sp>
        <p:sp>
          <p:nvSpPr>
            <p:cNvPr id="5" name="矩形 4"/>
            <p:cNvSpPr/>
            <p:nvPr/>
          </p:nvSpPr>
          <p:spPr>
            <a:xfrm>
              <a:off x="7428" y="2414"/>
              <a:ext cx="923" cy="730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altLang="zh-CN" sz="2000"/>
            </a:p>
          </p:txBody>
        </p:sp>
        <p:sp>
          <p:nvSpPr>
            <p:cNvPr id="6" name="矩形 5"/>
            <p:cNvSpPr/>
            <p:nvPr/>
          </p:nvSpPr>
          <p:spPr>
            <a:xfrm>
              <a:off x="14693" y="2559"/>
              <a:ext cx="923" cy="730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altLang="zh-CN" sz="200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" name="文本框 35"/>
                <p:cNvSpPr txBox="1"/>
                <p:nvPr/>
              </p:nvSpPr>
              <p:spPr>
                <a:xfrm>
                  <a:off x="4785" y="1036"/>
                  <a:ext cx="12486" cy="147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altLang="zh-CN" sz="2800">
                      <a:latin typeface="Arial" panose="020B0604020202020204" pitchFamily="34" charset="0"/>
                      <a:cs typeface="Arial" panose="020B0604020202020204" pitchFamily="34" charset="0"/>
                    </a:rPr>
                    <a:t>Vertical - Height</a:t>
                  </a:r>
                </a:p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sz="28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𝐻</m:t>
                        </m:r>
                        <m:r>
                          <a:rPr lang="en-US" altLang="zh-CN" sz="28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altLang="zh-CN" sz="28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𝑟</m:t>
                        </m:r>
                        <m:r>
                          <a:rPr lang="en-US" altLang="zh-CN" sz="28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)=</m:t>
                        </m:r>
                        <m:r>
                          <a:rPr lang="en-US" altLang="zh-CN" sz="28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𝐴</m:t>
                        </m:r>
                        <m:r>
                          <a:rPr lang="en-US" altLang="zh-CN" sz="28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∙</m:t>
                        </m:r>
                        <m:r>
                          <a:rPr lang="en-US" altLang="zh-CN" sz="28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𝑒𝑥𝑝</m:t>
                        </m:r>
                        <m:r>
                          <a:rPr lang="en-US" altLang="zh-CN" sz="28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altLang="zh-CN" sz="28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𝐵𝑟</m:t>
                        </m:r>
                        <m:r>
                          <a:rPr lang="en-US" altLang="zh-CN" sz="28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+</m:t>
                        </m:r>
                        <m:r>
                          <a:rPr lang="en-US" altLang="zh-CN" sz="28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𝐶</m:t>
                        </m:r>
                        <m:sSup>
                          <m:sSupPr>
                            <m:ctrlPr>
                              <a:rPr lang="en-US" altLang="zh-CN" sz="2800" i="1">
                                <a:latin typeface="Cambria Math" panose="02040503050406030204" pitchFamily="18" charset="0"/>
                                <a:cs typeface="Cambria Math" panose="02040503050406030204" charset="0"/>
                              </a:rPr>
                            </m:ctrlPr>
                          </m:sSupPr>
                          <m:e>
                            <m:r>
                              <a:rPr lang="en-US" altLang="zh-CN" sz="2800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en-US" altLang="zh-CN" sz="2800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2</m:t>
                            </m:r>
                          </m:sup>
                        </m:sSup>
                        <m:r>
                          <a:rPr lang="en-US" altLang="zh-CN" sz="2800" i="1">
                            <a:latin typeface="Cambria Math" panose="02040503050406030204" charset="0"/>
                            <a:ea typeface="MS Mincho" charset="0"/>
                            <a:cs typeface="Cambria Math" panose="02040503050406030204" charset="0"/>
                          </a:rPr>
                          <m:t>)</m:t>
                        </m:r>
                      </m:oMath>
                    </m:oMathPara>
                  </a14:m>
                  <a:endParaRPr lang="en-US" altLang="zh-CN" sz="2800" i="1">
                    <a:latin typeface="Cambria Math" panose="02040503050406030204" charset="0"/>
                    <a:cs typeface="Cambria Math" panose="02040503050406030204" charset="0"/>
                  </a:endParaRPr>
                </a:p>
              </p:txBody>
            </p:sp>
          </mc:Choice>
          <mc:Fallback xmlns="">
            <p:sp>
              <p:nvSpPr>
                <p:cNvPr id="36" name="文本框 35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785" y="1036"/>
                  <a:ext cx="12486" cy="1479"/>
                </a:xfrm>
                <a:prstGeom prst="rect">
                  <a:avLst/>
                </a:prstGeom>
                <a:blipFill rotWithShape="1">
                  <a:blip r:embed="rId3"/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7" name="文本框 36"/>
            <p:cNvSpPr txBox="1"/>
            <p:nvPr/>
          </p:nvSpPr>
          <p:spPr>
            <a:xfrm>
              <a:off x="3615" y="9308"/>
              <a:ext cx="508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r>
                <a:rPr lang="en-US" altLang="zh-CN" sz="2000"/>
                <a:t>10</a:t>
              </a:r>
            </a:p>
          </p:txBody>
        </p:sp>
        <p:sp>
          <p:nvSpPr>
            <p:cNvPr id="39" name="文本框 38"/>
            <p:cNvSpPr txBox="1"/>
            <p:nvPr/>
          </p:nvSpPr>
          <p:spPr>
            <a:xfrm>
              <a:off x="189" y="7990"/>
              <a:ext cx="843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2000"/>
                <a:t>-0.4</a:t>
              </a:r>
            </a:p>
          </p:txBody>
        </p:sp>
        <p:sp>
          <p:nvSpPr>
            <p:cNvPr id="41" name="文本框 40"/>
            <p:cNvSpPr txBox="1"/>
            <p:nvPr/>
          </p:nvSpPr>
          <p:spPr>
            <a:xfrm>
              <a:off x="1548" y="9308"/>
              <a:ext cx="613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2000"/>
                <a:t>5</a:t>
              </a:r>
            </a:p>
          </p:txBody>
        </p:sp>
        <p:sp>
          <p:nvSpPr>
            <p:cNvPr id="42" name="文本框 41"/>
            <p:cNvSpPr txBox="1"/>
            <p:nvPr/>
          </p:nvSpPr>
          <p:spPr>
            <a:xfrm>
              <a:off x="6507" y="9353"/>
              <a:ext cx="1315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2400" i="1">
                  <a:latin typeface="Arial" panose="020B0604020202020204" pitchFamily="34" charset="0"/>
                  <a:cs typeface="Arial" panose="020B0604020202020204" pitchFamily="34" charset="0"/>
                </a:rPr>
                <a:t>A(m)</a:t>
              </a:r>
              <a:endParaRPr lang="en-US" altLang="zh-CN" sz="2400" i="1">
                <a:latin typeface="Arial" panose="020B0604020202020204" pitchFamily="34" charset="0"/>
                <a:ea typeface="宋体" panose="02010600030101010101" pitchFamily="2" charset="-122"/>
                <a:cs typeface="Arial" panose="020B0604020202020204" pitchFamily="34" charset="0"/>
              </a:endParaRPr>
            </a:p>
          </p:txBody>
        </p:sp>
        <p:sp>
          <p:nvSpPr>
            <p:cNvPr id="9" name="文本框 8"/>
            <p:cNvSpPr txBox="1"/>
            <p:nvPr/>
          </p:nvSpPr>
          <p:spPr>
            <a:xfrm>
              <a:off x="473" y="2559"/>
              <a:ext cx="613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2400" i="1">
                  <a:latin typeface="Arial" panose="020B0604020202020204" pitchFamily="34" charset="0"/>
                  <a:cs typeface="Arial" panose="020B0604020202020204" pitchFamily="34" charset="0"/>
                </a:rPr>
                <a:t>B</a:t>
              </a:r>
            </a:p>
          </p:txBody>
        </p:sp>
        <p:sp>
          <p:nvSpPr>
            <p:cNvPr id="10" name="文本框 9"/>
            <p:cNvSpPr txBox="1"/>
            <p:nvPr/>
          </p:nvSpPr>
          <p:spPr>
            <a:xfrm>
              <a:off x="5589" y="9308"/>
              <a:ext cx="508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r>
                <a:rPr lang="en-US" altLang="zh-CN" sz="2000"/>
                <a:t>15</a:t>
              </a:r>
            </a:p>
          </p:txBody>
        </p:sp>
        <p:sp>
          <p:nvSpPr>
            <p:cNvPr id="11" name="文本框 10"/>
            <p:cNvSpPr txBox="1"/>
            <p:nvPr/>
          </p:nvSpPr>
          <p:spPr>
            <a:xfrm>
              <a:off x="501" y="3840"/>
              <a:ext cx="530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2000"/>
                <a:t>0</a:t>
              </a:r>
            </a:p>
          </p:txBody>
        </p:sp>
        <p:sp>
          <p:nvSpPr>
            <p:cNvPr id="12" name="文本框 11"/>
            <p:cNvSpPr txBox="1"/>
            <p:nvPr/>
          </p:nvSpPr>
          <p:spPr>
            <a:xfrm>
              <a:off x="204" y="5906"/>
              <a:ext cx="828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2000"/>
                <a:t>-0.2</a:t>
              </a:r>
            </a:p>
          </p:txBody>
        </p:sp>
        <p:sp>
          <p:nvSpPr>
            <p:cNvPr id="13" name="文本框 12"/>
            <p:cNvSpPr txBox="1"/>
            <p:nvPr/>
          </p:nvSpPr>
          <p:spPr>
            <a:xfrm>
              <a:off x="11011" y="9353"/>
              <a:ext cx="792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r>
                <a:rPr lang="en-US" altLang="zh-CN" sz="2000"/>
                <a:t>-0.2</a:t>
              </a:r>
            </a:p>
          </p:txBody>
        </p:sp>
        <p:sp>
          <p:nvSpPr>
            <p:cNvPr id="14" name="文本框 13"/>
            <p:cNvSpPr txBox="1"/>
            <p:nvPr/>
          </p:nvSpPr>
          <p:spPr>
            <a:xfrm>
              <a:off x="7207" y="8775"/>
              <a:ext cx="1103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2000"/>
                <a:t>-0.02</a:t>
              </a:r>
            </a:p>
          </p:txBody>
        </p:sp>
        <p:sp>
          <p:nvSpPr>
            <p:cNvPr id="15" name="文本框 14"/>
            <p:cNvSpPr txBox="1"/>
            <p:nvPr/>
          </p:nvSpPr>
          <p:spPr>
            <a:xfrm>
              <a:off x="8934" y="9353"/>
              <a:ext cx="843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2000"/>
                <a:t>-0.4</a:t>
              </a:r>
            </a:p>
          </p:txBody>
        </p:sp>
        <p:sp>
          <p:nvSpPr>
            <p:cNvPr id="16" name="文本框 15"/>
            <p:cNvSpPr txBox="1"/>
            <p:nvPr/>
          </p:nvSpPr>
          <p:spPr>
            <a:xfrm>
              <a:off x="13786" y="9353"/>
              <a:ext cx="1315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2400" i="1">
                  <a:latin typeface="Arial" panose="020B0604020202020204" pitchFamily="34" charset="0"/>
                  <a:cs typeface="Arial" panose="020B0604020202020204" pitchFamily="34" charset="0"/>
                </a:rPr>
                <a:t>B</a:t>
              </a:r>
              <a:endParaRPr lang="en-US" altLang="zh-CN" sz="2400" i="1">
                <a:latin typeface="Arial" panose="020B0604020202020204" pitchFamily="34" charset="0"/>
                <a:ea typeface="宋体" panose="02010600030101010101" pitchFamily="2" charset="-122"/>
                <a:cs typeface="Arial" panose="020B0604020202020204" pitchFamily="34" charset="0"/>
              </a:endParaRPr>
            </a:p>
          </p:txBody>
        </p:sp>
        <p:sp>
          <p:nvSpPr>
            <p:cNvPr id="17" name="文本框 16"/>
            <p:cNvSpPr txBox="1"/>
            <p:nvPr/>
          </p:nvSpPr>
          <p:spPr>
            <a:xfrm>
              <a:off x="8003" y="2467"/>
              <a:ext cx="613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2400" i="1">
                  <a:latin typeface="Arial" panose="020B0604020202020204" pitchFamily="34" charset="0"/>
                  <a:cs typeface="Arial" panose="020B0604020202020204" pitchFamily="34" charset="0"/>
                </a:rPr>
                <a:t>C</a:t>
              </a:r>
            </a:p>
          </p:txBody>
        </p:sp>
        <p:sp>
          <p:nvSpPr>
            <p:cNvPr id="18" name="文本框 17"/>
            <p:cNvSpPr txBox="1"/>
            <p:nvPr/>
          </p:nvSpPr>
          <p:spPr>
            <a:xfrm>
              <a:off x="13294" y="9353"/>
              <a:ext cx="265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r>
                <a:rPr lang="en-US" altLang="zh-CN" sz="2000"/>
                <a:t>0</a:t>
              </a:r>
            </a:p>
          </p:txBody>
        </p:sp>
        <p:sp>
          <p:nvSpPr>
            <p:cNvPr id="21" name="文本框 20"/>
            <p:cNvSpPr txBox="1"/>
            <p:nvPr/>
          </p:nvSpPr>
          <p:spPr>
            <a:xfrm>
              <a:off x="7207" y="7309"/>
              <a:ext cx="1103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2000"/>
                <a:t>0</a:t>
              </a:r>
            </a:p>
          </p:txBody>
        </p:sp>
        <p:sp>
          <p:nvSpPr>
            <p:cNvPr id="23" name="文本框 22"/>
            <p:cNvSpPr txBox="1"/>
            <p:nvPr/>
          </p:nvSpPr>
          <p:spPr>
            <a:xfrm>
              <a:off x="7207" y="5856"/>
              <a:ext cx="1103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2000"/>
                <a:t>0.02</a:t>
              </a:r>
            </a:p>
          </p:txBody>
        </p:sp>
        <p:sp>
          <p:nvSpPr>
            <p:cNvPr id="24" name="文本框 23"/>
            <p:cNvSpPr txBox="1"/>
            <p:nvPr/>
          </p:nvSpPr>
          <p:spPr>
            <a:xfrm>
              <a:off x="7207" y="4315"/>
              <a:ext cx="1103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2000"/>
                <a:t>0.04</a:t>
              </a:r>
            </a:p>
          </p:txBody>
        </p:sp>
        <p:sp>
          <p:nvSpPr>
            <p:cNvPr id="25" name="文本框 24"/>
            <p:cNvSpPr txBox="1"/>
            <p:nvPr/>
          </p:nvSpPr>
          <p:spPr>
            <a:xfrm>
              <a:off x="7207" y="2893"/>
              <a:ext cx="1103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2000"/>
                <a:t>0.06</a:t>
              </a:r>
            </a:p>
          </p:txBody>
        </p:sp>
        <p:sp>
          <p:nvSpPr>
            <p:cNvPr id="26" name="文本框 25"/>
            <p:cNvSpPr txBox="1"/>
            <p:nvPr/>
          </p:nvSpPr>
          <p:spPr>
            <a:xfrm>
              <a:off x="18125" y="9369"/>
              <a:ext cx="508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r>
                <a:rPr lang="en-US" altLang="zh-CN" sz="2000"/>
                <a:t>10</a:t>
              </a:r>
            </a:p>
          </p:txBody>
        </p:sp>
        <p:sp>
          <p:nvSpPr>
            <p:cNvPr id="27" name="文本框 26"/>
            <p:cNvSpPr txBox="1"/>
            <p:nvPr/>
          </p:nvSpPr>
          <p:spPr>
            <a:xfrm>
              <a:off x="16058" y="9369"/>
              <a:ext cx="613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2000"/>
                <a:t>5</a:t>
              </a:r>
            </a:p>
          </p:txBody>
        </p:sp>
        <p:sp>
          <p:nvSpPr>
            <p:cNvPr id="28" name="文本框 27"/>
            <p:cNvSpPr txBox="1"/>
            <p:nvPr/>
          </p:nvSpPr>
          <p:spPr>
            <a:xfrm>
              <a:off x="20607" y="9353"/>
              <a:ext cx="1315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2400" i="1">
                  <a:latin typeface="Arial" panose="020B0604020202020204" pitchFamily="34" charset="0"/>
                  <a:cs typeface="Arial" panose="020B0604020202020204" pitchFamily="34" charset="0"/>
                </a:rPr>
                <a:t>A(m)</a:t>
              </a:r>
              <a:endParaRPr lang="en-US" altLang="zh-CN" sz="2400" i="1">
                <a:latin typeface="Arial" panose="020B0604020202020204" pitchFamily="34" charset="0"/>
                <a:ea typeface="宋体" panose="02010600030101010101" pitchFamily="2" charset="-122"/>
                <a:cs typeface="Arial" panose="020B0604020202020204" pitchFamily="34" charset="0"/>
              </a:endParaRPr>
            </a:p>
          </p:txBody>
        </p:sp>
        <p:sp>
          <p:nvSpPr>
            <p:cNvPr id="29" name="文本框 28"/>
            <p:cNvSpPr txBox="1"/>
            <p:nvPr/>
          </p:nvSpPr>
          <p:spPr>
            <a:xfrm>
              <a:off x="20099" y="9369"/>
              <a:ext cx="508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r>
                <a:rPr lang="en-US" altLang="zh-CN" sz="2000"/>
                <a:t>15</a:t>
              </a:r>
            </a:p>
          </p:txBody>
        </p:sp>
        <p:sp>
          <p:nvSpPr>
            <p:cNvPr id="2" name="文本框 1"/>
            <p:cNvSpPr txBox="1"/>
            <p:nvPr/>
          </p:nvSpPr>
          <p:spPr>
            <a:xfrm>
              <a:off x="14496" y="8775"/>
              <a:ext cx="1103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2000"/>
                <a:t>-0.02</a:t>
              </a:r>
            </a:p>
          </p:txBody>
        </p:sp>
        <p:sp>
          <p:nvSpPr>
            <p:cNvPr id="3" name="文本框 2"/>
            <p:cNvSpPr txBox="1"/>
            <p:nvPr/>
          </p:nvSpPr>
          <p:spPr>
            <a:xfrm>
              <a:off x="15292" y="2467"/>
              <a:ext cx="613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2400" i="1">
                  <a:latin typeface="Arial" panose="020B0604020202020204" pitchFamily="34" charset="0"/>
                  <a:cs typeface="Arial" panose="020B0604020202020204" pitchFamily="34" charset="0"/>
                </a:rPr>
                <a:t>C</a:t>
              </a:r>
            </a:p>
          </p:txBody>
        </p:sp>
        <p:sp>
          <p:nvSpPr>
            <p:cNvPr id="19" name="文本框 18"/>
            <p:cNvSpPr txBox="1"/>
            <p:nvPr/>
          </p:nvSpPr>
          <p:spPr>
            <a:xfrm>
              <a:off x="14496" y="7309"/>
              <a:ext cx="1103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2000"/>
                <a:t>0</a:t>
              </a:r>
            </a:p>
          </p:txBody>
        </p:sp>
        <p:sp>
          <p:nvSpPr>
            <p:cNvPr id="20" name="文本框 19"/>
            <p:cNvSpPr txBox="1"/>
            <p:nvPr/>
          </p:nvSpPr>
          <p:spPr>
            <a:xfrm>
              <a:off x="14496" y="5856"/>
              <a:ext cx="1103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2000"/>
                <a:t>0.02</a:t>
              </a:r>
            </a:p>
          </p:txBody>
        </p:sp>
        <p:sp>
          <p:nvSpPr>
            <p:cNvPr id="22" name="文本框 21"/>
            <p:cNvSpPr txBox="1"/>
            <p:nvPr/>
          </p:nvSpPr>
          <p:spPr>
            <a:xfrm>
              <a:off x="14496" y="4315"/>
              <a:ext cx="1103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2000"/>
                <a:t>0.04</a:t>
              </a:r>
            </a:p>
          </p:txBody>
        </p:sp>
        <p:sp>
          <p:nvSpPr>
            <p:cNvPr id="31" name="文本框 30"/>
            <p:cNvSpPr txBox="1"/>
            <p:nvPr/>
          </p:nvSpPr>
          <p:spPr>
            <a:xfrm>
              <a:off x="14496" y="2893"/>
              <a:ext cx="1103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2000"/>
                <a:t>0.06</a:t>
              </a:r>
            </a:p>
          </p:txBody>
        </p:sp>
        <p:grpSp>
          <p:nvGrpSpPr>
            <p:cNvPr id="82" name="组合 81"/>
            <p:cNvGrpSpPr/>
            <p:nvPr/>
          </p:nvGrpSpPr>
          <p:grpSpPr>
            <a:xfrm>
              <a:off x="3058" y="10523"/>
              <a:ext cx="16034" cy="1144"/>
              <a:chOff x="3914" y="9142"/>
              <a:chExt cx="14213" cy="1014"/>
            </a:xfrm>
          </p:grpSpPr>
          <p:sp>
            <p:nvSpPr>
              <p:cNvPr id="33" name="文本框 32"/>
              <p:cNvSpPr txBox="1"/>
              <p:nvPr/>
            </p:nvSpPr>
            <p:spPr>
              <a:xfrm>
                <a:off x="14959" y="9142"/>
                <a:ext cx="3168" cy="51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/>
                  <a:t>Latin America, 2016</a:t>
                </a:r>
              </a:p>
            </p:txBody>
          </p:sp>
          <p:sp>
            <p:nvSpPr>
              <p:cNvPr id="34" name="椭圆 33"/>
              <p:cNvSpPr/>
              <p:nvPr/>
            </p:nvSpPr>
            <p:spPr>
              <a:xfrm>
                <a:off x="14589" y="9256"/>
                <a:ext cx="257" cy="255"/>
              </a:xfrm>
              <a:prstGeom prst="ellipse">
                <a:avLst/>
              </a:prstGeom>
              <a:solidFill>
                <a:srgbClr val="47A2DE">
                  <a:alpha val="3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2000"/>
              </a:p>
            </p:txBody>
          </p:sp>
          <p:sp>
            <p:nvSpPr>
              <p:cNvPr id="35" name="椭圆 34"/>
              <p:cNvSpPr/>
              <p:nvPr/>
            </p:nvSpPr>
            <p:spPr>
              <a:xfrm>
                <a:off x="14589" y="9719"/>
                <a:ext cx="257" cy="255"/>
              </a:xfrm>
              <a:prstGeom prst="ellipse">
                <a:avLst/>
              </a:prstGeom>
              <a:solidFill>
                <a:srgbClr val="47A2DE">
                  <a:alpha val="6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2000"/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4959" y="9633"/>
                <a:ext cx="3168" cy="51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/>
                  <a:t>Latin America, 2023</a:t>
                </a:r>
              </a:p>
            </p:txBody>
          </p:sp>
          <p:sp>
            <p:nvSpPr>
              <p:cNvPr id="40" name="文本框 39"/>
              <p:cNvSpPr txBox="1"/>
              <p:nvPr/>
            </p:nvSpPr>
            <p:spPr>
              <a:xfrm>
                <a:off x="4299" y="9142"/>
                <a:ext cx="3227" cy="51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/>
                  <a:t>Africa, 2016</a:t>
                </a:r>
              </a:p>
            </p:txBody>
          </p:sp>
          <p:sp>
            <p:nvSpPr>
              <p:cNvPr id="43" name="椭圆 42"/>
              <p:cNvSpPr/>
              <p:nvPr/>
            </p:nvSpPr>
            <p:spPr>
              <a:xfrm>
                <a:off x="3914" y="9256"/>
                <a:ext cx="257" cy="255"/>
              </a:xfrm>
              <a:prstGeom prst="ellipse">
                <a:avLst/>
              </a:prstGeom>
              <a:solidFill>
                <a:srgbClr val="E85748">
                  <a:alpha val="3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2000">
                  <a:solidFill>
                    <a:srgbClr val="9467BD"/>
                  </a:solidFill>
                </a:endParaRPr>
              </a:p>
            </p:txBody>
          </p:sp>
          <p:sp>
            <p:nvSpPr>
              <p:cNvPr id="44" name="椭圆 43"/>
              <p:cNvSpPr/>
              <p:nvPr/>
            </p:nvSpPr>
            <p:spPr>
              <a:xfrm>
                <a:off x="3914" y="9719"/>
                <a:ext cx="257" cy="255"/>
              </a:xfrm>
              <a:prstGeom prst="ellipse">
                <a:avLst/>
              </a:prstGeom>
              <a:solidFill>
                <a:srgbClr val="E85748">
                  <a:alpha val="6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2000"/>
              </a:p>
            </p:txBody>
          </p:sp>
          <p:sp>
            <p:nvSpPr>
              <p:cNvPr id="45" name="文本框 44"/>
              <p:cNvSpPr txBox="1"/>
              <p:nvPr/>
            </p:nvSpPr>
            <p:spPr>
              <a:xfrm>
                <a:off x="4299" y="9642"/>
                <a:ext cx="3227" cy="51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/>
                  <a:t>Africa, 2023</a:t>
                </a:r>
              </a:p>
            </p:txBody>
          </p:sp>
          <p:sp>
            <p:nvSpPr>
              <p:cNvPr id="46" name="文本框 45"/>
              <p:cNvSpPr txBox="1"/>
              <p:nvPr/>
            </p:nvSpPr>
            <p:spPr>
              <a:xfrm>
                <a:off x="8533" y="9142"/>
                <a:ext cx="4557" cy="51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/>
                  <a:t>South&amp;South-east Asia, 2016</a:t>
                </a:r>
              </a:p>
            </p:txBody>
          </p:sp>
          <p:sp>
            <p:nvSpPr>
              <p:cNvPr id="47" name="椭圆 46"/>
              <p:cNvSpPr/>
              <p:nvPr/>
            </p:nvSpPr>
            <p:spPr>
              <a:xfrm>
                <a:off x="8125" y="9256"/>
                <a:ext cx="257" cy="255"/>
              </a:xfrm>
              <a:prstGeom prst="ellipse">
                <a:avLst/>
              </a:prstGeom>
              <a:solidFill>
                <a:srgbClr val="F39F1B">
                  <a:alpha val="3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2000"/>
              </a:p>
            </p:txBody>
          </p:sp>
          <p:sp>
            <p:nvSpPr>
              <p:cNvPr id="48" name="椭圆 47"/>
              <p:cNvSpPr/>
              <p:nvPr/>
            </p:nvSpPr>
            <p:spPr>
              <a:xfrm>
                <a:off x="8125" y="9719"/>
                <a:ext cx="257" cy="255"/>
              </a:xfrm>
              <a:prstGeom prst="ellipse">
                <a:avLst/>
              </a:prstGeom>
              <a:solidFill>
                <a:srgbClr val="F39F1B">
                  <a:alpha val="6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2000"/>
              </a:p>
            </p:txBody>
          </p:sp>
          <p:sp>
            <p:nvSpPr>
              <p:cNvPr id="49" name="文本框 48"/>
              <p:cNvSpPr txBox="1"/>
              <p:nvPr/>
            </p:nvSpPr>
            <p:spPr>
              <a:xfrm>
                <a:off x="8533" y="9629"/>
                <a:ext cx="4557" cy="51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>
                    <a:sym typeface="+mn-ea"/>
                  </a:rPr>
                  <a:t>South&amp;South-east Asia, 2023</a:t>
                </a:r>
              </a:p>
            </p:txBody>
          </p:sp>
        </p:grpSp>
        <p:cxnSp>
          <p:nvCxnSpPr>
            <p:cNvPr id="32" name="直接连接符 31"/>
            <p:cNvCxnSpPr/>
            <p:nvPr/>
          </p:nvCxnSpPr>
          <p:spPr>
            <a:xfrm>
              <a:off x="8440" y="7532"/>
              <a:ext cx="5925" cy="0"/>
            </a:xfrm>
            <a:prstGeom prst="line">
              <a:avLst/>
            </a:prstGeom>
            <a:ln w="19050">
              <a:solidFill>
                <a:schemeClr val="tx1">
                  <a:lumMod val="50000"/>
                  <a:lumOff val="50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50" name="直接连接符 49"/>
            <p:cNvCxnSpPr/>
            <p:nvPr/>
          </p:nvCxnSpPr>
          <p:spPr>
            <a:xfrm flipH="1">
              <a:off x="13410" y="3068"/>
              <a:ext cx="27" cy="6191"/>
            </a:xfrm>
            <a:prstGeom prst="line">
              <a:avLst/>
            </a:prstGeom>
            <a:ln w="19050">
              <a:solidFill>
                <a:schemeClr val="tx1">
                  <a:lumMod val="50000"/>
                  <a:lumOff val="50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sp>
          <p:nvSpPr>
            <p:cNvPr id="51" name="TextBox 190"/>
            <p:cNvSpPr txBox="1"/>
            <p:nvPr/>
          </p:nvSpPr>
          <p:spPr>
            <a:xfrm>
              <a:off x="8494" y="6734"/>
              <a:ext cx="1830" cy="798"/>
            </a:xfrm>
            <a:prstGeom prst="rect">
              <a:avLst/>
            </a:prstGeom>
            <a:noFill/>
          </p:spPr>
          <p:txBody>
            <a:bodyPr wrap="square" rtlCol="0" anchor="t" anchorCtr="0">
              <a:noAutofit/>
            </a:bodyPr>
            <a:lstStyle/>
            <a:p>
              <a:pPr lvl="0" algn="l">
                <a:buClrTx/>
                <a:buSzTx/>
                <a:buFontTx/>
              </a:pPr>
              <a:r>
                <a:rPr lang="en-US" altLang="zh-CN" sz="1400">
                  <a:latin typeface="Arial" panose="020B0604020202020204" pitchFamily="34" charset="0"/>
                  <a:ea typeface="Arial" panose="020B0604020202020204" pitchFamily="34" charset="0"/>
                  <a:sym typeface="+mn-ea"/>
                </a:rPr>
                <a:t>C&gt;0, B&lt;0</a:t>
              </a:r>
            </a:p>
            <a:p>
              <a:pPr lvl="0" algn="l">
                <a:buClrTx/>
                <a:buSzTx/>
                <a:buFontTx/>
              </a:pPr>
              <a:r>
                <a:rPr lang="en-US" altLang="zh-CN" sz="1400">
                  <a:latin typeface="Arial" panose="020B0604020202020204" pitchFamily="34" charset="0"/>
                  <a:sym typeface="+mn-ea"/>
                </a:rPr>
                <a:t>“Crown”City</a:t>
              </a:r>
            </a:p>
          </p:txBody>
        </p:sp>
        <p:sp>
          <p:nvSpPr>
            <p:cNvPr id="5126" name="TextBox 190"/>
            <p:cNvSpPr txBox="1"/>
            <p:nvPr/>
          </p:nvSpPr>
          <p:spPr>
            <a:xfrm>
              <a:off x="8494" y="7532"/>
              <a:ext cx="2140" cy="872"/>
            </a:xfrm>
            <a:prstGeom prst="rect">
              <a:avLst/>
            </a:prstGeom>
            <a:noFill/>
          </p:spPr>
          <p:txBody>
            <a:bodyPr wrap="square" rtlCol="0" anchor="t" anchorCtr="0">
              <a:noAutofit/>
            </a:bodyPr>
            <a:lstStyle/>
            <a:p>
              <a:pPr lvl="0" algn="l">
                <a:buClrTx/>
                <a:buSzTx/>
                <a:buFontTx/>
              </a:pPr>
              <a:r>
                <a:rPr lang="en-US" altLang="zh-CN" sz="1400">
                  <a:latin typeface="Arial" panose="020B0604020202020204" pitchFamily="34" charset="0"/>
                  <a:ea typeface="Arial" panose="020B0604020202020204" pitchFamily="34" charset="0"/>
                  <a:sym typeface="+mn-ea"/>
                </a:rPr>
                <a:t>C&lt;0, B&lt;0</a:t>
              </a:r>
            </a:p>
            <a:p>
              <a:pPr lvl="0" algn="l">
                <a:buClrTx/>
                <a:buSzTx/>
                <a:buFontTx/>
              </a:pPr>
              <a:r>
                <a:rPr lang="en-US" altLang="zh-CN" sz="1400">
                  <a:latin typeface="Arial" panose="020B0604020202020204" pitchFamily="34" charset="0"/>
                  <a:sym typeface="+mn-ea"/>
                </a:rPr>
                <a:t>“Pyramid”City</a:t>
              </a:r>
            </a:p>
          </p:txBody>
        </p:sp>
        <p:cxnSp>
          <p:nvCxnSpPr>
            <p:cNvPr id="52" name="曲线连接符 51"/>
            <p:cNvCxnSpPr/>
            <p:nvPr/>
          </p:nvCxnSpPr>
          <p:spPr>
            <a:xfrm rot="5400000" flipV="1">
              <a:off x="13512" y="9267"/>
              <a:ext cx="958" cy="171"/>
            </a:xfrm>
            <a:prstGeom prst="curvedConnector3">
              <a:avLst>
                <a:gd name="adj1" fmla="val 50052"/>
              </a:avLst>
            </a:prstGeom>
            <a:ln>
              <a:solidFill>
                <a:schemeClr val="tx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sp>
          <p:nvSpPr>
            <p:cNvPr id="5127" name="TextBox 191"/>
            <p:cNvSpPr txBox="1"/>
            <p:nvPr/>
          </p:nvSpPr>
          <p:spPr>
            <a:xfrm>
              <a:off x="13163" y="9839"/>
              <a:ext cx="2894" cy="813"/>
            </a:xfrm>
            <a:prstGeom prst="rect">
              <a:avLst/>
            </a:prstGeom>
            <a:noFill/>
          </p:spPr>
          <p:txBody>
            <a:bodyPr wrap="square" rtlCol="0" anchor="t" anchorCtr="0">
              <a:noAutofit/>
            </a:bodyPr>
            <a:lstStyle/>
            <a:p>
              <a:pPr lvl="0" algn="l">
                <a:buClrTx/>
                <a:buSzTx/>
                <a:buFontTx/>
              </a:pPr>
              <a:r>
                <a:rPr lang="en-US" altLang="zh-CN" sz="1400">
                  <a:latin typeface="Arial" panose="020B0604020202020204" pitchFamily="34" charset="0"/>
                  <a:ea typeface="Arial" panose="020B0604020202020204" pitchFamily="34" charset="0"/>
                  <a:sym typeface="+mn-ea"/>
                </a:rPr>
                <a:t>C&lt;0, B&gt;0</a:t>
              </a:r>
            </a:p>
            <a:p>
              <a:pPr lvl="0" algn="l">
                <a:buClrTx/>
                <a:buSzTx/>
                <a:buFontTx/>
              </a:pPr>
              <a:r>
                <a:rPr lang="en-US" altLang="zh-CN" sz="1400">
                  <a:latin typeface="Arial" panose="020B0604020202020204" pitchFamily="34" charset="0"/>
                  <a:ea typeface="Arial" panose="020B0604020202020204" pitchFamily="34" charset="0"/>
                  <a:sym typeface="+mn-ea"/>
                </a:rPr>
                <a:t>“Volcanic Cone” City</a:t>
              </a:r>
            </a:p>
          </p:txBody>
        </p:sp>
        <p:cxnSp>
          <p:nvCxnSpPr>
            <p:cNvPr id="53" name="曲线连接符 52"/>
            <p:cNvCxnSpPr/>
            <p:nvPr/>
          </p:nvCxnSpPr>
          <p:spPr>
            <a:xfrm rot="16200000">
              <a:off x="13764" y="2715"/>
              <a:ext cx="663" cy="622"/>
            </a:xfrm>
            <a:prstGeom prst="curvedConnector3">
              <a:avLst>
                <a:gd name="adj1" fmla="val 50000"/>
              </a:avLst>
            </a:prstGeom>
            <a:ln>
              <a:solidFill>
                <a:schemeClr val="tx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sp>
          <p:nvSpPr>
            <p:cNvPr id="5163" name="TextBox 264"/>
            <p:cNvSpPr txBox="1"/>
            <p:nvPr/>
          </p:nvSpPr>
          <p:spPr>
            <a:xfrm>
              <a:off x="14044" y="1892"/>
              <a:ext cx="1805" cy="803"/>
            </a:xfrm>
            <a:prstGeom prst="rect">
              <a:avLst/>
            </a:prstGeom>
            <a:noFill/>
          </p:spPr>
          <p:txBody>
            <a:bodyPr wrap="square" rtlCol="0" anchor="t" anchorCtr="0">
              <a:noAutofit/>
            </a:bodyPr>
            <a:lstStyle/>
            <a:p>
              <a:pPr lvl="0" algn="l">
                <a:buClrTx/>
                <a:buSzTx/>
                <a:buFontTx/>
              </a:pPr>
              <a:r>
                <a:rPr lang="en-US" altLang="zh-CN" sz="1400">
                  <a:latin typeface="Arial" panose="020B0604020202020204" pitchFamily="34" charset="0"/>
                  <a:ea typeface="Arial" panose="020B0604020202020204" pitchFamily="34" charset="0"/>
                  <a:sym typeface="+mn-ea"/>
                </a:rPr>
                <a:t>C&gt;0, B&gt;0</a:t>
              </a:r>
            </a:p>
            <a:p>
              <a:pPr lvl="0" algn="l">
                <a:buClrTx/>
                <a:buSzTx/>
                <a:buFontTx/>
              </a:pPr>
              <a:r>
                <a:rPr lang="en-US" altLang="zh-CN" sz="1400">
                  <a:latin typeface="Arial" panose="020B0604020202020204" pitchFamily="34" charset="0"/>
                  <a:ea typeface="Arial" panose="020B0604020202020204" pitchFamily="34" charset="0"/>
                  <a:sym typeface="+mn-ea"/>
                </a:rPr>
                <a:t>“Bowl” City</a:t>
              </a:r>
            </a:p>
          </p:txBody>
        </p:sp>
      </p:grp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/>
          <p:cNvPicPr/>
          <p:nvPr/>
        </p:nvPicPr>
        <p:blipFill>
          <a:blip r:embed="rId2"/>
          <a:srcRect l="50166" t="71" r="-5" b="-71"/>
          <a:stretch>
            <a:fillRect/>
          </a:stretch>
        </p:blipFill>
        <p:spPr>
          <a:xfrm>
            <a:off x="6989445" y="8413750"/>
            <a:ext cx="5774690" cy="4557395"/>
          </a:xfrm>
          <a:prstGeom prst="rect">
            <a:avLst/>
          </a:prstGeom>
        </p:spPr>
      </p:pic>
      <p:pic>
        <p:nvPicPr>
          <p:cNvPr id="6" name="图片 5"/>
          <p:cNvPicPr/>
          <p:nvPr/>
        </p:nvPicPr>
        <p:blipFill>
          <a:blip r:embed="rId2"/>
          <a:srcRect r="50161"/>
          <a:stretch>
            <a:fillRect/>
          </a:stretch>
        </p:blipFill>
        <p:spPr>
          <a:xfrm>
            <a:off x="635635" y="8428990"/>
            <a:ext cx="5774690" cy="4557395"/>
          </a:xfrm>
          <a:prstGeom prst="rect">
            <a:avLst/>
          </a:prstGeom>
        </p:spPr>
      </p:pic>
      <p:sp>
        <p:nvSpPr>
          <p:cNvPr id="66" name="矩形 65"/>
          <p:cNvSpPr/>
          <p:nvPr/>
        </p:nvSpPr>
        <p:spPr>
          <a:xfrm>
            <a:off x="310515" y="797560"/>
            <a:ext cx="12630150" cy="67818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CBC63EC5-251A-498E-43BF-81F7C534468D}"/>
              </a:ext>
            </a:extLst>
          </p:cNvPr>
          <p:cNvGrpSpPr/>
          <p:nvPr/>
        </p:nvGrpSpPr>
        <p:grpSpPr>
          <a:xfrm>
            <a:off x="410845" y="927735"/>
            <a:ext cx="12319635" cy="6404610"/>
            <a:chOff x="410845" y="927735"/>
            <a:chExt cx="12319635" cy="6404610"/>
          </a:xfrm>
        </p:grpSpPr>
        <p:grpSp>
          <p:nvGrpSpPr>
            <p:cNvPr id="64" name="组合 63"/>
            <p:cNvGrpSpPr/>
            <p:nvPr/>
          </p:nvGrpSpPr>
          <p:grpSpPr>
            <a:xfrm>
              <a:off x="410845" y="927735"/>
              <a:ext cx="12319635" cy="6404610"/>
              <a:chOff x="647" y="1461"/>
              <a:chExt cx="19401" cy="10086"/>
            </a:xfrm>
          </p:grpSpPr>
          <p:pic>
            <p:nvPicPr>
              <p:cNvPr id="11" name="图片 10"/>
              <p:cNvPicPr>
                <a:picLocks noChangeAspect="1"/>
              </p:cNvPicPr>
              <p:nvPr/>
            </p:nvPicPr>
            <p:blipFill>
              <a:blip r:embed="rId3"/>
              <a:srcRect t="1124"/>
              <a:stretch>
                <a:fillRect/>
              </a:stretch>
            </p:blipFill>
            <p:spPr>
              <a:xfrm>
                <a:off x="647" y="2767"/>
                <a:ext cx="19200" cy="7920"/>
              </a:xfrm>
              <a:prstGeom prst="rect">
                <a:avLst/>
              </a:prstGeom>
            </p:spPr>
          </p:pic>
          <p:grpSp>
            <p:nvGrpSpPr>
              <p:cNvPr id="12" name="组合 11"/>
              <p:cNvGrpSpPr/>
              <p:nvPr/>
            </p:nvGrpSpPr>
            <p:grpSpPr>
              <a:xfrm>
                <a:off x="1609" y="9777"/>
                <a:ext cx="8717" cy="993"/>
                <a:chOff x="1420" y="9835"/>
                <a:chExt cx="8717" cy="993"/>
              </a:xfrm>
            </p:grpSpPr>
            <p:sp>
              <p:nvSpPr>
                <p:cNvPr id="8" name="矩形 7"/>
                <p:cNvSpPr/>
                <p:nvPr/>
              </p:nvSpPr>
              <p:spPr>
                <a:xfrm rot="5400000">
                  <a:off x="5245" y="6010"/>
                  <a:ext cx="993" cy="8643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2000"/>
                </a:p>
              </p:txBody>
            </p:sp>
            <p:sp>
              <p:nvSpPr>
                <p:cNvPr id="37" name="文本框 36"/>
                <p:cNvSpPr txBox="1"/>
                <p:nvPr/>
              </p:nvSpPr>
              <p:spPr>
                <a:xfrm>
                  <a:off x="5669" y="9926"/>
                  <a:ext cx="885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r>
                    <a:rPr lang="en-US" altLang="zh-CN" sz="2000"/>
                    <a:t>0%</a:t>
                  </a:r>
                </a:p>
              </p:txBody>
            </p:sp>
            <p:sp>
              <p:nvSpPr>
                <p:cNvPr id="38" name="文本框 37"/>
                <p:cNvSpPr txBox="1"/>
                <p:nvPr/>
              </p:nvSpPr>
              <p:spPr>
                <a:xfrm>
                  <a:off x="9094" y="9937"/>
                  <a:ext cx="1043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r>
                    <a:rPr lang="en-US" altLang="zh-CN" sz="2000"/>
                    <a:t>6%</a:t>
                  </a:r>
                </a:p>
              </p:txBody>
            </p:sp>
            <p:sp>
              <p:nvSpPr>
                <p:cNvPr id="39" name="文本框 38"/>
                <p:cNvSpPr txBox="1"/>
                <p:nvPr/>
              </p:nvSpPr>
              <p:spPr>
                <a:xfrm>
                  <a:off x="2056" y="9861"/>
                  <a:ext cx="1073" cy="586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r"/>
                  <a:r>
                    <a:rPr lang="en-US" altLang="zh-CN" sz="2000"/>
                    <a:t>-6%</a:t>
                  </a:r>
                </a:p>
              </p:txBody>
            </p:sp>
            <p:sp>
              <p:nvSpPr>
                <p:cNvPr id="43" name="文本框 42"/>
                <p:cNvSpPr txBox="1"/>
                <p:nvPr/>
              </p:nvSpPr>
              <p:spPr>
                <a:xfrm>
                  <a:off x="6996" y="10251"/>
                  <a:ext cx="3099" cy="436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l"/>
                  <a:r>
                    <a:rPr lang="en-US" altLang="zh-CN" sz="2400" i="1">
                      <a:latin typeface="Arial" panose="020B0604020202020204" pitchFamily="34" charset="0"/>
                      <a:cs typeface="Arial" panose="020B0604020202020204" pitchFamily="34" charset="0"/>
                    </a:rPr>
                    <a:t>probability(</a:t>
                  </a:r>
                  <a:r>
                    <a:rPr lang="zh-CN" altLang="en-US" sz="2400">
                      <a:latin typeface="Arial" panose="020B0604020202020204" pitchFamily="34" charset="0"/>
                      <a:cs typeface="Arial" panose="020B0604020202020204" pitchFamily="34" charset="0"/>
                      <a:sym typeface="+mn-ea"/>
                    </a:rPr>
                    <a:t>Δ</a:t>
                  </a:r>
                  <a:r>
                    <a:rPr lang="en-US" altLang="zh-CN" sz="2400" i="1">
                      <a:latin typeface="Arial" panose="020B0604020202020204" pitchFamily="34" charset="0"/>
                      <a:cs typeface="Arial" panose="020B0604020202020204" pitchFamily="34" charset="0"/>
                    </a:rPr>
                    <a:t>α)</a:t>
                  </a:r>
                </a:p>
              </p:txBody>
            </p:sp>
          </p:grpSp>
          <p:grpSp>
            <p:nvGrpSpPr>
              <p:cNvPr id="26" name="组合 25"/>
              <p:cNvGrpSpPr/>
              <p:nvPr/>
            </p:nvGrpSpPr>
            <p:grpSpPr>
              <a:xfrm>
                <a:off x="10507" y="2632"/>
                <a:ext cx="1252" cy="7156"/>
                <a:chOff x="10399" y="3051"/>
                <a:chExt cx="1252" cy="7054"/>
              </a:xfrm>
            </p:grpSpPr>
            <p:sp>
              <p:nvSpPr>
                <p:cNvPr id="14" name="矩形 13"/>
                <p:cNvSpPr/>
                <p:nvPr/>
              </p:nvSpPr>
              <p:spPr>
                <a:xfrm>
                  <a:off x="10399" y="3051"/>
                  <a:ext cx="1252" cy="7054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2000"/>
                </a:p>
              </p:txBody>
            </p:sp>
            <p:sp useBgFill="1">
              <p:nvSpPr>
                <p:cNvPr id="48" name="文本框 47"/>
                <p:cNvSpPr txBox="1"/>
                <p:nvPr/>
              </p:nvSpPr>
              <p:spPr>
                <a:xfrm>
                  <a:off x="10485" y="3678"/>
                  <a:ext cx="1069" cy="442"/>
                </a:xfrm>
                <a:prstGeom prst="rect">
                  <a:avLst/>
                </a:prstGeom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r"/>
                  <a:r>
                    <a:rPr lang="en-US" altLang="zh-CN" sz="2000"/>
                    <a:t>0.04</a:t>
                  </a:r>
                </a:p>
              </p:txBody>
            </p:sp>
            <p:sp>
              <p:nvSpPr>
                <p:cNvPr id="49" name="文本框 48"/>
                <p:cNvSpPr txBox="1"/>
                <p:nvPr/>
              </p:nvSpPr>
              <p:spPr>
                <a:xfrm>
                  <a:off x="10740" y="6129"/>
                  <a:ext cx="773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r"/>
                  <a:r>
                    <a:rPr lang="en-US" altLang="zh-CN" sz="2000"/>
                    <a:t>0</a:t>
                  </a:r>
                </a:p>
              </p:txBody>
            </p:sp>
            <p:sp>
              <p:nvSpPr>
                <p:cNvPr id="50" name="文本框 49"/>
                <p:cNvSpPr txBox="1"/>
                <p:nvPr/>
              </p:nvSpPr>
              <p:spPr>
                <a:xfrm>
                  <a:off x="10798" y="3051"/>
                  <a:ext cx="853" cy="443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ctr"/>
                  <a:r>
                    <a:rPr lang="zh-CN" altLang="en-US" sz="2400">
                      <a:latin typeface="Arial" panose="020B0604020202020204" pitchFamily="34" charset="0"/>
                      <a:cs typeface="Arial" panose="020B0604020202020204" pitchFamily="34" charset="0"/>
                      <a:sym typeface="+mn-ea"/>
                    </a:rPr>
                    <a:t>Δ</a:t>
                  </a:r>
                  <a:r>
                    <a:rPr lang="en-US" altLang="zh-CN" sz="2400" i="1">
                      <a:latin typeface="Arial" panose="020B0604020202020204" pitchFamily="34" charset="0"/>
                      <a:cs typeface="Arial" panose="020B0604020202020204" pitchFamily="34" charset="0"/>
                    </a:rPr>
                    <a:t>δ</a:t>
                  </a:r>
                </a:p>
              </p:txBody>
            </p:sp>
            <p:sp>
              <p:nvSpPr>
                <p:cNvPr id="55" name="文本框 54"/>
                <p:cNvSpPr txBox="1"/>
                <p:nvPr/>
              </p:nvSpPr>
              <p:spPr>
                <a:xfrm>
                  <a:off x="10400" y="8553"/>
                  <a:ext cx="1154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r"/>
                  <a:r>
                    <a:rPr lang="en-US" altLang="zh-CN" sz="2000"/>
                    <a:t>-0.04</a:t>
                  </a:r>
                </a:p>
              </p:txBody>
            </p: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6" name="文本框 35"/>
                  <p:cNvSpPr txBox="1"/>
                  <p:nvPr/>
                </p:nvSpPr>
                <p:spPr>
                  <a:xfrm>
                    <a:off x="1838" y="1461"/>
                    <a:ext cx="8139" cy="1307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en-US" altLang="zh-CN" sz="2400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Change of Structural Zero Params</a:t>
                    </a:r>
                  </a:p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altLang="zh-CN" sz="24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𝜑</m:t>
                          </m:r>
                          <m:r>
                            <a:rPr lang="en-US" altLang="zh-CN" sz="24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(</m:t>
                          </m:r>
                          <m:r>
                            <a:rPr lang="en-US" altLang="zh-CN" sz="24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𝑟</m:t>
                          </m:r>
                          <m:r>
                            <a:rPr lang="en-US" altLang="zh-CN" sz="24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)=</m:t>
                          </m:r>
                          <m:r>
                            <a:rPr lang="en-US" altLang="zh-CN" sz="24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𝑙𝑜𝑔𝑖𝑠𝑡𝑖𝑐</m:t>
                          </m:r>
                          <m:r>
                            <a:rPr lang="en-US" altLang="zh-CN" sz="24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(</m:t>
                          </m:r>
                          <m:r>
                            <a:rPr lang="en-US" altLang="zh-CN" sz="24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𝛼</m:t>
                          </m:r>
                          <m:r>
                            <a:rPr lang="en-US" altLang="zh-CN" sz="24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+</m:t>
                          </m:r>
                          <m:r>
                            <a:rPr lang="en-US" altLang="zh-CN" sz="24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𝛽</m:t>
                          </m:r>
                          <m:r>
                            <a:rPr lang="en-US" altLang="zh-CN" sz="24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𝑟</m:t>
                          </m:r>
                          <m:r>
                            <a:rPr lang="en-US" altLang="zh-CN" sz="2400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)</m:t>
                          </m:r>
                        </m:oMath>
                      </m:oMathPara>
                    </a14:m>
                    <a:endParaRPr lang="en-US" altLang="zh-CN" sz="2400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 xmlns="">
              <p:sp>
                <p:nvSpPr>
                  <p:cNvPr id="36" name="文本框 35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838" y="1461"/>
                    <a:ext cx="8139" cy="1307"/>
                  </a:xfrm>
                  <a:prstGeom prst="rect">
                    <a:avLst/>
                  </a:prstGeom>
                  <a:blipFill rotWithShape="1">
                    <a:blip r:embed="rId4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grpSp>
            <p:nvGrpSpPr>
              <p:cNvPr id="24" name="组合 23"/>
              <p:cNvGrpSpPr/>
              <p:nvPr/>
            </p:nvGrpSpPr>
            <p:grpSpPr>
              <a:xfrm>
                <a:off x="647" y="2767"/>
                <a:ext cx="1442" cy="6919"/>
                <a:chOff x="647" y="3188"/>
                <a:chExt cx="1442" cy="6919"/>
              </a:xfrm>
            </p:grpSpPr>
            <p:sp>
              <p:nvSpPr>
                <p:cNvPr id="7" name="矩形 6"/>
                <p:cNvSpPr/>
                <p:nvPr/>
              </p:nvSpPr>
              <p:spPr>
                <a:xfrm>
                  <a:off x="647" y="3189"/>
                  <a:ext cx="1442" cy="6918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2000"/>
                </a:p>
              </p:txBody>
            </p:sp>
            <p:sp>
              <p:nvSpPr>
                <p:cNvPr id="40" name="文本框 39"/>
                <p:cNvSpPr txBox="1"/>
                <p:nvPr/>
              </p:nvSpPr>
              <p:spPr>
                <a:xfrm>
                  <a:off x="902" y="4069"/>
                  <a:ext cx="1092" cy="38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r"/>
                  <a:r>
                    <a:rPr lang="en-US" altLang="zh-CN" sz="2000"/>
                    <a:t>0.08</a:t>
                  </a:r>
                </a:p>
              </p:txBody>
            </p:sp>
            <p:sp>
              <p:nvSpPr>
                <p:cNvPr id="41" name="文本框 40"/>
                <p:cNvSpPr txBox="1"/>
                <p:nvPr/>
              </p:nvSpPr>
              <p:spPr>
                <a:xfrm>
                  <a:off x="735" y="7457"/>
                  <a:ext cx="1103" cy="406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r"/>
                  <a:r>
                    <a:rPr lang="en-US" altLang="zh-CN" sz="2000"/>
                    <a:t>0</a:t>
                  </a:r>
                </a:p>
              </p:txBody>
            </p:sp>
            <p:sp>
              <p:nvSpPr>
                <p:cNvPr id="42" name="文本框 41"/>
                <p:cNvSpPr txBox="1"/>
                <p:nvPr/>
              </p:nvSpPr>
              <p:spPr>
                <a:xfrm>
                  <a:off x="1001" y="3188"/>
                  <a:ext cx="993" cy="423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ctr"/>
                  <a:r>
                    <a:rPr lang="zh-CN" altLang="en-US" sz="2400">
                      <a:latin typeface="Arial" panose="020B0604020202020204" pitchFamily="34" charset="0"/>
                      <a:cs typeface="Arial" panose="020B0604020202020204" pitchFamily="34" charset="0"/>
                      <a:sym typeface="+mn-ea"/>
                    </a:rPr>
                    <a:t>Δ</a:t>
                  </a:r>
                  <a:r>
                    <a:rPr lang="en-US" altLang="zh-CN" sz="2400" i="1">
                      <a:latin typeface="Arial" panose="020B0604020202020204" pitchFamily="34" charset="0"/>
                      <a:cs typeface="Arial" panose="020B0604020202020204" pitchFamily="34" charset="0"/>
                    </a:rPr>
                    <a:t>β</a:t>
                  </a:r>
                </a:p>
              </p:txBody>
            </p:sp>
            <p:sp>
              <p:nvSpPr>
                <p:cNvPr id="17" name="文本框 16"/>
                <p:cNvSpPr txBox="1"/>
                <p:nvPr/>
              </p:nvSpPr>
              <p:spPr>
                <a:xfrm>
                  <a:off x="902" y="9157"/>
                  <a:ext cx="1092" cy="38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r"/>
                  <a:r>
                    <a:rPr lang="en-US" altLang="zh-CN" sz="2000"/>
                    <a:t>-0.04</a:t>
                  </a:r>
                </a:p>
              </p:txBody>
            </p:sp>
            <p:sp>
              <p:nvSpPr>
                <p:cNvPr id="18" name="文本框 17"/>
                <p:cNvSpPr txBox="1"/>
                <p:nvPr/>
              </p:nvSpPr>
              <p:spPr>
                <a:xfrm>
                  <a:off x="902" y="5743"/>
                  <a:ext cx="1092" cy="38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r"/>
                  <a:r>
                    <a:rPr lang="en-US" altLang="zh-CN" sz="2000"/>
                    <a:t>0.04</a:t>
                  </a:r>
                </a:p>
              </p:txBody>
            </p: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9" name="文本框 18"/>
                  <p:cNvSpPr txBox="1"/>
                  <p:nvPr/>
                </p:nvSpPr>
                <p:spPr>
                  <a:xfrm>
                    <a:off x="11204" y="1621"/>
                    <a:ext cx="8844" cy="1307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en-US" altLang="zh-CN" sz="2400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Change of Actual Construction Params</a:t>
                    </a:r>
                  </a:p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altLang="zh-CN" sz="24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𝜋</m:t>
                          </m:r>
                          <m:r>
                            <a:rPr lang="en-US" altLang="zh-CN" sz="24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(</m:t>
                          </m:r>
                          <m:r>
                            <a:rPr lang="en-US" altLang="zh-CN" sz="24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𝑟</m:t>
                          </m:r>
                          <m:r>
                            <a:rPr lang="en-US" altLang="zh-CN" sz="24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)=</m:t>
                          </m:r>
                          <m:r>
                            <a:rPr lang="en-US" altLang="zh-CN" sz="24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𝑙𝑜𝑔𝑖𝑠𝑡𝑖𝑐</m:t>
                          </m:r>
                          <m:r>
                            <a:rPr lang="en-US" altLang="zh-CN" sz="24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(</m:t>
                          </m:r>
                          <m:r>
                            <a:rPr lang="en-US" altLang="zh-CN" sz="24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𝜅</m:t>
                          </m:r>
                          <m:r>
                            <a:rPr lang="en-US" altLang="zh-CN" sz="24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−</m:t>
                          </m:r>
                          <m:r>
                            <a:rPr lang="en-US" altLang="zh-CN" sz="24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𝛿</m:t>
                          </m:r>
                          <m:r>
                            <a:rPr lang="en-US" altLang="zh-CN" sz="24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𝑟</m:t>
                          </m:r>
                          <m:r>
                            <a:rPr lang="en-US" altLang="zh-CN" sz="2400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)</m:t>
                          </m:r>
                        </m:oMath>
                      </m:oMathPara>
                    </a14:m>
                    <a:endParaRPr lang="en-US" altLang="zh-CN" sz="2400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 xmlns="">
              <p:sp>
                <p:nvSpPr>
                  <p:cNvPr id="19" name="文本框 18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1204" y="1621"/>
                    <a:ext cx="8844" cy="1307"/>
                  </a:xfrm>
                  <a:prstGeom prst="rect">
                    <a:avLst/>
                  </a:prstGeom>
                  <a:blipFill rotWithShape="1">
                    <a:blip r:embed="rId5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grpSp>
            <p:nvGrpSpPr>
              <p:cNvPr id="20" name="组合 19"/>
              <p:cNvGrpSpPr/>
              <p:nvPr/>
            </p:nvGrpSpPr>
            <p:grpSpPr>
              <a:xfrm>
                <a:off x="11204" y="9686"/>
                <a:ext cx="8643" cy="1009"/>
                <a:chOff x="11000" y="9740"/>
                <a:chExt cx="8643" cy="1009"/>
              </a:xfrm>
            </p:grpSpPr>
            <p:sp>
              <p:nvSpPr>
                <p:cNvPr id="15" name="矩形 14"/>
                <p:cNvSpPr/>
                <p:nvPr/>
              </p:nvSpPr>
              <p:spPr>
                <a:xfrm rot="5400000">
                  <a:off x="14817" y="5923"/>
                  <a:ext cx="1009" cy="8643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2000"/>
                </a:p>
              </p:txBody>
            </p:sp>
            <p:sp>
              <p:nvSpPr>
                <p:cNvPr id="51" name="文本框 50"/>
                <p:cNvSpPr txBox="1"/>
                <p:nvPr/>
              </p:nvSpPr>
              <p:spPr>
                <a:xfrm>
                  <a:off x="16551" y="10182"/>
                  <a:ext cx="3092" cy="513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l"/>
                  <a:r>
                    <a:rPr lang="en-US" altLang="zh-CN" sz="2400" i="1">
                      <a:latin typeface="Arial" panose="020B0604020202020204" pitchFamily="34" charset="0"/>
                      <a:cs typeface="Arial" panose="020B0604020202020204" pitchFamily="34" charset="0"/>
                    </a:rPr>
                    <a:t>probability(</a:t>
                  </a:r>
                  <a:r>
                    <a:rPr lang="zh-CN" altLang="en-US" sz="2400">
                      <a:latin typeface="Arial" panose="020B0604020202020204" pitchFamily="34" charset="0"/>
                      <a:cs typeface="Arial" panose="020B0604020202020204" pitchFamily="34" charset="0"/>
                      <a:sym typeface="+mn-ea"/>
                    </a:rPr>
                    <a:t>Δ</a:t>
                  </a:r>
                  <a:r>
                    <a:rPr lang="en-US" altLang="zh-CN" sz="2400" i="1">
                      <a:latin typeface="Arial" panose="020B0604020202020204" pitchFamily="34" charset="0"/>
                      <a:cs typeface="Arial" panose="020B0604020202020204" pitchFamily="34" charset="0"/>
                    </a:rPr>
                    <a:t>κ)</a:t>
                  </a:r>
                </a:p>
              </p:txBody>
            </p:sp>
            <p:sp>
              <p:nvSpPr>
                <p:cNvPr id="46" name="文本框 45"/>
                <p:cNvSpPr txBox="1"/>
                <p:nvPr/>
              </p:nvSpPr>
              <p:spPr>
                <a:xfrm>
                  <a:off x="18460" y="9832"/>
                  <a:ext cx="887" cy="380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ctr"/>
                  <a:r>
                    <a:rPr lang="en-US" altLang="zh-CN" sz="2000"/>
                    <a:t>6%</a:t>
                  </a:r>
                </a:p>
              </p:txBody>
            </p:sp>
            <p:sp>
              <p:nvSpPr>
                <p:cNvPr id="47" name="文本框 46"/>
                <p:cNvSpPr txBox="1"/>
                <p:nvPr/>
              </p:nvSpPr>
              <p:spPr>
                <a:xfrm>
                  <a:off x="12824" y="9832"/>
                  <a:ext cx="871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r>
                    <a:rPr lang="en-US" altLang="zh-CN" sz="2000"/>
                    <a:t>-2%</a:t>
                  </a:r>
                </a:p>
              </p:txBody>
            </p:sp>
            <p:sp>
              <p:nvSpPr>
                <p:cNvPr id="53" name="文本框 52"/>
                <p:cNvSpPr txBox="1"/>
                <p:nvPr/>
              </p:nvSpPr>
              <p:spPr>
                <a:xfrm>
                  <a:off x="14303" y="9832"/>
                  <a:ext cx="885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ctr"/>
                  <a:r>
                    <a:rPr lang="en-US" altLang="zh-CN" sz="2000"/>
                    <a:t>0%</a:t>
                  </a:r>
                </a:p>
              </p:txBody>
            </p:sp>
            <p:sp>
              <p:nvSpPr>
                <p:cNvPr id="10" name="文本框 9"/>
                <p:cNvSpPr txBox="1"/>
                <p:nvPr/>
              </p:nvSpPr>
              <p:spPr>
                <a:xfrm>
                  <a:off x="15796" y="9844"/>
                  <a:ext cx="871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r>
                    <a:rPr lang="en-US" altLang="zh-CN" sz="2000"/>
                    <a:t>2%</a:t>
                  </a:r>
                </a:p>
              </p:txBody>
            </p:sp>
          </p:grpSp>
          <p:grpSp>
            <p:nvGrpSpPr>
              <p:cNvPr id="59" name="组合 58"/>
              <p:cNvGrpSpPr/>
              <p:nvPr/>
            </p:nvGrpSpPr>
            <p:grpSpPr>
              <a:xfrm>
                <a:off x="6986" y="10883"/>
                <a:ext cx="8899" cy="664"/>
                <a:chOff x="6124" y="10847"/>
                <a:chExt cx="8899" cy="664"/>
              </a:xfrm>
            </p:grpSpPr>
            <p:sp>
              <p:nvSpPr>
                <p:cNvPr id="33" name="文本框 32"/>
                <p:cNvSpPr txBox="1"/>
                <p:nvPr/>
              </p:nvSpPr>
              <p:spPr>
                <a:xfrm>
                  <a:off x="12483" y="10892"/>
                  <a:ext cx="2540" cy="58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/>
                    <a:t>Latin America</a:t>
                  </a:r>
                </a:p>
              </p:txBody>
            </p:sp>
            <p:sp>
              <p:nvSpPr>
                <p:cNvPr id="29" name="文本框 28"/>
                <p:cNvSpPr txBox="1"/>
                <p:nvPr/>
              </p:nvSpPr>
              <p:spPr>
                <a:xfrm>
                  <a:off x="6331" y="10928"/>
                  <a:ext cx="1310" cy="58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/>
                    <a:t>Africa</a:t>
                  </a:r>
                </a:p>
              </p:txBody>
            </p:sp>
            <p:sp>
              <p:nvSpPr>
                <p:cNvPr id="31" name="文本框 30"/>
                <p:cNvSpPr txBox="1"/>
                <p:nvPr/>
              </p:nvSpPr>
              <p:spPr>
                <a:xfrm>
                  <a:off x="8012" y="10915"/>
                  <a:ext cx="4471" cy="58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/>
                    <a:t>South&amp;South-east Asia</a:t>
                  </a:r>
                </a:p>
              </p:txBody>
            </p:sp>
            <p:sp>
              <p:nvSpPr>
                <p:cNvPr id="56" name="上箭头 55"/>
                <p:cNvSpPr/>
                <p:nvPr/>
              </p:nvSpPr>
              <p:spPr>
                <a:xfrm>
                  <a:off x="12193" y="10847"/>
                  <a:ext cx="290" cy="651"/>
                </a:xfrm>
                <a:prstGeom prst="upArrow">
                  <a:avLst>
                    <a:gd name="adj1" fmla="val 50000"/>
                    <a:gd name="adj2" fmla="val 101034"/>
                  </a:avLst>
                </a:prstGeom>
                <a:solidFill>
                  <a:srgbClr val="47A2DE">
                    <a:alpha val="70000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2000"/>
                </a:p>
              </p:txBody>
            </p:sp>
            <p:sp>
              <p:nvSpPr>
                <p:cNvPr id="57" name="上箭头 56"/>
                <p:cNvSpPr/>
                <p:nvPr/>
              </p:nvSpPr>
              <p:spPr>
                <a:xfrm>
                  <a:off x="6124" y="10860"/>
                  <a:ext cx="290" cy="651"/>
                </a:xfrm>
                <a:prstGeom prst="upArrow">
                  <a:avLst>
                    <a:gd name="adj1" fmla="val 50000"/>
                    <a:gd name="adj2" fmla="val 93103"/>
                  </a:avLst>
                </a:prstGeom>
                <a:solidFill>
                  <a:srgbClr val="E85748">
                    <a:alpha val="70000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2000">
                    <a:solidFill>
                      <a:srgbClr val="9467BD"/>
                    </a:solidFill>
                  </a:endParaRPr>
                </a:p>
              </p:txBody>
            </p:sp>
            <p:sp>
              <p:nvSpPr>
                <p:cNvPr id="58" name="上箭头 57"/>
                <p:cNvSpPr/>
                <p:nvPr/>
              </p:nvSpPr>
              <p:spPr>
                <a:xfrm>
                  <a:off x="7810" y="10847"/>
                  <a:ext cx="290" cy="651"/>
                </a:xfrm>
                <a:prstGeom prst="upArrow">
                  <a:avLst>
                    <a:gd name="adj1" fmla="val 50000"/>
                    <a:gd name="adj2" fmla="val 108620"/>
                  </a:avLst>
                </a:prstGeom>
                <a:solidFill>
                  <a:srgbClr val="F39F1B">
                    <a:alpha val="70000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2000"/>
                </a:p>
              </p:txBody>
            </p:sp>
          </p:grpSp>
          <p:cxnSp>
            <p:nvCxnSpPr>
              <p:cNvPr id="60" name="直接连接符 59"/>
              <p:cNvCxnSpPr/>
              <p:nvPr/>
            </p:nvCxnSpPr>
            <p:spPr>
              <a:xfrm>
                <a:off x="2172" y="7254"/>
                <a:ext cx="7944" cy="0"/>
              </a:xfrm>
              <a:prstGeom prst="line">
                <a:avLst/>
              </a:prstGeom>
              <a:ln w="19050">
                <a:solidFill>
                  <a:schemeClr val="tx1">
                    <a:lumMod val="50000"/>
                    <a:lumOff val="50000"/>
                  </a:schemeClr>
                </a:solidFill>
                <a:prstDash val="sysDash"/>
              </a:ln>
            </p:spPr>
            <p:style>
              <a:lnRef idx="2">
                <a:schemeClr val="accent1"/>
              </a:lnRef>
              <a:fillRef idx="0">
                <a:srgbClr val="FFFFFF"/>
              </a:fillRef>
              <a:effectRef idx="0">
                <a:srgbClr val="FFFFFF"/>
              </a:effectRef>
              <a:fontRef idx="minor">
                <a:schemeClr val="tx1"/>
              </a:fontRef>
            </p:style>
          </p:cxnSp>
          <p:cxnSp>
            <p:nvCxnSpPr>
              <p:cNvPr id="61" name="直接连接符 60"/>
              <p:cNvCxnSpPr/>
              <p:nvPr/>
            </p:nvCxnSpPr>
            <p:spPr>
              <a:xfrm>
                <a:off x="11827" y="5929"/>
                <a:ext cx="7944" cy="0"/>
              </a:xfrm>
              <a:prstGeom prst="line">
                <a:avLst/>
              </a:prstGeom>
              <a:ln w="19050">
                <a:solidFill>
                  <a:schemeClr val="tx1">
                    <a:lumMod val="50000"/>
                    <a:lumOff val="50000"/>
                  </a:schemeClr>
                </a:solidFill>
                <a:prstDash val="sysDash"/>
              </a:ln>
            </p:spPr>
            <p:style>
              <a:lnRef idx="2">
                <a:schemeClr val="accent1"/>
              </a:lnRef>
              <a:fillRef idx="0">
                <a:srgbClr val="FFFFFF"/>
              </a:fillRef>
              <a:effectRef idx="0">
                <a:srgbClr val="FFFFFF"/>
              </a:effectRef>
              <a:fontRef idx="minor">
                <a:schemeClr val="tx1"/>
              </a:fontRef>
            </p:style>
          </p:cxnSp>
          <p:cxnSp>
            <p:nvCxnSpPr>
              <p:cNvPr id="62" name="直接连接符 61"/>
              <p:cNvCxnSpPr/>
              <p:nvPr/>
            </p:nvCxnSpPr>
            <p:spPr>
              <a:xfrm>
                <a:off x="6161" y="2821"/>
                <a:ext cx="0" cy="6830"/>
              </a:xfrm>
              <a:prstGeom prst="line">
                <a:avLst/>
              </a:prstGeom>
              <a:ln w="19050">
                <a:solidFill>
                  <a:schemeClr val="tx1">
                    <a:lumMod val="50000"/>
                    <a:lumOff val="50000"/>
                  </a:schemeClr>
                </a:solidFill>
                <a:prstDash val="sysDash"/>
              </a:ln>
            </p:spPr>
            <p:style>
              <a:lnRef idx="2">
                <a:schemeClr val="accent1"/>
              </a:lnRef>
              <a:fillRef idx="0">
                <a:srgbClr val="FFFFFF"/>
              </a:fillRef>
              <a:effectRef idx="0">
                <a:srgbClr val="FFFFFF"/>
              </a:effectRef>
              <a:fontRef idx="minor">
                <a:schemeClr val="tx1"/>
              </a:fontRef>
            </p:style>
          </p:cxnSp>
          <p:cxnSp>
            <p:nvCxnSpPr>
              <p:cNvPr id="63" name="直接连接符 62"/>
              <p:cNvCxnSpPr/>
              <p:nvPr/>
            </p:nvCxnSpPr>
            <p:spPr>
              <a:xfrm>
                <a:off x="14719" y="2780"/>
                <a:ext cx="0" cy="6830"/>
              </a:xfrm>
              <a:prstGeom prst="line">
                <a:avLst/>
              </a:prstGeom>
              <a:ln w="19050">
                <a:solidFill>
                  <a:schemeClr val="tx1">
                    <a:lumMod val="50000"/>
                    <a:lumOff val="50000"/>
                  </a:schemeClr>
                </a:solidFill>
                <a:prstDash val="sysDash"/>
              </a:ln>
            </p:spPr>
            <p:style>
              <a:lnRef idx="2">
                <a:schemeClr val="accent1"/>
              </a:lnRef>
              <a:fillRef idx="0">
                <a:srgbClr val="FFFFFF"/>
              </a:fillRef>
              <a:effectRef idx="0">
                <a:srgbClr val="FFFFFF"/>
              </a:effectRef>
              <a:fontRef idx="minor">
                <a:schemeClr val="tx1"/>
              </a:fontRef>
            </p:style>
          </p:cxnSp>
        </p:grpSp>
        <p:sp>
          <p:nvSpPr>
            <p:cNvPr id="2" name="文本框 1"/>
            <p:cNvSpPr txBox="1"/>
            <p:nvPr/>
          </p:nvSpPr>
          <p:spPr>
            <a:xfrm>
              <a:off x="2385695" y="1859280"/>
              <a:ext cx="1438275" cy="64516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altLang="zh-CN"/>
                <a:t>36% p(</a:t>
              </a:r>
              <a:r>
                <a:rPr lang="en-US" altLang="zh-CN">
                  <a:latin typeface="Arial" panose="020B0604020202020204" pitchFamily="34" charset="0"/>
                  <a:cs typeface="Arial" panose="020B0604020202020204" pitchFamily="34" charset="0"/>
                </a:rPr>
                <a:t>α</a:t>
              </a:r>
              <a:r>
                <a:rPr lang="en-US" altLang="zh-CN"/>
                <a:t>)</a:t>
              </a:r>
              <a:r>
                <a:rPr lang="en-US" altLang="zh-CN">
                  <a:latin typeface="东文宋体" charset="0"/>
                  <a:ea typeface="东文宋体" charset="0"/>
                </a:rPr>
                <a:t>↓,</a:t>
              </a:r>
              <a:r>
                <a:rPr lang="en-US" altLang="zh-CN">
                  <a:latin typeface="Arial" panose="020B0604020202020204" pitchFamily="34" charset="0"/>
                  <a:cs typeface="Arial" panose="020B0604020202020204" pitchFamily="34" charset="0"/>
                </a:rPr>
                <a:t>β</a:t>
              </a:r>
              <a:r>
                <a:rPr lang="en-US" altLang="zh-CN">
                  <a:latin typeface="东文宋体" charset="0"/>
                  <a:ea typeface="东文宋体" charset="0"/>
                  <a:cs typeface="Arial" panose="020B0604020202020204" pitchFamily="34" charset="0"/>
                </a:rPr>
                <a:t>↑</a:t>
              </a:r>
              <a:endParaRPr lang="zh-CN" altLang="en-US">
                <a:latin typeface="东文宋体" charset="0"/>
                <a:ea typeface="东文宋体" charset="0"/>
                <a:cs typeface="Arial" panose="020B0604020202020204" pitchFamily="34" charset="0"/>
              </a:endParaRPr>
            </a:p>
          </p:txBody>
        </p:sp>
        <p:sp>
          <p:nvSpPr>
            <p:cNvPr id="3" name="文本框 2"/>
            <p:cNvSpPr txBox="1"/>
            <p:nvPr/>
          </p:nvSpPr>
          <p:spPr>
            <a:xfrm>
              <a:off x="4068445" y="1859280"/>
              <a:ext cx="1438275" cy="64516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altLang="zh-CN"/>
                <a:t>12% p(</a:t>
              </a:r>
              <a:r>
                <a:rPr lang="en-US" altLang="zh-CN">
                  <a:latin typeface="Arial" panose="020B0604020202020204" pitchFamily="34" charset="0"/>
                  <a:cs typeface="Arial" panose="020B0604020202020204" pitchFamily="34" charset="0"/>
                </a:rPr>
                <a:t>α</a:t>
              </a:r>
              <a:r>
                <a:rPr lang="en-US" altLang="zh-CN"/>
                <a:t>)</a:t>
              </a:r>
              <a:r>
                <a:rPr lang="en-US" altLang="zh-CN">
                  <a:latin typeface="东文宋体" charset="0"/>
                  <a:ea typeface="东文宋体" charset="0"/>
                  <a:cs typeface="Arial" panose="020B0604020202020204" pitchFamily="34" charset="0"/>
                  <a:sym typeface="+mn-ea"/>
                </a:rPr>
                <a:t>↑</a:t>
              </a:r>
              <a:r>
                <a:rPr lang="en-US" altLang="zh-CN">
                  <a:latin typeface="东文宋体" charset="0"/>
                  <a:ea typeface="东文宋体" charset="0"/>
                </a:rPr>
                <a:t>,</a:t>
              </a:r>
              <a:r>
                <a:rPr lang="en-US" altLang="zh-CN">
                  <a:latin typeface="Arial" panose="020B0604020202020204" pitchFamily="34" charset="0"/>
                  <a:cs typeface="Arial" panose="020B0604020202020204" pitchFamily="34" charset="0"/>
                </a:rPr>
                <a:t>β</a:t>
              </a:r>
              <a:r>
                <a:rPr lang="en-US" altLang="zh-CN">
                  <a:latin typeface="东文宋体" charset="0"/>
                  <a:ea typeface="东文宋体" charset="0"/>
                  <a:cs typeface="Arial" panose="020B0604020202020204" pitchFamily="34" charset="0"/>
                </a:rPr>
                <a:t>↑</a:t>
              </a:r>
              <a:endParaRPr lang="zh-CN" altLang="en-US">
                <a:latin typeface="东文宋体" charset="0"/>
                <a:ea typeface="东文宋体" charset="0"/>
                <a:cs typeface="Arial" panose="020B0604020202020204" pitchFamily="34" charset="0"/>
              </a:endParaRPr>
            </a:p>
          </p:txBody>
        </p:sp>
        <p:sp>
          <p:nvSpPr>
            <p:cNvPr id="4" name="文本框 3"/>
            <p:cNvSpPr txBox="1"/>
            <p:nvPr/>
          </p:nvSpPr>
          <p:spPr>
            <a:xfrm>
              <a:off x="1639570" y="5347970"/>
              <a:ext cx="1438275" cy="64516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altLang="zh-CN"/>
                <a:t>22% p(</a:t>
              </a:r>
              <a:r>
                <a:rPr lang="en-US" altLang="zh-CN">
                  <a:latin typeface="Arial" panose="020B0604020202020204" pitchFamily="34" charset="0"/>
                  <a:cs typeface="Arial" panose="020B0604020202020204" pitchFamily="34" charset="0"/>
                </a:rPr>
                <a:t>α</a:t>
              </a:r>
              <a:r>
                <a:rPr lang="en-US" altLang="zh-CN"/>
                <a:t>)</a:t>
              </a:r>
              <a:r>
                <a:rPr lang="en-US" altLang="zh-CN">
                  <a:latin typeface="东文宋体" charset="0"/>
                  <a:ea typeface="东文宋体" charset="0"/>
                </a:rPr>
                <a:t>↓,</a:t>
              </a:r>
              <a:r>
                <a:rPr lang="en-US" altLang="zh-CN">
                  <a:latin typeface="Arial" panose="020B0604020202020204" pitchFamily="34" charset="0"/>
                  <a:cs typeface="Arial" panose="020B0604020202020204" pitchFamily="34" charset="0"/>
                </a:rPr>
                <a:t>β</a:t>
              </a:r>
              <a:r>
                <a:rPr lang="en-US" altLang="zh-CN">
                  <a:latin typeface="东文宋体" charset="0"/>
                  <a:ea typeface="东文宋体" charset="0"/>
                  <a:sym typeface="+mn-ea"/>
                </a:rPr>
                <a:t>↓</a:t>
              </a:r>
              <a:endParaRPr lang="zh-CN" altLang="en-US">
                <a:latin typeface="东文宋体" charset="0"/>
                <a:ea typeface="东文宋体" charset="0"/>
                <a:cs typeface="Arial" panose="020B0604020202020204" pitchFamily="34" charset="0"/>
              </a:endParaRPr>
            </a:p>
          </p:txBody>
        </p:sp>
        <p:sp>
          <p:nvSpPr>
            <p:cNvPr id="9" name="文本框 8"/>
            <p:cNvSpPr txBox="1"/>
            <p:nvPr/>
          </p:nvSpPr>
          <p:spPr>
            <a:xfrm>
              <a:off x="4897120" y="5347970"/>
              <a:ext cx="1438275" cy="64516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altLang="zh-CN"/>
                <a:t>30% p(</a:t>
              </a:r>
              <a:r>
                <a:rPr lang="en-US" altLang="zh-CN">
                  <a:latin typeface="Arial" panose="020B0604020202020204" pitchFamily="34" charset="0"/>
                  <a:cs typeface="Arial" panose="020B0604020202020204" pitchFamily="34" charset="0"/>
                </a:rPr>
                <a:t>α</a:t>
              </a:r>
              <a:r>
                <a:rPr lang="en-US" altLang="zh-CN"/>
                <a:t>)</a:t>
              </a:r>
              <a:r>
                <a:rPr lang="en-US" altLang="zh-CN">
                  <a:latin typeface="东文宋体" charset="0"/>
                  <a:ea typeface="东文宋体" charset="0"/>
                  <a:cs typeface="Arial" panose="020B0604020202020204" pitchFamily="34" charset="0"/>
                  <a:sym typeface="+mn-ea"/>
                </a:rPr>
                <a:t>↑</a:t>
              </a:r>
              <a:r>
                <a:rPr lang="en-US" altLang="zh-CN">
                  <a:latin typeface="东文宋体" charset="0"/>
                  <a:ea typeface="东文宋体" charset="0"/>
                </a:rPr>
                <a:t>,</a:t>
              </a:r>
              <a:r>
                <a:rPr lang="en-US" altLang="zh-CN">
                  <a:latin typeface="Arial" panose="020B0604020202020204" pitchFamily="34" charset="0"/>
                  <a:cs typeface="Arial" panose="020B0604020202020204" pitchFamily="34" charset="0"/>
                </a:rPr>
                <a:t>β</a:t>
              </a:r>
              <a:r>
                <a:rPr lang="en-US" altLang="zh-CN">
                  <a:latin typeface="东文宋体" charset="0"/>
                  <a:ea typeface="东文宋体" charset="0"/>
                  <a:sym typeface="+mn-ea"/>
                </a:rPr>
                <a:t>↓</a:t>
              </a:r>
              <a:endParaRPr lang="zh-CN" altLang="en-US">
                <a:latin typeface="东文宋体" charset="0"/>
                <a:ea typeface="东文宋体" charset="0"/>
                <a:cs typeface="Arial" panose="020B0604020202020204" pitchFamily="34" charset="0"/>
              </a:endParaRPr>
            </a:p>
          </p:txBody>
        </p:sp>
        <p:sp>
          <p:nvSpPr>
            <p:cNvPr id="13" name="文本框 12"/>
            <p:cNvSpPr txBox="1"/>
            <p:nvPr/>
          </p:nvSpPr>
          <p:spPr>
            <a:xfrm>
              <a:off x="7593965" y="1859280"/>
              <a:ext cx="1438275" cy="64516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altLang="zh-CN"/>
                <a:t>8% p(</a:t>
              </a:r>
              <a:r>
                <a:rPr lang="en-US" altLang="zh-CN">
                  <a:latin typeface="Arial" panose="020B0604020202020204" pitchFamily="34" charset="0"/>
                  <a:cs typeface="Arial" panose="020B0604020202020204" pitchFamily="34" charset="0"/>
                </a:rPr>
                <a:t>κ</a:t>
              </a:r>
              <a:r>
                <a:rPr lang="en-US" altLang="zh-CN"/>
                <a:t>)</a:t>
              </a:r>
              <a:r>
                <a:rPr lang="en-US" altLang="zh-CN">
                  <a:latin typeface="东文宋体" charset="0"/>
                  <a:ea typeface="东文宋体" charset="0"/>
                </a:rPr>
                <a:t>↓,</a:t>
              </a:r>
              <a:r>
                <a:rPr lang="en-US" altLang="zh-CN">
                  <a:latin typeface="Arial" panose="020B0604020202020204" pitchFamily="34" charset="0"/>
                  <a:cs typeface="Arial" panose="020B0604020202020204" pitchFamily="34" charset="0"/>
                </a:rPr>
                <a:t>δ</a:t>
              </a:r>
              <a:r>
                <a:rPr lang="en-US" altLang="zh-CN">
                  <a:latin typeface="东文宋体" charset="0"/>
                  <a:ea typeface="东文宋体" charset="0"/>
                  <a:cs typeface="Arial" panose="020B0604020202020204" pitchFamily="34" charset="0"/>
                </a:rPr>
                <a:t>↑</a:t>
              </a:r>
              <a:endParaRPr lang="zh-CN" altLang="en-US">
                <a:latin typeface="东文宋体" charset="0"/>
                <a:ea typeface="东文宋体" charset="0"/>
                <a:cs typeface="Arial" panose="020B0604020202020204" pitchFamily="34" charset="0"/>
              </a:endParaRPr>
            </a:p>
          </p:txBody>
        </p:sp>
        <p:sp>
          <p:nvSpPr>
            <p:cNvPr id="23" name="文本框 22"/>
            <p:cNvSpPr txBox="1"/>
            <p:nvPr/>
          </p:nvSpPr>
          <p:spPr>
            <a:xfrm>
              <a:off x="7593965" y="5347970"/>
              <a:ext cx="1438275" cy="64516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altLang="zh-CN"/>
                <a:t>21% p(</a:t>
              </a:r>
              <a:r>
                <a:rPr lang="en-US" altLang="zh-CN">
                  <a:latin typeface="Arial" panose="020B0604020202020204" pitchFamily="34" charset="0"/>
                  <a:cs typeface="Arial" panose="020B0604020202020204" pitchFamily="34" charset="0"/>
                </a:rPr>
                <a:t>κ</a:t>
              </a:r>
              <a:r>
                <a:rPr lang="en-US" altLang="zh-CN"/>
                <a:t>)</a:t>
              </a:r>
              <a:r>
                <a:rPr lang="en-US" altLang="zh-CN">
                  <a:latin typeface="东文宋体" charset="0"/>
                  <a:ea typeface="东文宋体" charset="0"/>
                </a:rPr>
                <a:t>↓,</a:t>
              </a:r>
              <a:r>
                <a:rPr lang="en-US" altLang="zh-CN">
                  <a:latin typeface="Arial" panose="020B0604020202020204" pitchFamily="34" charset="0"/>
                  <a:cs typeface="Arial" panose="020B0604020202020204" pitchFamily="34" charset="0"/>
                </a:rPr>
                <a:t>δ</a:t>
              </a:r>
              <a:r>
                <a:rPr lang="en-US" altLang="zh-CN">
                  <a:latin typeface="东文宋体" charset="0"/>
                  <a:ea typeface="东文宋体" charset="0"/>
                  <a:sym typeface="+mn-ea"/>
                </a:rPr>
                <a:t>↓</a:t>
              </a:r>
              <a:endParaRPr lang="zh-CN" altLang="en-US">
                <a:latin typeface="东文宋体" charset="0"/>
                <a:ea typeface="东文宋体" charset="0"/>
                <a:cs typeface="Arial" panose="020B0604020202020204" pitchFamily="34" charset="0"/>
              </a:endParaRPr>
            </a:p>
          </p:txBody>
        </p:sp>
        <p:sp>
          <p:nvSpPr>
            <p:cNvPr id="25" name="文本框 24"/>
            <p:cNvSpPr txBox="1"/>
            <p:nvPr/>
          </p:nvSpPr>
          <p:spPr>
            <a:xfrm>
              <a:off x="10901680" y="5347970"/>
              <a:ext cx="1438275" cy="64516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altLang="zh-CN"/>
                <a:t>27% p(</a:t>
              </a:r>
              <a:r>
                <a:rPr lang="en-US" altLang="zh-CN">
                  <a:latin typeface="Arial" panose="020B0604020202020204" pitchFamily="34" charset="0"/>
                  <a:cs typeface="Arial" panose="020B0604020202020204" pitchFamily="34" charset="0"/>
                </a:rPr>
                <a:t>κ</a:t>
              </a:r>
              <a:r>
                <a:rPr lang="en-US" altLang="zh-CN"/>
                <a:t>)</a:t>
              </a:r>
              <a:r>
                <a:rPr lang="en-US" altLang="zh-CN">
                  <a:latin typeface="东文宋体" charset="0"/>
                  <a:ea typeface="东文宋体" charset="0"/>
                  <a:cs typeface="Arial" panose="020B0604020202020204" pitchFamily="34" charset="0"/>
                  <a:sym typeface="+mn-ea"/>
                </a:rPr>
                <a:t>↑</a:t>
              </a:r>
              <a:r>
                <a:rPr lang="en-US" altLang="zh-CN">
                  <a:latin typeface="东文宋体" charset="0"/>
                  <a:ea typeface="东文宋体" charset="0"/>
                </a:rPr>
                <a:t>,</a:t>
              </a:r>
              <a:r>
                <a:rPr lang="en-US" altLang="zh-CN">
                  <a:latin typeface="Arial" panose="020B0604020202020204" pitchFamily="34" charset="0"/>
                  <a:cs typeface="Arial" panose="020B0604020202020204" pitchFamily="34" charset="0"/>
                </a:rPr>
                <a:t>δ</a:t>
              </a:r>
              <a:r>
                <a:rPr lang="en-US" altLang="zh-CN">
                  <a:latin typeface="东文宋体" charset="0"/>
                  <a:ea typeface="东文宋体" charset="0"/>
                  <a:sym typeface="+mn-ea"/>
                </a:rPr>
                <a:t>↓</a:t>
              </a:r>
              <a:endParaRPr lang="zh-CN" altLang="en-US">
                <a:latin typeface="东文宋体" charset="0"/>
                <a:ea typeface="东文宋体" charset="0"/>
                <a:cs typeface="Arial" panose="020B0604020202020204" pitchFamily="34" charset="0"/>
              </a:endParaRPr>
            </a:p>
          </p:txBody>
        </p:sp>
        <p:sp>
          <p:nvSpPr>
            <p:cNvPr id="27" name="文本框 26"/>
            <p:cNvSpPr txBox="1"/>
            <p:nvPr/>
          </p:nvSpPr>
          <p:spPr>
            <a:xfrm>
              <a:off x="10901680" y="1859280"/>
              <a:ext cx="1438275" cy="64516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altLang="zh-CN"/>
                <a:t>44% p(</a:t>
              </a:r>
              <a:r>
                <a:rPr lang="en-US" altLang="zh-CN">
                  <a:latin typeface="Arial" panose="020B0604020202020204" pitchFamily="34" charset="0"/>
                  <a:cs typeface="Arial" panose="020B0604020202020204" pitchFamily="34" charset="0"/>
                </a:rPr>
                <a:t>κ</a:t>
              </a:r>
              <a:r>
                <a:rPr lang="en-US" altLang="zh-CN"/>
                <a:t>)</a:t>
              </a:r>
              <a:r>
                <a:rPr lang="en-US" altLang="zh-CN">
                  <a:latin typeface="东文宋体" charset="0"/>
                  <a:ea typeface="东文宋体" charset="0"/>
                  <a:cs typeface="Arial" panose="020B0604020202020204" pitchFamily="34" charset="0"/>
                  <a:sym typeface="+mn-ea"/>
                </a:rPr>
                <a:t>↑</a:t>
              </a:r>
              <a:r>
                <a:rPr lang="en-US" altLang="zh-CN">
                  <a:latin typeface="东文宋体" charset="0"/>
                  <a:ea typeface="东文宋体" charset="0"/>
                </a:rPr>
                <a:t>,</a:t>
              </a:r>
              <a:r>
                <a:rPr lang="en-US" altLang="zh-CN">
                  <a:latin typeface="Arial" panose="020B0604020202020204" pitchFamily="34" charset="0"/>
                  <a:cs typeface="Arial" panose="020B0604020202020204" pitchFamily="34" charset="0"/>
                </a:rPr>
                <a:t>δ</a:t>
              </a:r>
              <a:r>
                <a:rPr lang="en-US" altLang="zh-CN">
                  <a:latin typeface="东文宋体" charset="0"/>
                  <a:ea typeface="东文宋体" charset="0"/>
                  <a:cs typeface="Arial" panose="020B0604020202020204" pitchFamily="34" charset="0"/>
                </a:rPr>
                <a:t>↑</a:t>
              </a:r>
              <a:endParaRPr lang="zh-CN" altLang="en-US">
                <a:latin typeface="东文宋体" charset="0"/>
                <a:ea typeface="东文宋体" charset="0"/>
                <a:cs typeface="Arial" panose="020B0604020202020204" pitchFamily="34" charset="0"/>
              </a:endParaRPr>
            </a:p>
          </p:txBody>
        </p:sp>
      </p:grp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2" name="组合 61"/>
          <p:cNvGrpSpPr/>
          <p:nvPr/>
        </p:nvGrpSpPr>
        <p:grpSpPr>
          <a:xfrm>
            <a:off x="-57150" y="389255"/>
            <a:ext cx="15005050" cy="5993130"/>
            <a:chOff x="-90" y="613"/>
            <a:chExt cx="23630" cy="9438"/>
          </a:xfrm>
        </p:grpSpPr>
        <p:sp>
          <p:nvSpPr>
            <p:cNvPr id="66" name="矩形 65"/>
            <p:cNvSpPr/>
            <p:nvPr/>
          </p:nvSpPr>
          <p:spPr>
            <a:xfrm>
              <a:off x="-90" y="613"/>
              <a:ext cx="23631" cy="9438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pic>
          <p:nvPicPr>
            <p:cNvPr id="2" name="图片 1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-22" y="2588"/>
              <a:ext cx="15122" cy="6309"/>
            </a:xfrm>
            <a:prstGeom prst="rect">
              <a:avLst/>
            </a:prstGeom>
          </p:spPr>
        </p:pic>
        <p:pic>
          <p:nvPicPr>
            <p:cNvPr id="3" name="图片 2"/>
            <p:cNvPicPr>
              <a:picLocks noChangeAspect="1"/>
            </p:cNvPicPr>
            <p:nvPr/>
          </p:nvPicPr>
          <p:blipFill>
            <a:blip r:embed="rId3"/>
            <a:srcRect r="49995"/>
            <a:stretch>
              <a:fillRect/>
            </a:stretch>
          </p:blipFill>
          <p:spPr>
            <a:xfrm>
              <a:off x="15100" y="2617"/>
              <a:ext cx="7526" cy="6280"/>
            </a:xfrm>
            <a:prstGeom prst="rect">
              <a:avLst/>
            </a:prstGeom>
          </p:spPr>
        </p:pic>
        <p:sp>
          <p:nvSpPr>
            <p:cNvPr id="8" name="矩形 7"/>
            <p:cNvSpPr/>
            <p:nvPr/>
          </p:nvSpPr>
          <p:spPr>
            <a:xfrm rot="5400000">
              <a:off x="11994" y="-2399"/>
              <a:ext cx="923" cy="22033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2000"/>
            </a:p>
          </p:txBody>
        </p:sp>
        <p:sp>
          <p:nvSpPr>
            <p:cNvPr id="7" name="矩形 6"/>
            <p:cNvSpPr/>
            <p:nvPr/>
          </p:nvSpPr>
          <p:spPr>
            <a:xfrm>
              <a:off x="223" y="2210"/>
              <a:ext cx="924" cy="730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altLang="zh-CN" sz="2000"/>
            </a:p>
          </p:txBody>
        </p:sp>
        <p:sp>
          <p:nvSpPr>
            <p:cNvPr id="5" name="矩形 4"/>
            <p:cNvSpPr/>
            <p:nvPr/>
          </p:nvSpPr>
          <p:spPr>
            <a:xfrm>
              <a:off x="7567" y="2103"/>
              <a:ext cx="1157" cy="730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altLang="zh-CN" sz="2000"/>
            </a:p>
          </p:txBody>
        </p:sp>
        <p:sp>
          <p:nvSpPr>
            <p:cNvPr id="37" name="文本框 36"/>
            <p:cNvSpPr txBox="1"/>
            <p:nvPr/>
          </p:nvSpPr>
          <p:spPr>
            <a:xfrm>
              <a:off x="4559" y="8234"/>
              <a:ext cx="508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2000"/>
                <a:t>0</a:t>
              </a:r>
            </a:p>
          </p:txBody>
        </p:sp>
        <p:sp>
          <p:nvSpPr>
            <p:cNvPr id="39" name="文本框 38"/>
            <p:cNvSpPr txBox="1"/>
            <p:nvPr/>
          </p:nvSpPr>
          <p:spPr>
            <a:xfrm>
              <a:off x="223" y="7018"/>
              <a:ext cx="925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2000"/>
                <a:t>-0.04</a:t>
              </a:r>
            </a:p>
          </p:txBody>
        </p:sp>
        <p:sp>
          <p:nvSpPr>
            <p:cNvPr id="41" name="文本框 40"/>
            <p:cNvSpPr txBox="1"/>
            <p:nvPr/>
          </p:nvSpPr>
          <p:spPr>
            <a:xfrm>
              <a:off x="1312" y="8234"/>
              <a:ext cx="613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2000"/>
                <a:t>-2</a:t>
              </a:r>
            </a:p>
          </p:txBody>
        </p:sp>
        <p:sp>
          <p:nvSpPr>
            <p:cNvPr id="42" name="文本框 41"/>
            <p:cNvSpPr txBox="1"/>
            <p:nvPr/>
          </p:nvSpPr>
          <p:spPr>
            <a:xfrm>
              <a:off x="6701" y="8234"/>
              <a:ext cx="1315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zh-CN" altLang="en-US" sz="2400"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Δ</a:t>
              </a:r>
              <a:r>
                <a:rPr lang="en-US" altLang="zh-CN" sz="2400" i="1">
                  <a:latin typeface="Arial" panose="020B0604020202020204" pitchFamily="34" charset="0"/>
                  <a:cs typeface="Arial" panose="020B0604020202020204" pitchFamily="34" charset="0"/>
                </a:rPr>
                <a:t>A(m)</a:t>
              </a:r>
              <a:endParaRPr lang="en-US" altLang="zh-CN" sz="2400" i="1">
                <a:latin typeface="Arial" panose="020B0604020202020204" pitchFamily="34" charset="0"/>
                <a:ea typeface="宋体" panose="02010600030101010101" pitchFamily="2" charset="-122"/>
                <a:cs typeface="Arial" panose="020B0604020202020204" pitchFamily="34" charset="0"/>
              </a:endParaRPr>
            </a:p>
          </p:txBody>
        </p:sp>
        <p:sp>
          <p:nvSpPr>
            <p:cNvPr id="9" name="文本框 8"/>
            <p:cNvSpPr txBox="1"/>
            <p:nvPr/>
          </p:nvSpPr>
          <p:spPr>
            <a:xfrm>
              <a:off x="438" y="2355"/>
              <a:ext cx="733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zh-CN" altLang="en-US" sz="2400"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Δ</a:t>
              </a:r>
              <a:r>
                <a:rPr lang="en-US" altLang="zh-CN" sz="2400" i="1">
                  <a:latin typeface="Arial" panose="020B0604020202020204" pitchFamily="34" charset="0"/>
                  <a:cs typeface="Arial" panose="020B0604020202020204" pitchFamily="34" charset="0"/>
                </a:rPr>
                <a:t>B</a:t>
              </a:r>
            </a:p>
          </p:txBody>
        </p:sp>
        <p:sp>
          <p:nvSpPr>
            <p:cNvPr id="11" name="文本框 10"/>
            <p:cNvSpPr txBox="1"/>
            <p:nvPr/>
          </p:nvSpPr>
          <p:spPr>
            <a:xfrm>
              <a:off x="551" y="5535"/>
              <a:ext cx="530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2000"/>
                <a:t>0</a:t>
              </a:r>
            </a:p>
          </p:txBody>
        </p:sp>
        <p:sp>
          <p:nvSpPr>
            <p:cNvPr id="12" name="文本框 11"/>
            <p:cNvSpPr txBox="1"/>
            <p:nvPr/>
          </p:nvSpPr>
          <p:spPr>
            <a:xfrm>
              <a:off x="320" y="4111"/>
              <a:ext cx="828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2000">
                  <a:ea typeface="宋体" panose="02010600030101010101" pitchFamily="2" charset="-122"/>
                </a:rPr>
                <a:t>0.04</a:t>
              </a:r>
            </a:p>
          </p:txBody>
        </p:sp>
        <p:sp>
          <p:nvSpPr>
            <p:cNvPr id="14" name="文本框 13"/>
            <p:cNvSpPr txBox="1"/>
            <p:nvPr/>
          </p:nvSpPr>
          <p:spPr>
            <a:xfrm>
              <a:off x="9197" y="8156"/>
              <a:ext cx="1103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2000"/>
                <a:t>-0.04</a:t>
              </a:r>
            </a:p>
          </p:txBody>
        </p:sp>
        <p:sp>
          <p:nvSpPr>
            <p:cNvPr id="15" name="文本框 14"/>
            <p:cNvSpPr txBox="1"/>
            <p:nvPr/>
          </p:nvSpPr>
          <p:spPr>
            <a:xfrm>
              <a:off x="12792" y="8156"/>
              <a:ext cx="843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2000"/>
                <a:t>0.04</a:t>
              </a:r>
            </a:p>
          </p:txBody>
        </p:sp>
        <p:sp>
          <p:nvSpPr>
            <p:cNvPr id="16" name="文本框 15"/>
            <p:cNvSpPr txBox="1"/>
            <p:nvPr/>
          </p:nvSpPr>
          <p:spPr>
            <a:xfrm>
              <a:off x="14077" y="8156"/>
              <a:ext cx="1315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zh-CN" altLang="en-US" sz="2400"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Δ</a:t>
              </a:r>
              <a:r>
                <a:rPr lang="en-US" altLang="zh-CN" sz="2400" i="1">
                  <a:latin typeface="Arial" panose="020B0604020202020204" pitchFamily="34" charset="0"/>
                  <a:cs typeface="Arial" panose="020B0604020202020204" pitchFamily="34" charset="0"/>
                </a:rPr>
                <a:t>B</a:t>
              </a:r>
              <a:endParaRPr lang="en-US" altLang="zh-CN" sz="2400" i="1">
                <a:latin typeface="Arial" panose="020B0604020202020204" pitchFamily="34" charset="0"/>
                <a:ea typeface="宋体" panose="02010600030101010101" pitchFamily="2" charset="-122"/>
                <a:cs typeface="Arial" panose="020B0604020202020204" pitchFamily="34" charset="0"/>
              </a:endParaRPr>
            </a:p>
          </p:txBody>
        </p:sp>
        <p:sp>
          <p:nvSpPr>
            <p:cNvPr id="17" name="文本框 16"/>
            <p:cNvSpPr txBox="1"/>
            <p:nvPr/>
          </p:nvSpPr>
          <p:spPr>
            <a:xfrm>
              <a:off x="7847" y="2274"/>
              <a:ext cx="963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zh-CN" altLang="en-US" sz="2400"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Δ</a:t>
              </a:r>
              <a:r>
                <a:rPr lang="en-US" altLang="zh-CN" sz="2400" i="1">
                  <a:latin typeface="Arial" panose="020B0604020202020204" pitchFamily="34" charset="0"/>
                  <a:cs typeface="Arial" panose="020B0604020202020204" pitchFamily="34" charset="0"/>
                </a:rPr>
                <a:t>C</a:t>
              </a:r>
            </a:p>
          </p:txBody>
        </p:sp>
        <p:sp>
          <p:nvSpPr>
            <p:cNvPr id="18" name="文本框 17"/>
            <p:cNvSpPr txBox="1"/>
            <p:nvPr/>
          </p:nvSpPr>
          <p:spPr>
            <a:xfrm>
              <a:off x="11385" y="8156"/>
              <a:ext cx="265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r>
                <a:rPr lang="en-US" altLang="zh-CN" sz="2000"/>
                <a:t>0</a:t>
              </a:r>
            </a:p>
          </p:txBody>
        </p:sp>
        <p:sp>
          <p:nvSpPr>
            <p:cNvPr id="21" name="文本框 20"/>
            <p:cNvSpPr txBox="1"/>
            <p:nvPr/>
          </p:nvSpPr>
          <p:spPr>
            <a:xfrm>
              <a:off x="7674" y="5123"/>
              <a:ext cx="1103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2000"/>
                <a:t>0</a:t>
              </a:r>
            </a:p>
          </p:txBody>
        </p:sp>
        <p:sp>
          <p:nvSpPr>
            <p:cNvPr id="23" name="文本框 22"/>
            <p:cNvSpPr txBox="1"/>
            <p:nvPr/>
          </p:nvSpPr>
          <p:spPr>
            <a:xfrm>
              <a:off x="7259" y="6437"/>
              <a:ext cx="1416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/>
                <a:t>-0.005</a:t>
              </a:r>
            </a:p>
          </p:txBody>
        </p:sp>
        <p:sp>
          <p:nvSpPr>
            <p:cNvPr id="24" name="文本框 23"/>
            <p:cNvSpPr txBox="1"/>
            <p:nvPr/>
          </p:nvSpPr>
          <p:spPr>
            <a:xfrm>
              <a:off x="7573" y="3696"/>
              <a:ext cx="1103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/>
                <a:t>0.005</a:t>
              </a:r>
            </a:p>
          </p:txBody>
        </p:sp>
        <p:sp>
          <p:nvSpPr>
            <p:cNvPr id="28" name="文本框 27"/>
            <p:cNvSpPr txBox="1"/>
            <p:nvPr/>
          </p:nvSpPr>
          <p:spPr>
            <a:xfrm>
              <a:off x="22027" y="8234"/>
              <a:ext cx="1315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zh-CN" altLang="en-US" sz="2400"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Δ</a:t>
              </a:r>
              <a:r>
                <a:rPr lang="en-US" altLang="zh-CN" sz="2400" i="1">
                  <a:latin typeface="Arial" panose="020B0604020202020204" pitchFamily="34" charset="0"/>
                  <a:cs typeface="Arial" panose="020B0604020202020204" pitchFamily="34" charset="0"/>
                </a:rPr>
                <a:t>A(m)</a:t>
              </a:r>
              <a:endParaRPr lang="en-US" altLang="zh-CN" sz="2400" i="1">
                <a:latin typeface="Arial" panose="020B0604020202020204" pitchFamily="34" charset="0"/>
                <a:ea typeface="宋体" panose="02010600030101010101" pitchFamily="2" charset="-122"/>
                <a:cs typeface="Arial" panose="020B0604020202020204" pitchFamily="34" charset="0"/>
              </a:endParaRPr>
            </a:p>
          </p:txBody>
        </p:sp>
        <p:sp>
          <p:nvSpPr>
            <p:cNvPr id="20" name="文本框 19"/>
            <p:cNvSpPr txBox="1"/>
            <p:nvPr/>
          </p:nvSpPr>
          <p:spPr>
            <a:xfrm>
              <a:off x="15100" y="2263"/>
              <a:ext cx="999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zh-CN" altLang="en-US" sz="2400"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Δ</a:t>
              </a:r>
              <a:r>
                <a:rPr lang="en-US" altLang="zh-CN" sz="2400" i="1">
                  <a:latin typeface="Arial" panose="020B0604020202020204" pitchFamily="34" charset="0"/>
                  <a:cs typeface="Arial" panose="020B0604020202020204" pitchFamily="34" charset="0"/>
                </a:rPr>
                <a:t>C</a:t>
              </a:r>
            </a:p>
          </p:txBody>
        </p:sp>
        <p:sp>
          <p:nvSpPr>
            <p:cNvPr id="36" name="文本框 35"/>
            <p:cNvSpPr txBox="1"/>
            <p:nvPr/>
          </p:nvSpPr>
          <p:spPr>
            <a:xfrm>
              <a:off x="2988" y="8234"/>
              <a:ext cx="508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2000"/>
                <a:t>-1</a:t>
              </a:r>
            </a:p>
          </p:txBody>
        </p:sp>
        <p:sp>
          <p:nvSpPr>
            <p:cNvPr id="38" name="文本框 37"/>
            <p:cNvSpPr txBox="1"/>
            <p:nvPr/>
          </p:nvSpPr>
          <p:spPr>
            <a:xfrm>
              <a:off x="6130" y="8234"/>
              <a:ext cx="508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2000"/>
                <a:t>1</a:t>
              </a:r>
            </a:p>
          </p:txBody>
        </p:sp>
        <p:sp>
          <p:nvSpPr>
            <p:cNvPr id="46" name="矩形 45"/>
            <p:cNvSpPr/>
            <p:nvPr/>
          </p:nvSpPr>
          <p:spPr>
            <a:xfrm>
              <a:off x="15141" y="2103"/>
              <a:ext cx="1157" cy="730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altLang="zh-CN" sz="2000"/>
            </a:p>
          </p:txBody>
        </p:sp>
        <p:sp>
          <p:nvSpPr>
            <p:cNvPr id="47" name="文本框 46"/>
            <p:cNvSpPr txBox="1"/>
            <p:nvPr/>
          </p:nvSpPr>
          <p:spPr>
            <a:xfrm>
              <a:off x="15248" y="5123"/>
              <a:ext cx="1103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2000"/>
                <a:t>0</a:t>
              </a:r>
            </a:p>
          </p:txBody>
        </p:sp>
        <p:sp>
          <p:nvSpPr>
            <p:cNvPr id="48" name="文本框 47"/>
            <p:cNvSpPr txBox="1"/>
            <p:nvPr/>
          </p:nvSpPr>
          <p:spPr>
            <a:xfrm>
              <a:off x="14833" y="6437"/>
              <a:ext cx="1416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/>
                <a:t>-0.005</a:t>
              </a:r>
            </a:p>
          </p:txBody>
        </p:sp>
        <p:sp>
          <p:nvSpPr>
            <p:cNvPr id="49" name="文本框 48"/>
            <p:cNvSpPr txBox="1"/>
            <p:nvPr/>
          </p:nvSpPr>
          <p:spPr>
            <a:xfrm>
              <a:off x="15147" y="3696"/>
              <a:ext cx="1103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/>
                <a:t>0.005</a:t>
              </a:r>
            </a:p>
          </p:txBody>
        </p:sp>
        <p:sp>
          <p:nvSpPr>
            <p:cNvPr id="50" name="文本框 49"/>
            <p:cNvSpPr txBox="1"/>
            <p:nvPr/>
          </p:nvSpPr>
          <p:spPr>
            <a:xfrm>
              <a:off x="19716" y="8234"/>
              <a:ext cx="508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2000"/>
                <a:t>0</a:t>
              </a:r>
            </a:p>
          </p:txBody>
        </p:sp>
        <p:sp>
          <p:nvSpPr>
            <p:cNvPr id="51" name="文本框 50"/>
            <p:cNvSpPr txBox="1"/>
            <p:nvPr/>
          </p:nvSpPr>
          <p:spPr>
            <a:xfrm>
              <a:off x="16469" y="8234"/>
              <a:ext cx="613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2000"/>
                <a:t>-2</a:t>
              </a:r>
            </a:p>
          </p:txBody>
        </p:sp>
        <p:sp>
          <p:nvSpPr>
            <p:cNvPr id="52" name="文本框 51"/>
            <p:cNvSpPr txBox="1"/>
            <p:nvPr/>
          </p:nvSpPr>
          <p:spPr>
            <a:xfrm>
              <a:off x="18145" y="8234"/>
              <a:ext cx="508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2000"/>
                <a:t>-1</a:t>
              </a:r>
            </a:p>
          </p:txBody>
        </p:sp>
        <p:sp>
          <p:nvSpPr>
            <p:cNvPr id="53" name="文本框 52"/>
            <p:cNvSpPr txBox="1"/>
            <p:nvPr/>
          </p:nvSpPr>
          <p:spPr>
            <a:xfrm>
              <a:off x="21287" y="8234"/>
              <a:ext cx="508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2000"/>
                <a:t>1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" name="文本框 54"/>
                <p:cNvSpPr txBox="1"/>
                <p:nvPr/>
              </p:nvSpPr>
              <p:spPr>
                <a:xfrm>
                  <a:off x="4785" y="784"/>
                  <a:ext cx="12486" cy="147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altLang="zh-CN" sz="2800">
                      <a:latin typeface="Arial" panose="020B0604020202020204" pitchFamily="34" charset="0"/>
                      <a:cs typeface="Arial" panose="020B0604020202020204" pitchFamily="34" charset="0"/>
                    </a:rPr>
                    <a:t>Change of Vertical Params</a:t>
                  </a:r>
                </a:p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sz="28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𝐻</m:t>
                        </m:r>
                        <m:r>
                          <a:rPr lang="en-US" altLang="zh-CN" sz="28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altLang="zh-CN" sz="28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𝑟</m:t>
                        </m:r>
                        <m:r>
                          <a:rPr lang="en-US" altLang="zh-CN" sz="28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)=</m:t>
                        </m:r>
                        <m:r>
                          <a:rPr lang="en-US" altLang="zh-CN" sz="28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𝐴</m:t>
                        </m:r>
                        <m:r>
                          <a:rPr lang="en-US" altLang="zh-CN" sz="28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∙</m:t>
                        </m:r>
                        <m:r>
                          <a:rPr lang="en-US" altLang="zh-CN" sz="28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𝑒𝑥𝑝</m:t>
                        </m:r>
                        <m:r>
                          <a:rPr lang="en-US" altLang="zh-CN" sz="28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altLang="zh-CN" sz="28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𝐵𝑟</m:t>
                        </m:r>
                        <m:r>
                          <a:rPr lang="en-US" altLang="zh-CN" sz="28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+</m:t>
                        </m:r>
                        <m:r>
                          <a:rPr lang="en-US" altLang="zh-CN" sz="28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𝐶</m:t>
                        </m:r>
                        <m:sSup>
                          <m:sSupPr>
                            <m:ctrlPr>
                              <a:rPr lang="en-US" altLang="zh-CN" sz="2800" i="1">
                                <a:latin typeface="Cambria Math" panose="02040503050406030204" pitchFamily="18" charset="0"/>
                                <a:cs typeface="Cambria Math" panose="02040503050406030204" charset="0"/>
                              </a:rPr>
                            </m:ctrlPr>
                          </m:sSupPr>
                          <m:e>
                            <m:r>
                              <a:rPr lang="en-US" altLang="zh-CN" sz="2800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en-US" altLang="zh-CN" sz="2800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2</m:t>
                            </m:r>
                          </m:sup>
                        </m:sSup>
                        <m:r>
                          <a:rPr lang="en-US" altLang="zh-CN" sz="2800" i="1">
                            <a:latin typeface="Cambria Math" panose="02040503050406030204" charset="0"/>
                            <a:ea typeface="MS Mincho" charset="0"/>
                            <a:cs typeface="Cambria Math" panose="02040503050406030204" charset="0"/>
                          </a:rPr>
                          <m:t>)</m:t>
                        </m:r>
                      </m:oMath>
                    </m:oMathPara>
                  </a14:m>
                  <a:endParaRPr lang="en-US" altLang="zh-CN" sz="2800" i="1">
                    <a:latin typeface="Cambria Math" panose="02040503050406030204" charset="0"/>
                    <a:cs typeface="Cambria Math" panose="02040503050406030204" charset="0"/>
                  </a:endParaRPr>
                </a:p>
              </p:txBody>
            </p:sp>
          </mc:Choice>
          <mc:Fallback xmlns="">
            <p:sp>
              <p:nvSpPr>
                <p:cNvPr id="55" name="文本框 54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785" y="784"/>
                  <a:ext cx="12486" cy="1479"/>
                </a:xfrm>
                <a:prstGeom prst="rect">
                  <a:avLst/>
                </a:prstGeom>
                <a:blipFill rotWithShape="1">
                  <a:blip r:embed="rId4"/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6" name="文本框 55"/>
            <p:cNvSpPr txBox="1"/>
            <p:nvPr/>
          </p:nvSpPr>
          <p:spPr>
            <a:xfrm>
              <a:off x="13635" y="9199"/>
              <a:ext cx="2540" cy="58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/>
                <a:t>Latin America</a:t>
              </a:r>
            </a:p>
          </p:txBody>
        </p:sp>
        <p:sp>
          <p:nvSpPr>
            <p:cNvPr id="57" name="文本框 56"/>
            <p:cNvSpPr txBox="1"/>
            <p:nvPr/>
          </p:nvSpPr>
          <p:spPr>
            <a:xfrm>
              <a:off x="7483" y="9235"/>
              <a:ext cx="1310" cy="58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/>
                <a:t>Africa</a:t>
              </a:r>
            </a:p>
          </p:txBody>
        </p:sp>
        <p:sp>
          <p:nvSpPr>
            <p:cNvPr id="58" name="文本框 57"/>
            <p:cNvSpPr txBox="1"/>
            <p:nvPr/>
          </p:nvSpPr>
          <p:spPr>
            <a:xfrm>
              <a:off x="9164" y="9222"/>
              <a:ext cx="4471" cy="58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/>
                <a:t>South&amp;South-east Asia</a:t>
              </a:r>
            </a:p>
          </p:txBody>
        </p:sp>
        <p:sp>
          <p:nvSpPr>
            <p:cNvPr id="59" name="上箭头 58"/>
            <p:cNvSpPr/>
            <p:nvPr/>
          </p:nvSpPr>
          <p:spPr>
            <a:xfrm>
              <a:off x="13345" y="9154"/>
              <a:ext cx="290" cy="651"/>
            </a:xfrm>
            <a:prstGeom prst="upArrow">
              <a:avLst>
                <a:gd name="adj1" fmla="val 50000"/>
                <a:gd name="adj2" fmla="val 101034"/>
              </a:avLst>
            </a:prstGeom>
            <a:solidFill>
              <a:srgbClr val="47A2DE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2000"/>
            </a:p>
          </p:txBody>
        </p:sp>
        <p:sp>
          <p:nvSpPr>
            <p:cNvPr id="60" name="上箭头 59"/>
            <p:cNvSpPr/>
            <p:nvPr/>
          </p:nvSpPr>
          <p:spPr>
            <a:xfrm>
              <a:off x="7276" y="9167"/>
              <a:ext cx="290" cy="651"/>
            </a:xfrm>
            <a:prstGeom prst="upArrow">
              <a:avLst>
                <a:gd name="adj1" fmla="val 50000"/>
                <a:gd name="adj2" fmla="val 93103"/>
              </a:avLst>
            </a:prstGeom>
            <a:solidFill>
              <a:srgbClr val="E85748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2000">
                <a:solidFill>
                  <a:srgbClr val="9467BD"/>
                </a:solidFill>
              </a:endParaRPr>
            </a:p>
          </p:txBody>
        </p:sp>
        <p:sp>
          <p:nvSpPr>
            <p:cNvPr id="61" name="上箭头 60"/>
            <p:cNvSpPr/>
            <p:nvPr/>
          </p:nvSpPr>
          <p:spPr>
            <a:xfrm>
              <a:off x="8962" y="9154"/>
              <a:ext cx="290" cy="651"/>
            </a:xfrm>
            <a:prstGeom prst="upArrow">
              <a:avLst>
                <a:gd name="adj1" fmla="val 50000"/>
                <a:gd name="adj2" fmla="val 108620"/>
              </a:avLst>
            </a:prstGeom>
            <a:solidFill>
              <a:srgbClr val="F39F1B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2000"/>
            </a:p>
          </p:txBody>
        </p:sp>
      </p:grpSp>
      <p:sp>
        <p:nvSpPr>
          <p:cNvPr id="4" name="文本框 3"/>
          <p:cNvSpPr txBox="1"/>
          <p:nvPr/>
        </p:nvSpPr>
        <p:spPr>
          <a:xfrm>
            <a:off x="5938520" y="1758950"/>
            <a:ext cx="126111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>
                <a:latin typeface="Arial" panose="020B0604020202020204" pitchFamily="34" charset="0"/>
                <a:cs typeface="Arial" panose="020B0604020202020204" pitchFamily="34" charset="0"/>
              </a:rPr>
              <a:t>52% B</a:t>
            </a:r>
            <a:r>
              <a:rPr lang="en-US" altLang="zh-CN">
                <a:latin typeface="Arial" panose="020B0604020202020204" pitchFamily="34" charset="0"/>
                <a:ea typeface="东文宋体" charset="0"/>
                <a:cs typeface="Arial" panose="020B0604020202020204" pitchFamily="34" charset="0"/>
              </a:rPr>
              <a:t>↓C↑</a:t>
            </a:r>
          </a:p>
        </p:txBody>
      </p:sp>
      <p:cxnSp>
        <p:nvCxnSpPr>
          <p:cNvPr id="6" name="直接连接符 5"/>
          <p:cNvCxnSpPr/>
          <p:nvPr/>
        </p:nvCxnSpPr>
        <p:spPr>
          <a:xfrm>
            <a:off x="774700" y="3656330"/>
            <a:ext cx="3915410" cy="0"/>
          </a:xfrm>
          <a:prstGeom prst="line">
            <a:avLst/>
          </a:prstGeom>
          <a:ln w="19050">
            <a:solidFill>
              <a:schemeClr val="tx1">
                <a:lumMod val="50000"/>
                <a:lumOff val="50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0" name="直接连接符 9"/>
          <p:cNvCxnSpPr/>
          <p:nvPr/>
        </p:nvCxnSpPr>
        <p:spPr>
          <a:xfrm>
            <a:off x="3068955" y="1648460"/>
            <a:ext cx="0" cy="3529965"/>
          </a:xfrm>
          <a:prstGeom prst="line">
            <a:avLst/>
          </a:prstGeom>
          <a:ln w="19050">
            <a:solidFill>
              <a:schemeClr val="tx1">
                <a:lumMod val="50000"/>
                <a:lumOff val="50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2" name="直接连接符 21"/>
          <p:cNvCxnSpPr/>
          <p:nvPr/>
        </p:nvCxnSpPr>
        <p:spPr>
          <a:xfrm>
            <a:off x="5549900" y="3360420"/>
            <a:ext cx="3915410" cy="0"/>
          </a:xfrm>
          <a:prstGeom prst="line">
            <a:avLst/>
          </a:prstGeom>
          <a:ln w="19050">
            <a:solidFill>
              <a:schemeClr val="tx1">
                <a:lumMod val="50000"/>
                <a:lumOff val="50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5" name="直接连接符 24"/>
          <p:cNvCxnSpPr/>
          <p:nvPr/>
        </p:nvCxnSpPr>
        <p:spPr>
          <a:xfrm>
            <a:off x="7313295" y="1657985"/>
            <a:ext cx="0" cy="3529965"/>
          </a:xfrm>
          <a:prstGeom prst="line">
            <a:avLst/>
          </a:prstGeom>
          <a:ln w="19050">
            <a:solidFill>
              <a:schemeClr val="tx1">
                <a:lumMod val="50000"/>
                <a:lumOff val="50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6" name="直接连接符 25"/>
          <p:cNvCxnSpPr/>
          <p:nvPr/>
        </p:nvCxnSpPr>
        <p:spPr>
          <a:xfrm>
            <a:off x="10371455" y="3392805"/>
            <a:ext cx="3915410" cy="0"/>
          </a:xfrm>
          <a:prstGeom prst="line">
            <a:avLst/>
          </a:prstGeom>
          <a:ln w="19050">
            <a:solidFill>
              <a:schemeClr val="tx1">
                <a:lumMod val="50000"/>
                <a:lumOff val="50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7" name="直接连接符 26"/>
          <p:cNvCxnSpPr/>
          <p:nvPr/>
        </p:nvCxnSpPr>
        <p:spPr>
          <a:xfrm>
            <a:off x="12680950" y="1707515"/>
            <a:ext cx="0" cy="3529965"/>
          </a:xfrm>
          <a:prstGeom prst="line">
            <a:avLst/>
          </a:prstGeom>
          <a:ln w="19050">
            <a:solidFill>
              <a:schemeClr val="tx1">
                <a:lumMod val="50000"/>
                <a:lumOff val="50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29" name="文本框 28"/>
          <p:cNvSpPr txBox="1"/>
          <p:nvPr/>
        </p:nvSpPr>
        <p:spPr>
          <a:xfrm>
            <a:off x="8204200" y="3409950"/>
            <a:ext cx="126111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>
                <a:latin typeface="Arial" panose="020B0604020202020204" pitchFamily="34" charset="0"/>
                <a:cs typeface="Arial" panose="020B0604020202020204" pitchFamily="34" charset="0"/>
              </a:rPr>
              <a:t>52% B</a:t>
            </a:r>
            <a:r>
              <a:rPr lang="en-US" altLang="zh-CN">
                <a:latin typeface="Arial" panose="020B0604020202020204" pitchFamily="34" charset="0"/>
                <a:ea typeface="东文宋体" charset="0"/>
                <a:cs typeface="Arial" panose="020B0604020202020204" pitchFamily="34" charset="0"/>
              </a:rPr>
              <a:t>↓C↑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32" name="表格 31"/>
              <p:cNvGraphicFramePr/>
              <p:nvPr>
                <p:custDataLst>
                  <p:tags r:id="rId1"/>
                </p:custDataLst>
              </p:nvPr>
            </p:nvGraphicFramePr>
            <p:xfrm>
              <a:off x="9721215" y="9970770"/>
              <a:ext cx="3513455" cy="2407920"/>
            </p:xfrm>
            <a:graphic>
              <a:graphicData uri="http://schemas.openxmlformats.org/drawingml/2006/table">
                <a:tbl>
                  <a:tblPr firstRow="1">
                    <a:tableStyleId>{9D7B26C5-4107-4FEC-AEDC-1716B250A1EF}</a:tableStyleId>
                  </a:tblPr>
                  <a:tblGrid>
                    <a:gridCol w="965200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1395095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  <a:gridCol w="1153160">
                      <a:extLst>
                        <a:ext uri="{9D8B030D-6E8A-4147-A177-3AD203B41FA5}">
                          <a16:colId xmlns:a16="http://schemas.microsoft.com/office/drawing/2014/main" val="20002"/>
                        </a:ext>
                      </a:extLst>
                    </a:gridCol>
                  </a:tblGrid>
                  <a:tr h="274320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800"/>
                            <a:t>ΔParam</a:t>
                          </a:r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800"/>
                            <a:t>Significance</a:t>
                          </a:r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800"/>
                            <a:t>Sign</a:t>
                          </a:r>
                        </a:p>
                      </a:txBody>
                      <a:tcPr marL="0" marR="0" marT="0" marB="0"/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304800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 xmlns:m="http://schemas.openxmlformats.org/officeDocument/2006/math">
                                <m:r>
                                  <a:rPr lang="en-US" altLang="zh-CN" sz="2000">
                                    <a:latin typeface="Cambria Math" panose="02040503050406030204" charset="0"/>
                                    <a:ea typeface="MS Mincho" charset="0"/>
                                    <a:cs typeface="Cambria Math" panose="02040503050406030204" charset="0"/>
                                  </a:rPr>
                                  <m:t>∆</m:t>
                                </m:r>
                                <m:r>
                                  <a:rPr lang="en-US" altLang="zh-CN" sz="2000">
                                    <a:latin typeface="Cambria Math" panose="02040503050406030204" charset="0"/>
                                    <a:ea typeface="MS Mincho" charset="0"/>
                                    <a:cs typeface="Cambria Math" panose="02040503050406030204" charset="0"/>
                                  </a:rPr>
                                  <m:t>𝛼</m:t>
                                </m:r>
                              </m:oMath>
                            </m:oMathPara>
                          </a14:m>
                          <a:endParaRPr lang="en-US" altLang="zh-CN" sz="2000">
                            <a:latin typeface="Cambria Math" panose="02040503050406030204" charset="0"/>
                            <a:ea typeface="MS Mincho" charset="0"/>
                            <a:cs typeface="Cambria Math" panose="02040503050406030204" charset="0"/>
                          </a:endParaRPr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800"/>
                            <a:t>***</a:t>
                          </a:r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800"/>
                            <a:t>-</a:t>
                          </a:r>
                        </a:p>
                      </a:txBody>
                      <a:tcPr marL="0" marR="0" marT="0" marB="0"/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304800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 xmlns:m="http://schemas.openxmlformats.org/officeDocument/2006/math">
                                <m:r>
                                  <a:rPr lang="en-US" altLang="zh-CN" sz="2000">
                                    <a:latin typeface="Cambria Math" panose="02040503050406030204" charset="0"/>
                                    <a:ea typeface="MS Mincho" charset="0"/>
                                    <a:cs typeface="Cambria Math" panose="02040503050406030204" charset="0"/>
                                  </a:rPr>
                                  <m:t>∆</m:t>
                                </m:r>
                                <m:r>
                                  <a:rPr lang="en-US" altLang="zh-CN" sz="2000">
                                    <a:latin typeface="Cambria Math" panose="02040503050406030204" charset="0"/>
                                    <a:ea typeface="MS Mincho" charset="0"/>
                                    <a:cs typeface="Cambria Math" panose="02040503050406030204" charset="0"/>
                                  </a:rPr>
                                  <m:t>𝛽</m:t>
                                </m:r>
                              </m:oMath>
                            </m:oMathPara>
                          </a14:m>
                          <a:endParaRPr lang="en-US" altLang="zh-CN" sz="2000">
                            <a:latin typeface="Cambria Math" panose="02040503050406030204" charset="0"/>
                            <a:ea typeface="MS Mincho" charset="0"/>
                            <a:cs typeface="Cambria Math" panose="02040503050406030204" charset="0"/>
                          </a:endParaRPr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800"/>
                            <a:t>***</a:t>
                          </a:r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800"/>
                            <a:t>+</a:t>
                          </a:r>
                        </a:p>
                      </a:txBody>
                      <a:tcPr marL="0" marR="0" marT="0" marB="0"/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  <a:tr h="304800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 xmlns:m="http://schemas.openxmlformats.org/officeDocument/2006/math">
                                <m:r>
                                  <a:rPr lang="en-US" altLang="zh-CN" sz="2000">
                                    <a:latin typeface="Cambria Math" panose="02040503050406030204" charset="0"/>
                                    <a:ea typeface="MS Mincho" charset="0"/>
                                    <a:cs typeface="Cambria Math" panose="02040503050406030204" charset="0"/>
                                  </a:rPr>
                                  <m:t>∆</m:t>
                                </m:r>
                                <m:r>
                                  <a:rPr lang="en-US" altLang="zh-CN" sz="2000">
                                    <a:latin typeface="Cambria Math" panose="02040503050406030204" charset="0"/>
                                    <a:ea typeface="MS Mincho" charset="0"/>
                                    <a:cs typeface="Cambria Math" panose="02040503050406030204" charset="0"/>
                                  </a:rPr>
                                  <m:t>𝜅</m:t>
                                </m:r>
                              </m:oMath>
                            </m:oMathPara>
                          </a14:m>
                          <a:endParaRPr lang="en-US" altLang="zh-CN" sz="2000">
                            <a:latin typeface="Cambria Math" panose="02040503050406030204" charset="0"/>
                            <a:ea typeface="MS Mincho" charset="0"/>
                            <a:cs typeface="Cambria Math" panose="02040503050406030204" charset="0"/>
                          </a:endParaRPr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800"/>
                            <a:t>***</a:t>
                          </a:r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800"/>
                            <a:t>+</a:t>
                          </a:r>
                        </a:p>
                      </a:txBody>
                      <a:tcPr marL="0" marR="0" marT="0" marB="0"/>
                    </a:tc>
                    <a:extLst>
                      <a:ext uri="{0D108BD9-81ED-4DB2-BD59-A6C34878D82A}">
                        <a16:rowId xmlns:a16="http://schemas.microsoft.com/office/drawing/2014/main" val="10003"/>
                      </a:ext>
                    </a:extLst>
                  </a:tr>
                  <a:tr h="304800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 xmlns:m="http://schemas.openxmlformats.org/officeDocument/2006/math">
                                <m:r>
                                  <a:rPr lang="en-US" altLang="zh-CN" sz="2000">
                                    <a:latin typeface="Cambria Math" panose="02040503050406030204" charset="0"/>
                                    <a:ea typeface="MS Mincho" charset="0"/>
                                    <a:cs typeface="Cambria Math" panose="02040503050406030204" charset="0"/>
                                  </a:rPr>
                                  <m:t>∆</m:t>
                                </m:r>
                                <m:r>
                                  <a:rPr lang="en-US" altLang="zh-CN" sz="2000">
                                    <a:latin typeface="Cambria Math" panose="02040503050406030204" charset="0"/>
                                    <a:ea typeface="MS Mincho" charset="0"/>
                                    <a:cs typeface="Cambria Math" panose="02040503050406030204" charset="0"/>
                                  </a:rPr>
                                  <m:t>𝛿</m:t>
                                </m:r>
                              </m:oMath>
                            </m:oMathPara>
                          </a14:m>
                          <a:endParaRPr lang="en-US" altLang="zh-CN" sz="2000">
                            <a:latin typeface="Cambria Math" panose="02040503050406030204" charset="0"/>
                            <a:ea typeface="MS Mincho" charset="0"/>
                            <a:cs typeface="Cambria Math" panose="02040503050406030204" charset="0"/>
                          </a:endParaRPr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800"/>
                            <a:t>***</a:t>
                          </a:r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800"/>
                            <a:t>-</a:t>
                          </a:r>
                        </a:p>
                      </a:txBody>
                      <a:tcPr marL="0" marR="0" marT="0" marB="0"/>
                    </a:tc>
                    <a:extLst>
                      <a:ext uri="{0D108BD9-81ED-4DB2-BD59-A6C34878D82A}">
                        <a16:rowId xmlns:a16="http://schemas.microsoft.com/office/drawing/2014/main" val="10004"/>
                      </a:ext>
                    </a:extLst>
                  </a:tr>
                  <a:tr h="304800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 xmlns:m="http://schemas.openxmlformats.org/officeDocument/2006/math">
                                <m:r>
                                  <a:rPr lang="en-US" altLang="zh-CN" sz="2000">
                                    <a:latin typeface="Cambria Math" panose="02040503050406030204" charset="0"/>
                                    <a:ea typeface="MS Mincho" charset="0"/>
                                    <a:cs typeface="Cambria Math" panose="02040503050406030204" charset="0"/>
                                  </a:rPr>
                                  <m:t>∆</m:t>
                                </m:r>
                                <m:r>
                                  <a:rPr lang="en-US" altLang="zh-CN" sz="2000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𝐴</m:t>
                                </m:r>
                              </m:oMath>
                            </m:oMathPara>
                          </a14:m>
                          <a:endParaRPr lang="en-US" altLang="zh-CN" sz="2000">
                            <a:latin typeface="Cambria Math" panose="02040503050406030204" charset="0"/>
                            <a:cs typeface="Cambria Math" panose="02040503050406030204" charset="0"/>
                          </a:endParaRPr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400"/>
                            <a:t>not significant</a:t>
                          </a:r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400">
                              <a:sym typeface="+mn-ea"/>
                            </a:rPr>
                            <a:t>not significant</a:t>
                          </a:r>
                        </a:p>
                      </a:txBody>
                      <a:tcPr marL="0" marR="0" marT="0" marB="0"/>
                    </a:tc>
                    <a:extLst>
                      <a:ext uri="{0D108BD9-81ED-4DB2-BD59-A6C34878D82A}">
                        <a16:rowId xmlns:a16="http://schemas.microsoft.com/office/drawing/2014/main" val="10005"/>
                      </a:ext>
                    </a:extLst>
                  </a:tr>
                  <a:tr h="304800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 xmlns:m="http://schemas.openxmlformats.org/officeDocument/2006/math">
                                <m:r>
                                  <a:rPr lang="en-US" altLang="zh-CN" sz="2000">
                                    <a:latin typeface="Cambria Math" panose="02040503050406030204" charset="0"/>
                                    <a:ea typeface="MS Mincho" charset="0"/>
                                    <a:cs typeface="Cambria Math" panose="02040503050406030204" charset="0"/>
                                  </a:rPr>
                                  <m:t>∆</m:t>
                                </m:r>
                                <m:r>
                                  <a:rPr lang="en-US" altLang="zh-CN" sz="2000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𝐵</m:t>
                                </m:r>
                              </m:oMath>
                            </m:oMathPara>
                          </a14:m>
                          <a:endParaRPr lang="en-US" altLang="zh-CN" sz="2000">
                            <a:latin typeface="Cambria Math" panose="02040503050406030204" charset="0"/>
                            <a:cs typeface="Cambria Math" panose="02040503050406030204" charset="0"/>
                          </a:endParaRPr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800"/>
                            <a:t>***</a:t>
                          </a:r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800"/>
                            <a:t>-</a:t>
                          </a:r>
                        </a:p>
                      </a:txBody>
                      <a:tcPr marL="0" marR="0" marT="0" marB="0"/>
                    </a:tc>
                    <a:extLst>
                      <a:ext uri="{0D108BD9-81ED-4DB2-BD59-A6C34878D82A}">
                        <a16:rowId xmlns:a16="http://schemas.microsoft.com/office/drawing/2014/main" val="10006"/>
                      </a:ext>
                    </a:extLst>
                  </a:tr>
                  <a:tr h="304800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 xmlns:m="http://schemas.openxmlformats.org/officeDocument/2006/math">
                                <m:r>
                                  <a:rPr lang="en-US" altLang="zh-CN" sz="2000">
                                    <a:latin typeface="Cambria Math" panose="02040503050406030204" charset="0"/>
                                    <a:ea typeface="MS Mincho" charset="0"/>
                                    <a:cs typeface="Cambria Math" panose="02040503050406030204" charset="0"/>
                                  </a:rPr>
                                  <m:t>∆</m:t>
                                </m:r>
                                <m:r>
                                  <a:rPr lang="en-US" altLang="zh-CN" sz="2000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𝐶</m:t>
                                </m:r>
                              </m:oMath>
                            </m:oMathPara>
                          </a14:m>
                          <a:endParaRPr lang="en-US" altLang="zh-CN" sz="2000">
                            <a:latin typeface="Cambria Math" panose="02040503050406030204" charset="0"/>
                            <a:cs typeface="Cambria Math" panose="02040503050406030204" charset="0"/>
                          </a:endParaRPr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800"/>
                            <a:t>*</a:t>
                          </a:r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800"/>
                            <a:t>+</a:t>
                          </a:r>
                        </a:p>
                      </a:txBody>
                      <a:tcPr marL="0" marR="0" marT="0" marB="0"/>
                    </a:tc>
                    <a:extLst>
                      <a:ext uri="{0D108BD9-81ED-4DB2-BD59-A6C34878D82A}">
                        <a16:rowId xmlns:a16="http://schemas.microsoft.com/office/drawing/2014/main" val="10007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32" name="表格 31"/>
              <p:cNvGraphicFramePr/>
              <p:nvPr>
                <p:custDataLst>
                  <p:tags r:id="rId3"/>
                </p:custDataLst>
              </p:nvPr>
            </p:nvGraphicFramePr>
            <p:xfrm>
              <a:off x="9721215" y="9970770"/>
              <a:ext cx="3513455" cy="2407920"/>
            </p:xfrm>
            <a:graphic>
              <a:graphicData uri="http://schemas.openxmlformats.org/drawingml/2006/table">
                <a:tbl>
                  <a:tblPr firstRow="1">
                    <a:tableStyleId>{9D7B26C5-4107-4FEC-AEDC-1716B250A1EF}</a:tableStyleId>
                  </a:tblPr>
                  <a:tblGrid>
                    <a:gridCol w="965200"/>
                    <a:gridCol w="1395095"/>
                    <a:gridCol w="1153160"/>
                  </a:tblGrid>
                  <a:tr h="274320">
                    <a:tc>
                      <a:txBody>
                        <a:bodyPr/>
                        <a:p>
                          <a:pPr>
                            <a:buNone/>
                          </a:pPr>
                          <a:r>
                            <a:rPr lang="en-US" altLang="zh-CN" sz="1800"/>
                            <a:t>ΔParam</a:t>
                          </a:r>
                          <a:endParaRPr lang="en-US" altLang="zh-CN" sz="1800"/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p>
                          <a:pPr>
                            <a:buNone/>
                          </a:pPr>
                          <a:r>
                            <a:rPr lang="en-US" altLang="zh-CN" sz="1800"/>
                            <a:t>Significance</a:t>
                          </a:r>
                          <a:endParaRPr lang="en-US" altLang="zh-CN" sz="1800"/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p>
                          <a:pPr>
                            <a:buNone/>
                          </a:pPr>
                          <a:r>
                            <a:rPr lang="en-US" altLang="zh-CN" sz="1800"/>
                            <a:t>Sign</a:t>
                          </a:r>
                          <a:endParaRPr lang="en-US" altLang="zh-CN" sz="1800"/>
                        </a:p>
                      </a:txBody>
                      <a:tcPr marL="0" marR="0" marT="0" marB="0"/>
                    </a:tc>
                  </a:tr>
                  <a:tr h="304800"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0" marR="0" marT="0" marB="0">
                        <a:blipFill>
                          <a:blip r:embed="rId4"/>
                        </a:blipFill>
                      </a:tcPr>
                    </a:tc>
                    <a:tc>
                      <a:txBody>
                        <a:bodyPr/>
                        <a:p>
                          <a:pPr>
                            <a:buNone/>
                          </a:pPr>
                          <a:r>
                            <a:rPr lang="en-US" altLang="zh-CN" sz="1800"/>
                            <a:t>***</a:t>
                          </a:r>
                          <a:endParaRPr lang="en-US" altLang="zh-CN" sz="1800"/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p>
                          <a:pPr>
                            <a:buNone/>
                          </a:pPr>
                          <a:r>
                            <a:rPr lang="en-US" altLang="zh-CN" sz="1800"/>
                            <a:t>-</a:t>
                          </a:r>
                          <a:endParaRPr lang="en-US" altLang="zh-CN" sz="1800"/>
                        </a:p>
                      </a:txBody>
                      <a:tcPr marL="0" marR="0" marT="0" marB="0"/>
                    </a:tc>
                  </a:tr>
                  <a:tr h="304800"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0" marR="0" marT="0" marB="0">
                        <a:blipFill>
                          <a:blip r:embed="rId4"/>
                        </a:blipFill>
                      </a:tcPr>
                    </a:tc>
                    <a:tc>
                      <a:txBody>
                        <a:bodyPr/>
                        <a:p>
                          <a:pPr>
                            <a:buNone/>
                          </a:pPr>
                          <a:r>
                            <a:rPr lang="en-US" altLang="zh-CN" sz="1800"/>
                            <a:t>***</a:t>
                          </a:r>
                          <a:endParaRPr lang="en-US" altLang="zh-CN" sz="1800"/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p>
                          <a:pPr>
                            <a:buNone/>
                          </a:pPr>
                          <a:r>
                            <a:rPr lang="en-US" altLang="zh-CN" sz="1800"/>
                            <a:t>+</a:t>
                          </a:r>
                          <a:endParaRPr lang="en-US" altLang="zh-CN" sz="1800"/>
                        </a:p>
                      </a:txBody>
                      <a:tcPr marL="0" marR="0" marT="0" marB="0"/>
                    </a:tc>
                  </a:tr>
                  <a:tr h="304800"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0" marR="0" marT="0" marB="0">
                        <a:blipFill>
                          <a:blip r:embed="rId4"/>
                        </a:blipFill>
                      </a:tcPr>
                    </a:tc>
                    <a:tc>
                      <a:txBody>
                        <a:bodyPr/>
                        <a:p>
                          <a:pPr>
                            <a:buNone/>
                          </a:pPr>
                          <a:r>
                            <a:rPr lang="en-US" altLang="zh-CN" sz="1800"/>
                            <a:t>***</a:t>
                          </a:r>
                          <a:endParaRPr lang="en-US" altLang="zh-CN" sz="1800"/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p>
                          <a:pPr>
                            <a:buNone/>
                          </a:pPr>
                          <a:r>
                            <a:rPr lang="en-US" altLang="zh-CN" sz="1800"/>
                            <a:t>+</a:t>
                          </a:r>
                          <a:endParaRPr lang="en-US" altLang="zh-CN" sz="1800"/>
                        </a:p>
                      </a:txBody>
                      <a:tcPr marL="0" marR="0" marT="0" marB="0"/>
                    </a:tc>
                  </a:tr>
                  <a:tr h="304800"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0" marR="0" marT="0" marB="0">
                        <a:blipFill>
                          <a:blip r:embed="rId4"/>
                        </a:blipFill>
                      </a:tcPr>
                    </a:tc>
                    <a:tc>
                      <a:txBody>
                        <a:bodyPr/>
                        <a:p>
                          <a:pPr>
                            <a:buNone/>
                          </a:pPr>
                          <a:r>
                            <a:rPr lang="en-US" altLang="zh-CN" sz="1800"/>
                            <a:t>***</a:t>
                          </a:r>
                          <a:endParaRPr lang="en-US" altLang="zh-CN" sz="1800"/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p>
                          <a:pPr>
                            <a:buNone/>
                          </a:pPr>
                          <a:r>
                            <a:rPr lang="en-US" altLang="zh-CN" sz="1800"/>
                            <a:t>-</a:t>
                          </a:r>
                          <a:endParaRPr lang="en-US" altLang="zh-CN" sz="1800"/>
                        </a:p>
                      </a:txBody>
                      <a:tcPr marL="0" marR="0" marT="0" marB="0"/>
                    </a:tc>
                  </a:tr>
                  <a:tr h="304800"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0" marR="0" marT="0" marB="0">
                        <a:blipFill>
                          <a:blip r:embed="rId4"/>
                        </a:blipFill>
                      </a:tcPr>
                    </a:tc>
                    <a:tc>
                      <a:txBody>
                        <a:bodyPr/>
                        <a:p>
                          <a:pPr>
                            <a:buNone/>
                          </a:pPr>
                          <a:r>
                            <a:rPr lang="en-US" altLang="zh-CN" sz="1400"/>
                            <a:t>not significant</a:t>
                          </a:r>
                          <a:endParaRPr lang="en-US" altLang="zh-CN" sz="1400"/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p>
                          <a:pPr>
                            <a:buNone/>
                          </a:pPr>
                          <a:r>
                            <a:rPr lang="en-US" altLang="zh-CN" sz="1400">
                              <a:sym typeface="+mn-ea"/>
                            </a:rPr>
                            <a:t>not significant</a:t>
                          </a:r>
                          <a:endParaRPr lang="en-US" altLang="zh-CN" sz="1400">
                            <a:sym typeface="+mn-ea"/>
                          </a:endParaRPr>
                        </a:p>
                      </a:txBody>
                      <a:tcPr marL="0" marR="0" marT="0" marB="0"/>
                    </a:tc>
                  </a:tr>
                  <a:tr h="304800"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0" marR="0" marT="0" marB="0">
                        <a:blipFill>
                          <a:blip r:embed="rId4"/>
                        </a:blipFill>
                      </a:tcPr>
                    </a:tc>
                    <a:tc>
                      <a:txBody>
                        <a:bodyPr/>
                        <a:p>
                          <a:pPr>
                            <a:buNone/>
                          </a:pPr>
                          <a:r>
                            <a:rPr lang="en-US" altLang="zh-CN" sz="1800"/>
                            <a:t>***</a:t>
                          </a:r>
                          <a:endParaRPr lang="en-US" altLang="zh-CN" sz="1800"/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p>
                          <a:pPr>
                            <a:buNone/>
                          </a:pPr>
                          <a:r>
                            <a:rPr lang="en-US" altLang="zh-CN" sz="1800"/>
                            <a:t>-</a:t>
                          </a:r>
                          <a:endParaRPr lang="en-US" altLang="zh-CN" sz="1800"/>
                        </a:p>
                      </a:txBody>
                      <a:tcPr marL="0" marR="0" marT="0" marB="0"/>
                    </a:tc>
                  </a:tr>
                  <a:tr h="304800"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0" marR="0" marT="0" marB="0">
                        <a:blipFill>
                          <a:blip r:embed="rId4"/>
                        </a:blipFill>
                      </a:tcPr>
                    </a:tc>
                    <a:tc>
                      <a:txBody>
                        <a:bodyPr/>
                        <a:p>
                          <a:pPr>
                            <a:buNone/>
                          </a:pPr>
                          <a:r>
                            <a:rPr lang="en-US" altLang="zh-CN" sz="1800"/>
                            <a:t>*</a:t>
                          </a:r>
                          <a:endParaRPr lang="en-US" altLang="zh-CN" sz="1800"/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p>
                          <a:pPr>
                            <a:buNone/>
                          </a:pPr>
                          <a:r>
                            <a:rPr lang="en-US" altLang="zh-CN" sz="1800"/>
                            <a:t>+</a:t>
                          </a:r>
                          <a:endParaRPr lang="en-US" altLang="zh-CN" sz="1800"/>
                        </a:p>
                      </a:txBody>
                      <a:tcPr marL="0" marR="0" marT="0" marB="0"/>
                    </a:tc>
                  </a:tr>
                </a:tbl>
              </a:graphicData>
            </a:graphic>
          </p:graphicFrame>
        </mc:Fallback>
      </mc:AlternateContent>
      <p:grpSp>
        <p:nvGrpSpPr>
          <p:cNvPr id="33" name="组合 32"/>
          <p:cNvGrpSpPr/>
          <p:nvPr/>
        </p:nvGrpSpPr>
        <p:grpSpPr>
          <a:xfrm>
            <a:off x="175260" y="9278620"/>
            <a:ext cx="13058775" cy="4356100"/>
            <a:chOff x="992" y="61"/>
            <a:chExt cx="20565" cy="6860"/>
          </a:xfrm>
        </p:grpSpPr>
        <p:sp>
          <p:nvSpPr>
            <p:cNvPr id="6" name="文本框 5"/>
            <p:cNvSpPr txBox="1"/>
            <p:nvPr/>
          </p:nvSpPr>
          <p:spPr>
            <a:xfrm>
              <a:off x="992" y="61"/>
              <a:ext cx="4355" cy="58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b="1" i="1"/>
                <a:t>Strong Significance ***</a:t>
              </a:r>
            </a:p>
          </p:txBody>
        </p:sp>
        <p:sp>
          <p:nvSpPr>
            <p:cNvPr id="7" name="文本框 6"/>
            <p:cNvSpPr txBox="1"/>
            <p:nvPr/>
          </p:nvSpPr>
          <p:spPr>
            <a:xfrm>
              <a:off x="6285" y="61"/>
              <a:ext cx="4355" cy="58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vl="0" algn="l">
                <a:buClrTx/>
                <a:buSzTx/>
                <a:buFontTx/>
              </a:pPr>
              <a:r>
                <a:rPr lang="en-US" altLang="zh-CN" b="1" i="1">
                  <a:sym typeface="+mn-ea"/>
                </a:rPr>
                <a:t>Strong Significance ***</a:t>
              </a:r>
            </a:p>
          </p:txBody>
        </p:sp>
        <p:sp>
          <p:nvSpPr>
            <p:cNvPr id="8" name="文本框 7"/>
            <p:cNvSpPr txBox="1"/>
            <p:nvPr/>
          </p:nvSpPr>
          <p:spPr>
            <a:xfrm>
              <a:off x="11744" y="61"/>
              <a:ext cx="4355" cy="58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vl="0" algn="l">
                <a:buClrTx/>
                <a:buSzTx/>
                <a:buFontTx/>
              </a:pPr>
              <a:r>
                <a:rPr lang="en-US" altLang="zh-CN" b="1" i="1">
                  <a:sym typeface="+mn-ea"/>
                </a:rPr>
                <a:t>Strong Significance ***</a:t>
              </a:r>
            </a:p>
          </p:txBody>
        </p:sp>
        <p:sp>
          <p:nvSpPr>
            <p:cNvPr id="9" name="文本框 8"/>
            <p:cNvSpPr txBox="1"/>
            <p:nvPr/>
          </p:nvSpPr>
          <p:spPr>
            <a:xfrm>
              <a:off x="17203" y="61"/>
              <a:ext cx="4355" cy="58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vl="0" algn="l">
                <a:buClrTx/>
                <a:buSzTx/>
                <a:buFontTx/>
              </a:pPr>
              <a:r>
                <a:rPr lang="en-US" altLang="zh-CN" b="1" i="1">
                  <a:sym typeface="+mn-ea"/>
                </a:rPr>
                <a:t>Strong Significance ***</a:t>
              </a:r>
            </a:p>
          </p:txBody>
        </p:sp>
        <p:sp>
          <p:nvSpPr>
            <p:cNvPr id="10" name="文本框 9"/>
            <p:cNvSpPr txBox="1"/>
            <p:nvPr/>
          </p:nvSpPr>
          <p:spPr>
            <a:xfrm>
              <a:off x="992" y="6333"/>
              <a:ext cx="4355" cy="58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vl="0" algn="l">
                <a:buClrTx/>
                <a:buSzTx/>
                <a:buFontTx/>
              </a:pPr>
              <a:r>
                <a:rPr lang="en-US" altLang="zh-CN" b="1" i="1">
                  <a:sym typeface="+mn-ea"/>
                </a:rPr>
                <a:t>Not Significant</a:t>
              </a:r>
            </a:p>
          </p:txBody>
        </p:sp>
        <p:sp>
          <p:nvSpPr>
            <p:cNvPr id="11" name="文本框 10"/>
            <p:cNvSpPr txBox="1"/>
            <p:nvPr/>
          </p:nvSpPr>
          <p:spPr>
            <a:xfrm>
              <a:off x="6264" y="6341"/>
              <a:ext cx="4355" cy="58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vl="0" algn="l">
                <a:buClrTx/>
                <a:buSzTx/>
                <a:buFontTx/>
              </a:pPr>
              <a:r>
                <a:rPr lang="en-US" altLang="zh-CN" b="1" i="1">
                  <a:sym typeface="+mn-ea"/>
                </a:rPr>
                <a:t>Strong Significance ***</a:t>
              </a:r>
            </a:p>
          </p:txBody>
        </p:sp>
        <p:sp>
          <p:nvSpPr>
            <p:cNvPr id="12" name="文本框 11"/>
            <p:cNvSpPr txBox="1"/>
            <p:nvPr/>
          </p:nvSpPr>
          <p:spPr>
            <a:xfrm>
              <a:off x="11744" y="6333"/>
              <a:ext cx="4355" cy="58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vl="0" algn="l">
                <a:buClrTx/>
                <a:buSzTx/>
                <a:buFontTx/>
              </a:pPr>
              <a:r>
                <a:rPr lang="en-US" altLang="zh-CN" b="1" i="1">
                  <a:sym typeface="+mn-ea"/>
                </a:rPr>
                <a:t>Significance *</a:t>
              </a:r>
            </a:p>
          </p:txBody>
        </p:sp>
      </p:grpSp>
      <p:sp>
        <p:nvSpPr>
          <p:cNvPr id="3" name="文本框 2"/>
          <p:cNvSpPr txBox="1"/>
          <p:nvPr/>
        </p:nvSpPr>
        <p:spPr>
          <a:xfrm>
            <a:off x="10469245" y="8209915"/>
            <a:ext cx="3520440" cy="92202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indent="0">
              <a:buFont typeface="Arial" panose="020B0604020202020204" pitchFamily="34" charset="0"/>
              <a:buNone/>
            </a:pPr>
            <a:r>
              <a:rPr lang="en-US" altLang="zh-CN" b="1">
                <a:sym typeface="+mn-ea"/>
              </a:rPr>
              <a:t>Population growth ↑ </a:t>
            </a:r>
          </a:p>
          <a:p>
            <a:pPr indent="0">
              <a:buFont typeface="Arial" panose="020B0604020202020204" pitchFamily="34" charset="0"/>
              <a:buNone/>
            </a:pPr>
            <a:r>
              <a:rPr lang="en-US" altLang="zh-CN" b="1">
                <a:sym typeface="+mn-ea"/>
              </a:rPr>
              <a:t>→ Δα ↓, Δβ ↑, Δκ ↑, Δδ ↓</a:t>
            </a:r>
          </a:p>
          <a:p>
            <a:pPr indent="0">
              <a:buFont typeface="Arial" panose="020B0604020202020204" pitchFamily="34" charset="0"/>
              <a:buNone/>
            </a:pPr>
            <a:r>
              <a:rPr lang="en-US" altLang="zh-CN" b="1">
                <a:sym typeface="+mn-ea"/>
              </a:rPr>
              <a:t>→ ΔB ↓, ΔC ↑</a:t>
            </a:r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AA15F1C6-1E47-E738-3889-CDE59EA1BBF7}"/>
              </a:ext>
            </a:extLst>
          </p:cNvPr>
          <p:cNvGrpSpPr/>
          <p:nvPr/>
        </p:nvGrpSpPr>
        <p:grpSpPr>
          <a:xfrm>
            <a:off x="109855" y="381635"/>
            <a:ext cx="13811885" cy="7388860"/>
            <a:chOff x="109855" y="381635"/>
            <a:chExt cx="13811885" cy="7388860"/>
          </a:xfrm>
        </p:grpSpPr>
        <p:pic>
          <p:nvPicPr>
            <p:cNvPr id="42" name="图片 41"/>
            <p:cNvPicPr>
              <a:picLocks noChangeAspect="1"/>
            </p:cNvPicPr>
            <p:nvPr/>
          </p:nvPicPr>
          <p:blipFill>
            <a:blip r:embed="rId5"/>
            <a:srcRect l="8417" t="1057" b="7890"/>
            <a:stretch>
              <a:fillRect/>
            </a:stretch>
          </p:blipFill>
          <p:spPr>
            <a:xfrm>
              <a:off x="10466705" y="381635"/>
              <a:ext cx="3247390" cy="3282950"/>
            </a:xfrm>
            <a:prstGeom prst="rect">
              <a:avLst/>
            </a:prstGeom>
          </p:spPr>
        </p:pic>
        <p:grpSp>
          <p:nvGrpSpPr>
            <p:cNvPr id="39" name="组合 38"/>
            <p:cNvGrpSpPr/>
            <p:nvPr/>
          </p:nvGrpSpPr>
          <p:grpSpPr>
            <a:xfrm>
              <a:off x="109855" y="381635"/>
              <a:ext cx="13811885" cy="7388860"/>
              <a:chOff x="173" y="601"/>
              <a:chExt cx="21751" cy="11636"/>
            </a:xfrm>
          </p:grpSpPr>
          <p:pic>
            <p:nvPicPr>
              <p:cNvPr id="5" name="图片 4"/>
              <p:cNvPicPr/>
              <p:nvPr/>
            </p:nvPicPr>
            <p:blipFill>
              <a:blip r:embed="rId6"/>
              <a:srcRect l="1918" t="1292" r="75749" b="52389"/>
              <a:stretch>
                <a:fillRect/>
              </a:stretch>
            </p:blipFill>
            <p:spPr>
              <a:xfrm>
                <a:off x="173" y="641"/>
                <a:ext cx="5042" cy="5197"/>
              </a:xfrm>
              <a:prstGeom prst="rect">
                <a:avLst/>
              </a:prstGeom>
            </p:spPr>
          </p:pic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3" name="文本框 12"/>
                  <p:cNvSpPr txBox="1"/>
                  <p:nvPr/>
                </p:nvSpPr>
                <p:spPr>
                  <a:xfrm>
                    <a:off x="732" y="701"/>
                    <a:ext cx="1199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left"/>
                        </m:oMathParaPr>
                        <m:oMath xmlns:m="http://schemas.openxmlformats.org/officeDocument/2006/math">
                          <m:r>
                            <a:rPr lang="en-US" altLang="zh-CN" sz="3600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∆</m:t>
                          </m:r>
                          <m:r>
                            <a:rPr lang="en-US" altLang="zh-CN" sz="3600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𝛼</m:t>
                          </m:r>
                        </m:oMath>
                      </m:oMathPara>
                    </a14:m>
                    <a:endParaRPr lang="en-US" altLang="zh-CN" sz="3600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 xmlns="">
              <p:sp>
                <p:nvSpPr>
                  <p:cNvPr id="13" name="文本框 12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32" y="701"/>
                    <a:ext cx="1199" cy="1004"/>
                  </a:xfrm>
                  <a:prstGeom prst="rect">
                    <a:avLst/>
                  </a:prstGeom>
                  <a:blipFill rotWithShape="1">
                    <a:blip r:embed="rId7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pic>
            <p:nvPicPr>
              <p:cNvPr id="14" name="图片 13"/>
              <p:cNvPicPr/>
              <p:nvPr/>
            </p:nvPicPr>
            <p:blipFill>
              <a:blip r:embed="rId6"/>
              <a:srcRect l="27028" t="1292" r="50577" b="52389"/>
              <a:stretch>
                <a:fillRect/>
              </a:stretch>
            </p:blipFill>
            <p:spPr>
              <a:xfrm>
                <a:off x="5515" y="641"/>
                <a:ext cx="5056" cy="5197"/>
              </a:xfrm>
              <a:prstGeom prst="rect">
                <a:avLst/>
              </a:prstGeom>
            </p:spPr>
          </p:pic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5" name="文本框 14"/>
                  <p:cNvSpPr txBox="1"/>
                  <p:nvPr/>
                </p:nvSpPr>
                <p:spPr>
                  <a:xfrm>
                    <a:off x="6025" y="641"/>
                    <a:ext cx="1199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left"/>
                        </m:oMathParaPr>
                        <m:oMath xmlns:m="http://schemas.openxmlformats.org/officeDocument/2006/math">
                          <m:r>
                            <a:rPr lang="en-US" altLang="zh-CN" sz="3600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∆</m:t>
                          </m:r>
                          <m:r>
                            <a:rPr lang="en-US" altLang="zh-CN" sz="3600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𝛽</m:t>
                          </m:r>
                        </m:oMath>
                      </m:oMathPara>
                    </a14:m>
                    <a:endParaRPr lang="en-US" altLang="zh-CN" sz="3600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 xmlns="">
              <p:sp>
                <p:nvSpPr>
                  <p:cNvPr id="15" name="文本框 14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025" y="641"/>
                    <a:ext cx="1199" cy="1004"/>
                  </a:xfrm>
                  <a:prstGeom prst="rect">
                    <a:avLst/>
                  </a:prstGeom>
                  <a:blipFill rotWithShape="1">
                    <a:blip r:embed="rId8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pic>
            <p:nvPicPr>
              <p:cNvPr id="16" name="图片 15"/>
              <p:cNvPicPr/>
              <p:nvPr/>
            </p:nvPicPr>
            <p:blipFill>
              <a:blip r:embed="rId6"/>
              <a:srcRect l="52342" t="811" r="25263" b="52513"/>
              <a:stretch>
                <a:fillRect/>
              </a:stretch>
            </p:blipFill>
            <p:spPr>
              <a:xfrm>
                <a:off x="10999" y="601"/>
                <a:ext cx="5056" cy="5237"/>
              </a:xfrm>
              <a:prstGeom prst="rect">
                <a:avLst/>
              </a:prstGeom>
            </p:spPr>
          </p:pic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2" name="文本框 21"/>
                  <p:cNvSpPr txBox="1"/>
                  <p:nvPr/>
                </p:nvSpPr>
                <p:spPr>
                  <a:xfrm>
                    <a:off x="11484" y="641"/>
                    <a:ext cx="1199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left"/>
                        </m:oMathParaPr>
                        <m:oMath xmlns:m="http://schemas.openxmlformats.org/officeDocument/2006/math">
                          <m:r>
                            <a:rPr lang="en-US" altLang="zh-CN" sz="3600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∆</m:t>
                          </m:r>
                          <m:r>
                            <a:rPr lang="en-US" altLang="zh-CN" sz="3600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𝜅</m:t>
                          </m:r>
                        </m:oMath>
                      </m:oMathPara>
                    </a14:m>
                    <a:endParaRPr lang="en-US" altLang="zh-CN" sz="3600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 xmlns="">
              <p:sp>
                <p:nvSpPr>
                  <p:cNvPr id="22" name="文本框 21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1484" y="641"/>
                    <a:ext cx="1199" cy="1004"/>
                  </a:xfrm>
                  <a:prstGeom prst="rect">
                    <a:avLst/>
                  </a:prstGeom>
                  <a:blipFill rotWithShape="1">
                    <a:blip r:embed="rId9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3" name="文本框 22"/>
                  <p:cNvSpPr txBox="1"/>
                  <p:nvPr/>
                </p:nvSpPr>
                <p:spPr>
                  <a:xfrm>
                    <a:off x="17039" y="635"/>
                    <a:ext cx="1199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left"/>
                        </m:oMathParaPr>
                        <m:oMath xmlns:m="http://schemas.openxmlformats.org/officeDocument/2006/math">
                          <m:r>
                            <a:rPr lang="en-US" altLang="zh-CN" sz="3600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∆</m:t>
                          </m:r>
                          <m:r>
                            <a:rPr lang="en-US" altLang="zh-CN" sz="3600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𝛿</m:t>
                          </m:r>
                        </m:oMath>
                      </m:oMathPara>
                    </a14:m>
                    <a:endParaRPr lang="en-US" altLang="zh-CN" sz="3600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 xmlns="">
              <p:sp>
                <p:nvSpPr>
                  <p:cNvPr id="23" name="文本框 22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7039" y="635"/>
                    <a:ext cx="1199" cy="1004"/>
                  </a:xfrm>
                  <a:prstGeom prst="rect">
                    <a:avLst/>
                  </a:prstGeom>
                  <a:blipFill rotWithShape="1">
                    <a:blip r:embed="rId10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27" name="文本框 26"/>
              <p:cNvSpPr txBox="1"/>
              <p:nvPr/>
            </p:nvSpPr>
            <p:spPr>
              <a:xfrm>
                <a:off x="550" y="5693"/>
                <a:ext cx="4497" cy="62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2000"/>
                  <a:t>Pop growth rate</a:t>
                </a:r>
              </a:p>
            </p:txBody>
          </p:sp>
          <p:sp>
            <p:nvSpPr>
              <p:cNvPr id="28" name="文本框 27"/>
              <p:cNvSpPr txBox="1"/>
              <p:nvPr/>
            </p:nvSpPr>
            <p:spPr>
              <a:xfrm>
                <a:off x="5946" y="5693"/>
                <a:ext cx="4497" cy="62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2000"/>
                  <a:t>Pop growth rate</a:t>
                </a:r>
              </a:p>
            </p:txBody>
          </p:sp>
          <p:sp>
            <p:nvSpPr>
              <p:cNvPr id="30" name="文本框 29"/>
              <p:cNvSpPr txBox="1"/>
              <p:nvPr/>
            </p:nvSpPr>
            <p:spPr>
              <a:xfrm>
                <a:off x="11342" y="5693"/>
                <a:ext cx="4497" cy="62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2000"/>
                  <a:t>Pop growth rate</a:t>
                </a:r>
              </a:p>
            </p:txBody>
          </p:sp>
          <p:sp>
            <p:nvSpPr>
              <p:cNvPr id="31" name="文本框 30"/>
              <p:cNvSpPr txBox="1"/>
              <p:nvPr/>
            </p:nvSpPr>
            <p:spPr>
              <a:xfrm>
                <a:off x="16945" y="5681"/>
                <a:ext cx="4497" cy="62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2000"/>
                  <a:t>Pop growth rate</a:t>
                </a:r>
              </a:p>
            </p:txBody>
          </p:sp>
          <p:grpSp>
            <p:nvGrpSpPr>
              <p:cNvPr id="34" name="组合 33"/>
              <p:cNvGrpSpPr/>
              <p:nvPr/>
            </p:nvGrpSpPr>
            <p:grpSpPr>
              <a:xfrm>
                <a:off x="16432" y="10351"/>
                <a:ext cx="5061" cy="1886"/>
                <a:chOff x="16736" y="6695"/>
                <a:chExt cx="5061" cy="1886"/>
              </a:xfrm>
            </p:grpSpPr>
            <p:sp>
              <p:nvSpPr>
                <p:cNvPr id="35" name="椭圆 34"/>
                <p:cNvSpPr/>
                <p:nvPr/>
              </p:nvSpPr>
              <p:spPr>
                <a:xfrm>
                  <a:off x="16736" y="8135"/>
                  <a:ext cx="257" cy="255"/>
                </a:xfrm>
                <a:prstGeom prst="ellipse">
                  <a:avLst/>
                </a:prstGeom>
                <a:solidFill>
                  <a:srgbClr val="47A2DE">
                    <a:alpha val="90000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2400"/>
                </a:p>
              </p:txBody>
            </p:sp>
            <p:sp>
              <p:nvSpPr>
                <p:cNvPr id="38" name="文本框 37"/>
                <p:cNvSpPr txBox="1"/>
                <p:nvPr/>
              </p:nvSpPr>
              <p:spPr>
                <a:xfrm>
                  <a:off x="17013" y="7953"/>
                  <a:ext cx="3168" cy="628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2000"/>
                    <a:t>Latin America</a:t>
                  </a:r>
                </a:p>
              </p:txBody>
            </p:sp>
            <p:sp>
              <p:nvSpPr>
                <p:cNvPr id="44" name="椭圆 43"/>
                <p:cNvSpPr/>
                <p:nvPr/>
              </p:nvSpPr>
              <p:spPr>
                <a:xfrm>
                  <a:off x="16736" y="6868"/>
                  <a:ext cx="257" cy="255"/>
                </a:xfrm>
                <a:prstGeom prst="ellipse">
                  <a:avLst/>
                </a:prstGeom>
                <a:solidFill>
                  <a:srgbClr val="E85748">
                    <a:alpha val="90000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2400"/>
                </a:p>
              </p:txBody>
            </p:sp>
            <p:sp>
              <p:nvSpPr>
                <p:cNvPr id="45" name="文本框 44"/>
                <p:cNvSpPr txBox="1"/>
                <p:nvPr/>
              </p:nvSpPr>
              <p:spPr>
                <a:xfrm>
                  <a:off x="17013" y="6695"/>
                  <a:ext cx="3227" cy="628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2000"/>
                    <a:t>Africa</a:t>
                  </a:r>
                </a:p>
              </p:txBody>
            </p:sp>
            <p:sp>
              <p:nvSpPr>
                <p:cNvPr id="48" name="椭圆 47"/>
                <p:cNvSpPr/>
                <p:nvPr/>
              </p:nvSpPr>
              <p:spPr>
                <a:xfrm>
                  <a:off x="16736" y="7510"/>
                  <a:ext cx="257" cy="255"/>
                </a:xfrm>
                <a:prstGeom prst="ellipse">
                  <a:avLst/>
                </a:prstGeom>
                <a:solidFill>
                  <a:srgbClr val="F39F1B">
                    <a:alpha val="90000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2400"/>
                </a:p>
              </p:txBody>
            </p:sp>
            <p:sp>
              <p:nvSpPr>
                <p:cNvPr id="49" name="文本框 48"/>
                <p:cNvSpPr txBox="1"/>
                <p:nvPr/>
              </p:nvSpPr>
              <p:spPr>
                <a:xfrm>
                  <a:off x="17013" y="7324"/>
                  <a:ext cx="4784" cy="628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2000">
                      <a:sym typeface="+mn-ea"/>
                    </a:rPr>
                    <a:t>South &amp; South-east Asia</a:t>
                  </a:r>
                </a:p>
              </p:txBody>
            </p:sp>
          </p:grpSp>
          <p:grpSp>
            <p:nvGrpSpPr>
              <p:cNvPr id="36" name="组合 35"/>
              <p:cNvGrpSpPr/>
              <p:nvPr/>
            </p:nvGrpSpPr>
            <p:grpSpPr>
              <a:xfrm>
                <a:off x="245" y="6378"/>
                <a:ext cx="15880" cy="5838"/>
                <a:chOff x="503" y="6892"/>
                <a:chExt cx="15880" cy="5838"/>
              </a:xfrm>
            </p:grpSpPr>
            <p:grpSp>
              <p:nvGrpSpPr>
                <p:cNvPr id="2" name="组合 1"/>
                <p:cNvGrpSpPr/>
                <p:nvPr/>
              </p:nvGrpSpPr>
              <p:grpSpPr>
                <a:xfrm>
                  <a:off x="503" y="6892"/>
                  <a:ext cx="15881" cy="5230"/>
                  <a:chOff x="433" y="6578"/>
                  <a:chExt cx="15881" cy="5230"/>
                </a:xfrm>
              </p:grpSpPr>
              <p:pic>
                <p:nvPicPr>
                  <p:cNvPr id="18" name="图片 17"/>
                  <p:cNvPicPr/>
                  <p:nvPr/>
                </p:nvPicPr>
                <p:blipFill>
                  <a:blip r:embed="rId6"/>
                  <a:srcRect l="1917" t="50579" r="75927" b="3155"/>
                  <a:stretch>
                    <a:fillRect/>
                  </a:stretch>
                </p:blipFill>
                <p:spPr>
                  <a:xfrm>
                    <a:off x="433" y="6597"/>
                    <a:ext cx="5002" cy="5191"/>
                  </a:xfrm>
                  <a:prstGeom prst="rect">
                    <a:avLst/>
                  </a:prstGeom>
                </p:spPr>
              </p:pic>
              <p:pic>
                <p:nvPicPr>
                  <p:cNvPr id="19" name="图片 18"/>
                  <p:cNvPicPr/>
                  <p:nvPr/>
                </p:nvPicPr>
                <p:blipFill>
                  <a:blip r:embed="rId6"/>
                  <a:srcRect l="27196" t="50579" r="50688" b="2977"/>
                  <a:stretch>
                    <a:fillRect/>
                  </a:stretch>
                </p:blipFill>
                <p:spPr>
                  <a:xfrm>
                    <a:off x="5768" y="6598"/>
                    <a:ext cx="4993" cy="5211"/>
                  </a:xfrm>
                  <a:prstGeom prst="rect">
                    <a:avLst/>
                  </a:prstGeom>
                </p:spPr>
              </p:pic>
              <p:pic>
                <p:nvPicPr>
                  <p:cNvPr id="20" name="图片 19"/>
                  <p:cNvPicPr/>
                  <p:nvPr/>
                </p:nvPicPr>
                <p:blipFill>
                  <a:blip r:embed="rId6"/>
                  <a:srcRect l="50916" t="50579" r="25356" b="2977"/>
                  <a:stretch>
                    <a:fillRect/>
                  </a:stretch>
                </p:blipFill>
                <p:spPr>
                  <a:xfrm>
                    <a:off x="10958" y="6578"/>
                    <a:ext cx="5357" cy="5211"/>
                  </a:xfrm>
                  <a:prstGeom prst="rect">
                    <a:avLst/>
                  </a:prstGeom>
                </p:spPr>
              </p:pic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24" name="文本框 23"/>
                      <p:cNvSpPr txBox="1"/>
                      <p:nvPr/>
                    </p:nvSpPr>
                    <p:spPr>
                      <a:xfrm>
                        <a:off x="810" y="6597"/>
                        <a:ext cx="1199" cy="1004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no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left"/>
                            </m:oMathParaPr>
                            <m:oMath xmlns:m="http://schemas.openxmlformats.org/officeDocument/2006/math">
                              <m:r>
                                <a:rPr lang="en-US" altLang="zh-CN" sz="3600" i="1">
                                  <a:latin typeface="Cambria Math" panose="02040503050406030204" charset="0"/>
                                  <a:ea typeface="MS Mincho" charset="0"/>
                                  <a:cs typeface="Cambria Math" panose="02040503050406030204" charset="0"/>
                                </a:rPr>
                                <m:t>∆</m:t>
                              </m:r>
                              <m:r>
                                <a:rPr lang="en-US" altLang="zh-CN" sz="3600" i="1">
                                  <a:latin typeface="Cambria Math" panose="02040503050406030204" charset="0"/>
                                  <a:ea typeface="MS Mincho" charset="0"/>
                                  <a:cs typeface="Cambria Math" panose="02040503050406030204" charset="0"/>
                                </a:rPr>
                                <m:t>𝐴</m:t>
                              </m:r>
                            </m:oMath>
                          </m:oMathPara>
                        </a14:m>
                        <a:endParaRPr lang="en-US" altLang="zh-CN" sz="3600" i="1">
                          <a:latin typeface="Cambria Math" panose="02040503050406030204" charset="0"/>
                          <a:ea typeface="MS Mincho" charset="0"/>
                          <a:cs typeface="Cambria Math" panose="02040503050406030204" charset="0"/>
                        </a:endParaRPr>
                      </a:p>
                    </p:txBody>
                  </p:sp>
                </mc:Choice>
                <mc:Fallback xmlns="">
                  <p:sp>
                    <p:nvSpPr>
                      <p:cNvPr id="24" name="文本框 23"/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810" y="6597"/>
                        <a:ext cx="1199" cy="1004"/>
                      </a:xfrm>
                      <a:prstGeom prst="rect">
                        <a:avLst/>
                      </a:prstGeom>
                      <a:blipFill rotWithShape="1">
                        <a:blip r:embed="rId11"/>
                      </a:blipFill>
                    </p:spPr>
                    <p:txBody>
                      <a:bodyPr/>
                      <a:lstStyle/>
                      <a:p>
                        <a:r>
                          <a:rPr lang="zh-CN" alt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25" name="文本框 24"/>
                      <p:cNvSpPr txBox="1"/>
                      <p:nvPr/>
                    </p:nvSpPr>
                    <p:spPr>
                      <a:xfrm>
                        <a:off x="6109" y="6627"/>
                        <a:ext cx="1199" cy="1004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no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left"/>
                            </m:oMathParaPr>
                            <m:oMath xmlns:m="http://schemas.openxmlformats.org/officeDocument/2006/math">
                              <m:r>
                                <a:rPr lang="en-US" altLang="zh-CN" sz="3600" i="1">
                                  <a:latin typeface="Cambria Math" panose="02040503050406030204" charset="0"/>
                                  <a:ea typeface="MS Mincho" charset="0"/>
                                  <a:cs typeface="Cambria Math" panose="02040503050406030204" charset="0"/>
                                </a:rPr>
                                <m:t>∆</m:t>
                              </m:r>
                              <m:r>
                                <a:rPr lang="en-US" altLang="zh-CN" sz="3600" i="1">
                                  <a:latin typeface="Cambria Math" panose="02040503050406030204" charset="0"/>
                                  <a:ea typeface="MS Mincho" charset="0"/>
                                  <a:cs typeface="Cambria Math" panose="02040503050406030204" charset="0"/>
                                </a:rPr>
                                <m:t>𝐵</m:t>
                              </m:r>
                            </m:oMath>
                          </m:oMathPara>
                        </a14:m>
                        <a:endParaRPr lang="en-US" altLang="zh-CN" sz="3600" i="1">
                          <a:latin typeface="Cambria Math" panose="02040503050406030204" charset="0"/>
                          <a:ea typeface="MS Mincho" charset="0"/>
                          <a:cs typeface="Cambria Math" panose="02040503050406030204" charset="0"/>
                        </a:endParaRPr>
                      </a:p>
                    </p:txBody>
                  </p:sp>
                </mc:Choice>
                <mc:Fallback xmlns="">
                  <p:sp>
                    <p:nvSpPr>
                      <p:cNvPr id="25" name="文本框 24"/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6109" y="6627"/>
                        <a:ext cx="1199" cy="1004"/>
                      </a:xfrm>
                      <a:prstGeom prst="rect">
                        <a:avLst/>
                      </a:prstGeom>
                      <a:blipFill rotWithShape="1">
                        <a:blip r:embed="rId12"/>
                      </a:blipFill>
                    </p:spPr>
                    <p:txBody>
                      <a:bodyPr/>
                      <a:lstStyle/>
                      <a:p>
                        <a:r>
                          <a:rPr lang="zh-CN" alt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26" name="文本框 25"/>
                      <p:cNvSpPr txBox="1"/>
                      <p:nvPr/>
                    </p:nvSpPr>
                    <p:spPr>
                      <a:xfrm>
                        <a:off x="11744" y="6627"/>
                        <a:ext cx="1199" cy="1004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no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left"/>
                            </m:oMathParaPr>
                            <m:oMath xmlns:m="http://schemas.openxmlformats.org/officeDocument/2006/math">
                              <m:r>
                                <a:rPr lang="en-US" altLang="zh-CN" sz="3600" i="1">
                                  <a:latin typeface="Cambria Math" panose="02040503050406030204" charset="0"/>
                                  <a:ea typeface="MS Mincho" charset="0"/>
                                  <a:cs typeface="Cambria Math" panose="02040503050406030204" charset="0"/>
                                </a:rPr>
                                <m:t>∆</m:t>
                              </m:r>
                              <m:r>
                                <a:rPr lang="en-US" altLang="zh-CN" sz="3600" i="1">
                                  <a:latin typeface="Cambria Math" panose="02040503050406030204" charset="0"/>
                                  <a:ea typeface="MS Mincho" charset="0"/>
                                  <a:cs typeface="Cambria Math" panose="02040503050406030204" charset="0"/>
                                </a:rPr>
                                <m:t>𝐶</m:t>
                              </m:r>
                            </m:oMath>
                          </m:oMathPara>
                        </a14:m>
                        <a:endParaRPr lang="en-US" altLang="zh-CN" sz="3600" i="1">
                          <a:latin typeface="Cambria Math" panose="02040503050406030204" charset="0"/>
                          <a:ea typeface="MS Mincho" charset="0"/>
                          <a:cs typeface="Cambria Math" panose="02040503050406030204" charset="0"/>
                        </a:endParaRPr>
                      </a:p>
                    </p:txBody>
                  </p:sp>
                </mc:Choice>
                <mc:Fallback xmlns="">
                  <p:sp>
                    <p:nvSpPr>
                      <p:cNvPr id="26" name="文本框 25"/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11744" y="6627"/>
                        <a:ext cx="1199" cy="1004"/>
                      </a:xfrm>
                      <a:prstGeom prst="rect">
                        <a:avLst/>
                      </a:prstGeom>
                      <a:blipFill rotWithShape="1">
                        <a:blip r:embed="rId13"/>
                      </a:blipFill>
                    </p:spPr>
                    <p:txBody>
                      <a:bodyPr/>
                      <a:lstStyle/>
                      <a:p>
                        <a:r>
                          <a:rPr lang="zh-CN" alt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</p:grpSp>
            <p:sp>
              <p:nvSpPr>
                <p:cNvPr id="4" name="文本框 3"/>
                <p:cNvSpPr txBox="1"/>
                <p:nvPr/>
              </p:nvSpPr>
              <p:spPr>
                <a:xfrm>
                  <a:off x="810" y="12102"/>
                  <a:ext cx="4497" cy="628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altLang="zh-CN" sz="2000"/>
                    <a:t>Pop growth rate</a:t>
                  </a:r>
                </a:p>
              </p:txBody>
            </p:sp>
            <p:sp>
              <p:nvSpPr>
                <p:cNvPr id="21" name="文本框 20"/>
                <p:cNvSpPr txBox="1"/>
                <p:nvPr/>
              </p:nvSpPr>
              <p:spPr>
                <a:xfrm>
                  <a:off x="6206" y="12102"/>
                  <a:ext cx="4497" cy="628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altLang="zh-CN" sz="2000"/>
                    <a:t>Pop growth rate</a:t>
                  </a:r>
                </a:p>
              </p:txBody>
            </p:sp>
            <p:sp>
              <p:nvSpPr>
                <p:cNvPr id="29" name="文本框 28"/>
                <p:cNvSpPr txBox="1"/>
                <p:nvPr/>
              </p:nvSpPr>
              <p:spPr>
                <a:xfrm>
                  <a:off x="11602" y="12102"/>
                  <a:ext cx="4497" cy="628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altLang="zh-CN" sz="2000"/>
                    <a:t>Pop growth rate</a:t>
                  </a:r>
                </a:p>
              </p:txBody>
            </p:sp>
          </p:grpSp>
          <p:pic>
            <p:nvPicPr>
              <p:cNvPr id="37" name="图片 36"/>
              <p:cNvPicPr>
                <a:picLocks noChangeAspect="1"/>
              </p:cNvPicPr>
              <p:nvPr/>
            </p:nvPicPr>
            <p:blipFill>
              <a:blip r:embed="rId14"/>
              <a:stretch>
                <a:fillRect/>
              </a:stretch>
            </p:blipFill>
            <p:spPr>
              <a:xfrm>
                <a:off x="16389" y="6417"/>
                <a:ext cx="5535" cy="3825"/>
              </a:xfrm>
              <a:prstGeom prst="rect">
                <a:avLst/>
              </a:prstGeom>
            </p:spPr>
          </p:pic>
        </p:grpSp>
      </p:grp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2" name="表格 1"/>
              <p:cNvGraphicFramePr/>
              <p:nvPr/>
            </p:nvGraphicFramePr>
            <p:xfrm>
              <a:off x="2160270" y="3096895"/>
              <a:ext cx="10079355" cy="3322320"/>
            </p:xfrm>
            <a:graphic>
              <a:graphicData uri="http://schemas.openxmlformats.org/drawingml/2006/table">
                <a:tbl>
                  <a:tblPr firstRow="1">
                    <a:tableStyleId>{9D7B26C5-4107-4FEC-AEDC-1716B250A1EF}</a:tableStyleId>
                  </a:tblPr>
                  <a:tblGrid>
                    <a:gridCol w="3359785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3359785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  <a:gridCol w="3359785">
                      <a:extLst>
                        <a:ext uri="{9D8B030D-6E8A-4147-A177-3AD203B41FA5}">
                          <a16:colId xmlns:a16="http://schemas.microsoft.com/office/drawing/2014/main" val="20002"/>
                        </a:ext>
                      </a:extLst>
                    </a:gridCol>
                  </a:tblGrid>
                  <a:tr h="381000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zh-CN" altLang="en-US"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Δ</a:t>
                          </a:r>
                          <a:r>
                            <a:rPr lang="en-US" altLang="zh-CN"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Param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/>
                            <a:t>Significance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/>
                            <a:t>Sign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381000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𝛥𝛼</m:t>
                                </m:r>
                              </m:oMath>
                            </m:oMathPara>
                          </a14:m>
                          <a:endParaRPr lang="zh-CN" altLang="en-US"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endParaRPr lang="zh-CN" altLang="en-US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endParaRPr lang="zh-CN" altLang="en-US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381000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zh-CN" sz="2125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𝛥𝛽</m:t>
                                </m:r>
                              </m:oMath>
                            </m:oMathPara>
                          </a14:m>
                          <a:endParaRPr lang="zh-CN" altLang="en-US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endParaRPr lang="zh-CN" altLang="en-US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endParaRPr lang="zh-CN" altLang="en-US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  <a:tr h="381000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zh-CN" sz="2125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𝛥𝜅</m:t>
                                </m:r>
                              </m:oMath>
                            </m:oMathPara>
                          </a14:m>
                          <a:endParaRPr lang="zh-CN" altLang="en-US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endParaRPr lang="zh-CN" altLang="en-US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endParaRPr lang="zh-CN" altLang="en-US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003"/>
                      </a:ext>
                    </a:extLst>
                  </a:tr>
                  <a:tr h="381000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zh-CN" sz="2125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𝛥𝛿</m:t>
                                </m:r>
                              </m:oMath>
                            </m:oMathPara>
                          </a14:m>
                          <a:endParaRPr lang="zh-CN" altLang="en-US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endParaRPr lang="zh-CN" altLang="en-US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endParaRPr lang="zh-CN" altLang="en-US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004"/>
                      </a:ext>
                    </a:extLst>
                  </a:tr>
                  <a:tr h="381000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zh-CN" sz="2125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𝛥</m:t>
                                </m:r>
                                <m:r>
                                  <a:rPr lang="en-US" altLang="zh-CN" sz="2125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𝐴</m:t>
                                </m:r>
                              </m:oMath>
                            </m:oMathPara>
                          </a14:m>
                          <a:endParaRPr lang="zh-CN" altLang="en-US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endParaRPr lang="zh-CN" altLang="en-US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endParaRPr lang="zh-CN" altLang="en-US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005"/>
                      </a:ext>
                    </a:extLst>
                  </a:tr>
                  <a:tr h="381000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zh-CN" sz="2125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𝛥</m:t>
                                </m:r>
                                <m:r>
                                  <a:rPr lang="en-US" altLang="zh-CN" sz="2125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𝐵</m:t>
                                </m:r>
                              </m:oMath>
                            </m:oMathPara>
                          </a14:m>
                          <a:endParaRPr lang="zh-CN" altLang="en-US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endParaRPr lang="zh-CN" altLang="en-US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endParaRPr lang="zh-CN" altLang="en-US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006"/>
                      </a:ext>
                    </a:extLst>
                  </a:tr>
                  <a:tr h="381000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zh-CN" sz="2125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𝛥</m:t>
                                </m:r>
                                <m:r>
                                  <a:rPr lang="en-US" altLang="zh-CN" sz="2125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𝐶</m:t>
                                </m:r>
                              </m:oMath>
                            </m:oMathPara>
                          </a14:m>
                          <a:endParaRPr lang="zh-CN" altLang="en-US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endParaRPr lang="zh-CN" altLang="en-US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endParaRPr lang="zh-CN" altLang="en-US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007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2" name="表格 1"/>
              <p:cNvGraphicFramePr/>
              <p:nvPr/>
            </p:nvGraphicFramePr>
            <p:xfrm>
              <a:off x="2160270" y="3096895"/>
              <a:ext cx="10079355" cy="3327400"/>
            </p:xfrm>
            <a:graphic>
              <a:graphicData uri="http://schemas.openxmlformats.org/drawingml/2006/table">
                <a:tbl>
                  <a:tblPr firstRow="1">
                    <a:tableStyleId>{9D7B26C5-4107-4FEC-AEDC-1716B250A1EF}</a:tableStyleId>
                  </a:tblPr>
                  <a:tblGrid>
                    <a:gridCol w="3359785"/>
                    <a:gridCol w="3359785"/>
                    <a:gridCol w="3359785"/>
                  </a:tblGrid>
                  <a:tr h="381000">
                    <a:tc>
                      <a:txBody>
                        <a:bodyPr/>
                        <a:p>
                          <a:pPr>
                            <a:buNone/>
                          </a:pPr>
                          <a:r>
                            <a:rPr lang="zh-CN" altLang="en-US"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Δ</a:t>
                          </a:r>
                          <a:r>
                            <a:rPr lang="en-US" altLang="zh-CN"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Param</a:t>
                          </a:r>
                          <a:endParaRPr lang="en-US" altLang="zh-CN"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p>
                          <a:pPr>
                            <a:buNone/>
                          </a:pPr>
                          <a:r>
                            <a:rPr lang="en-US" altLang="zh-CN"/>
                            <a:t>Significance</a:t>
                          </a:r>
                          <a:endParaRPr lang="en-US" altLang="zh-CN"/>
                        </a:p>
                      </a:txBody>
                      <a:tcPr/>
                    </a:tc>
                    <a:tc>
                      <a:txBody>
                        <a:bodyPr/>
                        <a:p>
                          <a:pPr>
                            <a:buNone/>
                          </a:pPr>
                          <a:r>
                            <a:rPr lang="en-US" altLang="zh-CN"/>
                            <a:t>Sign</a:t>
                          </a:r>
                          <a:endParaRPr lang="en-US" altLang="zh-CN"/>
                        </a:p>
                      </a:txBody>
                      <a:tcPr/>
                    </a:tc>
                  </a:tr>
                  <a:tr h="415925"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>
                        <a:blipFill>
                          <a:blip r:embed="rId2"/>
                        </a:blipFill>
                      </a:tcPr>
                    </a:tc>
                    <a:tc>
                      <a:txBody>
                        <a:bodyPr/>
                        <a:p>
                          <a:pPr>
                            <a:buNone/>
                          </a:pPr>
                          <a:endParaRPr lang="zh-CN" altLang="en-US"/>
                        </a:p>
                      </a:txBody>
                      <a:tcPr/>
                    </a:tc>
                    <a:tc>
                      <a:txBody>
                        <a:bodyPr/>
                        <a:p>
                          <a:pPr>
                            <a:buNone/>
                          </a:pPr>
                          <a:endParaRPr lang="zh-CN" altLang="en-US"/>
                        </a:p>
                      </a:txBody>
                      <a:tcPr/>
                    </a:tc>
                  </a:tr>
                  <a:tr h="415925"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>
                        <a:blipFill>
                          <a:blip r:embed="rId2"/>
                        </a:blipFill>
                      </a:tcPr>
                    </a:tc>
                    <a:tc>
                      <a:txBody>
                        <a:bodyPr/>
                        <a:p>
                          <a:pPr>
                            <a:buNone/>
                          </a:pPr>
                          <a:endParaRPr lang="zh-CN" altLang="en-US"/>
                        </a:p>
                      </a:txBody>
                      <a:tcPr/>
                    </a:tc>
                    <a:tc>
                      <a:txBody>
                        <a:bodyPr/>
                        <a:p>
                          <a:pPr>
                            <a:buNone/>
                          </a:pPr>
                          <a:endParaRPr lang="zh-CN" altLang="en-US"/>
                        </a:p>
                      </a:txBody>
                      <a:tcPr/>
                    </a:tc>
                  </a:tr>
                  <a:tr h="415925"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>
                        <a:blipFill>
                          <a:blip r:embed="rId2"/>
                        </a:blipFill>
                      </a:tcPr>
                    </a:tc>
                    <a:tc>
                      <a:txBody>
                        <a:bodyPr/>
                        <a:p>
                          <a:pPr>
                            <a:buNone/>
                          </a:pPr>
                          <a:endParaRPr lang="zh-CN" altLang="en-US"/>
                        </a:p>
                      </a:txBody>
                      <a:tcPr/>
                    </a:tc>
                    <a:tc>
                      <a:txBody>
                        <a:bodyPr/>
                        <a:p>
                          <a:pPr>
                            <a:buNone/>
                          </a:pPr>
                          <a:endParaRPr lang="zh-CN" altLang="en-US"/>
                        </a:p>
                      </a:txBody>
                      <a:tcPr/>
                    </a:tc>
                  </a:tr>
                  <a:tr h="415925"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>
                        <a:blipFill>
                          <a:blip r:embed="rId2"/>
                        </a:blipFill>
                      </a:tcPr>
                    </a:tc>
                    <a:tc>
                      <a:txBody>
                        <a:bodyPr/>
                        <a:p>
                          <a:pPr>
                            <a:buNone/>
                          </a:pPr>
                          <a:endParaRPr lang="zh-CN" altLang="en-US"/>
                        </a:p>
                      </a:txBody>
                      <a:tcPr/>
                    </a:tc>
                    <a:tc>
                      <a:txBody>
                        <a:bodyPr/>
                        <a:p>
                          <a:pPr>
                            <a:buNone/>
                          </a:pPr>
                          <a:endParaRPr lang="zh-CN" altLang="en-US"/>
                        </a:p>
                      </a:txBody>
                      <a:tcPr/>
                    </a:tc>
                  </a:tr>
                  <a:tr h="415925"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>
                        <a:blipFill>
                          <a:blip r:embed="rId2"/>
                        </a:blipFill>
                      </a:tcPr>
                    </a:tc>
                    <a:tc>
                      <a:txBody>
                        <a:bodyPr/>
                        <a:p>
                          <a:pPr>
                            <a:buNone/>
                          </a:pPr>
                          <a:endParaRPr lang="zh-CN" altLang="en-US"/>
                        </a:p>
                      </a:txBody>
                      <a:tcPr/>
                    </a:tc>
                    <a:tc>
                      <a:txBody>
                        <a:bodyPr/>
                        <a:p>
                          <a:pPr>
                            <a:buNone/>
                          </a:pPr>
                          <a:endParaRPr lang="zh-CN" altLang="en-US"/>
                        </a:p>
                      </a:txBody>
                      <a:tcPr/>
                    </a:tc>
                  </a:tr>
                  <a:tr h="415925"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>
                        <a:blipFill>
                          <a:blip r:embed="rId2"/>
                        </a:blipFill>
                      </a:tcPr>
                    </a:tc>
                    <a:tc>
                      <a:txBody>
                        <a:bodyPr/>
                        <a:p>
                          <a:pPr>
                            <a:buNone/>
                          </a:pPr>
                          <a:endParaRPr lang="zh-CN" altLang="en-US"/>
                        </a:p>
                      </a:txBody>
                      <a:tcPr/>
                    </a:tc>
                    <a:tc>
                      <a:txBody>
                        <a:bodyPr/>
                        <a:p>
                          <a:pPr>
                            <a:buNone/>
                          </a:pPr>
                          <a:endParaRPr lang="zh-CN" altLang="en-US"/>
                        </a:p>
                      </a:txBody>
                      <a:tcPr/>
                    </a:tc>
                  </a:tr>
                  <a:tr h="415925"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>
                        <a:blipFill>
                          <a:blip r:embed="rId2"/>
                        </a:blipFill>
                      </a:tcPr>
                    </a:tc>
                    <a:tc>
                      <a:txBody>
                        <a:bodyPr/>
                        <a:p>
                          <a:pPr>
                            <a:buNone/>
                          </a:pPr>
                          <a:endParaRPr lang="zh-CN" altLang="en-US"/>
                        </a:p>
                      </a:txBody>
                      <a:tcPr/>
                    </a:tc>
                    <a:tc>
                      <a:txBody>
                        <a:bodyPr/>
                        <a:p>
                          <a:pPr>
                            <a:buNone/>
                          </a:pPr>
                          <a:endParaRPr lang="zh-CN" altLang="en-US"/>
                        </a:p>
                      </a:txBody>
                      <a:tcPr/>
                    </a:tc>
                  </a:tr>
                </a:tbl>
              </a:graphicData>
            </a:graphic>
          </p:graphicFrame>
        </mc:Fallback>
      </mc:AlternateContent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1" name="组合 30"/>
          <p:cNvGrpSpPr/>
          <p:nvPr/>
        </p:nvGrpSpPr>
        <p:grpSpPr>
          <a:xfrm>
            <a:off x="286385" y="793750"/>
            <a:ext cx="13375640" cy="6555740"/>
            <a:chOff x="451" y="1250"/>
            <a:chExt cx="21064" cy="10324"/>
          </a:xfrm>
        </p:grpSpPr>
        <p:pic>
          <p:nvPicPr>
            <p:cNvPr id="30" name="图片 29"/>
            <p:cNvPicPr/>
            <p:nvPr/>
          </p:nvPicPr>
          <p:blipFill>
            <a:blip r:embed="rId2"/>
            <a:srcRect t="4937"/>
            <a:stretch>
              <a:fillRect/>
            </a:stretch>
          </p:blipFill>
          <p:spPr>
            <a:xfrm>
              <a:off x="11468" y="2755"/>
              <a:ext cx="8035" cy="7953"/>
            </a:xfrm>
            <a:prstGeom prst="rect">
              <a:avLst/>
            </a:prstGeom>
          </p:spPr>
        </p:pic>
        <p:pic>
          <p:nvPicPr>
            <p:cNvPr id="29" name="图片 28"/>
            <p:cNvPicPr/>
            <p:nvPr/>
          </p:nvPicPr>
          <p:blipFill>
            <a:blip r:embed="rId3"/>
            <a:srcRect t="4937"/>
            <a:stretch>
              <a:fillRect/>
            </a:stretch>
          </p:blipFill>
          <p:spPr>
            <a:xfrm>
              <a:off x="1160" y="2755"/>
              <a:ext cx="8035" cy="7953"/>
            </a:xfrm>
            <a:prstGeom prst="rect">
              <a:avLst/>
            </a:prstGeom>
          </p:spPr>
        </p:pic>
        <p:grpSp>
          <p:nvGrpSpPr>
            <p:cNvPr id="28" name="组合 27"/>
            <p:cNvGrpSpPr/>
            <p:nvPr/>
          </p:nvGrpSpPr>
          <p:grpSpPr>
            <a:xfrm>
              <a:off x="451" y="1250"/>
              <a:ext cx="21065" cy="10324"/>
              <a:chOff x="655" y="941"/>
              <a:chExt cx="21065" cy="10324"/>
            </a:xfrm>
          </p:grpSpPr>
          <p:grpSp>
            <p:nvGrpSpPr>
              <p:cNvPr id="11" name="组合 10"/>
              <p:cNvGrpSpPr/>
              <p:nvPr/>
            </p:nvGrpSpPr>
            <p:grpSpPr>
              <a:xfrm>
                <a:off x="655" y="1763"/>
                <a:ext cx="10698" cy="9502"/>
                <a:chOff x="655" y="1763"/>
                <a:chExt cx="10698" cy="9502"/>
              </a:xfrm>
            </p:grpSpPr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3" name="文本框 12"/>
                    <p:cNvSpPr txBox="1"/>
                    <p:nvPr/>
                  </p:nvSpPr>
                  <p:spPr>
                    <a:xfrm>
                      <a:off x="9371" y="5886"/>
                      <a:ext cx="1982" cy="98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noAutofit/>
                    </a:bodyPr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"/>
                          </m:oMathParaPr>
                          <m:oMath xmlns:m="http://schemas.openxmlformats.org/officeDocument/2006/math">
                            <m:r>
                              <a:rPr lang="en-US" altLang="zh-CN" sz="2800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𝑝𝑟𝑜𝑏</m:t>
                            </m:r>
                            <m:r>
                              <a:rPr lang="en-US" altLang="zh-CN" sz="2800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(</m:t>
                            </m:r>
                            <m:r>
                              <a:rPr lang="en-US" altLang="zh-CN" sz="2800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𝛼</m:t>
                            </m:r>
                            <m:r>
                              <a:rPr lang="en-US" altLang="zh-CN" sz="2800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)</m:t>
                            </m:r>
                          </m:oMath>
                        </m:oMathPara>
                      </a14:m>
                      <a:endParaRPr lang="en-US" altLang="zh-CN" sz="2800" i="1">
                        <a:latin typeface="Cambria Math" panose="02040503050406030204" charset="0"/>
                        <a:ea typeface="MS Mincho" charset="0"/>
                        <a:cs typeface="Cambria Math" panose="02040503050406030204" charset="0"/>
                      </a:endParaRPr>
                    </a:p>
                  </p:txBody>
                </p:sp>
              </mc:Choice>
              <mc:Fallback xmlns="">
                <p:sp>
                  <p:nvSpPr>
                    <p:cNvPr id="13" name="文本框 12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9371" y="5886"/>
                      <a:ext cx="1982" cy="984"/>
                    </a:xfrm>
                    <a:prstGeom prst="rect">
                      <a:avLst/>
                    </a:prstGeom>
                    <a:blipFill rotWithShape="1">
                      <a:blip r:embed="rId4"/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5" name="文本框 14"/>
                    <p:cNvSpPr txBox="1"/>
                    <p:nvPr/>
                  </p:nvSpPr>
                  <p:spPr>
                    <a:xfrm>
                      <a:off x="7650" y="2629"/>
                      <a:ext cx="1199" cy="100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noAutofit/>
                    </a:bodyPr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"/>
                          </m:oMathParaPr>
                          <m:oMath xmlns:m="http://schemas.openxmlformats.org/officeDocument/2006/math">
                            <m:r>
                              <a:rPr lang="en-US" altLang="zh-CN" sz="2800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𝛽</m:t>
                            </m:r>
                          </m:oMath>
                        </m:oMathPara>
                      </a14:m>
                      <a:endParaRPr lang="en-US" altLang="zh-CN" sz="2800" i="1">
                        <a:latin typeface="Cambria Math" panose="02040503050406030204" charset="0"/>
                        <a:ea typeface="MS Mincho" charset="0"/>
                        <a:cs typeface="Cambria Math" panose="02040503050406030204" charset="0"/>
                      </a:endParaRPr>
                    </a:p>
                  </p:txBody>
                </p:sp>
              </mc:Choice>
              <mc:Fallback xmlns="">
                <p:sp>
                  <p:nvSpPr>
                    <p:cNvPr id="15" name="文本框 14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7650" y="2629"/>
                      <a:ext cx="1199" cy="1004"/>
                    </a:xfrm>
                    <a:prstGeom prst="rect">
                      <a:avLst/>
                    </a:prstGeom>
                    <a:blipFill rotWithShape="1">
                      <a:blip r:embed="rId5"/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2" name="文本框 21"/>
                    <p:cNvSpPr txBox="1"/>
                    <p:nvPr/>
                  </p:nvSpPr>
                  <p:spPr>
                    <a:xfrm>
                      <a:off x="3496" y="1763"/>
                      <a:ext cx="2510" cy="100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noAutofit/>
                    </a:bodyPr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"/>
                          </m:oMathParaPr>
                          <m:oMath xmlns:m="http://schemas.openxmlformats.org/officeDocument/2006/math">
                            <m:r>
                              <a:rPr lang="en-US" altLang="zh-CN" sz="2800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𝑝𝑟𝑜𝑏</m:t>
                            </m:r>
                            <m:r>
                              <a:rPr lang="en-US" altLang="zh-CN" sz="2800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(</m:t>
                            </m:r>
                            <m:r>
                              <a:rPr lang="en-US" altLang="zh-CN" sz="2800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𝜅</m:t>
                            </m:r>
                            <m:r>
                              <a:rPr lang="en-US" altLang="zh-CN" sz="2800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)</m:t>
                            </m:r>
                          </m:oMath>
                        </m:oMathPara>
                      </a14:m>
                      <a:endParaRPr lang="en-US" altLang="zh-CN" sz="2800" i="1">
                        <a:latin typeface="Cambria Math" panose="02040503050406030204" charset="0"/>
                        <a:ea typeface="MS Mincho" charset="0"/>
                        <a:cs typeface="Cambria Math" panose="02040503050406030204" charset="0"/>
                      </a:endParaRPr>
                    </a:p>
                  </p:txBody>
                </p:sp>
              </mc:Choice>
              <mc:Fallback xmlns="">
                <p:sp>
                  <p:nvSpPr>
                    <p:cNvPr id="22" name="文本框 21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496" y="1763"/>
                      <a:ext cx="2510" cy="1004"/>
                    </a:xfrm>
                    <a:prstGeom prst="rect">
                      <a:avLst/>
                    </a:prstGeom>
                    <a:blipFill rotWithShape="1">
                      <a:blip r:embed="rId6"/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3" name="文本框 22"/>
                    <p:cNvSpPr txBox="1"/>
                    <p:nvPr/>
                  </p:nvSpPr>
                  <p:spPr>
                    <a:xfrm>
                      <a:off x="924" y="3951"/>
                      <a:ext cx="1199" cy="100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noAutofit/>
                    </a:bodyPr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"/>
                          </m:oMathParaPr>
                          <m:oMath xmlns:m="http://schemas.openxmlformats.org/officeDocument/2006/math">
                            <m:r>
                              <a:rPr lang="en-US" altLang="zh-CN" sz="2800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𝛿</m:t>
                            </m:r>
                          </m:oMath>
                        </m:oMathPara>
                      </a14:m>
                      <a:endParaRPr lang="en-US" altLang="zh-CN" sz="2800" i="1">
                        <a:latin typeface="Cambria Math" panose="02040503050406030204" charset="0"/>
                        <a:ea typeface="MS Mincho" charset="0"/>
                        <a:cs typeface="Cambria Math" panose="02040503050406030204" charset="0"/>
                      </a:endParaRPr>
                    </a:p>
                  </p:txBody>
                </p:sp>
              </mc:Choice>
              <mc:Fallback xmlns="">
                <p:sp>
                  <p:nvSpPr>
                    <p:cNvPr id="23" name="文本框 22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924" y="3951"/>
                      <a:ext cx="1199" cy="1004"/>
                    </a:xfrm>
                    <a:prstGeom prst="rect">
                      <a:avLst/>
                    </a:prstGeom>
                    <a:blipFill rotWithShape="1">
                      <a:blip r:embed="rId7"/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7" name="文本框 6"/>
                    <p:cNvSpPr txBox="1"/>
                    <p:nvPr/>
                  </p:nvSpPr>
                  <p:spPr>
                    <a:xfrm>
                      <a:off x="655" y="7578"/>
                      <a:ext cx="1199" cy="100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noAutofit/>
                    </a:bodyPr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"/>
                          </m:oMathParaPr>
                          <m:oMath xmlns:m="http://schemas.openxmlformats.org/officeDocument/2006/math">
                            <m:r>
                              <a:rPr lang="en-US" altLang="zh-CN" sz="2800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𝐴</m:t>
                            </m:r>
                          </m:oMath>
                        </m:oMathPara>
                      </a14:m>
                      <a:endParaRPr lang="en-US" altLang="zh-CN" sz="2800" i="1">
                        <a:latin typeface="Cambria Math" panose="02040503050406030204" charset="0"/>
                        <a:ea typeface="MS Mincho" charset="0"/>
                        <a:cs typeface="Cambria Math" panose="02040503050406030204" charset="0"/>
                      </a:endParaRPr>
                    </a:p>
                  </p:txBody>
                </p:sp>
              </mc:Choice>
              <mc:Fallback xmlns="">
                <p:sp>
                  <p:nvSpPr>
                    <p:cNvPr id="7" name="文本框 6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655" y="7578"/>
                      <a:ext cx="1199" cy="1004"/>
                    </a:xfrm>
                    <a:prstGeom prst="rect">
                      <a:avLst/>
                    </a:prstGeom>
                    <a:blipFill rotWithShape="1">
                      <a:blip r:embed="rId8"/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8" name="文本框 7"/>
                    <p:cNvSpPr txBox="1"/>
                    <p:nvPr/>
                  </p:nvSpPr>
                  <p:spPr>
                    <a:xfrm>
                      <a:off x="3695" y="10261"/>
                      <a:ext cx="1199" cy="100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noAutofit/>
                    </a:bodyPr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"/>
                          </m:oMathParaPr>
                          <m:oMath xmlns:m="http://schemas.openxmlformats.org/officeDocument/2006/math">
                            <m:r>
                              <a:rPr lang="en-US" altLang="zh-CN" sz="2800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𝐵</m:t>
                            </m:r>
                          </m:oMath>
                        </m:oMathPara>
                      </a14:m>
                      <a:endParaRPr lang="en-US" altLang="zh-CN" sz="2800" i="1">
                        <a:latin typeface="Cambria Math" panose="02040503050406030204" charset="0"/>
                        <a:ea typeface="MS Mincho" charset="0"/>
                        <a:cs typeface="Cambria Math" panose="02040503050406030204" charset="0"/>
                      </a:endParaRPr>
                    </a:p>
                  </p:txBody>
                </p:sp>
              </mc:Choice>
              <mc:Fallback xmlns="">
                <p:sp>
                  <p:nvSpPr>
                    <p:cNvPr id="8" name="文本框 7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695" y="10261"/>
                      <a:ext cx="1199" cy="1004"/>
                    </a:xfrm>
                    <a:prstGeom prst="rect">
                      <a:avLst/>
                    </a:prstGeom>
                    <a:blipFill rotWithShape="1">
                      <a:blip r:embed="rId9"/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9" name="文本框 8"/>
                    <p:cNvSpPr txBox="1"/>
                    <p:nvPr/>
                  </p:nvSpPr>
                  <p:spPr>
                    <a:xfrm>
                      <a:off x="7650" y="9257"/>
                      <a:ext cx="1199" cy="100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noAutofit/>
                    </a:bodyPr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"/>
                          </m:oMathParaPr>
                          <m:oMath xmlns:m="http://schemas.openxmlformats.org/officeDocument/2006/math">
                            <m:r>
                              <a:rPr lang="en-US" altLang="zh-CN" sz="2800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𝐶</m:t>
                            </m:r>
                          </m:oMath>
                        </m:oMathPara>
                      </a14:m>
                      <a:endParaRPr lang="en-US" altLang="zh-CN" sz="2800" i="1">
                        <a:latin typeface="Cambria Math" panose="02040503050406030204" charset="0"/>
                        <a:ea typeface="MS Mincho" charset="0"/>
                        <a:cs typeface="Cambria Math" panose="02040503050406030204" charset="0"/>
                      </a:endParaRPr>
                    </a:p>
                  </p:txBody>
                </p:sp>
              </mc:Choice>
              <mc:Fallback xmlns="">
                <p:sp>
                  <p:nvSpPr>
                    <p:cNvPr id="9" name="文本框 8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7650" y="9257"/>
                      <a:ext cx="1199" cy="1004"/>
                    </a:xfrm>
                    <a:prstGeom prst="rect">
                      <a:avLst/>
                    </a:prstGeom>
                    <a:blipFill rotWithShape="1">
                      <a:blip r:embed="rId10"/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grpSp>
            <p:nvGrpSpPr>
              <p:cNvPr id="14" name="组合 13"/>
              <p:cNvGrpSpPr/>
              <p:nvPr/>
            </p:nvGrpSpPr>
            <p:grpSpPr>
              <a:xfrm>
                <a:off x="11022" y="1763"/>
                <a:ext cx="10698" cy="9502"/>
                <a:chOff x="655" y="1763"/>
                <a:chExt cx="10698" cy="9502"/>
              </a:xfrm>
            </p:grpSpPr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6" name="文本框 15"/>
                    <p:cNvSpPr txBox="1"/>
                    <p:nvPr/>
                  </p:nvSpPr>
                  <p:spPr>
                    <a:xfrm>
                      <a:off x="9371" y="5886"/>
                      <a:ext cx="1982" cy="98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noAutofit/>
                    </a:bodyPr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"/>
                          </m:oMathParaPr>
                          <m:oMath xmlns:m="http://schemas.openxmlformats.org/officeDocument/2006/math">
                            <m:r>
                              <a:rPr lang="en-US" altLang="zh-CN" sz="2800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𝑝𝑟𝑜𝑏</m:t>
                            </m:r>
                            <m:r>
                              <a:rPr lang="en-US" altLang="zh-CN" sz="2800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(</m:t>
                            </m:r>
                            <m:r>
                              <a:rPr lang="en-US" altLang="zh-CN" sz="2800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𝛼</m:t>
                            </m:r>
                            <m:r>
                              <a:rPr lang="en-US" altLang="zh-CN" sz="2800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)</m:t>
                            </m:r>
                          </m:oMath>
                        </m:oMathPara>
                      </a14:m>
                      <a:endParaRPr lang="en-US" altLang="zh-CN" sz="2800" i="1">
                        <a:latin typeface="Cambria Math" panose="02040503050406030204" charset="0"/>
                        <a:ea typeface="MS Mincho" charset="0"/>
                        <a:cs typeface="Cambria Math" panose="02040503050406030204" charset="0"/>
                      </a:endParaRPr>
                    </a:p>
                  </p:txBody>
                </p:sp>
              </mc:Choice>
              <mc:Fallback xmlns="">
                <p:sp>
                  <p:nvSpPr>
                    <p:cNvPr id="16" name="文本框 15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9371" y="5886"/>
                      <a:ext cx="1982" cy="984"/>
                    </a:xfrm>
                    <a:prstGeom prst="rect">
                      <a:avLst/>
                    </a:prstGeom>
                    <a:blipFill rotWithShape="1">
                      <a:blip r:embed="rId4"/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7" name="文本框 16"/>
                    <p:cNvSpPr txBox="1"/>
                    <p:nvPr/>
                  </p:nvSpPr>
                  <p:spPr>
                    <a:xfrm>
                      <a:off x="7650" y="2629"/>
                      <a:ext cx="1199" cy="100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noAutofit/>
                    </a:bodyPr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"/>
                          </m:oMathParaPr>
                          <m:oMath xmlns:m="http://schemas.openxmlformats.org/officeDocument/2006/math">
                            <m:r>
                              <a:rPr lang="en-US" altLang="zh-CN" sz="2800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𝛽</m:t>
                            </m:r>
                          </m:oMath>
                        </m:oMathPara>
                      </a14:m>
                      <a:endParaRPr lang="en-US" altLang="zh-CN" sz="2800" i="1">
                        <a:latin typeface="Cambria Math" panose="02040503050406030204" charset="0"/>
                        <a:ea typeface="MS Mincho" charset="0"/>
                        <a:cs typeface="Cambria Math" panose="02040503050406030204" charset="0"/>
                      </a:endParaRPr>
                    </a:p>
                  </p:txBody>
                </p:sp>
              </mc:Choice>
              <mc:Fallback xmlns="">
                <p:sp>
                  <p:nvSpPr>
                    <p:cNvPr id="17" name="文本框 16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7650" y="2629"/>
                      <a:ext cx="1199" cy="1004"/>
                    </a:xfrm>
                    <a:prstGeom prst="rect">
                      <a:avLst/>
                    </a:prstGeom>
                    <a:blipFill rotWithShape="1">
                      <a:blip r:embed="rId5"/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8" name="文本框 17"/>
                    <p:cNvSpPr txBox="1"/>
                    <p:nvPr/>
                  </p:nvSpPr>
                  <p:spPr>
                    <a:xfrm>
                      <a:off x="3496" y="1763"/>
                      <a:ext cx="2510" cy="100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noAutofit/>
                    </a:bodyPr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"/>
                          </m:oMathParaPr>
                          <m:oMath xmlns:m="http://schemas.openxmlformats.org/officeDocument/2006/math">
                            <m:r>
                              <a:rPr lang="en-US" altLang="zh-CN" sz="2800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𝑝𝑟𝑜𝑏</m:t>
                            </m:r>
                            <m:r>
                              <a:rPr lang="en-US" altLang="zh-CN" sz="2800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(</m:t>
                            </m:r>
                            <m:r>
                              <a:rPr lang="en-US" altLang="zh-CN" sz="2800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𝜅</m:t>
                            </m:r>
                            <m:r>
                              <a:rPr lang="en-US" altLang="zh-CN" sz="2800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)</m:t>
                            </m:r>
                          </m:oMath>
                        </m:oMathPara>
                      </a14:m>
                      <a:endParaRPr lang="en-US" altLang="zh-CN" sz="2800" i="1">
                        <a:latin typeface="Cambria Math" panose="02040503050406030204" charset="0"/>
                        <a:ea typeface="MS Mincho" charset="0"/>
                        <a:cs typeface="Cambria Math" panose="02040503050406030204" charset="0"/>
                      </a:endParaRPr>
                    </a:p>
                  </p:txBody>
                </p:sp>
              </mc:Choice>
              <mc:Fallback xmlns="">
                <p:sp>
                  <p:nvSpPr>
                    <p:cNvPr id="18" name="文本框 17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496" y="1763"/>
                      <a:ext cx="2510" cy="1004"/>
                    </a:xfrm>
                    <a:prstGeom prst="rect">
                      <a:avLst/>
                    </a:prstGeom>
                    <a:blipFill rotWithShape="1">
                      <a:blip r:embed="rId6"/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9" name="文本框 18"/>
                    <p:cNvSpPr txBox="1"/>
                    <p:nvPr/>
                  </p:nvSpPr>
                  <p:spPr>
                    <a:xfrm>
                      <a:off x="924" y="3951"/>
                      <a:ext cx="1199" cy="100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noAutofit/>
                    </a:bodyPr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"/>
                          </m:oMathParaPr>
                          <m:oMath xmlns:m="http://schemas.openxmlformats.org/officeDocument/2006/math">
                            <m:r>
                              <a:rPr lang="en-US" altLang="zh-CN" sz="2800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𝛿</m:t>
                            </m:r>
                          </m:oMath>
                        </m:oMathPara>
                      </a14:m>
                      <a:endParaRPr lang="en-US" altLang="zh-CN" sz="2800" i="1">
                        <a:latin typeface="Cambria Math" panose="02040503050406030204" charset="0"/>
                        <a:ea typeface="MS Mincho" charset="0"/>
                        <a:cs typeface="Cambria Math" panose="02040503050406030204" charset="0"/>
                      </a:endParaRPr>
                    </a:p>
                  </p:txBody>
                </p:sp>
              </mc:Choice>
              <mc:Fallback xmlns="">
                <p:sp>
                  <p:nvSpPr>
                    <p:cNvPr id="19" name="文本框 18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924" y="3951"/>
                      <a:ext cx="1199" cy="1004"/>
                    </a:xfrm>
                    <a:prstGeom prst="rect">
                      <a:avLst/>
                    </a:prstGeom>
                    <a:blipFill rotWithShape="1">
                      <a:blip r:embed="rId7"/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0" name="文本框 19"/>
                    <p:cNvSpPr txBox="1"/>
                    <p:nvPr/>
                  </p:nvSpPr>
                  <p:spPr>
                    <a:xfrm>
                      <a:off x="655" y="7578"/>
                      <a:ext cx="1199" cy="100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noAutofit/>
                    </a:bodyPr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"/>
                          </m:oMathParaPr>
                          <m:oMath xmlns:m="http://schemas.openxmlformats.org/officeDocument/2006/math">
                            <m:r>
                              <a:rPr lang="en-US" altLang="zh-CN" sz="2800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𝐴</m:t>
                            </m:r>
                          </m:oMath>
                        </m:oMathPara>
                      </a14:m>
                      <a:endParaRPr lang="en-US" altLang="zh-CN" sz="2800" i="1">
                        <a:latin typeface="Cambria Math" panose="02040503050406030204" charset="0"/>
                        <a:ea typeface="MS Mincho" charset="0"/>
                        <a:cs typeface="Cambria Math" panose="02040503050406030204" charset="0"/>
                      </a:endParaRPr>
                    </a:p>
                  </p:txBody>
                </p:sp>
              </mc:Choice>
              <mc:Fallback xmlns="">
                <p:sp>
                  <p:nvSpPr>
                    <p:cNvPr id="20" name="文本框 19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655" y="7578"/>
                      <a:ext cx="1199" cy="1004"/>
                    </a:xfrm>
                    <a:prstGeom prst="rect">
                      <a:avLst/>
                    </a:prstGeom>
                    <a:blipFill rotWithShape="1">
                      <a:blip r:embed="rId8"/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1" name="文本框 20"/>
                    <p:cNvSpPr txBox="1"/>
                    <p:nvPr/>
                  </p:nvSpPr>
                  <p:spPr>
                    <a:xfrm>
                      <a:off x="3695" y="10261"/>
                      <a:ext cx="1199" cy="100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noAutofit/>
                    </a:bodyPr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"/>
                          </m:oMathParaPr>
                          <m:oMath xmlns:m="http://schemas.openxmlformats.org/officeDocument/2006/math">
                            <m:r>
                              <a:rPr lang="en-US" altLang="zh-CN" sz="2800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𝐵</m:t>
                            </m:r>
                          </m:oMath>
                        </m:oMathPara>
                      </a14:m>
                      <a:endParaRPr lang="en-US" altLang="zh-CN" sz="2800" i="1">
                        <a:latin typeface="Cambria Math" panose="02040503050406030204" charset="0"/>
                        <a:ea typeface="MS Mincho" charset="0"/>
                        <a:cs typeface="Cambria Math" panose="02040503050406030204" charset="0"/>
                      </a:endParaRPr>
                    </a:p>
                  </p:txBody>
                </p:sp>
              </mc:Choice>
              <mc:Fallback xmlns="">
                <p:sp>
                  <p:nvSpPr>
                    <p:cNvPr id="21" name="文本框 20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695" y="10261"/>
                      <a:ext cx="1199" cy="1004"/>
                    </a:xfrm>
                    <a:prstGeom prst="rect">
                      <a:avLst/>
                    </a:prstGeom>
                    <a:blipFill rotWithShape="1">
                      <a:blip r:embed="rId9"/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4" name="文本框 23"/>
                    <p:cNvSpPr txBox="1"/>
                    <p:nvPr/>
                  </p:nvSpPr>
                  <p:spPr>
                    <a:xfrm>
                      <a:off x="7650" y="9257"/>
                      <a:ext cx="1199" cy="100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noAutofit/>
                    </a:bodyPr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"/>
                          </m:oMathParaPr>
                          <m:oMath xmlns:m="http://schemas.openxmlformats.org/officeDocument/2006/math">
                            <m:r>
                              <a:rPr lang="en-US" altLang="zh-CN" sz="2800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𝐶</m:t>
                            </m:r>
                          </m:oMath>
                        </m:oMathPara>
                      </a14:m>
                      <a:endParaRPr lang="en-US" altLang="zh-CN" sz="2800" i="1">
                        <a:latin typeface="Cambria Math" panose="02040503050406030204" charset="0"/>
                        <a:ea typeface="MS Mincho" charset="0"/>
                        <a:cs typeface="Cambria Math" panose="02040503050406030204" charset="0"/>
                      </a:endParaRPr>
                    </a:p>
                  </p:txBody>
                </p:sp>
              </mc:Choice>
              <mc:Fallback xmlns="">
                <p:sp>
                  <p:nvSpPr>
                    <p:cNvPr id="24" name="文本框 23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7650" y="9257"/>
                      <a:ext cx="1199" cy="1004"/>
                    </a:xfrm>
                    <a:prstGeom prst="rect">
                      <a:avLst/>
                    </a:prstGeom>
                    <a:blipFill rotWithShape="1">
                      <a:blip r:embed="rId10"/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sp>
            <p:nvSpPr>
              <p:cNvPr id="25" name="文本框 24"/>
              <p:cNvSpPr txBox="1"/>
              <p:nvPr/>
            </p:nvSpPr>
            <p:spPr>
              <a:xfrm>
                <a:off x="3948" y="941"/>
                <a:ext cx="1606" cy="82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2800"/>
                  <a:t>2016</a:t>
                </a:r>
              </a:p>
            </p:txBody>
          </p:sp>
          <p:sp>
            <p:nvSpPr>
              <p:cNvPr id="26" name="文本框 25"/>
              <p:cNvSpPr txBox="1"/>
              <p:nvPr/>
            </p:nvSpPr>
            <p:spPr>
              <a:xfrm>
                <a:off x="15261" y="963"/>
                <a:ext cx="1606" cy="82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2800"/>
                  <a:t>2023</a:t>
                </a:r>
              </a:p>
            </p:txBody>
          </p:sp>
          <p:grpSp>
            <p:nvGrpSpPr>
              <p:cNvPr id="27" name="组合 26"/>
              <p:cNvGrpSpPr/>
              <p:nvPr/>
            </p:nvGrpSpPr>
            <p:grpSpPr>
              <a:xfrm>
                <a:off x="8849" y="9109"/>
                <a:ext cx="5334" cy="1886"/>
                <a:chOff x="9225" y="1246"/>
                <a:chExt cx="5334" cy="1886"/>
              </a:xfrm>
            </p:grpSpPr>
            <p:sp>
              <p:nvSpPr>
                <p:cNvPr id="35" name="圆角矩形 34"/>
                <p:cNvSpPr/>
                <p:nvPr/>
              </p:nvSpPr>
              <p:spPr>
                <a:xfrm>
                  <a:off x="9225" y="2686"/>
                  <a:ext cx="530" cy="338"/>
                </a:xfrm>
                <a:prstGeom prst="roundRect">
                  <a:avLst/>
                </a:prstGeom>
                <a:solidFill>
                  <a:srgbClr val="47A2DE">
                    <a:alpha val="20000"/>
                  </a:srgbClr>
                </a:solidFill>
                <a:ln w="38100">
                  <a:solidFill>
                    <a:srgbClr val="47A2DE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2400"/>
                </a:p>
              </p:txBody>
            </p:sp>
            <p:sp>
              <p:nvSpPr>
                <p:cNvPr id="38" name="文本框 37"/>
                <p:cNvSpPr txBox="1"/>
                <p:nvPr/>
              </p:nvSpPr>
              <p:spPr>
                <a:xfrm>
                  <a:off x="9775" y="2504"/>
                  <a:ext cx="3168" cy="628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2000"/>
                    <a:t>Latin America</a:t>
                  </a:r>
                </a:p>
              </p:txBody>
            </p:sp>
            <p:sp>
              <p:nvSpPr>
                <p:cNvPr id="44" name="圆角矩形 43"/>
                <p:cNvSpPr/>
                <p:nvPr/>
              </p:nvSpPr>
              <p:spPr>
                <a:xfrm>
                  <a:off x="9225" y="1419"/>
                  <a:ext cx="530" cy="338"/>
                </a:xfrm>
                <a:prstGeom prst="roundRect">
                  <a:avLst/>
                </a:prstGeom>
                <a:solidFill>
                  <a:srgbClr val="E85748">
                    <a:alpha val="20000"/>
                  </a:srgbClr>
                </a:solidFill>
                <a:ln w="38100">
                  <a:solidFill>
                    <a:srgbClr val="E85748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2400"/>
                </a:p>
              </p:txBody>
            </p:sp>
            <p:sp>
              <p:nvSpPr>
                <p:cNvPr id="45" name="文本框 44"/>
                <p:cNvSpPr txBox="1"/>
                <p:nvPr/>
              </p:nvSpPr>
              <p:spPr>
                <a:xfrm>
                  <a:off x="9775" y="1246"/>
                  <a:ext cx="3227" cy="628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2000"/>
                    <a:t>Africa</a:t>
                  </a:r>
                </a:p>
              </p:txBody>
            </p:sp>
            <p:sp>
              <p:nvSpPr>
                <p:cNvPr id="48" name="圆角矩形 47"/>
                <p:cNvSpPr/>
                <p:nvPr/>
              </p:nvSpPr>
              <p:spPr>
                <a:xfrm>
                  <a:off x="9225" y="2061"/>
                  <a:ext cx="530" cy="338"/>
                </a:xfrm>
                <a:prstGeom prst="roundRect">
                  <a:avLst/>
                </a:prstGeom>
                <a:solidFill>
                  <a:srgbClr val="F39F1B">
                    <a:alpha val="20000"/>
                  </a:srgbClr>
                </a:solidFill>
                <a:ln w="38100">
                  <a:solidFill>
                    <a:srgbClr val="F39F1B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2400"/>
                </a:p>
              </p:txBody>
            </p:sp>
            <p:sp>
              <p:nvSpPr>
                <p:cNvPr id="49" name="文本框 48"/>
                <p:cNvSpPr txBox="1"/>
                <p:nvPr/>
              </p:nvSpPr>
              <p:spPr>
                <a:xfrm>
                  <a:off x="9775" y="1875"/>
                  <a:ext cx="4784" cy="628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2000">
                      <a:sym typeface="+mn-ea"/>
                    </a:rPr>
                    <a:t>South &amp; South-east Asia</a:t>
                  </a:r>
                </a:p>
              </p:txBody>
            </p:sp>
          </p:grpSp>
        </p:grpSp>
      </p:grpSp>
    </p:spTree>
  </p:cSld>
  <p:clrMapOvr>
    <a:masterClrMapping/>
  </p:clrMapOvr>
  <p:transition/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/>
          <p:cNvPicPr/>
          <p:nvPr/>
        </p:nvPicPr>
        <p:blipFill>
          <a:blip r:embed="rId2"/>
          <a:stretch>
            <a:fillRect/>
          </a:stretch>
        </p:blipFill>
        <p:spPr>
          <a:xfrm>
            <a:off x="325755" y="8511540"/>
            <a:ext cx="3649980" cy="3657600"/>
          </a:xfrm>
          <a:prstGeom prst="rect">
            <a:avLst/>
          </a:prstGeom>
        </p:spPr>
      </p:pic>
      <p:grpSp>
        <p:nvGrpSpPr>
          <p:cNvPr id="6" name="组合 5"/>
          <p:cNvGrpSpPr/>
          <p:nvPr/>
        </p:nvGrpSpPr>
        <p:grpSpPr>
          <a:xfrm>
            <a:off x="65405" y="1230630"/>
            <a:ext cx="14261465" cy="5057775"/>
            <a:chOff x="103" y="1938"/>
            <a:chExt cx="22459" cy="7965"/>
          </a:xfrm>
        </p:grpSpPr>
        <p:pic>
          <p:nvPicPr>
            <p:cNvPr id="56" name="图片 55"/>
            <p:cNvPicPr/>
            <p:nvPr/>
          </p:nvPicPr>
          <p:blipFill>
            <a:blip r:embed="rId3"/>
            <a:stretch>
              <a:fillRect/>
            </a:stretch>
          </p:blipFill>
          <p:spPr>
            <a:xfrm>
              <a:off x="15387" y="3027"/>
              <a:ext cx="5750" cy="5761"/>
            </a:xfrm>
            <a:prstGeom prst="rect">
              <a:avLst/>
            </a:prstGeom>
          </p:spPr>
        </p:pic>
        <p:pic>
          <p:nvPicPr>
            <p:cNvPr id="54" name="图片 53"/>
            <p:cNvPicPr/>
            <p:nvPr/>
          </p:nvPicPr>
          <p:blipFill>
            <a:blip r:embed="rId4"/>
            <a:stretch>
              <a:fillRect/>
            </a:stretch>
          </p:blipFill>
          <p:spPr>
            <a:xfrm>
              <a:off x="7936" y="3027"/>
              <a:ext cx="5750" cy="5761"/>
            </a:xfrm>
            <a:prstGeom prst="rect">
              <a:avLst/>
            </a:prstGeom>
          </p:spPr>
        </p:pic>
        <p:pic>
          <p:nvPicPr>
            <p:cNvPr id="51" name="图片 50"/>
            <p:cNvPicPr/>
            <p:nvPr/>
          </p:nvPicPr>
          <p:blipFill>
            <a:blip r:embed="rId5"/>
            <a:stretch>
              <a:fillRect/>
            </a:stretch>
          </p:blipFill>
          <p:spPr>
            <a:xfrm>
              <a:off x="590" y="3027"/>
              <a:ext cx="5750" cy="5761"/>
            </a:xfrm>
            <a:prstGeom prst="rect">
              <a:avLst/>
            </a:prstGeom>
          </p:spPr>
        </p:pic>
        <p:grpSp>
          <p:nvGrpSpPr>
            <p:cNvPr id="11" name="组合 10"/>
            <p:cNvGrpSpPr/>
            <p:nvPr/>
          </p:nvGrpSpPr>
          <p:grpSpPr>
            <a:xfrm>
              <a:off x="103" y="2608"/>
              <a:ext cx="7654" cy="6799"/>
              <a:chOff x="655" y="1763"/>
              <a:chExt cx="10698" cy="9502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3" name="文本框 12"/>
                  <p:cNvSpPr txBox="1"/>
                  <p:nvPr/>
                </p:nvSpPr>
                <p:spPr>
                  <a:xfrm>
                    <a:off x="9371" y="5886"/>
                    <a:ext cx="1982" cy="98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sz="2000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𝑝𝑟𝑜𝑏</m:t>
                          </m:r>
                          <m:r>
                            <a:rPr lang="en-US" altLang="zh-CN" sz="2000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(</m:t>
                          </m:r>
                          <m:r>
                            <a:rPr lang="en-US" altLang="zh-CN" sz="2000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𝛼</m:t>
                          </m:r>
                          <m:r>
                            <a:rPr lang="en-US" altLang="zh-CN" sz="2000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)</m:t>
                          </m:r>
                        </m:oMath>
                      </m:oMathPara>
                    </a14:m>
                    <a:endParaRPr lang="en-US" altLang="zh-CN" sz="2000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 xmlns="">
              <p:sp>
                <p:nvSpPr>
                  <p:cNvPr id="13" name="文本框 12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371" y="5886"/>
                    <a:ext cx="1982" cy="984"/>
                  </a:xfrm>
                  <a:prstGeom prst="rect">
                    <a:avLst/>
                  </a:prstGeom>
                  <a:blipFill rotWithShape="1">
                    <a:blip r:embed="rId6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5" name="文本框 14"/>
                  <p:cNvSpPr txBox="1"/>
                  <p:nvPr/>
                </p:nvSpPr>
                <p:spPr>
                  <a:xfrm>
                    <a:off x="7650" y="2629"/>
                    <a:ext cx="1199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sz="2000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𝛽</m:t>
                          </m:r>
                        </m:oMath>
                      </m:oMathPara>
                    </a14:m>
                    <a:endParaRPr lang="en-US" altLang="zh-CN" sz="2000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 xmlns="">
              <p:sp>
                <p:nvSpPr>
                  <p:cNvPr id="15" name="文本框 14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650" y="2629"/>
                    <a:ext cx="1199" cy="1004"/>
                  </a:xfrm>
                  <a:prstGeom prst="rect">
                    <a:avLst/>
                  </a:prstGeom>
                  <a:blipFill rotWithShape="1">
                    <a:blip r:embed="rId7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2" name="文本框 21"/>
                  <p:cNvSpPr txBox="1"/>
                  <p:nvPr/>
                </p:nvSpPr>
                <p:spPr>
                  <a:xfrm>
                    <a:off x="3496" y="1763"/>
                    <a:ext cx="2510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sz="2000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𝑝𝑟𝑜𝑏</m:t>
                          </m:r>
                          <m:r>
                            <a:rPr lang="en-US" altLang="zh-CN" sz="2000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(</m:t>
                          </m:r>
                          <m:r>
                            <a:rPr lang="en-US" altLang="zh-CN" sz="2000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𝜅</m:t>
                          </m:r>
                          <m:r>
                            <a:rPr lang="en-US" altLang="zh-CN" sz="2000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)</m:t>
                          </m:r>
                        </m:oMath>
                      </m:oMathPara>
                    </a14:m>
                    <a:endParaRPr lang="en-US" altLang="zh-CN" sz="2000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 xmlns="">
              <p:sp>
                <p:nvSpPr>
                  <p:cNvPr id="22" name="文本框 21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496" y="1763"/>
                    <a:ext cx="2510" cy="1004"/>
                  </a:xfrm>
                  <a:prstGeom prst="rect">
                    <a:avLst/>
                  </a:prstGeom>
                  <a:blipFill rotWithShape="1">
                    <a:blip r:embed="rId8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3" name="文本框 22"/>
                  <p:cNvSpPr txBox="1"/>
                  <p:nvPr/>
                </p:nvSpPr>
                <p:spPr>
                  <a:xfrm>
                    <a:off x="924" y="3951"/>
                    <a:ext cx="1199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sz="2000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𝛿</m:t>
                          </m:r>
                        </m:oMath>
                      </m:oMathPara>
                    </a14:m>
                    <a:endParaRPr lang="en-US" altLang="zh-CN" sz="2000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 xmlns="">
              <p:sp>
                <p:nvSpPr>
                  <p:cNvPr id="23" name="文本框 22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24" y="3951"/>
                    <a:ext cx="1199" cy="1004"/>
                  </a:xfrm>
                  <a:prstGeom prst="rect">
                    <a:avLst/>
                  </a:prstGeom>
                  <a:blipFill rotWithShape="1">
                    <a:blip r:embed="rId9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7" name="文本框 6"/>
                  <p:cNvSpPr txBox="1"/>
                  <p:nvPr/>
                </p:nvSpPr>
                <p:spPr>
                  <a:xfrm>
                    <a:off x="655" y="7578"/>
                    <a:ext cx="1199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sz="2000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𝐴</m:t>
                          </m:r>
                        </m:oMath>
                      </m:oMathPara>
                    </a14:m>
                    <a:endParaRPr lang="en-US" altLang="zh-CN" sz="2000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 xmlns="">
              <p:sp>
                <p:nvSpPr>
                  <p:cNvPr id="7" name="文本框 6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55" y="7578"/>
                    <a:ext cx="1199" cy="1004"/>
                  </a:xfrm>
                  <a:prstGeom prst="rect">
                    <a:avLst/>
                  </a:prstGeom>
                  <a:blipFill rotWithShape="1">
                    <a:blip r:embed="rId10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8" name="文本框 7"/>
                  <p:cNvSpPr txBox="1"/>
                  <p:nvPr/>
                </p:nvSpPr>
                <p:spPr>
                  <a:xfrm>
                    <a:off x="3695" y="10261"/>
                    <a:ext cx="1199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sz="2000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𝐵</m:t>
                          </m:r>
                        </m:oMath>
                      </m:oMathPara>
                    </a14:m>
                    <a:endParaRPr lang="en-US" altLang="zh-CN" sz="2000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 xmlns="">
              <p:sp>
                <p:nvSpPr>
                  <p:cNvPr id="8" name="文本框 7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695" y="10261"/>
                    <a:ext cx="1199" cy="1004"/>
                  </a:xfrm>
                  <a:prstGeom prst="rect">
                    <a:avLst/>
                  </a:prstGeom>
                  <a:blipFill rotWithShape="1">
                    <a:blip r:embed="rId11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9" name="文本框 8"/>
                  <p:cNvSpPr txBox="1"/>
                  <p:nvPr/>
                </p:nvSpPr>
                <p:spPr>
                  <a:xfrm>
                    <a:off x="7650" y="9257"/>
                    <a:ext cx="1199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sz="2000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𝐶</m:t>
                          </m:r>
                        </m:oMath>
                      </m:oMathPara>
                    </a14:m>
                    <a:endParaRPr lang="en-US" altLang="zh-CN" sz="2000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 xmlns="">
              <p:sp>
                <p:nvSpPr>
                  <p:cNvPr id="9" name="文本框 8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650" y="9257"/>
                    <a:ext cx="1199" cy="1004"/>
                  </a:xfrm>
                  <a:prstGeom prst="rect">
                    <a:avLst/>
                  </a:prstGeom>
                  <a:blipFill rotWithShape="1">
                    <a:blip r:embed="rId12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14" name="组合 13"/>
            <p:cNvGrpSpPr/>
            <p:nvPr/>
          </p:nvGrpSpPr>
          <p:grpSpPr>
            <a:xfrm>
              <a:off x="7520" y="2608"/>
              <a:ext cx="7654" cy="6799"/>
              <a:chOff x="655" y="1763"/>
              <a:chExt cx="10698" cy="9502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6" name="文本框 15"/>
                  <p:cNvSpPr txBox="1"/>
                  <p:nvPr/>
                </p:nvSpPr>
                <p:spPr>
                  <a:xfrm>
                    <a:off x="9371" y="5886"/>
                    <a:ext cx="1982" cy="98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sz="2000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𝑝𝑟𝑜𝑏</m:t>
                          </m:r>
                          <m:r>
                            <a:rPr lang="en-US" altLang="zh-CN" sz="2000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(</m:t>
                          </m:r>
                          <m:r>
                            <a:rPr lang="en-US" altLang="zh-CN" sz="2000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𝛼</m:t>
                          </m:r>
                          <m:r>
                            <a:rPr lang="en-US" altLang="zh-CN" sz="2000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)</m:t>
                          </m:r>
                        </m:oMath>
                      </m:oMathPara>
                    </a14:m>
                    <a:endParaRPr lang="en-US" altLang="zh-CN" sz="2000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 xmlns="">
              <p:sp>
                <p:nvSpPr>
                  <p:cNvPr id="16" name="文本框 15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371" y="5886"/>
                    <a:ext cx="1982" cy="984"/>
                  </a:xfrm>
                  <a:prstGeom prst="rect">
                    <a:avLst/>
                  </a:prstGeom>
                  <a:blipFill rotWithShape="1">
                    <a:blip r:embed="rId13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7" name="文本框 16"/>
                  <p:cNvSpPr txBox="1"/>
                  <p:nvPr/>
                </p:nvSpPr>
                <p:spPr>
                  <a:xfrm>
                    <a:off x="7650" y="2629"/>
                    <a:ext cx="1199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sz="2000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𝛽</m:t>
                          </m:r>
                        </m:oMath>
                      </m:oMathPara>
                    </a14:m>
                    <a:endParaRPr lang="en-US" altLang="zh-CN" sz="2000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 xmlns="">
              <p:sp>
                <p:nvSpPr>
                  <p:cNvPr id="17" name="文本框 16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650" y="2629"/>
                    <a:ext cx="1199" cy="1004"/>
                  </a:xfrm>
                  <a:prstGeom prst="rect">
                    <a:avLst/>
                  </a:prstGeom>
                  <a:blipFill rotWithShape="1">
                    <a:blip r:embed="rId7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8" name="文本框 17"/>
                  <p:cNvSpPr txBox="1"/>
                  <p:nvPr/>
                </p:nvSpPr>
                <p:spPr>
                  <a:xfrm>
                    <a:off x="3496" y="1763"/>
                    <a:ext cx="2510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sz="2000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𝑝𝑟𝑜𝑏</m:t>
                          </m:r>
                          <m:r>
                            <a:rPr lang="en-US" altLang="zh-CN" sz="2000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(</m:t>
                          </m:r>
                          <m:r>
                            <a:rPr lang="en-US" altLang="zh-CN" sz="2000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𝜅</m:t>
                          </m:r>
                          <m:r>
                            <a:rPr lang="en-US" altLang="zh-CN" sz="2000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)</m:t>
                          </m:r>
                        </m:oMath>
                      </m:oMathPara>
                    </a14:m>
                    <a:endParaRPr lang="en-US" altLang="zh-CN" sz="2000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 xmlns="">
              <p:sp>
                <p:nvSpPr>
                  <p:cNvPr id="18" name="文本框 17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496" y="1763"/>
                    <a:ext cx="2510" cy="1004"/>
                  </a:xfrm>
                  <a:prstGeom prst="rect">
                    <a:avLst/>
                  </a:prstGeom>
                  <a:blipFill rotWithShape="1">
                    <a:blip r:embed="rId14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9" name="文本框 18"/>
                  <p:cNvSpPr txBox="1"/>
                  <p:nvPr/>
                </p:nvSpPr>
                <p:spPr>
                  <a:xfrm>
                    <a:off x="924" y="3951"/>
                    <a:ext cx="1199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sz="2000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𝛿</m:t>
                          </m:r>
                        </m:oMath>
                      </m:oMathPara>
                    </a14:m>
                    <a:endParaRPr lang="en-US" altLang="zh-CN" sz="2000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 xmlns="">
              <p:sp>
                <p:nvSpPr>
                  <p:cNvPr id="19" name="文本框 18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24" y="3951"/>
                    <a:ext cx="1199" cy="1004"/>
                  </a:xfrm>
                  <a:prstGeom prst="rect">
                    <a:avLst/>
                  </a:prstGeom>
                  <a:blipFill rotWithShape="1">
                    <a:blip r:embed="rId9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0" name="文本框 19"/>
                  <p:cNvSpPr txBox="1"/>
                  <p:nvPr/>
                </p:nvSpPr>
                <p:spPr>
                  <a:xfrm>
                    <a:off x="655" y="7578"/>
                    <a:ext cx="1199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sz="2000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𝐴</m:t>
                          </m:r>
                        </m:oMath>
                      </m:oMathPara>
                    </a14:m>
                    <a:endParaRPr lang="en-US" altLang="zh-CN" sz="2000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 xmlns="">
              <p:sp>
                <p:nvSpPr>
                  <p:cNvPr id="20" name="文本框 19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55" y="7578"/>
                    <a:ext cx="1199" cy="1004"/>
                  </a:xfrm>
                  <a:prstGeom prst="rect">
                    <a:avLst/>
                  </a:prstGeom>
                  <a:blipFill rotWithShape="1">
                    <a:blip r:embed="rId10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1" name="文本框 20"/>
                  <p:cNvSpPr txBox="1"/>
                  <p:nvPr/>
                </p:nvSpPr>
                <p:spPr>
                  <a:xfrm>
                    <a:off x="3695" y="10261"/>
                    <a:ext cx="1199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sz="2000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𝐵</m:t>
                          </m:r>
                        </m:oMath>
                      </m:oMathPara>
                    </a14:m>
                    <a:endParaRPr lang="en-US" altLang="zh-CN" sz="2000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 xmlns="">
              <p:sp>
                <p:nvSpPr>
                  <p:cNvPr id="21" name="文本框 20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695" y="10261"/>
                    <a:ext cx="1199" cy="1004"/>
                  </a:xfrm>
                  <a:prstGeom prst="rect">
                    <a:avLst/>
                  </a:prstGeom>
                  <a:blipFill rotWithShape="1">
                    <a:blip r:embed="rId11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4" name="文本框 23"/>
                  <p:cNvSpPr txBox="1"/>
                  <p:nvPr/>
                </p:nvSpPr>
                <p:spPr>
                  <a:xfrm>
                    <a:off x="7650" y="9257"/>
                    <a:ext cx="1199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sz="2000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𝐶</m:t>
                          </m:r>
                        </m:oMath>
                      </m:oMathPara>
                    </a14:m>
                    <a:endParaRPr lang="en-US" altLang="zh-CN" sz="2000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 xmlns="">
              <p:sp>
                <p:nvSpPr>
                  <p:cNvPr id="24" name="文本框 23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650" y="9257"/>
                    <a:ext cx="1199" cy="1004"/>
                  </a:xfrm>
                  <a:prstGeom prst="rect">
                    <a:avLst/>
                  </a:prstGeom>
                  <a:blipFill rotWithShape="1">
                    <a:blip r:embed="rId12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25" name="文本框 24"/>
            <p:cNvSpPr txBox="1"/>
            <p:nvPr/>
          </p:nvSpPr>
          <p:spPr>
            <a:xfrm>
              <a:off x="2474" y="1939"/>
              <a:ext cx="1983" cy="72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2400" b="1">
                  <a:solidFill>
                    <a:srgbClr val="E85748"/>
                  </a:solidFill>
                </a:rPr>
                <a:t>Africa</a:t>
              </a:r>
            </a:p>
          </p:txBody>
        </p:sp>
        <p:sp>
          <p:nvSpPr>
            <p:cNvPr id="26" name="文本框 25"/>
            <p:cNvSpPr txBox="1"/>
            <p:nvPr/>
          </p:nvSpPr>
          <p:spPr>
            <a:xfrm>
              <a:off x="7466" y="1938"/>
              <a:ext cx="7073" cy="72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2400" b="1">
                  <a:solidFill>
                    <a:srgbClr val="F39F1B"/>
                  </a:solidFill>
                </a:rPr>
                <a:t>South &amp; Southeast Asia</a:t>
              </a:r>
            </a:p>
          </p:txBody>
        </p:sp>
        <p:grpSp>
          <p:nvGrpSpPr>
            <p:cNvPr id="10" name="组合 9"/>
            <p:cNvGrpSpPr/>
            <p:nvPr/>
          </p:nvGrpSpPr>
          <p:grpSpPr>
            <a:xfrm>
              <a:off x="14908" y="2624"/>
              <a:ext cx="7654" cy="6799"/>
              <a:chOff x="655" y="1763"/>
              <a:chExt cx="10698" cy="9502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2" name="文本框 11"/>
                  <p:cNvSpPr txBox="1"/>
                  <p:nvPr/>
                </p:nvSpPr>
                <p:spPr>
                  <a:xfrm>
                    <a:off x="9371" y="5886"/>
                    <a:ext cx="1982" cy="98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sz="2000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𝑝𝑟𝑜𝑏</m:t>
                          </m:r>
                          <m:r>
                            <a:rPr lang="en-US" altLang="zh-CN" sz="2000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(</m:t>
                          </m:r>
                          <m:r>
                            <a:rPr lang="en-US" altLang="zh-CN" sz="2000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𝛼</m:t>
                          </m:r>
                          <m:r>
                            <a:rPr lang="en-US" altLang="zh-CN" sz="2000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)</m:t>
                          </m:r>
                        </m:oMath>
                      </m:oMathPara>
                    </a14:m>
                    <a:endParaRPr lang="en-US" altLang="zh-CN" sz="2000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 xmlns="">
              <p:sp>
                <p:nvSpPr>
                  <p:cNvPr id="12" name="文本框 11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371" y="5886"/>
                    <a:ext cx="1982" cy="984"/>
                  </a:xfrm>
                  <a:prstGeom prst="rect">
                    <a:avLst/>
                  </a:prstGeom>
                  <a:blipFill rotWithShape="1">
                    <a:blip r:embed="rId6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2" name="文本框 31"/>
                  <p:cNvSpPr txBox="1"/>
                  <p:nvPr/>
                </p:nvSpPr>
                <p:spPr>
                  <a:xfrm>
                    <a:off x="7650" y="2629"/>
                    <a:ext cx="1199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sz="2000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𝛽</m:t>
                          </m:r>
                        </m:oMath>
                      </m:oMathPara>
                    </a14:m>
                    <a:endParaRPr lang="en-US" altLang="zh-CN" sz="2000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 xmlns="">
              <p:sp>
                <p:nvSpPr>
                  <p:cNvPr id="32" name="文本框 31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650" y="2629"/>
                    <a:ext cx="1199" cy="1004"/>
                  </a:xfrm>
                  <a:prstGeom prst="rect">
                    <a:avLst/>
                  </a:prstGeom>
                  <a:blipFill rotWithShape="1">
                    <a:blip r:embed="rId7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3" name="文本框 32"/>
                  <p:cNvSpPr txBox="1"/>
                  <p:nvPr/>
                </p:nvSpPr>
                <p:spPr>
                  <a:xfrm>
                    <a:off x="3496" y="1763"/>
                    <a:ext cx="2510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sz="2000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𝑝𝑟𝑜𝑏</m:t>
                          </m:r>
                          <m:r>
                            <a:rPr lang="en-US" altLang="zh-CN" sz="2000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(</m:t>
                          </m:r>
                          <m:r>
                            <a:rPr lang="en-US" altLang="zh-CN" sz="2000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𝜅</m:t>
                          </m:r>
                          <m:r>
                            <a:rPr lang="en-US" altLang="zh-CN" sz="2000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)</m:t>
                          </m:r>
                        </m:oMath>
                      </m:oMathPara>
                    </a14:m>
                    <a:endParaRPr lang="en-US" altLang="zh-CN" sz="2000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 xmlns="">
              <p:sp>
                <p:nvSpPr>
                  <p:cNvPr id="33" name="文本框 32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496" y="1763"/>
                    <a:ext cx="2510" cy="1004"/>
                  </a:xfrm>
                  <a:prstGeom prst="rect">
                    <a:avLst/>
                  </a:prstGeom>
                  <a:blipFill rotWithShape="1">
                    <a:blip r:embed="rId8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4" name="文本框 33"/>
                  <p:cNvSpPr txBox="1"/>
                  <p:nvPr/>
                </p:nvSpPr>
                <p:spPr>
                  <a:xfrm>
                    <a:off x="924" y="3951"/>
                    <a:ext cx="1199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sz="2000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𝛿</m:t>
                          </m:r>
                        </m:oMath>
                      </m:oMathPara>
                    </a14:m>
                    <a:endParaRPr lang="en-US" altLang="zh-CN" sz="2000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 xmlns="">
              <p:sp>
                <p:nvSpPr>
                  <p:cNvPr id="34" name="文本框 33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24" y="3951"/>
                    <a:ext cx="1199" cy="1004"/>
                  </a:xfrm>
                  <a:prstGeom prst="rect">
                    <a:avLst/>
                  </a:prstGeom>
                  <a:blipFill rotWithShape="1">
                    <a:blip r:embed="rId9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6" name="文本框 35"/>
                  <p:cNvSpPr txBox="1"/>
                  <p:nvPr/>
                </p:nvSpPr>
                <p:spPr>
                  <a:xfrm>
                    <a:off x="655" y="7578"/>
                    <a:ext cx="1199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sz="2000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𝐴</m:t>
                          </m:r>
                        </m:oMath>
                      </m:oMathPara>
                    </a14:m>
                    <a:endParaRPr lang="en-US" altLang="zh-CN" sz="2000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 xmlns="">
              <p:sp>
                <p:nvSpPr>
                  <p:cNvPr id="36" name="文本框 35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55" y="7578"/>
                    <a:ext cx="1199" cy="1004"/>
                  </a:xfrm>
                  <a:prstGeom prst="rect">
                    <a:avLst/>
                  </a:prstGeom>
                  <a:blipFill rotWithShape="1">
                    <a:blip r:embed="rId10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7" name="文本框 36"/>
                  <p:cNvSpPr txBox="1"/>
                  <p:nvPr/>
                </p:nvSpPr>
                <p:spPr>
                  <a:xfrm>
                    <a:off x="3695" y="10261"/>
                    <a:ext cx="1199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sz="2000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𝐵</m:t>
                          </m:r>
                        </m:oMath>
                      </m:oMathPara>
                    </a14:m>
                    <a:endParaRPr lang="en-US" altLang="zh-CN" sz="2000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 xmlns="">
              <p:sp>
                <p:nvSpPr>
                  <p:cNvPr id="37" name="文本框 36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695" y="10261"/>
                    <a:ext cx="1199" cy="1004"/>
                  </a:xfrm>
                  <a:prstGeom prst="rect">
                    <a:avLst/>
                  </a:prstGeom>
                  <a:blipFill rotWithShape="1">
                    <a:blip r:embed="rId11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9" name="文本框 38"/>
                  <p:cNvSpPr txBox="1"/>
                  <p:nvPr/>
                </p:nvSpPr>
                <p:spPr>
                  <a:xfrm>
                    <a:off x="7650" y="9257"/>
                    <a:ext cx="1199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sz="2000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𝐶</m:t>
                          </m:r>
                        </m:oMath>
                      </m:oMathPara>
                    </a14:m>
                    <a:endParaRPr lang="en-US" altLang="zh-CN" sz="2000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 xmlns="">
              <p:sp>
                <p:nvSpPr>
                  <p:cNvPr id="39" name="文本框 38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650" y="9257"/>
                    <a:ext cx="1199" cy="1004"/>
                  </a:xfrm>
                  <a:prstGeom prst="rect">
                    <a:avLst/>
                  </a:prstGeom>
                  <a:blipFill rotWithShape="1">
                    <a:blip r:embed="rId12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52" name="文本框 51"/>
            <p:cNvSpPr txBox="1"/>
            <p:nvPr/>
          </p:nvSpPr>
          <p:spPr>
            <a:xfrm>
              <a:off x="14999" y="2036"/>
              <a:ext cx="6851" cy="72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2400" b="1">
                  <a:solidFill>
                    <a:srgbClr val="47A2DE"/>
                  </a:solidFill>
                </a:rPr>
                <a:t>Latin America</a:t>
              </a:r>
            </a:p>
          </p:txBody>
        </p:sp>
        <p:sp>
          <p:nvSpPr>
            <p:cNvPr id="28" name="文本框 27"/>
            <p:cNvSpPr txBox="1"/>
            <p:nvPr/>
          </p:nvSpPr>
          <p:spPr>
            <a:xfrm>
              <a:off x="8962" y="9275"/>
              <a:ext cx="1262" cy="628"/>
            </a:xfrm>
            <a:prstGeom prst="rect">
              <a:avLst/>
            </a:prstGeom>
            <a:noFill/>
          </p:spPr>
          <p:txBody>
            <a:bodyPr wrap="square" rtlCol="0" anchor="t">
              <a:spAutoFit/>
            </a:bodyPr>
            <a:lstStyle/>
            <a:p>
              <a:r>
                <a:rPr lang="en-US" altLang="zh-CN" sz="2000">
                  <a:sym typeface="+mn-ea"/>
                </a:rPr>
                <a:t>2016</a:t>
              </a:r>
            </a:p>
          </p:txBody>
        </p:sp>
        <p:grpSp>
          <p:nvGrpSpPr>
            <p:cNvPr id="31" name="组合 30"/>
            <p:cNvGrpSpPr/>
            <p:nvPr/>
          </p:nvGrpSpPr>
          <p:grpSpPr>
            <a:xfrm>
              <a:off x="6942" y="9400"/>
              <a:ext cx="1883" cy="377"/>
              <a:chOff x="6153" y="11442"/>
              <a:chExt cx="1740" cy="348"/>
            </a:xfrm>
          </p:grpSpPr>
          <p:sp>
            <p:nvSpPr>
              <p:cNvPr id="4" name="圆角矩形 3"/>
              <p:cNvSpPr/>
              <p:nvPr/>
            </p:nvSpPr>
            <p:spPr>
              <a:xfrm>
                <a:off x="6153" y="11442"/>
                <a:ext cx="536" cy="348"/>
              </a:xfrm>
              <a:prstGeom prst="roundRect">
                <a:avLst/>
              </a:prstGeom>
              <a:solidFill>
                <a:srgbClr val="E85748">
                  <a:alpha val="20000"/>
                </a:srgbClr>
              </a:solidFill>
              <a:ln w="38100">
                <a:solidFill>
                  <a:srgbClr val="E85748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2400"/>
              </a:p>
            </p:txBody>
          </p:sp>
          <p:sp>
            <p:nvSpPr>
              <p:cNvPr id="29" name="圆角矩形 28"/>
              <p:cNvSpPr/>
              <p:nvPr/>
            </p:nvSpPr>
            <p:spPr>
              <a:xfrm>
                <a:off x="6761" y="11442"/>
                <a:ext cx="530" cy="338"/>
              </a:xfrm>
              <a:prstGeom prst="roundRect">
                <a:avLst/>
              </a:prstGeom>
              <a:solidFill>
                <a:srgbClr val="F39F1B">
                  <a:alpha val="20000"/>
                </a:srgbClr>
              </a:solidFill>
              <a:ln w="38100">
                <a:solidFill>
                  <a:srgbClr val="F39F1B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2400"/>
              </a:p>
            </p:txBody>
          </p:sp>
          <p:sp>
            <p:nvSpPr>
              <p:cNvPr id="30" name="圆角矩形 29"/>
              <p:cNvSpPr/>
              <p:nvPr/>
            </p:nvSpPr>
            <p:spPr>
              <a:xfrm>
                <a:off x="7363" y="11442"/>
                <a:ext cx="530" cy="338"/>
              </a:xfrm>
              <a:prstGeom prst="roundRect">
                <a:avLst/>
              </a:prstGeom>
              <a:solidFill>
                <a:srgbClr val="47A2DE">
                  <a:alpha val="20000"/>
                </a:srgbClr>
              </a:solidFill>
              <a:ln w="38100">
                <a:solidFill>
                  <a:srgbClr val="47A2DE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2400"/>
              </a:p>
            </p:txBody>
          </p:sp>
        </p:grpSp>
        <p:grpSp>
          <p:nvGrpSpPr>
            <p:cNvPr id="40" name="组合 39"/>
            <p:cNvGrpSpPr/>
            <p:nvPr/>
          </p:nvGrpSpPr>
          <p:grpSpPr>
            <a:xfrm>
              <a:off x="11813" y="9400"/>
              <a:ext cx="1942" cy="377"/>
              <a:chOff x="5151" y="11234"/>
              <a:chExt cx="1795" cy="348"/>
            </a:xfrm>
          </p:grpSpPr>
          <p:sp>
            <p:nvSpPr>
              <p:cNvPr id="41" name="圆角矩形 40"/>
              <p:cNvSpPr/>
              <p:nvPr/>
            </p:nvSpPr>
            <p:spPr>
              <a:xfrm>
                <a:off x="5151" y="11234"/>
                <a:ext cx="536" cy="348"/>
              </a:xfrm>
              <a:prstGeom prst="roundRect">
                <a:avLst/>
              </a:prstGeom>
              <a:solidFill>
                <a:srgbClr val="E85748">
                  <a:alpha val="20000"/>
                </a:srgbClr>
              </a:solidFill>
              <a:ln w="38100">
                <a:solidFill>
                  <a:srgbClr val="E85748"/>
                </a:solidFill>
                <a:prstDash val="sysDash"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2400"/>
              </a:p>
            </p:txBody>
          </p:sp>
          <p:sp>
            <p:nvSpPr>
              <p:cNvPr id="42" name="圆角矩形 41"/>
              <p:cNvSpPr/>
              <p:nvPr/>
            </p:nvSpPr>
            <p:spPr>
              <a:xfrm>
                <a:off x="5787" y="11234"/>
                <a:ext cx="530" cy="338"/>
              </a:xfrm>
              <a:prstGeom prst="roundRect">
                <a:avLst/>
              </a:prstGeom>
              <a:solidFill>
                <a:srgbClr val="F39F1B">
                  <a:alpha val="20000"/>
                </a:srgbClr>
              </a:solidFill>
              <a:ln w="38100">
                <a:solidFill>
                  <a:srgbClr val="F39F1B"/>
                </a:solidFill>
                <a:prstDash val="sysDash"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2400"/>
              </a:p>
            </p:txBody>
          </p:sp>
          <p:sp>
            <p:nvSpPr>
              <p:cNvPr id="43" name="圆角矩形 42"/>
              <p:cNvSpPr/>
              <p:nvPr/>
            </p:nvSpPr>
            <p:spPr>
              <a:xfrm>
                <a:off x="6416" y="11234"/>
                <a:ext cx="530" cy="338"/>
              </a:xfrm>
              <a:prstGeom prst="roundRect">
                <a:avLst/>
              </a:prstGeom>
              <a:solidFill>
                <a:srgbClr val="47A2DE">
                  <a:alpha val="20000"/>
                </a:srgbClr>
              </a:solidFill>
              <a:ln w="38100">
                <a:solidFill>
                  <a:srgbClr val="47A2DE"/>
                </a:solidFill>
                <a:prstDash val="sysDash"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2400"/>
              </a:p>
            </p:txBody>
          </p:sp>
        </p:grpSp>
        <p:sp>
          <p:nvSpPr>
            <p:cNvPr id="46" name="文本框 45"/>
            <p:cNvSpPr txBox="1"/>
            <p:nvPr/>
          </p:nvSpPr>
          <p:spPr>
            <a:xfrm>
              <a:off x="13982" y="9275"/>
              <a:ext cx="1262" cy="628"/>
            </a:xfrm>
            <a:prstGeom prst="rect">
              <a:avLst/>
            </a:prstGeom>
            <a:noFill/>
          </p:spPr>
          <p:txBody>
            <a:bodyPr wrap="square" rtlCol="0" anchor="t">
              <a:spAutoFit/>
            </a:bodyPr>
            <a:lstStyle/>
            <a:p>
              <a:r>
                <a:rPr lang="en-US" altLang="zh-CN" sz="2000">
                  <a:sym typeface="+mn-ea"/>
                </a:rPr>
                <a:t>2023</a:t>
              </a:r>
            </a:p>
          </p:txBody>
        </p:sp>
      </p:grpSp>
      <p:grpSp>
        <p:nvGrpSpPr>
          <p:cNvPr id="60" name="组合 59"/>
          <p:cNvGrpSpPr/>
          <p:nvPr/>
        </p:nvGrpSpPr>
        <p:grpSpPr>
          <a:xfrm>
            <a:off x="4511040" y="8391525"/>
            <a:ext cx="8133715" cy="1035050"/>
            <a:chOff x="6709" y="10473"/>
            <a:chExt cx="12809" cy="1630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7" name="文本框 56"/>
                <p:cNvSpPr txBox="1"/>
                <p:nvPr/>
              </p:nvSpPr>
              <p:spPr>
                <a:xfrm>
                  <a:off x="11348" y="10643"/>
                  <a:ext cx="8171" cy="71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𝐻</m:t>
                        </m:r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𝑟</m:t>
                        </m:r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)=</m:t>
                        </m:r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𝐴</m:t>
                        </m:r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∙</m:t>
                        </m:r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𝑒𝑥𝑝</m:t>
                        </m:r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𝐵𝑟</m:t>
                        </m:r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+</m:t>
                        </m:r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𝐶</m:t>
                        </m:r>
                        <m:sSup>
                          <m:sSupPr>
                            <m:ctrlPr>
                              <a:rPr lang="en-US" altLang="zh-CN" sz="2400" i="1">
                                <a:latin typeface="Cambria Math" panose="02040503050406030204" pitchFamily="18" charset="0"/>
                                <a:cs typeface="Cambria Math" panose="02040503050406030204" charset="0"/>
                              </a:rPr>
                            </m:ctrlPr>
                          </m:sSupPr>
                          <m:e>
                            <m:r>
                              <a:rPr lang="en-US" altLang="zh-CN" sz="2400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en-US" altLang="zh-CN" sz="2400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2</m:t>
                            </m:r>
                          </m:sup>
                        </m:sSup>
                        <m:r>
                          <a:rPr lang="en-US" altLang="zh-CN" sz="2400" i="1">
                            <a:latin typeface="Cambria Math" panose="02040503050406030204" charset="0"/>
                            <a:ea typeface="MS Mincho" charset="0"/>
                            <a:cs typeface="Cambria Math" panose="02040503050406030204" charset="0"/>
                          </a:rPr>
                          <m:t>)</m:t>
                        </m:r>
                      </m:oMath>
                    </m:oMathPara>
                  </a14:m>
                  <a:endParaRPr lang="en-US" altLang="zh-CN" sz="2400" i="1">
                    <a:latin typeface="Cambria Math" panose="02040503050406030204" charset="0"/>
                    <a:ea typeface="MS Mincho" charset="0"/>
                    <a:cs typeface="Cambria Math" panose="02040503050406030204" charset="0"/>
                  </a:endParaRPr>
                </a:p>
              </p:txBody>
            </p:sp>
          </mc:Choice>
          <mc:Fallback xmlns="">
            <p:sp>
              <p:nvSpPr>
                <p:cNvPr id="57" name="文本框 56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348" y="10643"/>
                  <a:ext cx="8171" cy="712"/>
                </a:xfrm>
                <a:prstGeom prst="rect">
                  <a:avLst/>
                </a:prstGeom>
                <a:blipFill rotWithShape="1">
                  <a:blip r:embed="rId15"/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8" name="文本框 57"/>
                <p:cNvSpPr txBox="1"/>
                <p:nvPr/>
              </p:nvSpPr>
              <p:spPr>
                <a:xfrm>
                  <a:off x="6711" y="10473"/>
                  <a:ext cx="5790" cy="725"/>
                </a:xfrm>
                <a:prstGeom prst="rect">
                  <a:avLst/>
                </a:prstGeom>
                <a:noFill/>
              </p:spPr>
              <p:txBody>
                <a:bodyPr wrap="square" rtlCol="0" anchor="t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𝜑</m:t>
                        </m:r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𝑟</m:t>
                        </m:r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)=</m:t>
                        </m:r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𝑙𝑜𝑔𝑖𝑠𝑡𝑖𝑐</m:t>
                        </m:r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𝛼</m:t>
                        </m:r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+</m:t>
                        </m:r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𝛽</m:t>
                        </m:r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𝑟</m:t>
                        </m:r>
                        <m:r>
                          <a:rPr lang="en-US" altLang="zh-CN" sz="2400" i="1">
                            <a:latin typeface="Cambria Math" panose="02040503050406030204" charset="0"/>
                            <a:ea typeface="MS Mincho" charset="0"/>
                            <a:cs typeface="Cambria Math" panose="02040503050406030204" charset="0"/>
                          </a:rPr>
                          <m:t>)</m:t>
                        </m:r>
                      </m:oMath>
                    </m:oMathPara>
                  </a14:m>
                  <a:endParaRPr lang="en-US" altLang="zh-CN" sz="2400" i="1">
                    <a:latin typeface="Cambria Math" panose="02040503050406030204" charset="0"/>
                    <a:ea typeface="MS Mincho" charset="0"/>
                    <a:cs typeface="Cambria Math" panose="02040503050406030204" charset="0"/>
                  </a:endParaRPr>
                </a:p>
              </p:txBody>
            </p:sp>
          </mc:Choice>
          <mc:Fallback xmlns="">
            <p:sp>
              <p:nvSpPr>
                <p:cNvPr id="58" name="文本框 57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711" y="10473"/>
                  <a:ext cx="5790" cy="725"/>
                </a:xfrm>
                <a:prstGeom prst="rect">
                  <a:avLst/>
                </a:prstGeom>
                <a:blipFill rotWithShape="1">
                  <a:blip r:embed="rId16"/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9" name="文本框 58"/>
                <p:cNvSpPr txBox="1"/>
                <p:nvPr/>
              </p:nvSpPr>
              <p:spPr>
                <a:xfrm>
                  <a:off x="6709" y="11379"/>
                  <a:ext cx="5792" cy="725"/>
                </a:xfrm>
                <a:prstGeom prst="rect">
                  <a:avLst/>
                </a:prstGeom>
                <a:noFill/>
              </p:spPr>
              <p:txBody>
                <a:bodyPr wrap="square" rtlCol="0" anchor="t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𝜋</m:t>
                        </m:r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𝑟</m:t>
                        </m:r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)=</m:t>
                        </m:r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𝑙𝑜𝑔𝑖𝑠𝑡𝑖𝑐</m:t>
                        </m:r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𝜅</m:t>
                        </m:r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+</m:t>
                        </m:r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𝛿</m:t>
                        </m:r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𝑟</m:t>
                        </m:r>
                        <m:r>
                          <a:rPr lang="en-US" altLang="zh-CN" sz="2400" i="1">
                            <a:latin typeface="Cambria Math" panose="02040503050406030204" charset="0"/>
                            <a:ea typeface="MS Mincho" charset="0"/>
                            <a:cs typeface="Cambria Math" panose="02040503050406030204" charset="0"/>
                          </a:rPr>
                          <m:t>)</m:t>
                        </m:r>
                      </m:oMath>
                    </m:oMathPara>
                  </a14:m>
                  <a:endParaRPr lang="en-US" altLang="zh-CN" sz="2400" i="1">
                    <a:latin typeface="Cambria Math" panose="02040503050406030204" charset="0"/>
                    <a:ea typeface="MS Mincho" charset="0"/>
                    <a:cs typeface="Cambria Math" panose="02040503050406030204" charset="0"/>
                  </a:endParaRPr>
                </a:p>
              </p:txBody>
            </p:sp>
          </mc:Choice>
          <mc:Fallback xmlns="">
            <p:sp>
              <p:nvSpPr>
                <p:cNvPr id="59" name="文本框 58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709" y="11379"/>
                  <a:ext cx="5792" cy="725"/>
                </a:xfrm>
                <a:prstGeom prst="rect">
                  <a:avLst/>
                </a:prstGeom>
                <a:blipFill rotWithShape="1">
                  <a:blip r:embed="rId17"/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BLE_ENDDRAG_ORIGIN_RECT" val="276*166"/>
  <p:tag name="TABLE_ENDDRAG_RECT" val="820*321*276*166"/>
</p:tagLst>
</file>

<file path=ppt/tags/tag2.xml><?xml version="1.0" encoding="utf-8"?>
<p:tagLst xmlns:p="http://schemas.openxmlformats.org/presentationml/2006/main">
  <p:tag name="TABLE_ENDDRAG_ORIGIN_RECT" val="276*166"/>
  <p:tag name="TABLE_ENDDRAG_RECT" val="820*321*276*166"/>
</p:tagLst>
</file>

<file path=ppt/theme/theme1.xml><?xml version="1.0" encoding="utf-8"?>
<a:theme xmlns:a="http://schemas.openxmlformats.org/drawingml/2006/main" name="WPS">
  <a:themeElements>
    <a:clrScheme name="Custom 1">
      <a:dk1>
        <a:srgbClr val="000000"/>
      </a:dk1>
      <a:lt1>
        <a:srgbClr val="FFFFFF"/>
      </a:lt1>
      <a:dk2>
        <a:srgbClr val="B6E1FF"/>
      </a:dk2>
      <a:lt2>
        <a:srgbClr val="4488FF"/>
      </a:lt2>
      <a:accent1>
        <a:srgbClr val="D3B137"/>
      </a:accent1>
      <a:accent2>
        <a:srgbClr val="FEF436"/>
      </a:accent2>
      <a:accent3>
        <a:srgbClr val="C577E2"/>
      </a:accent3>
      <a:accent4>
        <a:srgbClr val="DAC7FF"/>
      </a:accent4>
      <a:accent5>
        <a:srgbClr val="6EDC8B"/>
      </a:accent5>
      <a:accent6>
        <a:srgbClr val="2AB320"/>
      </a:accent6>
      <a:hlink>
        <a:srgbClr val="B6E1FF"/>
      </a:hlink>
      <a:folHlink>
        <a:srgbClr val="B6E1FF"/>
      </a:folHlink>
    </a:clrScheme>
    <a:fontScheme name="WPS">
      <a:majorFont>
        <a:latin typeface="Arial"/>
        <a:ea typeface=""/>
        <a:cs typeface=""/>
        <a:font script="Jpan" typeface="ＭＳ Ｐゴシック"/>
        <a:font script="Hang" typeface="맑은 고딕"/>
        <a:font script="Hans" typeface="Arial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Arial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Arial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Arial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Arial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Arial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69</TotalTime>
  <Words>1569</Words>
  <Application>Microsoft Office PowerPoint</Application>
  <PresentationFormat>Custom</PresentationFormat>
  <Paragraphs>516</Paragraphs>
  <Slides>17</Slides>
  <Notes>4</Notes>
  <HiddenSlides>5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3" baseType="lpstr">
      <vt:lpstr>东文宋体</vt:lpstr>
      <vt:lpstr>宋体</vt:lpstr>
      <vt:lpstr>Arial</vt:lpstr>
      <vt:lpstr>Cambria Math</vt:lpstr>
      <vt:lpstr>Wingdings</vt:lpstr>
      <vt:lpstr>WPS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April Liang</cp:lastModifiedBy>
  <cp:revision>32</cp:revision>
  <dcterms:created xsi:type="dcterms:W3CDTF">2026-03-24T16:19:05Z</dcterms:created>
  <dcterms:modified xsi:type="dcterms:W3CDTF">2026-03-24T20:46:07Z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2052-12.1.2.24722</vt:lpwstr>
  </property>
  <property fmtid="{D5CDD505-2E9C-101B-9397-08002B2CF9AE}" pid="3" name="ICV">
    <vt:lpwstr>0364E104D99840A39D3DA0694DD01CB9_41</vt:lpwstr>
  </property>
</Properties>
</file>