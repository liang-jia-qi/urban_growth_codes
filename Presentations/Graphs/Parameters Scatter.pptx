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256" r:id="rId3"/>
    <p:sldId id="257" r:id="rId4"/>
    <p:sldId id="258" r:id="rId6"/>
    <p:sldId id="259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A2DE"/>
    <a:srgbClr val="F39F1B"/>
    <a:srgbClr val="E85748"/>
    <a:srgbClr val="9467BD"/>
    <a:srgbClr val="2CA02C"/>
    <a:srgbClr val="1F77B4"/>
    <a:srgbClr val="3C9749"/>
    <a:srgbClr val="A884C9"/>
    <a:srgbClr val="A985CA"/>
    <a:srgbClr val="7FC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5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826135" y="294640"/>
            <a:ext cx="10486390" cy="6350000"/>
            <a:chOff x="1301" y="464"/>
            <a:chExt cx="16514" cy="10000"/>
          </a:xfrm>
        </p:grpSpPr>
        <p:grpSp>
          <p:nvGrpSpPr>
            <p:cNvPr id="33" name="组合 32"/>
            <p:cNvGrpSpPr/>
            <p:nvPr/>
          </p:nvGrpSpPr>
          <p:grpSpPr>
            <a:xfrm>
              <a:off x="1301" y="1635"/>
              <a:ext cx="16514" cy="6542"/>
              <a:chOff x="0" y="1154"/>
              <a:chExt cx="19116" cy="7572"/>
            </a:xfrm>
          </p:grpSpPr>
          <p:pic>
            <p:nvPicPr>
              <p:cNvPr id="6" name="图片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1154"/>
                <a:ext cx="19116" cy="7538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61" y="1193"/>
                <a:ext cx="630" cy="7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 rot="5400000">
                <a:off x="4742" y="4127"/>
                <a:ext cx="630" cy="85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9418" y="1193"/>
                <a:ext cx="986" cy="74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 rot="5400000">
                <a:off x="14022" y="3732"/>
                <a:ext cx="630" cy="93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984" y="8434"/>
              <a:ext cx="15595" cy="2031"/>
              <a:chOff x="2352" y="8858"/>
              <a:chExt cx="15488" cy="2031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13434" y="9840"/>
                <a:ext cx="440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 Mean, 2016</a:t>
                </a:r>
                <a:endParaRPr lang="en-US" altLang="zh-CN" sz="1600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13434" y="8858"/>
                <a:ext cx="314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America, 2016</a:t>
                </a:r>
                <a:endParaRPr lang="en-US" altLang="zh-CN" sz="1600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3067" y="8972"/>
                <a:ext cx="255" cy="255"/>
              </a:xfrm>
              <a:prstGeom prst="ellipse">
                <a:avLst/>
              </a:prstGeom>
              <a:solidFill>
                <a:srgbClr val="1F77B4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13067" y="9435"/>
                <a:ext cx="255" cy="255"/>
              </a:xfrm>
              <a:prstGeom prst="ellipse">
                <a:avLst/>
              </a:prstGeom>
              <a:solidFill>
                <a:srgbClr val="1F77B4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3434" y="9349"/>
                <a:ext cx="314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America, 2023</a:t>
                </a:r>
                <a:endParaRPr lang="en-US" altLang="zh-CN" sz="1600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2848" y="88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Africa, 2016</a:t>
                </a:r>
                <a:endParaRPr lang="en-US" altLang="zh-CN" sz="1600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2465" y="8972"/>
                <a:ext cx="255" cy="255"/>
              </a:xfrm>
              <a:prstGeom prst="ellipse">
                <a:avLst/>
              </a:prstGeom>
              <a:solidFill>
                <a:srgbClr val="9467BD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9467BD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2465" y="9435"/>
                <a:ext cx="255" cy="255"/>
              </a:xfrm>
              <a:prstGeom prst="ellipse">
                <a:avLst/>
              </a:prstGeom>
              <a:solidFill>
                <a:srgbClr val="9467BD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848" y="93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Africa, 2023</a:t>
                </a:r>
                <a:endParaRPr lang="en-US" altLang="zh-CN" sz="1600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7053" y="8858"/>
                <a:ext cx="452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South&amp;South-east Asia, 2016</a:t>
                </a:r>
                <a:endParaRPr lang="en-US" altLang="zh-CN" sz="1600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6647" y="8972"/>
                <a:ext cx="255" cy="255"/>
              </a:xfrm>
              <a:prstGeom prst="ellipse">
                <a:avLst/>
              </a:prstGeom>
              <a:solidFill>
                <a:srgbClr val="2CA02C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6647" y="9435"/>
                <a:ext cx="255" cy="255"/>
              </a:xfrm>
              <a:prstGeom prst="ellipse">
                <a:avLst/>
              </a:prstGeom>
              <a:solidFill>
                <a:srgbClr val="2CA02C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7053" y="9345"/>
                <a:ext cx="452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ym typeface="+mn-ea"/>
                  </a:rPr>
                  <a:t>South&amp;South-east Asia, 2023</a:t>
                </a:r>
                <a:endParaRPr lang="en-US" altLang="zh-CN" sz="1600"/>
              </a:p>
            </p:txBody>
          </p:sp>
          <p:sp>
            <p:nvSpPr>
              <p:cNvPr id="22" name="乘号 21"/>
              <p:cNvSpPr/>
              <p:nvPr/>
            </p:nvSpPr>
            <p:spPr>
              <a:xfrm>
                <a:off x="2352" y="9845"/>
                <a:ext cx="480" cy="480"/>
              </a:xfrm>
              <a:prstGeom prst="mathMultiply">
                <a:avLst/>
              </a:prstGeom>
              <a:solidFill>
                <a:srgbClr val="9467BD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848" y="98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 Mean, 2016</a:t>
                </a:r>
                <a:endParaRPr lang="en-US" altLang="zh-CN" sz="1600"/>
              </a:p>
            </p:txBody>
          </p:sp>
          <p:sp>
            <p:nvSpPr>
              <p:cNvPr id="24" name="乘号 23"/>
              <p:cNvSpPr/>
              <p:nvPr/>
            </p:nvSpPr>
            <p:spPr>
              <a:xfrm>
                <a:off x="2352" y="10359"/>
                <a:ext cx="480" cy="480"/>
              </a:xfrm>
              <a:prstGeom prst="mathMultiply">
                <a:avLst/>
              </a:prstGeom>
              <a:solidFill>
                <a:srgbClr val="9467B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848" y="103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 Mean, 2023</a:t>
                </a:r>
                <a:endParaRPr lang="en-US" altLang="zh-CN" sz="1600"/>
              </a:p>
            </p:txBody>
          </p:sp>
          <p:sp>
            <p:nvSpPr>
              <p:cNvPr id="26" name="乘号 25"/>
              <p:cNvSpPr/>
              <p:nvPr/>
            </p:nvSpPr>
            <p:spPr>
              <a:xfrm>
                <a:off x="6534" y="9845"/>
                <a:ext cx="480" cy="480"/>
              </a:xfrm>
              <a:prstGeom prst="mathMultiply">
                <a:avLst/>
              </a:prstGeom>
              <a:solidFill>
                <a:srgbClr val="2CA02C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7053" y="9832"/>
                <a:ext cx="558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ym typeface="+mn-ea"/>
                  </a:rPr>
                  <a:t>South&amp;South-east Asia Mean, 2016</a:t>
                </a:r>
                <a:endParaRPr lang="zh-CN" altLang="en-US" sz="1600">
                  <a:ea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28" name="乘号 27"/>
              <p:cNvSpPr/>
              <p:nvPr/>
            </p:nvSpPr>
            <p:spPr>
              <a:xfrm>
                <a:off x="6534" y="10359"/>
                <a:ext cx="480" cy="480"/>
              </a:xfrm>
              <a:prstGeom prst="mathMultiply">
                <a:avLst/>
              </a:prstGeom>
              <a:solidFill>
                <a:srgbClr val="2CA02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053" y="10319"/>
                <a:ext cx="558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ym typeface="+mn-ea"/>
                  </a:rPr>
                  <a:t>South&amp;South-east Asia Mean, 2023</a:t>
                </a:r>
                <a:endParaRPr lang="en-US" altLang="zh-CN" sz="1600"/>
              </a:p>
            </p:txBody>
          </p:sp>
          <p:sp>
            <p:nvSpPr>
              <p:cNvPr id="31" name="乘号 30"/>
              <p:cNvSpPr/>
              <p:nvPr/>
            </p:nvSpPr>
            <p:spPr>
              <a:xfrm>
                <a:off x="12954" y="9845"/>
                <a:ext cx="480" cy="480"/>
              </a:xfrm>
              <a:prstGeom prst="mathMultiply">
                <a:avLst/>
              </a:prstGeom>
              <a:solidFill>
                <a:srgbClr val="1F77B4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34" name="乘号 33"/>
              <p:cNvSpPr/>
              <p:nvPr/>
            </p:nvSpPr>
            <p:spPr>
              <a:xfrm>
                <a:off x="12954" y="10359"/>
                <a:ext cx="480" cy="480"/>
              </a:xfrm>
              <a:prstGeom prst="mathMultiply">
                <a:avLst/>
              </a:prstGeom>
              <a:solidFill>
                <a:srgbClr val="1F77B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3434" y="10331"/>
                <a:ext cx="422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 Mean, 2023</a:t>
                </a:r>
                <a:endParaRPr lang="en-US" altLang="zh-CN" sz="16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/>
                <p:cNvSpPr txBox="1"/>
                <p:nvPr/>
              </p:nvSpPr>
              <p:spPr>
                <a:xfrm>
                  <a:off x="1974" y="464"/>
                  <a:ext cx="7243" cy="13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Structural Zero Params</a:t>
                  </a:r>
                  <a:endParaRPr lang="en-US" altLang="zh-CN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)=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𝑙𝑜𝑔𝑖𝑠𝑡𝑖𝑐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𝛽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" y="464"/>
                  <a:ext cx="7243" cy="130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本框 36"/>
            <p:cNvSpPr txBox="1"/>
            <p:nvPr/>
          </p:nvSpPr>
          <p:spPr>
            <a:xfrm>
              <a:off x="5263" y="7644"/>
              <a:ext cx="885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50%</a:t>
              </a:r>
              <a:endParaRPr lang="en-US" altLang="zh-CN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394" y="7617"/>
              <a:ext cx="10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100%</a:t>
              </a:r>
              <a:endParaRPr lang="en-US" altLang="zh-CN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706" y="7601"/>
              <a:ext cx="252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424" y="1653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0.6</a:t>
              </a:r>
              <a:endParaRPr lang="en-US" altLang="zh-CN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415" y="4843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0.3</a:t>
              </a:r>
              <a:endParaRPr lang="en-US" altLang="zh-CN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41" y="1267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β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173" y="7985"/>
              <a:ext cx="3182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probability(α)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6838" y="7632"/>
              <a:ext cx="7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70%</a:t>
              </a:r>
              <a:endParaRPr lang="en-US" altLang="zh-CN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288" y="7670"/>
              <a:ext cx="871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20%</a:t>
              </a:r>
              <a:endParaRPr lang="en-US" altLang="zh-CN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9666" y="2267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9483" y="4691"/>
              <a:ext cx="77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-0.2</a:t>
              </a:r>
              <a:endParaRPr lang="en-US" altLang="zh-CN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746" y="1403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δ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398" y="7985"/>
              <a:ext cx="3182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probability(κ)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0288" y="464"/>
                  <a:ext cx="7293" cy="13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400">
                      <a:latin typeface="Arial" panose="020B0604020202020204" pitchFamily="34" charset="0"/>
                      <a:cs typeface="Arial" panose="020B0604020202020204" pitchFamily="34" charset="0"/>
                    </a:rPr>
                    <a:t>Actual Construction Params</a:t>
                  </a:r>
                  <a:endParaRPr lang="en-US" altLang="zh-CN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)=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𝑙𝑜𝑔𝑖𝑠𝑡𝑖𝑐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𝜅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𝛿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8" y="464"/>
                  <a:ext cx="7293" cy="130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4149" y="7644"/>
              <a:ext cx="885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50%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9436" y="7076"/>
              <a:ext cx="76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-0.4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6781" y="4616"/>
              <a:ext cx="257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</a:t>
              </a:r>
              <a:r>
                <a:rPr lang="en-US" altLang="zh-CN" sz="16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β = 0.3</a:t>
              </a:r>
              <a:endParaRPr lang="en-US" altLang="zh-CN" sz="16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380" y="3475"/>
              <a:ext cx="257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</a:t>
              </a:r>
              <a:r>
                <a:rPr lang="en-US" altLang="zh-CN" sz="16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δ = -0.09</a:t>
              </a:r>
              <a:endParaRPr lang="en-US" altLang="zh-CN" sz="16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846455" y="72390"/>
            <a:ext cx="10474960" cy="6572250"/>
            <a:chOff x="1333" y="114"/>
            <a:chExt cx="16496" cy="10350"/>
          </a:xfrm>
        </p:grpSpPr>
        <p:grpSp>
          <p:nvGrpSpPr>
            <p:cNvPr id="30" name="组合 29"/>
            <p:cNvGrpSpPr/>
            <p:nvPr/>
          </p:nvGrpSpPr>
          <p:grpSpPr>
            <a:xfrm>
              <a:off x="1333" y="114"/>
              <a:ext cx="16496" cy="10350"/>
              <a:chOff x="1333" y="114"/>
              <a:chExt cx="16496" cy="10350"/>
            </a:xfrm>
          </p:grpSpPr>
          <p:pic>
            <p:nvPicPr>
              <p:cNvPr id="3" name="图片 2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33" y="1508"/>
                <a:ext cx="16496" cy="6670"/>
              </a:xfrm>
              <a:prstGeom prst="rect">
                <a:avLst/>
              </a:prstGeom>
            </p:spPr>
          </p:pic>
          <p:grpSp>
            <p:nvGrpSpPr>
              <p:cNvPr id="33" name="组合 32"/>
              <p:cNvGrpSpPr/>
              <p:nvPr/>
            </p:nvGrpSpPr>
            <p:grpSpPr>
              <a:xfrm rot="0">
                <a:off x="1440" y="1669"/>
                <a:ext cx="16289" cy="6551"/>
                <a:chOff x="161" y="1193"/>
                <a:chExt cx="18855" cy="7582"/>
              </a:xfrm>
            </p:grpSpPr>
            <p:sp>
              <p:nvSpPr>
                <p:cNvPr id="7" name="矩形 6"/>
                <p:cNvSpPr/>
                <p:nvPr/>
              </p:nvSpPr>
              <p:spPr>
                <a:xfrm>
                  <a:off x="161" y="1193"/>
                  <a:ext cx="630" cy="74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 rot="5400000">
                  <a:off x="4742" y="4193"/>
                  <a:ext cx="630" cy="85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9418" y="1193"/>
                  <a:ext cx="986" cy="74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 rot="5400000">
                  <a:off x="14022" y="3732"/>
                  <a:ext cx="630" cy="93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 rot="0">
                <a:off x="1984" y="8434"/>
                <a:ext cx="15595" cy="2031"/>
                <a:chOff x="2352" y="8858"/>
                <a:chExt cx="15488" cy="2031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13434" y="9840"/>
                  <a:ext cx="4406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Latin America Mean, 2016</a:t>
                  </a:r>
                  <a:endParaRPr lang="en-US" altLang="zh-CN" sz="1600"/>
                </a:p>
              </p:txBody>
            </p:sp>
            <p:sp>
              <p:nvSpPr>
                <p:cNvPr id="4" name="文本框 3"/>
                <p:cNvSpPr txBox="1"/>
                <p:nvPr/>
              </p:nvSpPr>
              <p:spPr>
                <a:xfrm>
                  <a:off x="13434" y="8858"/>
                  <a:ext cx="3146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Latin America, 2016</a:t>
                  </a:r>
                  <a:endParaRPr lang="en-US" altLang="zh-CN" sz="1600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13067" y="8972"/>
                  <a:ext cx="255" cy="255"/>
                </a:xfrm>
                <a:prstGeom prst="ellipse">
                  <a:avLst/>
                </a:prstGeom>
                <a:solidFill>
                  <a:srgbClr val="47A2DE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3067" y="9435"/>
                  <a:ext cx="255" cy="255"/>
                </a:xfrm>
                <a:prstGeom prst="ellipse">
                  <a:avLst/>
                </a:prstGeom>
                <a:solidFill>
                  <a:srgbClr val="47A2DE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13434" y="9349"/>
                  <a:ext cx="3146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Latin America, 2023</a:t>
                  </a:r>
                  <a:endParaRPr lang="en-US" altLang="zh-CN" sz="1600"/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2848" y="8858"/>
                  <a:ext cx="3205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Africa, 2016</a:t>
                  </a:r>
                  <a:endParaRPr lang="en-US" altLang="zh-CN" sz="1600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465" y="8972"/>
                  <a:ext cx="255" cy="255"/>
                </a:xfrm>
                <a:prstGeom prst="ellipse">
                  <a:avLst/>
                </a:prstGeom>
                <a:solidFill>
                  <a:srgbClr val="E85748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9467BD"/>
                    </a:solidFill>
                  </a:endParaRPr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2465" y="9435"/>
                  <a:ext cx="255" cy="255"/>
                </a:xfrm>
                <a:prstGeom prst="ellipse">
                  <a:avLst/>
                </a:prstGeom>
                <a:solidFill>
                  <a:srgbClr val="E85748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2848" y="9358"/>
                  <a:ext cx="3205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Africa, 2023</a:t>
                  </a:r>
                  <a:endParaRPr lang="en-US" altLang="zh-CN" sz="1600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053" y="8858"/>
                  <a:ext cx="4526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South&amp;South-east Asia, 2016</a:t>
                  </a:r>
                  <a:endParaRPr lang="en-US" altLang="zh-CN" sz="1600"/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6647" y="8972"/>
                  <a:ext cx="255" cy="255"/>
                </a:xfrm>
                <a:prstGeom prst="ellipse">
                  <a:avLst/>
                </a:prstGeom>
                <a:solidFill>
                  <a:srgbClr val="F39F1B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" name="椭圆 19"/>
                <p:cNvSpPr/>
                <p:nvPr/>
              </p:nvSpPr>
              <p:spPr>
                <a:xfrm>
                  <a:off x="6647" y="9435"/>
                  <a:ext cx="255" cy="255"/>
                </a:xfrm>
                <a:prstGeom prst="ellipse">
                  <a:avLst/>
                </a:prstGeom>
                <a:solidFill>
                  <a:srgbClr val="F39F1B">
                    <a:alpha val="6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7053" y="9345"/>
                  <a:ext cx="4526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>
                      <a:sym typeface="+mn-ea"/>
                    </a:rPr>
                    <a:t>South&amp;South-east Asia, 2023</a:t>
                  </a:r>
                  <a:endParaRPr lang="en-US" altLang="zh-CN" sz="1600"/>
                </a:p>
              </p:txBody>
            </p:sp>
            <p:sp>
              <p:nvSpPr>
                <p:cNvPr id="22" name="乘号 21"/>
                <p:cNvSpPr/>
                <p:nvPr/>
              </p:nvSpPr>
              <p:spPr>
                <a:xfrm>
                  <a:off x="2352" y="9845"/>
                  <a:ext cx="480" cy="480"/>
                </a:xfrm>
                <a:prstGeom prst="mathMultiply">
                  <a:avLst/>
                </a:prstGeom>
                <a:solidFill>
                  <a:srgbClr val="E85748">
                    <a:alpha val="8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A985CA"/>
                    </a:solidFill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2848" y="9858"/>
                  <a:ext cx="3205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Africa Mean, 2016</a:t>
                  </a:r>
                  <a:endParaRPr lang="en-US" altLang="zh-CN" sz="1600"/>
                </a:p>
              </p:txBody>
            </p:sp>
            <p:sp>
              <p:nvSpPr>
                <p:cNvPr id="24" name="乘号 23"/>
                <p:cNvSpPr/>
                <p:nvPr/>
              </p:nvSpPr>
              <p:spPr>
                <a:xfrm>
                  <a:off x="2352" y="10359"/>
                  <a:ext cx="480" cy="480"/>
                </a:xfrm>
                <a:prstGeom prst="mathMultiply">
                  <a:avLst/>
                </a:prstGeom>
                <a:solidFill>
                  <a:srgbClr val="E8574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A985CA"/>
                    </a:solidFill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2848" y="10358"/>
                  <a:ext cx="3205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Africa Mean, 2023</a:t>
                  </a:r>
                  <a:endParaRPr lang="en-US" altLang="zh-CN" sz="1600"/>
                </a:p>
              </p:txBody>
            </p:sp>
            <p:sp>
              <p:nvSpPr>
                <p:cNvPr id="26" name="乘号 25"/>
                <p:cNvSpPr/>
                <p:nvPr/>
              </p:nvSpPr>
              <p:spPr>
                <a:xfrm>
                  <a:off x="6534" y="9845"/>
                  <a:ext cx="480" cy="480"/>
                </a:xfrm>
                <a:prstGeom prst="mathMultiply">
                  <a:avLst/>
                </a:prstGeom>
                <a:solidFill>
                  <a:srgbClr val="F39F1B">
                    <a:alpha val="8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A985CA"/>
                    </a:solidFill>
                  </a:endParaRP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7053" y="9832"/>
                  <a:ext cx="5582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>
                      <a:sym typeface="+mn-ea"/>
                    </a:rPr>
                    <a:t>South&amp;South-east Asia Mean, 2016</a:t>
                  </a:r>
                  <a:endParaRPr lang="zh-CN" altLang="en-US" sz="1600">
                    <a:ea typeface="宋体" panose="02010600030101010101" pitchFamily="2" charset="-122"/>
                    <a:sym typeface="+mn-ea"/>
                  </a:endParaRPr>
                </a:p>
              </p:txBody>
            </p:sp>
            <p:sp>
              <p:nvSpPr>
                <p:cNvPr id="28" name="乘号 27"/>
                <p:cNvSpPr/>
                <p:nvPr/>
              </p:nvSpPr>
              <p:spPr>
                <a:xfrm>
                  <a:off x="6534" y="10359"/>
                  <a:ext cx="480" cy="480"/>
                </a:xfrm>
                <a:prstGeom prst="mathMultiply">
                  <a:avLst/>
                </a:prstGeom>
                <a:solidFill>
                  <a:srgbClr val="F39F1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A985CA"/>
                    </a:solidFill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7053" y="10319"/>
                  <a:ext cx="5581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>
                      <a:sym typeface="+mn-ea"/>
                    </a:rPr>
                    <a:t>South&amp;South-east Asia Mean, 2023</a:t>
                  </a:r>
                  <a:endParaRPr lang="en-US" altLang="zh-CN" sz="1600"/>
                </a:p>
              </p:txBody>
            </p:sp>
            <p:sp>
              <p:nvSpPr>
                <p:cNvPr id="31" name="乘号 30"/>
                <p:cNvSpPr/>
                <p:nvPr/>
              </p:nvSpPr>
              <p:spPr>
                <a:xfrm>
                  <a:off x="12954" y="9845"/>
                  <a:ext cx="480" cy="480"/>
                </a:xfrm>
                <a:prstGeom prst="mathMultiply">
                  <a:avLst/>
                </a:prstGeom>
                <a:solidFill>
                  <a:srgbClr val="47A2DE">
                    <a:alpha val="8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A985CA"/>
                    </a:solidFill>
                  </a:endParaRPr>
                </a:p>
              </p:txBody>
            </p:sp>
            <p:sp>
              <p:nvSpPr>
                <p:cNvPr id="34" name="乘号 33"/>
                <p:cNvSpPr/>
                <p:nvPr/>
              </p:nvSpPr>
              <p:spPr>
                <a:xfrm>
                  <a:off x="12954" y="10359"/>
                  <a:ext cx="480" cy="480"/>
                </a:xfrm>
                <a:prstGeom prst="mathMultiply">
                  <a:avLst/>
                </a:prstGeom>
                <a:solidFill>
                  <a:srgbClr val="47A2D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rgbClr val="A985CA"/>
                    </a:solidFill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13434" y="10331"/>
                  <a:ext cx="422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/>
                    <a:t>Latin America Mean, 2023</a:t>
                  </a:r>
                  <a:endParaRPr lang="en-US" altLang="zh-CN" sz="160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1974" y="658"/>
                    <a:ext cx="7243" cy="11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2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Structural Zero</a:t>
                    </a:r>
                    <a:endParaRPr lang="en-US" altLang="zh-C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)=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𝑙𝑜𝑔𝑖𝑠𝑡𝑖𝑐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𝛼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𝛽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4" y="658"/>
                    <a:ext cx="7243" cy="1113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文本框 36"/>
              <p:cNvSpPr txBox="1"/>
              <p:nvPr/>
            </p:nvSpPr>
            <p:spPr>
              <a:xfrm>
                <a:off x="5263" y="7644"/>
                <a:ext cx="885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r>
                  <a:rPr lang="en-US" altLang="zh-CN"/>
                  <a:t>50%</a:t>
                </a:r>
                <a:endParaRPr lang="en-US" altLang="zh-CN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8394" y="7617"/>
                <a:ext cx="10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r>
                  <a:rPr lang="en-US" altLang="zh-CN"/>
                  <a:t>100%</a:t>
                </a:r>
                <a:endParaRPr lang="en-US" altLang="zh-CN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706" y="7601"/>
                <a:ext cx="252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424" y="1653"/>
                <a:ext cx="5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/>
                  <a:t>0.6</a:t>
                </a:r>
                <a:endParaRPr lang="en-US" altLang="zh-CN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415" y="4843"/>
                <a:ext cx="5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/>
                  <a:t>0.3</a:t>
                </a:r>
                <a:endParaRPr lang="en-US" altLang="zh-CN"/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441" y="1267"/>
                <a:ext cx="5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:r>
                  <a:rPr lang="en-US" altLang="zh-CN" sz="2000" i="1">
                    <a:latin typeface="Arial" panose="020B0604020202020204" pitchFamily="34" charset="0"/>
                    <a:cs typeface="Arial" panose="020B0604020202020204" pitchFamily="34" charset="0"/>
                  </a:rPr>
                  <a:t>β</a:t>
                </a:r>
                <a:endParaRPr lang="en-US" altLang="zh-CN" sz="20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6173" y="7985"/>
                <a:ext cx="3182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 sz="2000" i="1">
                    <a:latin typeface="Arial" panose="020B0604020202020204" pitchFamily="34" charset="0"/>
                    <a:cs typeface="Arial" panose="020B0604020202020204" pitchFamily="34" charset="0"/>
                  </a:rPr>
                  <a:t>probability(α)</a:t>
                </a:r>
                <a:endParaRPr lang="en-US" altLang="zh-CN" sz="20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16838" y="7632"/>
                <a:ext cx="7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r>
                  <a:rPr lang="en-US" altLang="zh-CN"/>
                  <a:t>70%</a:t>
                </a:r>
                <a:endParaRPr lang="en-US" altLang="zh-CN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0288" y="7670"/>
                <a:ext cx="871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r>
                  <a:rPr lang="en-US" altLang="zh-CN"/>
                  <a:t>20%</a:t>
                </a:r>
                <a:endParaRPr lang="en-US" altLang="zh-CN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9666" y="2267"/>
                <a:ext cx="5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9483" y="4691"/>
                <a:ext cx="77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/>
                  <a:t>-0.2</a:t>
                </a:r>
                <a:endParaRPr lang="en-US" altLang="zh-CN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746" y="1403"/>
                <a:ext cx="54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:r>
                  <a:rPr lang="en-US" altLang="zh-CN" sz="2000" i="1">
                    <a:latin typeface="Arial" panose="020B0604020202020204" pitchFamily="34" charset="0"/>
                    <a:cs typeface="Arial" panose="020B0604020202020204" pitchFamily="34" charset="0"/>
                  </a:rPr>
                  <a:t>δ</a:t>
                </a:r>
                <a:endParaRPr lang="en-US" altLang="zh-CN" sz="20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4398" y="7985"/>
                <a:ext cx="3182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 sz="2000" i="1">
                    <a:latin typeface="Arial" panose="020B0604020202020204" pitchFamily="34" charset="0"/>
                    <a:cs typeface="Arial" panose="020B0604020202020204" pitchFamily="34" charset="0"/>
                  </a:rPr>
                  <a:t>probability(κ)</a:t>
                </a:r>
                <a:endParaRPr lang="en-US" altLang="zh-CN" sz="20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文本框 51"/>
                  <p:cNvSpPr txBox="1"/>
                  <p:nvPr/>
                </p:nvSpPr>
                <p:spPr>
                  <a:xfrm>
                    <a:off x="10288" y="658"/>
                    <a:ext cx="7293" cy="11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2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Actual Construction</a:t>
                    </a:r>
                    <a:endParaRPr lang="en-US" altLang="zh-CN" sz="2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)=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𝑙𝑜𝑔𝑖𝑠𝑡𝑖𝑐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𝜅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2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52" name="文本框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88" y="658"/>
                    <a:ext cx="7293" cy="1113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文本框 52"/>
              <p:cNvSpPr txBox="1"/>
              <p:nvPr/>
            </p:nvSpPr>
            <p:spPr>
              <a:xfrm>
                <a:off x="14149" y="7644"/>
                <a:ext cx="885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r>
                  <a:rPr lang="en-US" altLang="zh-CN"/>
                  <a:t>50%</a:t>
                </a:r>
                <a:endParaRPr lang="en-US" altLang="zh-CN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9436" y="7076"/>
                <a:ext cx="763" cy="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r"/>
                <a:r>
                  <a:rPr lang="en-US" altLang="zh-CN"/>
                  <a:t>-0.4</a:t>
                </a:r>
                <a:endParaRPr lang="en-US" altLang="zh-CN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6781" y="4584"/>
                <a:ext cx="257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mean </a:t>
                </a:r>
                <a:r>
                  <a:rPr lang="en-US" altLang="zh-CN" sz="1600" i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β = 0.3</a:t>
                </a:r>
                <a:endParaRPr lang="en-US" altLang="zh-CN" sz="16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0380" y="3395"/>
                <a:ext cx="257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mean </a:t>
                </a:r>
                <a:r>
                  <a:rPr lang="en-US" altLang="zh-CN" sz="1600" i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δ = -0.09</a:t>
                </a:r>
                <a:endParaRPr lang="en-US" altLang="zh-CN" sz="16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958" y="114"/>
                <a:ext cx="15623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en-US" altLang="zh-CN" sz="2400" b="1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Horizontal Construction Params</a:t>
                </a:r>
                <a:endPara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p:grpSp>
        <p:sp>
          <p:nvSpPr>
            <p:cNvPr id="54" name="文本框 53"/>
            <p:cNvSpPr txBox="1"/>
            <p:nvPr/>
          </p:nvSpPr>
          <p:spPr>
            <a:xfrm>
              <a:off x="1984" y="6876"/>
              <a:ext cx="215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Low-Constraint, Flat-Gradient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781" y="1716"/>
              <a:ext cx="2404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r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High-Constraint, Steep-Gradient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396" y="1716"/>
              <a:ext cx="221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r">
                <a:buClrTx/>
                <a:buSzTx/>
                <a:buFontTx/>
              </a:pP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Low-Constraint,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  <a:p>
              <a:pPr lvl="0" algn="r">
                <a:buClrTx/>
                <a:buSzTx/>
                <a:buFontTx/>
              </a:pP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Steep-Gradient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6992" y="4969"/>
              <a:ext cx="215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r"/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</a:rPr>
                <a:t>High-Constraint, Flat-Gradient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0380" y="1716"/>
              <a:ext cx="221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Low-Intensity, Flat-Gradient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0388" y="6840"/>
              <a:ext cx="221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Low-Intensity, Steep-Gradient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5264" y="1669"/>
              <a:ext cx="221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r">
                <a:buClrTx/>
                <a:buSzTx/>
                <a:buFontTx/>
              </a:pP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High-Intensity, Flat-Gradient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5278" y="6839"/>
              <a:ext cx="2211" cy="72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r">
                <a:buClrTx/>
                <a:buSzTx/>
                <a:buFontTx/>
              </a:pPr>
              <a:r>
                <a:rPr lang="en-US" altLang="zh-CN" sz="1200" i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High-Intensity, Steep-Gradient</a:t>
              </a:r>
              <a:endParaRPr lang="en-US" altLang="zh-CN" sz="1200" i="1">
                <a:solidFill>
                  <a:schemeClr val="bg1">
                    <a:lumMod val="50000"/>
                  </a:schemeClr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9" name="组合 68"/>
          <p:cNvGrpSpPr/>
          <p:nvPr/>
        </p:nvGrpSpPr>
        <p:grpSpPr>
          <a:xfrm>
            <a:off x="0" y="224790"/>
            <a:ext cx="12237720" cy="6248400"/>
            <a:chOff x="0" y="354"/>
            <a:chExt cx="19272" cy="9840"/>
          </a:xfrm>
        </p:grpSpPr>
        <p:pic>
          <p:nvPicPr>
            <p:cNvPr id="4" name="图片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0" y="1805"/>
              <a:ext cx="19192" cy="629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 rot="5400000">
              <a:off x="9795" y="-1270"/>
              <a:ext cx="544" cy="1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1648"/>
              <a:ext cx="818" cy="6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5" name="矩形 4"/>
            <p:cNvSpPr/>
            <p:nvPr/>
          </p:nvSpPr>
          <p:spPr>
            <a:xfrm>
              <a:off x="6424" y="1487"/>
              <a:ext cx="818" cy="6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6" name="矩形 5"/>
            <p:cNvSpPr/>
            <p:nvPr/>
          </p:nvSpPr>
          <p:spPr>
            <a:xfrm>
              <a:off x="12864" y="1616"/>
              <a:ext cx="818" cy="6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/>
                <p:cNvSpPr txBox="1"/>
                <p:nvPr/>
              </p:nvSpPr>
              <p:spPr>
                <a:xfrm>
                  <a:off x="5977" y="354"/>
                  <a:ext cx="7243" cy="1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24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Vertical Profile Params</a:t>
                  </a:r>
                  <a:endParaRPr lang="en-US" altLang="zh-CN" sz="2400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𝐻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)=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∙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𝑒𝑥𝑝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2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7" y="354"/>
                  <a:ext cx="7243" cy="129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本框 36"/>
            <p:cNvSpPr txBox="1"/>
            <p:nvPr/>
          </p:nvSpPr>
          <p:spPr>
            <a:xfrm>
              <a:off x="3044" y="7598"/>
              <a:ext cx="450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10</a:t>
              </a:r>
              <a:endParaRPr lang="en-US" altLang="zh-CN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" y="6430"/>
              <a:ext cx="747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-0.4</a:t>
              </a:r>
              <a:endParaRPr lang="en-US" altLang="zh-CN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212" y="7598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608" y="7638"/>
              <a:ext cx="1166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A(m)</a:t>
              </a:r>
              <a:endParaRPr lang="zh-CN" altLang="en-US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9" y="1616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794" y="7598"/>
              <a:ext cx="450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15</a:t>
              </a:r>
              <a:endParaRPr lang="en-US" altLang="zh-CN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84" y="2751"/>
              <a:ext cx="470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0" y="4583"/>
              <a:ext cx="734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-0.2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00" y="7638"/>
              <a:ext cx="702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-0.2</a:t>
              </a:r>
              <a:endParaRPr lang="en-US" altLang="zh-CN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228" y="7126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-0.02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759" y="7638"/>
              <a:ext cx="747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/>
                <a:t>-0.4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060" y="7638"/>
              <a:ext cx="1166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934" y="1534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624" y="7638"/>
              <a:ext cx="235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228" y="5826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228" y="4538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0.02</a:t>
              </a:r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228" y="3172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0.04</a:t>
              </a:r>
              <a:endParaRPr lang="en-US" altLang="zh-CN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228" y="1912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0.06</a:t>
              </a:r>
              <a:endParaRPr lang="en-US" alt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906" y="7652"/>
              <a:ext cx="450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10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074" y="7652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106" y="7638"/>
              <a:ext cx="1166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A(m)</a:t>
              </a:r>
              <a:endParaRPr lang="zh-CN" altLang="en-US" sz="2000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7656" y="7652"/>
              <a:ext cx="450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r>
                <a:rPr lang="en-US" altLang="zh-CN"/>
                <a:t>15</a:t>
              </a:r>
              <a:endParaRPr lang="en-US" altLang="zh-CN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2689" y="7126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-0.02</a:t>
              </a:r>
              <a:endParaRPr lang="en-US" altLang="zh-CN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3395" y="1534"/>
              <a:ext cx="543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/>
              <a:r>
                <a:rPr lang="en-US" altLang="zh-CN" sz="2000" i="1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en-US" altLang="zh-CN" sz="20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689" y="5826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2689" y="4538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0.02</a:t>
              </a: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2689" y="3172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0.04</a:t>
              </a:r>
              <a:endParaRPr lang="en-US" altLang="zh-CN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689" y="1912"/>
              <a:ext cx="978" cy="3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r"/>
              <a:r>
                <a:rPr lang="en-US" altLang="zh-CN"/>
                <a:t>0.06</a:t>
              </a:r>
              <a:endParaRPr lang="en-US" altLang="zh-CN"/>
            </a:p>
          </p:txBody>
        </p:sp>
        <p:grpSp>
          <p:nvGrpSpPr>
            <p:cNvPr id="56" name="组合 55"/>
            <p:cNvGrpSpPr/>
            <p:nvPr/>
          </p:nvGrpSpPr>
          <p:grpSpPr>
            <a:xfrm rot="0">
              <a:off x="2061" y="8164"/>
              <a:ext cx="15595" cy="2031"/>
              <a:chOff x="2352" y="8858"/>
              <a:chExt cx="15488" cy="2031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13434" y="9840"/>
                <a:ext cx="440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 Mean, 2016</a:t>
                </a:r>
                <a:endParaRPr lang="en-US" altLang="zh-CN" sz="1600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3434" y="8858"/>
                <a:ext cx="314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America, 2016</a:t>
                </a:r>
                <a:endParaRPr lang="en-US" altLang="zh-CN" sz="1600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3067" y="8972"/>
                <a:ext cx="255" cy="255"/>
              </a:xfrm>
              <a:prstGeom prst="ellipse">
                <a:avLst/>
              </a:prstGeom>
              <a:solidFill>
                <a:srgbClr val="47A2DE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13067" y="9435"/>
                <a:ext cx="255" cy="255"/>
              </a:xfrm>
              <a:prstGeom prst="ellipse">
                <a:avLst/>
              </a:prstGeom>
              <a:solidFill>
                <a:srgbClr val="47A2DE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3434" y="9349"/>
                <a:ext cx="314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America, 2023</a:t>
                </a:r>
                <a:endParaRPr lang="en-US" altLang="zh-CN" sz="1600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848" y="88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Africa, 2016</a:t>
                </a:r>
                <a:endParaRPr lang="en-US" altLang="zh-CN" sz="1600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465" y="8972"/>
                <a:ext cx="255" cy="255"/>
              </a:xfrm>
              <a:prstGeom prst="ellipse">
                <a:avLst/>
              </a:prstGeom>
              <a:solidFill>
                <a:srgbClr val="E85748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9467BD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465" y="9435"/>
                <a:ext cx="255" cy="255"/>
              </a:xfrm>
              <a:prstGeom prst="ellipse">
                <a:avLst/>
              </a:prstGeom>
              <a:solidFill>
                <a:srgbClr val="E85748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2848" y="93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Africa, 2023</a:t>
                </a:r>
                <a:endParaRPr lang="en-US" altLang="zh-CN" sz="160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7053" y="8858"/>
                <a:ext cx="452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South&amp;South-east Asia, 2016</a:t>
                </a:r>
                <a:endParaRPr lang="en-US" altLang="zh-CN" sz="1600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6647" y="8972"/>
                <a:ext cx="255" cy="255"/>
              </a:xfrm>
              <a:prstGeom prst="ellipse">
                <a:avLst/>
              </a:prstGeom>
              <a:solidFill>
                <a:srgbClr val="F39F1B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6647" y="9435"/>
                <a:ext cx="255" cy="255"/>
              </a:xfrm>
              <a:prstGeom prst="ellipse">
                <a:avLst/>
              </a:prstGeom>
              <a:solidFill>
                <a:srgbClr val="F39F1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053" y="9345"/>
                <a:ext cx="452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ym typeface="+mn-ea"/>
                  </a:rPr>
                  <a:t>South&amp;South-east Asia, 2023</a:t>
                </a:r>
                <a:endParaRPr lang="en-US" altLang="zh-CN" sz="1600"/>
              </a:p>
            </p:txBody>
          </p:sp>
          <p:sp>
            <p:nvSpPr>
              <p:cNvPr id="50" name="乘号 49"/>
              <p:cNvSpPr/>
              <p:nvPr/>
            </p:nvSpPr>
            <p:spPr>
              <a:xfrm>
                <a:off x="2352" y="9845"/>
                <a:ext cx="480" cy="480"/>
              </a:xfrm>
              <a:prstGeom prst="mathMultiply">
                <a:avLst/>
              </a:prstGeom>
              <a:solidFill>
                <a:srgbClr val="E85748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2848" y="98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 Mean, 2016</a:t>
                </a:r>
                <a:endParaRPr lang="en-US" altLang="zh-CN" sz="1600"/>
              </a:p>
            </p:txBody>
          </p:sp>
          <p:sp>
            <p:nvSpPr>
              <p:cNvPr id="52" name="乘号 51"/>
              <p:cNvSpPr/>
              <p:nvPr/>
            </p:nvSpPr>
            <p:spPr>
              <a:xfrm>
                <a:off x="2352" y="10359"/>
                <a:ext cx="480" cy="480"/>
              </a:xfrm>
              <a:prstGeom prst="mathMultiply">
                <a:avLst/>
              </a:prstGeom>
              <a:solidFill>
                <a:srgbClr val="E8574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2848" y="10358"/>
                <a:ext cx="320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Africa Mean, 2023</a:t>
                </a:r>
                <a:endParaRPr lang="en-US" altLang="zh-CN" sz="1600"/>
              </a:p>
            </p:txBody>
          </p:sp>
          <p:sp>
            <p:nvSpPr>
              <p:cNvPr id="54" name="乘号 53"/>
              <p:cNvSpPr/>
              <p:nvPr/>
            </p:nvSpPr>
            <p:spPr>
              <a:xfrm>
                <a:off x="6534" y="9845"/>
                <a:ext cx="480" cy="480"/>
              </a:xfrm>
              <a:prstGeom prst="mathMultiply">
                <a:avLst/>
              </a:prstGeom>
              <a:solidFill>
                <a:srgbClr val="F39F1B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7053" y="9832"/>
                <a:ext cx="558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ym typeface="+mn-ea"/>
                  </a:rPr>
                  <a:t>South&amp;South-east Asia Mean, 2016</a:t>
                </a:r>
                <a:endParaRPr lang="zh-CN" altLang="en-US" sz="1600">
                  <a:ea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57" name="乘号 56"/>
              <p:cNvSpPr/>
              <p:nvPr/>
            </p:nvSpPr>
            <p:spPr>
              <a:xfrm>
                <a:off x="6534" y="10359"/>
                <a:ext cx="480" cy="480"/>
              </a:xfrm>
              <a:prstGeom prst="mathMultiply">
                <a:avLst/>
              </a:prstGeom>
              <a:solidFill>
                <a:srgbClr val="F39F1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7053" y="10319"/>
                <a:ext cx="558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ym typeface="+mn-ea"/>
                  </a:rPr>
                  <a:t>South&amp;South-east Asia Mean, 2023</a:t>
                </a:r>
                <a:endParaRPr lang="en-US" altLang="zh-CN" sz="1600"/>
              </a:p>
            </p:txBody>
          </p:sp>
          <p:sp>
            <p:nvSpPr>
              <p:cNvPr id="59" name="乘号 58"/>
              <p:cNvSpPr/>
              <p:nvPr/>
            </p:nvSpPr>
            <p:spPr>
              <a:xfrm>
                <a:off x="12954" y="9845"/>
                <a:ext cx="480" cy="480"/>
              </a:xfrm>
              <a:prstGeom prst="mathMultiply">
                <a:avLst/>
              </a:prstGeom>
              <a:solidFill>
                <a:srgbClr val="47A2DE">
                  <a:alpha val="8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60" name="乘号 59"/>
              <p:cNvSpPr/>
              <p:nvPr/>
            </p:nvSpPr>
            <p:spPr>
              <a:xfrm>
                <a:off x="12954" y="10359"/>
                <a:ext cx="480" cy="480"/>
              </a:xfrm>
              <a:prstGeom prst="mathMultiply">
                <a:avLst/>
              </a:prstGeom>
              <a:solidFill>
                <a:srgbClr val="47A2D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rgbClr val="A985CA"/>
                  </a:solidFill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3434" y="10331"/>
                <a:ext cx="422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Latin America Mean, 2023</a:t>
                </a:r>
                <a:endParaRPr lang="en-US" altLang="zh-CN" sz="1600"/>
              </a:p>
            </p:txBody>
          </p:sp>
        </p:grpSp>
        <p:sp>
          <p:nvSpPr>
            <p:cNvPr id="63" name="文本框 62"/>
            <p:cNvSpPr txBox="1"/>
            <p:nvPr/>
          </p:nvSpPr>
          <p:spPr>
            <a:xfrm>
              <a:off x="2432" y="6672"/>
              <a:ext cx="148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A</a:t>
              </a:r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= 7.58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917" y="3540"/>
              <a:ext cx="235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B </a:t>
              </a:r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= -0.08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5284" y="6672"/>
              <a:ext cx="148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A</a:t>
              </a:r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= 7.58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387" y="5711"/>
              <a:ext cx="235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C </a:t>
              </a:r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= 0.00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6703" y="5711"/>
              <a:ext cx="235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mean C </a:t>
              </a:r>
              <a:r>
                <a:rPr lang="en-US" altLang="zh-CN" sz="1400" i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= 0.00</a:t>
              </a:r>
              <a:endPara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5504815" y="1343025"/>
            <a:ext cx="1495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B 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= -0.08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Custom 1">
      <a:dk1>
        <a:srgbClr val="000000"/>
      </a:dk1>
      <a:lt1>
        <a:srgbClr val="FFFFFF"/>
      </a:lt1>
      <a:dk2>
        <a:srgbClr val="B6E1FF"/>
      </a:dk2>
      <a:lt2>
        <a:srgbClr val="4488FF"/>
      </a:lt2>
      <a:accent1>
        <a:srgbClr val="D3B137"/>
      </a:accent1>
      <a:accent2>
        <a:srgbClr val="FEF436"/>
      </a:accent2>
      <a:accent3>
        <a:srgbClr val="C577E2"/>
      </a:accent3>
      <a:accent4>
        <a:srgbClr val="DAC7FF"/>
      </a:accent4>
      <a:accent5>
        <a:srgbClr val="6EDC8B"/>
      </a:accent5>
      <a:accent6>
        <a:srgbClr val="2AB320"/>
      </a:accent6>
      <a:hlink>
        <a:srgbClr val="B6E1FF"/>
      </a:hlink>
      <a:folHlink>
        <a:srgbClr val="B6E1FF"/>
      </a:folHlink>
    </a:clrScheme>
    <a:fontScheme name="WPS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WPS 演示</Application>
  <PresentationFormat>宽屏</PresentationFormat>
  <Paragraphs>244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Cambria Math</vt:lpstr>
      <vt:lpstr>MS Mincho</vt:lpstr>
      <vt:lpstr>微软雅黑</vt:lpstr>
      <vt:lpstr>Arial Unicode MS</vt:lpstr>
      <vt:lpstr>MS Gothic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April Liang</cp:lastModifiedBy>
  <cp:revision>9</cp:revision>
  <dcterms:created xsi:type="dcterms:W3CDTF">2026-03-02T16:13:37Z</dcterms:created>
  <dcterms:modified xsi:type="dcterms:W3CDTF">2026-03-02T16:13:37Z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2052-12.1.2.24722</vt:lpwstr>
  </property>
  <property fmtid="{D5CDD505-2E9C-101B-9397-08002B2CF9AE}" pid="3" name="ICV">
    <vt:lpwstr>0364E104D99840A39D3DA0694DD01CB9_41</vt:lpwstr>
  </property>
</Properties>
</file>