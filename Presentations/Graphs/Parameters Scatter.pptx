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56" r:id="rId12"/>
    <p:sldId id="257" r:id="rId13"/>
    <p:sldId id="258" r:id="rId14"/>
    <p:sldId id="267" r:id="rId15"/>
    <p:sldId id="263" r:id="rId16"/>
    <p:sldId id="269" r:id="rId17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58" y="-3163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2026/6/9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2026/6/9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31.png"/><Relationship Id="rId3" Type="http://schemas.openxmlformats.org/officeDocument/2006/relationships/image" Target="../media/image24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0.png"/><Relationship Id="rId5" Type="http://schemas.openxmlformats.org/officeDocument/2006/relationships/image" Target="../media/image26.png"/><Relationship Id="rId15" Type="http://schemas.openxmlformats.org/officeDocument/2006/relationships/image" Target="../media/image27.svg"/><Relationship Id="rId10" Type="http://schemas.openxmlformats.org/officeDocument/2006/relationships/image" Target="../media/image8.png"/><Relationship Id="rId4" Type="http://schemas.openxmlformats.org/officeDocument/2006/relationships/image" Target="../media/image25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8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svg"/><Relationship Id="rId9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2.png"/><Relationship Id="rId11" Type="http://schemas.openxmlformats.org/officeDocument/2006/relationships/image" Target="../media/image60.png"/><Relationship Id="rId5" Type="http://schemas.openxmlformats.org/officeDocument/2006/relationships/image" Target="../media/image51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3.png"/><Relationship Id="rId7" Type="http://schemas.openxmlformats.org/officeDocument/2006/relationships/image" Target="../media/image6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6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6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4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9.png"/><Relationship Id="rId4" Type="http://schemas.openxmlformats.org/officeDocument/2006/relationships/image" Target="../media/image9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</a:p>
                  </p:txBody>
                </p:sp>
              </mc:Choice>
              <mc:Fallback xmlns=""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</a:p>
                  </p:txBody>
                </p:sp>
              </mc:Choice>
              <mc:Fallback xmlns=""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9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4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5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Constraints Types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/>
                  <a:t>Horizontal Construction Types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314700" y="4378960"/>
            <a:ext cx="7044055" cy="4353560"/>
            <a:chOff x="3314700" y="4378960"/>
            <a:chExt cx="7044055" cy="4353560"/>
          </a:xfrm>
        </p:grpSpPr>
        <p:sp>
          <p:nvSpPr>
            <p:cNvPr id="170" name="矩形 169"/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olidFill>
                      <a:schemeClr val="tx1"/>
                    </a:solidFill>
                    <a:sym typeface="+mn-ea"/>
                  </a:rPr>
                  <a:t>Edge-constrianed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0880" cy="353060"/>
              <a:chOff x="3905" y="13468"/>
              <a:chExt cx="7088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682409F-778A-0D83-8D2F-F2C3AA9BB2FC}"/>
              </a:ext>
            </a:extLst>
          </p:cNvPr>
          <p:cNvGrpSpPr/>
          <p:nvPr/>
        </p:nvGrpSpPr>
        <p:grpSpPr>
          <a:xfrm>
            <a:off x="1336217" y="1877695"/>
            <a:ext cx="12396470" cy="4269105"/>
            <a:chOff x="1336217" y="1877695"/>
            <a:chExt cx="12396470" cy="4269105"/>
          </a:xfrm>
        </p:grpSpPr>
        <p:sp>
          <p:nvSpPr>
            <p:cNvPr id="73" name="矩形 72"/>
            <p:cNvSpPr/>
            <p:nvPr/>
          </p:nvSpPr>
          <p:spPr>
            <a:xfrm>
              <a:off x="1336217" y="1877695"/>
              <a:ext cx="12396470" cy="4269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40527" y="2402205"/>
              <a:ext cx="4073525" cy="3122295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532297" y="2017395"/>
              <a:ext cx="38817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(b) Horizontal Construction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5746927" y="5448935"/>
              <a:ext cx="3571875" cy="488315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77" name="文本框 76"/>
            <p:cNvSpPr txBox="1"/>
            <p:nvPr/>
          </p:nvSpPr>
          <p:spPr>
            <a:xfrm>
              <a:off x="9791877" y="2017395"/>
              <a:ext cx="378587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（</a:t>
              </a:r>
              <a:r>
                <a:rPr lang="en-US" altLang="zh-CN" sz="1400" dirty="0"/>
                <a:t>c) Vertical Profile Types</a:t>
              </a:r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2418237" y="5416869"/>
              <a:ext cx="1139825" cy="276860"/>
              <a:chOff x="14196" y="11967"/>
              <a:chExt cx="1795" cy="436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96" y="12061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56" y="1196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Bowl</a:t>
                </a: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1168557" y="5679440"/>
              <a:ext cx="1155065" cy="276860"/>
              <a:chOff x="14084" y="12365"/>
              <a:chExt cx="1819" cy="436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084" y="12467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468" y="12365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Crown</a:t>
                </a:r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9735997" y="5435917"/>
              <a:ext cx="1135380" cy="276860"/>
              <a:chOff x="6824" y="17593"/>
              <a:chExt cx="1788" cy="436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7177" y="17593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Pyramid</a:t>
                </a:r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6824" y="17706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735997" y="5699760"/>
              <a:ext cx="1491615" cy="276860"/>
              <a:chOff x="14132" y="13030"/>
              <a:chExt cx="2349" cy="436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485" y="13030"/>
                <a:ext cx="1996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Volcanic Cone</a:t>
                </a:r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1168874" y="5417185"/>
              <a:ext cx="1155065" cy="276860"/>
              <a:chOff x="14132" y="12707"/>
              <a:chExt cx="1819" cy="436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16" y="1270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Pancake</a:t>
                </a:r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9414052" y="2359342"/>
              <a:ext cx="4163695" cy="31261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9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0880" cy="353060"/>
              <a:chOff x="3905" y="13468"/>
              <a:chExt cx="7088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 err="1">
                      <a:sym typeface="+mn-ea"/>
                    </a:rPr>
                    <a:t>South&amp;Southeast</a:t>
                  </a:r>
                  <a:r>
                    <a:rPr lang="en-US" altLang="zh-CN" sz="1015" dirty="0">
                      <a:sym typeface="+mn-ea"/>
                    </a:rPr>
                    <a:t>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34628"/>
            <a:ext cx="7028125" cy="3652296"/>
            <a:chOff x="410845" y="911225"/>
            <a:chExt cx="12494260" cy="6492875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11225"/>
              <a:ext cx="12494260" cy="6492875"/>
              <a:chOff x="647" y="1435"/>
              <a:chExt cx="19676" cy="10225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410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9559" cy="777"/>
                <a:chOff x="6124" y="10847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36%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12%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30%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8%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21%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27%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44%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3735353-7EC8-8838-76D2-BB10359223F5}"/>
              </a:ext>
            </a:extLst>
          </p:cNvPr>
          <p:cNvGrpSpPr/>
          <p:nvPr/>
        </p:nvGrpSpPr>
        <p:grpSpPr>
          <a:xfrm>
            <a:off x="633095" y="5314315"/>
            <a:ext cx="7836662" cy="3791585"/>
            <a:chOff x="633095" y="5314315"/>
            <a:chExt cx="7836662" cy="3791585"/>
          </a:xfrm>
        </p:grpSpPr>
        <p:sp>
          <p:nvSpPr>
            <p:cNvPr id="66" name="矩形 65"/>
            <p:cNvSpPr/>
            <p:nvPr/>
          </p:nvSpPr>
          <p:spPr>
            <a:xfrm>
              <a:off x="651511" y="5314315"/>
              <a:ext cx="7818246" cy="3791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5D82E7-4A6F-8F44-126B-CBDAE6DC5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4915" y="6067302"/>
              <a:ext cx="3180716" cy="2578394"/>
            </a:xfrm>
            <a:prstGeom prst="rect">
              <a:avLst/>
            </a:prstGeom>
          </p:spPr>
        </p:pic>
        <p:sp>
          <p:nvSpPr>
            <p:cNvPr id="67" name="矩形 90">
              <a:extLst>
                <a:ext uri="{FF2B5EF4-FFF2-40B4-BE49-F238E27FC236}">
                  <a16:creationId xmlns:a16="http://schemas.microsoft.com/office/drawing/2014/main" id="{85E55FCA-3904-517E-20F1-188B53E4A164}"/>
                </a:ext>
              </a:extLst>
            </p:cNvPr>
            <p:cNvSpPr/>
            <p:nvPr/>
          </p:nvSpPr>
          <p:spPr>
            <a:xfrm rot="5400000">
              <a:off x="6618622" y="7093896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Change of Vertical Params (B-C)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blipFill>
                  <a:blip r:embed="rId5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E18A5AC-554D-E23A-5539-FCF025A89B61}"/>
                </a:ext>
              </a:extLst>
            </p:cNvPr>
            <p:cNvGrpSpPr/>
            <p:nvPr/>
          </p:nvGrpSpPr>
          <p:grpSpPr>
            <a:xfrm>
              <a:off x="1136866" y="6067302"/>
              <a:ext cx="3551302" cy="2796150"/>
              <a:chOff x="1173098" y="5773420"/>
              <a:chExt cx="3551302" cy="2796150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3"/>
              <a:srcRect l="49624"/>
              <a:stretch>
                <a:fillRect/>
              </a:stretch>
            </p:blipFill>
            <p:spPr>
              <a:xfrm>
                <a:off x="1199592" y="5809713"/>
                <a:ext cx="3127732" cy="2590507"/>
              </a:xfrm>
              <a:prstGeom prst="rect">
                <a:avLst/>
              </a:prstGeom>
            </p:spPr>
          </p:pic>
          <p:sp>
            <p:nvSpPr>
              <p:cNvPr id="8" name="矩形 7"/>
              <p:cNvSpPr/>
              <p:nvPr/>
            </p:nvSpPr>
            <p:spPr>
              <a:xfrm rot="5400000">
                <a:off x="2537141" y="6747571"/>
                <a:ext cx="452630" cy="31807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253213" y="5773420"/>
                <a:ext cx="469900" cy="26104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935524" y="8103871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-0.04</a:t>
                </a:r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373975" y="8105141"/>
                <a:ext cx="30099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dirty="0"/>
                  <a:t>0.04</a:t>
                </a: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3997817" y="8103871"/>
                <a:ext cx="4699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B</a:t>
                </a:r>
                <a:endParaRPr lang="en-US" altLang="zh-CN" sz="1350" b="1" i="1" dirty="0">
                  <a:latin typeface="+mj-lt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1377080" y="5776983"/>
                <a:ext cx="34417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2829961" y="8105141"/>
                <a:ext cx="9461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319252" y="6840219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206857" y="7402928"/>
                <a:ext cx="50609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-0.005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1319252" y="6281050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0.005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3677007" y="8308340"/>
                <a:ext cx="104739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Latin America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410692" y="8321040"/>
                <a:ext cx="52800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Africa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1402" y="8316595"/>
                <a:ext cx="1597025" cy="247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South &amp; Southeast Asia</a:t>
                </a:r>
              </a:p>
            </p:txBody>
          </p:sp>
          <p:sp>
            <p:nvSpPr>
              <p:cNvPr id="59" name="上箭头 58"/>
              <p:cNvSpPr/>
              <p:nvPr/>
            </p:nvSpPr>
            <p:spPr>
              <a:xfrm>
                <a:off x="3573502" y="8291830"/>
                <a:ext cx="103505" cy="232410"/>
              </a:xfrm>
              <a:prstGeom prst="upArrow">
                <a:avLst>
                  <a:gd name="adj1" fmla="val 50000"/>
                  <a:gd name="adj2" fmla="val 101034"/>
                </a:avLst>
              </a:prstGeom>
              <a:solidFill>
                <a:srgbClr val="47A2D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60" name="上箭头 59"/>
              <p:cNvSpPr/>
              <p:nvPr/>
            </p:nvSpPr>
            <p:spPr>
              <a:xfrm>
                <a:off x="1337032" y="8296910"/>
                <a:ext cx="103505" cy="232410"/>
              </a:xfrm>
              <a:prstGeom prst="upArrow">
                <a:avLst>
                  <a:gd name="adj1" fmla="val 50000"/>
                  <a:gd name="adj2" fmla="val 93103"/>
                </a:avLst>
              </a:prstGeom>
              <a:solidFill>
                <a:srgbClr val="E85748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61" name="上箭头 60"/>
              <p:cNvSpPr/>
              <p:nvPr/>
            </p:nvSpPr>
            <p:spPr>
              <a:xfrm>
                <a:off x="1939012" y="8291830"/>
                <a:ext cx="103505" cy="232410"/>
              </a:xfrm>
              <a:prstGeom prst="upArrow">
                <a:avLst>
                  <a:gd name="adj1" fmla="val 50000"/>
                  <a:gd name="adj2" fmla="val 108620"/>
                </a:avLst>
              </a:prstGeom>
              <a:solidFill>
                <a:srgbClr val="F39F1B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cxnSp>
            <p:nvCxnSpPr>
              <p:cNvPr id="6" name="直接连接符 5"/>
              <p:cNvCxnSpPr>
                <a:cxnSpLocks/>
              </p:cNvCxnSpPr>
              <p:nvPr/>
            </p:nvCxnSpPr>
            <p:spPr>
              <a:xfrm>
                <a:off x="1755812" y="6917812"/>
                <a:ext cx="2571512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cxnSpLocks/>
              </p:cNvCxnSpPr>
              <p:nvPr/>
            </p:nvCxnSpPr>
            <p:spPr>
              <a:xfrm>
                <a:off x="2859533" y="5914734"/>
                <a:ext cx="0" cy="2189137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/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Change of Vertical Param (A)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blipFill>
                  <a:blip r:embed="rId6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矩形 90">
              <a:extLst>
                <a:ext uri="{FF2B5EF4-FFF2-40B4-BE49-F238E27FC236}">
                  <a16:creationId xmlns:a16="http://schemas.microsoft.com/office/drawing/2014/main" id="{8EF17E9F-9CFF-9E34-260C-AD9F865A8384}"/>
                </a:ext>
              </a:extLst>
            </p:cNvPr>
            <p:cNvSpPr/>
            <p:nvPr/>
          </p:nvSpPr>
          <p:spPr>
            <a:xfrm>
              <a:off x="4873052" y="5846033"/>
              <a:ext cx="365399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3" name="文本框 96">
              <a:extLst>
                <a:ext uri="{FF2B5EF4-FFF2-40B4-BE49-F238E27FC236}">
                  <a16:creationId xmlns:a16="http://schemas.microsoft.com/office/drawing/2014/main" id="{B71210F4-02C1-1FA4-84C1-197DD6D35324}"/>
                </a:ext>
              </a:extLst>
            </p:cNvPr>
            <p:cNvSpPr txBox="1"/>
            <p:nvPr/>
          </p:nvSpPr>
          <p:spPr>
            <a:xfrm>
              <a:off x="4772344" y="640196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1</a:t>
              </a:r>
            </a:p>
          </p:txBody>
        </p:sp>
        <p:sp>
          <p:nvSpPr>
            <p:cNvPr id="44" name="文本框 97">
              <a:extLst>
                <a:ext uri="{FF2B5EF4-FFF2-40B4-BE49-F238E27FC236}">
                  <a16:creationId xmlns:a16="http://schemas.microsoft.com/office/drawing/2014/main" id="{F3383067-CEE5-ABF0-2404-9F10459B31A2}"/>
                </a:ext>
              </a:extLst>
            </p:cNvPr>
            <p:cNvSpPr txBox="1"/>
            <p:nvPr/>
          </p:nvSpPr>
          <p:spPr>
            <a:xfrm>
              <a:off x="4765767" y="700976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0</a:t>
              </a:r>
            </a:p>
          </p:txBody>
        </p:sp>
        <p:sp>
          <p:nvSpPr>
            <p:cNvPr id="45" name="文本框 98">
              <a:extLst>
                <a:ext uri="{FF2B5EF4-FFF2-40B4-BE49-F238E27FC236}">
                  <a16:creationId xmlns:a16="http://schemas.microsoft.com/office/drawing/2014/main" id="{0CA25434-D3FE-D066-110C-35170CA49DC8}"/>
                </a:ext>
              </a:extLst>
            </p:cNvPr>
            <p:cNvSpPr txBox="1"/>
            <p:nvPr/>
          </p:nvSpPr>
          <p:spPr>
            <a:xfrm>
              <a:off x="4765947" y="759507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-1</a:t>
              </a:r>
            </a:p>
          </p:txBody>
        </p:sp>
        <p:sp>
          <p:nvSpPr>
            <p:cNvPr id="54" name="文本框 99">
              <a:extLst>
                <a:ext uri="{FF2B5EF4-FFF2-40B4-BE49-F238E27FC236}">
                  <a16:creationId xmlns:a16="http://schemas.microsoft.com/office/drawing/2014/main" id="{71F36682-AACD-3CA6-9CC3-5361B2BF0EEC}"/>
                </a:ext>
              </a:extLst>
            </p:cNvPr>
            <p:cNvSpPr txBox="1"/>
            <p:nvPr/>
          </p:nvSpPr>
          <p:spPr>
            <a:xfrm>
              <a:off x="4765947" y="815535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-2</a:t>
              </a:r>
            </a:p>
          </p:txBody>
        </p:sp>
        <p:sp>
          <p:nvSpPr>
            <p:cNvPr id="62" name="文本框 100">
              <a:extLst>
                <a:ext uri="{FF2B5EF4-FFF2-40B4-BE49-F238E27FC236}">
                  <a16:creationId xmlns:a16="http://schemas.microsoft.com/office/drawing/2014/main" id="{478BBA7A-D828-E78C-FC0B-E942851E0E7F}"/>
                </a:ext>
              </a:extLst>
            </p:cNvPr>
            <p:cNvSpPr txBox="1"/>
            <p:nvPr/>
          </p:nvSpPr>
          <p:spPr>
            <a:xfrm>
              <a:off x="4688168" y="5845811"/>
              <a:ext cx="535081" cy="1163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ΔA(m)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63" name="文本框 95">
              <a:extLst>
                <a:ext uri="{FF2B5EF4-FFF2-40B4-BE49-F238E27FC236}">
                  <a16:creationId xmlns:a16="http://schemas.microsoft.com/office/drawing/2014/main" id="{066F502D-6591-25BD-D3CE-5D8CC0E1E31B}"/>
                </a:ext>
              </a:extLst>
            </p:cNvPr>
            <p:cNvSpPr txBox="1"/>
            <p:nvPr/>
          </p:nvSpPr>
          <p:spPr>
            <a:xfrm>
              <a:off x="5485484" y="8535388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64" name="文本框 95">
              <a:extLst>
                <a:ext uri="{FF2B5EF4-FFF2-40B4-BE49-F238E27FC236}">
                  <a16:creationId xmlns:a16="http://schemas.microsoft.com/office/drawing/2014/main" id="{F9A5B2B5-EA42-92FC-2C9C-42FE12849247}"/>
                </a:ext>
              </a:extLst>
            </p:cNvPr>
            <p:cNvSpPr txBox="1"/>
            <p:nvPr/>
          </p:nvSpPr>
          <p:spPr>
            <a:xfrm>
              <a:off x="6074515" y="8508675"/>
              <a:ext cx="1086611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65" name="文本框 95">
              <a:extLst>
                <a:ext uri="{FF2B5EF4-FFF2-40B4-BE49-F238E27FC236}">
                  <a16:creationId xmlns:a16="http://schemas.microsoft.com/office/drawing/2014/main" id="{18EDECF9-B40F-C189-EDDB-6DA89B58ED8B}"/>
                </a:ext>
              </a:extLst>
            </p:cNvPr>
            <p:cNvSpPr txBox="1"/>
            <p:nvPr/>
          </p:nvSpPr>
          <p:spPr>
            <a:xfrm>
              <a:off x="7150065" y="8545618"/>
              <a:ext cx="981836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2E5F66-3A58-A8FA-D3F5-1E4FF7CBDE1A}"/>
                </a:ext>
              </a:extLst>
            </p:cNvPr>
            <p:cNvSpPr txBox="1"/>
            <p:nvPr/>
          </p:nvSpPr>
          <p:spPr>
            <a:xfrm>
              <a:off x="1659871" y="6030310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ΔC&gt;0 52%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09DF42-ADE1-E46C-898A-62DF344434C1}"/>
                </a:ext>
              </a:extLst>
            </p:cNvPr>
            <p:cNvSpPr txBox="1"/>
            <p:nvPr/>
          </p:nvSpPr>
          <p:spPr>
            <a:xfrm>
              <a:off x="2902265" y="6031561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ΔC&gt;0 8%</a:t>
              </a:r>
              <a:endParaRPr lang="LID4096" sz="10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38E65B-0BCF-5B93-7D71-38F4F2593745}"/>
                </a:ext>
              </a:extLst>
            </p:cNvPr>
            <p:cNvSpPr txBox="1"/>
            <p:nvPr/>
          </p:nvSpPr>
          <p:spPr>
            <a:xfrm>
              <a:off x="1705296" y="8088913"/>
              <a:ext cx="13750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ΔC&lt;0 8%</a:t>
              </a:r>
              <a:endParaRPr lang="LID4096" sz="10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821E9A-2DAC-6EE1-3D70-45EE512A9B80}"/>
                </a:ext>
              </a:extLst>
            </p:cNvPr>
            <p:cNvSpPr txBox="1"/>
            <p:nvPr/>
          </p:nvSpPr>
          <p:spPr>
            <a:xfrm>
              <a:off x="2808054" y="8084605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ΔC&lt;0 33%</a:t>
              </a:r>
              <a:endParaRPr lang="LID4096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15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2000</Words>
  <Application>Microsoft Office PowerPoint</Application>
  <PresentationFormat>Custom</PresentationFormat>
  <Paragraphs>633</Paragraphs>
  <Slides>16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April Liang</cp:lastModifiedBy>
  <cp:revision>42</cp:revision>
  <dcterms:created xsi:type="dcterms:W3CDTF">2026-05-22T16:15:56Z</dcterms:created>
  <dcterms:modified xsi:type="dcterms:W3CDTF">2026-06-09T13:18:01Z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