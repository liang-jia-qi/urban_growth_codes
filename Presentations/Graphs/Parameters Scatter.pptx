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62" r:id="rId2"/>
    <p:sldId id="264" r:id="rId3"/>
    <p:sldId id="260" r:id="rId4"/>
    <p:sldId id="274" r:id="rId5"/>
    <p:sldId id="273" r:id="rId6"/>
    <p:sldId id="259" r:id="rId7"/>
    <p:sldId id="266" r:id="rId8"/>
    <p:sldId id="270" r:id="rId9"/>
    <p:sldId id="261" r:id="rId10"/>
    <p:sldId id="265" r:id="rId11"/>
    <p:sldId id="268" r:id="rId12"/>
    <p:sldId id="256" r:id="rId13"/>
    <p:sldId id="257" r:id="rId14"/>
    <p:sldId id="258" r:id="rId15"/>
    <p:sldId id="267" r:id="rId16"/>
    <p:sldId id="263" r:id="rId17"/>
    <p:sldId id="269" r:id="rId18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4"/>
            <p14:sldId id="273"/>
            <p14:sldId id="259"/>
            <p14:sldId id="266"/>
            <p14:sldId id="270"/>
            <p14:sldId id="261"/>
            <p14:sldId id="265"/>
            <p14:sldId id="268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F8C474"/>
    <a:srgbClr val="FEEDDE"/>
    <a:srgbClr val="FDAE6B"/>
    <a:srgbClr val="E6550D"/>
    <a:srgbClr val="A63603"/>
    <a:srgbClr val="7F2704"/>
    <a:srgbClr val="004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78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994" y="-1805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2026/5/23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2026/5/23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1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10.png"/><Relationship Id="rId5" Type="http://schemas.openxmlformats.org/officeDocument/2006/relationships/image" Target="../media/image26.png"/><Relationship Id="rId15" Type="http://schemas.openxmlformats.org/officeDocument/2006/relationships/image" Target="../media/image28.png"/><Relationship Id="rId10" Type="http://schemas.openxmlformats.org/officeDocument/2006/relationships/image" Target="../media/image8.png"/><Relationship Id="rId4" Type="http://schemas.openxmlformats.org/officeDocument/2006/relationships/image" Target="../media/image25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tags" Target="../tags/tag2.xml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7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grpSp>
        <p:nvGrpSpPr>
          <p:cNvPr id="43" name="组合 42"/>
          <p:cNvGrpSpPr/>
          <p:nvPr/>
        </p:nvGrpSpPr>
        <p:grpSpPr>
          <a:xfrm>
            <a:off x="3087370" y="3930650"/>
            <a:ext cx="7763510" cy="6623050"/>
            <a:chOff x="4862" y="6190"/>
            <a:chExt cx="12226" cy="10430"/>
          </a:xfrm>
        </p:grpSpPr>
        <p:sp>
          <p:nvSpPr>
            <p:cNvPr id="66" name="矩形 65"/>
            <p:cNvSpPr/>
            <p:nvPr/>
          </p:nvSpPr>
          <p:spPr>
            <a:xfrm>
              <a:off x="4862" y="6190"/>
              <a:ext cx="12226" cy="104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51" name="组合 50"/>
            <p:cNvGrpSpPr/>
            <p:nvPr/>
          </p:nvGrpSpPr>
          <p:grpSpPr>
            <a:xfrm>
              <a:off x="5096" y="6382"/>
              <a:ext cx="11992" cy="10119"/>
              <a:chOff x="135" y="6382"/>
              <a:chExt cx="11992" cy="10119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193" y="7052"/>
                <a:ext cx="11934" cy="4292"/>
                <a:chOff x="583" y="2529"/>
                <a:chExt cx="21216" cy="76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/>
                    <p:cNvSpPr txBox="1"/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</a:p>
                  </p:txBody>
                </p:sp>
              </mc:Choice>
              <mc:Fallback xmlns="">
                <p:sp>
                  <p:nvSpPr>
                    <p:cNvPr id="31" name="TextBox 3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blipFill rotWithShape="1">
                      <a:blip r:embed="rId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/>
                    <p:cNvSpPr txBox="1"/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small,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</a:p>
                  </p:txBody>
                </p:sp>
              </mc:Choice>
              <mc:Fallback xmlns="">
                <p:sp>
                  <p:nvSpPr>
                    <p:cNvPr id="11" name="TextBox 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/>
                    <p:cNvSpPr txBox="1"/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large</a:t>
                      </a:r>
                    </a:p>
                  </p:txBody>
                </p:sp>
              </mc:Choice>
              <mc:Fallback xmlns="">
                <p:sp>
                  <p:nvSpPr>
                    <p:cNvPr id="21" name="TextBox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/>
                    <p:cNvSpPr txBox="1"/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small</a:t>
                      </a:r>
                      <a:r>
                        <a:rPr lang="en-US" sz="1240" dirty="0">
                          <a:latin typeface="Arial" panose="020B0604020202020204" pitchFamily="34" charset="0"/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8" name="TextBox 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TextBox 12"/>
                <p:cNvSpPr txBox="1"/>
                <p:nvPr/>
              </p:nvSpPr>
              <p:spPr>
                <a:xfrm>
                  <a:off x="2645" y="2655"/>
                  <a:ext cx="7452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Structural Zeros (cannot be constructed)</a:t>
                  </a:r>
                </a:p>
              </p:txBody>
            </p:sp>
            <p:sp>
              <p:nvSpPr>
                <p:cNvPr id="33" name="TextBox 98"/>
                <p:cNvSpPr txBox="1"/>
                <p:nvPr/>
              </p:nvSpPr>
              <p:spPr>
                <a:xfrm>
                  <a:off x="10880" y="2676"/>
                  <a:ext cx="5239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Constructable Area</a:t>
                  </a:r>
                </a:p>
              </p:txBody>
            </p:sp>
            <p:sp>
              <p:nvSpPr>
                <p:cNvPr id="34" name="矩形 33"/>
                <p:cNvSpPr/>
                <p:nvPr/>
              </p:nvSpPr>
              <p:spPr>
                <a:xfrm>
                  <a:off x="1832" y="2529"/>
                  <a:ext cx="813" cy="813"/>
                </a:xfrm>
                <a:prstGeom prst="rect">
                  <a:avLst/>
                </a:prstGeom>
                <a:solidFill>
                  <a:srgbClr val="696969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sp>
              <p:nvSpPr>
                <p:cNvPr id="37" name="矩形 36"/>
                <p:cNvSpPr/>
                <p:nvPr/>
              </p:nvSpPr>
              <p:spPr>
                <a:xfrm>
                  <a:off x="10068" y="2551"/>
                  <a:ext cx="813" cy="81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696969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grpSp>
              <p:nvGrpSpPr>
                <p:cNvPr id="2" name="组合 1"/>
                <p:cNvGrpSpPr/>
                <p:nvPr/>
              </p:nvGrpSpPr>
              <p:grpSpPr>
                <a:xfrm>
                  <a:off x="583" y="3473"/>
                  <a:ext cx="5083" cy="5043"/>
                  <a:chOff x="493" y="2941"/>
                  <a:chExt cx="4304" cy="4270"/>
                </a:xfrm>
              </p:grpSpPr>
              <p:pic>
                <p:nvPicPr>
                  <p:cNvPr id="40" name="图片 39"/>
                  <p:cNvPicPr>
                    <a:picLocks noChangeAspect="1"/>
                  </p:cNvPicPr>
                  <p:nvPr/>
                </p:nvPicPr>
                <p:blipFill>
                  <a:blip r:embed="rId6">
                    <a:grayscl/>
                  </a:blip>
                  <a:stretch>
                    <a:fillRect/>
                  </a:stretch>
                </p:blipFill>
                <p:spPr>
                  <a:xfrm>
                    <a:off x="493" y="2941"/>
                    <a:ext cx="4304" cy="4271"/>
                  </a:xfrm>
                  <a:prstGeom prst="rect">
                    <a:avLst/>
                  </a:prstGeom>
                </p:spPr>
              </p:pic>
              <p:sp>
                <p:nvSpPr>
                  <p:cNvPr id="19" name="椭圆 18"/>
                  <p:cNvSpPr/>
                  <p:nvPr/>
                </p:nvSpPr>
                <p:spPr>
                  <a:xfrm>
                    <a:off x="59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3" name="组合 2"/>
                <p:cNvGrpSpPr/>
                <p:nvPr/>
              </p:nvGrpSpPr>
              <p:grpSpPr>
                <a:xfrm>
                  <a:off x="5822" y="3473"/>
                  <a:ext cx="5081" cy="5043"/>
                  <a:chOff x="4929" y="2941"/>
                  <a:chExt cx="4302" cy="4270"/>
                </a:xfrm>
              </p:grpSpPr>
              <p:pic>
                <p:nvPicPr>
                  <p:cNvPr id="44" name="图片 43"/>
                  <p:cNvPicPr>
                    <a:picLocks noChangeAspect="1"/>
                  </p:cNvPicPr>
                  <p:nvPr/>
                </p:nvPicPr>
                <p:blipFill>
                  <a:blip r:embed="rId7">
                    <a:grayscl/>
                  </a:blip>
                  <a:stretch>
                    <a:fillRect/>
                  </a:stretch>
                </p:blipFill>
                <p:spPr>
                  <a:xfrm>
                    <a:off x="492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39" name="椭圆 38"/>
                  <p:cNvSpPr/>
                  <p:nvPr/>
                </p:nvSpPr>
                <p:spPr>
                  <a:xfrm>
                    <a:off x="502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4" name="组合 3"/>
                <p:cNvGrpSpPr/>
                <p:nvPr/>
              </p:nvGrpSpPr>
              <p:grpSpPr>
                <a:xfrm>
                  <a:off x="11060" y="3473"/>
                  <a:ext cx="5081" cy="5043"/>
                  <a:chOff x="9364" y="2941"/>
                  <a:chExt cx="4302" cy="4270"/>
                </a:xfrm>
              </p:grpSpPr>
              <p:pic>
                <p:nvPicPr>
                  <p:cNvPr id="46" name="图片 45"/>
                  <p:cNvPicPr>
                    <a:picLocks noChangeAspect="1"/>
                  </p:cNvPicPr>
                  <p:nvPr/>
                </p:nvPicPr>
                <p:blipFill>
                  <a:blip r:embed="rId8">
                    <a:grayscl/>
                  </a:blip>
                  <a:stretch>
                    <a:fillRect/>
                  </a:stretch>
                </p:blipFill>
                <p:spPr>
                  <a:xfrm>
                    <a:off x="9364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5" name="椭圆 44"/>
                  <p:cNvSpPr/>
                  <p:nvPr/>
                </p:nvSpPr>
                <p:spPr>
                  <a:xfrm>
                    <a:off x="945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>
                  <a:off x="16298" y="3473"/>
                  <a:ext cx="5081" cy="5043"/>
                  <a:chOff x="13799" y="2941"/>
                  <a:chExt cx="4302" cy="4270"/>
                </a:xfrm>
              </p:grpSpPr>
              <p:pic>
                <p:nvPicPr>
                  <p:cNvPr id="47" name="图片 46"/>
                  <p:cNvPicPr>
                    <a:picLocks noChangeAspect="1"/>
                  </p:cNvPicPr>
                  <p:nvPr/>
                </p:nvPicPr>
                <p:blipFill>
                  <a:blip r:embed="rId9">
                    <a:grayscl/>
                  </a:blip>
                  <a:stretch>
                    <a:fillRect/>
                  </a:stretch>
                </p:blipFill>
                <p:spPr>
                  <a:xfrm>
                    <a:off x="1379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8" name="椭圆 47"/>
                  <p:cNvSpPr/>
                  <p:nvPr/>
                </p:nvSpPr>
                <p:spPr>
                  <a:xfrm>
                    <a:off x="1388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8"/>
                    <p:cNvSpPr txBox="1"/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𝜑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𝛼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+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𝛽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595" b="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TextBox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1" name="文本框 60"/>
                <p:cNvSpPr txBox="1"/>
                <p:nvPr/>
              </p:nvSpPr>
              <p:spPr>
                <a:xfrm>
                  <a:off x="5933" y="9322"/>
                  <a:ext cx="4928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Edge constrained</a:t>
                  </a: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932" y="9302"/>
                  <a:ext cx="4734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Open</a:t>
                  </a:r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16422" y="9322"/>
                  <a:ext cx="4936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Locked</a:t>
                  </a:r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11095" y="9322"/>
                  <a:ext cx="5252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constrained</a:t>
                  </a:r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35" y="12332"/>
                <a:ext cx="11992" cy="4169"/>
                <a:chOff x="775" y="2738"/>
                <a:chExt cx="21319" cy="7412"/>
              </a:xfrm>
            </p:grpSpPr>
            <p:grpSp>
              <p:nvGrpSpPr>
                <p:cNvPr id="9" name="组合 8"/>
                <p:cNvGrpSpPr/>
                <p:nvPr/>
              </p:nvGrpSpPr>
              <p:grpSpPr>
                <a:xfrm>
                  <a:off x="775" y="2738"/>
                  <a:ext cx="21319" cy="6876"/>
                  <a:chOff x="1249" y="1355"/>
                  <a:chExt cx="21319" cy="6876"/>
                </a:xfrm>
              </p:grpSpPr>
              <p:sp>
                <p:nvSpPr>
                  <p:cNvPr id="126" name="Google Shape;421;p29"/>
                  <p:cNvSpPr txBox="1"/>
                  <p:nvPr/>
                </p:nvSpPr>
                <p:spPr>
                  <a:xfrm>
                    <a:off x="7112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7" name="Google Shape;422;p29"/>
                  <p:cNvSpPr txBox="1"/>
                  <p:nvPr/>
                </p:nvSpPr>
                <p:spPr>
                  <a:xfrm>
                    <a:off x="17905" y="7170"/>
                    <a:ext cx="4249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8" name="Google Shape;423;p29"/>
                  <p:cNvSpPr txBox="1"/>
                  <p:nvPr/>
                </p:nvSpPr>
                <p:spPr>
                  <a:xfrm>
                    <a:off x="1714" y="7170"/>
                    <a:ext cx="4044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9" name="Google Shape;424;p29"/>
                  <p:cNvSpPr txBox="1"/>
                  <p:nvPr/>
                </p:nvSpPr>
                <p:spPr>
                  <a:xfrm>
                    <a:off x="12509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32" name="TextBox 12"/>
                  <p:cNvSpPr txBox="1"/>
                  <p:nvPr/>
                </p:nvSpPr>
                <p:spPr>
                  <a:xfrm>
                    <a:off x="2886" y="1378"/>
                    <a:ext cx="2508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Buildings</a:t>
                    </a:r>
                  </a:p>
                </p:txBody>
              </p:sp>
              <p:sp>
                <p:nvSpPr>
                  <p:cNvPr id="10" name="TextBox 98"/>
                  <p:cNvSpPr txBox="1"/>
                  <p:nvPr/>
                </p:nvSpPr>
                <p:spPr>
                  <a:xfrm>
                    <a:off x="11123" y="1379"/>
                    <a:ext cx="5239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Constructable Area</a:t>
                    </a:r>
                  </a:p>
                </p:txBody>
              </p:sp>
              <p:sp>
                <p:nvSpPr>
                  <p:cNvPr id="12" name="矩形 11"/>
                  <p:cNvSpPr/>
                  <p:nvPr/>
                </p:nvSpPr>
                <p:spPr>
                  <a:xfrm>
                    <a:off x="2073" y="1357"/>
                    <a:ext cx="813" cy="813"/>
                  </a:xfrm>
                  <a:prstGeom prst="rect">
                    <a:avLst/>
                  </a:prstGeom>
                  <a:solidFill>
                    <a:srgbClr val="69A2B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sp>
                <p:nvSpPr>
                  <p:cNvPr id="13" name="矩形 12"/>
                  <p:cNvSpPr/>
                  <p:nvPr/>
                </p:nvSpPr>
                <p:spPr>
                  <a:xfrm>
                    <a:off x="10309" y="1355"/>
                    <a:ext cx="813" cy="813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grpSp>
                <p:nvGrpSpPr>
                  <p:cNvPr id="14" name="组合 13"/>
                  <p:cNvGrpSpPr/>
                  <p:nvPr/>
                </p:nvGrpSpPr>
                <p:grpSpPr>
                  <a:xfrm>
                    <a:off x="1249" y="2420"/>
                    <a:ext cx="4974" cy="4859"/>
                    <a:chOff x="1057" y="2049"/>
                    <a:chExt cx="4212" cy="4114"/>
                  </a:xfrm>
                </p:grpSpPr>
                <p:pic>
                  <p:nvPicPr>
                    <p:cNvPr id="15" name="图片 14"/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57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7" name="椭圆 26"/>
                    <p:cNvSpPr/>
                    <p:nvPr/>
                  </p:nvSpPr>
                  <p:spPr>
                    <a:xfrm>
                      <a:off x="12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6" name="组合 15"/>
                  <p:cNvGrpSpPr/>
                  <p:nvPr/>
                </p:nvGrpSpPr>
                <p:grpSpPr>
                  <a:xfrm>
                    <a:off x="6580" y="2420"/>
                    <a:ext cx="4974" cy="4859"/>
                    <a:chOff x="5571" y="2049"/>
                    <a:chExt cx="4212" cy="4114"/>
                  </a:xfrm>
                </p:grpSpPr>
                <p:pic>
                  <p:nvPicPr>
                    <p:cNvPr id="17" name="图片 16"/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5571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8" name="椭圆 27"/>
                    <p:cNvSpPr/>
                    <p:nvPr/>
                  </p:nvSpPr>
                  <p:spPr>
                    <a:xfrm>
                      <a:off x="5813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11910" y="2420"/>
                    <a:ext cx="4974" cy="4859"/>
                    <a:chOff x="10084" y="2049"/>
                    <a:chExt cx="4212" cy="4114"/>
                  </a:xfrm>
                </p:grpSpPr>
                <p:pic>
                  <p:nvPicPr>
                    <p:cNvPr id="20" name="图片 19"/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084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10347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23" name="组合 22"/>
                  <p:cNvGrpSpPr/>
                  <p:nvPr/>
                </p:nvGrpSpPr>
                <p:grpSpPr>
                  <a:xfrm>
                    <a:off x="17241" y="2420"/>
                    <a:ext cx="4974" cy="4859"/>
                    <a:chOff x="14598" y="2049"/>
                    <a:chExt cx="4212" cy="4114"/>
                  </a:xfrm>
                </p:grpSpPr>
                <p:pic>
                  <p:nvPicPr>
                    <p:cNvPr id="24" name="图片 23"/>
                    <p:cNvPicPr>
                      <a:picLocks noChangeAspect="1"/>
                    </p:cNvPicPr>
                    <p:nvPr/>
                  </p:nvPicPr>
                  <p:blipFill>
                    <a:blip r:embed="rId14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4598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0" name="椭圆 29"/>
                    <p:cNvSpPr/>
                    <p:nvPr/>
                  </p:nvSpPr>
                  <p:spPr>
                    <a:xfrm>
                      <a:off x="148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sp>
                <p:nvSpPr>
                  <p:cNvPr id="25" name="TextBox 12"/>
                  <p:cNvSpPr txBox="1"/>
                  <p:nvPr/>
                </p:nvSpPr>
                <p:spPr>
                  <a:xfrm>
                    <a:off x="6570" y="1378"/>
                    <a:ext cx="3374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Structural Zeros</a:t>
                    </a:r>
                  </a:p>
                </p:txBody>
              </p:sp>
              <p:sp>
                <p:nvSpPr>
                  <p:cNvPr id="26" name="矩形 25"/>
                  <p:cNvSpPr/>
                  <p:nvPr/>
                </p:nvSpPr>
                <p:spPr>
                  <a:xfrm>
                    <a:off x="5768" y="1357"/>
                    <a:ext cx="813" cy="813"/>
                  </a:xfrm>
                  <a:prstGeom prst="rect">
                    <a:avLst/>
                  </a:prstGeom>
                  <a:solidFill>
                    <a:srgbClr val="BFBFB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8" name="文本框 87"/>
                      <p:cNvSpPr txBox="1"/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 anchor="t">
                        <a:spAutoFit/>
                      </a:bodyPr>
                      <a:lstStyle/>
                      <a:p>
                        <a:pPr marL="0" indent="0">
                          <a:lnSpc>
                            <a:spcPct val="100000"/>
                          </a:lnSpc>
                          <a:spcBef>
                            <a:spcPts val="1200"/>
                          </a:spcBef>
                          <a:buFont typeface="Wingdings" panose="05000000000000000000" charset="0"/>
                          <a:buNone/>
                        </a:pPr>
                        <a14:m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 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 </m:t>
                            </m:r>
                          </m:oMath>
                        </a14:m>
                        <a:r>
                          <a:rPr lang="en-US" sz="1595" dirty="0">
                            <a:latin typeface="Arial" panose="020B0604020202020204" pitchFamily="34" charset="0"/>
                            <a:cs typeface="Arial" panose="020B0604020202020204" pitchFamily="34" charset="0"/>
                            <a:sym typeface="+mn-ea"/>
                          </a:rPr>
                          <a:t> </a:t>
                        </a:r>
                        <a:endParaRPr lang="en-US" altLang="en-US" sz="1595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8" name="文本框 87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blipFill rotWithShape="1">
                        <a:blip r:embed="rId15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5" name="文本框 34"/>
                <p:cNvSpPr txBox="1"/>
                <p:nvPr/>
              </p:nvSpPr>
              <p:spPr>
                <a:xfrm>
                  <a:off x="6703" y="9322"/>
                  <a:ext cx="410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Thinly built</a:t>
                  </a: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050" y="9322"/>
                  <a:ext cx="4604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sparse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7634" y="9322"/>
                  <a:ext cx="381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Core-dense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1759" y="9322"/>
                  <a:ext cx="4599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dense</a:t>
                  </a:r>
                </a:p>
              </p:txBody>
            </p:sp>
          </p:grpSp>
          <p:sp>
            <p:nvSpPr>
              <p:cNvPr id="49" name="文本框 48"/>
              <p:cNvSpPr txBox="1"/>
              <p:nvPr/>
            </p:nvSpPr>
            <p:spPr>
              <a:xfrm>
                <a:off x="448" y="6382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Horizontal Constraints Types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528" y="11577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Horizontal Construction Types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3195345" y="2879131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7610" y="11002010"/>
            <a:ext cx="9753600" cy="1514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2834543" y="112442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grpSp>
        <p:nvGrpSpPr>
          <p:cNvPr id="199" name="组合 198"/>
          <p:cNvGrpSpPr/>
          <p:nvPr/>
        </p:nvGrpSpPr>
        <p:grpSpPr>
          <a:xfrm>
            <a:off x="6955790" y="433070"/>
            <a:ext cx="6586855" cy="3601720"/>
            <a:chOff x="695" y="1519"/>
            <a:chExt cx="10373" cy="5672"/>
          </a:xfrm>
        </p:grpSpPr>
        <p:sp>
          <p:nvSpPr>
            <p:cNvPr id="66" name="矩形 65"/>
            <p:cNvSpPr/>
            <p:nvPr/>
          </p:nvSpPr>
          <p:spPr>
            <a:xfrm>
              <a:off x="695" y="1519"/>
              <a:ext cx="10328" cy="56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2373" y="6470"/>
              <a:ext cx="7223" cy="708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792" y="1519"/>
              <a:ext cx="4733" cy="4717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3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5242" y="1519"/>
              <a:ext cx="5827" cy="4761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5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2557848" y="121537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0531819" y="118422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352837" y="952395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9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10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3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3582991" y="118458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3314700" y="4378960"/>
            <a:ext cx="7044055" cy="4353560"/>
            <a:chOff x="3314700" y="4378960"/>
            <a:chExt cx="7044055" cy="4353560"/>
          </a:xfrm>
        </p:grpSpPr>
        <p:sp>
          <p:nvSpPr>
            <p:cNvPr id="170" name="矩形 169"/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olidFill>
                      <a:schemeClr val="tx1"/>
                    </a:solidFill>
                    <a:sym typeface="+mn-ea"/>
                  </a:rPr>
                  <a:t>Edge-constrianed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0880" cy="353060"/>
              <a:chOff x="3905" y="13468"/>
              <a:chExt cx="7088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2918" cy="246"/>
                <a:chOff x="5650" y="13468"/>
                <a:chExt cx="2918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2918" cy="246"/>
                <a:chOff x="5650" y="13778"/>
                <a:chExt cx="2918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145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5490845" y="69348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682409F-778A-0D83-8D2F-F2C3AA9BB2FC}"/>
              </a:ext>
            </a:extLst>
          </p:cNvPr>
          <p:cNvGrpSpPr/>
          <p:nvPr/>
        </p:nvGrpSpPr>
        <p:grpSpPr>
          <a:xfrm>
            <a:off x="1336217" y="1877695"/>
            <a:ext cx="12396470" cy="4269105"/>
            <a:chOff x="1336217" y="1877695"/>
            <a:chExt cx="12396470" cy="4269105"/>
          </a:xfrm>
        </p:grpSpPr>
        <p:sp>
          <p:nvSpPr>
            <p:cNvPr id="73" name="矩形 72"/>
            <p:cNvSpPr/>
            <p:nvPr/>
          </p:nvSpPr>
          <p:spPr>
            <a:xfrm>
              <a:off x="1336217" y="1877695"/>
              <a:ext cx="12396470" cy="42691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40527" y="2402205"/>
              <a:ext cx="4073525" cy="3122295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>
              <a:off x="1893747" y="5448935"/>
              <a:ext cx="3571875" cy="488315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1844217" y="2017395"/>
              <a:ext cx="33102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5532297" y="2017395"/>
              <a:ext cx="38817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(b) Horizontal Construction Types</a:t>
              </a: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70202" y="2391410"/>
              <a:ext cx="3870325" cy="3073400"/>
            </a:xfrm>
            <a:prstGeom prst="rect">
              <a:avLst/>
            </a:prstGeom>
          </p:spPr>
        </p:pic>
        <p:grpSp>
          <p:nvGrpSpPr>
            <p:cNvPr id="119" name="组合 118"/>
            <p:cNvGrpSpPr/>
            <p:nvPr/>
          </p:nvGrpSpPr>
          <p:grpSpPr>
            <a:xfrm>
              <a:off x="5746927" y="5448935"/>
              <a:ext cx="3571875" cy="488315"/>
              <a:chOff x="11808" y="9013"/>
              <a:chExt cx="5625" cy="769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Thinly built</a:t>
                </a:r>
                <a:endParaRPr lang="en-US" altLang="zh-CN" sz="1200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77" name="文本框 76"/>
            <p:cNvSpPr txBox="1"/>
            <p:nvPr/>
          </p:nvSpPr>
          <p:spPr>
            <a:xfrm>
              <a:off x="9791877" y="2017395"/>
              <a:ext cx="3785870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（</a:t>
              </a:r>
              <a:r>
                <a:rPr lang="en-US" altLang="zh-CN" sz="1400" dirty="0"/>
                <a:t>c) Vertical Profile Types</a:t>
              </a:r>
            </a:p>
          </p:txBody>
        </p:sp>
        <p:grpSp>
          <p:nvGrpSpPr>
            <p:cNvPr id="113" name="组合 112"/>
            <p:cNvGrpSpPr/>
            <p:nvPr/>
          </p:nvGrpSpPr>
          <p:grpSpPr>
            <a:xfrm>
              <a:off x="12418237" y="5416869"/>
              <a:ext cx="1139825" cy="276860"/>
              <a:chOff x="14196" y="11967"/>
              <a:chExt cx="1795" cy="436"/>
            </a:xfrm>
          </p:grpSpPr>
          <p:sp>
            <p:nvSpPr>
              <p:cNvPr id="97" name="矩形 96"/>
              <p:cNvSpPr/>
              <p:nvPr/>
            </p:nvSpPr>
            <p:spPr>
              <a:xfrm>
                <a:off x="14196" y="12061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4556" y="1196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Bowl</a:t>
                </a: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11168557" y="5679440"/>
              <a:ext cx="1155065" cy="276860"/>
              <a:chOff x="14084" y="12365"/>
              <a:chExt cx="1819" cy="436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084" y="12467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14468" y="12365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Crown</a:t>
                </a:r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9735997" y="5435917"/>
              <a:ext cx="1135380" cy="276860"/>
              <a:chOff x="6824" y="17593"/>
              <a:chExt cx="1788" cy="436"/>
            </a:xfrm>
          </p:grpSpPr>
          <p:sp>
            <p:nvSpPr>
              <p:cNvPr id="96" name="文本框 95"/>
              <p:cNvSpPr txBox="1"/>
              <p:nvPr/>
            </p:nvSpPr>
            <p:spPr>
              <a:xfrm>
                <a:off x="7177" y="17593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Pyramid</a:t>
                </a:r>
              </a:p>
            </p:txBody>
          </p:sp>
          <p:sp>
            <p:nvSpPr>
              <p:cNvPr id="101" name="矩形 100"/>
              <p:cNvSpPr/>
              <p:nvPr/>
            </p:nvSpPr>
            <p:spPr>
              <a:xfrm>
                <a:off x="6824" y="17706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9735997" y="5699760"/>
              <a:ext cx="1491615" cy="276860"/>
              <a:chOff x="14132" y="13030"/>
              <a:chExt cx="2349" cy="436"/>
            </a:xfrm>
          </p:grpSpPr>
          <p:sp>
            <p:nvSpPr>
              <p:cNvPr id="95" name="矩形 94"/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485" y="13030"/>
                <a:ext cx="1996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Volcanic Cone</a:t>
                </a:r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1168874" y="5417185"/>
              <a:ext cx="1155065" cy="276860"/>
              <a:chOff x="14132" y="12707"/>
              <a:chExt cx="1819" cy="436"/>
            </a:xfrm>
          </p:grpSpPr>
          <p:sp>
            <p:nvSpPr>
              <p:cNvPr id="109" name="矩形 108"/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10" name="文本框 109"/>
              <p:cNvSpPr txBox="1"/>
              <p:nvPr/>
            </p:nvSpPr>
            <p:spPr>
              <a:xfrm>
                <a:off x="14516" y="1270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Pancake</a:t>
                </a:r>
              </a:p>
            </p:txBody>
          </p:sp>
        </p:grp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9414052" y="2359342"/>
              <a:ext cx="4163695" cy="312610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8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9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0880" cy="353060"/>
              <a:chOff x="3905" y="13468"/>
              <a:chExt cx="7088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2918" cy="246"/>
                <a:chOff x="5650" y="13468"/>
                <a:chExt cx="2918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 err="1">
                      <a:sym typeface="+mn-ea"/>
                    </a:rPr>
                    <a:t>South&amp;Southeast</a:t>
                  </a:r>
                  <a:r>
                    <a:rPr lang="en-US" altLang="zh-CN" sz="1015" dirty="0">
                      <a:sym typeface="+mn-ea"/>
                    </a:rPr>
                    <a:t>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2918" cy="246"/>
                <a:chOff x="5650" y="13778"/>
                <a:chExt cx="2918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126700" y="8769572"/>
              <a:ext cx="473301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324925" y="5370690"/>
            <a:ext cx="7104564" cy="3814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3381362" y="5434628"/>
            <a:ext cx="7028125" cy="3652296"/>
            <a:chOff x="410845" y="911225"/>
            <a:chExt cx="12494260" cy="6492875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11225"/>
              <a:ext cx="12494260" cy="6492875"/>
              <a:chOff x="647" y="1435"/>
              <a:chExt cx="19676" cy="10225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3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933" y="1461"/>
                    <a:ext cx="9393" cy="1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3" y="1461"/>
                    <a:ext cx="9393" cy="142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205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0740" y="1435"/>
                    <a:ext cx="9583" cy="1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0" y="1435"/>
                    <a:ext cx="9583" cy="14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410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9559" cy="777"/>
                <a:chOff x="6124" y="10847"/>
                <a:chExt cx="9559" cy="777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3200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658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 err="1"/>
                    <a:t>South&amp;Southeast</a:t>
                  </a:r>
                  <a:r>
                    <a:rPr lang="en-US" altLang="zh-CN" sz="1015" dirty="0"/>
                    <a:t> Asia</a:t>
                  </a:r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36%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12%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30%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8%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21%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27%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44%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/>
          <p:cNvSpPr/>
          <p:nvPr/>
        </p:nvSpPr>
        <p:spPr>
          <a:xfrm>
            <a:off x="651510" y="5314315"/>
            <a:ext cx="8441055" cy="33712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rcRect l="49624"/>
          <a:stretch>
            <a:fillRect/>
          </a:stretch>
        </p:blipFill>
        <p:spPr>
          <a:xfrm>
            <a:off x="3380740" y="6019800"/>
            <a:ext cx="2720975" cy="225361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rot="5400000">
            <a:off x="4992370" y="4238625"/>
            <a:ext cx="329565" cy="78701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7" name="矩形 6"/>
          <p:cNvSpPr/>
          <p:nvPr/>
        </p:nvSpPr>
        <p:spPr>
          <a:xfrm>
            <a:off x="787400" y="5884545"/>
            <a:ext cx="330200" cy="2610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5" name="矩形 4"/>
          <p:cNvSpPr/>
          <p:nvPr/>
        </p:nvSpPr>
        <p:spPr>
          <a:xfrm>
            <a:off x="3411220" y="5846445"/>
            <a:ext cx="413385" cy="2610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14" name="文本框 13"/>
          <p:cNvSpPr txBox="1"/>
          <p:nvPr/>
        </p:nvSpPr>
        <p:spPr>
          <a:xfrm>
            <a:off x="3992880" y="8008620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-0.04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5277485" y="8008620"/>
            <a:ext cx="30099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125"/>
              <a:t>0.04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735955" y="8008620"/>
            <a:ext cx="4699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zh-CN" altLang="en-US" sz="135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Δ</a:t>
            </a:r>
            <a:r>
              <a:rPr lang="en-US" altLang="zh-CN" sz="1350" i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altLang="zh-CN" sz="1350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510915" y="5907405"/>
            <a:ext cx="34417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zh-CN" altLang="en-US" sz="135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Δ</a:t>
            </a:r>
            <a:r>
              <a:rPr lang="en-US" altLang="zh-CN" sz="1350" i="1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4774565" y="8008620"/>
            <a:ext cx="94615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125"/>
              <a:t>0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3449320" y="6925310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0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3300730" y="7394575"/>
            <a:ext cx="506095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015"/>
              <a:t>-0.005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3413125" y="6415405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015"/>
              <a:t>0.005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本框 54"/>
              <p:cNvSpPr txBox="1"/>
              <p:nvPr/>
            </p:nvSpPr>
            <p:spPr>
              <a:xfrm>
                <a:off x="2417445" y="5375275"/>
                <a:ext cx="4459605" cy="57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575">
                    <a:latin typeface="Arial" panose="020B0604020202020204" pitchFamily="34" charset="0"/>
                    <a:cs typeface="Arial" panose="020B0604020202020204" pitchFamily="34" charset="0"/>
                  </a:rPr>
                  <a:t>Change of Vertical Params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57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57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575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 xmlns="">
          <p:sp>
            <p:nvSpPr>
              <p:cNvPr id="55" name="文本框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445" y="5375275"/>
                <a:ext cx="4459605" cy="57150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文本框 55"/>
          <p:cNvSpPr txBox="1"/>
          <p:nvPr/>
        </p:nvSpPr>
        <p:spPr>
          <a:xfrm>
            <a:off x="5578475" y="8381365"/>
            <a:ext cx="90741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Latin America</a:t>
            </a:r>
          </a:p>
        </p:txBody>
      </p:sp>
      <p:sp>
        <p:nvSpPr>
          <p:cNvPr id="57" name="文本框 56"/>
          <p:cNvSpPr txBox="1"/>
          <p:nvPr/>
        </p:nvSpPr>
        <p:spPr>
          <a:xfrm>
            <a:off x="3380740" y="8394065"/>
            <a:ext cx="46799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Africa</a:t>
            </a:r>
          </a:p>
        </p:txBody>
      </p:sp>
      <p:sp>
        <p:nvSpPr>
          <p:cNvPr id="58" name="文本框 57"/>
          <p:cNvSpPr txBox="1"/>
          <p:nvPr/>
        </p:nvSpPr>
        <p:spPr>
          <a:xfrm>
            <a:off x="3981450" y="8389620"/>
            <a:ext cx="1597025" cy="247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South&amp;South-east Asia</a:t>
            </a:r>
          </a:p>
        </p:txBody>
      </p:sp>
      <p:sp>
        <p:nvSpPr>
          <p:cNvPr id="59" name="上箭头 58"/>
          <p:cNvSpPr/>
          <p:nvPr/>
        </p:nvSpPr>
        <p:spPr>
          <a:xfrm>
            <a:off x="5474970" y="8364855"/>
            <a:ext cx="103505" cy="232410"/>
          </a:xfrm>
          <a:prstGeom prst="upArrow">
            <a:avLst>
              <a:gd name="adj1" fmla="val 50000"/>
              <a:gd name="adj2" fmla="val 101034"/>
            </a:avLst>
          </a:prstGeom>
          <a:solidFill>
            <a:srgbClr val="47A2DE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60" name="上箭头 59"/>
          <p:cNvSpPr/>
          <p:nvPr/>
        </p:nvSpPr>
        <p:spPr>
          <a:xfrm>
            <a:off x="3307080" y="8369935"/>
            <a:ext cx="103505" cy="232410"/>
          </a:xfrm>
          <a:prstGeom prst="upArrow">
            <a:avLst>
              <a:gd name="adj1" fmla="val 50000"/>
              <a:gd name="adj2" fmla="val 93103"/>
            </a:avLst>
          </a:prstGeom>
          <a:solidFill>
            <a:srgbClr val="E85748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>
              <a:solidFill>
                <a:srgbClr val="9467BD"/>
              </a:solidFill>
            </a:endParaRPr>
          </a:p>
        </p:txBody>
      </p:sp>
      <p:sp>
        <p:nvSpPr>
          <p:cNvPr id="61" name="上箭头 60"/>
          <p:cNvSpPr/>
          <p:nvPr/>
        </p:nvSpPr>
        <p:spPr>
          <a:xfrm>
            <a:off x="3909060" y="8364855"/>
            <a:ext cx="103505" cy="232410"/>
          </a:xfrm>
          <a:prstGeom prst="upArrow">
            <a:avLst>
              <a:gd name="adj1" fmla="val 50000"/>
              <a:gd name="adj2" fmla="val 108620"/>
            </a:avLst>
          </a:prstGeom>
          <a:solidFill>
            <a:srgbClr val="F39F1B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4" name="文本框 3"/>
          <p:cNvSpPr txBox="1"/>
          <p:nvPr/>
        </p:nvSpPr>
        <p:spPr>
          <a:xfrm>
            <a:off x="8516375" y="6020065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cxnSp>
        <p:nvCxnSpPr>
          <p:cNvPr id="6" name="直接连接符 5"/>
          <p:cNvCxnSpPr/>
          <p:nvPr/>
        </p:nvCxnSpPr>
        <p:spPr>
          <a:xfrm>
            <a:off x="3855273" y="6983217"/>
            <a:ext cx="220245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4821961" y="5987759"/>
            <a:ext cx="0" cy="198563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6422163" y="8494991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4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2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16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1918</Words>
  <Application>Microsoft Office PowerPoint</Application>
  <PresentationFormat>Custom</PresentationFormat>
  <Paragraphs>619</Paragraphs>
  <Slides>17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东文宋体</vt:lpstr>
      <vt:lpstr>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April Liang</cp:lastModifiedBy>
  <cp:revision>40</cp:revision>
  <dcterms:created xsi:type="dcterms:W3CDTF">2026-05-22T16:15:56Z</dcterms:created>
  <dcterms:modified xsi:type="dcterms:W3CDTF">2026-05-23T11:39:24Z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