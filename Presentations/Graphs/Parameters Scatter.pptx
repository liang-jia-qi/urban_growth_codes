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9"/>
  </p:handoutMasterIdLst>
  <p:sldIdLst>
    <p:sldId id="256" r:id="rId3"/>
    <p:sldId id="257" r:id="rId4"/>
    <p:sldId id="258" r:id="rId6"/>
    <p:sldId id="260" r:id="rId7"/>
    <p:sldId id="259" r:id="rId8"/>
  </p:sldIdLst>
  <p:sldSz cx="14399895" cy="809942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26" userDrawn="1">
          <p15:clr>
            <a:srgbClr val="A4A3A4"/>
          </p15:clr>
        </p15:guide>
        <p15:guide id="2" pos="44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9467BD"/>
    <a:srgbClr val="2CA02C"/>
    <a:srgbClr val="1F77B4"/>
    <a:srgbClr val="3C9749"/>
    <a:srgbClr val="A884C9"/>
    <a:srgbClr val="A985CA"/>
    <a:srgbClr val="7FC6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526"/>
        <p:guide pos="445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7.png"/><Relationship Id="rId10" Type="http://schemas.openxmlformats.org/officeDocument/2006/relationships/image" Target="../media/image16.pn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100%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0.6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0.3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70%</a:t>
              </a:r>
              <a:endParaRPr lang="en-US" altLang="zh-CN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20%</a:t>
              </a:r>
              <a:endParaRPr lang="en-US" altLang="zh-CN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 rot="0"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 rot="0"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2016</a:t>
                  </a:r>
                  <a:endParaRPr lang="en-US" altLang="zh-CN" sz="16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2016</a:t>
                  </a:r>
                  <a:endParaRPr lang="en-US" altLang="zh-CN" sz="16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2023</a:t>
                  </a:r>
                  <a:endParaRPr lang="en-US" altLang="zh-CN" sz="16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2016</a:t>
                  </a:r>
                  <a:endParaRPr lang="en-US" altLang="zh-CN" sz="16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2023</a:t>
                  </a:r>
                  <a:endParaRPr lang="en-US" altLang="zh-CN" sz="16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South&amp;South-east Asia, 2016</a:t>
                  </a:r>
                  <a:endParaRPr lang="en-US" altLang="zh-CN" sz="16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2016</a:t>
                  </a:r>
                  <a:endParaRPr lang="en-US" altLang="zh-CN" sz="16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2023</a:t>
                  </a:r>
                  <a:endParaRPr lang="en-US" altLang="zh-CN" sz="16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2023</a:t>
                  </a:r>
                  <a:endParaRPr lang="en-US" altLang="zh-CN" sz="16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100%</a:t>
                </a:r>
                <a:endParaRPr lang="en-US" altLang="zh-CN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0.6</a:t>
                </a:r>
                <a:endParaRPr lang="en-US" altLang="zh-CN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0.3</a:t>
                </a:r>
                <a:endParaRPr lang="en-US" altLang="zh-CN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70%</a:t>
                </a:r>
                <a:endParaRPr lang="en-US" altLang="zh-CN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20%</a:t>
                </a:r>
                <a:endParaRPr lang="en-US" altLang="zh-CN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-0.2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-0.4</a:t>
                </a:r>
                <a:endParaRPr lang="en-US" altLang="zh-CN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2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24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240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grpSp>
        <p:nvGrpSpPr>
          <p:cNvPr id="101" name="组合 100"/>
          <p:cNvGrpSpPr/>
          <p:nvPr/>
        </p:nvGrpSpPr>
        <p:grpSpPr>
          <a:xfrm>
            <a:off x="-8890" y="595630"/>
            <a:ext cx="14569440" cy="5995035"/>
            <a:chOff x="-14" y="938"/>
            <a:chExt cx="22944" cy="9441"/>
          </a:xfrm>
        </p:grpSpPr>
        <p:grpSp>
          <p:nvGrpSpPr>
            <p:cNvPr id="45" name="组合 44"/>
            <p:cNvGrpSpPr/>
            <p:nvPr/>
          </p:nvGrpSpPr>
          <p:grpSpPr>
            <a:xfrm rot="0">
              <a:off x="5055" y="9349"/>
              <a:ext cx="14213" cy="1031"/>
              <a:chOff x="2098" y="8434"/>
              <a:chExt cx="14213" cy="1031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3143" y="8434"/>
                <a:ext cx="316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2773" y="8548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2773" y="9011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143" y="8925"/>
                <a:ext cx="316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483" y="8434"/>
                <a:ext cx="322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098" y="8548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098" y="9011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483" y="8934"/>
                <a:ext cx="322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6717" y="8434"/>
                <a:ext cx="455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309" y="8548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309" y="9011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6717" y="8921"/>
                <a:ext cx="455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>
                  <a:sym typeface="+mn-ea"/>
                </a:endParaRPr>
              </a:p>
            </p:txBody>
          </p:sp>
        </p:grpSp>
        <p:grpSp>
          <p:nvGrpSpPr>
            <p:cNvPr id="100" name="组合 99"/>
            <p:cNvGrpSpPr/>
            <p:nvPr/>
          </p:nvGrpSpPr>
          <p:grpSpPr>
            <a:xfrm>
              <a:off x="-14" y="938"/>
              <a:ext cx="22944" cy="8210"/>
              <a:chOff x="-14" y="938"/>
              <a:chExt cx="22944" cy="821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2118" y="93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18" y="938"/>
                    <a:ext cx="7243" cy="1113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3653" y="93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53" y="938"/>
                    <a:ext cx="729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组合 98"/>
              <p:cNvGrpSpPr/>
              <p:nvPr/>
            </p:nvGrpSpPr>
            <p:grpSpPr>
              <a:xfrm>
                <a:off x="1477" y="1626"/>
                <a:ext cx="8102" cy="7446"/>
                <a:chOff x="1477" y="1626"/>
                <a:chExt cx="8102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3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/>
                    <a:t>50%</a:t>
                  </a:r>
                  <a:endParaRPr lang="en-US" altLang="zh-CN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/>
                    <a:t>100%</a:t>
                  </a:r>
                  <a:endParaRPr lang="en-US" altLang="zh-CN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/>
                    <a:t>0</a:t>
                  </a:r>
                  <a:endParaRPr lang="en-US" altLang="zh-CN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549" y="2050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/>
                    <a:t>0.6</a:t>
                  </a:r>
                  <a:endParaRPr lang="en-US" altLang="zh-CN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559" y="5259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/>
                    <a:t>0.3</a:t>
                  </a:r>
                  <a:endParaRPr lang="en-US" altLang="zh-CN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0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7022" y="8636"/>
                  <a:ext cx="236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0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925" y="5000"/>
                  <a:ext cx="2574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600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p:grpSp>
            <p:nvGrpSpPr>
              <p:cNvPr id="30" name="组合 29"/>
              <p:cNvGrpSpPr/>
              <p:nvPr/>
            </p:nvGrpSpPr>
            <p:grpSpPr>
              <a:xfrm rot="0">
                <a:off x="12656" y="1882"/>
                <a:ext cx="8145" cy="7267"/>
                <a:chOff x="9436" y="1819"/>
                <a:chExt cx="8145" cy="7267"/>
              </a:xfrm>
            </p:grpSpPr>
            <p:pic>
              <p:nvPicPr>
                <p:cNvPr id="3" name="图片 2"/>
                <p:cNvPicPr/>
                <p:nvPr/>
              </p:nvPicPr>
              <p:blipFill>
                <a:blip r:embed="rId3"/>
                <a:srcRect l="54304" t="1604" r="1509" b="7631"/>
                <a:stretch>
                  <a:fillRect/>
                </a:stretch>
              </p:blipFill>
              <p:spPr>
                <a:xfrm>
                  <a:off x="10293" y="1987"/>
                  <a:ext cx="7288" cy="6102"/>
                </a:xfrm>
                <a:prstGeom prst="rect">
                  <a:avLst/>
                </a:prstGeom>
              </p:spPr>
            </p:pic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7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/>
                    <a:t>70%</a:t>
                  </a:r>
                  <a:endParaRPr lang="en-US" altLang="zh-CN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/>
                    <a:t>20%</a:t>
                  </a:r>
                  <a:endParaRPr lang="en-US" altLang="zh-CN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45" y="250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/>
                    <a:t>0</a:t>
                  </a:r>
                  <a:endParaRPr lang="en-US" altLang="zh-CN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83" y="5043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/>
                    <a:t>-0.2</a:t>
                  </a:r>
                  <a:endParaRPr lang="en-US" altLang="zh-CN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819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0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995" y="8573"/>
                  <a:ext cx="2505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0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/>
                    <a:t>50%</a:t>
                  </a:r>
                  <a:endParaRPr lang="en-US" altLang="zh-CN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6" y="7492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/>
                    <a:t>-0.4</a:t>
                  </a:r>
                  <a:endParaRPr lang="en-US" altLang="zh-CN"/>
                </a:p>
              </p:txBody>
            </p:sp>
            <p:sp>
              <p:nvSpPr>
                <p:cNvPr id="58" name="文本框 57"/>
                <p:cNvSpPr txBox="1"/>
                <p:nvPr/>
              </p:nvSpPr>
              <p:spPr>
                <a:xfrm>
                  <a:off x="10380" y="3811"/>
                  <a:ext cx="2574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600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 = -0.09</a:t>
                  </a:r>
                  <a:endPara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p:sp>
            <p:nvSpPr>
              <p:cNvPr id="54" name="文本框 53"/>
              <p:cNvSpPr txBox="1"/>
              <p:nvPr/>
            </p:nvSpPr>
            <p:spPr>
              <a:xfrm>
                <a:off x="-14" y="5728"/>
                <a:ext cx="2265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Low-Constraint, Flat-Gradient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9333" y="4032"/>
                <a:ext cx="2346" cy="679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High-Constraint, Steep-Gradient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0" y="3986"/>
                <a:ext cx="2211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Low-Constraint,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Steep-Gradient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9352" y="5728"/>
                <a:ext cx="2327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High-Constraint, Flat-Gradient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文本框 64"/>
              <p:cNvSpPr txBox="1"/>
              <p:nvPr/>
            </p:nvSpPr>
            <p:spPr>
              <a:xfrm>
                <a:off x="11368" y="4032"/>
                <a:ext cx="2211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Low-Intensity, Flat-Gradient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6" name="文本框 65"/>
              <p:cNvSpPr txBox="1"/>
              <p:nvPr/>
            </p:nvSpPr>
            <p:spPr>
              <a:xfrm>
                <a:off x="11368" y="5728"/>
                <a:ext cx="2211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Low-Intensity, Steep-Gradient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20720" y="3982"/>
                <a:ext cx="2211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High-Intensity, Flat-Gradient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20674" y="5728"/>
                <a:ext cx="2211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High-Intensity, Steep-Gradient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grpSp>
            <p:nvGrpSpPr>
              <p:cNvPr id="71" name="组合 70"/>
              <p:cNvGrpSpPr/>
              <p:nvPr/>
            </p:nvGrpSpPr>
            <p:grpSpPr>
              <a:xfrm rot="0">
                <a:off x="1195" y="6439"/>
                <a:ext cx="831" cy="826"/>
                <a:chOff x="493" y="2941"/>
                <a:chExt cx="4304" cy="4270"/>
              </a:xfrm>
            </p:grpSpPr>
            <p:pic>
              <p:nvPicPr>
                <p:cNvPr id="72" name="图片 71"/>
                <p:cNvPicPr>
                  <a:picLocks noChangeAspect="1"/>
                </p:cNvPicPr>
                <p:nvPr/>
              </p:nvPicPr>
              <p:blipFill>
                <a:blip r:embed="rId4">
                  <a:grayscl/>
                </a:blip>
                <a:stretch>
                  <a:fillRect/>
                </a:stretch>
              </p:blipFill>
              <p:spPr>
                <a:xfrm>
                  <a:off x="493" y="2941"/>
                  <a:ext cx="4304" cy="4271"/>
                </a:xfrm>
                <a:prstGeom prst="rect">
                  <a:avLst/>
                </a:prstGeom>
              </p:spPr>
            </p:pic>
            <p:sp>
              <p:nvSpPr>
                <p:cNvPr id="73" name="椭圆 72"/>
                <p:cNvSpPr/>
                <p:nvPr/>
              </p:nvSpPr>
              <p:spPr>
                <a:xfrm>
                  <a:off x="598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4" name="组合 73"/>
              <p:cNvGrpSpPr/>
              <p:nvPr/>
            </p:nvGrpSpPr>
            <p:grpSpPr>
              <a:xfrm rot="0">
                <a:off x="1165" y="3174"/>
                <a:ext cx="831" cy="826"/>
                <a:chOff x="4929" y="2941"/>
                <a:chExt cx="4302" cy="4270"/>
              </a:xfrm>
            </p:grpSpPr>
            <p:pic>
              <p:nvPicPr>
                <p:cNvPr id="75" name="图片 74"/>
                <p:cNvPicPr>
                  <a:picLocks noChangeAspect="1"/>
                </p:cNvPicPr>
                <p:nvPr/>
              </p:nvPicPr>
              <p:blipFill>
                <a:blip r:embed="rId5">
                  <a:grayscl/>
                </a:blip>
                <a:stretch>
                  <a:fillRect/>
                </a:stretch>
              </p:blipFill>
              <p:spPr>
                <a:xfrm>
                  <a:off x="4929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76" name="椭圆 75"/>
                <p:cNvSpPr/>
                <p:nvPr/>
              </p:nvSpPr>
              <p:spPr>
                <a:xfrm>
                  <a:off x="5028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 rot="0">
                <a:off x="9391" y="6439"/>
                <a:ext cx="831" cy="826"/>
                <a:chOff x="9364" y="2941"/>
                <a:chExt cx="4302" cy="4270"/>
              </a:xfrm>
            </p:grpSpPr>
            <p:pic>
              <p:nvPicPr>
                <p:cNvPr id="78" name="图片 77"/>
                <p:cNvPicPr>
                  <a:picLocks noChangeAspect="1"/>
                </p:cNvPicPr>
                <p:nvPr/>
              </p:nvPicPr>
              <p:blipFill>
                <a:blip r:embed="rId6">
                  <a:grayscl/>
                </a:blip>
                <a:stretch>
                  <a:fillRect/>
                </a:stretch>
              </p:blipFill>
              <p:spPr>
                <a:xfrm>
                  <a:off x="9364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79" name="椭圆 78"/>
                <p:cNvSpPr/>
                <p:nvPr/>
              </p:nvSpPr>
              <p:spPr>
                <a:xfrm>
                  <a:off x="9457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80" name="组合 79"/>
              <p:cNvGrpSpPr/>
              <p:nvPr/>
            </p:nvGrpSpPr>
            <p:grpSpPr>
              <a:xfrm rot="0">
                <a:off x="9394" y="3174"/>
                <a:ext cx="831" cy="826"/>
                <a:chOff x="13799" y="2941"/>
                <a:chExt cx="4302" cy="4270"/>
              </a:xfrm>
            </p:grpSpPr>
            <p:pic>
              <p:nvPicPr>
                <p:cNvPr id="81" name="图片 80"/>
                <p:cNvPicPr>
                  <a:picLocks noChangeAspect="1"/>
                </p:cNvPicPr>
                <p:nvPr/>
              </p:nvPicPr>
              <p:blipFill>
                <a:blip r:embed="rId7">
                  <a:grayscl/>
                </a:blip>
                <a:stretch>
                  <a:fillRect/>
                </a:stretch>
              </p:blipFill>
              <p:spPr>
                <a:xfrm>
                  <a:off x="13799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82" name="椭圆 81"/>
                <p:cNvSpPr/>
                <p:nvPr/>
              </p:nvSpPr>
              <p:spPr>
                <a:xfrm>
                  <a:off x="13887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83" name="组合 82"/>
              <p:cNvGrpSpPr/>
              <p:nvPr/>
            </p:nvGrpSpPr>
            <p:grpSpPr>
              <a:xfrm rot="0">
                <a:off x="12504" y="3171"/>
                <a:ext cx="848" cy="829"/>
                <a:chOff x="1057" y="2049"/>
                <a:chExt cx="4212" cy="4114"/>
              </a:xfrm>
            </p:grpSpPr>
            <p:pic>
              <p:nvPicPr>
                <p:cNvPr id="84" name="图片 83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85" name="椭圆 84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86" name="组合 85"/>
              <p:cNvGrpSpPr/>
              <p:nvPr/>
            </p:nvGrpSpPr>
            <p:grpSpPr>
              <a:xfrm rot="0">
                <a:off x="12534" y="6436"/>
                <a:ext cx="848" cy="829"/>
                <a:chOff x="5571" y="2049"/>
                <a:chExt cx="4212" cy="4114"/>
              </a:xfrm>
            </p:grpSpPr>
            <p:pic>
              <p:nvPicPr>
                <p:cNvPr id="87" name="图片 8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88" name="椭圆 8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 rot="0">
                <a:off x="20852" y="3171"/>
                <a:ext cx="848" cy="829"/>
                <a:chOff x="10084" y="2049"/>
                <a:chExt cx="4212" cy="4114"/>
              </a:xfrm>
            </p:grpSpPr>
            <p:pic>
              <p:nvPicPr>
                <p:cNvPr id="90" name="图片 89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91" name="椭圆 90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20800" y="6468"/>
                <a:ext cx="848" cy="828"/>
                <a:chOff x="22212" y="8641"/>
                <a:chExt cx="848" cy="828"/>
              </a:xfrm>
            </p:grpSpPr>
            <p:pic>
              <p:nvPicPr>
                <p:cNvPr id="93" name="图片 92"/>
                <p:cNvPicPr>
                  <a:picLocks noChangeAspect="1"/>
                </p:cNvPicPr>
                <p:nvPr/>
              </p:nvPicPr>
              <p:blipFill>
                <a:blip r:embed="rId11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22212" y="8641"/>
                  <a:ext cx="848" cy="829"/>
                </a:xfrm>
                <a:prstGeom prst="rect">
                  <a:avLst/>
                </a:prstGeom>
              </p:spPr>
            </p:pic>
            <p:sp>
              <p:nvSpPr>
                <p:cNvPr id="94" name="椭圆 93"/>
                <p:cNvSpPr/>
                <p:nvPr/>
              </p:nvSpPr>
              <p:spPr>
                <a:xfrm>
                  <a:off x="22232" y="8657"/>
                  <a:ext cx="778" cy="778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00"/>
                </a:p>
              </p:txBody>
            </p:sp>
          </p:grpSp>
        </p:grpSp>
      </p:grpSp>
      <p:cxnSp>
        <p:nvCxnSpPr>
          <p:cNvPr id="33" name="直接连接符 32"/>
          <p:cNvCxnSpPr/>
          <p:nvPr/>
        </p:nvCxnSpPr>
        <p:spPr>
          <a:xfrm>
            <a:off x="655690" y="-64519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86" name="组合 85"/>
          <p:cNvGrpSpPr/>
          <p:nvPr/>
        </p:nvGrpSpPr>
        <p:grpSpPr>
          <a:xfrm>
            <a:off x="1104265" y="784225"/>
            <a:ext cx="12237720" cy="5651500"/>
            <a:chOff x="1739" y="1235"/>
            <a:chExt cx="19272" cy="8900"/>
          </a:xfrm>
        </p:grpSpPr>
        <p:pic>
          <p:nvPicPr>
            <p:cNvPr id="81" name="图片 80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739" y="2783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534" y="-292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739" y="262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8163" y="2465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4603" y="2594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7891" y="1800"/>
                  <a:ext cx="7243" cy="7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1" y="1800"/>
                  <a:ext cx="7243" cy="71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478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46" y="740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2951" y="857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347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998" y="259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653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3" y="3729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59" y="5561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339" y="8616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967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9498" y="8616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99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673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363" y="8616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967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967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967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967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764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5813" y="8630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9845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939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28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134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28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28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28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28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4583" y="9105"/>
              <a:ext cx="14213" cy="1030"/>
              <a:chOff x="3914" y="9142"/>
              <a:chExt cx="14213" cy="1030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4171" y="7650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5656" y="4518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7023" y="7650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9126" y="6689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8442" y="6689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683" y="1235"/>
              <a:ext cx="11340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Vertical Profile</a:t>
              </a:r>
              <a:endParaRPr lang="en-US" altLang="zh-CN" sz="2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0512" y="7989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2825</Words>
  <Application>WPS 演示</Application>
  <PresentationFormat>宽屏</PresentationFormat>
  <Paragraphs>425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Arial</vt:lpstr>
      <vt:lpstr>宋体</vt:lpstr>
      <vt:lpstr>Wingdings</vt:lpstr>
      <vt:lpstr>Cambria Math</vt:lpstr>
      <vt:lpstr>MS Mincho</vt:lpstr>
      <vt:lpstr>微软雅黑</vt:lpstr>
      <vt:lpstr>Arial Unicode MS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12</cp:revision>
  <dcterms:created xsi:type="dcterms:W3CDTF">2026-03-04T17:17:18Z</dcterms:created>
  <dcterms:modified xsi:type="dcterms:W3CDTF">2026-03-04T17:17:18Z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