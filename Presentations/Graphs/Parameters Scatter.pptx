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5"/>
  </p:notesMasterIdLst>
  <p:handoutMasterIdLst>
    <p:handoutMasterId r:id="rId13"/>
  </p:handoutMasterIdLst>
  <p:sldIdLst>
    <p:sldId id="256" r:id="rId3"/>
    <p:sldId id="257" r:id="rId4"/>
    <p:sldId id="258" r:id="rId6"/>
    <p:sldId id="260" r:id="rId7"/>
    <p:sldId id="259" r:id="rId8"/>
    <p:sldId id="261" r:id="rId9"/>
    <p:sldId id="262" r:id="rId10"/>
    <p:sldId id="263" r:id="rId11"/>
    <p:sldId id="264" r:id="rId12"/>
  </p:sldIdLst>
  <p:sldSz cx="14399895" cy="8099425"/>
  <p:notesSz cx="7103745" cy="10234295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535" userDrawn="1">
          <p15:clr>
            <a:srgbClr val="A4A3A4"/>
          </p15:clr>
        </p15:guide>
        <p15:guide id="2" pos="4440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pril Liang" initials="AL" lastIdx="0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A2DE"/>
    <a:srgbClr val="F39F1B"/>
    <a:srgbClr val="E85748"/>
    <a:srgbClr val="9467BD"/>
    <a:srgbClr val="2CA02C"/>
    <a:srgbClr val="1F77B4"/>
    <a:srgbClr val="3C9749"/>
    <a:srgbClr val="A884C9"/>
    <a:srgbClr val="A985CA"/>
    <a:srgbClr val="7FC6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278" autoAdjust="0"/>
    <p:restoredTop sz="94660"/>
  </p:normalViewPr>
  <p:slideViewPr>
    <p:cSldViewPr snapToGrid="0" showGuides="1">
      <p:cViewPr varScale="1">
        <p:scale>
          <a:sx n="75" d="100"/>
          <a:sy n="75" d="100"/>
        </p:scale>
        <p:origin x="90" y="96"/>
      </p:cViewPr>
      <p:guideLst>
        <p:guide orient="horz" pos="2535"/>
        <p:guide pos="44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7" Type="http://schemas.openxmlformats.org/officeDocument/2006/relationships/commentAuthors" Target="commentAuthors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handoutMaster" Target="handoutMasters/handoutMaster1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4023812" y="0"/>
            <a:ext cx="3078290" cy="513492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45"/>
            </a:lvl1pPr>
          </a:lstStyle>
          <a:p>
            <a:fld id="{0F9B84EA-7D68-4D60-9CB1-D50884785D1C}" type="datetimeFigureOut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45"/>
            </a:lvl1pPr>
          </a:lstStyle>
          <a:p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4023812" y="9720804"/>
            <a:ext cx="3078290" cy="51349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45"/>
            </a:lvl1pPr>
          </a:lstStyle>
          <a:p>
            <a:fld id="{8D4E0FC9-F1F8-4FAE-9988-3BA365CFD46F}" type="slidenum">
              <a:rPr lang="zh-CN" altLang="en-US" smtClean="0">
                <a:latin typeface="Arial" panose="020B0604020202020204" pitchFamily="34" charset="0"/>
                <a:ea typeface="Arial" panose="020B0604020202020204" pitchFamily="34" charset="0"/>
              </a:rPr>
            </a:fld>
            <a:endParaRPr lang="zh-CN" altLang="en-US">
              <a:latin typeface="Arial" panose="020B0604020202020204" pitchFamily="34" charset="0"/>
              <a:ea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D6C8D182-E4C8-4120-9249-FC9774456FF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482247" y="1279525"/>
            <a:ext cx="6141155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711200" y="4926013"/>
            <a:ext cx="5683250" cy="4029075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85D0DACE-38E0-42D2-9336-2B707D34BC6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anose="020B0604020202020204" pitchFamily="34" charset="0"/>
        <a:ea typeface="Arial" panose="020B0604020202020204" pitchFamily="34" charset="0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800000" y="1562554"/>
            <a:ext cx="10800000" cy="2583072"/>
          </a:xfrm>
        </p:spPr>
        <p:txBody>
          <a:bodyPr anchor="b">
            <a:normAutofit/>
          </a:bodyPr>
          <a:lstStyle>
            <a:lvl1pPr algn="ctr">
              <a:defRPr sz="708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单击此处添加标题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800000" y="4254376"/>
            <a:ext cx="10800000" cy="1955625"/>
          </a:xfrm>
        </p:spPr>
        <p:txBody>
          <a:bodyPr>
            <a:normAutofit/>
          </a:bodyPr>
          <a:lstStyle>
            <a:lvl1pPr marL="0" indent="0" algn="ctr">
              <a:buNone/>
              <a:defRPr sz="2125">
                <a:solidFill>
                  <a:schemeClr val="tx1">
                    <a:lumMod val="75000"/>
                    <a:lumOff val="25000"/>
                  </a:schemeClr>
                </a:solidFill>
                <a:effectLst/>
                <a:latin typeface="+mj-lt"/>
                <a:ea typeface="+mj-ea"/>
              </a:defRPr>
            </a:lvl1pPr>
            <a:lvl2pPr marL="539750" indent="0" algn="ctr">
              <a:buNone/>
              <a:defRPr sz="2360"/>
            </a:lvl2pPr>
            <a:lvl3pPr marL="1080135" indent="0" algn="ctr">
              <a:buNone/>
              <a:defRPr sz="2125"/>
            </a:lvl3pPr>
            <a:lvl4pPr marL="1619885" indent="0" algn="ctr">
              <a:buNone/>
              <a:defRPr sz="1890"/>
            </a:lvl4pPr>
            <a:lvl5pPr marL="2160270" indent="0" algn="ctr">
              <a:buNone/>
              <a:defRPr sz="1890"/>
            </a:lvl5pPr>
            <a:lvl6pPr marL="2700020" indent="0" algn="ctr">
              <a:buNone/>
              <a:defRPr sz="1890"/>
            </a:lvl6pPr>
            <a:lvl7pPr marL="3239770" indent="0" algn="ctr">
              <a:buNone/>
              <a:defRPr sz="1890"/>
            </a:lvl7pPr>
            <a:lvl8pPr marL="3780155" indent="0" algn="ctr">
              <a:buNone/>
              <a:defRPr sz="1890"/>
            </a:lvl8pPr>
            <a:lvl9pPr marL="4319905" indent="0" algn="ctr">
              <a:buNone/>
              <a:defRPr sz="1890"/>
            </a:lvl9pPr>
          </a:lstStyle>
          <a:p>
            <a:r>
              <a:rPr lang="zh-CN" altLang="en-US" dirty="0"/>
              <a:t>单击此处添加副标题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00" y="305250"/>
            <a:ext cx="12420000" cy="1565626"/>
          </a:xfrm>
        </p:spPr>
        <p:txBody>
          <a:bodyPr anchor="ctr" anchorCtr="0">
            <a:normAutofit/>
          </a:bodyPr>
          <a:lstStyle>
            <a:lvl1pPr>
              <a:defRPr sz="283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765000" y="2156250"/>
            <a:ext cx="12420000" cy="5139376"/>
          </a:xfrm>
        </p:spPr>
        <p:txBody>
          <a:bodyPr>
            <a:normAutofit/>
          </a:bodyPr>
          <a:lstStyle>
            <a:lvl1pPr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82500" y="4430453"/>
            <a:ext cx="8647500" cy="958296"/>
          </a:xfrm>
        </p:spPr>
        <p:txBody>
          <a:bodyPr anchor="b">
            <a:normAutofit/>
          </a:bodyPr>
          <a:lstStyle>
            <a:lvl1pPr>
              <a:defRPr sz="4725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82500" y="5444915"/>
            <a:ext cx="8647500" cy="764829"/>
          </a:xfrm>
        </p:spPr>
        <p:txBody>
          <a:bodyPr>
            <a:normAutofit/>
          </a:bodyPr>
          <a:lstStyle>
            <a:lvl1pPr marL="0" indent="0">
              <a:buNone/>
              <a:defRPr sz="2125">
                <a:solidFill>
                  <a:schemeClr val="tx1"/>
                </a:solidFill>
              </a:defRPr>
            </a:lvl1pPr>
            <a:lvl2pPr marL="539750" indent="0">
              <a:buNone/>
              <a:defRPr sz="2360">
                <a:solidFill>
                  <a:schemeClr val="tx1">
                    <a:tint val="75000"/>
                  </a:schemeClr>
                </a:solidFill>
              </a:defRPr>
            </a:lvl2pPr>
            <a:lvl3pPr marL="1080135" indent="0">
              <a:buNone/>
              <a:defRPr sz="2125">
                <a:solidFill>
                  <a:schemeClr val="tx1">
                    <a:tint val="75000"/>
                  </a:schemeClr>
                </a:solidFill>
              </a:defRPr>
            </a:lvl3pPr>
            <a:lvl4pPr marL="161988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4pPr>
            <a:lvl5pPr marL="216027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5pPr>
            <a:lvl6pPr marL="270002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6pPr>
            <a:lvl7pPr marL="3239770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7pPr>
            <a:lvl8pPr marL="378015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8pPr>
            <a:lvl9pPr marL="4319905" indent="0">
              <a:buNone/>
              <a:defRPr sz="189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65000" y="305250"/>
            <a:ext cx="12420000" cy="1565626"/>
          </a:xfrm>
        </p:spPr>
        <p:txBody>
          <a:bodyPr>
            <a:normAutofit/>
          </a:bodyPr>
          <a:lstStyle>
            <a:lvl1pPr>
              <a:defRPr sz="2835" b="1" i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765000" y="2156250"/>
            <a:ext cx="6120000" cy="5139376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7065000" y="2156250"/>
            <a:ext cx="6120000" cy="5139376"/>
          </a:xfrm>
        </p:spPr>
        <p:txBody>
          <a:bodyPr>
            <a:normAutofit/>
          </a:bodyPr>
          <a:lstStyle>
            <a:lvl1pPr>
              <a:lnSpc>
                <a:spcPct val="150000"/>
              </a:lnSpc>
              <a:defRPr sz="236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>
              <a:lnSpc>
                <a:spcPct val="150000"/>
              </a:lnSpc>
              <a:defRPr sz="2125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lnSpc>
                <a:spcPct val="150000"/>
              </a:lnSpc>
              <a:defRPr sz="189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1876" y="431250"/>
            <a:ext cx="12420000" cy="1565626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1876" y="2060978"/>
            <a:ext cx="6091875" cy="97312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750" indent="0">
              <a:buNone/>
              <a:defRPr sz="2360" b="1"/>
            </a:lvl2pPr>
            <a:lvl3pPr marL="1080135" indent="0">
              <a:buNone/>
              <a:defRPr sz="2125" b="1"/>
            </a:lvl3pPr>
            <a:lvl4pPr marL="1619885" indent="0">
              <a:buNone/>
              <a:defRPr sz="1890" b="1"/>
            </a:lvl4pPr>
            <a:lvl5pPr marL="2160270" indent="0">
              <a:buNone/>
              <a:defRPr sz="1890" b="1"/>
            </a:lvl5pPr>
            <a:lvl6pPr marL="2700020" indent="0">
              <a:buNone/>
              <a:defRPr sz="1890" b="1"/>
            </a:lvl6pPr>
            <a:lvl7pPr marL="3239770" indent="0">
              <a:buNone/>
              <a:defRPr sz="1890" b="1"/>
            </a:lvl7pPr>
            <a:lvl8pPr marL="3780155" indent="0">
              <a:buNone/>
              <a:defRPr sz="1890" b="1"/>
            </a:lvl8pPr>
            <a:lvl9pPr marL="4319905" indent="0">
              <a:buNone/>
              <a:defRPr sz="189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991876" y="3089302"/>
            <a:ext cx="6091875" cy="422132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7290000" y="2060978"/>
            <a:ext cx="6121876" cy="973124"/>
          </a:xfrm>
        </p:spPr>
        <p:txBody>
          <a:bodyPr anchor="b"/>
          <a:lstStyle>
            <a:lvl1pPr marL="0" indent="0">
              <a:buNone/>
              <a:defRPr sz="2835" b="1"/>
            </a:lvl1pPr>
            <a:lvl2pPr marL="539750" indent="0">
              <a:buNone/>
              <a:defRPr sz="2360" b="1"/>
            </a:lvl2pPr>
            <a:lvl3pPr marL="1080135" indent="0">
              <a:buNone/>
              <a:defRPr sz="2125" b="1"/>
            </a:lvl3pPr>
            <a:lvl4pPr marL="1619885" indent="0">
              <a:buNone/>
              <a:defRPr sz="1890" b="1"/>
            </a:lvl4pPr>
            <a:lvl5pPr marL="2160270" indent="0">
              <a:buNone/>
              <a:defRPr sz="1890" b="1"/>
            </a:lvl5pPr>
            <a:lvl6pPr marL="2700020" indent="0">
              <a:buNone/>
              <a:defRPr sz="1890" b="1"/>
            </a:lvl6pPr>
            <a:lvl7pPr marL="3239770" indent="0">
              <a:buNone/>
              <a:defRPr sz="1890" b="1"/>
            </a:lvl7pPr>
            <a:lvl8pPr marL="3780155" indent="0">
              <a:buNone/>
              <a:defRPr sz="1890" b="1"/>
            </a:lvl8pPr>
            <a:lvl9pPr marL="4319905" indent="0">
              <a:buNone/>
              <a:defRPr sz="1890" b="1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7290000" y="3089302"/>
            <a:ext cx="6121876" cy="422132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990000" y="3267188"/>
            <a:ext cx="12420000" cy="1565626"/>
          </a:xfrm>
        </p:spPr>
        <p:txBody>
          <a:bodyPr>
            <a:normAutofit/>
          </a:bodyPr>
          <a:lstStyle>
            <a:lvl1pPr algn="ctr">
              <a:defRPr sz="5670" b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763874" y="150000"/>
            <a:ext cx="4919528" cy="1890000"/>
          </a:xfrm>
        </p:spPr>
        <p:txBody>
          <a:bodyPr anchor="ctr" anchorCtr="0">
            <a:normAutofit/>
          </a:bodyPr>
          <a:lstStyle>
            <a:lvl1pPr>
              <a:defRPr sz="2835" b="1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defRPr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图片占位符 2"/>
          <p:cNvSpPr>
            <a:spLocks noGrp="1" noChangeAspect="1"/>
          </p:cNvSpPr>
          <p:nvPr>
            <p:ph type="pic" idx="1"/>
          </p:nvPr>
        </p:nvSpPr>
        <p:spPr>
          <a:xfrm>
            <a:off x="6122835" y="905143"/>
            <a:ext cx="6870916" cy="6017063"/>
          </a:xfrm>
        </p:spPr>
        <p:txBody>
          <a:bodyPr/>
          <a:lstStyle>
            <a:lvl1pPr marL="0" indent="0">
              <a:buNone/>
              <a:defRPr sz="3780"/>
            </a:lvl1pPr>
            <a:lvl2pPr marL="539750" indent="0">
              <a:buNone/>
              <a:defRPr sz="3305"/>
            </a:lvl2pPr>
            <a:lvl3pPr marL="1080135" indent="0">
              <a:buNone/>
              <a:defRPr sz="2835"/>
            </a:lvl3pPr>
            <a:lvl4pPr marL="1619885" indent="0">
              <a:buNone/>
              <a:defRPr sz="2360"/>
            </a:lvl4pPr>
            <a:lvl5pPr marL="2160270" indent="0">
              <a:buNone/>
              <a:defRPr sz="2360"/>
            </a:lvl5pPr>
            <a:lvl6pPr marL="2700020" indent="0">
              <a:buNone/>
              <a:defRPr sz="2360"/>
            </a:lvl6pPr>
            <a:lvl7pPr marL="3239770" indent="0">
              <a:buNone/>
              <a:defRPr sz="2360"/>
            </a:lvl7pPr>
            <a:lvl8pPr marL="3780155" indent="0">
              <a:buNone/>
              <a:defRPr sz="2360"/>
            </a:lvl8pPr>
            <a:lvl9pPr marL="4319905" indent="0">
              <a:buNone/>
              <a:defRPr sz="2360"/>
            </a:lvl9pPr>
          </a:lstStyle>
          <a:p>
            <a:endParaRPr lang="zh-CN" altLang="en-US" dirty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769874" y="2430000"/>
            <a:ext cx="4919528" cy="4501876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None/>
              <a:defRPr sz="1890"/>
            </a:lvl1pPr>
            <a:lvl2pPr marL="539750" indent="0">
              <a:buNone/>
              <a:defRPr sz="1655"/>
            </a:lvl2pPr>
            <a:lvl3pPr marL="1080135" indent="0">
              <a:buNone/>
              <a:defRPr sz="1415"/>
            </a:lvl3pPr>
            <a:lvl4pPr marL="1619885" indent="0">
              <a:buNone/>
              <a:defRPr sz="1180"/>
            </a:lvl4pPr>
            <a:lvl5pPr marL="2160270" indent="0">
              <a:buNone/>
              <a:defRPr sz="1180"/>
            </a:lvl5pPr>
            <a:lvl6pPr marL="2700020" indent="0">
              <a:buNone/>
              <a:defRPr sz="1180"/>
            </a:lvl6pPr>
            <a:lvl7pPr marL="3239770" indent="0">
              <a:buNone/>
              <a:defRPr sz="1180"/>
            </a:lvl7pPr>
            <a:lvl8pPr marL="3780155" indent="0">
              <a:buNone/>
              <a:defRPr sz="1180"/>
            </a:lvl8pPr>
            <a:lvl9pPr marL="4319905" indent="0">
              <a:buNone/>
              <a:defRPr sz="1180"/>
            </a:lvl9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11603722" y="431250"/>
            <a:ext cx="1806279" cy="6864376"/>
          </a:xfrm>
        </p:spPr>
        <p:txBody>
          <a:bodyPr vert="eaVert">
            <a:normAutofit/>
          </a:bodyPr>
          <a:lstStyle>
            <a:lvl1pPr>
              <a:defRPr sz="4250"/>
            </a:lvl1pPr>
          </a:lstStyle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90000" y="431250"/>
            <a:ext cx="10488140" cy="6864376"/>
          </a:xfrm>
        </p:spPr>
        <p:txBody>
          <a:bodyPr vert="eaVert"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990000" y="651429"/>
            <a:ext cx="12420000" cy="6565714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1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990000" y="431250"/>
            <a:ext cx="12420000" cy="156562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990000" y="2156250"/>
            <a:ext cx="12420000" cy="513937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990000" y="7507500"/>
            <a:ext cx="324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770000" y="7507500"/>
            <a:ext cx="486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10170000" y="7507500"/>
            <a:ext cx="3240000" cy="431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415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txStyles>
    <p:titleStyle>
      <a:lvl1pPr algn="l" defTabSz="1080135" rtl="0" eaLnBrk="1" latinLnBrk="0" hangingPunct="1">
        <a:lnSpc>
          <a:spcPct val="90000"/>
        </a:lnSpc>
        <a:spcBef>
          <a:spcPct val="0"/>
        </a:spcBef>
        <a:buNone/>
        <a:defRPr sz="47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j-cs"/>
        </a:defRPr>
      </a:lvl1pPr>
    </p:titleStyle>
    <p:bodyStyle>
      <a:lvl1pPr marL="269875" indent="-269875" algn="l" defTabSz="1080135" rtl="0" eaLnBrk="1" latinLnBrk="0" hangingPunct="1">
        <a:lnSpc>
          <a:spcPct val="90000"/>
        </a:lnSpc>
        <a:spcBef>
          <a:spcPts val="1180"/>
        </a:spcBef>
        <a:buFont typeface="Arial" panose="020B0604020202020204" pitchFamily="34" charset="0"/>
        <a:buChar char="•"/>
        <a:defRPr sz="283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1pPr>
      <a:lvl2pPr marL="81026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36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2pPr>
      <a:lvl3pPr marL="135001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3pPr>
      <a:lvl4pPr marL="188976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4pPr>
      <a:lvl5pPr marL="2430145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+mn-cs"/>
        </a:defRPr>
      </a:lvl5pPr>
      <a:lvl6pPr marL="2969895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6pPr>
      <a:lvl7pPr marL="351028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7pPr>
      <a:lvl8pPr marL="405003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8pPr>
      <a:lvl9pPr marL="4589780" indent="-269875" algn="l" defTabSz="1080135" rtl="0" eaLnBrk="1" latinLnBrk="0" hangingPunct="1">
        <a:lnSpc>
          <a:spcPct val="90000"/>
        </a:lnSpc>
        <a:spcBef>
          <a:spcPts val="590"/>
        </a:spcBef>
        <a:buFont typeface="Arial" panose="020B0604020202020204" pitchFamily="34" charset="0"/>
        <a:buChar char="•"/>
        <a:defRPr sz="212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2pPr>
      <a:lvl3pPr marL="108013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3pPr>
      <a:lvl4pPr marL="161988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4pPr>
      <a:lvl5pPr marL="216027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5pPr>
      <a:lvl6pPr marL="270002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6pPr>
      <a:lvl7pPr marL="3239770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7pPr>
      <a:lvl8pPr marL="378015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8pPr>
      <a:lvl9pPr marL="4319905" algn="l" defTabSz="1080135" rtl="0" eaLnBrk="1" latinLnBrk="0" hangingPunct="1">
        <a:defRPr sz="212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1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.png"/><Relationship Id="rId8" Type="http://schemas.openxmlformats.org/officeDocument/2006/relationships/image" Target="../media/image16.png"/><Relationship Id="rId7" Type="http://schemas.openxmlformats.org/officeDocument/2006/relationships/image" Target="../media/image15.png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3" Type="http://schemas.openxmlformats.org/officeDocument/2006/relationships/notesSlide" Target="../notesSlides/notesSlide2.xml"/><Relationship Id="rId12" Type="http://schemas.openxmlformats.org/officeDocument/2006/relationships/slideLayout" Target="../slideLayouts/slideLayout1.xml"/><Relationship Id="rId11" Type="http://schemas.openxmlformats.org/officeDocument/2006/relationships/image" Target="../media/image19.png"/><Relationship Id="rId10" Type="http://schemas.openxmlformats.org/officeDocument/2006/relationships/image" Target="../media/image18.png"/><Relationship Id="rId1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image" Target="../media/image21.png"/><Relationship Id="rId1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7.xml"/><Relationship Id="rId8" Type="http://schemas.openxmlformats.org/officeDocument/2006/relationships/image" Target="../media/image29.png"/><Relationship Id="rId7" Type="http://schemas.openxmlformats.org/officeDocument/2006/relationships/image" Target="../media/image28.png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34.png"/><Relationship Id="rId8" Type="http://schemas.openxmlformats.org/officeDocument/2006/relationships/image" Target="../media/image15.png"/><Relationship Id="rId7" Type="http://schemas.openxmlformats.org/officeDocument/2006/relationships/image" Target="../media/image14.png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33.png"/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30.png"/></Relationships>
</file>

<file path=ppt/slides/_rels/slide8.xml.rels><?xml version="1.0" encoding="UTF-8" standalone="yes"?>
<Relationships xmlns="http://schemas.openxmlformats.org/package/2006/relationships"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36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35.png"/></Relationships>
</file>

<file path=ppt/slides/_rels/slide9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44.png"/><Relationship Id="rId7" Type="http://schemas.openxmlformats.org/officeDocument/2006/relationships/image" Target="../media/image43.png"/><Relationship Id="rId6" Type="http://schemas.openxmlformats.org/officeDocument/2006/relationships/image" Target="../media/image42.png"/><Relationship Id="rId5" Type="http://schemas.openxmlformats.org/officeDocument/2006/relationships/image" Target="../media/image41.png"/><Relationship Id="rId4" Type="http://schemas.openxmlformats.org/officeDocument/2006/relationships/image" Target="../media/image40.png"/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image" Target="../media/image3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组合 58"/>
          <p:cNvGrpSpPr/>
          <p:nvPr/>
        </p:nvGrpSpPr>
        <p:grpSpPr>
          <a:xfrm>
            <a:off x="1930135" y="915640"/>
            <a:ext cx="10486390" cy="6350635"/>
            <a:chOff x="1301" y="464"/>
            <a:chExt cx="16514" cy="10001"/>
          </a:xfrm>
        </p:grpSpPr>
        <p:grpSp>
          <p:nvGrpSpPr>
            <p:cNvPr id="33" name="组合 32"/>
            <p:cNvGrpSpPr/>
            <p:nvPr/>
          </p:nvGrpSpPr>
          <p:grpSpPr>
            <a:xfrm>
              <a:off x="1301" y="1635"/>
              <a:ext cx="16514" cy="6542"/>
              <a:chOff x="0" y="1154"/>
              <a:chExt cx="19116" cy="7572"/>
            </a:xfrm>
          </p:grpSpPr>
          <p:pic>
            <p:nvPicPr>
              <p:cNvPr id="6" name="图片 5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0" y="1154"/>
                <a:ext cx="19116" cy="7538"/>
              </a:xfrm>
              <a:prstGeom prst="rect">
                <a:avLst/>
              </a:prstGeom>
            </p:spPr>
          </p:pic>
          <p:sp>
            <p:nvSpPr>
              <p:cNvPr id="7" name="矩形 6"/>
              <p:cNvSpPr/>
              <p:nvPr/>
            </p:nvSpPr>
            <p:spPr>
              <a:xfrm>
                <a:off x="161" y="1193"/>
                <a:ext cx="630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8" name="矩形 7"/>
              <p:cNvSpPr/>
              <p:nvPr/>
            </p:nvSpPr>
            <p:spPr>
              <a:xfrm rot="5400000">
                <a:off x="4742" y="4127"/>
                <a:ext cx="630" cy="8533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9" name="矩形 8"/>
              <p:cNvSpPr/>
              <p:nvPr/>
            </p:nvSpPr>
            <p:spPr>
              <a:xfrm>
                <a:off x="9418" y="1193"/>
                <a:ext cx="986" cy="7499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0" name="矩形 9"/>
              <p:cNvSpPr/>
              <p:nvPr/>
            </p:nvSpPr>
            <p:spPr>
              <a:xfrm rot="5400000">
                <a:off x="14022" y="3732"/>
                <a:ext cx="630" cy="9357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</p:grpSp>
        <p:grpSp>
          <p:nvGrpSpPr>
            <p:cNvPr id="56" name="组合 55"/>
            <p:cNvGrpSpPr/>
            <p:nvPr/>
          </p:nvGrpSpPr>
          <p:grpSpPr>
            <a:xfrm>
              <a:off x="1984" y="8434"/>
              <a:ext cx="15595" cy="2031"/>
              <a:chOff x="2352" y="8858"/>
              <a:chExt cx="15488" cy="2031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2016</a:t>
                </a:r>
                <a:endParaRPr lang="en-US" altLang="zh-CN" sz="1600"/>
              </a:p>
            </p:txBody>
          </p:sp>
          <p:sp>
            <p:nvSpPr>
              <p:cNvPr id="4" name="文本框 3"/>
              <p:cNvSpPr txBox="1"/>
              <p:nvPr/>
            </p:nvSpPr>
            <p:spPr>
              <a:xfrm>
                <a:off x="13434" y="8858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2016</a:t>
                </a:r>
                <a:endParaRPr lang="en-US" altLang="zh-CN" sz="1600"/>
              </a:p>
            </p:txBody>
          </p:sp>
          <p:sp>
            <p:nvSpPr>
              <p:cNvPr id="11" name="椭圆 10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1F77B4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2" name="椭圆 11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1F77B4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3" name="文本框 12"/>
              <p:cNvSpPr txBox="1"/>
              <p:nvPr/>
            </p:nvSpPr>
            <p:spPr>
              <a:xfrm>
                <a:off x="13434" y="9349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2023</a:t>
                </a:r>
                <a:endParaRPr lang="en-US" altLang="zh-CN" sz="1600"/>
              </a:p>
            </p:txBody>
          </p:sp>
          <p:sp>
            <p:nvSpPr>
              <p:cNvPr id="14" name="文本框 13"/>
              <p:cNvSpPr txBox="1"/>
              <p:nvPr/>
            </p:nvSpPr>
            <p:spPr>
              <a:xfrm>
                <a:off x="2848" y="8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2016</a:t>
                </a:r>
                <a:endParaRPr lang="en-US" altLang="zh-CN" sz="1600"/>
              </a:p>
            </p:txBody>
          </p:sp>
          <p:sp>
            <p:nvSpPr>
              <p:cNvPr id="15" name="椭圆 14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9467BD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16" name="椭圆 15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9467BD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17" name="文本框 16"/>
              <p:cNvSpPr txBox="1"/>
              <p:nvPr/>
            </p:nvSpPr>
            <p:spPr>
              <a:xfrm>
                <a:off x="2848" y="9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2023</a:t>
                </a:r>
                <a:endParaRPr lang="en-US" altLang="zh-CN" sz="1600"/>
              </a:p>
            </p:txBody>
          </p:sp>
          <p:sp>
            <p:nvSpPr>
              <p:cNvPr id="18" name="文本框 17"/>
              <p:cNvSpPr txBox="1"/>
              <p:nvPr/>
            </p:nvSpPr>
            <p:spPr>
              <a:xfrm>
                <a:off x="7053" y="8858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South&amp;South-east Asia, 2016</a:t>
                </a:r>
                <a:endParaRPr lang="en-US" altLang="zh-CN" sz="1600"/>
              </a:p>
            </p:txBody>
          </p:sp>
          <p:sp>
            <p:nvSpPr>
              <p:cNvPr id="19" name="椭圆 18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2CA02C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0" name="椭圆 19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2CA02C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21" name="文本框 20"/>
              <p:cNvSpPr txBox="1"/>
              <p:nvPr/>
            </p:nvSpPr>
            <p:spPr>
              <a:xfrm>
                <a:off x="7053" y="9345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/>
              </a:p>
            </p:txBody>
          </p:sp>
          <p:sp>
            <p:nvSpPr>
              <p:cNvPr id="22" name="乘号 21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9467BD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3" name="文本框 22"/>
              <p:cNvSpPr txBox="1"/>
              <p:nvPr/>
            </p:nvSpPr>
            <p:spPr>
              <a:xfrm>
                <a:off x="2848" y="9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2016</a:t>
                </a:r>
                <a:endParaRPr lang="en-US" altLang="zh-CN" sz="1600"/>
              </a:p>
            </p:txBody>
          </p:sp>
          <p:sp>
            <p:nvSpPr>
              <p:cNvPr id="24" name="乘号 23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9467BD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5" name="文本框 24"/>
              <p:cNvSpPr txBox="1"/>
              <p:nvPr/>
            </p:nvSpPr>
            <p:spPr>
              <a:xfrm>
                <a:off x="2848" y="10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2023</a:t>
                </a:r>
                <a:endParaRPr lang="en-US" altLang="zh-CN" sz="1600"/>
              </a:p>
            </p:txBody>
          </p:sp>
          <p:sp>
            <p:nvSpPr>
              <p:cNvPr id="26" name="乘号 25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2CA02C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7" name="文本框 26"/>
              <p:cNvSpPr txBox="1"/>
              <p:nvPr/>
            </p:nvSpPr>
            <p:spPr>
              <a:xfrm>
                <a:off x="7053" y="9832"/>
                <a:ext cx="5582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2016</a:t>
                </a:r>
                <a:endParaRPr lang="zh-CN" altLang="en-US" sz="16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28" name="乘号 27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2CA02C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29" name="文本框 28"/>
              <p:cNvSpPr txBox="1"/>
              <p:nvPr/>
            </p:nvSpPr>
            <p:spPr>
              <a:xfrm>
                <a:off x="7053" y="10319"/>
                <a:ext cx="5581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2023</a:t>
                </a:r>
                <a:endParaRPr lang="en-US" altLang="zh-CN" sz="1600"/>
              </a:p>
            </p:txBody>
          </p:sp>
          <p:sp>
            <p:nvSpPr>
              <p:cNvPr id="31" name="乘号 30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1F77B4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34" name="乘号 33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1F77B4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35" name="文本框 34"/>
              <p:cNvSpPr txBox="1"/>
              <p:nvPr/>
            </p:nvSpPr>
            <p:spPr>
              <a:xfrm>
                <a:off x="13434" y="10331"/>
                <a:ext cx="422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2023</a:t>
                </a:r>
                <a:endParaRPr lang="en-US" altLang="zh-CN" sz="160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1974" y="464"/>
                  <a:ext cx="7243" cy="13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rPr>
                    <a:t>Structural Zero Params</a:t>
                  </a:r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𝜑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𝛼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𝛽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74" y="464"/>
                  <a:ext cx="7243" cy="1307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5263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50%</a:t>
              </a:r>
              <a:endParaRPr lang="en-US" altLang="zh-CN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394" y="7617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100%</a:t>
              </a:r>
              <a:endParaRPr lang="en-US" altLang="zh-CN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06" y="7601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424" y="165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0.6</a:t>
              </a:r>
              <a:endParaRPr lang="en-US" altLang="zh-CN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415" y="484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0.3</a:t>
              </a:r>
              <a:endParaRPr lang="en-US" altLang="zh-CN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441" y="1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173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6" name="文本框 45"/>
            <p:cNvSpPr txBox="1"/>
            <p:nvPr/>
          </p:nvSpPr>
          <p:spPr>
            <a:xfrm>
              <a:off x="16838" y="7632"/>
              <a:ext cx="7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70%</a:t>
              </a:r>
              <a:endParaRPr lang="en-US" altLang="zh-CN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7670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20%</a:t>
              </a:r>
              <a:endParaRPr lang="en-US" altLang="zh-CN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66" y="2267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4691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4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398" y="7985"/>
              <a:ext cx="318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2" name="文本框 51"/>
                <p:cNvSpPr txBox="1"/>
                <p:nvPr/>
              </p:nvSpPr>
              <p:spPr>
                <a:xfrm>
                  <a:off x="10288" y="464"/>
                  <a:ext cx="7293" cy="130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>
                      <a:latin typeface="Arial" panose="020B0604020202020204" pitchFamily="34" charset="0"/>
                      <a:cs typeface="Arial" panose="020B0604020202020204" pitchFamily="34" charset="0"/>
                    </a:rPr>
                    <a:t>Actual Construction Params</a:t>
                  </a:r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𝜋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𝑙𝑜𝑔𝑖𝑠𝑡𝑖𝑐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𝜅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𝛿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52" name="文本框 5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288" y="464"/>
                  <a:ext cx="7293" cy="1307"/>
                </a:xfrm>
                <a:prstGeom prst="rect">
                  <a:avLst/>
                </a:prstGeom>
                <a:blipFill rotWithShape="1">
                  <a:blip r:embed="rId3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3" name="文本框 52"/>
            <p:cNvSpPr txBox="1"/>
            <p:nvPr/>
          </p:nvSpPr>
          <p:spPr>
            <a:xfrm>
              <a:off x="14149" y="7644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50%</a:t>
              </a:r>
              <a:endParaRPr lang="en-US" altLang="zh-CN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076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781" y="4616"/>
              <a:ext cx="257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475"/>
              <a:ext cx="2574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组合 4"/>
          <p:cNvGrpSpPr/>
          <p:nvPr/>
        </p:nvGrpSpPr>
        <p:grpSpPr>
          <a:xfrm rot="0">
            <a:off x="1950720" y="693420"/>
            <a:ext cx="10474960" cy="6572885"/>
            <a:chOff x="1333" y="114"/>
            <a:chExt cx="16496" cy="10351"/>
          </a:xfrm>
        </p:grpSpPr>
        <p:grpSp>
          <p:nvGrpSpPr>
            <p:cNvPr id="30" name="组合 29"/>
            <p:cNvGrpSpPr/>
            <p:nvPr/>
          </p:nvGrpSpPr>
          <p:grpSpPr>
            <a:xfrm>
              <a:off x="1333" y="114"/>
              <a:ext cx="16496" cy="10351"/>
              <a:chOff x="1333" y="114"/>
              <a:chExt cx="16496" cy="10351"/>
            </a:xfrm>
          </p:grpSpPr>
          <p:pic>
            <p:nvPicPr>
              <p:cNvPr id="3" name="图片 2"/>
              <p:cNvPicPr/>
              <p:nvPr/>
            </p:nvPicPr>
            <p:blipFill>
              <a:blip r:embed="rId1"/>
              <a:stretch>
                <a:fillRect/>
              </a:stretch>
            </p:blipFill>
            <p:spPr>
              <a:xfrm>
                <a:off x="1333" y="1508"/>
                <a:ext cx="16496" cy="6670"/>
              </a:xfrm>
              <a:prstGeom prst="rect">
                <a:avLst/>
              </a:prstGeom>
            </p:spPr>
          </p:pic>
          <p:grpSp>
            <p:nvGrpSpPr>
              <p:cNvPr id="33" name="组合 32"/>
              <p:cNvGrpSpPr/>
              <p:nvPr/>
            </p:nvGrpSpPr>
            <p:grpSpPr>
              <a:xfrm rot="0">
                <a:off x="1440" y="1669"/>
                <a:ext cx="16289" cy="6551"/>
                <a:chOff x="161" y="1193"/>
                <a:chExt cx="18855" cy="7582"/>
              </a:xfrm>
            </p:grpSpPr>
            <p:sp>
              <p:nvSpPr>
                <p:cNvPr id="7" name="矩形 6"/>
                <p:cNvSpPr/>
                <p:nvPr/>
              </p:nvSpPr>
              <p:spPr>
                <a:xfrm>
                  <a:off x="161" y="1193"/>
                  <a:ext cx="630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8" name="矩形 7"/>
                <p:cNvSpPr/>
                <p:nvPr/>
              </p:nvSpPr>
              <p:spPr>
                <a:xfrm rot="5400000">
                  <a:off x="4742" y="4193"/>
                  <a:ext cx="630" cy="8533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9" name="矩形 8"/>
                <p:cNvSpPr/>
                <p:nvPr/>
              </p:nvSpPr>
              <p:spPr>
                <a:xfrm>
                  <a:off x="9418" y="1193"/>
                  <a:ext cx="986" cy="7499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0" name="矩形 9"/>
                <p:cNvSpPr/>
                <p:nvPr/>
              </p:nvSpPr>
              <p:spPr>
                <a:xfrm rot="5400000">
                  <a:off x="14022" y="3732"/>
                  <a:ext cx="630" cy="9357"/>
                </a:xfrm>
                <a:prstGeom prst="rect">
                  <a:avLst/>
                </a:prstGeom>
                <a:solidFill>
                  <a:schemeClr val="bg1"/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</p:grpSp>
          <p:grpSp>
            <p:nvGrpSpPr>
              <p:cNvPr id="56" name="组合 55"/>
              <p:cNvGrpSpPr/>
              <p:nvPr/>
            </p:nvGrpSpPr>
            <p:grpSpPr>
              <a:xfrm rot="0">
                <a:off x="1984" y="8434"/>
                <a:ext cx="15595" cy="2031"/>
                <a:chOff x="2352" y="8858"/>
                <a:chExt cx="15488" cy="2031"/>
              </a:xfrm>
            </p:grpSpPr>
            <p:sp>
              <p:nvSpPr>
                <p:cNvPr id="32" name="文本框 31"/>
                <p:cNvSpPr txBox="1"/>
                <p:nvPr/>
              </p:nvSpPr>
              <p:spPr>
                <a:xfrm>
                  <a:off x="13434" y="9840"/>
                  <a:ext cx="440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 Mean, 2016</a:t>
                  </a:r>
                  <a:endParaRPr lang="en-US" altLang="zh-CN" sz="1600"/>
                </a:p>
              </p:txBody>
            </p:sp>
            <p:sp>
              <p:nvSpPr>
                <p:cNvPr id="4" name="文本框 3"/>
                <p:cNvSpPr txBox="1"/>
                <p:nvPr/>
              </p:nvSpPr>
              <p:spPr>
                <a:xfrm>
                  <a:off x="13434" y="8858"/>
                  <a:ext cx="314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America, 2016</a:t>
                  </a:r>
                  <a:endParaRPr lang="en-US" altLang="zh-CN" sz="1600"/>
                </a:p>
              </p:txBody>
            </p:sp>
            <p:sp>
              <p:nvSpPr>
                <p:cNvPr id="11" name="椭圆 10"/>
                <p:cNvSpPr/>
                <p:nvPr/>
              </p:nvSpPr>
              <p:spPr>
                <a:xfrm>
                  <a:off x="13067" y="8972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2" name="椭圆 11"/>
                <p:cNvSpPr/>
                <p:nvPr/>
              </p:nvSpPr>
              <p:spPr>
                <a:xfrm>
                  <a:off x="13067" y="9435"/>
                  <a:ext cx="255" cy="255"/>
                </a:xfrm>
                <a:prstGeom prst="ellipse">
                  <a:avLst/>
                </a:prstGeom>
                <a:solidFill>
                  <a:srgbClr val="47A2DE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3" name="文本框 12"/>
                <p:cNvSpPr txBox="1"/>
                <p:nvPr/>
              </p:nvSpPr>
              <p:spPr>
                <a:xfrm>
                  <a:off x="13434" y="9349"/>
                  <a:ext cx="314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America, 2023</a:t>
                  </a:r>
                  <a:endParaRPr lang="en-US" altLang="zh-CN" sz="1600"/>
                </a:p>
              </p:txBody>
            </p:sp>
            <p:sp>
              <p:nvSpPr>
                <p:cNvPr id="14" name="文本框 13"/>
                <p:cNvSpPr txBox="1"/>
                <p:nvPr/>
              </p:nvSpPr>
              <p:spPr>
                <a:xfrm>
                  <a:off x="2848" y="88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Africa, 2016</a:t>
                  </a:r>
                  <a:endParaRPr lang="en-US" altLang="zh-CN" sz="1600"/>
                </a:p>
              </p:txBody>
            </p:sp>
            <p:sp>
              <p:nvSpPr>
                <p:cNvPr id="15" name="椭圆 14"/>
                <p:cNvSpPr/>
                <p:nvPr/>
              </p:nvSpPr>
              <p:spPr>
                <a:xfrm>
                  <a:off x="2465" y="8972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9467BD"/>
                    </a:solidFill>
                  </a:endParaRPr>
                </a:p>
              </p:txBody>
            </p:sp>
            <p:sp>
              <p:nvSpPr>
                <p:cNvPr id="16" name="椭圆 15"/>
                <p:cNvSpPr/>
                <p:nvPr/>
              </p:nvSpPr>
              <p:spPr>
                <a:xfrm>
                  <a:off x="2465" y="9435"/>
                  <a:ext cx="255" cy="255"/>
                </a:xfrm>
                <a:prstGeom prst="ellipse">
                  <a:avLst/>
                </a:prstGeom>
                <a:solidFill>
                  <a:srgbClr val="E85748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17" name="文本框 16"/>
                <p:cNvSpPr txBox="1"/>
                <p:nvPr/>
              </p:nvSpPr>
              <p:spPr>
                <a:xfrm>
                  <a:off x="2848" y="93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Africa, 2023</a:t>
                  </a:r>
                  <a:endParaRPr lang="en-US" altLang="zh-CN" sz="1600"/>
                </a:p>
              </p:txBody>
            </p:sp>
            <p:sp>
              <p:nvSpPr>
                <p:cNvPr id="18" name="文本框 17"/>
                <p:cNvSpPr txBox="1"/>
                <p:nvPr/>
              </p:nvSpPr>
              <p:spPr>
                <a:xfrm>
                  <a:off x="7053" y="8858"/>
                  <a:ext cx="452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South&amp;South-east Asia, 2016</a:t>
                  </a:r>
                  <a:endParaRPr lang="en-US" altLang="zh-CN" sz="1600"/>
                </a:p>
              </p:txBody>
            </p:sp>
            <p:sp>
              <p:nvSpPr>
                <p:cNvPr id="19" name="椭圆 18"/>
                <p:cNvSpPr/>
                <p:nvPr/>
              </p:nvSpPr>
              <p:spPr>
                <a:xfrm>
                  <a:off x="6647" y="8972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3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20" name="椭圆 19"/>
                <p:cNvSpPr/>
                <p:nvPr/>
              </p:nvSpPr>
              <p:spPr>
                <a:xfrm>
                  <a:off x="6647" y="9435"/>
                  <a:ext cx="255" cy="255"/>
                </a:xfrm>
                <a:prstGeom prst="ellipse">
                  <a:avLst/>
                </a:prstGeom>
                <a:solidFill>
                  <a:srgbClr val="F39F1B">
                    <a:alpha val="60000"/>
                  </a:srgbClr>
                </a:solidFill>
                <a:ln>
                  <a:noFill/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/>
                </a:p>
              </p:txBody>
            </p:sp>
            <p:sp>
              <p:nvSpPr>
                <p:cNvPr id="21" name="文本框 20"/>
                <p:cNvSpPr txBox="1"/>
                <p:nvPr/>
              </p:nvSpPr>
              <p:spPr>
                <a:xfrm>
                  <a:off x="7053" y="9345"/>
                  <a:ext cx="4526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Asia, 2023</a:t>
                  </a:r>
                  <a:endParaRPr lang="en-US" altLang="zh-CN" sz="1600"/>
                </a:p>
              </p:txBody>
            </p:sp>
            <p:sp>
              <p:nvSpPr>
                <p:cNvPr id="22" name="乘号 21"/>
                <p:cNvSpPr/>
                <p:nvPr/>
              </p:nvSpPr>
              <p:spPr>
                <a:xfrm>
                  <a:off x="2352" y="9845"/>
                  <a:ext cx="480" cy="480"/>
                </a:xfrm>
                <a:prstGeom prst="mathMultiply">
                  <a:avLst/>
                </a:prstGeom>
                <a:solidFill>
                  <a:srgbClr val="E85748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3" name="文本框 22"/>
                <p:cNvSpPr txBox="1"/>
                <p:nvPr/>
              </p:nvSpPr>
              <p:spPr>
                <a:xfrm>
                  <a:off x="2848" y="98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 Mean, 2016</a:t>
                  </a:r>
                  <a:endParaRPr lang="en-US" altLang="zh-CN" sz="1600"/>
                </a:p>
              </p:txBody>
            </p:sp>
            <p:sp>
              <p:nvSpPr>
                <p:cNvPr id="24" name="乘号 23"/>
                <p:cNvSpPr/>
                <p:nvPr/>
              </p:nvSpPr>
              <p:spPr>
                <a:xfrm>
                  <a:off x="2352" y="10359"/>
                  <a:ext cx="480" cy="480"/>
                </a:xfrm>
                <a:prstGeom prst="mathMultiply">
                  <a:avLst/>
                </a:prstGeom>
                <a:solidFill>
                  <a:srgbClr val="E85748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5" name="文本框 24"/>
                <p:cNvSpPr txBox="1"/>
                <p:nvPr/>
              </p:nvSpPr>
              <p:spPr>
                <a:xfrm>
                  <a:off x="2848" y="10358"/>
                  <a:ext cx="3205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Africa Mean, 2023</a:t>
                  </a:r>
                  <a:endParaRPr lang="en-US" altLang="zh-CN" sz="1600"/>
                </a:p>
              </p:txBody>
            </p:sp>
            <p:sp>
              <p:nvSpPr>
                <p:cNvPr id="26" name="乘号 25"/>
                <p:cNvSpPr/>
                <p:nvPr/>
              </p:nvSpPr>
              <p:spPr>
                <a:xfrm>
                  <a:off x="6534" y="9845"/>
                  <a:ext cx="480" cy="480"/>
                </a:xfrm>
                <a:prstGeom prst="mathMultiply">
                  <a:avLst/>
                </a:prstGeom>
                <a:solidFill>
                  <a:srgbClr val="F39F1B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7" name="文本框 26"/>
                <p:cNvSpPr txBox="1"/>
                <p:nvPr/>
              </p:nvSpPr>
              <p:spPr>
                <a:xfrm>
                  <a:off x="7053" y="9832"/>
                  <a:ext cx="5582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 Mean, 2016</a:t>
                  </a:r>
                  <a:endParaRPr lang="zh-CN" altLang="en-US" sz="1600">
                    <a:ea typeface="宋体" panose="02010600030101010101" pitchFamily="2" charset="-122"/>
                    <a:sym typeface="+mn-ea"/>
                  </a:endParaRPr>
                </a:p>
              </p:txBody>
            </p:sp>
            <p:sp>
              <p:nvSpPr>
                <p:cNvPr id="28" name="乘号 27"/>
                <p:cNvSpPr/>
                <p:nvPr/>
              </p:nvSpPr>
              <p:spPr>
                <a:xfrm>
                  <a:off x="6534" y="10359"/>
                  <a:ext cx="480" cy="480"/>
                </a:xfrm>
                <a:prstGeom prst="mathMultiply">
                  <a:avLst/>
                </a:prstGeom>
                <a:solidFill>
                  <a:srgbClr val="F39F1B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29" name="文本框 28"/>
                <p:cNvSpPr txBox="1"/>
                <p:nvPr/>
              </p:nvSpPr>
              <p:spPr>
                <a:xfrm>
                  <a:off x="7053" y="10319"/>
                  <a:ext cx="5581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>
                      <a:sym typeface="+mn-ea"/>
                    </a:rPr>
                    <a:t>South&amp;South-east Asia Mean, 2023</a:t>
                  </a:r>
                  <a:endParaRPr lang="en-US" altLang="zh-CN" sz="1600"/>
                </a:p>
              </p:txBody>
            </p:sp>
            <p:sp>
              <p:nvSpPr>
                <p:cNvPr id="31" name="乘号 30"/>
                <p:cNvSpPr/>
                <p:nvPr/>
              </p:nvSpPr>
              <p:spPr>
                <a:xfrm>
                  <a:off x="12954" y="9845"/>
                  <a:ext cx="480" cy="480"/>
                </a:xfrm>
                <a:prstGeom prst="mathMultiply">
                  <a:avLst/>
                </a:prstGeom>
                <a:solidFill>
                  <a:srgbClr val="47A2DE">
                    <a:alpha val="80000"/>
                  </a:srgbClr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4" name="乘号 33"/>
                <p:cNvSpPr/>
                <p:nvPr/>
              </p:nvSpPr>
              <p:spPr>
                <a:xfrm>
                  <a:off x="12954" y="10359"/>
                  <a:ext cx="480" cy="480"/>
                </a:xfrm>
                <a:prstGeom prst="mathMultiply">
                  <a:avLst/>
                </a:prstGeom>
                <a:solidFill>
                  <a:srgbClr val="47A2DE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lumMod val="75000"/>
                  </a:schemeClr>
                </a:lnRef>
                <a:fillRef idx="1">
                  <a:schemeClr val="accent1"/>
                </a:fillRef>
                <a:effectRef idx="0">
                  <a:srgbClr val="FFFFFF"/>
                </a:effectRef>
                <a:fontRef idx="minor">
                  <a:schemeClr val="lt1"/>
                </a:fontRef>
              </p:style>
              <p:txBody>
                <a:bodyPr rtlCol="0" anchor="ctr"/>
                <a:p>
                  <a:pPr algn="ctr"/>
                  <a:endParaRPr lang="zh-CN" altLang="en-US">
                    <a:solidFill>
                      <a:srgbClr val="A985CA"/>
                    </a:solidFill>
                  </a:endParaRPr>
                </a:p>
              </p:txBody>
            </p:sp>
            <p:sp>
              <p:nvSpPr>
                <p:cNvPr id="35" name="文本框 34"/>
                <p:cNvSpPr txBox="1"/>
                <p:nvPr/>
              </p:nvSpPr>
              <p:spPr>
                <a:xfrm>
                  <a:off x="13434" y="10331"/>
                  <a:ext cx="4228" cy="531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r>
                    <a:rPr lang="en-US" altLang="zh-CN" sz="1600"/>
                    <a:t>Latin America Mean, 2023</a:t>
                  </a:r>
                  <a:endParaRPr lang="en-US" altLang="zh-CN" sz="1600"/>
                </a:p>
              </p:txBody>
            </p:sp>
          </p:grp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36" name="文本框 35"/>
                  <p:cNvSpPr txBox="1"/>
                  <p:nvPr/>
                </p:nvSpPr>
                <p:spPr>
                  <a:xfrm>
                    <a:off x="1974" y="658"/>
                    <a:ext cx="724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Structural Zero</a:t>
                    </a:r>
                    <a:endParaRPr lang="en-US" altLang="zh-CN" sz="2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𝜑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𝛼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𝛽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36" name="文本框 35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74" y="658"/>
                    <a:ext cx="7243" cy="1113"/>
                  </a:xfrm>
                  <a:prstGeom prst="rect">
                    <a:avLst/>
                  </a:prstGeom>
                  <a:blipFill rotWithShape="1">
                    <a:blip r:embed="rId2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7" name="文本框 36"/>
              <p:cNvSpPr txBox="1"/>
              <p:nvPr/>
            </p:nvSpPr>
            <p:spPr>
              <a:xfrm>
                <a:off x="5263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50%</a:t>
                </a:r>
                <a:endParaRPr lang="en-US" altLang="zh-CN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8394" y="7617"/>
                <a:ext cx="10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100%</a:t>
                </a:r>
                <a:endParaRPr lang="en-US" altLang="zh-CN"/>
              </a:p>
            </p:txBody>
          </p:sp>
          <p:sp>
            <p:nvSpPr>
              <p:cNvPr id="39" name="文本框 38"/>
              <p:cNvSpPr txBox="1"/>
              <p:nvPr/>
            </p:nvSpPr>
            <p:spPr>
              <a:xfrm>
                <a:off x="1706" y="7601"/>
                <a:ext cx="25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</a:t>
                </a:r>
                <a:endParaRPr lang="en-US" altLang="zh-CN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1424" y="165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0.6</a:t>
                </a:r>
                <a:endParaRPr lang="en-US" altLang="zh-CN"/>
              </a:p>
            </p:txBody>
          </p:sp>
          <p:sp>
            <p:nvSpPr>
              <p:cNvPr id="41" name="文本框 40"/>
              <p:cNvSpPr txBox="1"/>
              <p:nvPr/>
            </p:nvSpPr>
            <p:spPr>
              <a:xfrm>
                <a:off x="1415" y="484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0.3</a:t>
                </a:r>
                <a:endParaRPr lang="en-US" altLang="zh-CN"/>
              </a:p>
            </p:txBody>
          </p:sp>
          <p:sp>
            <p:nvSpPr>
              <p:cNvPr id="42" name="文本框 41"/>
              <p:cNvSpPr txBox="1"/>
              <p:nvPr/>
            </p:nvSpPr>
            <p:spPr>
              <a:xfrm>
                <a:off x="1441" y="1210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ct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β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3" name="文本框 42"/>
              <p:cNvSpPr txBox="1"/>
              <p:nvPr/>
            </p:nvSpPr>
            <p:spPr>
              <a:xfrm>
                <a:off x="6173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probability(α)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16838" y="7632"/>
                <a:ext cx="7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70%</a:t>
                </a:r>
                <a:endParaRPr lang="en-US" altLang="zh-CN"/>
              </a:p>
            </p:txBody>
          </p:sp>
          <p:sp>
            <p:nvSpPr>
              <p:cNvPr id="47" name="文本框 46"/>
              <p:cNvSpPr txBox="1"/>
              <p:nvPr/>
            </p:nvSpPr>
            <p:spPr>
              <a:xfrm>
                <a:off x="10288" y="7670"/>
                <a:ext cx="871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20%</a:t>
                </a:r>
                <a:endParaRPr lang="en-US" altLang="zh-CN"/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9666" y="2267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0</a:t>
                </a:r>
                <a:endParaRPr lang="en-US" altLang="zh-CN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9483" y="4691"/>
                <a:ext cx="77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-0.2</a:t>
                </a:r>
                <a:endParaRPr lang="en-US" altLang="zh-CN"/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9746" y="1403"/>
                <a:ext cx="54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ct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δ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4398" y="7985"/>
                <a:ext cx="3182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 sz="2000" i="1">
                    <a:latin typeface="Arial" panose="020B0604020202020204" pitchFamily="34" charset="0"/>
                    <a:cs typeface="Arial" panose="020B0604020202020204" pitchFamily="34" charset="0"/>
                  </a:rPr>
                  <a:t>probability(κ)</a:t>
                </a:r>
                <a:endParaRPr lang="en-US" altLang="zh-CN" sz="2000" i="1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2" name="文本框 51"/>
                  <p:cNvSpPr txBox="1"/>
                  <p:nvPr/>
                </p:nvSpPr>
                <p:spPr>
                  <a:xfrm>
                    <a:off x="10288" y="658"/>
                    <a:ext cx="7293" cy="111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pPr algn="ctr"/>
                    <a:r>
                      <a:rPr lang="en-US" altLang="zh-CN" sz="2000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Actual Construction</a:t>
                    </a:r>
                    <a:endParaRPr lang="en-US" altLang="zh-CN" sz="2000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𝜋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)=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𝑙𝑜𝑔𝑖𝑠𝑡𝑖𝑐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(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𝜅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+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𝛿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cs typeface="Cambria Math" panose="02040503050406030204" charset="0"/>
                            </a:rPr>
                            <m:t>𝑟</m:t>
                          </m:r>
                          <m:r>
                            <a:rPr lang="en-US" altLang="zh-CN" sz="2000" i="1">
                              <a:latin typeface="Cambria Math" panose="02040503050406030204" charset="0"/>
                              <a:ea typeface="MS Mincho" charset="0"/>
                              <a:cs typeface="Cambria Math" panose="02040503050406030204" charset="0"/>
                            </a:rPr>
                            <m:t>)</m:t>
                          </m:r>
                        </m:oMath>
                      </m:oMathPara>
                    </a14:m>
                    <a:endParaRPr lang="en-US" altLang="zh-CN" sz="2000" i="1">
                      <a:latin typeface="Cambria Math" panose="02040503050406030204" charset="0"/>
                      <a:cs typeface="Cambria Math" panose="02040503050406030204" charset="0"/>
                    </a:endParaRPr>
                  </a:p>
                </p:txBody>
              </p:sp>
            </mc:Choice>
            <mc:Fallback>
              <p:sp>
                <p:nvSpPr>
                  <p:cNvPr id="52" name="文本框 51"/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" y="658"/>
                    <a:ext cx="7293" cy="1113"/>
                  </a:xfrm>
                  <a:prstGeom prst="rect">
                    <a:avLst/>
                  </a:prstGeom>
                  <a:blipFill rotWithShape="1">
                    <a:blip r:embed="rId3"/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53" name="文本框 52"/>
              <p:cNvSpPr txBox="1"/>
              <p:nvPr/>
            </p:nvSpPr>
            <p:spPr>
              <a:xfrm>
                <a:off x="14149" y="7644"/>
                <a:ext cx="885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r>
                  <a:rPr lang="en-US" altLang="zh-CN"/>
                  <a:t>50%</a:t>
                </a:r>
                <a:endParaRPr lang="en-US" altLang="zh-CN"/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9436" y="7076"/>
                <a:ext cx="763" cy="36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noAutofit/>
              </a:bodyPr>
              <a:p>
                <a:pPr algn="r"/>
                <a:r>
                  <a:rPr lang="en-US" altLang="zh-CN"/>
                  <a:t>-0.4</a:t>
                </a:r>
                <a:endParaRPr lang="en-US" altLang="zh-CN"/>
              </a:p>
            </p:txBody>
          </p:sp>
          <p:sp>
            <p:nvSpPr>
              <p:cNvPr id="57" name="文本框 56"/>
              <p:cNvSpPr txBox="1"/>
              <p:nvPr/>
            </p:nvSpPr>
            <p:spPr>
              <a:xfrm>
                <a:off x="6781" y="4584"/>
                <a:ext cx="2574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β = 0.3</a:t>
                </a:r>
                <a:endPara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10380" y="3395"/>
                <a:ext cx="2574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</a:rPr>
                  <a:t>mean </a:t>
                </a:r>
                <a:r>
                  <a:rPr lang="en-US" altLang="zh-CN" sz="1600" i="1">
                    <a:solidFill>
                      <a:schemeClr val="bg1">
                        <a:lumMod val="50000"/>
                      </a:schemeClr>
                    </a:solidFill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δ = -0.09</a:t>
                </a:r>
                <a:endPara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  <p:sp>
            <p:nvSpPr>
              <p:cNvPr id="2" name="文本框 1"/>
              <p:cNvSpPr txBox="1"/>
              <p:nvPr/>
            </p:nvSpPr>
            <p:spPr>
              <a:xfrm>
                <a:off x="1958" y="114"/>
                <a:ext cx="15623" cy="72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algn="ctr"/>
                <a:r>
                  <a:rPr lang="en-US" altLang="zh-CN" sz="2400" b="1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Horizontal Construction Params</a:t>
                </a:r>
                <a:endParaRPr lang="en-US" altLang="zh-CN" sz="2400" b="1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p:grpSp>
        <p:sp>
          <p:nvSpPr>
            <p:cNvPr id="54" name="文本框 53"/>
            <p:cNvSpPr txBox="1"/>
            <p:nvPr/>
          </p:nvSpPr>
          <p:spPr>
            <a:xfrm>
              <a:off x="1984" y="6876"/>
              <a:ext cx="215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Low-Constraint,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0" name="文本框 59"/>
            <p:cNvSpPr txBox="1"/>
            <p:nvPr/>
          </p:nvSpPr>
          <p:spPr>
            <a:xfrm>
              <a:off x="6781" y="1716"/>
              <a:ext cx="2404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r"/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High-Constraint,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1" name="文本框 60"/>
            <p:cNvSpPr txBox="1"/>
            <p:nvPr/>
          </p:nvSpPr>
          <p:spPr>
            <a:xfrm>
              <a:off x="3396" y="1716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Low-Constraint,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2" name="文本框 61"/>
            <p:cNvSpPr txBox="1"/>
            <p:nvPr/>
          </p:nvSpPr>
          <p:spPr>
            <a:xfrm>
              <a:off x="6992" y="4969"/>
              <a:ext cx="215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algn="r"/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</a:rPr>
                <a:t>High-Constraint,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10380" y="1716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0388" y="6840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l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Low-Intensity,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15264" y="1669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Flat-Gradient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5278" y="6839"/>
              <a:ext cx="2211" cy="725"/>
            </a:xfrm>
            <a:prstGeom prst="rect">
              <a:avLst/>
            </a:prstGeom>
          </p:spPr>
          <p:txBody>
            <a:bodyPr wrap="square">
              <a:spAutoFit/>
            </a:bodyPr>
            <a:p>
              <a:pPr lvl="0" algn="r">
                <a:buClrTx/>
                <a:buSzTx/>
                <a:buFontTx/>
              </a:pPr>
              <a:r>
                <a:rPr lang="en-US" altLang="zh-CN" sz="1200" i="1">
                  <a:solidFill>
                    <a:schemeClr val="bg1">
                      <a:lumMod val="50000"/>
                    </a:schemeClr>
                  </a:solidFill>
                  <a:sym typeface="+mn-ea"/>
                </a:rPr>
                <a:t>High-Intensity, Steep-Gradient</a:t>
              </a:r>
              <a:endParaRPr lang="en-US" altLang="zh-CN" sz="1200" i="1">
                <a:solidFill>
                  <a:schemeClr val="bg1">
                    <a:lumMod val="50000"/>
                  </a:schemeClr>
                </a:solidFill>
                <a:sym typeface="+mn-ea"/>
              </a:endParaRPr>
            </a:p>
          </p:txBody>
        </p:sp>
      </p:grpSp>
    </p:spTree>
  </p:cSld>
  <p:clrMapOvr>
    <a:masterClrMapping/>
  </p:clrMapOvr>
  <p:transition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/>
      <p:grpSp>
        <p:nvGrpSpPr>
          <p:cNvPr id="69" name="组合 68"/>
          <p:cNvGrpSpPr/>
          <p:nvPr/>
        </p:nvGrpSpPr>
        <p:grpSpPr>
          <a:xfrm>
            <a:off x="1104000" y="845790"/>
            <a:ext cx="12237720" cy="6249035"/>
            <a:chOff x="0" y="354"/>
            <a:chExt cx="19272" cy="9841"/>
          </a:xfrm>
        </p:grpSpPr>
        <p:pic>
          <p:nvPicPr>
            <p:cNvPr id="4" name="图片 3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0" y="1805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9795" y="-1270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/>
            </a:p>
          </p:txBody>
        </p:sp>
        <p:sp>
          <p:nvSpPr>
            <p:cNvPr id="7" name="矩形 6"/>
            <p:cNvSpPr/>
            <p:nvPr/>
          </p:nvSpPr>
          <p:spPr>
            <a:xfrm>
              <a:off x="0" y="1648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p:sp>
          <p:nvSpPr>
            <p:cNvPr id="5" name="矩形 4"/>
            <p:cNvSpPr/>
            <p:nvPr/>
          </p:nvSpPr>
          <p:spPr>
            <a:xfrm>
              <a:off x="6424" y="1487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p:sp>
          <p:nvSpPr>
            <p:cNvPr id="6" name="矩形 5"/>
            <p:cNvSpPr/>
            <p:nvPr/>
          </p:nvSpPr>
          <p:spPr>
            <a:xfrm>
              <a:off x="12864" y="161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5977" y="354"/>
                  <a:ext cx="7243" cy="129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:pPr algn="ctr"/>
                  <a:r>
                    <a:rPr lang="en-US" altLang="zh-CN" sz="2400" b="1">
                      <a:latin typeface="Arial" panose="020B0604020202020204" pitchFamily="34" charset="0"/>
                      <a:cs typeface="Arial" panose="020B0604020202020204" pitchFamily="34" charset="0"/>
                    </a:rPr>
                    <a:t>Vertical Profile Params</a:t>
                  </a:r>
                  <a:endParaRPr lang="en-US" altLang="zh-CN" sz="2400" b="1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4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4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400">
                    <a:latin typeface="Arial" panose="020B0604020202020204" pitchFamily="34" charset="0"/>
                    <a:cs typeface="Arial" panose="020B0604020202020204" pitchFamily="3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977" y="354"/>
                  <a:ext cx="7243" cy="1294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304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</a:t>
              </a:r>
              <a:endParaRPr lang="en-US" altLang="zh-CN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7" y="6430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212" y="7598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5</a:t>
              </a:r>
              <a:endParaRPr lang="en-US" altLang="zh-CN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5608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259" y="161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4794" y="7598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15</a:t>
              </a:r>
              <a:endParaRPr lang="en-US" altLang="zh-CN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84" y="2751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20" y="4583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9600" y="7638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-0.2</a:t>
              </a:r>
              <a:endParaRPr lang="en-US" altLang="zh-CN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228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-0.02</a:t>
              </a:r>
              <a:endParaRPr lang="en-US" altLang="zh-CN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7759" y="763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-0.4</a:t>
              </a:r>
              <a:endParaRPr lang="en-US" altLang="zh-CN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2060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6934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1624" y="7638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228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6228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0.02</a:t>
              </a:r>
              <a:endParaRPr lang="en-US" altLang="zh-CN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6228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0.04</a:t>
              </a:r>
              <a:endParaRPr lang="en-US" altLang="zh-CN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6228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0.06</a:t>
              </a:r>
              <a:endParaRPr lang="en-US" altLang="zh-CN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590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10</a:t>
              </a:r>
              <a:endParaRPr lang="en-US" altLang="zh-CN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4074" y="765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/>
                <a:t>5</a:t>
              </a:r>
              <a:endParaRPr lang="en-US" altLang="zh-CN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8106" y="7638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zh-CN" altLang="en-US" sz="20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7656" y="7652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/>
                <a:t>15</a:t>
              </a:r>
              <a:endParaRPr lang="en-US" altLang="zh-CN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2689" y="71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-0.02</a:t>
              </a:r>
              <a:endParaRPr lang="en-US" altLang="zh-CN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3395" y="153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0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2689" y="582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</a:t>
              </a:r>
              <a:endParaRPr lang="en-US" altLang="zh-CN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2689" y="4538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0.02</a:t>
              </a:r>
              <a:endParaRPr lang="en-US" altLang="zh-CN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2689" y="317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0.04</a:t>
              </a:r>
              <a:endParaRPr lang="en-US" altLang="zh-CN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2689" y="1912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/>
                <a:t>0.06</a:t>
              </a:r>
              <a:endParaRPr lang="en-US" altLang="zh-CN"/>
            </a:p>
          </p:txBody>
        </p:sp>
        <p:grpSp>
          <p:nvGrpSpPr>
            <p:cNvPr id="56" name="组合 55"/>
            <p:cNvGrpSpPr/>
            <p:nvPr/>
          </p:nvGrpSpPr>
          <p:grpSpPr>
            <a:xfrm rot="0">
              <a:off x="2061" y="8164"/>
              <a:ext cx="15595" cy="2031"/>
              <a:chOff x="2352" y="8858"/>
              <a:chExt cx="15488" cy="2031"/>
            </a:xfrm>
          </p:grpSpPr>
          <p:sp>
            <p:nvSpPr>
              <p:cNvPr id="32" name="文本框 31"/>
              <p:cNvSpPr txBox="1"/>
              <p:nvPr/>
            </p:nvSpPr>
            <p:spPr>
              <a:xfrm>
                <a:off x="13434" y="9840"/>
                <a:ext cx="440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2016</a:t>
                </a:r>
                <a:endParaRPr lang="en-US" altLang="zh-CN" sz="1600"/>
              </a:p>
            </p:txBody>
          </p:sp>
          <p:sp>
            <p:nvSpPr>
              <p:cNvPr id="33" name="文本框 32"/>
              <p:cNvSpPr txBox="1"/>
              <p:nvPr/>
            </p:nvSpPr>
            <p:spPr>
              <a:xfrm>
                <a:off x="13434" y="8858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2016</a:t>
                </a:r>
                <a:endParaRPr lang="en-US" altLang="zh-CN" sz="1600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3067" y="8972"/>
                <a:ext cx="255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3067" y="9435"/>
                <a:ext cx="255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3434" y="9349"/>
                <a:ext cx="314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America, 2023</a:t>
                </a:r>
                <a:endParaRPr lang="en-US" altLang="zh-CN" sz="1600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2848" y="8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2016</a:t>
                </a:r>
                <a:endParaRPr lang="en-US" altLang="zh-CN" sz="1600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2465" y="8972"/>
                <a:ext cx="255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2465" y="9435"/>
                <a:ext cx="255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2848" y="9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Africa, 2023</a:t>
                </a:r>
                <a:endParaRPr lang="en-US" altLang="zh-CN" sz="1600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7053" y="8858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South&amp;South-east Asia, 2016</a:t>
                </a:r>
                <a:endParaRPr lang="en-US" altLang="zh-CN" sz="1600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6647" y="8972"/>
                <a:ext cx="255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6647" y="9435"/>
                <a:ext cx="255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7053" y="9345"/>
                <a:ext cx="4526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Asia, 2023</a:t>
                </a:r>
                <a:endParaRPr lang="en-US" altLang="zh-CN" sz="1600"/>
              </a:p>
            </p:txBody>
          </p:sp>
          <p:sp>
            <p:nvSpPr>
              <p:cNvPr id="50" name="乘号 49"/>
              <p:cNvSpPr/>
              <p:nvPr/>
            </p:nvSpPr>
            <p:spPr>
              <a:xfrm>
                <a:off x="2352" y="9845"/>
                <a:ext cx="480" cy="480"/>
              </a:xfrm>
              <a:prstGeom prst="mathMultiply">
                <a:avLst/>
              </a:prstGeom>
              <a:solidFill>
                <a:srgbClr val="E85748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2848" y="98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2016</a:t>
                </a:r>
                <a:endParaRPr lang="en-US" altLang="zh-CN" sz="1600"/>
              </a:p>
            </p:txBody>
          </p:sp>
          <p:sp>
            <p:nvSpPr>
              <p:cNvPr id="52" name="乘号 51"/>
              <p:cNvSpPr/>
              <p:nvPr/>
            </p:nvSpPr>
            <p:spPr>
              <a:xfrm>
                <a:off x="2352" y="10359"/>
                <a:ext cx="480" cy="480"/>
              </a:xfrm>
              <a:prstGeom prst="mathMultiply">
                <a:avLst/>
              </a:prstGeom>
              <a:solidFill>
                <a:srgbClr val="E85748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2848" y="10358"/>
                <a:ext cx="3205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Africa Mean, 2023</a:t>
                </a:r>
                <a:endParaRPr lang="en-US" altLang="zh-CN" sz="1600"/>
              </a:p>
            </p:txBody>
          </p:sp>
          <p:sp>
            <p:nvSpPr>
              <p:cNvPr id="54" name="乘号 53"/>
              <p:cNvSpPr/>
              <p:nvPr/>
            </p:nvSpPr>
            <p:spPr>
              <a:xfrm>
                <a:off x="6534" y="9845"/>
                <a:ext cx="480" cy="480"/>
              </a:xfrm>
              <a:prstGeom prst="mathMultiply">
                <a:avLst/>
              </a:prstGeom>
              <a:solidFill>
                <a:srgbClr val="F39F1B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5" name="文本框 54"/>
              <p:cNvSpPr txBox="1"/>
              <p:nvPr/>
            </p:nvSpPr>
            <p:spPr>
              <a:xfrm>
                <a:off x="7053" y="9832"/>
                <a:ext cx="5582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2016</a:t>
                </a:r>
                <a:endParaRPr lang="zh-CN" altLang="en-US" sz="1600">
                  <a:ea typeface="宋体" panose="02010600030101010101" pitchFamily="2" charset="-122"/>
                  <a:sym typeface="+mn-ea"/>
                </a:endParaRPr>
              </a:p>
            </p:txBody>
          </p:sp>
          <p:sp>
            <p:nvSpPr>
              <p:cNvPr id="57" name="乘号 56"/>
              <p:cNvSpPr/>
              <p:nvPr/>
            </p:nvSpPr>
            <p:spPr>
              <a:xfrm>
                <a:off x="6534" y="10359"/>
                <a:ext cx="480" cy="480"/>
              </a:xfrm>
              <a:prstGeom prst="mathMultiply">
                <a:avLst/>
              </a:prstGeom>
              <a:solidFill>
                <a:srgbClr val="F39F1B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58" name="文本框 57"/>
              <p:cNvSpPr txBox="1"/>
              <p:nvPr/>
            </p:nvSpPr>
            <p:spPr>
              <a:xfrm>
                <a:off x="7053" y="10319"/>
                <a:ext cx="5581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>
                    <a:sym typeface="+mn-ea"/>
                  </a:rPr>
                  <a:t>South&amp;South-east Asia Mean, 2023</a:t>
                </a:r>
                <a:endParaRPr lang="en-US" altLang="zh-CN" sz="1600"/>
              </a:p>
            </p:txBody>
          </p:sp>
          <p:sp>
            <p:nvSpPr>
              <p:cNvPr id="59" name="乘号 58"/>
              <p:cNvSpPr/>
              <p:nvPr/>
            </p:nvSpPr>
            <p:spPr>
              <a:xfrm>
                <a:off x="12954" y="9845"/>
                <a:ext cx="480" cy="480"/>
              </a:xfrm>
              <a:prstGeom prst="mathMultiply">
                <a:avLst/>
              </a:prstGeom>
              <a:solidFill>
                <a:srgbClr val="47A2DE">
                  <a:alpha val="80000"/>
                </a:srgb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60" name="乘号 59"/>
              <p:cNvSpPr/>
              <p:nvPr/>
            </p:nvSpPr>
            <p:spPr>
              <a:xfrm>
                <a:off x="12954" y="10359"/>
                <a:ext cx="480" cy="480"/>
              </a:xfrm>
              <a:prstGeom prst="mathMultiply">
                <a:avLst/>
              </a:prstGeom>
              <a:solidFill>
                <a:srgbClr val="47A2DE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>
                  <a:solidFill>
                    <a:srgbClr val="A985CA"/>
                  </a:solidFill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3434" y="10331"/>
                <a:ext cx="4228" cy="5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 sz="1600"/>
                  <a:t>Latin America Mean, 2023</a:t>
                </a:r>
                <a:endParaRPr lang="en-US" altLang="zh-CN" sz="1600"/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2432" y="6672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3917" y="3540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5284" y="6672"/>
              <a:ext cx="1485" cy="82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7387" y="5711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6703" y="5711"/>
              <a:ext cx="2355" cy="48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4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30" name="文本框 29"/>
          <p:cNvSpPr txBox="1"/>
          <p:nvPr/>
        </p:nvSpPr>
        <p:spPr>
          <a:xfrm>
            <a:off x="6608815" y="1964025"/>
            <a:ext cx="1495425" cy="30670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r"/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mean B </a:t>
            </a:r>
            <a:r>
              <a:rPr lang="en-US" altLang="zh-CN" sz="14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= -0.08</a:t>
            </a:r>
            <a:endParaRPr lang="en-US" altLang="zh-CN" sz="1400" i="1">
              <a:solidFill>
                <a:schemeClr val="bg1">
                  <a:lumMod val="50000"/>
                </a:schemeClr>
              </a:solidFill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</p:spTree>
  </p:cSld>
  <p:clrMapOvr>
    <a:masterClrMapping/>
  </p:clrMapOvr>
  <p:transition/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组合 43"/>
          <p:cNvGrpSpPr/>
          <p:nvPr/>
        </p:nvGrpSpPr>
        <p:grpSpPr>
          <a:xfrm>
            <a:off x="1627505" y="8510905"/>
            <a:ext cx="9902825" cy="671195"/>
            <a:chOff x="1984" y="9408"/>
            <a:chExt cx="15595" cy="1057"/>
          </a:xfrm>
        </p:grpSpPr>
        <p:sp>
          <p:nvSpPr>
            <p:cNvPr id="32" name="文本框 31"/>
            <p:cNvSpPr txBox="1"/>
            <p:nvPr/>
          </p:nvSpPr>
          <p:spPr>
            <a:xfrm>
              <a:off x="13143" y="9416"/>
              <a:ext cx="443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2016</a:t>
              </a:r>
              <a:endParaRPr lang="en-US" altLang="zh-CN" sz="1600"/>
            </a:p>
          </p:txBody>
        </p:sp>
        <p:sp>
          <p:nvSpPr>
            <p:cNvPr id="22" name="乘号 21"/>
            <p:cNvSpPr/>
            <p:nvPr/>
          </p:nvSpPr>
          <p:spPr>
            <a:xfrm>
              <a:off x="1984" y="9421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2483" y="9434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2016</a:t>
              </a:r>
              <a:endParaRPr lang="en-US" altLang="zh-CN" sz="1600"/>
            </a:p>
          </p:txBody>
        </p:sp>
        <p:sp>
          <p:nvSpPr>
            <p:cNvPr id="24" name="乘号 23"/>
            <p:cNvSpPr/>
            <p:nvPr/>
          </p:nvSpPr>
          <p:spPr>
            <a:xfrm>
              <a:off x="1984" y="9935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2483" y="9934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2023</a:t>
              </a:r>
              <a:endParaRPr lang="en-US" altLang="zh-CN" sz="1600"/>
            </a:p>
          </p:txBody>
        </p:sp>
        <p:sp>
          <p:nvSpPr>
            <p:cNvPr id="26" name="乘号 25"/>
            <p:cNvSpPr/>
            <p:nvPr/>
          </p:nvSpPr>
          <p:spPr>
            <a:xfrm>
              <a:off x="6195" y="9421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6717" y="9408"/>
              <a:ext cx="56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2016</a:t>
              </a:r>
              <a:endParaRPr lang="zh-CN" altLang="en-US" sz="16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28" name="乘号 27"/>
            <p:cNvSpPr/>
            <p:nvPr/>
          </p:nvSpPr>
          <p:spPr>
            <a:xfrm>
              <a:off x="6195" y="9935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6717" y="9895"/>
              <a:ext cx="562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2023</a:t>
              </a:r>
              <a:endParaRPr lang="en-US" altLang="zh-CN" sz="1600"/>
            </a:p>
          </p:txBody>
        </p:sp>
        <p:sp>
          <p:nvSpPr>
            <p:cNvPr id="31" name="乘号 30"/>
            <p:cNvSpPr/>
            <p:nvPr/>
          </p:nvSpPr>
          <p:spPr>
            <a:xfrm>
              <a:off x="12659" y="9421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34" name="乘号 33"/>
            <p:cNvSpPr/>
            <p:nvPr/>
          </p:nvSpPr>
          <p:spPr>
            <a:xfrm>
              <a:off x="12659" y="9935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35" name="文本框 34"/>
            <p:cNvSpPr txBox="1"/>
            <p:nvPr/>
          </p:nvSpPr>
          <p:spPr>
            <a:xfrm>
              <a:off x="13143" y="9907"/>
              <a:ext cx="425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2023</a:t>
              </a:r>
              <a:endParaRPr lang="en-US" altLang="zh-CN" sz="1600"/>
            </a:p>
          </p:txBody>
        </p:sp>
      </p:grpSp>
      <p:sp>
        <p:nvSpPr>
          <p:cNvPr id="2" name="文本框 1"/>
          <p:cNvSpPr txBox="1"/>
          <p:nvPr/>
        </p:nvSpPr>
        <p:spPr>
          <a:xfrm>
            <a:off x="2478405" y="-1192530"/>
            <a:ext cx="9920605" cy="4603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algn="ctr"/>
            <a:r>
              <a:rPr lang="en-US" altLang="zh-CN" sz="2400" b="1">
                <a:latin typeface="Arial" panose="020B0604020202020204" pitchFamily="34" charset="0"/>
                <a:cs typeface="Arial" panose="020B0604020202020204" pitchFamily="34" charset="0"/>
                <a:sym typeface="+mn-ea"/>
              </a:rPr>
              <a:t>Horizontal Construction Params</a:t>
            </a:r>
            <a:endParaRPr lang="en-US" altLang="zh-CN" sz="2400" b="1">
              <a:latin typeface="Arial" panose="020B0604020202020204" pitchFamily="34" charset="0"/>
              <a:cs typeface="Arial" panose="020B0604020202020204" pitchFamily="34" charset="0"/>
              <a:sym typeface="+mn-ea"/>
            </a:endParaRPr>
          </a:p>
        </p:txBody>
      </p:sp>
      <p:grpSp>
        <p:nvGrpSpPr>
          <p:cNvPr id="45" name="组合 44"/>
          <p:cNvGrpSpPr/>
          <p:nvPr/>
        </p:nvGrpSpPr>
        <p:grpSpPr>
          <a:xfrm rot="0">
            <a:off x="2478405" y="6081395"/>
            <a:ext cx="10166985" cy="685800"/>
            <a:chOff x="2098" y="8434"/>
            <a:chExt cx="14213" cy="1080"/>
          </a:xfrm>
        </p:grpSpPr>
        <p:sp>
          <p:nvSpPr>
            <p:cNvPr id="4" name="文本框 3"/>
            <p:cNvSpPr txBox="1"/>
            <p:nvPr/>
          </p:nvSpPr>
          <p:spPr>
            <a:xfrm>
              <a:off x="13143" y="8434"/>
              <a:ext cx="31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Latin America, 2016</a:t>
              </a:r>
              <a:endParaRPr lang="en-US" altLang="zh-CN"/>
            </a:p>
          </p:txBody>
        </p:sp>
        <p:sp>
          <p:nvSpPr>
            <p:cNvPr id="11" name="椭圆 10"/>
            <p:cNvSpPr/>
            <p:nvPr/>
          </p:nvSpPr>
          <p:spPr>
            <a:xfrm>
              <a:off x="12773" y="8548"/>
              <a:ext cx="257" cy="255"/>
            </a:xfrm>
            <a:prstGeom prst="ellipse">
              <a:avLst/>
            </a:prstGeom>
            <a:solidFill>
              <a:srgbClr val="47A2DE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12" name="椭圆 11"/>
            <p:cNvSpPr/>
            <p:nvPr/>
          </p:nvSpPr>
          <p:spPr>
            <a:xfrm>
              <a:off x="12773" y="9011"/>
              <a:ext cx="257" cy="255"/>
            </a:xfrm>
            <a:prstGeom prst="ellipse">
              <a:avLst/>
            </a:prstGeom>
            <a:solidFill>
              <a:srgbClr val="47A2DE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3143" y="8925"/>
              <a:ext cx="3168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Latin America, 2023</a:t>
              </a:r>
              <a:endParaRPr lang="en-US" altLang="zh-CN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2483" y="8434"/>
              <a:ext cx="322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Africa, 2016</a:t>
              </a:r>
              <a:endParaRPr lang="en-US" altLang="zh-CN"/>
            </a:p>
          </p:txBody>
        </p:sp>
        <p:sp>
          <p:nvSpPr>
            <p:cNvPr id="15" name="椭圆 14"/>
            <p:cNvSpPr/>
            <p:nvPr/>
          </p:nvSpPr>
          <p:spPr>
            <a:xfrm>
              <a:off x="2098" y="8548"/>
              <a:ext cx="257" cy="255"/>
            </a:xfrm>
            <a:prstGeom prst="ellipse">
              <a:avLst/>
            </a:prstGeom>
            <a:solidFill>
              <a:srgbClr val="E85748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>
                <a:solidFill>
                  <a:srgbClr val="9467BD"/>
                </a:solidFill>
              </a:endParaRPr>
            </a:p>
          </p:txBody>
        </p:sp>
        <p:sp>
          <p:nvSpPr>
            <p:cNvPr id="16" name="椭圆 15"/>
            <p:cNvSpPr/>
            <p:nvPr/>
          </p:nvSpPr>
          <p:spPr>
            <a:xfrm>
              <a:off x="2098" y="9011"/>
              <a:ext cx="257" cy="255"/>
            </a:xfrm>
            <a:prstGeom prst="ellipse">
              <a:avLst/>
            </a:prstGeom>
            <a:solidFill>
              <a:srgbClr val="E85748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2483" y="8934"/>
              <a:ext cx="322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Africa, 2023</a:t>
              </a:r>
              <a:endParaRPr lang="en-US" altLang="zh-CN"/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6717" y="8434"/>
              <a:ext cx="455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/>
                <a:t>South&amp;South-east Asia, 2016</a:t>
              </a:r>
              <a:endParaRPr lang="en-US" altLang="zh-CN"/>
            </a:p>
          </p:txBody>
        </p:sp>
        <p:sp>
          <p:nvSpPr>
            <p:cNvPr id="19" name="椭圆 18"/>
            <p:cNvSpPr/>
            <p:nvPr/>
          </p:nvSpPr>
          <p:spPr>
            <a:xfrm>
              <a:off x="6309" y="8548"/>
              <a:ext cx="257" cy="255"/>
            </a:xfrm>
            <a:prstGeom prst="ellipse">
              <a:avLst/>
            </a:prstGeom>
            <a:solidFill>
              <a:srgbClr val="F39F1B">
                <a:alpha val="3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20" name="椭圆 19"/>
            <p:cNvSpPr/>
            <p:nvPr/>
          </p:nvSpPr>
          <p:spPr>
            <a:xfrm>
              <a:off x="6309" y="9011"/>
              <a:ext cx="257" cy="255"/>
            </a:xfrm>
            <a:prstGeom prst="ellipse">
              <a:avLst/>
            </a:prstGeom>
            <a:solidFill>
              <a:srgbClr val="F39F1B">
                <a:alpha val="60000"/>
              </a:srgbClr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6717" y="8921"/>
              <a:ext cx="4557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>
                  <a:sym typeface="+mn-ea"/>
                </a:rPr>
                <a:t>South&amp;South-east Asia, 2023</a:t>
              </a:r>
              <a:endParaRPr lang="en-US" altLang="zh-CN">
                <a:sym typeface="+mn-ea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6" name="文本框 35"/>
              <p:cNvSpPr txBox="1"/>
              <p:nvPr/>
            </p:nvSpPr>
            <p:spPr>
              <a:xfrm>
                <a:off x="1327150" y="436245"/>
                <a:ext cx="4599305" cy="8299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>
                    <a:latin typeface="Arial" panose="020B0604020202020204" pitchFamily="34" charset="0"/>
                    <a:cs typeface="Arial" panose="020B0604020202020204" pitchFamily="34" charset="0"/>
                  </a:rPr>
                  <a:t>Structural Zero</a:t>
                </a:r>
                <a:endParaRPr lang="en-US" altLang="zh-CN" sz="240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𝜑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𝑙𝑜𝑔𝑖𝑠𝑡𝑖𝑐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𝛼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𝛽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24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6" name="文本框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27150" y="436245"/>
                <a:ext cx="4599305" cy="829945"/>
              </a:xfrm>
              <a:prstGeom prst="rect">
                <a:avLst/>
              </a:prstGeom>
              <a:blipFill rotWithShape="1">
                <a:blip r:embed="rId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2" name="文本框 51"/>
              <p:cNvSpPr txBox="1"/>
              <p:nvPr/>
            </p:nvSpPr>
            <p:spPr>
              <a:xfrm>
                <a:off x="8669020" y="436245"/>
                <a:ext cx="4631055" cy="82994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pPr algn="ctr"/>
                <a:r>
                  <a:rPr lang="en-US" altLang="zh-CN" sz="2400">
                    <a:latin typeface="Arial" panose="020B0604020202020204" pitchFamily="34" charset="0"/>
                    <a:cs typeface="Arial" panose="020B0604020202020204" pitchFamily="34" charset="0"/>
                  </a:rPr>
                  <a:t>Actual Construction</a:t>
                </a:r>
                <a:endParaRPr lang="en-US" altLang="zh-CN" sz="240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𝜋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)=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𝑙𝑜𝑔𝑖𝑠𝑡𝑖𝑐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(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𝜅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+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𝛿</m:t>
                      </m:r>
                      <m:r>
                        <a:rPr lang="en-US" altLang="zh-CN" sz="2400" i="1">
                          <a:latin typeface="Cambria Math" panose="02040503050406030204" charset="0"/>
                          <a:cs typeface="Cambria Math" panose="02040503050406030204" charset="0"/>
                        </a:rPr>
                        <m:t>𝑟</m:t>
                      </m:r>
                      <m:r>
                        <a:rPr lang="en-US" altLang="zh-CN" sz="24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altLang="zh-CN" sz="24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52" name="文本框 5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69020" y="436245"/>
                <a:ext cx="4631055" cy="829945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9" name="组合 98"/>
          <p:cNvGrpSpPr/>
          <p:nvPr/>
        </p:nvGrpSpPr>
        <p:grpSpPr>
          <a:xfrm rot="0">
            <a:off x="937895" y="1032510"/>
            <a:ext cx="5145405" cy="4728210"/>
            <a:chOff x="1477" y="1626"/>
            <a:chExt cx="8103" cy="7446"/>
          </a:xfrm>
        </p:grpSpPr>
        <p:pic>
          <p:nvPicPr>
            <p:cNvPr id="6" name="图片 5"/>
            <p:cNvPicPr/>
            <p:nvPr/>
          </p:nvPicPr>
          <p:blipFill>
            <a:blip r:embed="rId3"/>
            <a:srcRect r="50879"/>
            <a:stretch>
              <a:fillRect/>
            </a:stretch>
          </p:blipFill>
          <p:spPr>
            <a:xfrm>
              <a:off x="1477" y="1942"/>
              <a:ext cx="8103" cy="6670"/>
            </a:xfrm>
            <a:prstGeom prst="rect">
              <a:avLst/>
            </a:prstGeom>
          </p:spPr>
        </p:pic>
        <p:sp>
          <p:nvSpPr>
            <p:cNvPr id="7" name="矩形 6"/>
            <p:cNvSpPr/>
            <p:nvPr/>
          </p:nvSpPr>
          <p:spPr>
            <a:xfrm>
              <a:off x="1584" y="2085"/>
              <a:ext cx="544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8" name="矩形 7"/>
            <p:cNvSpPr/>
            <p:nvPr/>
          </p:nvSpPr>
          <p:spPr>
            <a:xfrm rot="5400000">
              <a:off x="5542" y="4678"/>
              <a:ext cx="544" cy="737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37" name="文本框 36"/>
            <p:cNvSpPr txBox="1"/>
            <p:nvPr/>
          </p:nvSpPr>
          <p:spPr>
            <a:xfrm>
              <a:off x="5407" y="8196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50%</a:t>
              </a:r>
              <a:endParaRPr lang="en-US" altLang="zh-CN" sz="2000"/>
            </a:p>
          </p:txBody>
        </p:sp>
        <p:sp>
          <p:nvSpPr>
            <p:cNvPr id="38" name="文本框 37"/>
            <p:cNvSpPr txBox="1"/>
            <p:nvPr/>
          </p:nvSpPr>
          <p:spPr>
            <a:xfrm>
              <a:off x="8502" y="8196"/>
              <a:ext cx="10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100%</a:t>
              </a:r>
              <a:endParaRPr lang="en-US" altLang="zh-CN" sz="200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850" y="8017"/>
              <a:ext cx="25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549" y="2050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0.6</a:t>
              </a:r>
              <a:endParaRPr lang="en-US" altLang="zh-CN" sz="2000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559" y="5259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0.3</a:t>
              </a:r>
              <a:endParaRPr lang="en-US" altLang="zh-CN" sz="2000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1585" y="162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β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43" name="文本框 42"/>
            <p:cNvSpPr txBox="1"/>
            <p:nvPr/>
          </p:nvSpPr>
          <p:spPr>
            <a:xfrm>
              <a:off x="6292" y="8636"/>
              <a:ext cx="3099" cy="436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l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probability(α)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7" name="文本框 56"/>
            <p:cNvSpPr txBox="1"/>
            <p:nvPr/>
          </p:nvSpPr>
          <p:spPr>
            <a:xfrm>
              <a:off x="6925" y="5000"/>
              <a:ext cx="2574" cy="58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β = 0.3</a:t>
              </a:r>
              <a:endParaRPr lang="en-US" altLang="zh-CN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grpSp>
        <p:nvGrpSpPr>
          <p:cNvPr id="30" name="组合 29"/>
          <p:cNvGrpSpPr/>
          <p:nvPr/>
        </p:nvGrpSpPr>
        <p:grpSpPr>
          <a:xfrm rot="0">
            <a:off x="8036560" y="1195070"/>
            <a:ext cx="5263515" cy="4522470"/>
            <a:chOff x="9436" y="1819"/>
            <a:chExt cx="8289" cy="7122"/>
          </a:xfrm>
        </p:grpSpPr>
        <p:pic>
          <p:nvPicPr>
            <p:cNvPr id="3" name="图片 2"/>
            <p:cNvPicPr/>
            <p:nvPr/>
          </p:nvPicPr>
          <p:blipFill>
            <a:blip r:embed="rId3"/>
            <a:srcRect l="54304" t="1604" r="1509" b="7631"/>
            <a:stretch>
              <a:fillRect/>
            </a:stretch>
          </p:blipFill>
          <p:spPr>
            <a:xfrm>
              <a:off x="10293" y="1987"/>
              <a:ext cx="7288" cy="6102"/>
            </a:xfrm>
            <a:prstGeom prst="rect">
              <a:avLst/>
            </a:prstGeom>
          </p:spPr>
        </p:pic>
        <p:sp>
          <p:nvSpPr>
            <p:cNvPr id="46" name="文本框 45"/>
            <p:cNvSpPr txBox="1"/>
            <p:nvPr/>
          </p:nvSpPr>
          <p:spPr>
            <a:xfrm>
              <a:off x="16838" y="8048"/>
              <a:ext cx="887" cy="380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70%</a:t>
              </a:r>
              <a:endParaRPr lang="en-US" altLang="zh-CN" sz="2000"/>
            </a:p>
          </p:txBody>
        </p:sp>
        <p:sp>
          <p:nvSpPr>
            <p:cNvPr id="47" name="文本框 46"/>
            <p:cNvSpPr txBox="1"/>
            <p:nvPr/>
          </p:nvSpPr>
          <p:spPr>
            <a:xfrm>
              <a:off x="10288" y="8086"/>
              <a:ext cx="871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20%</a:t>
              </a:r>
              <a:endParaRPr lang="en-US" altLang="zh-CN" sz="2000"/>
            </a:p>
          </p:txBody>
        </p:sp>
        <p:sp>
          <p:nvSpPr>
            <p:cNvPr id="48" name="文本框 47"/>
            <p:cNvSpPr txBox="1"/>
            <p:nvPr/>
          </p:nvSpPr>
          <p:spPr>
            <a:xfrm>
              <a:off x="9645" y="2503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49" name="文本框 48"/>
            <p:cNvSpPr txBox="1"/>
            <p:nvPr/>
          </p:nvSpPr>
          <p:spPr>
            <a:xfrm>
              <a:off x="9483" y="5043"/>
              <a:ext cx="77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-0.2</a:t>
              </a:r>
              <a:endParaRPr lang="en-US" altLang="zh-CN" sz="2000"/>
            </a:p>
          </p:txBody>
        </p:sp>
        <p:sp>
          <p:nvSpPr>
            <p:cNvPr id="50" name="文本框 49"/>
            <p:cNvSpPr txBox="1"/>
            <p:nvPr/>
          </p:nvSpPr>
          <p:spPr>
            <a:xfrm>
              <a:off x="9746" y="1819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δ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1" name="文本框 50"/>
            <p:cNvSpPr txBox="1"/>
            <p:nvPr/>
          </p:nvSpPr>
          <p:spPr>
            <a:xfrm>
              <a:off x="14839" y="8428"/>
              <a:ext cx="2741" cy="513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l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probability(κ)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53" name="文本框 52"/>
            <p:cNvSpPr txBox="1"/>
            <p:nvPr/>
          </p:nvSpPr>
          <p:spPr>
            <a:xfrm>
              <a:off x="14149" y="8060"/>
              <a:ext cx="88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50%</a:t>
              </a:r>
              <a:endParaRPr lang="en-US" altLang="zh-CN" sz="2000"/>
            </a:p>
          </p:txBody>
        </p:sp>
        <p:sp>
          <p:nvSpPr>
            <p:cNvPr id="55" name="文本框 54"/>
            <p:cNvSpPr txBox="1"/>
            <p:nvPr/>
          </p:nvSpPr>
          <p:spPr>
            <a:xfrm>
              <a:off x="9436" y="7492"/>
              <a:ext cx="76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-0.4</a:t>
              </a:r>
              <a:endParaRPr lang="en-US" altLang="zh-CN" sz="2000"/>
            </a:p>
          </p:txBody>
        </p:sp>
        <p:sp>
          <p:nvSpPr>
            <p:cNvPr id="58" name="文本框 57"/>
            <p:cNvSpPr txBox="1"/>
            <p:nvPr/>
          </p:nvSpPr>
          <p:spPr>
            <a:xfrm>
              <a:off x="10380" y="3811"/>
              <a:ext cx="2574" cy="101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</a:t>
              </a:r>
              <a:r>
                <a:rPr lang="en-US" altLang="zh-CN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δ = -0.09</a:t>
              </a:r>
              <a:endParaRPr lang="en-US" altLang="zh-CN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  <p:sp>
        <p:nvSpPr>
          <p:cNvPr id="54" name="文本框 53"/>
          <p:cNvSpPr txBox="1"/>
          <p:nvPr/>
        </p:nvSpPr>
        <p:spPr>
          <a:xfrm>
            <a:off x="-8890" y="3637280"/>
            <a:ext cx="1438275" cy="521970"/>
          </a:xfrm>
          <a:prstGeom prst="rect">
            <a:avLst/>
          </a:prstGeom>
        </p:spPr>
        <p:txBody>
          <a:bodyPr wrap="square">
            <a:spAutoFit/>
          </a:bodyPr>
          <a:p>
            <a:pPr algn="r"/>
            <a:r>
              <a:rPr lang="en-US" altLang="zh-CN" sz="1400" i="1">
                <a:solidFill>
                  <a:schemeClr val="tx1"/>
                </a:solidFill>
              </a:rPr>
              <a:t>Low-Constraint, Flat-Gradient</a:t>
            </a:r>
            <a:endParaRPr lang="en-US" altLang="zh-CN" sz="1400" i="1">
              <a:solidFill>
                <a:schemeClr val="tx1"/>
              </a:solidFill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5926455" y="2560320"/>
            <a:ext cx="1489710" cy="431165"/>
          </a:xfrm>
          <a:prstGeom prst="rect">
            <a:avLst/>
          </a:prstGeom>
        </p:spPr>
        <p:txBody>
          <a:bodyPr wrap="square">
            <a:noAutofit/>
          </a:bodyPr>
          <a:p>
            <a:pPr algn="l"/>
            <a:r>
              <a:rPr lang="en-US" altLang="zh-CN" sz="1400" i="1">
                <a:solidFill>
                  <a:schemeClr val="tx1"/>
                </a:solidFill>
              </a:rPr>
              <a:t>High-Constraint, Steep-Gradient</a:t>
            </a:r>
            <a:endParaRPr lang="en-US" altLang="zh-CN" sz="1400" i="1">
              <a:solidFill>
                <a:schemeClr val="tx1"/>
              </a:solidFill>
            </a:endParaRPr>
          </a:p>
        </p:txBody>
      </p:sp>
      <p:sp>
        <p:nvSpPr>
          <p:cNvPr id="61" name="文本框 60"/>
          <p:cNvSpPr txBox="1"/>
          <p:nvPr/>
        </p:nvSpPr>
        <p:spPr>
          <a:xfrm>
            <a:off x="0" y="2531110"/>
            <a:ext cx="1403985" cy="521970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Low-Constraint,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  <a:p>
            <a:pPr lvl="0" algn="r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Steep-Gradient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5938520" y="3637280"/>
            <a:ext cx="1477645" cy="521970"/>
          </a:xfrm>
          <a:prstGeom prst="rect">
            <a:avLst/>
          </a:prstGeom>
        </p:spPr>
        <p:txBody>
          <a:bodyPr wrap="square">
            <a:spAutoFit/>
          </a:bodyPr>
          <a:p>
            <a:pPr algn="l"/>
            <a:r>
              <a:rPr lang="en-US" altLang="zh-CN" sz="1400" i="1">
                <a:solidFill>
                  <a:schemeClr val="tx1"/>
                </a:solidFill>
              </a:rPr>
              <a:t>High-Constraint, Flat-Gradient</a:t>
            </a:r>
            <a:endParaRPr lang="en-US" altLang="zh-CN" sz="1400" i="1">
              <a:solidFill>
                <a:schemeClr val="tx1"/>
              </a:solidFill>
            </a:endParaRPr>
          </a:p>
        </p:txBody>
      </p:sp>
      <p:sp>
        <p:nvSpPr>
          <p:cNvPr id="65" name="文本框 64"/>
          <p:cNvSpPr txBox="1"/>
          <p:nvPr/>
        </p:nvSpPr>
        <p:spPr>
          <a:xfrm>
            <a:off x="7218680" y="2560320"/>
            <a:ext cx="1403985" cy="473710"/>
          </a:xfrm>
          <a:prstGeom prst="rect">
            <a:avLst/>
          </a:prstGeom>
        </p:spPr>
        <p:txBody>
          <a:bodyPr wrap="square">
            <a:noAutofit/>
          </a:bodyPr>
          <a:p>
            <a:pPr lvl="0" algn="r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Low-Intensity, Flat-Gradient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</p:txBody>
      </p:sp>
      <p:sp>
        <p:nvSpPr>
          <p:cNvPr id="66" name="文本框 65"/>
          <p:cNvSpPr txBox="1"/>
          <p:nvPr/>
        </p:nvSpPr>
        <p:spPr>
          <a:xfrm>
            <a:off x="7218680" y="3637280"/>
            <a:ext cx="1403985" cy="521970"/>
          </a:xfrm>
          <a:prstGeom prst="rect">
            <a:avLst/>
          </a:prstGeom>
        </p:spPr>
        <p:txBody>
          <a:bodyPr wrap="square">
            <a:spAutoFit/>
          </a:bodyPr>
          <a:p>
            <a:pPr lvl="0" algn="r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Low-Intensity, Steep-Gradient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13157200" y="2528570"/>
            <a:ext cx="1403985" cy="521970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High-Intensity, Flat-Gradient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</p:txBody>
      </p:sp>
      <p:sp>
        <p:nvSpPr>
          <p:cNvPr id="68" name="文本框 67"/>
          <p:cNvSpPr txBox="1"/>
          <p:nvPr/>
        </p:nvSpPr>
        <p:spPr>
          <a:xfrm>
            <a:off x="13127990" y="3637280"/>
            <a:ext cx="1403985" cy="521970"/>
          </a:xfrm>
          <a:prstGeom prst="rect">
            <a:avLst/>
          </a:prstGeom>
        </p:spPr>
        <p:txBody>
          <a:bodyPr wrap="square">
            <a:spAutoFit/>
          </a:bodyPr>
          <a:p>
            <a:pPr lvl="0" algn="l">
              <a:buClrTx/>
              <a:buSzTx/>
              <a:buFontTx/>
            </a:pPr>
            <a:r>
              <a:rPr lang="en-US" altLang="zh-CN" sz="1400" i="1">
                <a:solidFill>
                  <a:schemeClr val="tx1"/>
                </a:solidFill>
                <a:sym typeface="+mn-ea"/>
              </a:rPr>
              <a:t>High-Intensity, Steep-Gradient</a:t>
            </a:r>
            <a:endParaRPr lang="en-US" altLang="zh-CN" sz="1400" i="1">
              <a:solidFill>
                <a:schemeClr val="tx1"/>
              </a:solidFill>
              <a:sym typeface="+mn-ea"/>
            </a:endParaRPr>
          </a:p>
        </p:txBody>
      </p:sp>
      <p:grpSp>
        <p:nvGrpSpPr>
          <p:cNvPr id="71" name="组合 70"/>
          <p:cNvGrpSpPr/>
          <p:nvPr/>
        </p:nvGrpSpPr>
        <p:grpSpPr>
          <a:xfrm rot="0">
            <a:off x="758825" y="4088765"/>
            <a:ext cx="527685" cy="524510"/>
            <a:chOff x="493" y="2941"/>
            <a:chExt cx="4304" cy="4270"/>
          </a:xfrm>
        </p:grpSpPr>
        <p:pic>
          <p:nvPicPr>
            <p:cNvPr id="72" name="图片 71"/>
            <p:cNvPicPr>
              <a:picLocks noChangeAspect="1"/>
            </p:cNvPicPr>
            <p:nvPr/>
          </p:nvPicPr>
          <p:blipFill>
            <a:blip r:embed="rId4">
              <a:grayscl/>
            </a:blip>
            <a:stretch>
              <a:fillRect/>
            </a:stretch>
          </p:blipFill>
          <p:spPr>
            <a:xfrm>
              <a:off x="493" y="2941"/>
              <a:ext cx="4304" cy="4271"/>
            </a:xfrm>
            <a:prstGeom prst="rect">
              <a:avLst/>
            </a:prstGeom>
          </p:spPr>
        </p:pic>
        <p:sp>
          <p:nvSpPr>
            <p:cNvPr id="73" name="椭圆 72"/>
            <p:cNvSpPr/>
            <p:nvPr/>
          </p:nvSpPr>
          <p:spPr>
            <a:xfrm>
              <a:off x="598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74" name="组合 73"/>
          <p:cNvGrpSpPr/>
          <p:nvPr/>
        </p:nvGrpSpPr>
        <p:grpSpPr>
          <a:xfrm rot="0">
            <a:off x="739775" y="2015490"/>
            <a:ext cx="527685" cy="524510"/>
            <a:chOff x="4929" y="2941"/>
            <a:chExt cx="4302" cy="4270"/>
          </a:xfrm>
        </p:grpSpPr>
        <p:pic>
          <p:nvPicPr>
            <p:cNvPr id="75" name="图片 74"/>
            <p:cNvPicPr>
              <a:picLocks noChangeAspect="1"/>
            </p:cNvPicPr>
            <p:nvPr/>
          </p:nvPicPr>
          <p:blipFill>
            <a:blip r:embed="rId5">
              <a:grayscl/>
            </a:blip>
            <a:stretch>
              <a:fillRect/>
            </a:stretch>
          </p:blipFill>
          <p:spPr>
            <a:xfrm>
              <a:off x="4929" y="2941"/>
              <a:ext cx="4303" cy="4271"/>
            </a:xfrm>
            <a:prstGeom prst="rect">
              <a:avLst/>
            </a:prstGeom>
          </p:spPr>
        </p:pic>
        <p:sp>
          <p:nvSpPr>
            <p:cNvPr id="76" name="椭圆 75"/>
            <p:cNvSpPr/>
            <p:nvPr/>
          </p:nvSpPr>
          <p:spPr>
            <a:xfrm>
              <a:off x="5028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77" name="组合 76"/>
          <p:cNvGrpSpPr/>
          <p:nvPr/>
        </p:nvGrpSpPr>
        <p:grpSpPr>
          <a:xfrm rot="0">
            <a:off x="5963285" y="4088765"/>
            <a:ext cx="527685" cy="524510"/>
            <a:chOff x="9364" y="2941"/>
            <a:chExt cx="4302" cy="4270"/>
          </a:xfrm>
        </p:grpSpPr>
        <p:pic>
          <p:nvPicPr>
            <p:cNvPr id="78" name="图片 77"/>
            <p:cNvPicPr>
              <a:picLocks noChangeAspect="1"/>
            </p:cNvPicPr>
            <p:nvPr/>
          </p:nvPicPr>
          <p:blipFill>
            <a:blip r:embed="rId6">
              <a:grayscl/>
            </a:blip>
            <a:stretch>
              <a:fillRect/>
            </a:stretch>
          </p:blipFill>
          <p:spPr>
            <a:xfrm>
              <a:off x="9364" y="2941"/>
              <a:ext cx="4303" cy="4271"/>
            </a:xfrm>
            <a:prstGeom prst="rect">
              <a:avLst/>
            </a:prstGeom>
          </p:spPr>
        </p:pic>
        <p:sp>
          <p:nvSpPr>
            <p:cNvPr id="79" name="椭圆 78"/>
            <p:cNvSpPr/>
            <p:nvPr/>
          </p:nvSpPr>
          <p:spPr>
            <a:xfrm>
              <a:off x="9457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80" name="组合 79"/>
          <p:cNvGrpSpPr/>
          <p:nvPr/>
        </p:nvGrpSpPr>
        <p:grpSpPr>
          <a:xfrm rot="0">
            <a:off x="5965190" y="2015490"/>
            <a:ext cx="527685" cy="524510"/>
            <a:chOff x="13799" y="2941"/>
            <a:chExt cx="4302" cy="4270"/>
          </a:xfrm>
        </p:grpSpPr>
        <p:pic>
          <p:nvPicPr>
            <p:cNvPr id="81" name="图片 80"/>
            <p:cNvPicPr>
              <a:picLocks noChangeAspect="1"/>
            </p:cNvPicPr>
            <p:nvPr/>
          </p:nvPicPr>
          <p:blipFill>
            <a:blip r:embed="rId7">
              <a:grayscl/>
            </a:blip>
            <a:stretch>
              <a:fillRect/>
            </a:stretch>
          </p:blipFill>
          <p:spPr>
            <a:xfrm>
              <a:off x="13799" y="2941"/>
              <a:ext cx="4303" cy="4271"/>
            </a:xfrm>
            <a:prstGeom prst="rect">
              <a:avLst/>
            </a:prstGeom>
          </p:spPr>
        </p:pic>
        <p:sp>
          <p:nvSpPr>
            <p:cNvPr id="82" name="椭圆 81"/>
            <p:cNvSpPr/>
            <p:nvPr/>
          </p:nvSpPr>
          <p:spPr>
            <a:xfrm>
              <a:off x="13887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83" name="组合 82"/>
          <p:cNvGrpSpPr/>
          <p:nvPr/>
        </p:nvGrpSpPr>
        <p:grpSpPr>
          <a:xfrm rot="0">
            <a:off x="7940040" y="2013585"/>
            <a:ext cx="538480" cy="526415"/>
            <a:chOff x="1057" y="2049"/>
            <a:chExt cx="4212" cy="4114"/>
          </a:xfrm>
        </p:grpSpPr>
        <p:pic>
          <p:nvPicPr>
            <p:cNvPr id="84" name="图片 83"/>
            <p:cNvPicPr>
              <a:picLocks noChangeAspect="1"/>
            </p:cNvPicPr>
            <p:nvPr/>
          </p:nvPicPr>
          <p:blipFill>
            <a:blip r:embed="rId8">
              <a:clrChange>
                <a:clrFrom>
                  <a:srgbClr val="F7F7F7">
                    <a:alpha val="100000"/>
                  </a:srgbClr>
                </a:clrFrom>
                <a:clrTo>
                  <a:srgbClr val="F7F7F7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057" y="2049"/>
              <a:ext cx="4212" cy="4115"/>
            </a:xfrm>
            <a:prstGeom prst="rect">
              <a:avLst/>
            </a:prstGeom>
          </p:spPr>
        </p:pic>
        <p:sp>
          <p:nvSpPr>
            <p:cNvPr id="85" name="椭圆 84"/>
            <p:cNvSpPr/>
            <p:nvPr/>
          </p:nvSpPr>
          <p:spPr>
            <a:xfrm>
              <a:off x="1280" y="2210"/>
              <a:ext cx="3862" cy="386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86" name="组合 85"/>
          <p:cNvGrpSpPr/>
          <p:nvPr/>
        </p:nvGrpSpPr>
        <p:grpSpPr>
          <a:xfrm rot="0">
            <a:off x="7959090" y="4086860"/>
            <a:ext cx="538480" cy="526415"/>
            <a:chOff x="5571" y="2049"/>
            <a:chExt cx="4212" cy="4114"/>
          </a:xfrm>
        </p:grpSpPr>
        <p:pic>
          <p:nvPicPr>
            <p:cNvPr id="87" name="图片 86"/>
            <p:cNvPicPr>
              <a:picLocks noChangeAspect="1"/>
            </p:cNvPicPr>
            <p:nvPr/>
          </p:nvPicPr>
          <p:blipFill>
            <a:blip r:embed="rId9">
              <a:clrChange>
                <a:clrFrom>
                  <a:srgbClr val="F7F7F7">
                    <a:alpha val="100000"/>
                  </a:srgbClr>
                </a:clrFrom>
                <a:clrTo>
                  <a:srgbClr val="F7F7F7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571" y="2049"/>
              <a:ext cx="4212" cy="4115"/>
            </a:xfrm>
            <a:prstGeom prst="rect">
              <a:avLst/>
            </a:prstGeom>
          </p:spPr>
        </p:pic>
        <p:sp>
          <p:nvSpPr>
            <p:cNvPr id="88" name="椭圆 87"/>
            <p:cNvSpPr/>
            <p:nvPr/>
          </p:nvSpPr>
          <p:spPr>
            <a:xfrm>
              <a:off x="5813" y="2210"/>
              <a:ext cx="3862" cy="386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89" name="组合 88"/>
          <p:cNvGrpSpPr/>
          <p:nvPr/>
        </p:nvGrpSpPr>
        <p:grpSpPr>
          <a:xfrm rot="0">
            <a:off x="13241020" y="2013585"/>
            <a:ext cx="538480" cy="526415"/>
            <a:chOff x="10084" y="2049"/>
            <a:chExt cx="4212" cy="4114"/>
          </a:xfrm>
        </p:grpSpPr>
        <p:pic>
          <p:nvPicPr>
            <p:cNvPr id="90" name="图片 89"/>
            <p:cNvPicPr>
              <a:picLocks noChangeAspect="1"/>
            </p:cNvPicPr>
            <p:nvPr/>
          </p:nvPicPr>
          <p:blipFill>
            <a:blip r:embed="rId10">
              <a:clrChange>
                <a:clrFrom>
                  <a:srgbClr val="F7F7F7">
                    <a:alpha val="100000"/>
                  </a:srgbClr>
                </a:clrFrom>
                <a:clrTo>
                  <a:srgbClr val="F7F7F7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0084" y="2049"/>
              <a:ext cx="4212" cy="4115"/>
            </a:xfrm>
            <a:prstGeom prst="rect">
              <a:avLst/>
            </a:prstGeom>
          </p:spPr>
        </p:pic>
        <p:sp>
          <p:nvSpPr>
            <p:cNvPr id="91" name="椭圆 90"/>
            <p:cNvSpPr/>
            <p:nvPr/>
          </p:nvSpPr>
          <p:spPr>
            <a:xfrm>
              <a:off x="10347" y="2210"/>
              <a:ext cx="3862" cy="386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grpSp>
        <p:nvGrpSpPr>
          <p:cNvPr id="56" name="组合 55"/>
          <p:cNvGrpSpPr/>
          <p:nvPr/>
        </p:nvGrpSpPr>
        <p:grpSpPr>
          <a:xfrm rot="0">
            <a:off x="13208000" y="4107180"/>
            <a:ext cx="538480" cy="525780"/>
            <a:chOff x="22212" y="8641"/>
            <a:chExt cx="848" cy="828"/>
          </a:xfrm>
        </p:grpSpPr>
        <p:pic>
          <p:nvPicPr>
            <p:cNvPr id="93" name="图片 92"/>
            <p:cNvPicPr>
              <a:picLocks noChangeAspect="1"/>
            </p:cNvPicPr>
            <p:nvPr/>
          </p:nvPicPr>
          <p:blipFill>
            <a:blip r:embed="rId11">
              <a:clrChange>
                <a:clrFrom>
                  <a:srgbClr val="F7F7F7">
                    <a:alpha val="100000"/>
                  </a:srgbClr>
                </a:clrFrom>
                <a:clrTo>
                  <a:srgbClr val="F7F7F7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22212" y="8641"/>
              <a:ext cx="848" cy="829"/>
            </a:xfrm>
            <a:prstGeom prst="rect">
              <a:avLst/>
            </a:prstGeom>
          </p:spPr>
        </p:pic>
        <p:sp>
          <p:nvSpPr>
            <p:cNvPr id="94" name="椭圆 93"/>
            <p:cNvSpPr/>
            <p:nvPr/>
          </p:nvSpPr>
          <p:spPr>
            <a:xfrm>
              <a:off x="22232" y="8657"/>
              <a:ext cx="778" cy="778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"/>
            </a:p>
          </p:txBody>
        </p:sp>
      </p:grpSp>
      <p:cxnSp>
        <p:nvCxnSpPr>
          <p:cNvPr id="33" name="直接连接符 32"/>
          <p:cNvCxnSpPr/>
          <p:nvPr/>
        </p:nvCxnSpPr>
        <p:spPr>
          <a:xfrm>
            <a:off x="655690" y="-645190"/>
            <a:ext cx="135382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grpSp>
        <p:nvGrpSpPr>
          <p:cNvPr id="97" name="组合 96"/>
          <p:cNvGrpSpPr/>
          <p:nvPr/>
        </p:nvGrpSpPr>
        <p:grpSpPr>
          <a:xfrm>
            <a:off x="14831695" y="-1198880"/>
            <a:ext cx="2746375" cy="913130"/>
            <a:chOff x="2166" y="1724"/>
            <a:chExt cx="19159" cy="6372"/>
          </a:xfrm>
        </p:grpSpPr>
        <p:cxnSp>
          <p:nvCxnSpPr>
            <p:cNvPr id="70" name="直接箭头连接符 69"/>
            <p:cNvCxnSpPr/>
            <p:nvPr/>
          </p:nvCxnSpPr>
          <p:spPr>
            <a:xfrm flipV="1">
              <a:off x="2166" y="1724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2" name="直接箭头连接符 91"/>
            <p:cNvCxnSpPr/>
            <p:nvPr/>
          </p:nvCxnSpPr>
          <p:spPr>
            <a:xfrm flipV="1">
              <a:off x="2166" y="8047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5" name="直接箭头连接符 94"/>
            <p:cNvCxnSpPr/>
            <p:nvPr/>
          </p:nvCxnSpPr>
          <p:spPr>
            <a:xfrm flipV="1">
              <a:off x="13581" y="1769"/>
              <a:ext cx="0" cy="6327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  <p:cxnSp>
          <p:nvCxnSpPr>
            <p:cNvPr id="96" name="直接箭头连接符 95"/>
            <p:cNvCxnSpPr/>
            <p:nvPr/>
          </p:nvCxnSpPr>
          <p:spPr>
            <a:xfrm flipV="1">
              <a:off x="13581" y="8092"/>
              <a:ext cx="7744" cy="5"/>
            </a:xfrm>
            <a:prstGeom prst="straightConnector1">
              <a:avLst/>
            </a:prstGeom>
            <a:ln w="28575">
              <a:solidFill>
                <a:schemeClr val="tx1"/>
              </a:solidFill>
              <a:tailEnd type="arrow"/>
            </a:ln>
          </p:spPr>
          <p:style>
            <a:lnRef idx="2">
              <a:schemeClr val="accent1"/>
            </a:lnRef>
            <a:fillRef idx="0">
              <a:srgbClr val="FFFFFF"/>
            </a:fillRef>
            <a:effectRef idx="0">
              <a:srgbClr val="FFFFFF"/>
            </a:effectRef>
            <a:fontRef idx="minor">
              <a:schemeClr val="tx1"/>
            </a:fontRef>
          </p:style>
        </p:cxn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80" name="组合 79"/>
          <p:cNvGrpSpPr/>
          <p:nvPr/>
        </p:nvGrpSpPr>
        <p:grpSpPr>
          <a:xfrm>
            <a:off x="2413000" y="8252460"/>
            <a:ext cx="9902825" cy="670560"/>
            <a:chOff x="3800" y="12996"/>
            <a:chExt cx="15595" cy="1056"/>
          </a:xfrm>
        </p:grpSpPr>
        <p:sp>
          <p:nvSpPr>
            <p:cNvPr id="62" name="文本框 61"/>
            <p:cNvSpPr txBox="1"/>
            <p:nvPr/>
          </p:nvSpPr>
          <p:spPr>
            <a:xfrm>
              <a:off x="14959" y="13004"/>
              <a:ext cx="4436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2016</a:t>
              </a:r>
              <a:endParaRPr lang="en-US" altLang="zh-CN" sz="1600"/>
            </a:p>
          </p:txBody>
        </p:sp>
        <p:sp>
          <p:nvSpPr>
            <p:cNvPr id="64" name="乘号 63"/>
            <p:cNvSpPr/>
            <p:nvPr/>
          </p:nvSpPr>
          <p:spPr>
            <a:xfrm>
              <a:off x="3800" y="13009"/>
              <a:ext cx="483" cy="480"/>
            </a:xfrm>
            <a:prstGeom prst="mathMultiply">
              <a:avLst/>
            </a:prstGeom>
            <a:solidFill>
              <a:srgbClr val="E85748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0" name="文本框 69"/>
            <p:cNvSpPr txBox="1"/>
            <p:nvPr/>
          </p:nvSpPr>
          <p:spPr>
            <a:xfrm>
              <a:off x="4299" y="13022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2016</a:t>
              </a:r>
              <a:endParaRPr lang="en-US" altLang="zh-CN" sz="1600"/>
            </a:p>
          </p:txBody>
        </p:sp>
        <p:sp>
          <p:nvSpPr>
            <p:cNvPr id="71" name="乘号 70"/>
            <p:cNvSpPr/>
            <p:nvPr/>
          </p:nvSpPr>
          <p:spPr>
            <a:xfrm>
              <a:off x="3800" y="13523"/>
              <a:ext cx="483" cy="480"/>
            </a:xfrm>
            <a:prstGeom prst="mathMultiply">
              <a:avLst/>
            </a:prstGeom>
            <a:solidFill>
              <a:srgbClr val="E85748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2" name="文本框 71"/>
            <p:cNvSpPr txBox="1"/>
            <p:nvPr/>
          </p:nvSpPr>
          <p:spPr>
            <a:xfrm>
              <a:off x="4299" y="13522"/>
              <a:ext cx="322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Africa Mean, 2023</a:t>
              </a:r>
              <a:endParaRPr lang="en-US" altLang="zh-CN" sz="1600"/>
            </a:p>
          </p:txBody>
        </p:sp>
        <p:sp>
          <p:nvSpPr>
            <p:cNvPr id="73" name="乘号 72"/>
            <p:cNvSpPr/>
            <p:nvPr/>
          </p:nvSpPr>
          <p:spPr>
            <a:xfrm>
              <a:off x="8011" y="13009"/>
              <a:ext cx="483" cy="480"/>
            </a:xfrm>
            <a:prstGeom prst="mathMultiply">
              <a:avLst/>
            </a:prstGeom>
            <a:solidFill>
              <a:srgbClr val="F39F1B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4" name="文本框 73"/>
            <p:cNvSpPr txBox="1"/>
            <p:nvPr/>
          </p:nvSpPr>
          <p:spPr>
            <a:xfrm>
              <a:off x="8533" y="12996"/>
              <a:ext cx="5621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2016</a:t>
              </a:r>
              <a:endParaRPr lang="zh-CN" altLang="en-US" sz="1600">
                <a:ea typeface="宋体" panose="02010600030101010101" pitchFamily="2" charset="-122"/>
                <a:sym typeface="+mn-ea"/>
              </a:endParaRPr>
            </a:p>
          </p:txBody>
        </p:sp>
        <p:sp>
          <p:nvSpPr>
            <p:cNvPr id="75" name="乘号 74"/>
            <p:cNvSpPr/>
            <p:nvPr/>
          </p:nvSpPr>
          <p:spPr>
            <a:xfrm>
              <a:off x="8011" y="13523"/>
              <a:ext cx="483" cy="480"/>
            </a:xfrm>
            <a:prstGeom prst="mathMultiply">
              <a:avLst/>
            </a:prstGeom>
            <a:solidFill>
              <a:srgbClr val="F39F1B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6" name="文本框 75"/>
            <p:cNvSpPr txBox="1"/>
            <p:nvPr/>
          </p:nvSpPr>
          <p:spPr>
            <a:xfrm>
              <a:off x="8533" y="13483"/>
              <a:ext cx="5620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>
                  <a:sym typeface="+mn-ea"/>
                </a:rPr>
                <a:t>South&amp;South-east Asia Mean, 2023</a:t>
              </a:r>
              <a:endParaRPr lang="en-US" altLang="zh-CN" sz="1600"/>
            </a:p>
          </p:txBody>
        </p:sp>
        <p:sp>
          <p:nvSpPr>
            <p:cNvPr id="77" name="乘号 76"/>
            <p:cNvSpPr/>
            <p:nvPr/>
          </p:nvSpPr>
          <p:spPr>
            <a:xfrm>
              <a:off x="14475" y="13009"/>
              <a:ext cx="483" cy="480"/>
            </a:xfrm>
            <a:prstGeom prst="mathMultiply">
              <a:avLst/>
            </a:prstGeom>
            <a:solidFill>
              <a:srgbClr val="47A2DE">
                <a:alpha val="80000"/>
              </a:srgb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8" name="乘号 77"/>
            <p:cNvSpPr/>
            <p:nvPr/>
          </p:nvSpPr>
          <p:spPr>
            <a:xfrm>
              <a:off x="14475" y="13523"/>
              <a:ext cx="483" cy="480"/>
            </a:xfrm>
            <a:prstGeom prst="mathMultiply">
              <a:avLst/>
            </a:prstGeom>
            <a:solidFill>
              <a:srgbClr val="47A2DE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>
                <a:solidFill>
                  <a:srgbClr val="A985CA"/>
                </a:solidFill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14959" y="13495"/>
              <a:ext cx="4257" cy="5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/>
                <a:t>Latin America Mean, 2023</a:t>
              </a:r>
              <a:endParaRPr lang="en-US" altLang="zh-CN" sz="1600"/>
            </a:p>
          </p:txBody>
        </p:sp>
      </p:grpSp>
      <p:grpSp>
        <p:nvGrpSpPr>
          <p:cNvPr id="86" name="组合 85"/>
          <p:cNvGrpSpPr/>
          <p:nvPr/>
        </p:nvGrpSpPr>
        <p:grpSpPr>
          <a:xfrm>
            <a:off x="114935" y="651510"/>
            <a:ext cx="13805535" cy="6364278"/>
            <a:chOff x="1739" y="1235"/>
            <a:chExt cx="19272" cy="8884"/>
          </a:xfrm>
        </p:grpSpPr>
        <p:pic>
          <p:nvPicPr>
            <p:cNvPr id="81" name="图片 80"/>
            <p:cNvPicPr/>
            <p:nvPr/>
          </p:nvPicPr>
          <p:blipFill>
            <a:blip r:embed="rId1"/>
            <a:stretch>
              <a:fillRect/>
            </a:stretch>
          </p:blipFill>
          <p:spPr>
            <a:xfrm>
              <a:off x="1739" y="2783"/>
              <a:ext cx="19192" cy="6290"/>
            </a:xfrm>
            <a:prstGeom prst="rect">
              <a:avLst/>
            </a:prstGeom>
          </p:spPr>
        </p:pic>
        <p:sp>
          <p:nvSpPr>
            <p:cNvPr id="8" name="矩形 7"/>
            <p:cNvSpPr/>
            <p:nvPr/>
          </p:nvSpPr>
          <p:spPr>
            <a:xfrm rot="5400000">
              <a:off x="11534" y="-292"/>
              <a:ext cx="544" cy="1825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2000"/>
            </a:p>
          </p:txBody>
        </p:sp>
        <p:sp>
          <p:nvSpPr>
            <p:cNvPr id="7" name="矩形 6"/>
            <p:cNvSpPr/>
            <p:nvPr/>
          </p:nvSpPr>
          <p:spPr>
            <a:xfrm>
              <a:off x="1739" y="2626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5" name="矩形 4"/>
            <p:cNvSpPr/>
            <p:nvPr/>
          </p:nvSpPr>
          <p:spPr>
            <a:xfrm>
              <a:off x="8163" y="2465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p:sp>
          <p:nvSpPr>
            <p:cNvPr id="6" name="矩形 5"/>
            <p:cNvSpPr/>
            <p:nvPr/>
          </p:nvSpPr>
          <p:spPr>
            <a:xfrm>
              <a:off x="14603" y="2594"/>
              <a:ext cx="818" cy="647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en-US" altLang="zh-CN" sz="2000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6" name="文本框 35"/>
                <p:cNvSpPr txBox="1"/>
                <p:nvPr/>
              </p:nvSpPr>
              <p:spPr>
                <a:xfrm>
                  <a:off x="7891" y="1800"/>
                  <a:ext cx="7243" cy="7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𝐻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)=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𝐴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∙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𝑒𝑥𝑝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(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𝐵𝑟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+</m:t>
                        </m:r>
                        <m:r>
                          <a:rPr lang="en-US" altLang="zh-CN" sz="2800" i="1">
                            <a:latin typeface="Cambria Math" panose="02040503050406030204" charset="0"/>
                            <a:cs typeface="Cambria Math" panose="02040503050406030204" charset="0"/>
                          </a:rPr>
                          <m:t>𝐶</m:t>
                        </m:r>
                        <m:sSup>
                          <m:sSupPr>
                            <m:ctrlP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</m:ctrlPr>
                          </m:sSupPr>
                          <m:e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𝑟</m:t>
                            </m:r>
                          </m:e>
                          <m:sup>
                            <m:r>
                              <a:rPr lang="en-US" altLang="zh-CN" sz="2800" i="1">
                                <a:latin typeface="Cambria Math" panose="02040503050406030204" charset="0"/>
                                <a:cs typeface="Cambria Math" panose="02040503050406030204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CN" sz="2800" i="1">
                            <a:latin typeface="Cambria Math" panose="02040503050406030204" charset="0"/>
                            <a:ea typeface="MS Mincho" charset="0"/>
                            <a:cs typeface="Cambria Math" panose="02040503050406030204" charset="0"/>
                          </a:rPr>
                          <m:t>)</m:t>
                        </m:r>
                      </m:oMath>
                    </m:oMathPara>
                  </a14:m>
                  <a:endParaRPr lang="en-US" altLang="zh-CN" sz="2800" i="1">
                    <a:latin typeface="Cambria Math" panose="02040503050406030204" charset="0"/>
                    <a:cs typeface="Cambria Math" panose="02040503050406030204" charset="0"/>
                  </a:endParaRPr>
                </a:p>
              </p:txBody>
            </p:sp>
          </mc:Choice>
          <mc:Fallback>
            <p:sp>
              <p:nvSpPr>
                <p:cNvPr id="36" name="文本框 35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891" y="1800"/>
                  <a:ext cx="7243" cy="710"/>
                </a:xfrm>
                <a:prstGeom prst="rect">
                  <a:avLst/>
                </a:prstGeom>
                <a:blipFill rotWithShape="1">
                  <a:blip r:embed="rId2"/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文本框 36"/>
            <p:cNvSpPr txBox="1"/>
            <p:nvPr/>
          </p:nvSpPr>
          <p:spPr>
            <a:xfrm>
              <a:off x="4783" y="8576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10</a:t>
              </a:r>
              <a:endParaRPr lang="en-US" altLang="zh-CN" sz="2000"/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746" y="7408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-0.4</a:t>
              </a:r>
              <a:endParaRPr lang="en-US" altLang="zh-CN" sz="2000"/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2951" y="8576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5</a:t>
              </a:r>
              <a:endParaRPr lang="en-US" altLang="zh-CN" sz="2000"/>
            </a:p>
          </p:txBody>
        </p:sp>
        <p:sp>
          <p:nvSpPr>
            <p:cNvPr id="42" name="文本框 41"/>
            <p:cNvSpPr txBox="1"/>
            <p:nvPr/>
          </p:nvSpPr>
          <p:spPr>
            <a:xfrm>
              <a:off x="7347" y="8616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9" name="文本框 8"/>
            <p:cNvSpPr txBox="1"/>
            <p:nvPr/>
          </p:nvSpPr>
          <p:spPr>
            <a:xfrm>
              <a:off x="1998" y="2594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0" name="文本框 9"/>
            <p:cNvSpPr txBox="1"/>
            <p:nvPr/>
          </p:nvSpPr>
          <p:spPr>
            <a:xfrm>
              <a:off x="6533" y="8576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15</a:t>
              </a:r>
              <a:endParaRPr lang="en-US" altLang="zh-CN" sz="2000"/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2023" y="3729"/>
              <a:ext cx="47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12" name="文本框 11"/>
            <p:cNvSpPr txBox="1"/>
            <p:nvPr/>
          </p:nvSpPr>
          <p:spPr>
            <a:xfrm>
              <a:off x="1759" y="5561"/>
              <a:ext cx="734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-0.2</a:t>
              </a:r>
              <a:endParaRPr lang="en-US" altLang="zh-CN" sz="2000"/>
            </a:p>
          </p:txBody>
        </p:sp>
        <p:sp>
          <p:nvSpPr>
            <p:cNvPr id="13" name="文本框 12"/>
            <p:cNvSpPr txBox="1"/>
            <p:nvPr/>
          </p:nvSpPr>
          <p:spPr>
            <a:xfrm>
              <a:off x="11339" y="8616"/>
              <a:ext cx="702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-0.2</a:t>
              </a:r>
              <a:endParaRPr lang="en-US" altLang="zh-CN" sz="2000"/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7967" y="8104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-0.02</a:t>
              </a:r>
              <a:endParaRPr lang="en-US" altLang="zh-CN" sz="2000"/>
            </a:p>
          </p:txBody>
        </p:sp>
        <p:sp>
          <p:nvSpPr>
            <p:cNvPr id="15" name="文本框 14"/>
            <p:cNvSpPr txBox="1"/>
            <p:nvPr/>
          </p:nvSpPr>
          <p:spPr>
            <a:xfrm>
              <a:off x="9498" y="8616"/>
              <a:ext cx="747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-0.4</a:t>
              </a:r>
              <a:endParaRPr lang="en-US" altLang="zh-CN" sz="2000"/>
            </a:p>
          </p:txBody>
        </p:sp>
        <p:sp>
          <p:nvSpPr>
            <p:cNvPr id="16" name="文本框 15"/>
            <p:cNvSpPr txBox="1"/>
            <p:nvPr/>
          </p:nvSpPr>
          <p:spPr>
            <a:xfrm>
              <a:off x="13799" y="8616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B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17" name="文本框 16"/>
            <p:cNvSpPr txBox="1"/>
            <p:nvPr/>
          </p:nvSpPr>
          <p:spPr>
            <a:xfrm>
              <a:off x="8673" y="251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8" name="文本框 17"/>
            <p:cNvSpPr txBox="1"/>
            <p:nvPr/>
          </p:nvSpPr>
          <p:spPr>
            <a:xfrm>
              <a:off x="13363" y="8616"/>
              <a:ext cx="235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1" name="文本框 20"/>
            <p:cNvSpPr txBox="1"/>
            <p:nvPr/>
          </p:nvSpPr>
          <p:spPr>
            <a:xfrm>
              <a:off x="7967" y="6804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3" name="文本框 22"/>
            <p:cNvSpPr txBox="1"/>
            <p:nvPr/>
          </p:nvSpPr>
          <p:spPr>
            <a:xfrm>
              <a:off x="7967" y="551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0.02</a:t>
              </a:r>
              <a:endParaRPr lang="en-US" altLang="zh-CN" sz="2000"/>
            </a:p>
          </p:txBody>
        </p:sp>
        <p:sp>
          <p:nvSpPr>
            <p:cNvPr id="24" name="文本框 23"/>
            <p:cNvSpPr txBox="1"/>
            <p:nvPr/>
          </p:nvSpPr>
          <p:spPr>
            <a:xfrm>
              <a:off x="7967" y="4150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0.04</a:t>
              </a:r>
              <a:endParaRPr lang="en-US" altLang="zh-CN" sz="2000"/>
            </a:p>
          </p:txBody>
        </p:sp>
        <p:sp>
          <p:nvSpPr>
            <p:cNvPr id="25" name="文本框 24"/>
            <p:cNvSpPr txBox="1"/>
            <p:nvPr/>
          </p:nvSpPr>
          <p:spPr>
            <a:xfrm>
              <a:off x="7967" y="2890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0.06</a:t>
              </a:r>
              <a:endParaRPr lang="en-US" altLang="zh-CN" sz="2000"/>
            </a:p>
          </p:txBody>
        </p:sp>
        <p:sp>
          <p:nvSpPr>
            <p:cNvPr id="26" name="文本框 25"/>
            <p:cNvSpPr txBox="1"/>
            <p:nvPr/>
          </p:nvSpPr>
          <p:spPr>
            <a:xfrm>
              <a:off x="17645" y="8630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10</a:t>
              </a:r>
              <a:endParaRPr lang="en-US" altLang="zh-CN" sz="2000"/>
            </a:p>
          </p:txBody>
        </p:sp>
        <p:sp>
          <p:nvSpPr>
            <p:cNvPr id="27" name="文本框 26"/>
            <p:cNvSpPr txBox="1"/>
            <p:nvPr/>
          </p:nvSpPr>
          <p:spPr>
            <a:xfrm>
              <a:off x="15813" y="8630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000"/>
                <a:t>5</a:t>
              </a:r>
              <a:endParaRPr lang="en-US" altLang="zh-CN" sz="2000"/>
            </a:p>
          </p:txBody>
        </p:sp>
        <p:sp>
          <p:nvSpPr>
            <p:cNvPr id="28" name="文本框 27"/>
            <p:cNvSpPr txBox="1"/>
            <p:nvPr/>
          </p:nvSpPr>
          <p:spPr>
            <a:xfrm>
              <a:off x="19845" y="8616"/>
              <a:ext cx="1166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A(m)</a:t>
              </a:r>
              <a:endParaRPr lang="en-US" altLang="zh-CN" sz="2400" i="1">
                <a:latin typeface="Arial" panose="020B0604020202020204" pitchFamily="34" charset="0"/>
                <a:ea typeface="宋体" panose="02010600030101010101" pitchFamily="2" charset="-122"/>
                <a:cs typeface="Arial" panose="020B0604020202020204" pitchFamily="34" charset="0"/>
              </a:endParaRPr>
            </a:p>
          </p:txBody>
        </p:sp>
        <p:sp>
          <p:nvSpPr>
            <p:cNvPr id="29" name="文本框 28"/>
            <p:cNvSpPr txBox="1"/>
            <p:nvPr/>
          </p:nvSpPr>
          <p:spPr>
            <a:xfrm>
              <a:off x="19395" y="8630"/>
              <a:ext cx="450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r>
                <a:rPr lang="en-US" altLang="zh-CN" sz="2000"/>
                <a:t>15</a:t>
              </a:r>
              <a:endParaRPr lang="en-US" altLang="zh-CN" sz="2000"/>
            </a:p>
          </p:txBody>
        </p:sp>
        <p:sp>
          <p:nvSpPr>
            <p:cNvPr id="2" name="文本框 1"/>
            <p:cNvSpPr txBox="1"/>
            <p:nvPr/>
          </p:nvSpPr>
          <p:spPr>
            <a:xfrm>
              <a:off x="14428" y="8104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-0.02</a:t>
              </a:r>
              <a:endParaRPr lang="en-US" altLang="zh-CN" sz="2000"/>
            </a:p>
          </p:txBody>
        </p:sp>
        <p:sp>
          <p:nvSpPr>
            <p:cNvPr id="3" name="文本框 2"/>
            <p:cNvSpPr txBox="1"/>
            <p:nvPr/>
          </p:nvSpPr>
          <p:spPr>
            <a:xfrm>
              <a:off x="15134" y="2512"/>
              <a:ext cx="543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ctr"/>
              <a:r>
                <a:rPr lang="en-US" altLang="zh-CN" sz="2400" i="1">
                  <a:latin typeface="Arial" panose="020B0604020202020204" pitchFamily="34" charset="0"/>
                  <a:cs typeface="Arial" panose="020B0604020202020204" pitchFamily="34" charset="0"/>
                </a:rPr>
                <a:t>C</a:t>
              </a:r>
              <a:endParaRPr lang="en-US" altLang="zh-CN" sz="2400" i="1"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19" name="文本框 18"/>
            <p:cNvSpPr txBox="1"/>
            <p:nvPr/>
          </p:nvSpPr>
          <p:spPr>
            <a:xfrm>
              <a:off x="14428" y="6804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</a:t>
              </a:r>
              <a:endParaRPr lang="en-US" altLang="zh-CN" sz="2000"/>
            </a:p>
          </p:txBody>
        </p:sp>
        <p:sp>
          <p:nvSpPr>
            <p:cNvPr id="20" name="文本框 19"/>
            <p:cNvSpPr txBox="1"/>
            <p:nvPr/>
          </p:nvSpPr>
          <p:spPr>
            <a:xfrm>
              <a:off x="14428" y="5516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0.02</a:t>
              </a:r>
              <a:endParaRPr lang="en-US" altLang="zh-CN" sz="2000"/>
            </a:p>
          </p:txBody>
        </p:sp>
        <p:sp>
          <p:nvSpPr>
            <p:cNvPr id="22" name="文本框 21"/>
            <p:cNvSpPr txBox="1"/>
            <p:nvPr/>
          </p:nvSpPr>
          <p:spPr>
            <a:xfrm>
              <a:off x="14428" y="4150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0.04</a:t>
              </a:r>
              <a:endParaRPr lang="en-US" altLang="zh-CN" sz="2000"/>
            </a:p>
          </p:txBody>
        </p:sp>
        <p:sp>
          <p:nvSpPr>
            <p:cNvPr id="31" name="文本框 30"/>
            <p:cNvSpPr txBox="1"/>
            <p:nvPr/>
          </p:nvSpPr>
          <p:spPr>
            <a:xfrm>
              <a:off x="14428" y="2890"/>
              <a:ext cx="978" cy="368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noAutofit/>
            </a:bodyPr>
            <a:p>
              <a:pPr algn="r"/>
              <a:r>
                <a:rPr lang="en-US" altLang="zh-CN" sz="2000"/>
                <a:t>0.06</a:t>
              </a:r>
              <a:endParaRPr lang="en-US" altLang="zh-CN" sz="2000"/>
            </a:p>
          </p:txBody>
        </p:sp>
        <p:grpSp>
          <p:nvGrpSpPr>
            <p:cNvPr id="82" name="组合 81"/>
            <p:cNvGrpSpPr/>
            <p:nvPr/>
          </p:nvGrpSpPr>
          <p:grpSpPr>
            <a:xfrm>
              <a:off x="4583" y="9105"/>
              <a:ext cx="14213" cy="1014"/>
              <a:chOff x="3914" y="9142"/>
              <a:chExt cx="14213" cy="1014"/>
            </a:xfrm>
          </p:grpSpPr>
          <p:sp>
            <p:nvSpPr>
              <p:cNvPr id="33" name="文本框 32"/>
              <p:cNvSpPr txBox="1"/>
              <p:nvPr/>
            </p:nvSpPr>
            <p:spPr>
              <a:xfrm>
                <a:off x="14959" y="9142"/>
                <a:ext cx="3168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2016</a:t>
                </a:r>
                <a:endParaRPr lang="en-US" altLang="zh-CN"/>
              </a:p>
            </p:txBody>
          </p:sp>
          <p:sp>
            <p:nvSpPr>
              <p:cNvPr id="34" name="椭圆 33"/>
              <p:cNvSpPr/>
              <p:nvPr/>
            </p:nvSpPr>
            <p:spPr>
              <a:xfrm>
                <a:off x="14589" y="9256"/>
                <a:ext cx="257" cy="255"/>
              </a:xfrm>
              <a:prstGeom prst="ellipse">
                <a:avLst/>
              </a:prstGeom>
              <a:solidFill>
                <a:srgbClr val="47A2DE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35" name="椭圆 34"/>
              <p:cNvSpPr/>
              <p:nvPr/>
            </p:nvSpPr>
            <p:spPr>
              <a:xfrm>
                <a:off x="14589" y="9719"/>
                <a:ext cx="257" cy="255"/>
              </a:xfrm>
              <a:prstGeom prst="ellipse">
                <a:avLst/>
              </a:prstGeom>
              <a:solidFill>
                <a:srgbClr val="47A2DE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38" name="文本框 37"/>
              <p:cNvSpPr txBox="1"/>
              <p:nvPr/>
            </p:nvSpPr>
            <p:spPr>
              <a:xfrm>
                <a:off x="14959" y="9633"/>
                <a:ext cx="3168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Latin America, 2023</a:t>
                </a:r>
                <a:endParaRPr lang="en-US" altLang="zh-CN"/>
              </a:p>
            </p:txBody>
          </p:sp>
          <p:sp>
            <p:nvSpPr>
              <p:cNvPr id="40" name="文本框 39"/>
              <p:cNvSpPr txBox="1"/>
              <p:nvPr/>
            </p:nvSpPr>
            <p:spPr>
              <a:xfrm>
                <a:off x="4299" y="9142"/>
                <a:ext cx="322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2016</a:t>
                </a:r>
                <a:endParaRPr lang="en-US" altLang="zh-CN"/>
              </a:p>
            </p:txBody>
          </p:sp>
          <p:sp>
            <p:nvSpPr>
              <p:cNvPr id="43" name="椭圆 42"/>
              <p:cNvSpPr/>
              <p:nvPr/>
            </p:nvSpPr>
            <p:spPr>
              <a:xfrm>
                <a:off x="3914" y="9256"/>
                <a:ext cx="257" cy="255"/>
              </a:xfrm>
              <a:prstGeom prst="ellipse">
                <a:avLst/>
              </a:prstGeom>
              <a:solidFill>
                <a:srgbClr val="E85748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>
                  <a:solidFill>
                    <a:srgbClr val="9467BD"/>
                  </a:solidFill>
                </a:endParaRPr>
              </a:p>
            </p:txBody>
          </p:sp>
          <p:sp>
            <p:nvSpPr>
              <p:cNvPr id="44" name="椭圆 43"/>
              <p:cNvSpPr/>
              <p:nvPr/>
            </p:nvSpPr>
            <p:spPr>
              <a:xfrm>
                <a:off x="3914" y="9719"/>
                <a:ext cx="257" cy="255"/>
              </a:xfrm>
              <a:prstGeom prst="ellipse">
                <a:avLst/>
              </a:prstGeom>
              <a:solidFill>
                <a:srgbClr val="E85748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5" name="文本框 44"/>
              <p:cNvSpPr txBox="1"/>
              <p:nvPr/>
            </p:nvSpPr>
            <p:spPr>
              <a:xfrm>
                <a:off x="4299" y="9642"/>
                <a:ext cx="322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Africa, 2023</a:t>
                </a:r>
                <a:endParaRPr lang="en-US" altLang="zh-CN"/>
              </a:p>
            </p:txBody>
          </p:sp>
          <p:sp>
            <p:nvSpPr>
              <p:cNvPr id="46" name="文本框 45"/>
              <p:cNvSpPr txBox="1"/>
              <p:nvPr/>
            </p:nvSpPr>
            <p:spPr>
              <a:xfrm>
                <a:off x="8533" y="9142"/>
                <a:ext cx="455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/>
                  <a:t>South&amp;South-east Asia, 2016</a:t>
                </a:r>
                <a:endParaRPr lang="en-US" altLang="zh-CN"/>
              </a:p>
            </p:txBody>
          </p:sp>
          <p:sp>
            <p:nvSpPr>
              <p:cNvPr id="47" name="椭圆 46"/>
              <p:cNvSpPr/>
              <p:nvPr/>
            </p:nvSpPr>
            <p:spPr>
              <a:xfrm>
                <a:off x="8125" y="9256"/>
                <a:ext cx="257" cy="255"/>
              </a:xfrm>
              <a:prstGeom prst="ellipse">
                <a:avLst/>
              </a:prstGeom>
              <a:solidFill>
                <a:srgbClr val="F39F1B">
                  <a:alpha val="3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8" name="椭圆 47"/>
              <p:cNvSpPr/>
              <p:nvPr/>
            </p:nvSpPr>
            <p:spPr>
              <a:xfrm>
                <a:off x="8125" y="9719"/>
                <a:ext cx="257" cy="255"/>
              </a:xfrm>
              <a:prstGeom prst="ellipse">
                <a:avLst/>
              </a:prstGeom>
              <a:solidFill>
                <a:srgbClr val="F39F1B">
                  <a:alpha val="60000"/>
                </a:srgbClr>
              </a:solidFill>
              <a:ln>
                <a:noFill/>
              </a:ln>
            </p:spPr>
            <p:style>
              <a:lnRef idx="2">
                <a:schemeClr val="accent1">
                  <a:lumMod val="75000"/>
                </a:schemeClr>
              </a:lnRef>
              <a:fillRef idx="1">
                <a:schemeClr val="accent1"/>
              </a:fillRef>
              <a:effectRef idx="0">
                <a:srgbClr val="FFFFFF"/>
              </a:effectRef>
              <a:fontRef idx="minor">
                <a:schemeClr val="lt1"/>
              </a:fontRef>
            </p:style>
            <p:txBody>
              <a:bodyPr rtlCol="0" anchor="ctr"/>
              <a:p>
                <a:pPr algn="ctr"/>
                <a:endParaRPr lang="zh-CN" altLang="en-US" sz="2000"/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8533" y="9629"/>
                <a:ext cx="4557" cy="51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p>
                <a:r>
                  <a:rPr lang="en-US" altLang="zh-CN">
                    <a:sym typeface="+mn-ea"/>
                  </a:rPr>
                  <a:t>South&amp;South-east Asia, 2023</a:t>
                </a:r>
                <a:endParaRPr lang="en-US" altLang="zh-CN">
                  <a:sym typeface="+mn-ea"/>
                </a:endParaRPr>
              </a:p>
            </p:txBody>
          </p:sp>
        </p:grpSp>
        <p:sp>
          <p:nvSpPr>
            <p:cNvPr id="63" name="文本框 62"/>
            <p:cNvSpPr txBox="1"/>
            <p:nvPr/>
          </p:nvSpPr>
          <p:spPr>
            <a:xfrm>
              <a:off x="4171" y="7650"/>
              <a:ext cx="1485" cy="8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5" name="文本框 64"/>
            <p:cNvSpPr txBox="1"/>
            <p:nvPr/>
          </p:nvSpPr>
          <p:spPr>
            <a:xfrm>
              <a:off x="5656" y="4518"/>
              <a:ext cx="235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6" name="文本框 65"/>
            <p:cNvSpPr txBox="1"/>
            <p:nvPr/>
          </p:nvSpPr>
          <p:spPr>
            <a:xfrm>
              <a:off x="17023" y="7650"/>
              <a:ext cx="1485" cy="8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A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 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7.58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7" name="文本框 66"/>
            <p:cNvSpPr txBox="1"/>
            <p:nvPr/>
          </p:nvSpPr>
          <p:spPr>
            <a:xfrm>
              <a:off x="9126" y="6689"/>
              <a:ext cx="235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68" name="文本框 67"/>
            <p:cNvSpPr txBox="1"/>
            <p:nvPr/>
          </p:nvSpPr>
          <p:spPr>
            <a:xfrm>
              <a:off x="18442" y="6689"/>
              <a:ext cx="235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C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0.00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30" name="文本框 29"/>
            <p:cNvSpPr txBox="1"/>
            <p:nvPr/>
          </p:nvSpPr>
          <p:spPr>
            <a:xfrm>
              <a:off x="5683" y="1235"/>
              <a:ext cx="11340" cy="729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p>
              <a:pPr algn="ctr"/>
              <a:r>
                <a:rPr lang="en-US" altLang="zh-CN" sz="2800"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Vertical Profile</a:t>
              </a:r>
              <a:endParaRPr lang="en-US" altLang="zh-CN" sz="2800"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  <p:sp>
          <p:nvSpPr>
            <p:cNvPr id="85" name="文本框 84"/>
            <p:cNvSpPr txBox="1"/>
            <p:nvPr/>
          </p:nvSpPr>
          <p:spPr>
            <a:xfrm>
              <a:off x="10512" y="7989"/>
              <a:ext cx="2355" cy="47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p>
              <a:pPr algn="r"/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mean B </a:t>
              </a:r>
              <a:r>
                <a:rPr lang="en-US" altLang="zh-CN" sz="1600" i="1">
                  <a:solidFill>
                    <a:schemeClr val="bg1">
                      <a:lumMod val="50000"/>
                    </a:schemeClr>
                  </a:solidFill>
                  <a:latin typeface="Arial" panose="020B0604020202020204" pitchFamily="34" charset="0"/>
                  <a:cs typeface="Arial" panose="020B0604020202020204" pitchFamily="34" charset="0"/>
                  <a:sym typeface="+mn-ea"/>
                </a:rPr>
                <a:t>= -0.08</a:t>
              </a:r>
              <a:endParaRPr lang="en-US" altLang="zh-CN" sz="1600" i="1">
                <a:solidFill>
                  <a:schemeClr val="bg1">
                    <a:lumMod val="50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  <a:sym typeface="+mn-ea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5" name="图片 4"/>
          <p:cNvPicPr/>
          <p:nvPr/>
        </p:nvPicPr>
        <p:blipFill>
          <a:blip r:embed="rId1"/>
          <a:srcRect l="1918" t="1292" r="75749" b="52389"/>
          <a:stretch>
            <a:fillRect/>
          </a:stretch>
        </p:blipFill>
        <p:spPr>
          <a:xfrm>
            <a:off x="274955" y="539750"/>
            <a:ext cx="3201670" cy="3300095"/>
          </a:xfrm>
          <a:prstGeom prst="rect">
            <a:avLst/>
          </a:prstGeom>
        </p:spPr>
      </p:pic>
      <p:sp>
        <p:nvSpPr>
          <p:cNvPr id="6" name="文本框 5"/>
          <p:cNvSpPr txBox="1"/>
          <p:nvPr/>
        </p:nvSpPr>
        <p:spPr>
          <a:xfrm>
            <a:off x="629920" y="217170"/>
            <a:ext cx="2765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Strong Significance ***</a:t>
            </a:r>
            <a:endParaRPr lang="en-US" altLang="zh-CN"/>
          </a:p>
        </p:txBody>
      </p:sp>
      <p:sp>
        <p:nvSpPr>
          <p:cNvPr id="7" name="文本框 6"/>
          <p:cNvSpPr txBox="1"/>
          <p:nvPr/>
        </p:nvSpPr>
        <p:spPr>
          <a:xfrm>
            <a:off x="3990975" y="217170"/>
            <a:ext cx="2765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Strong Significance ***</a:t>
            </a:r>
            <a:endParaRPr lang="en-US" altLang="zh-CN"/>
          </a:p>
        </p:txBody>
      </p:sp>
      <p:sp>
        <p:nvSpPr>
          <p:cNvPr id="8" name="文本框 7"/>
          <p:cNvSpPr txBox="1"/>
          <p:nvPr/>
        </p:nvSpPr>
        <p:spPr>
          <a:xfrm>
            <a:off x="7457440" y="209550"/>
            <a:ext cx="2765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Strong Significance ***</a:t>
            </a:r>
            <a:endParaRPr lang="en-US" altLang="zh-CN"/>
          </a:p>
        </p:txBody>
      </p:sp>
      <p:sp>
        <p:nvSpPr>
          <p:cNvPr id="9" name="文本框 8"/>
          <p:cNvSpPr txBox="1"/>
          <p:nvPr/>
        </p:nvSpPr>
        <p:spPr>
          <a:xfrm>
            <a:off x="10923905" y="209550"/>
            <a:ext cx="2765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Strong Significance ***</a:t>
            </a:r>
            <a:endParaRPr lang="en-US" altLang="zh-CN"/>
          </a:p>
        </p:txBody>
      </p:sp>
      <p:sp>
        <p:nvSpPr>
          <p:cNvPr id="10" name="文本框 9"/>
          <p:cNvSpPr txBox="1"/>
          <p:nvPr/>
        </p:nvSpPr>
        <p:spPr>
          <a:xfrm>
            <a:off x="629920" y="7572375"/>
            <a:ext cx="2765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Not Significant</a:t>
            </a:r>
            <a:endParaRPr lang="en-US" altLang="zh-CN"/>
          </a:p>
        </p:txBody>
      </p:sp>
      <p:sp>
        <p:nvSpPr>
          <p:cNvPr id="11" name="文本框 10"/>
          <p:cNvSpPr txBox="1"/>
          <p:nvPr/>
        </p:nvSpPr>
        <p:spPr>
          <a:xfrm>
            <a:off x="4297680" y="7572375"/>
            <a:ext cx="2765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Significance ***</a:t>
            </a:r>
            <a:endParaRPr lang="en-US" altLang="zh-CN"/>
          </a:p>
        </p:txBody>
      </p:sp>
      <p:sp>
        <p:nvSpPr>
          <p:cNvPr id="12" name="文本框 11"/>
          <p:cNvSpPr txBox="1"/>
          <p:nvPr/>
        </p:nvSpPr>
        <p:spPr>
          <a:xfrm>
            <a:off x="7367270" y="7571105"/>
            <a:ext cx="27654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Significance *</a:t>
            </a:r>
            <a:endParaRPr lang="en-US" altLang="zh-CN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3" name="文本框 12"/>
              <p:cNvSpPr txBox="1"/>
              <p:nvPr/>
            </p:nvSpPr>
            <p:spPr>
              <a:xfrm>
                <a:off x="-131445" y="306070"/>
                <a:ext cx="761365" cy="63754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3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∆</m:t>
                      </m:r>
                      <m:r>
                        <a:rPr lang="en-US" altLang="zh-CN" sz="3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𝛼</m:t>
                      </m:r>
                    </m:oMath>
                  </m:oMathPara>
                </a14:m>
                <a:endParaRPr lang="en-US" altLang="zh-CN" sz="36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3" name="文本框 1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-131445" y="306070"/>
                <a:ext cx="761365" cy="637540"/>
              </a:xfrm>
              <a:prstGeom prst="rect">
                <a:avLst/>
              </a:prstGeom>
              <a:blipFill rotWithShape="1"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4" name="图片 13"/>
          <p:cNvPicPr/>
          <p:nvPr/>
        </p:nvPicPr>
        <p:blipFill>
          <a:blip r:embed="rId1"/>
          <a:srcRect l="27028" t="1292" r="50577" b="52389"/>
          <a:stretch>
            <a:fillRect/>
          </a:stretch>
        </p:blipFill>
        <p:spPr>
          <a:xfrm>
            <a:off x="3667125" y="539750"/>
            <a:ext cx="3210560" cy="330009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15" name="文本框 14"/>
              <p:cNvSpPr txBox="1"/>
              <p:nvPr/>
            </p:nvSpPr>
            <p:spPr>
              <a:xfrm>
                <a:off x="3395345" y="306070"/>
                <a:ext cx="761365" cy="63754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3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∆</m:t>
                      </m:r>
                      <m:r>
                        <a:rPr lang="en-US" altLang="zh-CN" sz="3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𝛽</m:t>
                      </m:r>
                    </m:oMath>
                  </m:oMathPara>
                </a14:m>
                <a:endParaRPr lang="en-US" altLang="zh-CN" sz="36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15" name="文本框 1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95345" y="306070"/>
                <a:ext cx="761365" cy="637540"/>
              </a:xfrm>
              <a:prstGeom prst="rect">
                <a:avLst/>
              </a:prstGeom>
              <a:blipFill rotWithShape="1"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6" name="图片 15"/>
          <p:cNvPicPr/>
          <p:nvPr/>
        </p:nvPicPr>
        <p:blipFill>
          <a:blip r:embed="rId1"/>
          <a:srcRect l="52342" t="811" r="25263" b="52513"/>
          <a:stretch>
            <a:fillRect/>
          </a:stretch>
        </p:blipFill>
        <p:spPr>
          <a:xfrm>
            <a:off x="7149465" y="514350"/>
            <a:ext cx="3210560" cy="3325495"/>
          </a:xfrm>
          <a:prstGeom prst="rect">
            <a:avLst/>
          </a:prstGeom>
        </p:spPr>
      </p:pic>
      <p:pic>
        <p:nvPicPr>
          <p:cNvPr id="17" name="图片 16"/>
          <p:cNvPicPr/>
          <p:nvPr/>
        </p:nvPicPr>
        <p:blipFill>
          <a:blip r:embed="rId1"/>
          <a:srcRect l="77426" t="935" r="237" b="52389"/>
          <a:stretch>
            <a:fillRect/>
          </a:stretch>
        </p:blipFill>
        <p:spPr>
          <a:xfrm>
            <a:off x="10578465" y="514350"/>
            <a:ext cx="3202305" cy="3325495"/>
          </a:xfrm>
          <a:prstGeom prst="rect">
            <a:avLst/>
          </a:prstGeom>
        </p:spPr>
      </p:pic>
      <p:pic>
        <p:nvPicPr>
          <p:cNvPr id="18" name="图片 17"/>
          <p:cNvPicPr/>
          <p:nvPr/>
        </p:nvPicPr>
        <p:blipFill>
          <a:blip r:embed="rId1"/>
          <a:srcRect l="1917" t="50579" r="75927" b="3155"/>
          <a:stretch>
            <a:fillRect/>
          </a:stretch>
        </p:blipFill>
        <p:spPr>
          <a:xfrm>
            <a:off x="274955" y="4189095"/>
            <a:ext cx="3176270" cy="3296285"/>
          </a:xfrm>
          <a:prstGeom prst="rect">
            <a:avLst/>
          </a:prstGeom>
        </p:spPr>
      </p:pic>
      <p:pic>
        <p:nvPicPr>
          <p:cNvPr id="19" name="图片 18"/>
          <p:cNvPicPr/>
          <p:nvPr/>
        </p:nvPicPr>
        <p:blipFill>
          <a:blip r:embed="rId1"/>
          <a:srcRect l="27196" t="50579" r="50688" b="2977"/>
          <a:stretch>
            <a:fillRect/>
          </a:stretch>
        </p:blipFill>
        <p:spPr>
          <a:xfrm>
            <a:off x="3502025" y="4189095"/>
            <a:ext cx="3170555" cy="3308985"/>
          </a:xfrm>
          <a:prstGeom prst="rect">
            <a:avLst/>
          </a:prstGeom>
        </p:spPr>
      </p:pic>
      <p:pic>
        <p:nvPicPr>
          <p:cNvPr id="20" name="图片 19"/>
          <p:cNvPicPr/>
          <p:nvPr/>
        </p:nvPicPr>
        <p:blipFill>
          <a:blip r:embed="rId1"/>
          <a:srcRect l="50916" t="50579" r="25356" b="2977"/>
          <a:stretch>
            <a:fillRect/>
          </a:stretch>
        </p:blipFill>
        <p:spPr>
          <a:xfrm>
            <a:off x="6579870" y="4189095"/>
            <a:ext cx="3401695" cy="3308985"/>
          </a:xfrm>
          <a:prstGeom prst="rect">
            <a:avLst/>
          </a:prstGeom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22" name="文本框 21"/>
              <p:cNvSpPr txBox="1"/>
              <p:nvPr/>
            </p:nvSpPr>
            <p:spPr>
              <a:xfrm>
                <a:off x="6756400" y="306070"/>
                <a:ext cx="761365" cy="63754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3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∆</m:t>
                      </m:r>
                      <m:r>
                        <a:rPr lang="en-US" altLang="zh-CN" sz="3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𝜅</m:t>
                      </m:r>
                    </m:oMath>
                  </m:oMathPara>
                </a14:m>
                <a:endParaRPr lang="en-US" altLang="zh-CN" sz="36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2" name="文本框 2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6400" y="306070"/>
                <a:ext cx="761365" cy="637540"/>
              </a:xfrm>
              <a:prstGeom prst="rect">
                <a:avLst/>
              </a:prstGeom>
              <a:blipFill rotWithShape="1"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文本框 22"/>
              <p:cNvSpPr txBox="1"/>
              <p:nvPr/>
            </p:nvSpPr>
            <p:spPr>
              <a:xfrm>
                <a:off x="10188575" y="306070"/>
                <a:ext cx="761365" cy="63754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3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∆</m:t>
                      </m:r>
                      <m:r>
                        <a:rPr lang="en-US" altLang="zh-CN" sz="3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𝛿</m:t>
                      </m:r>
                    </m:oMath>
                  </m:oMathPara>
                </a14:m>
                <a:endParaRPr lang="en-US" altLang="zh-CN" sz="36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3" name="文本框 2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188575" y="306070"/>
                <a:ext cx="761365" cy="637540"/>
              </a:xfrm>
              <a:prstGeom prst="rect">
                <a:avLst/>
              </a:prstGeom>
              <a:blipFill rotWithShape="1"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4" name="文本框 23"/>
              <p:cNvSpPr txBox="1"/>
              <p:nvPr/>
            </p:nvSpPr>
            <p:spPr>
              <a:xfrm>
                <a:off x="0" y="4189095"/>
                <a:ext cx="761365" cy="63754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3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∆</m:t>
                      </m:r>
                      <m:r>
                        <a:rPr lang="en-US" altLang="zh-CN" sz="3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𝐴</m:t>
                      </m:r>
                    </m:oMath>
                  </m:oMathPara>
                </a14:m>
                <a:endParaRPr lang="en-US" altLang="zh-CN" sz="36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4" name="文本框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189095"/>
                <a:ext cx="761365" cy="637540"/>
              </a:xfrm>
              <a:prstGeom prst="rect">
                <a:avLst/>
              </a:prstGeom>
              <a:blipFill rotWithShape="1"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5" name="文本框 24"/>
              <p:cNvSpPr txBox="1"/>
              <p:nvPr/>
            </p:nvSpPr>
            <p:spPr>
              <a:xfrm>
                <a:off x="3879215" y="4208145"/>
                <a:ext cx="761365" cy="63754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3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∆</m:t>
                      </m:r>
                      <m:r>
                        <a:rPr lang="en-US" altLang="zh-CN" sz="3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𝐵</m:t>
                      </m:r>
                    </m:oMath>
                  </m:oMathPara>
                </a14:m>
                <a:endParaRPr lang="en-US" altLang="zh-CN" sz="36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5" name="文本框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79215" y="4208145"/>
                <a:ext cx="761365" cy="637540"/>
              </a:xfrm>
              <a:prstGeom prst="rect">
                <a:avLst/>
              </a:prstGeom>
              <a:blipFill rotWithShape="1">
                <a:blip r:embed="rId7"/>
                <a:stretch>
                  <a:fillRect l="-509508" t="-660060" r="-1191993" b="-13913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6" name="文本框 25"/>
              <p:cNvSpPr txBox="1"/>
              <p:nvPr/>
            </p:nvSpPr>
            <p:spPr>
              <a:xfrm>
                <a:off x="7044690" y="4189095"/>
                <a:ext cx="761365" cy="637540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CN" sz="3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∆</m:t>
                      </m:r>
                      <m:r>
                        <a:rPr lang="en-US" altLang="zh-CN" sz="3600" i="1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𝐶</m:t>
                      </m:r>
                    </m:oMath>
                  </m:oMathPara>
                </a14:m>
                <a:endParaRPr lang="en-US" altLang="zh-CN" sz="3600" i="1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26" name="文本框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44690" y="4189095"/>
                <a:ext cx="761365" cy="637540"/>
              </a:xfrm>
              <a:prstGeom prst="rect">
                <a:avLst/>
              </a:prstGeom>
              <a:blipFill rotWithShape="1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7" name="文本框 26"/>
          <p:cNvSpPr txBox="1"/>
          <p:nvPr/>
        </p:nvSpPr>
        <p:spPr>
          <a:xfrm>
            <a:off x="514350" y="3747770"/>
            <a:ext cx="28555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Pop_growth rate</a:t>
            </a:r>
            <a:endParaRPr lang="en-US" altLang="zh-CN"/>
          </a:p>
        </p:txBody>
      </p:sp>
      <p:sp>
        <p:nvSpPr>
          <p:cNvPr id="28" name="文本框 27"/>
          <p:cNvSpPr txBox="1"/>
          <p:nvPr/>
        </p:nvSpPr>
        <p:spPr>
          <a:xfrm>
            <a:off x="3940810" y="3747770"/>
            <a:ext cx="28555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Pop_growth rate</a:t>
            </a:r>
            <a:endParaRPr lang="en-US" altLang="zh-CN"/>
          </a:p>
        </p:txBody>
      </p:sp>
      <p:sp>
        <p:nvSpPr>
          <p:cNvPr id="30" name="文本框 29"/>
          <p:cNvSpPr txBox="1"/>
          <p:nvPr/>
        </p:nvSpPr>
        <p:spPr>
          <a:xfrm>
            <a:off x="7367270" y="3747770"/>
            <a:ext cx="28555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Pop_growth rate</a:t>
            </a:r>
            <a:endParaRPr lang="en-US" altLang="zh-CN"/>
          </a:p>
        </p:txBody>
      </p:sp>
      <p:sp>
        <p:nvSpPr>
          <p:cNvPr id="31" name="文本框 30"/>
          <p:cNvSpPr txBox="1"/>
          <p:nvPr/>
        </p:nvSpPr>
        <p:spPr>
          <a:xfrm>
            <a:off x="10925175" y="3839845"/>
            <a:ext cx="285559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pPr algn="ctr"/>
            <a:r>
              <a:rPr lang="en-US" altLang="zh-CN"/>
              <a:t>Pop_growth rate</a:t>
            </a:r>
            <a:endParaRPr lang="en-US" altLang="zh-CN"/>
          </a:p>
        </p:txBody>
      </p:sp>
      <p:sp>
        <p:nvSpPr>
          <p:cNvPr id="35" name="椭圆 34"/>
          <p:cNvSpPr/>
          <p:nvPr/>
        </p:nvSpPr>
        <p:spPr>
          <a:xfrm>
            <a:off x="10689341" y="6049615"/>
            <a:ext cx="163044" cy="161925"/>
          </a:xfrm>
          <a:prstGeom prst="ellipse">
            <a:avLst/>
          </a:prstGeom>
          <a:solidFill>
            <a:srgbClr val="47A2DE">
              <a:alpha val="9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38" name="文本框 37"/>
          <p:cNvSpPr txBox="1"/>
          <p:nvPr/>
        </p:nvSpPr>
        <p:spPr>
          <a:xfrm>
            <a:off x="10923996" y="5995005"/>
            <a:ext cx="2011511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/>
              <a:t>Latin America, 2023</a:t>
            </a:r>
            <a:endParaRPr lang="en-US" altLang="zh-CN" sz="1600"/>
          </a:p>
        </p:txBody>
      </p:sp>
      <p:sp>
        <p:nvSpPr>
          <p:cNvPr id="44" name="椭圆 43"/>
          <p:cNvSpPr/>
          <p:nvPr/>
        </p:nvSpPr>
        <p:spPr>
          <a:xfrm>
            <a:off x="10679026" y="5245070"/>
            <a:ext cx="163044" cy="161925"/>
          </a:xfrm>
          <a:prstGeom prst="ellipse">
            <a:avLst/>
          </a:prstGeom>
          <a:solidFill>
            <a:srgbClr val="E85748">
              <a:alpha val="9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5" name="文本框 44"/>
          <p:cNvSpPr txBox="1"/>
          <p:nvPr/>
        </p:nvSpPr>
        <p:spPr>
          <a:xfrm>
            <a:off x="10923911" y="5196175"/>
            <a:ext cx="204923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/>
              <a:t>Africa, 2023</a:t>
            </a:r>
            <a:endParaRPr lang="en-US" altLang="zh-CN" sz="1600"/>
          </a:p>
        </p:txBody>
      </p:sp>
      <p:sp>
        <p:nvSpPr>
          <p:cNvPr id="48" name="椭圆 47"/>
          <p:cNvSpPr/>
          <p:nvPr/>
        </p:nvSpPr>
        <p:spPr>
          <a:xfrm>
            <a:off x="10664352" y="5652740"/>
            <a:ext cx="163044" cy="161925"/>
          </a:xfrm>
          <a:prstGeom prst="ellipse">
            <a:avLst/>
          </a:prstGeom>
          <a:solidFill>
            <a:srgbClr val="F39F1B">
              <a:alpha val="90000"/>
            </a:srgbClr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49" name="文本框 48"/>
          <p:cNvSpPr txBox="1"/>
          <p:nvPr/>
        </p:nvSpPr>
        <p:spPr>
          <a:xfrm>
            <a:off x="10923943" y="5595590"/>
            <a:ext cx="2893865" cy="33718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 sz="1600">
                <a:sym typeface="+mn-ea"/>
              </a:rPr>
              <a:t>South&amp;South-east Asia, 2023</a:t>
            </a:r>
            <a:endParaRPr lang="en-US" altLang="zh-CN" sz="1600"/>
          </a:p>
        </p:txBody>
      </p:sp>
      <p:sp>
        <p:nvSpPr>
          <p:cNvPr id="3" name="文本框 2"/>
          <p:cNvSpPr txBox="1"/>
          <p:nvPr/>
        </p:nvSpPr>
        <p:spPr>
          <a:xfrm>
            <a:off x="10419715" y="6521450"/>
            <a:ext cx="3520440" cy="9220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Population growth ↑ </a:t>
            </a:r>
            <a:endParaRPr lang="en-US" altLang="zh-CN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→ Δα ↓, Δβ ↑, Δκ ↑, Δδ ↓</a:t>
            </a:r>
            <a:endParaRPr lang="en-US" altLang="zh-CN" b="1">
              <a:sym typeface="+mn-ea"/>
            </a:endParaRPr>
          </a:p>
          <a:p>
            <a:pPr indent="0">
              <a:buFont typeface="Arial" panose="020B0604020202020204" pitchFamily="34" charset="0"/>
              <a:buNone/>
            </a:pPr>
            <a:r>
              <a:rPr lang="en-US" altLang="zh-CN" b="1">
                <a:sym typeface="+mn-ea"/>
              </a:rPr>
              <a:t>→ ΔB ↓, ΔC ↑</a:t>
            </a:r>
            <a:endParaRPr lang="en-US" altLang="zh-CN" b="1">
              <a:sym typeface="+mn-ea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890" smtClean="0"/>
            </a:fld>
            <a:endParaRPr lang="de-AT" sz="189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1" name="TextBox 30"/>
              <p:cNvSpPr txBox="1"/>
              <p:nvPr/>
            </p:nvSpPr>
            <p:spPr>
              <a:xfrm>
                <a:off x="7385184" y="5502359"/>
                <a:ext cx="2519071" cy="43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205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𝛼</m:t>
                    </m:r>
                  </m:oMath>
                </a14:m>
                <a:r>
                  <a:rPr lang="en-US" sz="2205" dirty="0">
                    <a:latin typeface="Arial" panose="020B0604020202020204" pitchFamily="34" charset="0"/>
                  </a:rPr>
                  <a:t> large, </a:t>
                </a:r>
                <a14:m>
                  <m:oMath xmlns:m="http://schemas.openxmlformats.org/officeDocument/2006/math">
                    <m:r>
                      <a:rPr lang="en-US" sz="2205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𝛽</m:t>
                    </m:r>
                    <m:r>
                      <a:rPr lang="en-US" sz="2205" b="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 </m:t>
                    </m:r>
                  </m:oMath>
                </a14:m>
                <a:r>
                  <a:rPr lang="en-US" sz="2205" dirty="0">
                    <a:latin typeface="Arial" panose="020B0604020202020204" pitchFamily="34" charset="0"/>
                  </a:rPr>
                  <a:t>small</a:t>
                </a:r>
                <a:endParaRPr lang="en-US" sz="2205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184" y="5502359"/>
                <a:ext cx="2519071" cy="431165"/>
              </a:xfrm>
              <a:prstGeom prst="rect">
                <a:avLst/>
              </a:prstGeom>
              <a:blipFill rotWithShape="1">
                <a:blip r:embed="rId1"/>
                <a:stretch>
                  <a:fillRect l="-5" t="-20" r="6" b="2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/>
              <p:cNvSpPr txBox="1"/>
              <p:nvPr/>
            </p:nvSpPr>
            <p:spPr>
              <a:xfrm>
                <a:off x="697159" y="5490360"/>
                <a:ext cx="2573067" cy="43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205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𝛼</m:t>
                    </m:r>
                  </m:oMath>
                </a14:m>
                <a:r>
                  <a:rPr lang="en-US" sz="2205" dirty="0">
                    <a:latin typeface="Arial" panose="020B0604020202020204" pitchFamily="34" charset="0"/>
                  </a:rPr>
                  <a:t> small, </a:t>
                </a:r>
                <a14:m>
                  <m:oMath xmlns:m="http://schemas.openxmlformats.org/officeDocument/2006/math">
                    <m:r>
                      <a:rPr lang="en-US" sz="2205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𝛽</m:t>
                    </m:r>
                    <m:r>
                      <a:rPr lang="en-US" sz="2205" b="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 </m:t>
                    </m:r>
                  </m:oMath>
                </a14:m>
                <a:r>
                  <a:rPr lang="en-US" sz="2205" dirty="0">
                    <a:latin typeface="Arial" panose="020B0604020202020204" pitchFamily="34" charset="0"/>
                  </a:rPr>
                  <a:t>small</a:t>
                </a:r>
                <a:endParaRPr lang="en-US" sz="2205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1" name="TextBox 1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159" y="5490360"/>
                <a:ext cx="2573067" cy="431165"/>
              </a:xfrm>
              <a:prstGeom prst="rect">
                <a:avLst/>
              </a:prstGeom>
              <a:blipFill rotWithShape="1">
                <a:blip r:embed="rId2"/>
                <a:stretch>
                  <a:fillRect l="-22" t="-35" r="24" b="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1" name="TextBox 20"/>
              <p:cNvSpPr txBox="1"/>
              <p:nvPr/>
            </p:nvSpPr>
            <p:spPr>
              <a:xfrm>
                <a:off x="10675201" y="5490360"/>
                <a:ext cx="2573067" cy="43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205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𝛼</m:t>
                    </m:r>
                  </m:oMath>
                </a14:m>
                <a:r>
                  <a:rPr lang="en-US" sz="2205" dirty="0">
                    <a:latin typeface="Arial" panose="020B0604020202020204" pitchFamily="34" charset="0"/>
                  </a:rPr>
                  <a:t> large, </a:t>
                </a:r>
                <a14:m>
                  <m:oMath xmlns:m="http://schemas.openxmlformats.org/officeDocument/2006/math">
                    <m:r>
                      <a:rPr lang="en-US" sz="2205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𝛽</m:t>
                    </m:r>
                    <m:r>
                      <a:rPr lang="en-US" sz="2205" b="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 </m:t>
                    </m:r>
                  </m:oMath>
                </a14:m>
                <a:r>
                  <a:rPr lang="en-US" sz="2205" dirty="0">
                    <a:latin typeface="Arial" panose="020B0604020202020204" pitchFamily="34" charset="0"/>
                  </a:rPr>
                  <a:t>large</a:t>
                </a:r>
                <a:endParaRPr lang="en-US" sz="2205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675201" y="5490360"/>
                <a:ext cx="2573067" cy="431165"/>
              </a:xfrm>
              <a:prstGeom prst="rect">
                <a:avLst/>
              </a:prstGeom>
              <a:blipFill rotWithShape="1">
                <a:blip r:embed="rId3"/>
                <a:stretch>
                  <a:fillRect l="-8" t="-35" r="10" b="3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58" name="TextBox 57"/>
              <p:cNvSpPr txBox="1"/>
              <p:nvPr/>
            </p:nvSpPr>
            <p:spPr>
              <a:xfrm>
                <a:off x="4041172" y="5484361"/>
                <a:ext cx="2573067" cy="4311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2205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𝛼</m:t>
                    </m:r>
                  </m:oMath>
                </a14:m>
                <a:r>
                  <a:rPr lang="en-US" sz="2205" dirty="0">
                    <a:latin typeface="Arial" panose="020B0604020202020204" pitchFamily="34" charset="0"/>
                  </a:rPr>
                  <a:t> </a:t>
                </a:r>
                <a:r>
                  <a:rPr lang="en-US" altLang="zh-CN" sz="2205" dirty="0">
                    <a:latin typeface="Arial" panose="020B0604020202020204" pitchFamily="34" charset="0"/>
                  </a:rPr>
                  <a:t>small</a:t>
                </a:r>
                <a:r>
                  <a:rPr lang="en-US" sz="2205" dirty="0">
                    <a:latin typeface="Arial" panose="020B0604020202020204" pitchFamily="34" charset="0"/>
                  </a:rPr>
                  <a:t>, </a:t>
                </a:r>
                <a14:m>
                  <m:oMath xmlns:m="http://schemas.openxmlformats.org/officeDocument/2006/math">
                    <m:r>
                      <a:rPr lang="en-US" sz="2205" i="1" smtClean="0">
                        <a:latin typeface="Cambria Math" panose="02040503050406030204" charset="0"/>
                        <a:ea typeface="Cambria Math" panose="02040503050406030204" charset="0"/>
                      </a:rPr>
                      <m:t>𝛽</m:t>
                    </m:r>
                    <m:r>
                      <a:rPr lang="en-US" sz="2205" b="0" i="1" smtClean="0">
                        <a:latin typeface="Cambria Math" panose="02040503050406030204" charset="0"/>
                        <a:ea typeface="Cambria Math" panose="02040503050406030204" charset="0"/>
                      </a:rPr>
                      <m:t> </m:t>
                    </m:r>
                  </m:oMath>
                </a14:m>
                <a:r>
                  <a:rPr lang="en-US" altLang="zh-CN" sz="2205" dirty="0">
                    <a:latin typeface="Arial" panose="020B0604020202020204" pitchFamily="34" charset="0"/>
                  </a:rPr>
                  <a:t>large</a:t>
                </a:r>
                <a:endParaRPr lang="en-US" sz="2205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41172" y="5484361"/>
                <a:ext cx="2573067" cy="431165"/>
              </a:xfrm>
              <a:prstGeom prst="rect">
                <a:avLst/>
              </a:prstGeom>
              <a:blipFill rotWithShape="1">
                <a:blip r:embed="rId4"/>
                <a:stretch>
                  <a:fillRect l="-1" t="-116" r="3" b="11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TextBox 12"/>
          <p:cNvSpPr txBox="1"/>
          <p:nvPr/>
        </p:nvSpPr>
        <p:spPr>
          <a:xfrm>
            <a:off x="1679589" y="1685880"/>
            <a:ext cx="4732164" cy="3816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90" dirty="0">
                <a:latin typeface="Arial" panose="020B0604020202020204" pitchFamily="34" charset="0"/>
              </a:rPr>
              <a:t>Structural Zeros (cannot be constructed)</a:t>
            </a:r>
            <a:endParaRPr lang="en-US" sz="1890" dirty="0">
              <a:latin typeface="Arial" panose="020B0604020202020204" pitchFamily="34" charset="0"/>
            </a:endParaRPr>
          </a:p>
        </p:txBody>
      </p:sp>
      <p:sp>
        <p:nvSpPr>
          <p:cNvPr id="33" name="TextBox 98"/>
          <p:cNvSpPr txBox="1"/>
          <p:nvPr/>
        </p:nvSpPr>
        <p:spPr>
          <a:xfrm>
            <a:off x="6908968" y="1699379"/>
            <a:ext cx="3326764" cy="3816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90" dirty="0">
                <a:latin typeface="Arial" panose="020B0604020202020204" pitchFamily="34" charset="0"/>
              </a:rPr>
              <a:t>Constructable Area</a:t>
            </a:r>
            <a:endParaRPr lang="en-US" sz="1890" dirty="0">
              <a:latin typeface="Arial" panose="020B0604020202020204" pitchFamily="34" charset="0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1163626" y="1605636"/>
            <a:ext cx="515963" cy="515963"/>
          </a:xfrm>
          <a:prstGeom prst="rect">
            <a:avLst/>
          </a:prstGeom>
          <a:solidFill>
            <a:srgbClr val="696969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20"/>
          </a:p>
        </p:txBody>
      </p:sp>
      <p:sp>
        <p:nvSpPr>
          <p:cNvPr id="37" name="矩形 36"/>
          <p:cNvSpPr/>
          <p:nvPr/>
        </p:nvSpPr>
        <p:spPr>
          <a:xfrm>
            <a:off x="6393005" y="1619885"/>
            <a:ext cx="515963" cy="515963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20"/>
          </a:p>
        </p:txBody>
      </p:sp>
      <p:grpSp>
        <p:nvGrpSpPr>
          <p:cNvPr id="2" name="组合 1"/>
          <p:cNvGrpSpPr/>
          <p:nvPr/>
        </p:nvGrpSpPr>
        <p:grpSpPr>
          <a:xfrm>
            <a:off x="370182" y="2205593"/>
            <a:ext cx="3227771" cy="3202273"/>
            <a:chOff x="493" y="2941"/>
            <a:chExt cx="4304" cy="4270"/>
          </a:xfrm>
        </p:grpSpPr>
        <p:pic>
          <p:nvPicPr>
            <p:cNvPr id="40" name="图片 39"/>
            <p:cNvPicPr>
              <a:picLocks noChangeAspect="1"/>
            </p:cNvPicPr>
            <p:nvPr/>
          </p:nvPicPr>
          <p:blipFill>
            <a:blip r:embed="rId5">
              <a:grayscl/>
            </a:blip>
            <a:stretch>
              <a:fillRect/>
            </a:stretch>
          </p:blipFill>
          <p:spPr>
            <a:xfrm>
              <a:off x="493" y="2941"/>
              <a:ext cx="4304" cy="4271"/>
            </a:xfrm>
            <a:prstGeom prst="rect">
              <a:avLst/>
            </a:prstGeom>
          </p:spPr>
        </p:pic>
        <p:sp>
          <p:nvSpPr>
            <p:cNvPr id="19" name="椭圆 18"/>
            <p:cNvSpPr/>
            <p:nvPr/>
          </p:nvSpPr>
          <p:spPr>
            <a:xfrm>
              <a:off x="598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</p:grpSp>
      <p:grpSp>
        <p:nvGrpSpPr>
          <p:cNvPr id="3" name="组合 2"/>
          <p:cNvGrpSpPr/>
          <p:nvPr/>
        </p:nvGrpSpPr>
        <p:grpSpPr>
          <a:xfrm>
            <a:off x="3696946" y="2205593"/>
            <a:ext cx="3226271" cy="3202273"/>
            <a:chOff x="4929" y="2941"/>
            <a:chExt cx="4302" cy="4270"/>
          </a:xfrm>
        </p:grpSpPr>
        <p:pic>
          <p:nvPicPr>
            <p:cNvPr id="44" name="图片 43"/>
            <p:cNvPicPr>
              <a:picLocks noChangeAspect="1"/>
            </p:cNvPicPr>
            <p:nvPr/>
          </p:nvPicPr>
          <p:blipFill>
            <a:blip r:embed="rId6">
              <a:grayscl/>
            </a:blip>
            <a:stretch>
              <a:fillRect/>
            </a:stretch>
          </p:blipFill>
          <p:spPr>
            <a:xfrm>
              <a:off x="4929" y="2941"/>
              <a:ext cx="4303" cy="4271"/>
            </a:xfrm>
            <a:prstGeom prst="rect">
              <a:avLst/>
            </a:prstGeom>
          </p:spPr>
        </p:pic>
        <p:sp>
          <p:nvSpPr>
            <p:cNvPr id="39" name="椭圆 38"/>
            <p:cNvSpPr/>
            <p:nvPr/>
          </p:nvSpPr>
          <p:spPr>
            <a:xfrm>
              <a:off x="5028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7022960" y="2205593"/>
            <a:ext cx="3226271" cy="3202273"/>
            <a:chOff x="9364" y="2941"/>
            <a:chExt cx="4302" cy="4270"/>
          </a:xfrm>
        </p:grpSpPr>
        <p:pic>
          <p:nvPicPr>
            <p:cNvPr id="46" name="图片 45"/>
            <p:cNvPicPr>
              <a:picLocks noChangeAspect="1"/>
            </p:cNvPicPr>
            <p:nvPr/>
          </p:nvPicPr>
          <p:blipFill>
            <a:blip r:embed="rId7">
              <a:grayscl/>
            </a:blip>
            <a:stretch>
              <a:fillRect/>
            </a:stretch>
          </p:blipFill>
          <p:spPr>
            <a:xfrm>
              <a:off x="9364" y="2941"/>
              <a:ext cx="4303" cy="4271"/>
            </a:xfrm>
            <a:prstGeom prst="rect">
              <a:avLst/>
            </a:prstGeom>
          </p:spPr>
        </p:pic>
        <p:sp>
          <p:nvSpPr>
            <p:cNvPr id="45" name="椭圆 44"/>
            <p:cNvSpPr/>
            <p:nvPr/>
          </p:nvSpPr>
          <p:spPr>
            <a:xfrm>
              <a:off x="9457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</p:grpSp>
      <p:grpSp>
        <p:nvGrpSpPr>
          <p:cNvPr id="6" name="组合 5"/>
          <p:cNvGrpSpPr/>
          <p:nvPr/>
        </p:nvGrpSpPr>
        <p:grpSpPr>
          <a:xfrm>
            <a:off x="10348974" y="2205593"/>
            <a:ext cx="3226271" cy="3202273"/>
            <a:chOff x="13799" y="2941"/>
            <a:chExt cx="4302" cy="4270"/>
          </a:xfrm>
        </p:grpSpPr>
        <p:pic>
          <p:nvPicPr>
            <p:cNvPr id="47" name="图片 46"/>
            <p:cNvPicPr>
              <a:picLocks noChangeAspect="1"/>
            </p:cNvPicPr>
            <p:nvPr/>
          </p:nvPicPr>
          <p:blipFill>
            <a:blip r:embed="rId8">
              <a:grayscl/>
            </a:blip>
            <a:stretch>
              <a:fillRect/>
            </a:stretch>
          </p:blipFill>
          <p:spPr>
            <a:xfrm>
              <a:off x="13799" y="2941"/>
              <a:ext cx="4303" cy="4271"/>
            </a:xfrm>
            <a:prstGeom prst="rect">
              <a:avLst/>
            </a:prstGeom>
          </p:spPr>
        </p:pic>
        <p:sp>
          <p:nvSpPr>
            <p:cNvPr id="48" name="椭圆 47"/>
            <p:cNvSpPr/>
            <p:nvPr/>
          </p:nvSpPr>
          <p:spPr>
            <a:xfrm>
              <a:off x="13887" y="3013"/>
              <a:ext cx="4199" cy="4199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38" name="TextBox 8"/>
              <p:cNvSpPr txBox="1"/>
              <p:nvPr/>
            </p:nvSpPr>
            <p:spPr>
              <a:xfrm>
                <a:off x="9507534" y="1623635"/>
                <a:ext cx="4199890" cy="52768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835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𝜑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(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𝑟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)=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𝑙𝑜𝑔𝑖𝑠𝑡𝑖𝑐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(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𝛼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+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𝛽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∙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Cambria Math" panose="02040503050406030204" charset="0"/>
                        </a:rPr>
                        <m:t>𝑟</m:t>
                      </m:r>
                      <m:r>
                        <a:rPr lang="en-US" sz="2835" b="0" i="1" smtClean="0">
                          <a:latin typeface="Cambria Math" panose="02040503050406030204" charset="0"/>
                          <a:ea typeface="MS Mincho" charset="0"/>
                          <a:cs typeface="Cambria Math" panose="02040503050406030204" charset="0"/>
                        </a:rPr>
                        <m:t>)</m:t>
                      </m:r>
                    </m:oMath>
                  </m:oMathPara>
                </a14:m>
                <a:endParaRPr lang="en-US" sz="2835" b="0" i="1" dirty="0" smtClean="0">
                  <a:latin typeface="Cambria Math" panose="02040503050406030204" charset="0"/>
                  <a:ea typeface="MS Mincho" charset="0"/>
                  <a:cs typeface="Cambria Math" panose="02040503050406030204" charset="0"/>
                </a:endParaRPr>
              </a:p>
            </p:txBody>
          </p:sp>
        </mc:Choice>
        <mc:Fallback>
          <p:sp>
            <p:nvSpPr>
              <p:cNvPr id="38" name="TextBox 8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507534" y="1623635"/>
                <a:ext cx="4199890" cy="527685"/>
              </a:xfrm>
              <a:prstGeom prst="rect">
                <a:avLst/>
              </a:prstGeom>
              <a:blipFill rotWithShape="1">
                <a:blip r:embed="rId9"/>
                <a:stretch>
                  <a:fillRect l="-7" t="-109" r="-38" b="10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1" name="文本框 60"/>
          <p:cNvSpPr txBox="1"/>
          <p:nvPr/>
        </p:nvSpPr>
        <p:spPr>
          <a:xfrm>
            <a:off x="4085419" y="5919330"/>
            <a:ext cx="2419328" cy="817245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buClrTx/>
              <a:buSzTx/>
              <a:buFontTx/>
            </a:pPr>
            <a:r>
              <a: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Low-Constraint</a:t>
            </a:r>
            <a:endParaRPr lang="en-US" altLang="zh-CN" sz="2360">
              <a:solidFill>
                <a:schemeClr val="bg1">
                  <a:lumMod val="50000"/>
                </a:schemeClr>
              </a:solidFill>
              <a:latin typeface="+mn-lt"/>
              <a:cs typeface="+mn-lt"/>
              <a:sym typeface="+mn-ea"/>
            </a:endParaRPr>
          </a:p>
          <a:p>
            <a:pPr lvl="0" algn="ctr">
              <a:buClrTx/>
              <a:buSzTx/>
              <a:buFontTx/>
            </a:pPr>
            <a:r>
              <a: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Steep-Gradient</a:t>
            </a:r>
            <a:endParaRPr lang="en-US" altLang="zh-CN" sz="2360">
              <a:solidFill>
                <a:schemeClr val="bg1">
                  <a:lumMod val="50000"/>
                </a:schemeClr>
              </a:solidFill>
              <a:latin typeface="+mn-lt"/>
              <a:cs typeface="+mn-lt"/>
              <a:sym typeface="+mn-ea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697159" y="5919330"/>
            <a:ext cx="2419328" cy="817245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buClrTx/>
              <a:buSzTx/>
              <a:buFontTx/>
            </a:pPr>
            <a:r>
              <a: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Low-Constraint, Flat-Gradient</a:t>
            </a:r>
            <a:endParaRPr lang="en-US" altLang="zh-CN" sz="2360">
              <a:solidFill>
                <a:schemeClr val="bg1">
                  <a:lumMod val="50000"/>
                </a:schemeClr>
              </a:solidFill>
              <a:latin typeface="+mn-lt"/>
              <a:cs typeface="+mn-lt"/>
              <a:sym typeface="+mn-ea"/>
            </a:endParaRPr>
          </a:p>
        </p:txBody>
      </p:sp>
      <p:sp>
        <p:nvSpPr>
          <p:cNvPr id="60" name="文本框 59"/>
          <p:cNvSpPr txBox="1"/>
          <p:nvPr/>
        </p:nvSpPr>
        <p:spPr>
          <a:xfrm>
            <a:off x="10751695" y="5919330"/>
            <a:ext cx="2419328" cy="817245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buClrTx/>
              <a:buSzTx/>
              <a:buFontTx/>
            </a:pPr>
            <a:r>
              <a: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High-Constraint, Steep-Gradient</a:t>
            </a:r>
            <a:endParaRPr lang="en-US" altLang="zh-CN" sz="2360">
              <a:solidFill>
                <a:schemeClr val="bg1">
                  <a:lumMod val="50000"/>
                </a:schemeClr>
              </a:solidFill>
              <a:latin typeface="+mn-lt"/>
              <a:cs typeface="+mn-lt"/>
              <a:sym typeface="+mn-ea"/>
            </a:endParaRPr>
          </a:p>
        </p:txBody>
      </p:sp>
      <p:sp>
        <p:nvSpPr>
          <p:cNvPr id="62" name="文本框 61"/>
          <p:cNvSpPr txBox="1"/>
          <p:nvPr/>
        </p:nvSpPr>
        <p:spPr>
          <a:xfrm>
            <a:off x="7473678" y="5919330"/>
            <a:ext cx="2419328" cy="817245"/>
          </a:xfrm>
          <a:prstGeom prst="rect">
            <a:avLst/>
          </a:prstGeom>
        </p:spPr>
        <p:txBody>
          <a:bodyPr wrap="square">
            <a:spAutoFit/>
          </a:bodyPr>
          <a:p>
            <a:pPr lvl="0" algn="ctr">
              <a:buClrTx/>
              <a:buSzTx/>
              <a:buFontTx/>
            </a:pPr>
            <a:r>
              <a:rPr lang="en-US" altLang="zh-CN" sz="2360">
                <a:solidFill>
                  <a:schemeClr val="bg1">
                    <a:lumMod val="50000"/>
                  </a:schemeClr>
                </a:solidFill>
                <a:latin typeface="+mn-lt"/>
                <a:cs typeface="+mn-lt"/>
                <a:sym typeface="+mn-ea"/>
              </a:rPr>
              <a:t>High-Constraint, Flat-Gradient</a:t>
            </a:r>
            <a:endParaRPr lang="en-US" altLang="zh-CN" sz="2360">
              <a:solidFill>
                <a:schemeClr val="bg1">
                  <a:lumMod val="50000"/>
                </a:schemeClr>
              </a:solidFill>
              <a:latin typeface="+mn-lt"/>
              <a:cs typeface="+mn-lt"/>
              <a:sym typeface="+mn-ea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Foliennummernplatzhalter 4"/>
          <p:cNvSpPr>
            <a:spLocks noGrp="1"/>
          </p:cNvSpPr>
          <p:nvPr>
            <p:ph type="sldNum" sz="quarter" idx="18"/>
          </p:nvPr>
        </p:nvSpPr>
        <p:spPr/>
        <p:txBody>
          <a:bodyPr/>
          <a:lstStyle/>
          <a:p>
            <a:fld id="{0CDCABCE-D623-4CDD-A77A-7869E116686A}" type="slidenum">
              <a:rPr lang="de-AT" sz="1890" smtClean="0"/>
            </a:fld>
            <a:endParaRPr lang="de-AT" sz="189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82" name="文本框 4"/>
              <p:cNvSpPr txBox="1"/>
              <p:nvPr/>
            </p:nvSpPr>
            <p:spPr>
              <a:xfrm>
                <a:off x="4158915" y="11292410"/>
                <a:ext cx="6243015" cy="865505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m:rPr>
                        <m:nor/>
                      </m:rPr>
                      <a:rPr lang="de-AT" sz="2520" dirty="0">
                        <a:solidFill>
                          <a:schemeClr val="dk1"/>
                        </a:solidFill>
                        <a:latin typeface="Cambria Math" panose="02040503050406030204" charset="0"/>
                      </a:rPr>
                      <m:t>κ</m:t>
                    </m:r>
                  </m:oMath>
                </a14:m>
                <a:r>
                  <a:rPr lang="en-US" altLang="zh-CN" sz="2520" dirty="0">
                    <a:latin typeface="Arial" panose="020B0604020202020204" pitchFamily="34" charset="0"/>
                  </a:rPr>
                  <a:t>: central building presence probability.</a:t>
                </a:r>
                <a:endParaRPr lang="en-US" altLang="zh-CN" sz="2520" dirty="0">
                  <a:latin typeface="Arial" panose="020B0604020202020204" pitchFamily="34" charset="0"/>
                </a:endParaRPr>
              </a:p>
              <a:p>
                <a:pPr algn="ctr"/>
                <a:r>
                  <a:rPr lang="en-US" altLang="zh-CN" sz="2520" dirty="0">
                    <a:latin typeface="Arial" panose="020B0604020202020204" pitchFamily="34" charset="0"/>
                  </a:rPr>
                  <a:t>δ (delta): decay rate.</a:t>
                </a:r>
                <a:endParaRPr lang="en-US" altLang="zh-CN" sz="2520" dirty="0">
                  <a:latin typeface="Arial" panose="020B0604020202020204" pitchFamily="34" charset="0"/>
                </a:endParaRPr>
              </a:p>
            </p:txBody>
          </p:sp>
        </mc:Choice>
        <mc:Fallback>
          <p:sp>
            <p:nvSpPr>
              <p:cNvPr id="182" name="文本框 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58915" y="11292410"/>
                <a:ext cx="6243015" cy="865505"/>
              </a:xfrm>
              <a:prstGeom prst="rect">
                <a:avLst/>
              </a:prstGeom>
              <a:blipFill rotWithShape="1">
                <a:blip r:embed="rId1"/>
                <a:stretch>
                  <a:fillRect l="-5" t="-24" r="10" b="2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6" name="Google Shape;421;p29"/>
          <p:cNvSpPr txBox="1"/>
          <p:nvPr/>
        </p:nvSpPr>
        <p:spPr>
          <a:xfrm>
            <a:off x="4515888" y="4552927"/>
            <a:ext cx="2567068" cy="673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3929" tIns="143929" rIns="143929" bIns="143929" anchor="t" anchorCtr="0">
            <a:spAutoFit/>
          </a:bodyPr>
          <a:lstStyle/>
          <a:p>
            <a:pPr lvl="0" algn="ctr"/>
            <a:r>
              <a:rPr lang="de-AT" sz="2520" dirty="0">
                <a:solidFill>
                  <a:schemeClr val="dk1"/>
                </a:solidFill>
                <a:latin typeface="Arial" panose="020B0604020202020204" pitchFamily="34" charset="0"/>
              </a:rPr>
              <a:t>κ small δ large </a:t>
            </a:r>
            <a:endParaRPr sz="2520" dirty="0">
              <a:solidFill>
                <a:schemeClr val="dk1"/>
              </a:solidFill>
              <a:latin typeface="Arial" panose="020B0604020202020204" pitchFamily="34" charset="0"/>
            </a:endParaRPr>
          </a:p>
        </p:txBody>
      </p:sp>
      <p:sp>
        <p:nvSpPr>
          <p:cNvPr id="127" name="Google Shape;422;p29"/>
          <p:cNvSpPr txBox="1"/>
          <p:nvPr/>
        </p:nvSpPr>
        <p:spPr>
          <a:xfrm>
            <a:off x="11369651" y="4552927"/>
            <a:ext cx="2698308" cy="673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3929" tIns="143929" rIns="143929" bIns="143929" anchor="t" anchorCtr="0">
            <a:spAutoFit/>
          </a:bodyPr>
          <a:lstStyle/>
          <a:p>
            <a:pPr lvl="0" algn="ctr"/>
            <a:r>
              <a:rPr lang="de-AT" sz="2520" dirty="0">
                <a:solidFill>
                  <a:schemeClr val="dk1"/>
                </a:solidFill>
                <a:latin typeface="Arial" panose="020B0604020202020204" pitchFamily="34" charset="0"/>
              </a:rPr>
              <a:t>κ large δ large </a:t>
            </a:r>
            <a:endParaRPr sz="2520" dirty="0">
              <a:solidFill>
                <a:schemeClr val="dk1"/>
              </a:solidFill>
              <a:latin typeface="Arial" panose="020B0604020202020204" pitchFamily="34" charset="0"/>
            </a:endParaRPr>
          </a:p>
        </p:txBody>
      </p:sp>
      <p:sp>
        <p:nvSpPr>
          <p:cNvPr id="128" name="Google Shape;423;p29"/>
          <p:cNvSpPr txBox="1"/>
          <p:nvPr/>
        </p:nvSpPr>
        <p:spPr>
          <a:xfrm>
            <a:off x="1088631" y="4552927"/>
            <a:ext cx="2567818" cy="673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3929" tIns="143929" rIns="143929" bIns="143929" anchor="t" anchorCtr="0">
            <a:spAutoFit/>
          </a:bodyPr>
          <a:lstStyle/>
          <a:p>
            <a:pPr lvl="0" algn="ctr"/>
            <a:r>
              <a:rPr lang="de-AT" sz="2520" dirty="0">
                <a:solidFill>
                  <a:schemeClr val="dk1"/>
                </a:solidFill>
                <a:latin typeface="Arial" panose="020B0604020202020204" pitchFamily="34" charset="0"/>
              </a:rPr>
              <a:t>κ small δ small </a:t>
            </a:r>
            <a:endParaRPr sz="2520" dirty="0">
              <a:solidFill>
                <a:schemeClr val="dk1"/>
              </a:solidFill>
              <a:latin typeface="Arial" panose="020B0604020202020204" pitchFamily="34" charset="0"/>
            </a:endParaRPr>
          </a:p>
        </p:txBody>
      </p:sp>
      <p:sp>
        <p:nvSpPr>
          <p:cNvPr id="129" name="Google Shape;424;p29"/>
          <p:cNvSpPr txBox="1"/>
          <p:nvPr/>
        </p:nvSpPr>
        <p:spPr>
          <a:xfrm>
            <a:off x="7943145" y="4552927"/>
            <a:ext cx="2567068" cy="673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3929" tIns="143929" rIns="143929" bIns="143929" anchor="t" anchorCtr="0">
            <a:spAutoFit/>
          </a:bodyPr>
          <a:lstStyle/>
          <a:p>
            <a:pPr lvl="0" algn="ctr"/>
            <a:r>
              <a:rPr lang="de-AT" sz="2520" dirty="0">
                <a:solidFill>
                  <a:schemeClr val="dk1"/>
                </a:solidFill>
                <a:latin typeface="Arial" panose="020B0604020202020204" pitchFamily="34" charset="0"/>
              </a:rPr>
              <a:t>κ large δ small </a:t>
            </a:r>
            <a:endParaRPr sz="2520" dirty="0">
              <a:solidFill>
                <a:schemeClr val="dk1"/>
              </a:solidFill>
              <a:latin typeface="Arial" panose="020B0604020202020204" pitchFamily="34" charset="0"/>
            </a:endParaRPr>
          </a:p>
        </p:txBody>
      </p:sp>
      <p:sp>
        <p:nvSpPr>
          <p:cNvPr id="32" name="TextBox 12"/>
          <p:cNvSpPr txBox="1"/>
          <p:nvPr/>
        </p:nvSpPr>
        <p:spPr>
          <a:xfrm>
            <a:off x="1832579" y="875938"/>
            <a:ext cx="1283909" cy="3816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90" dirty="0">
                <a:latin typeface="Arial" panose="020B0604020202020204" pitchFamily="34" charset="0"/>
              </a:rPr>
              <a:t>Buildings</a:t>
            </a:r>
            <a:endParaRPr lang="en-US" sz="1890" dirty="0">
              <a:latin typeface="Arial" panose="020B0604020202020204" pitchFamily="34" charset="0"/>
            </a:endParaRPr>
          </a:p>
        </p:txBody>
      </p:sp>
      <p:sp>
        <p:nvSpPr>
          <p:cNvPr id="33" name="TextBox 98"/>
          <p:cNvSpPr txBox="1"/>
          <p:nvPr/>
        </p:nvSpPr>
        <p:spPr>
          <a:xfrm>
            <a:off x="7061957" y="955432"/>
            <a:ext cx="3326764" cy="3816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90" dirty="0">
                <a:latin typeface="Arial" panose="020B0604020202020204" pitchFamily="34" charset="0"/>
              </a:rPr>
              <a:t>Constructable Area</a:t>
            </a:r>
            <a:endParaRPr lang="en-US" sz="1890" dirty="0">
              <a:latin typeface="Arial" panose="020B0604020202020204" pitchFamily="34" charset="0"/>
            </a:endParaRPr>
          </a:p>
        </p:txBody>
      </p:sp>
      <p:sp>
        <p:nvSpPr>
          <p:cNvPr id="34" name="矩形 33"/>
          <p:cNvSpPr/>
          <p:nvPr/>
        </p:nvSpPr>
        <p:spPr>
          <a:xfrm>
            <a:off x="1316615" y="861689"/>
            <a:ext cx="515963" cy="515963"/>
          </a:xfrm>
          <a:prstGeom prst="rect">
            <a:avLst/>
          </a:prstGeom>
          <a:solidFill>
            <a:srgbClr val="69A2BC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20"/>
          </a:p>
        </p:txBody>
      </p:sp>
      <p:sp>
        <p:nvSpPr>
          <p:cNvPr id="37" name="矩形 36"/>
          <p:cNvSpPr/>
          <p:nvPr/>
        </p:nvSpPr>
        <p:spPr>
          <a:xfrm>
            <a:off x="6545994" y="875938"/>
            <a:ext cx="515963" cy="515963"/>
          </a:xfrm>
          <a:prstGeom prst="rect">
            <a:avLst/>
          </a:prstGeom>
          <a:solidFill>
            <a:schemeClr val="bg1"/>
          </a:solidFill>
          <a:ln w="3175"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20"/>
          </a:p>
        </p:txBody>
      </p:sp>
      <p:grpSp>
        <p:nvGrpSpPr>
          <p:cNvPr id="2" name="组合 1"/>
          <p:cNvGrpSpPr/>
          <p:nvPr/>
        </p:nvGrpSpPr>
        <p:grpSpPr>
          <a:xfrm>
            <a:off x="793152" y="1536641"/>
            <a:ext cx="3158776" cy="3085281"/>
            <a:chOff x="1057" y="2049"/>
            <a:chExt cx="4212" cy="4114"/>
          </a:xfrm>
        </p:grpSpPr>
        <p:pic>
          <p:nvPicPr>
            <p:cNvPr id="38" name="图片 37"/>
            <p:cNvPicPr>
              <a:picLocks noChangeAspect="1"/>
            </p:cNvPicPr>
            <p:nvPr/>
          </p:nvPicPr>
          <p:blipFill>
            <a:blip r:embed="rId2">
              <a:clrChange>
                <a:clrFrom>
                  <a:srgbClr val="F7F7F7">
                    <a:alpha val="100000"/>
                  </a:srgbClr>
                </a:clrFrom>
                <a:clrTo>
                  <a:srgbClr val="F7F7F7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057" y="2049"/>
              <a:ext cx="4212" cy="4115"/>
            </a:xfrm>
            <a:prstGeom prst="rect">
              <a:avLst/>
            </a:prstGeom>
          </p:spPr>
        </p:pic>
        <p:sp>
          <p:nvSpPr>
            <p:cNvPr id="27" name="椭圆 26"/>
            <p:cNvSpPr/>
            <p:nvPr/>
          </p:nvSpPr>
          <p:spPr>
            <a:xfrm>
              <a:off x="1280" y="2210"/>
              <a:ext cx="3862" cy="386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</p:grpSp>
      <p:grpSp>
        <p:nvGrpSpPr>
          <p:cNvPr id="3" name="组合 2"/>
          <p:cNvGrpSpPr/>
          <p:nvPr/>
        </p:nvGrpSpPr>
        <p:grpSpPr>
          <a:xfrm>
            <a:off x="4178412" y="1536641"/>
            <a:ext cx="3158776" cy="3085281"/>
            <a:chOff x="5571" y="2049"/>
            <a:chExt cx="4212" cy="4114"/>
          </a:xfrm>
        </p:grpSpPr>
        <p:pic>
          <p:nvPicPr>
            <p:cNvPr id="44" name="图片 43"/>
            <p:cNvPicPr>
              <a:picLocks noChangeAspect="1"/>
            </p:cNvPicPr>
            <p:nvPr/>
          </p:nvPicPr>
          <p:blipFill>
            <a:blip r:embed="rId3">
              <a:clrChange>
                <a:clrFrom>
                  <a:srgbClr val="F7F7F7">
                    <a:alpha val="100000"/>
                  </a:srgbClr>
                </a:clrFrom>
                <a:clrTo>
                  <a:srgbClr val="F7F7F7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5571" y="2049"/>
              <a:ext cx="4212" cy="4115"/>
            </a:xfrm>
            <a:prstGeom prst="rect">
              <a:avLst/>
            </a:prstGeom>
          </p:spPr>
        </p:pic>
        <p:sp>
          <p:nvSpPr>
            <p:cNvPr id="28" name="椭圆 27"/>
            <p:cNvSpPr/>
            <p:nvPr/>
          </p:nvSpPr>
          <p:spPr>
            <a:xfrm>
              <a:off x="5813" y="2210"/>
              <a:ext cx="3862" cy="386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</p:grpSp>
      <p:grpSp>
        <p:nvGrpSpPr>
          <p:cNvPr id="4" name="组合 3"/>
          <p:cNvGrpSpPr/>
          <p:nvPr/>
        </p:nvGrpSpPr>
        <p:grpSpPr>
          <a:xfrm>
            <a:off x="7562922" y="1536641"/>
            <a:ext cx="3158776" cy="3085281"/>
            <a:chOff x="10084" y="2049"/>
            <a:chExt cx="4212" cy="4114"/>
          </a:xfrm>
        </p:grpSpPr>
        <p:pic>
          <p:nvPicPr>
            <p:cNvPr id="45" name="图片 44"/>
            <p:cNvPicPr>
              <a:picLocks noChangeAspect="1"/>
            </p:cNvPicPr>
            <p:nvPr/>
          </p:nvPicPr>
          <p:blipFill>
            <a:blip r:embed="rId4">
              <a:clrChange>
                <a:clrFrom>
                  <a:srgbClr val="F7F7F7">
                    <a:alpha val="100000"/>
                  </a:srgbClr>
                </a:clrFrom>
                <a:clrTo>
                  <a:srgbClr val="F7F7F7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0084" y="2049"/>
              <a:ext cx="4212" cy="4115"/>
            </a:xfrm>
            <a:prstGeom prst="rect">
              <a:avLst/>
            </a:prstGeom>
          </p:spPr>
        </p:pic>
        <p:sp>
          <p:nvSpPr>
            <p:cNvPr id="29" name="椭圆 28"/>
            <p:cNvSpPr/>
            <p:nvPr/>
          </p:nvSpPr>
          <p:spPr>
            <a:xfrm>
              <a:off x="10347" y="2210"/>
              <a:ext cx="3862" cy="386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</p:grpSp>
      <p:grpSp>
        <p:nvGrpSpPr>
          <p:cNvPr id="7" name="组合 6"/>
          <p:cNvGrpSpPr/>
          <p:nvPr/>
        </p:nvGrpSpPr>
        <p:grpSpPr>
          <a:xfrm>
            <a:off x="10948181" y="1536641"/>
            <a:ext cx="3158776" cy="3085281"/>
            <a:chOff x="14598" y="2049"/>
            <a:chExt cx="4212" cy="4114"/>
          </a:xfrm>
        </p:grpSpPr>
        <p:pic>
          <p:nvPicPr>
            <p:cNvPr id="46" name="图片 45"/>
            <p:cNvPicPr>
              <a:picLocks noChangeAspect="1"/>
            </p:cNvPicPr>
            <p:nvPr/>
          </p:nvPicPr>
          <p:blipFill>
            <a:blip r:embed="rId5">
              <a:clrChange>
                <a:clrFrom>
                  <a:srgbClr val="F7F7F7">
                    <a:alpha val="100000"/>
                  </a:srgbClr>
                </a:clrFrom>
                <a:clrTo>
                  <a:srgbClr val="F7F7F7">
                    <a:alpha val="100000"/>
                    <a:alpha val="0"/>
                  </a:srgbClr>
                </a:clrTo>
              </a:clrChange>
            </a:blip>
            <a:stretch>
              <a:fillRect/>
            </a:stretch>
          </p:blipFill>
          <p:spPr>
            <a:xfrm>
              <a:off x="14598" y="2049"/>
              <a:ext cx="4212" cy="4115"/>
            </a:xfrm>
            <a:prstGeom prst="rect">
              <a:avLst/>
            </a:prstGeom>
          </p:spPr>
        </p:pic>
        <p:sp>
          <p:nvSpPr>
            <p:cNvPr id="30" name="椭圆 29"/>
            <p:cNvSpPr/>
            <p:nvPr/>
          </p:nvSpPr>
          <p:spPr>
            <a:xfrm>
              <a:off x="14880" y="2210"/>
              <a:ext cx="3862" cy="3862"/>
            </a:xfrm>
            <a:prstGeom prst="ellipse">
              <a:avLst/>
            </a:prstGeom>
            <a:noFill/>
            <a:ln>
              <a:solidFill>
                <a:schemeClr val="tx1">
                  <a:lumMod val="50000"/>
                  <a:lumOff val="50000"/>
                </a:schemeClr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</a:extLst>
          </p:spPr>
          <p:style>
            <a:lnRef idx="2">
              <a:schemeClr val="accent1">
                <a:lumMod val="75000"/>
              </a:schemeClr>
            </a:lnRef>
            <a:fillRef idx="1">
              <a:schemeClr val="accent1"/>
            </a:fillRef>
            <a:effectRef idx="0">
              <a:srgbClr val="FFFFFF"/>
            </a:effectRef>
            <a:fontRef idx="minor">
              <a:schemeClr val="lt1"/>
            </a:fontRef>
          </p:style>
          <p:txBody>
            <a:bodyPr rtlCol="0" anchor="ctr"/>
            <a:p>
              <a:pPr algn="ctr"/>
              <a:endParaRPr lang="zh-CN" altLang="en-US" sz="120"/>
            </a:p>
          </p:txBody>
        </p:sp>
      </p:grpSp>
      <p:sp>
        <p:nvSpPr>
          <p:cNvPr id="31" name="TextBox 12"/>
          <p:cNvSpPr txBox="1"/>
          <p:nvPr/>
        </p:nvSpPr>
        <p:spPr>
          <a:xfrm>
            <a:off x="4171662" y="875188"/>
            <a:ext cx="2142598" cy="3816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90" dirty="0">
                <a:latin typeface="Arial" panose="020B0604020202020204" pitchFamily="34" charset="0"/>
              </a:rPr>
              <a:t>Structural Zeros</a:t>
            </a:r>
            <a:endParaRPr lang="en-US" sz="1890" dirty="0">
              <a:latin typeface="Arial" panose="020B0604020202020204" pitchFamily="34" charset="0"/>
            </a:endParaRPr>
          </a:p>
        </p:txBody>
      </p:sp>
      <p:sp>
        <p:nvSpPr>
          <p:cNvPr id="39" name="矩形 38"/>
          <p:cNvSpPr/>
          <p:nvPr/>
        </p:nvSpPr>
        <p:spPr>
          <a:xfrm>
            <a:off x="3662449" y="861689"/>
            <a:ext cx="515963" cy="515963"/>
          </a:xfrm>
          <a:prstGeom prst="rect">
            <a:avLst/>
          </a:prstGeom>
          <a:solidFill>
            <a:srgbClr val="BFBFBF"/>
          </a:solidFill>
          <a:ln>
            <a:noFill/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 sz="12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8" name="文本框 87"/>
              <p:cNvSpPr txBox="1"/>
              <p:nvPr/>
            </p:nvSpPr>
            <p:spPr>
              <a:xfrm>
                <a:off x="9730268" y="875188"/>
                <a:ext cx="4336942" cy="527685"/>
              </a:xfrm>
              <a:prstGeom prst="rect">
                <a:avLst/>
              </a:prstGeom>
              <a:noFill/>
            </p:spPr>
            <p:txBody>
              <a:bodyPr wrap="square" rtlCol="0" anchor="t">
                <a:spAutoFit/>
              </a:bodyPr>
              <a:p>
                <a:pPr marL="0" indent="0">
                  <a:lnSpc>
                    <a:spcPct val="100000"/>
                  </a:lnSpc>
                  <a:spcBef>
                    <a:spcPts val="1200"/>
                  </a:spcBef>
                  <a:buFont typeface="Wingdings" panose="05000000000000000000" charset="0"/>
                  <a:buNone/>
                </a:pPr>
                <a14:m>
                  <m:oMath xmlns:m="http://schemas.openxmlformats.org/officeDocument/2006/math">
                    <m:r>
                      <a:rPr lang="en-US" sz="2835" i="1" smtClean="0">
                        <a:latin typeface="Cambria Math" panose="02040503050406030204" charset="0"/>
                        <a:cs typeface="Cambria Math" panose="02040503050406030204" charset="0"/>
                      </a:rPr>
                      <m:t>𝜋</m:t>
                    </m:r>
                    <m:r>
                      <a:rPr lang="en-US" sz="2835" i="1" smtClean="0">
                        <a:latin typeface="Cambria Math" panose="02040503050406030204" charset="0"/>
                        <a:cs typeface="Cambria Math" panose="02040503050406030204" charset="0"/>
                      </a:rPr>
                      <m:t> (</m:t>
                    </m:r>
                    <m:r>
                      <a:rPr lang="en-US" sz="2835" i="1" smtClean="0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  <m:r>
                      <a:rPr lang="en-US" sz="2835" i="1" smtClean="0">
                        <a:latin typeface="Cambria Math" panose="02040503050406030204" charset="0"/>
                        <a:cs typeface="Cambria Math" panose="02040503050406030204" charset="0"/>
                      </a:rPr>
                      <m:t>)=</m:t>
                    </m:r>
                    <m:r>
                      <a:rPr lang="en-US" sz="2835" i="1" smtClean="0">
                        <a:latin typeface="Cambria Math" panose="02040503050406030204" charset="0"/>
                        <a:cs typeface="Cambria Math" panose="02040503050406030204" charset="0"/>
                      </a:rPr>
                      <m:t>𝑙𝑜𝑔𝑖𝑠𝑡𝑖𝑐</m:t>
                    </m:r>
                    <m:r>
                      <a:rPr lang="en-US" sz="2835" i="1" smtClean="0">
                        <a:latin typeface="Cambria Math" panose="02040503050406030204" charset="0"/>
                        <a:cs typeface="Cambria Math" panose="02040503050406030204" charset="0"/>
                      </a:rPr>
                      <m:t>(</m:t>
                    </m:r>
                    <m:r>
                      <a:rPr lang="en-US" sz="2835" i="1" smtClean="0">
                        <a:latin typeface="Cambria Math" panose="02040503050406030204" charset="0"/>
                        <a:ea typeface="Cambria Math" panose="02040503050406030204" charset="0"/>
                        <a:cs typeface="Cambria Math" panose="02040503050406030204" charset="0"/>
                      </a:rPr>
                      <m:t>𝜅</m:t>
                    </m:r>
                    <m:r>
                      <a:rPr lang="en-US" sz="2835" i="1">
                        <a:latin typeface="Cambria Math" panose="02040503050406030204" charset="0"/>
                        <a:cs typeface="Cambria Math" panose="02040503050406030204" charset="0"/>
                      </a:rPr>
                      <m:t>+</m:t>
                    </m:r>
                    <m:r>
                      <a:rPr lang="en-US" sz="2835" i="1" smtClean="0">
                        <a:latin typeface="Cambria Math" panose="02040503050406030204" charset="0"/>
                        <a:ea typeface="Cambria Math" panose="02040503050406030204" charset="0"/>
                        <a:cs typeface="Cambria Math" panose="02040503050406030204" charset="0"/>
                      </a:rPr>
                      <m:t>𝛿</m:t>
                    </m:r>
                    <m:r>
                      <a:rPr lang="en-US" sz="2835" i="1">
                        <a:latin typeface="Cambria Math" panose="02040503050406030204" charset="0"/>
                        <a:cs typeface="Cambria Math" panose="02040503050406030204" charset="0"/>
                      </a:rPr>
                      <m:t>∙</m:t>
                    </m:r>
                    <m:r>
                      <a:rPr lang="en-US" sz="2835" i="1">
                        <a:latin typeface="Cambria Math" panose="02040503050406030204" charset="0"/>
                        <a:cs typeface="Cambria Math" panose="02040503050406030204" charset="0"/>
                      </a:rPr>
                      <m:t>𝑟</m:t>
                    </m:r>
                    <m:r>
                      <a:rPr lang="en-US" sz="2835" i="1">
                        <a:latin typeface="Cambria Math" panose="02040503050406030204" charset="0"/>
                        <a:cs typeface="Cambria Math" panose="02040503050406030204" charset="0"/>
                      </a:rPr>
                      <m:t>) </m:t>
                    </m:r>
                  </m:oMath>
                </a14:m>
                <a:r>
                  <a:rPr lang="en-US" sz="2835" dirty="0">
                    <a:latin typeface="Arial" panose="020B0604020202020204" pitchFamily="34" charset="0"/>
                    <a:cs typeface="Arial" panose="020B0604020202020204" pitchFamily="34" charset="0"/>
                    <a:sym typeface="+mn-ea"/>
                  </a:rPr>
                  <a:t> </a:t>
                </a:r>
                <a:endParaRPr lang="en-US" altLang="en-US" sz="2835" dirty="0">
                  <a:latin typeface="Arial" panose="020B0604020202020204" pitchFamily="34" charset="0"/>
                  <a:cs typeface="Arial" panose="020B0604020202020204" pitchFamily="34" charset="0"/>
                  <a:sym typeface="+mn-ea"/>
                </a:endParaRPr>
              </a:p>
            </p:txBody>
          </p:sp>
        </mc:Choice>
        <mc:Fallback>
          <p:sp>
            <p:nvSpPr>
              <p:cNvPr id="88" name="文本框 8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30268" y="875188"/>
                <a:ext cx="4336942" cy="527685"/>
              </a:xfrm>
              <a:prstGeom prst="rect">
                <a:avLst/>
              </a:prstGeom>
              <a:blipFill rotWithShape="1">
                <a:blip r:embed="rId6"/>
                <a:stretch>
                  <a:fillRect l="-4" t="-30" r="1" b="3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098" name="图片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07595" y="8506646"/>
            <a:ext cx="4038463" cy="2486074"/>
          </a:xfrm>
          <a:prstGeom prst="rect">
            <a:avLst/>
          </a:prstGeom>
          <a:noFill/>
          <a:ln w="9525">
            <a:noFill/>
          </a:ln>
        </p:spPr>
      </p:pic>
      <p:pic>
        <p:nvPicPr>
          <p:cNvPr id="35" name="图片 3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1998" y="8638637"/>
            <a:ext cx="3185774" cy="1766125"/>
          </a:xfrm>
          <a:prstGeom prst="rect">
            <a:avLst/>
          </a:prstGeom>
        </p:spPr>
      </p:pic>
      <p:pic>
        <p:nvPicPr>
          <p:cNvPr id="50" name="图片 49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01234" y="8638637"/>
            <a:ext cx="2975789" cy="1649133"/>
          </a:xfrm>
          <a:prstGeom prst="rect">
            <a:avLst/>
          </a:prstGeom>
        </p:spPr>
      </p:pic>
      <p:grpSp>
        <p:nvGrpSpPr>
          <p:cNvPr id="78" name="组合 77"/>
          <p:cNvGrpSpPr/>
          <p:nvPr/>
        </p:nvGrpSpPr>
        <p:grpSpPr>
          <a:xfrm>
            <a:off x="485674" y="1542640"/>
            <a:ext cx="13394799" cy="4149455"/>
            <a:chOff x="647" y="2057"/>
            <a:chExt cx="17861" cy="5533"/>
          </a:xfrm>
        </p:grpSpPr>
        <p:grpSp>
          <p:nvGrpSpPr>
            <p:cNvPr id="73" name="组合 72"/>
            <p:cNvGrpSpPr/>
            <p:nvPr/>
          </p:nvGrpSpPr>
          <p:grpSpPr>
            <a:xfrm>
              <a:off x="647" y="2057"/>
              <a:ext cx="3551" cy="5533"/>
              <a:chOff x="647" y="2057"/>
              <a:chExt cx="3551" cy="5533"/>
            </a:xfrm>
          </p:grpSpPr>
          <p:sp>
            <p:nvSpPr>
              <p:cNvPr id="5163" name="TextBox 264"/>
              <p:cNvSpPr txBox="1"/>
              <p:nvPr/>
            </p:nvSpPr>
            <p:spPr>
              <a:xfrm>
                <a:off x="647" y="4712"/>
                <a:ext cx="3551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C&gt;0, B&gt;0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“Bowl”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26" name="组合 25"/>
              <p:cNvGrpSpPr/>
              <p:nvPr/>
            </p:nvGrpSpPr>
            <p:grpSpPr>
              <a:xfrm rot="0">
                <a:off x="1094" y="5693"/>
                <a:ext cx="2657" cy="1897"/>
                <a:chOff x="3202" y="5108"/>
                <a:chExt cx="2657" cy="1897"/>
              </a:xfrm>
            </p:grpSpPr>
            <p:cxnSp>
              <p:nvCxnSpPr>
                <p:cNvPr id="8" name="直接箭头连接符 7"/>
                <p:cNvCxnSpPr/>
                <p:nvPr/>
              </p:nvCxnSpPr>
              <p:spPr>
                <a:xfrm flipV="1">
                  <a:off x="3755" y="5227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9" name="直接箭头连接符 8"/>
                <p:cNvCxnSpPr/>
                <p:nvPr/>
              </p:nvCxnSpPr>
              <p:spPr>
                <a:xfrm>
                  <a:off x="3755" y="6786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sp>
              <p:nvSpPr>
                <p:cNvPr id="13" name="任意多边形 12"/>
                <p:cNvSpPr/>
                <p:nvPr/>
              </p:nvSpPr>
              <p:spPr>
                <a:xfrm>
                  <a:off x="3755" y="5568"/>
                  <a:ext cx="1606" cy="503"/>
                </a:xfrm>
                <a:custGeom>
                  <a:avLst/>
                  <a:gdLst>
                    <a:gd name="connsiteX0" fmla="*/ 0 w 7905"/>
                    <a:gd name="connsiteY0" fmla="*/ 2460 h 2476"/>
                    <a:gd name="connsiteX1" fmla="*/ 7905 w 7905"/>
                    <a:gd name="connsiteY1" fmla="*/ 0 h 247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7905" h="2477">
                      <a:moveTo>
                        <a:pt x="0" y="2460"/>
                      </a:moveTo>
                      <a:cubicBezTo>
                        <a:pt x="4710" y="2655"/>
                        <a:pt x="7095" y="1095"/>
                        <a:pt x="7905" y="0"/>
                      </a:cubicBezTo>
                    </a:path>
                  </a:pathLst>
                </a:custGeom>
                <a:ln w="38100"/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p>
                  <a:pPr algn="ctr"/>
                  <a:endParaRPr lang="zh-CN" altLang="en-US" sz="2125"/>
                </a:p>
              </p:txBody>
            </p:sp>
            <p:grpSp>
              <p:nvGrpSpPr>
                <p:cNvPr id="18" name="组合 17"/>
                <p:cNvGrpSpPr/>
                <p:nvPr/>
              </p:nvGrpSpPr>
              <p:grpSpPr>
                <a:xfrm>
                  <a:off x="3202" y="5108"/>
                  <a:ext cx="2657" cy="1897"/>
                  <a:chOff x="3202" y="5108"/>
                  <a:chExt cx="2657" cy="1897"/>
                </a:xfrm>
              </p:grpSpPr>
              <p:sp>
                <p:nvSpPr>
                  <p:cNvPr id="41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4" name="文本框 13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15" name="文本框 14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  <p:pic>
            <p:nvPicPr>
              <p:cNvPr id="16" name="图片 15"/>
              <p:cNvPicPr>
                <a:picLocks noChangeAspect="1"/>
              </p:cNvPicPr>
              <p:nvPr/>
            </p:nvPicPr>
            <p:blipFill>
              <a:blip r:embed="rId4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48000"/>
              </a:blip>
              <a:stretch>
                <a:fillRect/>
              </a:stretch>
            </p:blipFill>
            <p:spPr>
              <a:xfrm>
                <a:off x="647" y="2057"/>
                <a:ext cx="3441" cy="2731"/>
              </a:xfrm>
              <a:prstGeom prst="rect">
                <a:avLst/>
              </a:prstGeom>
              <a:noFill/>
              <a:ln w="9525">
                <a:noFill/>
              </a:ln>
            </p:spPr>
          </p:pic>
        </p:grpSp>
        <p:grpSp>
          <p:nvGrpSpPr>
            <p:cNvPr id="75" name="组合 74"/>
            <p:cNvGrpSpPr/>
            <p:nvPr/>
          </p:nvGrpSpPr>
          <p:grpSpPr>
            <a:xfrm>
              <a:off x="7659" y="2455"/>
              <a:ext cx="3661" cy="5135"/>
              <a:chOff x="7722" y="2455"/>
              <a:chExt cx="3661" cy="5135"/>
            </a:xfrm>
          </p:grpSpPr>
          <p:pic>
            <p:nvPicPr>
              <p:cNvPr id="2" name="图片 1"/>
              <p:cNvPicPr>
                <a:picLocks noChangeAspect="1"/>
              </p:cNvPicPr>
              <p:nvPr/>
            </p:nvPicPr>
            <p:blipFill>
              <a:blip r:embed="rId5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7722" y="2455"/>
                <a:ext cx="3470" cy="2199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3" name="文本框 2"/>
              <p:cNvSpPr txBox="1"/>
              <p:nvPr/>
            </p:nvSpPr>
            <p:spPr>
              <a:xfrm>
                <a:off x="7740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>
                <a:noAutofit/>
              </a:bodyPr>
              <a:p>
                <a:pPr algn="ctr"/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</a:rPr>
                  <a:t>C=0, B=0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</a:endParaRPr>
              </a:p>
              <a:p>
                <a:pPr algn="ctr"/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</a:rPr>
                  <a:t>“Pancake”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</a:endParaRPr>
              </a:p>
            </p:txBody>
          </p:sp>
          <p:grpSp>
            <p:nvGrpSpPr>
              <p:cNvPr id="23" name="组合 22"/>
              <p:cNvGrpSpPr/>
              <p:nvPr/>
            </p:nvGrpSpPr>
            <p:grpSpPr>
              <a:xfrm rot="0">
                <a:off x="8233" y="5693"/>
                <a:ext cx="2657" cy="1897"/>
                <a:chOff x="5687" y="5068"/>
                <a:chExt cx="2657" cy="1897"/>
              </a:xfrm>
            </p:grpSpPr>
            <p:cxnSp>
              <p:nvCxnSpPr>
                <p:cNvPr id="4" name="直接箭头连接符 3"/>
                <p:cNvCxnSpPr/>
                <p:nvPr/>
              </p:nvCxnSpPr>
              <p:spPr>
                <a:xfrm flipV="1">
                  <a:off x="6221" y="521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5" name="直接箭头连接符 4"/>
                <p:cNvCxnSpPr/>
                <p:nvPr/>
              </p:nvCxnSpPr>
              <p:spPr>
                <a:xfrm>
                  <a:off x="6221" y="677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6" name="直接连接符 5"/>
                <p:cNvCxnSpPr/>
                <p:nvPr/>
              </p:nvCxnSpPr>
              <p:spPr>
                <a:xfrm>
                  <a:off x="6236" y="6085"/>
                  <a:ext cx="1665" cy="0"/>
                </a:xfrm>
                <a:prstGeom prst="line">
                  <a:avLst/>
                </a:prstGeom>
                <a:ln w="38100"/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19" name="组合 18"/>
                <p:cNvGrpSpPr/>
                <p:nvPr/>
              </p:nvGrpSpPr>
              <p:grpSpPr>
                <a:xfrm>
                  <a:off x="5687" y="5068"/>
                  <a:ext cx="2657" cy="1897"/>
                  <a:chOff x="3202" y="5108"/>
                  <a:chExt cx="2657" cy="1897"/>
                </a:xfrm>
              </p:grpSpPr>
              <p:sp>
                <p:nvSpPr>
                  <p:cNvPr id="20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1" name="文本框 20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22" name="文本框 21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77" name="组合 76"/>
            <p:cNvGrpSpPr/>
            <p:nvPr/>
          </p:nvGrpSpPr>
          <p:grpSpPr>
            <a:xfrm>
              <a:off x="14741" y="2761"/>
              <a:ext cx="3767" cy="4829"/>
              <a:chOff x="14737" y="2761"/>
              <a:chExt cx="3767" cy="4829"/>
            </a:xfrm>
          </p:grpSpPr>
          <p:pic>
            <p:nvPicPr>
              <p:cNvPr id="17" name="图片 16"/>
              <p:cNvPicPr>
                <a:picLocks noChangeAspect="1"/>
              </p:cNvPicPr>
              <p:nvPr/>
            </p:nvPicPr>
            <p:blipFill>
              <a:blip r:embed="rId6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rcRect l="8333" t="26856" r="10968" b="26289"/>
              <a:stretch>
                <a:fillRect/>
              </a:stretch>
            </p:blipFill>
            <p:spPr>
              <a:xfrm>
                <a:off x="14737" y="2761"/>
                <a:ext cx="3767" cy="1736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5126" name="TextBox 190"/>
              <p:cNvSpPr txBox="1"/>
              <p:nvPr/>
            </p:nvSpPr>
            <p:spPr>
              <a:xfrm>
                <a:off x="14861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C&lt;0, B&lt;0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sym typeface="+mn-ea"/>
                  </a:rPr>
                  <a:t>“Pyramid”City</a:t>
                </a:r>
                <a:endParaRPr lang="en-US" altLang="zh-CN" sz="1890">
                  <a:latin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49" name="组合 48"/>
              <p:cNvGrpSpPr/>
              <p:nvPr/>
            </p:nvGrpSpPr>
            <p:grpSpPr>
              <a:xfrm rot="0">
                <a:off x="15354" y="5693"/>
                <a:ext cx="2657" cy="1897"/>
                <a:chOff x="10870" y="5054"/>
                <a:chExt cx="2657" cy="1897"/>
              </a:xfrm>
            </p:grpSpPr>
            <p:sp>
              <p:nvSpPr>
                <p:cNvPr id="37" name="任意多边形 36"/>
                <p:cNvSpPr/>
                <p:nvPr/>
              </p:nvSpPr>
              <p:spPr>
                <a:xfrm>
                  <a:off x="11415" y="6023"/>
                  <a:ext cx="1395" cy="695"/>
                </a:xfrm>
                <a:custGeom>
                  <a:avLst/>
                  <a:gdLst>
                    <a:gd name="connsiteX0" fmla="*/ 0 w 6210"/>
                    <a:gd name="connsiteY0" fmla="*/ 0 h 2550"/>
                    <a:gd name="connsiteX1" fmla="*/ 6210 w 6210"/>
                    <a:gd name="connsiteY1" fmla="*/ 2550 h 2550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</a:cxnLst>
                  <a:rect l="l" t="t" r="r" b="b"/>
                  <a:pathLst>
                    <a:path w="6210" h="2550">
                      <a:moveTo>
                        <a:pt x="0" y="0"/>
                      </a:moveTo>
                      <a:cubicBezTo>
                        <a:pt x="2385" y="1290"/>
                        <a:pt x="4110" y="2085"/>
                        <a:pt x="6210" y="2550"/>
                      </a:cubicBezTo>
                    </a:path>
                  </a:pathLst>
                </a:custGeom>
                <a:ln w="38100"/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p>
                  <a:pPr lvl="0" algn="ctr">
                    <a:buClrTx/>
                    <a:buSzTx/>
                    <a:buFontTx/>
                  </a:pPr>
                  <a:endParaRPr lang="zh-CN" altLang="en-US" sz="2125">
                    <a:sym typeface="+mn-ea"/>
                  </a:endParaRPr>
                </a:p>
              </p:txBody>
            </p:sp>
            <p:cxnSp>
              <p:nvCxnSpPr>
                <p:cNvPr id="39" name="直接箭头连接符 38"/>
                <p:cNvCxnSpPr/>
                <p:nvPr/>
              </p:nvCxnSpPr>
              <p:spPr>
                <a:xfrm flipV="1">
                  <a:off x="11423" y="5173"/>
                  <a:ext cx="0" cy="1545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cxnSp>
              <p:nvCxnSpPr>
                <p:cNvPr id="40" name="直接箭头连接符 39"/>
                <p:cNvCxnSpPr/>
                <p:nvPr/>
              </p:nvCxnSpPr>
              <p:spPr>
                <a:xfrm>
                  <a:off x="11423" y="6732"/>
                  <a:ext cx="1740" cy="0"/>
                </a:xfrm>
                <a:prstGeom prst="straightConnector1">
                  <a:avLst/>
                </a:prstGeom>
                <a:ln>
                  <a:solidFill>
                    <a:schemeClr val="tx1"/>
                  </a:solidFill>
                  <a:tailEnd type="arrow"/>
                </a:ln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</p:cxnSp>
            <p:grpSp>
              <p:nvGrpSpPr>
                <p:cNvPr id="45" name="组合 44"/>
                <p:cNvGrpSpPr/>
                <p:nvPr/>
              </p:nvGrpSpPr>
              <p:grpSpPr>
                <a:xfrm rot="0">
                  <a:off x="10870" y="5054"/>
                  <a:ext cx="2657" cy="1897"/>
                  <a:chOff x="3202" y="5108"/>
                  <a:chExt cx="2657" cy="1897"/>
                </a:xfrm>
              </p:grpSpPr>
              <p:sp>
                <p:nvSpPr>
                  <p:cNvPr id="46" name="TextBox 256"/>
                  <p:cNvSpPr txBox="1"/>
                  <p:nvPr/>
                </p:nvSpPr>
                <p:spPr>
                  <a:xfrm>
                    <a:off x="3320" y="6496"/>
                    <a:ext cx="422" cy="509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 fontAlgn="auto"/>
                    <a:r>
                      <a: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rPr>
                      <a:t>0</a:t>
                    </a:r>
                    <a:endParaRPr lang="en-US" sz="1890" noProof="1" dirty="0">
                      <a:latin typeface="Arial" panose="020B0604020202020204" pitchFamily="34" charset="0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7" name="文本框 46"/>
                  <p:cNvSpPr txBox="1"/>
                  <p:nvPr/>
                </p:nvSpPr>
                <p:spPr>
                  <a:xfrm>
                    <a:off x="3202" y="5108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H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48" name="文本框 47"/>
                  <p:cNvSpPr txBox="1"/>
                  <p:nvPr/>
                </p:nvSpPr>
                <p:spPr>
                  <a:xfrm>
                    <a:off x="5413" y="6496"/>
                    <a:ext cx="446" cy="509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p>
                    <a:r>
                      <a: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rPr>
                      <a:t>r</a:t>
                    </a:r>
                    <a:endParaRPr lang="en-US" altLang="zh-CN" sz="1890" i="1">
                      <a:latin typeface="Arial" panose="020B0604020202020204" pitchFamily="34" charset="0"/>
                      <a:cs typeface="Arial" panose="020B0604020202020204" pitchFamily="34" charset="0"/>
                    </a:endParaRPr>
                  </a:p>
                </p:txBody>
              </p:sp>
            </p:grpSp>
          </p:grpSp>
        </p:grpSp>
        <p:grpSp>
          <p:nvGrpSpPr>
            <p:cNvPr id="76" name="组合 75"/>
            <p:cNvGrpSpPr/>
            <p:nvPr/>
          </p:nvGrpSpPr>
          <p:grpSpPr>
            <a:xfrm>
              <a:off x="11209" y="2584"/>
              <a:ext cx="3643" cy="5006"/>
              <a:chOff x="11192" y="2584"/>
              <a:chExt cx="3643" cy="5006"/>
            </a:xfrm>
          </p:grpSpPr>
          <p:pic>
            <p:nvPicPr>
              <p:cNvPr id="4100" name="图片 6"/>
              <p:cNvPicPr>
                <a:picLocks noChangeAspect="1"/>
              </p:cNvPicPr>
              <p:nvPr/>
            </p:nvPicPr>
            <p:blipFill>
              <a:blip r:embed="rId7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11510" y="2584"/>
                <a:ext cx="3007" cy="2070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sp>
            <p:nvSpPr>
              <p:cNvPr id="5127" name="TextBox 191"/>
              <p:cNvSpPr txBox="1"/>
              <p:nvPr/>
            </p:nvSpPr>
            <p:spPr>
              <a:xfrm>
                <a:off x="11192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C&lt;0, B&gt;0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“Volcanic Cone” City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</p:txBody>
          </p:sp>
          <p:grpSp>
            <p:nvGrpSpPr>
              <p:cNvPr id="52" name="组合 51"/>
              <p:cNvGrpSpPr/>
              <p:nvPr/>
            </p:nvGrpSpPr>
            <p:grpSpPr>
              <a:xfrm rot="0">
                <a:off x="11686" y="5693"/>
                <a:ext cx="2657" cy="1897"/>
                <a:chOff x="8290" y="5068"/>
                <a:chExt cx="2657" cy="1897"/>
              </a:xfrm>
            </p:grpSpPr>
            <p:grpSp>
              <p:nvGrpSpPr>
                <p:cNvPr id="27" name="组合 26"/>
                <p:cNvGrpSpPr/>
                <p:nvPr/>
              </p:nvGrpSpPr>
              <p:grpSpPr>
                <a:xfrm>
                  <a:off x="8290" y="5068"/>
                  <a:ext cx="2657" cy="1897"/>
                  <a:chOff x="3202" y="5108"/>
                  <a:chExt cx="2657" cy="1897"/>
                </a:xfrm>
              </p:grpSpPr>
              <p:cxnSp>
                <p:nvCxnSpPr>
                  <p:cNvPr id="28" name="直接箭头连接符 27"/>
                  <p:cNvCxnSpPr/>
                  <p:nvPr/>
                </p:nvCxnSpPr>
                <p:spPr>
                  <a:xfrm flipV="1">
                    <a:off x="3755" y="5227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9" name="直接箭头连接符 28"/>
                  <p:cNvCxnSpPr/>
                  <p:nvPr/>
                </p:nvCxnSpPr>
                <p:spPr>
                  <a:xfrm>
                    <a:off x="3755" y="6786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31" name="组合 30"/>
                  <p:cNvGrpSpPr/>
                  <p:nvPr/>
                </p:nvGrpSpPr>
                <p:grpSpPr>
                  <a:xfrm>
                    <a:off x="3202" y="5108"/>
                    <a:ext cx="2657" cy="1897"/>
                    <a:chOff x="3202" y="5108"/>
                    <a:chExt cx="2657" cy="1897"/>
                  </a:xfrm>
                </p:grpSpPr>
                <p:sp>
                  <p:nvSpPr>
                    <p:cNvPr id="32" name="TextBox 256"/>
                    <p:cNvSpPr txBox="1"/>
                    <p:nvPr/>
                  </p:nvSpPr>
                  <p:spPr>
                    <a:xfrm>
                      <a:off x="3320" y="6496"/>
                      <a:ext cx="422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890" noProof="1" dirty="0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3" name="文本框 32"/>
                    <p:cNvSpPr txBox="1"/>
                    <p:nvPr/>
                  </p:nvSpPr>
                  <p:spPr>
                    <a:xfrm>
                      <a:off x="3202" y="5108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34" name="文本框 33"/>
                    <p:cNvSpPr txBox="1"/>
                    <p:nvPr/>
                  </p:nvSpPr>
                  <p:spPr>
                    <a:xfrm>
                      <a:off x="5413" y="6496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51" name="任意多边形 50"/>
                <p:cNvSpPr/>
                <p:nvPr/>
              </p:nvSpPr>
              <p:spPr>
                <a:xfrm>
                  <a:off x="8843" y="5741"/>
                  <a:ext cx="1742" cy="701"/>
                </a:xfrm>
                <a:custGeom>
                  <a:avLst/>
                  <a:gdLst>
                    <a:gd name="connsiteX0" fmla="*/ 0 w 6165"/>
                    <a:gd name="connsiteY0" fmla="*/ 895 h 1794"/>
                    <a:gd name="connsiteX1" fmla="*/ 2745 w 6165"/>
                    <a:gd name="connsiteY1" fmla="*/ 25 h 1794"/>
                    <a:gd name="connsiteX2" fmla="*/ 6165 w 6165"/>
                    <a:gd name="connsiteY2" fmla="*/ 1795 h 1794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165" h="1795">
                      <a:moveTo>
                        <a:pt x="0" y="895"/>
                      </a:moveTo>
                      <a:cubicBezTo>
                        <a:pt x="411" y="669"/>
                        <a:pt x="1506" y="-152"/>
                        <a:pt x="2745" y="25"/>
                      </a:cubicBezTo>
                      <a:cubicBezTo>
                        <a:pt x="3984" y="202"/>
                        <a:pt x="5415" y="1432"/>
                        <a:pt x="6165" y="1795"/>
                      </a:cubicBezTo>
                    </a:path>
                  </a:pathLst>
                </a:custGeom>
                <a:ln w="38100"/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rtlCol="0" anchor="ctr"/>
                <a:p>
                  <a:pPr algn="ctr"/>
                  <a:endParaRPr lang="zh-CN" altLang="en-US" sz="2125"/>
                </a:p>
              </p:txBody>
            </p:sp>
          </p:grpSp>
        </p:grpSp>
        <p:grpSp>
          <p:nvGrpSpPr>
            <p:cNvPr id="74" name="组合 73"/>
            <p:cNvGrpSpPr/>
            <p:nvPr/>
          </p:nvGrpSpPr>
          <p:grpSpPr>
            <a:xfrm>
              <a:off x="4087" y="2348"/>
              <a:ext cx="3683" cy="5242"/>
              <a:chOff x="4198" y="2348"/>
              <a:chExt cx="3683" cy="5242"/>
            </a:xfrm>
          </p:grpSpPr>
          <p:sp>
            <p:nvSpPr>
              <p:cNvPr id="64" name="TextBox 190"/>
              <p:cNvSpPr txBox="1"/>
              <p:nvPr/>
            </p:nvSpPr>
            <p:spPr>
              <a:xfrm>
                <a:off x="4218" y="4712"/>
                <a:ext cx="3643" cy="919"/>
              </a:xfrm>
              <a:prstGeom prst="rect">
                <a:avLst/>
              </a:prstGeom>
              <a:noFill/>
            </p:spPr>
            <p:txBody>
              <a:bodyPr wrap="square" rtlCol="0" anchor="t" anchorCtr="0">
                <a:noAutofit/>
              </a:bodyPr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ea typeface="Arial" panose="020B0604020202020204" pitchFamily="34" charset="0"/>
                    <a:sym typeface="+mn-ea"/>
                  </a:rPr>
                  <a:t>C&gt;0, B&lt;0</a:t>
                </a:r>
                <a:endParaRPr lang="en-US" altLang="zh-CN" sz="1890">
                  <a:latin typeface="Arial" panose="020B0604020202020204" pitchFamily="34" charset="0"/>
                  <a:ea typeface="Arial" panose="020B0604020202020204" pitchFamily="34" charset="0"/>
                  <a:sym typeface="+mn-ea"/>
                </a:endParaRPr>
              </a:p>
              <a:p>
                <a:pPr lvl="0" algn="ctr">
                  <a:buClrTx/>
                  <a:buSzTx/>
                  <a:buFontTx/>
                </a:pPr>
                <a:r>
                  <a:rPr lang="en-US" altLang="zh-CN" sz="1890">
                    <a:latin typeface="Arial" panose="020B0604020202020204" pitchFamily="34" charset="0"/>
                    <a:sym typeface="+mn-ea"/>
                  </a:rPr>
                  <a:t>“Crown”City</a:t>
                </a:r>
                <a:endParaRPr lang="en-US" altLang="zh-CN" sz="1890">
                  <a:latin typeface="Arial" panose="020B0604020202020204" pitchFamily="34" charset="0"/>
                  <a:sym typeface="+mn-ea"/>
                </a:endParaRPr>
              </a:p>
            </p:txBody>
          </p:sp>
          <p:pic>
            <p:nvPicPr>
              <p:cNvPr id="66" name="图片 65"/>
              <p:cNvPicPr>
                <a:picLocks noChangeAspect="1"/>
              </p:cNvPicPr>
              <p:nvPr/>
            </p:nvPicPr>
            <p:blipFill>
              <a:blip r:embed="rId8">
                <a:clrChange>
                  <a:clrFrom>
                    <a:srgbClr val="F7F7F7">
                      <a:alpha val="100000"/>
                    </a:srgbClr>
                  </a:clrFrom>
                  <a:clrTo>
                    <a:srgbClr val="F7F7F7">
                      <a:alpha val="100000"/>
                      <a:alpha val="0"/>
                    </a:srgbClr>
                  </a:clrTo>
                </a:clrChange>
                <a:lum bright="12000" contrast="36000"/>
              </a:blip>
              <a:stretch>
                <a:fillRect/>
              </a:stretch>
            </p:blipFill>
            <p:spPr>
              <a:xfrm>
                <a:off x="4198" y="2348"/>
                <a:ext cx="3683" cy="2478"/>
              </a:xfrm>
              <a:prstGeom prst="rect">
                <a:avLst/>
              </a:prstGeom>
              <a:noFill/>
              <a:ln w="9525">
                <a:noFill/>
              </a:ln>
            </p:spPr>
          </p:pic>
          <p:grpSp>
            <p:nvGrpSpPr>
              <p:cNvPr id="72" name="组合 71"/>
              <p:cNvGrpSpPr/>
              <p:nvPr/>
            </p:nvGrpSpPr>
            <p:grpSpPr>
              <a:xfrm>
                <a:off x="4712" y="5693"/>
                <a:ext cx="2657" cy="1897"/>
                <a:chOff x="4673" y="5693"/>
                <a:chExt cx="2657" cy="1897"/>
              </a:xfrm>
            </p:grpSpPr>
            <p:grpSp>
              <p:nvGrpSpPr>
                <p:cNvPr id="56" name="组合 55"/>
                <p:cNvGrpSpPr/>
                <p:nvPr/>
              </p:nvGrpSpPr>
              <p:grpSpPr>
                <a:xfrm rot="0">
                  <a:off x="4673" y="5693"/>
                  <a:ext cx="2657" cy="1897"/>
                  <a:chOff x="10870" y="5054"/>
                  <a:chExt cx="2657" cy="1897"/>
                </a:xfrm>
              </p:grpSpPr>
              <p:cxnSp>
                <p:nvCxnSpPr>
                  <p:cNvPr id="58" name="直接箭头连接符 57"/>
                  <p:cNvCxnSpPr/>
                  <p:nvPr/>
                </p:nvCxnSpPr>
                <p:spPr>
                  <a:xfrm flipV="1">
                    <a:off x="11423" y="5173"/>
                    <a:ext cx="0" cy="1545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59" name="直接箭头连接符 58"/>
                  <p:cNvCxnSpPr/>
                  <p:nvPr/>
                </p:nvCxnSpPr>
                <p:spPr>
                  <a:xfrm>
                    <a:off x="11423" y="6732"/>
                    <a:ext cx="1740" cy="0"/>
                  </a:xfrm>
                  <a:prstGeom prst="straightConnector1">
                    <a:avLst/>
                  </a:prstGeom>
                  <a:ln>
                    <a:solidFill>
                      <a:schemeClr val="tx1"/>
                    </a:solidFill>
                    <a:tailEnd type="arrow"/>
                  </a:ln>
                </p:spPr>
                <p:style>
                  <a:lnRef idx="2">
                    <a:schemeClr val="accent1"/>
                  </a:lnRef>
                  <a:fillRef idx="0">
                    <a:srgbClr val="FFFFFF"/>
                  </a:fillRef>
                  <a:effectRef idx="0">
                    <a:srgbClr val="FFFFFF"/>
                  </a:effectRef>
                  <a:fontRef idx="minor">
                    <a:schemeClr val="tx1"/>
                  </a:fontRef>
                </p:style>
              </p:cxnSp>
              <p:grpSp>
                <p:nvGrpSpPr>
                  <p:cNvPr id="60" name="组合 59"/>
                  <p:cNvGrpSpPr/>
                  <p:nvPr/>
                </p:nvGrpSpPr>
                <p:grpSpPr>
                  <a:xfrm rot="0">
                    <a:off x="10870" y="5054"/>
                    <a:ext cx="2657" cy="1897"/>
                    <a:chOff x="3202" y="5108"/>
                    <a:chExt cx="2657" cy="1897"/>
                  </a:xfrm>
                </p:grpSpPr>
                <p:sp>
                  <p:nvSpPr>
                    <p:cNvPr id="61" name="TextBox 256"/>
                    <p:cNvSpPr txBox="1"/>
                    <p:nvPr/>
                  </p:nvSpPr>
                  <p:spPr>
                    <a:xfrm>
                      <a:off x="3320" y="6496"/>
                      <a:ext cx="422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none" rtlCol="0">
                      <a:spAutoFit/>
                    </a:bodyPr>
                    <a:lstStyle/>
                    <a:p>
                      <a:pPr fontAlgn="auto"/>
                      <a:r>
                        <a:rPr lang="en-US" sz="1890" noProof="1" dirty="0">
                          <a:latin typeface="Arial" panose="020B0604020202020204" pitchFamily="34" charset="0"/>
                          <a:ea typeface="+mn-ea"/>
                          <a:cs typeface="Arial" panose="020B0604020202020204" pitchFamily="34" charset="0"/>
                        </a:rPr>
                        <a:t>0</a:t>
                      </a:r>
                      <a:endParaRPr lang="en-US" sz="1890" noProof="1" dirty="0">
                        <a:latin typeface="Arial" panose="020B0604020202020204" pitchFamily="34" charset="0"/>
                        <a:ea typeface="+mn-ea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62" name="文本框 61"/>
                    <p:cNvSpPr txBox="1"/>
                    <p:nvPr/>
                  </p:nvSpPr>
                  <p:spPr>
                    <a:xfrm>
                      <a:off x="3202" y="5108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H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  <p:sp>
                  <p:nvSpPr>
                    <p:cNvPr id="63" name="文本框 62"/>
                    <p:cNvSpPr txBox="1"/>
                    <p:nvPr/>
                  </p:nvSpPr>
                  <p:spPr>
                    <a:xfrm>
                      <a:off x="5413" y="6496"/>
                      <a:ext cx="446" cy="50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p>
                      <a:r>
                        <a:rPr lang="en-US" altLang="zh-CN" sz="1890" i="1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a:t>r</a:t>
                      </a:r>
                      <a:endParaRPr lang="en-US" altLang="zh-CN" sz="1890" i="1">
                        <a:latin typeface="Arial" panose="020B0604020202020204" pitchFamily="34" charset="0"/>
                        <a:cs typeface="Arial" panose="020B0604020202020204" pitchFamily="34" charset="0"/>
                      </a:endParaRPr>
                    </a:p>
                  </p:txBody>
                </p:sp>
              </p:grpSp>
            </p:grpSp>
            <p:sp>
              <p:nvSpPr>
                <p:cNvPr id="68" name="任意多边形 67"/>
                <p:cNvSpPr/>
                <p:nvPr/>
              </p:nvSpPr>
              <p:spPr>
                <a:xfrm>
                  <a:off x="5227" y="6643"/>
                  <a:ext cx="1770" cy="296"/>
                </a:xfrm>
                <a:custGeom>
                  <a:avLst/>
                  <a:gdLst>
                    <a:gd name="connsiteX0" fmla="*/ 0 w 6127"/>
                    <a:gd name="connsiteY0" fmla="*/ 0 h 836"/>
                    <a:gd name="connsiteX1" fmla="*/ 3080 w 6127"/>
                    <a:gd name="connsiteY1" fmla="*/ 836 h 836"/>
                    <a:gd name="connsiteX2" fmla="*/ 6127 w 6127"/>
                    <a:gd name="connsiteY2" fmla="*/ 82 h 836"/>
                  </a:gdLst>
                  <a:ahLst/>
                  <a:cxnLst>
                    <a:cxn ang="0">
                      <a:pos x="connsiteX0" y="connsiteY0"/>
                    </a:cxn>
                    <a:cxn ang="0">
                      <a:pos x="connsiteX1" y="connsiteY1"/>
                    </a:cxn>
                    <a:cxn ang="0">
                      <a:pos x="connsiteX2" y="connsiteY2"/>
                    </a:cxn>
                  </a:cxnLst>
                  <a:rect l="l" t="t" r="r" b="b"/>
                  <a:pathLst>
                    <a:path w="6127" h="836">
                      <a:moveTo>
                        <a:pt x="0" y="0"/>
                      </a:moveTo>
                      <a:cubicBezTo>
                        <a:pt x="492" y="328"/>
                        <a:pt x="1855" y="829"/>
                        <a:pt x="3080" y="836"/>
                      </a:cubicBezTo>
                      <a:cubicBezTo>
                        <a:pt x="4305" y="843"/>
                        <a:pt x="5586" y="344"/>
                        <a:pt x="6127" y="82"/>
                      </a:cubicBezTo>
                    </a:path>
                  </a:pathLst>
                </a:custGeom>
                <a:ln w="38100"/>
              </p:spPr>
              <p:style>
                <a:lnRef idx="2">
                  <a:schemeClr val="accent1"/>
                </a:lnRef>
                <a:fillRef idx="0">
                  <a:srgbClr val="FFFFFF"/>
                </a:fillRef>
                <a:effectRef idx="0">
                  <a:srgbClr val="FFFFFF"/>
                </a:effectRef>
                <a:fontRef idx="minor">
                  <a:schemeClr val="tx1"/>
                </a:fontRef>
              </p:style>
              <p:txBody>
                <a:bodyPr vertOverflow="overflow" horzOverflow="overflow" vert="horz" wrap="square" numCol="1" spcCol="0" rtlCol="0" fromWordArt="0" anchor="ctr" anchorCtr="0" forceAA="0" compatLnSpc="1">
                  <a:noAutofit/>
                </a:bodyPr>
                <a:p>
                  <a:pPr lvl="0" algn="ctr">
                    <a:buClrTx/>
                    <a:buSzTx/>
                    <a:buFontTx/>
                  </a:pPr>
                  <a:endParaRPr lang="zh-CN" altLang="en-US" sz="2125">
                    <a:sym typeface="+mn-ea"/>
                  </a:endParaRPr>
                </a:p>
              </p:txBody>
            </p:sp>
          </p:grpSp>
        </p:grpSp>
      </p:grpSp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Custom 1">
      <a:dk1>
        <a:srgbClr val="000000"/>
      </a:dk1>
      <a:lt1>
        <a:srgbClr val="FFFFFF"/>
      </a:lt1>
      <a:dk2>
        <a:srgbClr val="B6E1FF"/>
      </a:dk2>
      <a:lt2>
        <a:srgbClr val="4488FF"/>
      </a:lt2>
      <a:accent1>
        <a:srgbClr val="D3B137"/>
      </a:accent1>
      <a:accent2>
        <a:srgbClr val="FEF436"/>
      </a:accent2>
      <a:accent3>
        <a:srgbClr val="C577E2"/>
      </a:accent3>
      <a:accent4>
        <a:srgbClr val="DAC7FF"/>
      </a:accent4>
      <a:accent5>
        <a:srgbClr val="6EDC8B"/>
      </a:accent5>
      <a:accent6>
        <a:srgbClr val="2AB320"/>
      </a:accent6>
      <a:hlink>
        <a:srgbClr val="B6E1FF"/>
      </a:hlink>
      <a:folHlink>
        <a:srgbClr val="B6E1FF"/>
      </a:folHlink>
    </a:clrScheme>
    <a:fontScheme name="WPS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Arial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3770</Words>
  <Application>WPS 演示</Application>
  <PresentationFormat>宽屏</PresentationFormat>
  <Paragraphs>562</Paragraphs>
  <Slides>9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9</vt:i4>
      </vt:variant>
    </vt:vector>
  </HeadingPairs>
  <TitlesOfParts>
    <vt:vector size="19" baseType="lpstr">
      <vt:lpstr>Arial</vt:lpstr>
      <vt:lpstr>宋体</vt:lpstr>
      <vt:lpstr>Wingdings</vt:lpstr>
      <vt:lpstr>Cambria Math</vt:lpstr>
      <vt:lpstr>MS Mincho</vt:lpstr>
      <vt:lpstr>微软雅黑</vt:lpstr>
      <vt:lpstr>Arial Unicode MS</vt:lpstr>
      <vt:lpstr>MS Gothic</vt:lpstr>
      <vt:lpstr>Wingdings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April Liang</cp:lastModifiedBy>
  <cp:revision>15</cp:revision>
  <dcterms:created xsi:type="dcterms:W3CDTF">2026-03-05T14:14:31Z</dcterms:created>
  <dcterms:modified xsi:type="dcterms:W3CDTF">2026-03-05T14:14:31Z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2052-12.1.2.24722</vt:lpwstr>
  </property>
  <property fmtid="{D5CDD505-2E9C-101B-9397-08002B2CF9AE}" pid="3" name="ICV">
    <vt:lpwstr>0364E104D99840A39D3DA0694DD01CB9_41</vt:lpwstr>
  </property>
</Properties>
</file>