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colors3.xml" ContentType="application/vnd.ms-office.chartcolorstyle+xml"/>
  <Override PartName="/ppt/charts/colors4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charts/style3.xml" ContentType="application/vnd.ms-office.chartstyle+xml"/>
  <Override PartName="/ppt/charts/style4.xml" ContentType="application/vnd.ms-office.chartstyle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29.svg" ContentType="image/svg+xml"/>
  <Override PartName="/ppt/media/image41.svg" ContentType="image/svg+xml"/>
  <Override PartName="/ppt/media/image43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handoutMasterIdLst>
    <p:handoutMasterId r:id="rId20"/>
  </p:handoutMasterIdLst>
  <p:sldIdLst>
    <p:sldId id="262" r:id="rId3"/>
    <p:sldId id="264" r:id="rId4"/>
    <p:sldId id="260" r:id="rId6"/>
    <p:sldId id="273" r:id="rId7"/>
    <p:sldId id="259" r:id="rId8"/>
    <p:sldId id="266" r:id="rId9"/>
    <p:sldId id="270" r:id="rId10"/>
    <p:sldId id="261" r:id="rId11"/>
    <p:sldId id="265" r:id="rId12"/>
    <p:sldId id="268" r:id="rId13"/>
    <p:sldId id="256" r:id="rId14"/>
    <p:sldId id="257" r:id="rId15"/>
    <p:sldId id="258" r:id="rId16"/>
    <p:sldId id="267" r:id="rId17"/>
    <p:sldId id="263" r:id="rId18"/>
    <p:sldId id="269" r:id="rId19"/>
  </p:sldIdLst>
  <p:sldSz cx="14399895" cy="14399895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无标题节" id="{7174F263-5FF1-488A-9BA9-16647EAD2F01}">
          <p14:sldIdLst>
            <p14:sldId id="262"/>
            <p14:sldId id="264"/>
            <p14:sldId id="260"/>
            <p14:sldId id="273"/>
            <p14:sldId id="259"/>
            <p14:sldId id="266"/>
            <p14:sldId id="270"/>
            <p14:sldId id="261"/>
            <p14:sldId id="265"/>
            <p14:sldId id="268"/>
          </p14:sldIdLst>
        </p14:section>
        <p14:section name="Not used" id="{81244984-FFB1-4A92-8F35-FF698557D6D0}">
          <p14:sldIdLst>
            <p14:sldId id="256"/>
            <p14:sldId id="257"/>
            <p14:sldId id="258"/>
            <p14:sldId id="267"/>
            <p14:sldId id="263"/>
            <p14:sldId id="26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382" userDrawn="1">
          <p15:clr>
            <a:srgbClr val="A4A3A4"/>
          </p15:clr>
        </p15:guide>
        <p15:guide id="2" pos="4537" userDrawn="1">
          <p15:clr>
            <a:srgbClr val="A4A3A4"/>
          </p15:clr>
        </p15:guide>
        <p15:guide id="3" orient="horz" pos="4536" userDrawn="1">
          <p15:clr>
            <a:srgbClr val="A4A3A4"/>
          </p15:clr>
        </p15:guide>
        <p15:guide id="4" orient="horz" pos="3515" userDrawn="1">
          <p15:clr>
            <a:srgbClr val="A4A3A4"/>
          </p15:clr>
        </p15:guide>
        <p15:guide id="5" orient="horz" pos="1814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pril Liang" initials="AL" lastIdx="0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7A2DE"/>
    <a:srgbClr val="F39F1B"/>
    <a:srgbClr val="E85748"/>
    <a:srgbClr val="F8C474"/>
    <a:srgbClr val="FEEDDE"/>
    <a:srgbClr val="FDAE6B"/>
    <a:srgbClr val="E6550D"/>
    <a:srgbClr val="A63603"/>
    <a:srgbClr val="7F2704"/>
    <a:srgbClr val="00441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浅色样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278" autoAdjust="0"/>
    <p:restoredTop sz="94660"/>
  </p:normalViewPr>
  <p:slideViewPr>
    <p:cSldViewPr snapToGrid="0" showGuides="1">
      <p:cViewPr varScale="1">
        <p:scale>
          <a:sx n="72" d="100"/>
          <a:sy n="72" d="100"/>
        </p:scale>
        <p:origin x="730" y="43"/>
      </p:cViewPr>
      <p:guideLst>
        <p:guide orient="horz" pos="2382"/>
        <p:guide pos="4537"/>
        <p:guide orient="horz" pos="4536"/>
        <p:guide orient="horz" pos="3515"/>
        <p:guide orient="horz" pos="1814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90001" cy="90001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4" Type="http://schemas.openxmlformats.org/officeDocument/2006/relationships/commentAuthors" Target="commentAuthors.xml"/><Relationship Id="rId23" Type="http://schemas.openxmlformats.org/officeDocument/2006/relationships/tableStyles" Target="tableStyles.xml"/><Relationship Id="rId22" Type="http://schemas.openxmlformats.org/officeDocument/2006/relationships/viewProps" Target="viewProps.xml"/><Relationship Id="rId21" Type="http://schemas.openxmlformats.org/officeDocument/2006/relationships/presProps" Target="presProps.xml"/><Relationship Id="rId20" Type="http://schemas.openxmlformats.org/officeDocument/2006/relationships/handoutMaster" Target="handoutMasters/handoutMaster1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charts/_rels/chart1.xml.rels><?xml version="1.0" encoding="UTF-8" standalone="yes"?>
<Relationships xmlns="http://schemas.openxmlformats.org/package/2006/relationships"><Relationship Id="rId3" Type="http://schemas.microsoft.com/office/2011/relationships/chartColorStyle" Target="colors1.xml"/><Relationship Id="rId2" Type="http://schemas.microsoft.com/office/2011/relationships/chartStyle" Target="style1.xml"/><Relationship Id="rId1" Type="http://schemas.openxmlformats.org/officeDocument/2006/relationships/oleObject" Target="/home/liang/Documents/Research/Urban_Growth/Python_Codes/Presentations/Graphs/Continental%20Average.xlsx" TargetMode="External"/></Relationships>
</file>

<file path=ppt/charts/_rels/chart2.xml.rels><?xml version="1.0" encoding="UTF-8" standalone="yes"?>
<Relationships xmlns="http://schemas.openxmlformats.org/package/2006/relationships"><Relationship Id="rId3" Type="http://schemas.microsoft.com/office/2011/relationships/chartColorStyle" Target="colors2.xml"/><Relationship Id="rId2" Type="http://schemas.microsoft.com/office/2011/relationships/chartStyle" Target="style2.xml"/><Relationship Id="rId1" Type="http://schemas.openxmlformats.org/officeDocument/2006/relationships/oleObject" Target="/home/liang/Documents/Research/Urban_Growth/Python_Codes/Presentations/Graphs/Continental%20Average.xlsx" TargetMode="External"/></Relationships>
</file>

<file path=ppt/charts/_rels/chart3.xml.rels><?xml version="1.0" encoding="UTF-8" standalone="yes"?>
<Relationships xmlns="http://schemas.openxmlformats.org/package/2006/relationships"><Relationship Id="rId3" Type="http://schemas.microsoft.com/office/2011/relationships/chartColorStyle" Target="colors3.xml"/><Relationship Id="rId2" Type="http://schemas.microsoft.com/office/2011/relationships/chartStyle" Target="style3.xml"/><Relationship Id="rId1" Type="http://schemas.openxmlformats.org/officeDocument/2006/relationships/oleObject" Target="/home/liang/Documents/Research/Urban_Growth/Python_Codes/Presentations/Graphs/Continental%20Average.xlsx" TargetMode="External"/></Relationships>
</file>

<file path=ppt/charts/_rels/chart4.xml.rels><?xml version="1.0" encoding="UTF-8" standalone="yes"?>
<Relationships xmlns="http://schemas.openxmlformats.org/package/2006/relationships"><Relationship Id="rId3" Type="http://schemas.microsoft.com/office/2011/relationships/chartColorStyle" Target="colors4.xml"/><Relationship Id="rId2" Type="http://schemas.microsoft.com/office/2011/relationships/chartStyle" Target="style4.xml"/><Relationship Id="rId1" Type="http://schemas.openxmlformats.org/officeDocument/2006/relationships/oleObject" Target="/home/liang/Documents/Research/Urban_Growth/Python_Codes/Presentations/Graphs/Continental%20Average.xlsx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'[Continental Average.xlsx]Sheet2'!$U$2</c:f>
              <c:strCache>
                <c:ptCount val="1"/>
                <c:pt idx="0">
                  <c:v>LC-SG</c:v>
                </c:pt>
              </c:strCache>
            </c:strRef>
          </c:tx>
          <c:spPr>
            <a:solidFill>
              <a:schemeClr val="accent1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Average.xlsx]Sheet2'!$T$3:$T$5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Average.xlsx]Sheet2'!$U$3:$U$5</c:f>
              <c:numCache>
                <c:formatCode>0%</c:formatCode>
                <c:ptCount val="3"/>
                <c:pt idx="0">
                  <c:v>0.363636363636364</c:v>
                </c:pt>
                <c:pt idx="1">
                  <c:v>0.5</c:v>
                </c:pt>
                <c:pt idx="2">
                  <c:v>0.533333333333333</c:v>
                </c:pt>
              </c:numCache>
            </c:numRef>
          </c:val>
        </c:ser>
        <c:ser>
          <c:idx val="1"/>
          <c:order val="1"/>
          <c:tx>
            <c:strRef>
              <c:f>'[Continental Average.xlsx]Sheet2'!$V$2</c:f>
              <c:strCache>
                <c:ptCount val="1"/>
                <c:pt idx="0">
                  <c:v>LC-FG</c:v>
                </c:pt>
              </c:strCache>
            </c:strRef>
          </c:tx>
          <c:spPr>
            <a:solidFill>
              <a:schemeClr val="accent2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Average.xlsx]Sheet2'!$T$3:$T$5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Average.xlsx]Sheet2'!$V$3:$V$5</c:f>
              <c:numCache>
                <c:formatCode>0%</c:formatCode>
                <c:ptCount val="3"/>
                <c:pt idx="0">
                  <c:v>0.227272727272727</c:v>
                </c:pt>
                <c:pt idx="1">
                  <c:v>0.3</c:v>
                </c:pt>
                <c:pt idx="2">
                  <c:v>0.333333333333333</c:v>
                </c:pt>
              </c:numCache>
            </c:numRef>
          </c:val>
        </c:ser>
        <c:ser>
          <c:idx val="2"/>
          <c:order val="2"/>
          <c:tx>
            <c:strRef>
              <c:f>'[Continental Average.xlsx]Sheet2'!$W$2</c:f>
              <c:strCache>
                <c:ptCount val="1"/>
                <c:pt idx="0">
                  <c:v>HC-SG</c:v>
                </c:pt>
              </c:strCache>
            </c:strRef>
          </c:tx>
          <c:spPr>
            <a:solidFill>
              <a:schemeClr val="accent3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Average.xlsx]Sheet2'!$T$3:$T$5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Average.xlsx]Sheet2'!$W$3:$W$5</c:f>
              <c:numCache>
                <c:formatCode>0%</c:formatCode>
                <c:ptCount val="3"/>
                <c:pt idx="0">
                  <c:v>0</c:v>
                </c:pt>
                <c:pt idx="1">
                  <c:v>0.0333333333333333</c:v>
                </c:pt>
                <c:pt idx="2">
                  <c:v>0</c:v>
                </c:pt>
              </c:numCache>
            </c:numRef>
          </c:val>
        </c:ser>
        <c:ser>
          <c:idx val="3"/>
          <c:order val="3"/>
          <c:tx>
            <c:strRef>
              <c:f>'[Continental Average.xlsx]Sheet2'!$X$2</c:f>
              <c:strCache>
                <c:ptCount val="1"/>
                <c:pt idx="0">
                  <c:v>HC-FG</c:v>
                </c:pt>
              </c:strCache>
            </c:strRef>
          </c:tx>
          <c:spPr>
            <a:solidFill>
              <a:schemeClr val="accent4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Average.xlsx]Sheet2'!$T$3:$T$5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Average.xlsx]Sheet2'!$X$3:$X$5</c:f>
              <c:numCache>
                <c:formatCode>0%</c:formatCode>
                <c:ptCount val="3"/>
                <c:pt idx="0">
                  <c:v>0.409090909090909</c:v>
                </c:pt>
                <c:pt idx="1">
                  <c:v>0.166666666666667</c:v>
                </c:pt>
                <c:pt idx="2">
                  <c:v>0.133333333333333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4"/>
        <c:overlap val="100"/>
        <c:axId val="864058613"/>
        <c:axId val="414164983"/>
      </c:barChart>
      <c:catAx>
        <c:axId val="864058613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414164983"/>
        <c:crosses val="autoZero"/>
        <c:auto val="1"/>
        <c:lblAlgn val="ctr"/>
        <c:lblOffset val="100"/>
        <c:noMultiLvlLbl val="0"/>
      </c:catAx>
      <c:valAx>
        <c:axId val="414164983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lt1">
                  <a:lumMod val="902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864058613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3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/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2bb8adb4-ffa1-4c27-94d4-ea17a12fad31}"/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lang="zh-CN" sz="1200"/>
      </a:p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'[Continental Average.xlsx]Sheet2'!$U$18</c:f>
              <c:strCache>
                <c:ptCount val="1"/>
                <c:pt idx="0">
                  <c:v>LI-SG</c:v>
                </c:pt>
              </c:strCache>
            </c:strRef>
          </c:tx>
          <c:spPr>
            <a:solidFill>
              <a:schemeClr val="accent6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Average.xlsx]Sheet2'!$T$19:$T$21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Average.xlsx]Sheet2'!$U$19:$U$21</c:f>
              <c:numCache>
                <c:formatCode>0%</c:formatCode>
                <c:ptCount val="3"/>
                <c:pt idx="0">
                  <c:v>0.454545454545455</c:v>
                </c:pt>
                <c:pt idx="1">
                  <c:v>0.333333333333333</c:v>
                </c:pt>
                <c:pt idx="2">
                  <c:v>0.5</c:v>
                </c:pt>
              </c:numCache>
            </c:numRef>
          </c:val>
        </c:ser>
        <c:ser>
          <c:idx val="1"/>
          <c:order val="1"/>
          <c:tx>
            <c:strRef>
              <c:f>'[Continental Average.xlsx]Sheet2'!$V$18</c:f>
              <c:strCache>
                <c:ptCount val="1"/>
                <c:pt idx="0">
                  <c:v>LI-FG</c:v>
                </c:pt>
              </c:strCache>
            </c:strRef>
          </c:tx>
          <c:spPr>
            <a:solidFill>
              <a:schemeClr val="accent5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Average.xlsx]Sheet2'!$T$19:$T$21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Average.xlsx]Sheet2'!$V$19:$V$21</c:f>
              <c:numCache>
                <c:formatCode>0%</c:formatCode>
                <c:ptCount val="3"/>
                <c:pt idx="0">
                  <c:v>0.454545454545455</c:v>
                </c:pt>
                <c:pt idx="1">
                  <c:v>0.2</c:v>
                </c:pt>
                <c:pt idx="2">
                  <c:v>0.233333333333333</c:v>
                </c:pt>
              </c:numCache>
            </c:numRef>
          </c:val>
        </c:ser>
        <c:ser>
          <c:idx val="2"/>
          <c:order val="2"/>
          <c:tx>
            <c:strRef>
              <c:f>'[Continental Average.xlsx]Sheet2'!$W$18</c:f>
              <c:strCache>
                <c:ptCount val="1"/>
                <c:pt idx="0">
                  <c:v>HI-SG</c:v>
                </c:pt>
              </c:strCache>
            </c:strRef>
          </c:tx>
          <c:spPr>
            <a:solidFill>
              <a:schemeClr val="bg2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Average.xlsx]Sheet2'!$T$19:$T$21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Average.xlsx]Sheet2'!$W$19:$W$21</c:f>
              <c:numCache>
                <c:formatCode>0%</c:formatCode>
                <c:ptCount val="3"/>
                <c:pt idx="0">
                  <c:v>0.0454545454545455</c:v>
                </c:pt>
                <c:pt idx="1">
                  <c:v>0.166666666666667</c:v>
                </c:pt>
                <c:pt idx="2">
                  <c:v>0.0666666666666667</c:v>
                </c:pt>
              </c:numCache>
            </c:numRef>
          </c:val>
        </c:ser>
        <c:ser>
          <c:idx val="3"/>
          <c:order val="3"/>
          <c:tx>
            <c:strRef>
              <c:f>'[Continental Average.xlsx]Sheet2'!$X$18</c:f>
              <c:strCache>
                <c:ptCount val="1"/>
                <c:pt idx="0">
                  <c:v>HI-FG</c:v>
                </c:pt>
              </c:strCache>
            </c:strRef>
          </c:tx>
          <c:spPr>
            <a:solidFill>
              <a:schemeClr val="bg2">
                <a:lumMod val="40000"/>
                <a:lumOff val="60000"/>
              </a:schemeClr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Average.xlsx]Sheet2'!$T$19:$T$21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Average.xlsx]Sheet2'!$X$19:$X$21</c:f>
              <c:numCache>
                <c:formatCode>0%</c:formatCode>
                <c:ptCount val="3"/>
                <c:pt idx="0">
                  <c:v>0.0454545454545455</c:v>
                </c:pt>
                <c:pt idx="1">
                  <c:v>0.3</c:v>
                </c:pt>
                <c:pt idx="2">
                  <c:v>0.2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4"/>
        <c:overlap val="100"/>
        <c:axId val="515141581"/>
        <c:axId val="430121534"/>
      </c:barChart>
      <c:catAx>
        <c:axId val="51514158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430121534"/>
        <c:crosses val="autoZero"/>
        <c:auto val="1"/>
        <c:lblAlgn val="ctr"/>
        <c:lblOffset val="100"/>
        <c:noMultiLvlLbl val="0"/>
      </c:catAx>
      <c:valAx>
        <c:axId val="430121534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lt1">
                  <a:lumMod val="902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515141581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3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/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28ed8364-554b-47b0-9384-8bfc9afc1021}"/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lang="zh-CN" sz="1200"/>
      </a:pPr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'[Continental Average.xlsx]Sheet2'!$U$33</c:f>
              <c:strCache>
                <c:ptCount val="1"/>
                <c:pt idx="0">
                  <c:v>LC-SG</c:v>
                </c:pt>
              </c:strCache>
            </c:strRef>
          </c:tx>
          <c:spPr>
            <a:solidFill>
              <a:schemeClr val="accent1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Average.xlsx]Sheet2'!$T$34:$T$36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Average.xlsx]Sheet2'!$U$34:$U$36</c:f>
              <c:numCache>
                <c:formatCode>0%</c:formatCode>
                <c:ptCount val="3"/>
                <c:pt idx="0">
                  <c:v>0.363636363636364</c:v>
                </c:pt>
                <c:pt idx="1">
                  <c:v>0.466666666666667</c:v>
                </c:pt>
                <c:pt idx="2">
                  <c:v>0.533333333333333</c:v>
                </c:pt>
              </c:numCache>
            </c:numRef>
          </c:val>
        </c:ser>
        <c:ser>
          <c:idx val="1"/>
          <c:order val="1"/>
          <c:tx>
            <c:strRef>
              <c:f>'[Continental Average.xlsx]Sheet2'!$V$33</c:f>
              <c:strCache>
                <c:ptCount val="1"/>
                <c:pt idx="0">
                  <c:v>LC-FG</c:v>
                </c:pt>
              </c:strCache>
            </c:strRef>
          </c:tx>
          <c:spPr>
            <a:solidFill>
              <a:schemeClr val="accent2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Average.xlsx]Sheet2'!$T$34:$T$36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Average.xlsx]Sheet2'!$V$34:$V$36</c:f>
              <c:numCache>
                <c:formatCode>0%</c:formatCode>
                <c:ptCount val="3"/>
                <c:pt idx="0">
                  <c:v>0.227272727272727</c:v>
                </c:pt>
                <c:pt idx="1">
                  <c:v>0.366666666666667</c:v>
                </c:pt>
                <c:pt idx="2">
                  <c:v>0.333333333333333</c:v>
                </c:pt>
              </c:numCache>
            </c:numRef>
          </c:val>
        </c:ser>
        <c:ser>
          <c:idx val="2"/>
          <c:order val="2"/>
          <c:tx>
            <c:strRef>
              <c:f>'[Continental Average.xlsx]Sheet2'!$W$33</c:f>
              <c:strCache>
                <c:ptCount val="1"/>
                <c:pt idx="0">
                  <c:v>HC-SG</c:v>
                </c:pt>
              </c:strCache>
            </c:strRef>
          </c:tx>
          <c:spPr>
            <a:solidFill>
              <a:schemeClr val="accent3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Average.xlsx]Sheet2'!$T$34:$T$36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Average.xlsx]Sheet2'!$W$34:$W$36</c:f>
              <c:numCache>
                <c:formatCode>0%</c:formatCode>
                <c:ptCount val="3"/>
                <c:pt idx="0">
                  <c:v>0</c:v>
                </c:pt>
                <c:pt idx="1">
                  <c:v>0.0333333333333333</c:v>
                </c:pt>
                <c:pt idx="2">
                  <c:v>0</c:v>
                </c:pt>
              </c:numCache>
            </c:numRef>
          </c:val>
        </c:ser>
        <c:ser>
          <c:idx val="3"/>
          <c:order val="3"/>
          <c:tx>
            <c:strRef>
              <c:f>'[Continental Average.xlsx]Sheet2'!$X$33</c:f>
              <c:strCache>
                <c:ptCount val="1"/>
                <c:pt idx="0">
                  <c:v>HC-FG</c:v>
                </c:pt>
              </c:strCache>
            </c:strRef>
          </c:tx>
          <c:spPr>
            <a:solidFill>
              <a:schemeClr val="accent4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Average.xlsx]Sheet2'!$T$34:$T$36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Average.xlsx]Sheet2'!$X$34:$X$36</c:f>
              <c:numCache>
                <c:formatCode>0%</c:formatCode>
                <c:ptCount val="3"/>
                <c:pt idx="0">
                  <c:v>0.409090909090909</c:v>
                </c:pt>
                <c:pt idx="1">
                  <c:v>0.133333333333333</c:v>
                </c:pt>
                <c:pt idx="2">
                  <c:v>0.133333333333333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4"/>
        <c:overlap val="100"/>
        <c:axId val="864058613"/>
        <c:axId val="414164983"/>
      </c:barChart>
      <c:catAx>
        <c:axId val="864058613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414164983"/>
        <c:crosses val="autoZero"/>
        <c:auto val="1"/>
        <c:lblAlgn val="ctr"/>
        <c:lblOffset val="100"/>
        <c:noMultiLvlLbl val="0"/>
      </c:catAx>
      <c:valAx>
        <c:axId val="414164983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lt1">
                  <a:lumMod val="902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864058613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3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/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bab19804-f4c2-4642-9de8-99d2b0eed63c}"/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lang="zh-CN" sz="1200"/>
      </a:pPr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'[Continental Average.xlsx]Sheet2'!$U$48</c:f>
              <c:strCache>
                <c:ptCount val="1"/>
                <c:pt idx="0">
                  <c:v>LI-SG</c:v>
                </c:pt>
              </c:strCache>
            </c:strRef>
          </c:tx>
          <c:spPr>
            <a:solidFill>
              <a:schemeClr val="accent6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Average.xlsx]Sheet2'!$T$49:$T$51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Average.xlsx]Sheet2'!$U$49:$U$51</c:f>
              <c:numCache>
                <c:formatCode>0%</c:formatCode>
                <c:ptCount val="3"/>
                <c:pt idx="0">
                  <c:v>0.431818181818182</c:v>
                </c:pt>
                <c:pt idx="1">
                  <c:v>0.266666666666667</c:v>
                </c:pt>
                <c:pt idx="2">
                  <c:v>0.533333333333333</c:v>
                </c:pt>
              </c:numCache>
            </c:numRef>
          </c:val>
        </c:ser>
        <c:ser>
          <c:idx val="1"/>
          <c:order val="1"/>
          <c:tx>
            <c:strRef>
              <c:f>'[Continental Average.xlsx]Sheet2'!$V$48</c:f>
              <c:strCache>
                <c:ptCount val="1"/>
                <c:pt idx="0">
                  <c:v>LI-FG</c:v>
                </c:pt>
              </c:strCache>
            </c:strRef>
          </c:tx>
          <c:spPr>
            <a:solidFill>
              <a:schemeClr val="accent5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Average.xlsx]Sheet2'!$T$49:$T$51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Average.xlsx]Sheet2'!$V$49:$V$51</c:f>
              <c:numCache>
                <c:formatCode>0%</c:formatCode>
                <c:ptCount val="3"/>
                <c:pt idx="0">
                  <c:v>0.409090909090909</c:v>
                </c:pt>
                <c:pt idx="1">
                  <c:v>0.166666666666667</c:v>
                </c:pt>
                <c:pt idx="2">
                  <c:v>0.166666666666667</c:v>
                </c:pt>
              </c:numCache>
            </c:numRef>
          </c:val>
        </c:ser>
        <c:ser>
          <c:idx val="2"/>
          <c:order val="2"/>
          <c:tx>
            <c:strRef>
              <c:f>'[Continental Average.xlsx]Sheet2'!$W$48</c:f>
              <c:strCache>
                <c:ptCount val="1"/>
                <c:pt idx="0">
                  <c:v>HI-SG</c:v>
                </c:pt>
              </c:strCache>
            </c:strRef>
          </c:tx>
          <c:spPr>
            <a:solidFill>
              <a:schemeClr val="bg2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Average.xlsx]Sheet2'!$T$49:$T$51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Average.xlsx]Sheet2'!$W$49:$W$51</c:f>
              <c:numCache>
                <c:formatCode>0%</c:formatCode>
                <c:ptCount val="3"/>
                <c:pt idx="0">
                  <c:v>0.0454545454545455</c:v>
                </c:pt>
                <c:pt idx="1">
                  <c:v>0.3</c:v>
                </c:pt>
                <c:pt idx="2">
                  <c:v>0.0333333333333333</c:v>
                </c:pt>
              </c:numCache>
            </c:numRef>
          </c:val>
        </c:ser>
        <c:ser>
          <c:idx val="3"/>
          <c:order val="3"/>
          <c:tx>
            <c:strRef>
              <c:f>'[Continental Average.xlsx]Sheet2'!$X$48</c:f>
              <c:strCache>
                <c:ptCount val="1"/>
                <c:pt idx="0">
                  <c:v>HI-FG</c:v>
                </c:pt>
              </c:strCache>
            </c:strRef>
          </c:tx>
          <c:spPr>
            <a:solidFill>
              <a:schemeClr val="bg2">
                <a:lumMod val="40000"/>
                <a:lumOff val="60000"/>
              </a:schemeClr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Average.xlsx]Sheet2'!$T$49:$T$51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Average.xlsx]Sheet2'!$X$49:$X$51</c:f>
              <c:numCache>
                <c:formatCode>0%</c:formatCode>
                <c:ptCount val="3"/>
                <c:pt idx="0">
                  <c:v>0.113636363636364</c:v>
                </c:pt>
                <c:pt idx="1">
                  <c:v>0.266666666666667</c:v>
                </c:pt>
                <c:pt idx="2">
                  <c:v>0.266666666666667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4"/>
        <c:overlap val="100"/>
        <c:axId val="515141581"/>
        <c:axId val="430121534"/>
      </c:barChart>
      <c:catAx>
        <c:axId val="51514158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430121534"/>
        <c:crosses val="autoZero"/>
        <c:auto val="1"/>
        <c:lblAlgn val="ctr"/>
        <c:lblOffset val="100"/>
        <c:noMultiLvlLbl val="0"/>
      </c:catAx>
      <c:valAx>
        <c:axId val="430121534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lt1">
                  <a:lumMod val="902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515141581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3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/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480ab477-e90b-4b03-a63e-2f8def5d9791}"/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lang="zh-CN" sz="1200"/>
      </a:pPr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1001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1">
      <cs:styleClr val="auto"/>
    </cs:fillRef>
    <cs:effectRef idx="0"/>
    <cs:fontRef idx="minor">
      <a:schemeClr val="dk1"/>
    </cs:fontRef>
    <cs:spPr>
      <a:ln>
        <a:solidFill>
          <a:schemeClr val="bg1"/>
        </a:solidFill>
      </a:ln>
      <a:effectLst/>
    </cs:spPr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1001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1">
      <cs:styleClr val="auto"/>
    </cs:fillRef>
    <cs:effectRef idx="0"/>
    <cs:fontRef idx="minor">
      <a:schemeClr val="dk1"/>
    </cs:fontRef>
    <cs:spPr>
      <a:ln>
        <a:solidFill>
          <a:schemeClr val="bg1"/>
        </a:solidFill>
      </a:ln>
      <a:effectLst/>
    </cs:spPr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1001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1">
      <cs:styleClr val="auto"/>
    </cs:fillRef>
    <cs:effectRef idx="0"/>
    <cs:fontRef idx="minor">
      <a:schemeClr val="dk1"/>
    </cs:fontRef>
    <cs:spPr>
      <a:ln>
        <a:solidFill>
          <a:schemeClr val="bg1"/>
        </a:solidFill>
      </a:ln>
      <a:effectLst/>
    </cs:spPr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1001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1">
      <cs:styleClr val="auto"/>
    </cs:fillRef>
    <cs:effectRef idx="0"/>
    <cs:fontRef idx="minor">
      <a:schemeClr val="dk1"/>
    </cs:fontRef>
    <cs:spPr>
      <a:ln>
        <a:solidFill>
          <a:schemeClr val="bg1"/>
        </a:solidFill>
      </a:ln>
      <a:effectLst/>
    </cs:spPr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>
                <a:latin typeface="Arial" panose="020B0604020202020204" pitchFamily="34" charset="0"/>
                <a:ea typeface="Arial" panose="020B0604020202020204" pitchFamily="34" charset="0"/>
              </a:rPr>
            </a:fld>
            <a:endParaRPr lang="zh-CN" altLang="en-US"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>
                <a:latin typeface="Arial" panose="020B0604020202020204" pitchFamily="34" charset="0"/>
                <a:ea typeface="Arial" panose="020B0604020202020204" pitchFamily="34" charset="0"/>
              </a:rPr>
            </a:fld>
            <a:endParaRPr lang="zh-CN" altLang="en-US"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825624" y="1279525"/>
            <a:ext cx="345440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800140" y="2778091"/>
            <a:ext cx="10800847" cy="4592488"/>
          </a:xfrm>
        </p:spPr>
        <p:txBody>
          <a:bodyPr anchor="b">
            <a:normAutofit/>
          </a:bodyPr>
          <a:lstStyle>
            <a:lvl1pPr algn="ctr">
              <a:defRPr sz="945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单击此处添加标题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800140" y="7563927"/>
            <a:ext cx="10800847" cy="3476939"/>
          </a:xfrm>
        </p:spPr>
        <p:txBody>
          <a:bodyPr>
            <a:normAutofit/>
          </a:bodyPr>
          <a:lstStyle>
            <a:lvl1pPr marL="0" indent="0" algn="ctr">
              <a:buNone/>
              <a:defRPr sz="2835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+mj-ea"/>
              </a:defRPr>
            </a:lvl1pPr>
            <a:lvl2pPr marL="720090" indent="0" algn="ctr">
              <a:buNone/>
              <a:defRPr sz="3145"/>
            </a:lvl2pPr>
            <a:lvl3pPr marL="1440815" indent="0" algn="ctr">
              <a:buNone/>
              <a:defRPr sz="2835"/>
            </a:lvl3pPr>
            <a:lvl4pPr marL="2159635" indent="0" algn="ctr">
              <a:buNone/>
              <a:defRPr sz="2525"/>
            </a:lvl4pPr>
            <a:lvl5pPr marL="2880995" indent="0" algn="ctr">
              <a:buNone/>
              <a:defRPr sz="2525"/>
            </a:lvl5pPr>
            <a:lvl6pPr marL="3600450" indent="0" algn="ctr">
              <a:buNone/>
              <a:defRPr sz="2525"/>
            </a:lvl6pPr>
            <a:lvl7pPr marL="4320540" indent="0" algn="ctr">
              <a:buNone/>
              <a:defRPr sz="2525"/>
            </a:lvl7pPr>
            <a:lvl8pPr marL="5040630" indent="0" algn="ctr">
              <a:buNone/>
              <a:defRPr sz="2525"/>
            </a:lvl8pPr>
            <a:lvl9pPr marL="5761355" indent="0" algn="ctr">
              <a:buNone/>
              <a:defRPr sz="2525"/>
            </a:lvl9pPr>
          </a:lstStyle>
          <a:p>
            <a:r>
              <a:rPr lang="zh-CN" altLang="en-US" dirty="0"/>
              <a:t>单击此处添加副标题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65061" y="542709"/>
            <a:ext cx="12420973" cy="2783553"/>
          </a:xfrm>
        </p:spPr>
        <p:txBody>
          <a:bodyPr anchor="ctr" anchorCtr="0">
            <a:normAutofit/>
          </a:bodyPr>
          <a:lstStyle>
            <a:lvl1pPr>
              <a:defRPr sz="378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765061" y="3833634"/>
            <a:ext cx="12420973" cy="9137384"/>
          </a:xfrm>
        </p:spPr>
        <p:txBody>
          <a:bodyPr>
            <a:normAutofit/>
          </a:bodyPr>
          <a:lstStyle>
            <a:lvl1pPr>
              <a:defRPr sz="3145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2835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2525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2525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2525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82576" y="7876978"/>
            <a:ext cx="8648179" cy="1703770"/>
          </a:xfrm>
        </p:spPr>
        <p:txBody>
          <a:bodyPr anchor="b">
            <a:normAutofit/>
          </a:bodyPr>
          <a:lstStyle>
            <a:lvl1pPr>
              <a:defRPr sz="6305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82576" y="9680607"/>
            <a:ext cx="8648179" cy="1359803"/>
          </a:xfrm>
        </p:spPr>
        <p:txBody>
          <a:bodyPr>
            <a:normAutofit/>
          </a:bodyPr>
          <a:lstStyle>
            <a:lvl1pPr marL="0" indent="0">
              <a:buNone/>
              <a:defRPr sz="2835">
                <a:solidFill>
                  <a:schemeClr val="tx1"/>
                </a:solidFill>
              </a:defRPr>
            </a:lvl1pPr>
            <a:lvl2pPr marL="720090" indent="0">
              <a:buNone/>
              <a:defRPr sz="3145">
                <a:solidFill>
                  <a:schemeClr val="tx1">
                    <a:tint val="75000"/>
                  </a:schemeClr>
                </a:solidFill>
              </a:defRPr>
            </a:lvl2pPr>
            <a:lvl3pPr marL="1440815" indent="0">
              <a:buNone/>
              <a:defRPr sz="2835">
                <a:solidFill>
                  <a:schemeClr val="tx1">
                    <a:tint val="75000"/>
                  </a:schemeClr>
                </a:solidFill>
              </a:defRPr>
            </a:lvl3pPr>
            <a:lvl4pPr marL="2159635" indent="0">
              <a:buNone/>
              <a:defRPr sz="2525">
                <a:solidFill>
                  <a:schemeClr val="tx1">
                    <a:tint val="75000"/>
                  </a:schemeClr>
                </a:solidFill>
              </a:defRPr>
            </a:lvl4pPr>
            <a:lvl5pPr marL="2880995" indent="0">
              <a:buNone/>
              <a:defRPr sz="2525">
                <a:solidFill>
                  <a:schemeClr val="tx1">
                    <a:tint val="75000"/>
                  </a:schemeClr>
                </a:solidFill>
              </a:defRPr>
            </a:lvl5pPr>
            <a:lvl6pPr marL="3600450" indent="0">
              <a:buNone/>
              <a:defRPr sz="2525">
                <a:solidFill>
                  <a:schemeClr val="tx1">
                    <a:tint val="75000"/>
                  </a:schemeClr>
                </a:solidFill>
              </a:defRPr>
            </a:lvl6pPr>
            <a:lvl7pPr marL="4320540" indent="0">
              <a:buNone/>
              <a:defRPr sz="2525">
                <a:solidFill>
                  <a:schemeClr val="tx1">
                    <a:tint val="75000"/>
                  </a:schemeClr>
                </a:solidFill>
              </a:defRPr>
            </a:lvl7pPr>
            <a:lvl8pPr marL="5040630" indent="0">
              <a:buNone/>
              <a:defRPr sz="2525">
                <a:solidFill>
                  <a:schemeClr val="tx1">
                    <a:tint val="75000"/>
                  </a:schemeClr>
                </a:solidFill>
              </a:defRPr>
            </a:lvl8pPr>
            <a:lvl9pPr marL="5761355" indent="0">
              <a:buNone/>
              <a:defRPr sz="252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65061" y="542709"/>
            <a:ext cx="12420973" cy="2783553"/>
          </a:xfrm>
        </p:spPr>
        <p:txBody>
          <a:bodyPr>
            <a:normAutofit/>
          </a:bodyPr>
          <a:lstStyle>
            <a:lvl1pPr>
              <a:defRPr sz="3780" b="1" i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765061" y="3833634"/>
            <a:ext cx="6120479" cy="9137384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3145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2835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2525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2525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2525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7065554" y="3833634"/>
            <a:ext cx="6120479" cy="9137384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3145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2835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2525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2525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2525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91953" y="766727"/>
            <a:ext cx="12420973" cy="278355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91953" y="3664248"/>
            <a:ext cx="6092353" cy="1730134"/>
          </a:xfrm>
        </p:spPr>
        <p:txBody>
          <a:bodyPr anchor="b"/>
          <a:lstStyle>
            <a:lvl1pPr marL="0" indent="0">
              <a:buNone/>
              <a:defRPr sz="3780" b="1"/>
            </a:lvl1pPr>
            <a:lvl2pPr marL="720090" indent="0">
              <a:buNone/>
              <a:defRPr sz="3145" b="1"/>
            </a:lvl2pPr>
            <a:lvl3pPr marL="1440815" indent="0">
              <a:buNone/>
              <a:defRPr sz="2835" b="1"/>
            </a:lvl3pPr>
            <a:lvl4pPr marL="2159635" indent="0">
              <a:buNone/>
              <a:defRPr sz="2525" b="1"/>
            </a:lvl4pPr>
            <a:lvl5pPr marL="2880995" indent="0">
              <a:buNone/>
              <a:defRPr sz="2525" b="1"/>
            </a:lvl5pPr>
            <a:lvl6pPr marL="3600450" indent="0">
              <a:buNone/>
              <a:defRPr sz="2525" b="1"/>
            </a:lvl6pPr>
            <a:lvl7pPr marL="4320540" indent="0">
              <a:buNone/>
              <a:defRPr sz="2525" b="1"/>
            </a:lvl7pPr>
            <a:lvl8pPr marL="5040630" indent="0">
              <a:buNone/>
              <a:defRPr sz="2525" b="1"/>
            </a:lvl8pPr>
            <a:lvl9pPr marL="5761355" indent="0">
              <a:buNone/>
              <a:defRPr sz="2525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991953" y="5492523"/>
            <a:ext cx="6092353" cy="750516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7290571" y="3664248"/>
            <a:ext cx="6122357" cy="1730134"/>
          </a:xfrm>
        </p:spPr>
        <p:txBody>
          <a:bodyPr anchor="b"/>
          <a:lstStyle>
            <a:lvl1pPr marL="0" indent="0">
              <a:buNone/>
              <a:defRPr sz="3780" b="1"/>
            </a:lvl1pPr>
            <a:lvl2pPr marL="720090" indent="0">
              <a:buNone/>
              <a:defRPr sz="3145" b="1"/>
            </a:lvl2pPr>
            <a:lvl3pPr marL="1440815" indent="0">
              <a:buNone/>
              <a:defRPr sz="2835" b="1"/>
            </a:lvl3pPr>
            <a:lvl4pPr marL="2159635" indent="0">
              <a:buNone/>
              <a:defRPr sz="2525" b="1"/>
            </a:lvl4pPr>
            <a:lvl5pPr marL="2880995" indent="0">
              <a:buNone/>
              <a:defRPr sz="2525" b="1"/>
            </a:lvl5pPr>
            <a:lvl6pPr marL="3600450" indent="0">
              <a:buNone/>
              <a:defRPr sz="2525" b="1"/>
            </a:lvl6pPr>
            <a:lvl7pPr marL="4320540" indent="0">
              <a:buNone/>
              <a:defRPr sz="2525" b="1"/>
            </a:lvl7pPr>
            <a:lvl8pPr marL="5040630" indent="0">
              <a:buNone/>
              <a:defRPr sz="2525" b="1"/>
            </a:lvl8pPr>
            <a:lvl9pPr marL="5761355" indent="0">
              <a:buNone/>
              <a:defRPr sz="2525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7290571" y="5492523"/>
            <a:ext cx="6122357" cy="750516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90077" y="5808790"/>
            <a:ext cx="12420973" cy="2783553"/>
          </a:xfrm>
        </p:spPr>
        <p:txBody>
          <a:bodyPr>
            <a:normAutofit/>
          </a:bodyPr>
          <a:lstStyle>
            <a:lvl1pPr algn="ctr">
              <a:defRPr sz="7565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763933" y="266688"/>
            <a:ext cx="4919914" cy="3360264"/>
          </a:xfrm>
        </p:spPr>
        <p:txBody>
          <a:bodyPr anchor="ctr" anchorCtr="0">
            <a:normAutofit/>
          </a:bodyPr>
          <a:lstStyle>
            <a:lvl1pPr>
              <a:defRPr sz="378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6123315" y="1609269"/>
            <a:ext cx="6871455" cy="10697839"/>
          </a:xfrm>
        </p:spPr>
        <p:txBody>
          <a:bodyPr/>
          <a:lstStyle>
            <a:lvl1pPr marL="0" indent="0">
              <a:buNone/>
              <a:defRPr sz="5040"/>
            </a:lvl1pPr>
            <a:lvl2pPr marL="720090" indent="0">
              <a:buNone/>
              <a:defRPr sz="4410"/>
            </a:lvl2pPr>
            <a:lvl3pPr marL="1440815" indent="0">
              <a:buNone/>
              <a:defRPr sz="3780"/>
            </a:lvl3pPr>
            <a:lvl4pPr marL="2159635" indent="0">
              <a:buNone/>
              <a:defRPr sz="3145"/>
            </a:lvl4pPr>
            <a:lvl5pPr marL="2880995" indent="0">
              <a:buNone/>
              <a:defRPr sz="3145"/>
            </a:lvl5pPr>
            <a:lvl6pPr marL="3600450" indent="0">
              <a:buNone/>
              <a:defRPr sz="3145"/>
            </a:lvl6pPr>
            <a:lvl7pPr marL="4320540" indent="0">
              <a:buNone/>
              <a:defRPr sz="3145"/>
            </a:lvl7pPr>
            <a:lvl8pPr marL="5040630" indent="0">
              <a:buNone/>
              <a:defRPr sz="3145"/>
            </a:lvl8pPr>
            <a:lvl9pPr marL="5761355" indent="0">
              <a:buNone/>
              <a:defRPr sz="3145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769934" y="4320339"/>
            <a:ext cx="4919914" cy="8003963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2525"/>
            </a:lvl1pPr>
            <a:lvl2pPr marL="720090" indent="0">
              <a:buNone/>
              <a:defRPr sz="2205"/>
            </a:lvl2pPr>
            <a:lvl3pPr marL="1440815" indent="0">
              <a:buNone/>
              <a:defRPr sz="1885"/>
            </a:lvl3pPr>
            <a:lvl4pPr marL="2159635" indent="0">
              <a:buNone/>
              <a:defRPr sz="1575"/>
            </a:lvl4pPr>
            <a:lvl5pPr marL="2880995" indent="0">
              <a:buNone/>
              <a:defRPr sz="1575"/>
            </a:lvl5pPr>
            <a:lvl6pPr marL="3600450" indent="0">
              <a:buNone/>
              <a:defRPr sz="1575"/>
            </a:lvl6pPr>
            <a:lvl7pPr marL="4320540" indent="0">
              <a:buNone/>
              <a:defRPr sz="1575"/>
            </a:lvl7pPr>
            <a:lvl8pPr marL="5040630" indent="0">
              <a:buNone/>
              <a:defRPr sz="1575"/>
            </a:lvl8pPr>
            <a:lvl9pPr marL="5761355" indent="0">
              <a:buNone/>
              <a:defRPr sz="1575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11604632" y="766727"/>
            <a:ext cx="1806420" cy="12204291"/>
          </a:xfrm>
        </p:spPr>
        <p:txBody>
          <a:bodyPr vert="eaVert">
            <a:normAutofit/>
          </a:bodyPr>
          <a:lstStyle>
            <a:lvl1pPr>
              <a:defRPr sz="567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990077" y="766727"/>
            <a:ext cx="10488962" cy="12204291"/>
          </a:xfrm>
        </p:spPr>
        <p:txBody>
          <a:bodyPr vert="eaVert"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990077" y="1158186"/>
            <a:ext cx="12420973" cy="1167329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990077" y="766727"/>
            <a:ext cx="12420973" cy="278355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90077" y="3833634"/>
            <a:ext cx="12420973" cy="91373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990077" y="13347713"/>
            <a:ext cx="3240253" cy="76672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885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770374" y="13347713"/>
            <a:ext cx="4860381" cy="76672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885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10170797" y="13347713"/>
            <a:ext cx="3240253" cy="76672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885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1440815" rtl="0" eaLnBrk="1" latinLnBrk="0" hangingPunct="1">
        <a:lnSpc>
          <a:spcPct val="90000"/>
        </a:lnSpc>
        <a:spcBef>
          <a:spcPct val="0"/>
        </a:spcBef>
        <a:buNone/>
        <a:defRPr sz="6305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j-cs"/>
        </a:defRPr>
      </a:lvl1pPr>
    </p:titleStyle>
    <p:bodyStyle>
      <a:lvl1pPr marL="360045" indent="-360045" algn="l" defTabSz="1440815" rtl="0" eaLnBrk="1" latinLnBrk="0" hangingPunct="1">
        <a:lnSpc>
          <a:spcPct val="90000"/>
        </a:lnSpc>
        <a:spcBef>
          <a:spcPts val="1575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n-cs"/>
        </a:defRPr>
      </a:lvl1pPr>
      <a:lvl2pPr marL="1080135" indent="-360045" algn="l" defTabSz="1440815" rtl="0" eaLnBrk="1" latinLnBrk="0" hangingPunct="1">
        <a:lnSpc>
          <a:spcPct val="90000"/>
        </a:lnSpc>
        <a:spcBef>
          <a:spcPct val="158000"/>
        </a:spcBef>
        <a:buFont typeface="Arial" panose="020B0604020202020204" pitchFamily="34" charset="0"/>
        <a:buChar char="•"/>
        <a:defRPr sz="3145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n-cs"/>
        </a:defRPr>
      </a:lvl2pPr>
      <a:lvl3pPr marL="1800860" indent="-360045" algn="l" defTabSz="1440815" rtl="0" eaLnBrk="1" latinLnBrk="0" hangingPunct="1">
        <a:lnSpc>
          <a:spcPct val="90000"/>
        </a:lnSpc>
        <a:spcBef>
          <a:spcPct val="158000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n-cs"/>
        </a:defRPr>
      </a:lvl3pPr>
      <a:lvl4pPr marL="2519680" indent="-360045" algn="l" defTabSz="1440815" rtl="0" eaLnBrk="1" latinLnBrk="0" hangingPunct="1">
        <a:lnSpc>
          <a:spcPct val="90000"/>
        </a:lnSpc>
        <a:spcBef>
          <a:spcPct val="158000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n-cs"/>
        </a:defRPr>
      </a:lvl4pPr>
      <a:lvl5pPr marL="3240405" indent="-360045" algn="l" defTabSz="1440815" rtl="0" eaLnBrk="1" latinLnBrk="0" hangingPunct="1">
        <a:lnSpc>
          <a:spcPct val="90000"/>
        </a:lnSpc>
        <a:spcBef>
          <a:spcPct val="158000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n-cs"/>
        </a:defRPr>
      </a:lvl5pPr>
      <a:lvl6pPr marL="3960495" indent="-360045" algn="l" defTabSz="1440815" rtl="0" eaLnBrk="1" latinLnBrk="0" hangingPunct="1">
        <a:lnSpc>
          <a:spcPct val="90000"/>
        </a:lnSpc>
        <a:spcBef>
          <a:spcPct val="158000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6pPr>
      <a:lvl7pPr marL="4680585" indent="-360045" algn="l" defTabSz="1440815" rtl="0" eaLnBrk="1" latinLnBrk="0" hangingPunct="1">
        <a:lnSpc>
          <a:spcPct val="90000"/>
        </a:lnSpc>
        <a:spcBef>
          <a:spcPct val="158000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7pPr>
      <a:lvl8pPr marL="5400675" indent="-360045" algn="l" defTabSz="1440815" rtl="0" eaLnBrk="1" latinLnBrk="0" hangingPunct="1">
        <a:lnSpc>
          <a:spcPct val="90000"/>
        </a:lnSpc>
        <a:spcBef>
          <a:spcPct val="158000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8pPr>
      <a:lvl9pPr marL="6120130" indent="-360045" algn="l" defTabSz="1440815" rtl="0" eaLnBrk="1" latinLnBrk="0" hangingPunct="1">
        <a:lnSpc>
          <a:spcPct val="90000"/>
        </a:lnSpc>
        <a:spcBef>
          <a:spcPct val="158000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1440815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1pPr>
      <a:lvl2pPr marL="720090" algn="l" defTabSz="1440815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2pPr>
      <a:lvl3pPr marL="1440815" algn="l" defTabSz="1440815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3pPr>
      <a:lvl4pPr marL="2159635" algn="l" defTabSz="1440815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4pPr>
      <a:lvl5pPr marL="2880995" algn="l" defTabSz="1440815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5pPr>
      <a:lvl6pPr marL="3600450" algn="l" defTabSz="1440815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6pPr>
      <a:lvl7pPr marL="4320540" algn="l" defTabSz="1440815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7pPr>
      <a:lvl8pPr marL="5040630" algn="l" defTabSz="1440815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8pPr>
      <a:lvl9pPr marL="5761355" algn="l" defTabSz="1440815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image" Target="../media/image9.png"/><Relationship Id="rId8" Type="http://schemas.openxmlformats.org/officeDocument/2006/relationships/image" Target="../media/image8.png"/><Relationship Id="rId7" Type="http://schemas.openxmlformats.org/officeDocument/2006/relationships/image" Target="../media/image7.png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5" Type="http://schemas.openxmlformats.org/officeDocument/2006/relationships/slideLayout" Target="../slideLayouts/slideLayout1.xml"/><Relationship Id="rId14" Type="http://schemas.openxmlformats.org/officeDocument/2006/relationships/image" Target="../media/image14.png"/><Relationship Id="rId13" Type="http://schemas.openxmlformats.org/officeDocument/2006/relationships/image" Target="../media/image13.png"/><Relationship Id="rId12" Type="http://schemas.openxmlformats.org/officeDocument/2006/relationships/image" Target="../media/image12.png"/><Relationship Id="rId11" Type="http://schemas.openxmlformats.org/officeDocument/2006/relationships/image" Target="../media/image11.png"/><Relationship Id="rId10" Type="http://schemas.openxmlformats.org/officeDocument/2006/relationships/image" Target="../media/image10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image" Target="../media/image23.png"/><Relationship Id="rId8" Type="http://schemas.openxmlformats.org/officeDocument/2006/relationships/image" Target="../media/image22.png"/><Relationship Id="rId7" Type="http://schemas.openxmlformats.org/officeDocument/2006/relationships/image" Target="../media/image21.png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1" Type="http://schemas.openxmlformats.org/officeDocument/2006/relationships/notesSlide" Target="../notesSlides/notesSlide1.xml"/><Relationship Id="rId10" Type="http://schemas.openxmlformats.org/officeDocument/2006/relationships/slideLayout" Target="../slideLayouts/slideLayout1.xml"/><Relationship Id="rId1" Type="http://schemas.openxmlformats.org/officeDocument/2006/relationships/image" Target="../media/image15.png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image" Target="../media/image10.png"/><Relationship Id="rId8" Type="http://schemas.openxmlformats.org/officeDocument/2006/relationships/image" Target="../media/image8.png"/><Relationship Id="rId7" Type="http://schemas.openxmlformats.org/officeDocument/2006/relationships/image" Target="../media/image7.png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27.png"/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8" Type="http://schemas.openxmlformats.org/officeDocument/2006/relationships/notesSlide" Target="../notesSlides/notesSlide2.xml"/><Relationship Id="rId17" Type="http://schemas.openxmlformats.org/officeDocument/2006/relationships/slideLayout" Target="../slideLayouts/slideLayout1.xml"/><Relationship Id="rId16" Type="http://schemas.openxmlformats.org/officeDocument/2006/relationships/image" Target="../media/image31.png"/><Relationship Id="rId15" Type="http://schemas.openxmlformats.org/officeDocument/2006/relationships/image" Target="../media/image30.png"/><Relationship Id="rId14" Type="http://schemas.openxmlformats.org/officeDocument/2006/relationships/image" Target="../media/image29.svg"/><Relationship Id="rId13" Type="http://schemas.openxmlformats.org/officeDocument/2006/relationships/image" Target="../media/image28.png"/><Relationship Id="rId12" Type="http://schemas.openxmlformats.org/officeDocument/2006/relationships/image" Target="../media/image13.png"/><Relationship Id="rId11" Type="http://schemas.openxmlformats.org/officeDocument/2006/relationships/image" Target="../media/image12.png"/><Relationship Id="rId10" Type="http://schemas.openxmlformats.org/officeDocument/2006/relationships/image" Target="../media/image11.png"/><Relationship Id="rId1" Type="http://schemas.openxmlformats.org/officeDocument/2006/relationships/image" Target="../media/image2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3.xml"/><Relationship Id="rId7" Type="http://schemas.openxmlformats.org/officeDocument/2006/relationships/slideLayout" Target="../slideLayouts/slideLayout7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image" Target="../media/image32.png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.xml"/><Relationship Id="rId8" Type="http://schemas.openxmlformats.org/officeDocument/2006/relationships/image" Target="../media/image45.png"/><Relationship Id="rId7" Type="http://schemas.openxmlformats.org/officeDocument/2006/relationships/image" Target="../media/image44.png"/><Relationship Id="rId6" Type="http://schemas.openxmlformats.org/officeDocument/2006/relationships/image" Target="../media/image43.svg"/><Relationship Id="rId5" Type="http://schemas.openxmlformats.org/officeDocument/2006/relationships/image" Target="../media/image42.png"/><Relationship Id="rId4" Type="http://schemas.openxmlformats.org/officeDocument/2006/relationships/image" Target="../media/image41.svg"/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image" Target="../media/image38.png"/></Relationships>
</file>

<file path=ppt/slides/_rels/slide6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7.xml"/><Relationship Id="rId4" Type="http://schemas.openxmlformats.org/officeDocument/2006/relationships/image" Target="../media/image49.png"/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image" Target="../media/image46.png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image" Target="../media/image50.png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image" Target="../media/image59.png"/><Relationship Id="rId8" Type="http://schemas.openxmlformats.org/officeDocument/2006/relationships/image" Target="../media/image58.png"/><Relationship Id="rId7" Type="http://schemas.openxmlformats.org/officeDocument/2006/relationships/image" Target="../media/image57.png"/><Relationship Id="rId6" Type="http://schemas.openxmlformats.org/officeDocument/2006/relationships/image" Target="../media/image56.png"/><Relationship Id="rId5" Type="http://schemas.openxmlformats.org/officeDocument/2006/relationships/image" Target="../media/image55.png"/><Relationship Id="rId4" Type="http://schemas.openxmlformats.org/officeDocument/2006/relationships/image" Target="../media/image54.png"/><Relationship Id="rId3" Type="http://schemas.openxmlformats.org/officeDocument/2006/relationships/image" Target="../media/image53.png"/><Relationship Id="rId2" Type="http://schemas.openxmlformats.org/officeDocument/2006/relationships/tags" Target="../tags/tag2.xml"/><Relationship Id="rId14" Type="http://schemas.openxmlformats.org/officeDocument/2006/relationships/slideLayout" Target="../slideLayouts/slideLayout7.xml"/><Relationship Id="rId13" Type="http://schemas.openxmlformats.org/officeDocument/2006/relationships/image" Target="../media/image63.png"/><Relationship Id="rId12" Type="http://schemas.openxmlformats.org/officeDocument/2006/relationships/image" Target="../media/image62.png"/><Relationship Id="rId11" Type="http://schemas.openxmlformats.org/officeDocument/2006/relationships/image" Target="../media/image61.png"/><Relationship Id="rId10" Type="http://schemas.openxmlformats.org/officeDocument/2006/relationships/image" Target="../media/image60.png"/><Relationship Id="rId1" Type="http://schemas.openxmlformats.org/officeDocument/2006/relationships/tags" Target="../tags/tag1.xml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image" Target="../media/image72.png"/><Relationship Id="rId8" Type="http://schemas.openxmlformats.org/officeDocument/2006/relationships/image" Target="../media/image71.png"/><Relationship Id="rId7" Type="http://schemas.openxmlformats.org/officeDocument/2006/relationships/image" Target="../media/image70.png"/><Relationship Id="rId6" Type="http://schemas.openxmlformats.org/officeDocument/2006/relationships/image" Target="../media/image69.png"/><Relationship Id="rId5" Type="http://schemas.openxmlformats.org/officeDocument/2006/relationships/image" Target="../media/image68.png"/><Relationship Id="rId4" Type="http://schemas.openxmlformats.org/officeDocument/2006/relationships/image" Target="../media/image67.png"/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1" Type="http://schemas.openxmlformats.org/officeDocument/2006/relationships/slideLayout" Target="../slideLayouts/slideLayout2.xml"/><Relationship Id="rId10" Type="http://schemas.openxmlformats.org/officeDocument/2006/relationships/image" Target="../media/image73.png"/><Relationship Id="rId1" Type="http://schemas.openxmlformats.org/officeDocument/2006/relationships/image" Target="../media/image64.png"/></Relationships>
</file>

<file path=ppt/slides/_rels/slide10.xml.rels><?xml version="1.0" encoding="UTF-8" standalone="yes"?>
<Relationships xmlns="http://schemas.openxmlformats.org/package/2006/relationships"><Relationship Id="rId9" Type="http://schemas.openxmlformats.org/officeDocument/2006/relationships/image" Target="../media/image82.png"/><Relationship Id="rId8" Type="http://schemas.openxmlformats.org/officeDocument/2006/relationships/image" Target="../media/image81.png"/><Relationship Id="rId7" Type="http://schemas.openxmlformats.org/officeDocument/2006/relationships/image" Target="../media/image80.png"/><Relationship Id="rId6" Type="http://schemas.openxmlformats.org/officeDocument/2006/relationships/image" Target="../media/image79.png"/><Relationship Id="rId5" Type="http://schemas.openxmlformats.org/officeDocument/2006/relationships/image" Target="../media/image78.png"/><Relationship Id="rId4" Type="http://schemas.openxmlformats.org/officeDocument/2006/relationships/image" Target="../media/image77.png"/><Relationship Id="rId3" Type="http://schemas.openxmlformats.org/officeDocument/2006/relationships/image" Target="../media/image76.png"/><Relationship Id="rId2" Type="http://schemas.openxmlformats.org/officeDocument/2006/relationships/image" Target="../media/image75.png"/><Relationship Id="rId17" Type="http://schemas.openxmlformats.org/officeDocument/2006/relationships/slideLayout" Target="../slideLayouts/slideLayout2.xml"/><Relationship Id="rId16" Type="http://schemas.openxmlformats.org/officeDocument/2006/relationships/image" Target="../media/image89.png"/><Relationship Id="rId15" Type="http://schemas.openxmlformats.org/officeDocument/2006/relationships/image" Target="../media/image88.png"/><Relationship Id="rId14" Type="http://schemas.openxmlformats.org/officeDocument/2006/relationships/image" Target="../media/image87.png"/><Relationship Id="rId13" Type="http://schemas.openxmlformats.org/officeDocument/2006/relationships/image" Target="../media/image86.png"/><Relationship Id="rId12" Type="http://schemas.openxmlformats.org/officeDocument/2006/relationships/image" Target="../media/image85.png"/><Relationship Id="rId11" Type="http://schemas.openxmlformats.org/officeDocument/2006/relationships/image" Target="../media/image84.png"/><Relationship Id="rId10" Type="http://schemas.openxmlformats.org/officeDocument/2006/relationships/image" Target="../media/image83.png"/><Relationship Id="rId1" Type="http://schemas.openxmlformats.org/officeDocument/2006/relationships/image" Target="../media/image74.png"/></Relationships>
</file>

<file path=ppt/slides/_rels/slide1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92.png"/><Relationship Id="rId2" Type="http://schemas.openxmlformats.org/officeDocument/2006/relationships/image" Target="../media/image91.png"/><Relationship Id="rId1" Type="http://schemas.openxmlformats.org/officeDocument/2006/relationships/image" Target="../media/image90.png"/></Relationships>
</file>

<file path=ppt/slides/_rels/slide12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4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95.png"/><Relationship Id="rId2" Type="http://schemas.openxmlformats.org/officeDocument/2006/relationships/image" Target="../media/image94.png"/><Relationship Id="rId1" Type="http://schemas.openxmlformats.org/officeDocument/2006/relationships/image" Target="../media/image9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97.png"/><Relationship Id="rId1" Type="http://schemas.openxmlformats.org/officeDocument/2006/relationships/image" Target="../media/image96.png"/></Relationships>
</file>

<file path=ppt/slides/_rels/slide14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chart" Target="../charts/chart4.xml"/><Relationship Id="rId3" Type="http://schemas.openxmlformats.org/officeDocument/2006/relationships/chart" Target="../charts/chart3.xml"/><Relationship Id="rId2" Type="http://schemas.openxmlformats.org/officeDocument/2006/relationships/chart" Target="../charts/chart2.xml"/><Relationship Id="rId1" Type="http://schemas.openxmlformats.org/officeDocument/2006/relationships/chart" Target="../charts/chart1.xml"/></Relationships>
</file>

<file path=ppt/slides/_rels/slide15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image" Target="../media/image98.png"/></Relationships>
</file>

<file path=ppt/slides/_rels/slide16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5.xml"/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101.png"/><Relationship Id="rId2" Type="http://schemas.openxmlformats.org/officeDocument/2006/relationships/image" Target="../media/image100.png"/><Relationship Id="rId1" Type="http://schemas.openxmlformats.org/officeDocument/2006/relationships/image" Target="../media/image9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0CDCABCE-D623-4CDD-A77A-7869E116686A}" type="slidenum">
              <a:rPr lang="de-AT" sz="1065" smtClean="0"/>
            </a:fld>
            <a:endParaRPr lang="de-AT" sz="1065" dirty="0"/>
          </a:p>
        </p:txBody>
      </p:sp>
      <p:grpSp>
        <p:nvGrpSpPr>
          <p:cNvPr id="43" name="组合 42"/>
          <p:cNvGrpSpPr/>
          <p:nvPr/>
        </p:nvGrpSpPr>
        <p:grpSpPr>
          <a:xfrm>
            <a:off x="3087370" y="3930650"/>
            <a:ext cx="7763510" cy="6623050"/>
            <a:chOff x="4862" y="6190"/>
            <a:chExt cx="12226" cy="10430"/>
          </a:xfrm>
        </p:grpSpPr>
        <p:sp>
          <p:nvSpPr>
            <p:cNvPr id="66" name="矩形 65"/>
            <p:cNvSpPr/>
            <p:nvPr/>
          </p:nvSpPr>
          <p:spPr>
            <a:xfrm>
              <a:off x="4862" y="6190"/>
              <a:ext cx="12226" cy="1043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grpSp>
          <p:nvGrpSpPr>
            <p:cNvPr id="51" name="组合 50"/>
            <p:cNvGrpSpPr/>
            <p:nvPr/>
          </p:nvGrpSpPr>
          <p:grpSpPr>
            <a:xfrm>
              <a:off x="5096" y="6382"/>
              <a:ext cx="11992" cy="10119"/>
              <a:chOff x="135" y="6382"/>
              <a:chExt cx="11992" cy="10119"/>
            </a:xfrm>
          </p:grpSpPr>
          <p:grpSp>
            <p:nvGrpSpPr>
              <p:cNvPr id="8" name="组合 7"/>
              <p:cNvGrpSpPr/>
              <p:nvPr/>
            </p:nvGrpSpPr>
            <p:grpSpPr>
              <a:xfrm rot="0">
                <a:off x="193" y="7052"/>
                <a:ext cx="11934" cy="4292"/>
                <a:chOff x="583" y="2529"/>
                <a:chExt cx="21216" cy="7630"/>
              </a:xfrm>
            </p:grpSpPr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31" name="TextBox 30"/>
                    <p:cNvSpPr txBox="1"/>
                    <p:nvPr/>
                  </p:nvSpPr>
                  <p:spPr>
                    <a:xfrm>
                      <a:off x="11630" y="8665"/>
                      <a:ext cx="3967" cy="788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 xmlns:m="http://schemas.openxmlformats.org/officeDocument/2006/math">
                          <m:r>
                            <a:rPr lang="en-US" sz="1240" i="1" smtClean="0">
                              <a:latin typeface="Cambria Math" panose="02040503050406030204" charset="0"/>
                              <a:ea typeface="Cambria Math" panose="02040503050406030204" charset="0"/>
                            </a:rPr>
                            <m:t>𝛼</m:t>
                          </m:r>
                        </m:oMath>
                      </a14:m>
                      <a:r>
                        <a:rPr lang="en-US" sz="1240" dirty="0">
                          <a:latin typeface="Arial" panose="020B0604020202020204" pitchFamily="34" charset="0"/>
                        </a:rPr>
                        <a:t> large, </a:t>
                      </a:r>
                      <a14:m>
                        <m:oMath xmlns:m="http://schemas.openxmlformats.org/officeDocument/2006/math">
                          <m:r>
                            <a:rPr lang="en-US" sz="1240" i="1" smtClean="0">
                              <a:latin typeface="Cambria Math" panose="02040503050406030204" charset="0"/>
                              <a:ea typeface="Cambria Math" panose="02040503050406030204" charset="0"/>
                            </a:rPr>
                            <m:t>𝛽</m:t>
                          </m:r>
                          <m:r>
                            <a:rPr lang="en-US" sz="1240" b="0" i="1" smtClean="0">
                              <a:latin typeface="Cambria Math" panose="02040503050406030204" charset="0"/>
                              <a:ea typeface="Cambria Math" panose="02040503050406030204" charset="0"/>
                            </a:rPr>
                            <m:t> </m:t>
                          </m:r>
                        </m:oMath>
                      </a14:m>
                      <a:r>
                        <a:rPr lang="en-US" sz="1240" dirty="0">
                          <a:latin typeface="Arial" panose="020B0604020202020204" pitchFamily="34" charset="0"/>
                        </a:rPr>
                        <a:t>small</a:t>
                      </a:r>
                      <a:endParaRPr lang="en-US" sz="1240" dirty="0">
                        <a:latin typeface="Arial" panose="020B0604020202020204" pitchFamily="34" charset="0"/>
                      </a:endParaRPr>
                    </a:p>
                  </p:txBody>
                </p:sp>
              </mc:Choice>
              <mc:Fallback>
                <p:sp>
                  <p:nvSpPr>
                    <p:cNvPr id="31" name="TextBox 30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1630" y="8665"/>
                      <a:ext cx="3967" cy="788"/>
                    </a:xfrm>
                    <a:prstGeom prst="rect">
                      <a:avLst/>
                    </a:prstGeom>
                    <a:blipFill rotWithShape="1">
                      <a:blip r:embed="rId1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1" name="TextBox 10"/>
                    <p:cNvSpPr txBox="1"/>
                    <p:nvPr/>
                  </p:nvSpPr>
                  <p:spPr>
                    <a:xfrm>
                      <a:off x="1098" y="8646"/>
                      <a:ext cx="4052" cy="788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 xmlns:m="http://schemas.openxmlformats.org/officeDocument/2006/math">
                          <m:r>
                            <a:rPr lang="en-US" sz="1240" i="1" smtClean="0">
                              <a:latin typeface="Cambria Math" panose="02040503050406030204" charset="0"/>
                              <a:ea typeface="Cambria Math" panose="02040503050406030204" charset="0"/>
                            </a:rPr>
                            <m:t>𝛼</m:t>
                          </m:r>
                        </m:oMath>
                      </a14:m>
                      <a:r>
                        <a:rPr lang="en-US" sz="1240" dirty="0">
                          <a:latin typeface="Arial" panose="020B0604020202020204" pitchFamily="34" charset="0"/>
                        </a:rPr>
                        <a:t> small, </a:t>
                      </a:r>
                      <a14:m>
                        <m:oMath xmlns:m="http://schemas.openxmlformats.org/officeDocument/2006/math">
                          <m:r>
                            <a:rPr lang="en-US" sz="1240" i="1" smtClean="0">
                              <a:latin typeface="Cambria Math" panose="02040503050406030204" charset="0"/>
                              <a:ea typeface="Cambria Math" panose="02040503050406030204" charset="0"/>
                            </a:rPr>
                            <m:t>𝛽</m:t>
                          </m:r>
                          <m:r>
                            <a:rPr lang="en-US" sz="1240" b="0" i="1" smtClean="0">
                              <a:latin typeface="Cambria Math" panose="02040503050406030204" charset="0"/>
                              <a:ea typeface="Cambria Math" panose="02040503050406030204" charset="0"/>
                            </a:rPr>
                            <m:t> </m:t>
                          </m:r>
                        </m:oMath>
                      </a14:m>
                      <a:r>
                        <a:rPr lang="en-US" sz="1240" dirty="0">
                          <a:latin typeface="Arial" panose="020B0604020202020204" pitchFamily="34" charset="0"/>
                        </a:rPr>
                        <a:t>small</a:t>
                      </a:r>
                      <a:endParaRPr lang="en-US" sz="1240" dirty="0">
                        <a:latin typeface="Arial" panose="020B0604020202020204" pitchFamily="34" charset="0"/>
                      </a:endParaRPr>
                    </a:p>
                  </p:txBody>
                </p:sp>
              </mc:Choice>
              <mc:Fallback>
                <p:sp>
                  <p:nvSpPr>
                    <p:cNvPr id="11" name="TextBox 10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098" y="8646"/>
                      <a:ext cx="4052" cy="788"/>
                    </a:xfrm>
                    <a:prstGeom prst="rect">
                      <a:avLst/>
                    </a:prstGeom>
                    <a:blipFill rotWithShape="1">
                      <a:blip r:embed="rId2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1" name="TextBox 20"/>
                    <p:cNvSpPr txBox="1"/>
                    <p:nvPr/>
                  </p:nvSpPr>
                  <p:spPr>
                    <a:xfrm>
                      <a:off x="16811" y="8646"/>
                      <a:ext cx="4052" cy="788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 xmlns:m="http://schemas.openxmlformats.org/officeDocument/2006/math">
                          <m:r>
                            <a:rPr lang="en-US" sz="1240" i="1" smtClean="0">
                              <a:latin typeface="Cambria Math" panose="02040503050406030204" charset="0"/>
                              <a:ea typeface="Cambria Math" panose="02040503050406030204" charset="0"/>
                            </a:rPr>
                            <m:t>𝛼</m:t>
                          </m:r>
                        </m:oMath>
                      </a14:m>
                      <a:r>
                        <a:rPr lang="en-US" sz="1240" dirty="0">
                          <a:latin typeface="Arial" panose="020B0604020202020204" pitchFamily="34" charset="0"/>
                        </a:rPr>
                        <a:t> large, </a:t>
                      </a:r>
                      <a14:m>
                        <m:oMath xmlns:m="http://schemas.openxmlformats.org/officeDocument/2006/math">
                          <m:r>
                            <a:rPr lang="en-US" sz="1240" i="1" smtClean="0">
                              <a:latin typeface="Cambria Math" panose="02040503050406030204" charset="0"/>
                              <a:ea typeface="Cambria Math" panose="02040503050406030204" charset="0"/>
                            </a:rPr>
                            <m:t>𝛽</m:t>
                          </m:r>
                          <m:r>
                            <a:rPr lang="en-US" sz="1240" b="0" i="1" smtClean="0">
                              <a:latin typeface="Cambria Math" panose="02040503050406030204" charset="0"/>
                              <a:ea typeface="Cambria Math" panose="02040503050406030204" charset="0"/>
                            </a:rPr>
                            <m:t> </m:t>
                          </m:r>
                        </m:oMath>
                      </a14:m>
                      <a:r>
                        <a:rPr lang="en-US" sz="1240" dirty="0">
                          <a:latin typeface="Arial" panose="020B0604020202020204" pitchFamily="34" charset="0"/>
                        </a:rPr>
                        <a:t>large</a:t>
                      </a:r>
                      <a:endParaRPr lang="en-US" sz="1240" dirty="0">
                        <a:latin typeface="Arial" panose="020B0604020202020204" pitchFamily="34" charset="0"/>
                      </a:endParaRPr>
                    </a:p>
                  </p:txBody>
                </p:sp>
              </mc:Choice>
              <mc:Fallback>
                <p:sp>
                  <p:nvSpPr>
                    <p:cNvPr id="21" name="TextBox 20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6811" y="8646"/>
                      <a:ext cx="4052" cy="788"/>
                    </a:xfrm>
                    <a:prstGeom prst="rect">
                      <a:avLst/>
                    </a:prstGeom>
                    <a:blipFill rotWithShape="1">
                      <a:blip r:embed="rId3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58" name="TextBox 57"/>
                    <p:cNvSpPr txBox="1"/>
                    <p:nvPr/>
                  </p:nvSpPr>
                  <p:spPr>
                    <a:xfrm>
                      <a:off x="6364" y="8637"/>
                      <a:ext cx="4052" cy="788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 xmlns:m="http://schemas.openxmlformats.org/officeDocument/2006/math">
                          <m:r>
                            <a:rPr lang="en-US" sz="1240" i="1" smtClean="0">
                              <a:latin typeface="Cambria Math" panose="02040503050406030204" charset="0"/>
                              <a:ea typeface="Cambria Math" panose="02040503050406030204" charset="0"/>
                            </a:rPr>
                            <m:t>𝛼</m:t>
                          </m:r>
                        </m:oMath>
                      </a14:m>
                      <a:r>
                        <a:rPr lang="en-US" sz="1240" dirty="0">
                          <a:latin typeface="Arial" panose="020B0604020202020204" pitchFamily="34" charset="0"/>
                        </a:rPr>
                        <a:t> </a:t>
                      </a:r>
                      <a:r>
                        <a:rPr lang="en-US" altLang="zh-CN" sz="1240" dirty="0">
                          <a:latin typeface="Arial" panose="020B0604020202020204" pitchFamily="34" charset="0"/>
                        </a:rPr>
                        <a:t>small</a:t>
                      </a:r>
                      <a:r>
                        <a:rPr lang="en-US" sz="1240" dirty="0">
                          <a:latin typeface="Arial" panose="020B0604020202020204" pitchFamily="34" charset="0"/>
                        </a:rPr>
                        <a:t>, </a:t>
                      </a:r>
                      <a14:m>
                        <m:oMath xmlns:m="http://schemas.openxmlformats.org/officeDocument/2006/math">
                          <m:r>
                            <a:rPr lang="en-US" sz="1240" i="1" smtClean="0">
                              <a:latin typeface="Cambria Math" panose="02040503050406030204" charset="0"/>
                              <a:ea typeface="Cambria Math" panose="02040503050406030204" charset="0"/>
                            </a:rPr>
                            <m:t>𝛽</m:t>
                          </m:r>
                          <m:r>
                            <a:rPr lang="en-US" sz="1240" b="0" i="1" smtClean="0">
                              <a:latin typeface="Cambria Math" panose="02040503050406030204" charset="0"/>
                              <a:ea typeface="Cambria Math" panose="02040503050406030204" charset="0"/>
                            </a:rPr>
                            <m:t> </m:t>
                          </m:r>
                        </m:oMath>
                      </a14:m>
                      <a:r>
                        <a:rPr lang="en-US" altLang="zh-CN" sz="1240" dirty="0">
                          <a:latin typeface="Arial" panose="020B0604020202020204" pitchFamily="34" charset="0"/>
                        </a:rPr>
                        <a:t>large</a:t>
                      </a:r>
                      <a:endParaRPr lang="en-US" sz="1240" dirty="0">
                        <a:latin typeface="Arial" panose="020B0604020202020204" pitchFamily="34" charset="0"/>
                      </a:endParaRPr>
                    </a:p>
                  </p:txBody>
                </p:sp>
              </mc:Choice>
              <mc:Fallback>
                <p:sp>
                  <p:nvSpPr>
                    <p:cNvPr id="58" name="TextBox 57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364" y="8637"/>
                      <a:ext cx="4052" cy="788"/>
                    </a:xfrm>
                    <a:prstGeom prst="rect">
                      <a:avLst/>
                    </a:prstGeom>
                    <a:blipFill rotWithShape="1">
                      <a:blip r:embed="rId4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29" name="TextBox 12"/>
                <p:cNvSpPr txBox="1"/>
                <p:nvPr/>
              </p:nvSpPr>
              <p:spPr>
                <a:xfrm>
                  <a:off x="2645" y="2655"/>
                  <a:ext cx="7452" cy="71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065" dirty="0">
                      <a:latin typeface="Arial" panose="020B0604020202020204" pitchFamily="34" charset="0"/>
                    </a:rPr>
                    <a:t>Structural Zeros (cannot be constructed)</a:t>
                  </a:r>
                  <a:endParaRPr lang="en-US" sz="1065" dirty="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33" name="TextBox 98"/>
                <p:cNvSpPr txBox="1"/>
                <p:nvPr/>
              </p:nvSpPr>
              <p:spPr>
                <a:xfrm>
                  <a:off x="10880" y="2676"/>
                  <a:ext cx="5239" cy="71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065" dirty="0">
                      <a:latin typeface="Arial" panose="020B0604020202020204" pitchFamily="34" charset="0"/>
                    </a:rPr>
                    <a:t>Constructable Area</a:t>
                  </a:r>
                  <a:endParaRPr lang="en-US" sz="1065" dirty="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34" name="矩形 33"/>
                <p:cNvSpPr/>
                <p:nvPr/>
              </p:nvSpPr>
              <p:spPr>
                <a:xfrm>
                  <a:off x="1832" y="2529"/>
                  <a:ext cx="813" cy="813"/>
                </a:xfrm>
                <a:prstGeom prst="rect">
                  <a:avLst/>
                </a:prstGeom>
                <a:solidFill>
                  <a:srgbClr val="696969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0"/>
                </a:p>
              </p:txBody>
            </p:sp>
            <p:sp>
              <p:nvSpPr>
                <p:cNvPr id="37" name="矩形 36"/>
                <p:cNvSpPr/>
                <p:nvPr/>
              </p:nvSpPr>
              <p:spPr>
                <a:xfrm>
                  <a:off x="10068" y="2551"/>
                  <a:ext cx="813" cy="813"/>
                </a:xfrm>
                <a:prstGeom prst="rect">
                  <a:avLst/>
                </a:prstGeom>
                <a:solidFill>
                  <a:schemeClr val="bg1"/>
                </a:solidFill>
                <a:ln w="3175">
                  <a:solidFill>
                    <a:srgbClr val="696969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0"/>
                </a:p>
              </p:txBody>
            </p:sp>
            <p:grpSp>
              <p:nvGrpSpPr>
                <p:cNvPr id="2" name="组合 1"/>
                <p:cNvGrpSpPr/>
                <p:nvPr/>
              </p:nvGrpSpPr>
              <p:grpSpPr>
                <a:xfrm>
                  <a:off x="583" y="3473"/>
                  <a:ext cx="5083" cy="5043"/>
                  <a:chOff x="493" y="2941"/>
                  <a:chExt cx="4304" cy="4270"/>
                </a:xfrm>
              </p:grpSpPr>
              <p:pic>
                <p:nvPicPr>
                  <p:cNvPr id="40" name="图片 39"/>
                  <p:cNvPicPr>
                    <a:picLocks noChangeAspect="1"/>
                  </p:cNvPicPr>
                  <p:nvPr/>
                </p:nvPicPr>
                <p:blipFill>
                  <a:blip r:embed="rId5">
                    <a:grayscl/>
                  </a:blip>
                  <a:stretch>
                    <a:fillRect/>
                  </a:stretch>
                </p:blipFill>
                <p:spPr>
                  <a:xfrm>
                    <a:off x="493" y="2941"/>
                    <a:ext cx="4304" cy="4271"/>
                  </a:xfrm>
                  <a:prstGeom prst="rect">
                    <a:avLst/>
                  </a:prstGeom>
                </p:spPr>
              </p:pic>
              <p:sp>
                <p:nvSpPr>
                  <p:cNvPr id="19" name="椭圆 18"/>
                  <p:cNvSpPr/>
                  <p:nvPr/>
                </p:nvSpPr>
                <p:spPr>
                  <a:xfrm>
                    <a:off x="598" y="3013"/>
                    <a:ext cx="4199" cy="4199"/>
                  </a:xfrm>
                  <a:prstGeom prst="ellipse">
                    <a:avLst/>
                  </a:prstGeom>
                  <a:noFill/>
                  <a:ln>
                    <a:solidFill>
                      <a:schemeClr val="tx1">
                        <a:lumMod val="50000"/>
                        <a:lumOff val="50000"/>
                      </a:schemeClr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00"/>
                  </a:p>
                </p:txBody>
              </p:sp>
            </p:grpSp>
            <p:grpSp>
              <p:nvGrpSpPr>
                <p:cNvPr id="3" name="组合 2"/>
                <p:cNvGrpSpPr/>
                <p:nvPr/>
              </p:nvGrpSpPr>
              <p:grpSpPr>
                <a:xfrm>
                  <a:off x="5822" y="3473"/>
                  <a:ext cx="5081" cy="5043"/>
                  <a:chOff x="4929" y="2941"/>
                  <a:chExt cx="4302" cy="4270"/>
                </a:xfrm>
              </p:grpSpPr>
              <p:pic>
                <p:nvPicPr>
                  <p:cNvPr id="44" name="图片 43"/>
                  <p:cNvPicPr>
                    <a:picLocks noChangeAspect="1"/>
                  </p:cNvPicPr>
                  <p:nvPr/>
                </p:nvPicPr>
                <p:blipFill>
                  <a:blip r:embed="rId6">
                    <a:grayscl/>
                  </a:blip>
                  <a:stretch>
                    <a:fillRect/>
                  </a:stretch>
                </p:blipFill>
                <p:spPr>
                  <a:xfrm>
                    <a:off x="4929" y="2941"/>
                    <a:ext cx="4303" cy="4271"/>
                  </a:xfrm>
                  <a:prstGeom prst="rect">
                    <a:avLst/>
                  </a:prstGeom>
                </p:spPr>
              </p:pic>
              <p:sp>
                <p:nvSpPr>
                  <p:cNvPr id="39" name="椭圆 38"/>
                  <p:cNvSpPr/>
                  <p:nvPr/>
                </p:nvSpPr>
                <p:spPr>
                  <a:xfrm>
                    <a:off x="5028" y="3013"/>
                    <a:ext cx="4199" cy="4199"/>
                  </a:xfrm>
                  <a:prstGeom prst="ellipse">
                    <a:avLst/>
                  </a:prstGeom>
                  <a:noFill/>
                  <a:ln>
                    <a:solidFill>
                      <a:schemeClr val="tx1">
                        <a:lumMod val="50000"/>
                        <a:lumOff val="50000"/>
                      </a:schemeClr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00"/>
                  </a:p>
                </p:txBody>
              </p:sp>
            </p:grpSp>
            <p:grpSp>
              <p:nvGrpSpPr>
                <p:cNvPr id="4" name="组合 3"/>
                <p:cNvGrpSpPr/>
                <p:nvPr/>
              </p:nvGrpSpPr>
              <p:grpSpPr>
                <a:xfrm>
                  <a:off x="11060" y="3473"/>
                  <a:ext cx="5081" cy="5043"/>
                  <a:chOff x="9364" y="2941"/>
                  <a:chExt cx="4302" cy="4270"/>
                </a:xfrm>
              </p:grpSpPr>
              <p:pic>
                <p:nvPicPr>
                  <p:cNvPr id="46" name="图片 45"/>
                  <p:cNvPicPr>
                    <a:picLocks noChangeAspect="1"/>
                  </p:cNvPicPr>
                  <p:nvPr/>
                </p:nvPicPr>
                <p:blipFill>
                  <a:blip r:embed="rId7">
                    <a:grayscl/>
                  </a:blip>
                  <a:stretch>
                    <a:fillRect/>
                  </a:stretch>
                </p:blipFill>
                <p:spPr>
                  <a:xfrm>
                    <a:off x="9364" y="2941"/>
                    <a:ext cx="4303" cy="4271"/>
                  </a:xfrm>
                  <a:prstGeom prst="rect">
                    <a:avLst/>
                  </a:prstGeom>
                </p:spPr>
              </p:pic>
              <p:sp>
                <p:nvSpPr>
                  <p:cNvPr id="45" name="椭圆 44"/>
                  <p:cNvSpPr/>
                  <p:nvPr/>
                </p:nvSpPr>
                <p:spPr>
                  <a:xfrm>
                    <a:off x="9457" y="3013"/>
                    <a:ext cx="4199" cy="4199"/>
                  </a:xfrm>
                  <a:prstGeom prst="ellipse">
                    <a:avLst/>
                  </a:prstGeom>
                  <a:noFill/>
                  <a:ln>
                    <a:solidFill>
                      <a:schemeClr val="tx1">
                        <a:lumMod val="50000"/>
                        <a:lumOff val="50000"/>
                      </a:schemeClr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00"/>
                  </a:p>
                </p:txBody>
              </p:sp>
            </p:grpSp>
            <p:grpSp>
              <p:nvGrpSpPr>
                <p:cNvPr id="6" name="组合 5"/>
                <p:cNvGrpSpPr/>
                <p:nvPr/>
              </p:nvGrpSpPr>
              <p:grpSpPr>
                <a:xfrm>
                  <a:off x="16298" y="3473"/>
                  <a:ext cx="5081" cy="5043"/>
                  <a:chOff x="13799" y="2941"/>
                  <a:chExt cx="4302" cy="4270"/>
                </a:xfrm>
              </p:grpSpPr>
              <p:pic>
                <p:nvPicPr>
                  <p:cNvPr id="47" name="图片 46"/>
                  <p:cNvPicPr>
                    <a:picLocks noChangeAspect="1"/>
                  </p:cNvPicPr>
                  <p:nvPr/>
                </p:nvPicPr>
                <p:blipFill>
                  <a:blip r:embed="rId8">
                    <a:grayscl/>
                  </a:blip>
                  <a:stretch>
                    <a:fillRect/>
                  </a:stretch>
                </p:blipFill>
                <p:spPr>
                  <a:xfrm>
                    <a:off x="13799" y="2941"/>
                    <a:ext cx="4303" cy="4271"/>
                  </a:xfrm>
                  <a:prstGeom prst="rect">
                    <a:avLst/>
                  </a:prstGeom>
                </p:spPr>
              </p:pic>
              <p:sp>
                <p:nvSpPr>
                  <p:cNvPr id="48" name="椭圆 47"/>
                  <p:cNvSpPr/>
                  <p:nvPr/>
                </p:nvSpPr>
                <p:spPr>
                  <a:xfrm>
                    <a:off x="13887" y="3013"/>
                    <a:ext cx="4199" cy="4199"/>
                  </a:xfrm>
                  <a:prstGeom prst="ellipse">
                    <a:avLst/>
                  </a:prstGeom>
                  <a:noFill/>
                  <a:ln>
                    <a:solidFill>
                      <a:schemeClr val="tx1">
                        <a:lumMod val="50000"/>
                        <a:lumOff val="50000"/>
                      </a:schemeClr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00"/>
                  </a:p>
                </p:txBody>
              </p:sp>
            </p:grp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38" name="TextBox 8"/>
                    <p:cNvSpPr txBox="1"/>
                    <p:nvPr/>
                  </p:nvSpPr>
                  <p:spPr>
                    <a:xfrm>
                      <a:off x="14972" y="2557"/>
                      <a:ext cx="6827" cy="944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595" i="1" smtClean="0">
                                <a:latin typeface="Cambria Math" panose="02040503050406030204" charset="0"/>
                                <a:ea typeface="Cambria Math" panose="02040503050406030204" charset="0"/>
                              </a:rPr>
                              <m:t>𝜑</m:t>
                            </m:r>
                            <m:r>
                              <a:rPr lang="en-US" sz="1595" b="0" i="1" smtClean="0">
                                <a:latin typeface="Cambria Math" panose="02040503050406030204" charset="0"/>
                                <a:ea typeface="Cambria Math" panose="02040503050406030204" charset="0"/>
                              </a:rPr>
                              <m:t>(</m:t>
                            </m:r>
                            <m:r>
                              <a:rPr lang="en-US" sz="1595" b="0" i="1" smtClean="0">
                                <a:latin typeface="Cambria Math" panose="02040503050406030204" charset="0"/>
                                <a:ea typeface="Cambria Math" panose="02040503050406030204" charset="0"/>
                              </a:rPr>
                              <m:t>𝑟</m:t>
                            </m:r>
                            <m:r>
                              <a:rPr lang="en-US" sz="1595" b="0" i="1" smtClean="0">
                                <a:latin typeface="Cambria Math" panose="02040503050406030204" charset="0"/>
                                <a:ea typeface="Cambria Math" panose="02040503050406030204" charset="0"/>
                              </a:rPr>
                              <m:t>)=</m:t>
                            </m:r>
                            <m:r>
                              <a:rPr lang="en-US" sz="1595" b="0" i="1" smtClean="0">
                                <a:latin typeface="Cambria Math" panose="02040503050406030204" charset="0"/>
                                <a:ea typeface="Cambria Math" panose="02040503050406030204" charset="0"/>
                              </a:rPr>
                              <m:t>𝑙𝑜𝑔𝑖𝑠𝑡𝑖𝑐</m:t>
                            </m:r>
                            <m:r>
                              <a:rPr lang="en-US" sz="1595" b="0" i="1" smtClean="0">
                                <a:latin typeface="Cambria Math" panose="02040503050406030204" charset="0"/>
                                <a:ea typeface="Cambria Math" panose="02040503050406030204" charset="0"/>
                              </a:rPr>
                              <m:t>(</m:t>
                            </m:r>
                            <m:r>
                              <a:rPr lang="en-US" sz="1595" b="0" i="1" smtClean="0">
                                <a:latin typeface="Cambria Math" panose="02040503050406030204" charset="0"/>
                                <a:ea typeface="Cambria Math" panose="02040503050406030204" charset="0"/>
                              </a:rPr>
                              <m:t>𝛼</m:t>
                            </m:r>
                            <m:r>
                              <a:rPr lang="en-US" sz="1595" b="0" i="1" smtClean="0">
                                <a:latin typeface="Cambria Math" panose="02040503050406030204" charset="0"/>
                                <a:ea typeface="Cambria Math" panose="02040503050406030204" charset="0"/>
                              </a:rPr>
                              <m:t>+</m:t>
                            </m:r>
                            <m:r>
                              <a:rPr lang="en-US" sz="1595" b="0" i="1" smtClean="0">
                                <a:latin typeface="Cambria Math" panose="02040503050406030204" charset="0"/>
                                <a:ea typeface="Cambria Math" panose="02040503050406030204" charset="0"/>
                              </a:rPr>
                              <m:t>𝛽</m:t>
                            </m:r>
                            <m:r>
                              <a:rPr lang="en-US" sz="1595" b="0" i="1" smtClean="0">
                                <a:latin typeface="Cambria Math" panose="02040503050406030204" charset="0"/>
                                <a:ea typeface="Cambria Math" panose="02040503050406030204" charset="0"/>
                              </a:rPr>
                              <m:t>∙</m:t>
                            </m:r>
                            <m:r>
                              <a:rPr lang="en-US" sz="1595" b="0" i="1" smtClean="0">
                                <a:latin typeface="Cambria Math" panose="02040503050406030204" charset="0"/>
                                <a:ea typeface="Cambria Math" panose="02040503050406030204" charset="0"/>
                              </a:rPr>
                              <m:t>𝑟</m:t>
                            </m:r>
                            <m:r>
                              <a:rPr lang="en-US" sz="1595" b="0" i="1" smtClean="0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sz="1595" b="0" i="1" dirty="0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38" name="TextBox 8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4972" y="2557"/>
                      <a:ext cx="6827" cy="944"/>
                    </a:xfrm>
                    <a:prstGeom prst="rect">
                      <a:avLst/>
                    </a:prstGeom>
                    <a:blipFill rotWithShape="1">
                      <a:blip r:embed="rId9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61" name="文本框 60"/>
                <p:cNvSpPr txBox="1"/>
                <p:nvPr/>
              </p:nvSpPr>
              <p:spPr>
                <a:xfrm>
                  <a:off x="5933" y="9322"/>
                  <a:ext cx="4928" cy="837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350">
                      <a:solidFill>
                        <a:schemeClr val="bg1">
                          <a:lumMod val="50000"/>
                        </a:schemeClr>
                      </a:solidFill>
                      <a:latin typeface="+mn-lt"/>
                      <a:cs typeface="+mn-lt"/>
                      <a:sym typeface="+mn-ea"/>
                    </a:rPr>
                    <a:t>Edge constrained</a:t>
                  </a:r>
                  <a:endParaRPr lang="en-US" altLang="zh-CN" sz="1350">
                    <a:solidFill>
                      <a:schemeClr val="bg1">
                        <a:lumMod val="50000"/>
                      </a:schemeClr>
                    </a:solidFill>
                    <a:latin typeface="+mn-lt"/>
                    <a:cs typeface="+mn-lt"/>
                    <a:sym typeface="+mn-ea"/>
                  </a:endParaRPr>
                </a:p>
              </p:txBody>
            </p:sp>
            <p:sp>
              <p:nvSpPr>
                <p:cNvPr id="54" name="文本框 53"/>
                <p:cNvSpPr txBox="1"/>
                <p:nvPr/>
              </p:nvSpPr>
              <p:spPr>
                <a:xfrm>
                  <a:off x="932" y="9302"/>
                  <a:ext cx="4734" cy="837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350" dirty="0">
                      <a:solidFill>
                        <a:schemeClr val="bg1">
                          <a:lumMod val="50000"/>
                        </a:schemeClr>
                      </a:solidFill>
                      <a:latin typeface="+mn-lt"/>
                      <a:cs typeface="+mn-lt"/>
                      <a:sym typeface="+mn-ea"/>
                    </a:rPr>
                    <a:t>Uniformly Open</a:t>
                  </a:r>
                  <a:endParaRPr lang="en-US" altLang="zh-CN" sz="1350" dirty="0">
                    <a:solidFill>
                      <a:schemeClr val="bg1">
                        <a:lumMod val="50000"/>
                      </a:schemeClr>
                    </a:solidFill>
                    <a:latin typeface="+mn-lt"/>
                    <a:cs typeface="+mn-lt"/>
                    <a:sym typeface="+mn-ea"/>
                  </a:endParaRPr>
                </a:p>
              </p:txBody>
            </p:sp>
            <p:sp>
              <p:nvSpPr>
                <p:cNvPr id="60" name="文本框 59"/>
                <p:cNvSpPr txBox="1"/>
                <p:nvPr/>
              </p:nvSpPr>
              <p:spPr>
                <a:xfrm>
                  <a:off x="16422" y="9322"/>
                  <a:ext cx="4936" cy="828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330">
                      <a:solidFill>
                        <a:schemeClr val="bg1">
                          <a:lumMod val="50000"/>
                        </a:schemeClr>
                      </a:solidFill>
                      <a:latin typeface="+mn-lt"/>
                      <a:cs typeface="+mn-lt"/>
                      <a:sym typeface="+mn-ea"/>
                    </a:rPr>
                    <a:t>Locked</a:t>
                  </a:r>
                  <a:endParaRPr lang="en-US" altLang="zh-CN" sz="1330">
                    <a:solidFill>
                      <a:schemeClr val="bg1">
                        <a:lumMod val="50000"/>
                      </a:schemeClr>
                    </a:solidFill>
                    <a:latin typeface="+mn-lt"/>
                    <a:cs typeface="+mn-lt"/>
                    <a:sym typeface="+mn-ea"/>
                  </a:endParaRPr>
                </a:p>
              </p:txBody>
            </p:sp>
            <p:sp>
              <p:nvSpPr>
                <p:cNvPr id="62" name="文本框 61"/>
                <p:cNvSpPr txBox="1"/>
                <p:nvPr/>
              </p:nvSpPr>
              <p:spPr>
                <a:xfrm>
                  <a:off x="11095" y="9322"/>
                  <a:ext cx="5252" cy="837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350">
                      <a:solidFill>
                        <a:schemeClr val="bg1">
                          <a:lumMod val="50000"/>
                        </a:schemeClr>
                      </a:solidFill>
                      <a:latin typeface="+mn-lt"/>
                      <a:cs typeface="+mn-lt"/>
                      <a:sym typeface="+mn-ea"/>
                    </a:rPr>
                    <a:t>Uniformly constrained</a:t>
                  </a:r>
                  <a:endParaRPr lang="en-US" altLang="zh-CN" sz="1350">
                    <a:solidFill>
                      <a:schemeClr val="bg1">
                        <a:lumMod val="50000"/>
                      </a:schemeClr>
                    </a:solidFill>
                    <a:latin typeface="+mn-lt"/>
                    <a:cs typeface="+mn-lt"/>
                    <a:sym typeface="+mn-ea"/>
                  </a:endParaRPr>
                </a:p>
              </p:txBody>
            </p:sp>
          </p:grpSp>
          <p:grpSp>
            <p:nvGrpSpPr>
              <p:cNvPr id="7" name="组合 6"/>
              <p:cNvGrpSpPr/>
              <p:nvPr/>
            </p:nvGrpSpPr>
            <p:grpSpPr>
              <a:xfrm rot="0">
                <a:off x="135" y="12332"/>
                <a:ext cx="11992" cy="4169"/>
                <a:chOff x="775" y="2738"/>
                <a:chExt cx="21319" cy="7412"/>
              </a:xfrm>
            </p:grpSpPr>
            <p:grpSp>
              <p:nvGrpSpPr>
                <p:cNvPr id="9" name="组合 8"/>
                <p:cNvGrpSpPr/>
                <p:nvPr/>
              </p:nvGrpSpPr>
              <p:grpSpPr>
                <a:xfrm>
                  <a:off x="775" y="2738"/>
                  <a:ext cx="21319" cy="6876"/>
                  <a:chOff x="1249" y="1355"/>
                  <a:chExt cx="21319" cy="6876"/>
                </a:xfrm>
              </p:grpSpPr>
              <p:sp>
                <p:nvSpPr>
                  <p:cNvPr id="126" name="Google Shape;421;p29"/>
                  <p:cNvSpPr txBox="1"/>
                  <p:nvPr/>
                </p:nvSpPr>
                <p:spPr>
                  <a:xfrm>
                    <a:off x="7112" y="7170"/>
                    <a:ext cx="4043" cy="1061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80960" tIns="80960" rIns="80960" bIns="80960" anchor="t" anchorCtr="0">
                    <a:spAutoFit/>
                  </a:bodyPr>
                  <a:lstStyle/>
                  <a:p>
                    <a:pPr lvl="0" algn="ctr"/>
                    <a:r>
                      <a:rPr lang="de-AT" sz="1420" dirty="0">
                        <a:solidFill>
                          <a:schemeClr val="dk1"/>
                        </a:solidFill>
                        <a:latin typeface="Arial" panose="020B0604020202020204" pitchFamily="34" charset="0"/>
                      </a:rPr>
                      <a:t>κ small δ large </a:t>
                    </a:r>
                    <a:endParaRPr sz="1420" dirty="0">
                      <a:solidFill>
                        <a:schemeClr val="dk1"/>
                      </a:solidFill>
                      <a:latin typeface="Arial" panose="020B0604020202020204" pitchFamily="34" charset="0"/>
                    </a:endParaRPr>
                  </a:p>
                </p:txBody>
              </p:sp>
              <p:sp>
                <p:nvSpPr>
                  <p:cNvPr id="127" name="Google Shape;422;p29"/>
                  <p:cNvSpPr txBox="1"/>
                  <p:nvPr/>
                </p:nvSpPr>
                <p:spPr>
                  <a:xfrm>
                    <a:off x="17905" y="7170"/>
                    <a:ext cx="4249" cy="1061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80960" tIns="80960" rIns="80960" bIns="80960" anchor="t" anchorCtr="0">
                    <a:spAutoFit/>
                  </a:bodyPr>
                  <a:lstStyle/>
                  <a:p>
                    <a:pPr lvl="0" algn="ctr"/>
                    <a:r>
                      <a:rPr lang="de-AT" sz="1420" dirty="0">
                        <a:solidFill>
                          <a:schemeClr val="dk1"/>
                        </a:solidFill>
                        <a:latin typeface="Arial" panose="020B0604020202020204" pitchFamily="34" charset="0"/>
                      </a:rPr>
                      <a:t>κ large δ large </a:t>
                    </a:r>
                    <a:endParaRPr sz="1420" dirty="0">
                      <a:solidFill>
                        <a:schemeClr val="dk1"/>
                      </a:solidFill>
                      <a:latin typeface="Arial" panose="020B0604020202020204" pitchFamily="34" charset="0"/>
                    </a:endParaRPr>
                  </a:p>
                </p:txBody>
              </p:sp>
              <p:sp>
                <p:nvSpPr>
                  <p:cNvPr id="128" name="Google Shape;423;p29"/>
                  <p:cNvSpPr txBox="1"/>
                  <p:nvPr/>
                </p:nvSpPr>
                <p:spPr>
                  <a:xfrm>
                    <a:off x="1714" y="7170"/>
                    <a:ext cx="4044" cy="1061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80960" tIns="80960" rIns="80960" bIns="80960" anchor="t" anchorCtr="0">
                    <a:spAutoFit/>
                  </a:bodyPr>
                  <a:lstStyle/>
                  <a:p>
                    <a:pPr lvl="0" algn="ctr"/>
                    <a:r>
                      <a:rPr lang="de-AT" sz="1420" dirty="0">
                        <a:solidFill>
                          <a:schemeClr val="dk1"/>
                        </a:solidFill>
                        <a:latin typeface="Arial" panose="020B0604020202020204" pitchFamily="34" charset="0"/>
                      </a:rPr>
                      <a:t>κ small δ small </a:t>
                    </a:r>
                    <a:endParaRPr sz="1420" dirty="0">
                      <a:solidFill>
                        <a:schemeClr val="dk1"/>
                      </a:solidFill>
                      <a:latin typeface="Arial" panose="020B0604020202020204" pitchFamily="34" charset="0"/>
                    </a:endParaRPr>
                  </a:p>
                </p:txBody>
              </p:sp>
              <p:sp>
                <p:nvSpPr>
                  <p:cNvPr id="129" name="Google Shape;424;p29"/>
                  <p:cNvSpPr txBox="1"/>
                  <p:nvPr/>
                </p:nvSpPr>
                <p:spPr>
                  <a:xfrm>
                    <a:off x="12509" y="7170"/>
                    <a:ext cx="4043" cy="1061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80960" tIns="80960" rIns="80960" bIns="80960" anchor="t" anchorCtr="0">
                    <a:spAutoFit/>
                  </a:bodyPr>
                  <a:lstStyle/>
                  <a:p>
                    <a:pPr lvl="0" algn="ctr"/>
                    <a:r>
                      <a:rPr lang="de-AT" sz="1420" dirty="0">
                        <a:solidFill>
                          <a:schemeClr val="dk1"/>
                        </a:solidFill>
                        <a:latin typeface="Arial" panose="020B0604020202020204" pitchFamily="34" charset="0"/>
                      </a:rPr>
                      <a:t>κ large δ small </a:t>
                    </a:r>
                    <a:endParaRPr sz="1420" dirty="0">
                      <a:solidFill>
                        <a:schemeClr val="dk1"/>
                      </a:solidFill>
                      <a:latin typeface="Arial" panose="020B0604020202020204" pitchFamily="34" charset="0"/>
                    </a:endParaRPr>
                  </a:p>
                </p:txBody>
              </p:sp>
              <p:sp>
                <p:nvSpPr>
                  <p:cNvPr id="32" name="TextBox 12"/>
                  <p:cNvSpPr txBox="1"/>
                  <p:nvPr/>
                </p:nvSpPr>
                <p:spPr>
                  <a:xfrm>
                    <a:off x="2886" y="1378"/>
                    <a:ext cx="2508" cy="71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1065" dirty="0">
                        <a:latin typeface="Arial" panose="020B0604020202020204" pitchFamily="34" charset="0"/>
                      </a:rPr>
                      <a:t>Buildings</a:t>
                    </a:r>
                    <a:endParaRPr lang="en-US" sz="1065" dirty="0">
                      <a:latin typeface="Arial" panose="020B0604020202020204" pitchFamily="34" charset="0"/>
                    </a:endParaRPr>
                  </a:p>
                </p:txBody>
              </p:sp>
              <p:sp>
                <p:nvSpPr>
                  <p:cNvPr id="10" name="TextBox 98"/>
                  <p:cNvSpPr txBox="1"/>
                  <p:nvPr/>
                </p:nvSpPr>
                <p:spPr>
                  <a:xfrm>
                    <a:off x="11123" y="1379"/>
                    <a:ext cx="5239" cy="71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1065" dirty="0">
                        <a:latin typeface="Arial" panose="020B0604020202020204" pitchFamily="34" charset="0"/>
                      </a:rPr>
                      <a:t>Constructable Area</a:t>
                    </a:r>
                    <a:endParaRPr lang="en-US" sz="1065" dirty="0">
                      <a:latin typeface="Arial" panose="020B0604020202020204" pitchFamily="34" charset="0"/>
                    </a:endParaRPr>
                  </a:p>
                </p:txBody>
              </p:sp>
              <p:sp>
                <p:nvSpPr>
                  <p:cNvPr id="12" name="矩形 11"/>
                  <p:cNvSpPr/>
                  <p:nvPr/>
                </p:nvSpPr>
                <p:spPr>
                  <a:xfrm>
                    <a:off x="2073" y="1357"/>
                    <a:ext cx="813" cy="813"/>
                  </a:xfrm>
                  <a:prstGeom prst="rect">
                    <a:avLst/>
                  </a:prstGeom>
                  <a:solidFill>
                    <a:srgbClr val="69A2BC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00"/>
                  </a:p>
                </p:txBody>
              </p:sp>
              <p:sp>
                <p:nvSpPr>
                  <p:cNvPr id="13" name="矩形 12"/>
                  <p:cNvSpPr/>
                  <p:nvPr/>
                </p:nvSpPr>
                <p:spPr>
                  <a:xfrm>
                    <a:off x="10309" y="1355"/>
                    <a:ext cx="813" cy="813"/>
                  </a:xfrm>
                  <a:prstGeom prst="rect">
                    <a:avLst/>
                  </a:prstGeom>
                  <a:solidFill>
                    <a:schemeClr val="bg1"/>
                  </a:solidFill>
                  <a:ln w="31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00"/>
                  </a:p>
                </p:txBody>
              </p:sp>
              <p:grpSp>
                <p:nvGrpSpPr>
                  <p:cNvPr id="14" name="组合 13"/>
                  <p:cNvGrpSpPr/>
                  <p:nvPr/>
                </p:nvGrpSpPr>
                <p:grpSpPr>
                  <a:xfrm>
                    <a:off x="1249" y="2420"/>
                    <a:ext cx="4974" cy="4859"/>
                    <a:chOff x="1057" y="2049"/>
                    <a:chExt cx="4212" cy="4114"/>
                  </a:xfrm>
                </p:grpSpPr>
                <p:pic>
                  <p:nvPicPr>
                    <p:cNvPr id="15" name="图片 14"/>
                    <p:cNvPicPr>
                      <a:picLocks noChangeAspect="1"/>
                    </p:cNvPicPr>
                    <p:nvPr/>
                  </p:nvPicPr>
                  <p:blipFill>
                    <a:blip r:embed="rId10">
                      <a:clrChange>
                        <a:clrFrom>
                          <a:srgbClr val="F7F7F7">
                            <a:alpha val="100000"/>
                          </a:srgbClr>
                        </a:clrFrom>
                        <a:clrTo>
                          <a:srgbClr val="F7F7F7">
                            <a:alpha val="100000"/>
                            <a:alpha val="0"/>
                          </a:srgbClr>
                        </a:clrTo>
                      </a:clrChange>
                    </a:blip>
                    <a:stretch>
                      <a:fillRect/>
                    </a:stretch>
                  </p:blipFill>
                  <p:spPr>
                    <a:xfrm>
                      <a:off x="1057" y="2049"/>
                      <a:ext cx="4212" cy="4115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27" name="椭圆 26"/>
                    <p:cNvSpPr/>
                    <p:nvPr/>
                  </p:nvSpPr>
                  <p:spPr>
                    <a:xfrm>
                      <a:off x="1280" y="2210"/>
                      <a:ext cx="3862" cy="3862"/>
                    </a:xfrm>
                    <a:prstGeom prst="ellipse">
                      <a:avLst/>
                    </a:prstGeom>
                    <a:noFill/>
                    <a:ln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chemeClr val="accent1"/>
                          </a:solidFill>
                        </a14:hiddenFill>
                      </a:ext>
                    </a:extLst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100"/>
                    </a:p>
                  </p:txBody>
                </p:sp>
              </p:grpSp>
              <p:grpSp>
                <p:nvGrpSpPr>
                  <p:cNvPr id="16" name="组合 15"/>
                  <p:cNvGrpSpPr/>
                  <p:nvPr/>
                </p:nvGrpSpPr>
                <p:grpSpPr>
                  <a:xfrm>
                    <a:off x="6580" y="2420"/>
                    <a:ext cx="4974" cy="4859"/>
                    <a:chOff x="5571" y="2049"/>
                    <a:chExt cx="4212" cy="4114"/>
                  </a:xfrm>
                </p:grpSpPr>
                <p:pic>
                  <p:nvPicPr>
                    <p:cNvPr id="17" name="图片 16"/>
                    <p:cNvPicPr>
                      <a:picLocks noChangeAspect="1"/>
                    </p:cNvPicPr>
                    <p:nvPr/>
                  </p:nvPicPr>
                  <p:blipFill>
                    <a:blip r:embed="rId11">
                      <a:clrChange>
                        <a:clrFrom>
                          <a:srgbClr val="F7F7F7">
                            <a:alpha val="100000"/>
                          </a:srgbClr>
                        </a:clrFrom>
                        <a:clrTo>
                          <a:srgbClr val="F7F7F7">
                            <a:alpha val="100000"/>
                            <a:alpha val="0"/>
                          </a:srgbClr>
                        </a:clrTo>
                      </a:clrChange>
                    </a:blip>
                    <a:stretch>
                      <a:fillRect/>
                    </a:stretch>
                  </p:blipFill>
                  <p:spPr>
                    <a:xfrm>
                      <a:off x="5571" y="2049"/>
                      <a:ext cx="4212" cy="4115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28" name="椭圆 27"/>
                    <p:cNvSpPr/>
                    <p:nvPr/>
                  </p:nvSpPr>
                  <p:spPr>
                    <a:xfrm>
                      <a:off x="5813" y="2210"/>
                      <a:ext cx="3862" cy="3862"/>
                    </a:xfrm>
                    <a:prstGeom prst="ellipse">
                      <a:avLst/>
                    </a:prstGeom>
                    <a:noFill/>
                    <a:ln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chemeClr val="accent1"/>
                          </a:solidFill>
                        </a14:hiddenFill>
                      </a:ext>
                    </a:extLst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100"/>
                    </a:p>
                  </p:txBody>
                </p:sp>
              </p:grpSp>
              <p:grpSp>
                <p:nvGrpSpPr>
                  <p:cNvPr id="18" name="组合 17"/>
                  <p:cNvGrpSpPr/>
                  <p:nvPr/>
                </p:nvGrpSpPr>
                <p:grpSpPr>
                  <a:xfrm>
                    <a:off x="11910" y="2420"/>
                    <a:ext cx="4974" cy="4859"/>
                    <a:chOff x="10084" y="2049"/>
                    <a:chExt cx="4212" cy="4114"/>
                  </a:xfrm>
                </p:grpSpPr>
                <p:pic>
                  <p:nvPicPr>
                    <p:cNvPr id="20" name="图片 19"/>
                    <p:cNvPicPr>
                      <a:picLocks noChangeAspect="1"/>
                    </p:cNvPicPr>
                    <p:nvPr/>
                  </p:nvPicPr>
                  <p:blipFill>
                    <a:blip r:embed="rId12">
                      <a:clrChange>
                        <a:clrFrom>
                          <a:srgbClr val="F7F7F7">
                            <a:alpha val="100000"/>
                          </a:srgbClr>
                        </a:clrFrom>
                        <a:clrTo>
                          <a:srgbClr val="F7F7F7">
                            <a:alpha val="100000"/>
                            <a:alpha val="0"/>
                          </a:srgbClr>
                        </a:clrTo>
                      </a:clrChange>
                    </a:blip>
                    <a:stretch>
                      <a:fillRect/>
                    </a:stretch>
                  </p:blipFill>
                  <p:spPr>
                    <a:xfrm>
                      <a:off x="10084" y="2049"/>
                      <a:ext cx="4212" cy="4115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22" name="椭圆 21"/>
                    <p:cNvSpPr/>
                    <p:nvPr/>
                  </p:nvSpPr>
                  <p:spPr>
                    <a:xfrm>
                      <a:off x="10347" y="2210"/>
                      <a:ext cx="3862" cy="3862"/>
                    </a:xfrm>
                    <a:prstGeom prst="ellipse">
                      <a:avLst/>
                    </a:prstGeom>
                    <a:noFill/>
                    <a:ln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chemeClr val="accent1"/>
                          </a:solidFill>
                        </a14:hiddenFill>
                      </a:ext>
                    </a:extLst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100"/>
                    </a:p>
                  </p:txBody>
                </p:sp>
              </p:grpSp>
              <p:grpSp>
                <p:nvGrpSpPr>
                  <p:cNvPr id="23" name="组合 22"/>
                  <p:cNvGrpSpPr/>
                  <p:nvPr/>
                </p:nvGrpSpPr>
                <p:grpSpPr>
                  <a:xfrm>
                    <a:off x="17241" y="2420"/>
                    <a:ext cx="4974" cy="4859"/>
                    <a:chOff x="14598" y="2049"/>
                    <a:chExt cx="4212" cy="4114"/>
                  </a:xfrm>
                </p:grpSpPr>
                <p:pic>
                  <p:nvPicPr>
                    <p:cNvPr id="24" name="图片 23"/>
                    <p:cNvPicPr>
                      <a:picLocks noChangeAspect="1"/>
                    </p:cNvPicPr>
                    <p:nvPr/>
                  </p:nvPicPr>
                  <p:blipFill>
                    <a:blip r:embed="rId13">
                      <a:clrChange>
                        <a:clrFrom>
                          <a:srgbClr val="F7F7F7">
                            <a:alpha val="100000"/>
                          </a:srgbClr>
                        </a:clrFrom>
                        <a:clrTo>
                          <a:srgbClr val="F7F7F7">
                            <a:alpha val="100000"/>
                            <a:alpha val="0"/>
                          </a:srgbClr>
                        </a:clrTo>
                      </a:clrChange>
                    </a:blip>
                    <a:stretch>
                      <a:fillRect/>
                    </a:stretch>
                  </p:blipFill>
                  <p:spPr>
                    <a:xfrm>
                      <a:off x="14598" y="2049"/>
                      <a:ext cx="4212" cy="4115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30" name="椭圆 29"/>
                    <p:cNvSpPr/>
                    <p:nvPr/>
                  </p:nvSpPr>
                  <p:spPr>
                    <a:xfrm>
                      <a:off x="14880" y="2210"/>
                      <a:ext cx="3862" cy="3862"/>
                    </a:xfrm>
                    <a:prstGeom prst="ellipse">
                      <a:avLst/>
                    </a:prstGeom>
                    <a:noFill/>
                    <a:ln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chemeClr val="accent1"/>
                          </a:solidFill>
                        </a14:hiddenFill>
                      </a:ext>
                    </a:extLst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100"/>
                    </a:p>
                  </p:txBody>
                </p:sp>
              </p:grpSp>
              <p:sp>
                <p:nvSpPr>
                  <p:cNvPr id="25" name="TextBox 12"/>
                  <p:cNvSpPr txBox="1"/>
                  <p:nvPr/>
                </p:nvSpPr>
                <p:spPr>
                  <a:xfrm>
                    <a:off x="6570" y="1378"/>
                    <a:ext cx="3374" cy="71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1065" dirty="0">
                        <a:latin typeface="Arial" panose="020B0604020202020204" pitchFamily="34" charset="0"/>
                      </a:rPr>
                      <a:t>Structural Zeros</a:t>
                    </a:r>
                    <a:endParaRPr lang="en-US" sz="1065" dirty="0">
                      <a:latin typeface="Arial" panose="020B0604020202020204" pitchFamily="34" charset="0"/>
                    </a:endParaRPr>
                  </a:p>
                </p:txBody>
              </p:sp>
              <p:sp>
                <p:nvSpPr>
                  <p:cNvPr id="26" name="矩形 25"/>
                  <p:cNvSpPr/>
                  <p:nvPr/>
                </p:nvSpPr>
                <p:spPr>
                  <a:xfrm>
                    <a:off x="5768" y="1357"/>
                    <a:ext cx="813" cy="813"/>
                  </a:xfrm>
                  <a:prstGeom prst="rect">
                    <a:avLst/>
                  </a:prstGeom>
                  <a:solidFill>
                    <a:srgbClr val="BFBFBF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00"/>
                  </a:p>
                </p:txBody>
              </p:sp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88" name="文本框 87"/>
                      <p:cNvSpPr txBox="1"/>
                      <p:nvPr/>
                    </p:nvSpPr>
                    <p:spPr>
                      <a:xfrm>
                        <a:off x="15324" y="1378"/>
                        <a:ext cx="7244" cy="9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 anchor="t">
                        <a:spAutoFit/>
                      </a:bodyPr>
                      <a:lstStyle/>
                      <a:p>
                        <a:pPr marL="0" indent="0">
                          <a:lnSpc>
                            <a:spcPct val="100000"/>
                          </a:lnSpc>
                          <a:spcBef>
                            <a:spcPts val="1200"/>
                          </a:spcBef>
                          <a:buFont typeface="Wingdings" panose="05000000000000000000" charset="0"/>
                          <a:buNone/>
                        </a:pPr>
                        <a14:m>
                          <m:oMath xmlns:m="http://schemas.openxmlformats.org/officeDocument/2006/math">
                            <m:r>
                              <a:rPr lang="en-US" sz="1595" i="1" smtClean="0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𝜋</m:t>
                            </m:r>
                            <m:r>
                              <a:rPr lang="en-US" sz="1595" i="1" smtClean="0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 (</m:t>
                            </m:r>
                            <m:r>
                              <a:rPr lang="en-US" sz="1595" i="1" smtClean="0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  <m:r>
                              <a:rPr lang="en-US" sz="1595" i="1" smtClean="0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)=</m:t>
                            </m:r>
                            <m:r>
                              <a:rPr lang="en-US" sz="1595" i="1" smtClean="0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𝑙𝑜𝑔𝑖𝑠𝑡𝑖𝑐</m:t>
                            </m:r>
                            <m:r>
                              <a:rPr lang="en-US" sz="1595" i="1" smtClean="0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(</m:t>
                            </m:r>
                            <m:r>
                              <a:rPr lang="en-US" sz="1595" i="1" smtClean="0">
                                <a:latin typeface="Cambria Math" panose="02040503050406030204" charset="0"/>
                                <a:ea typeface="Cambria Math" panose="02040503050406030204" charset="0"/>
                                <a:cs typeface="Cambria Math" panose="02040503050406030204" charset="0"/>
                              </a:rPr>
                              <m:t>𝜅</m:t>
                            </m:r>
                            <m:r>
                              <a:rPr lang="en-US" sz="1595" i="1" smtClean="0">
                                <a:latin typeface="Cambria Math" panose="02040503050406030204" charset="0"/>
                                <a:ea typeface="Cambria Math" panose="02040503050406030204" charset="0"/>
                                <a:cs typeface="Cambria Math" panose="02040503050406030204" charset="0"/>
                              </a:rPr>
                              <m:t>−</m:t>
                            </m:r>
                            <m:r>
                              <a:rPr lang="en-US" sz="1595" i="1" smtClean="0">
                                <a:latin typeface="Cambria Math" panose="02040503050406030204" charset="0"/>
                                <a:ea typeface="Cambria Math" panose="02040503050406030204" charset="0"/>
                                <a:cs typeface="Cambria Math" panose="02040503050406030204" charset="0"/>
                              </a:rPr>
                              <m:t>𝛿</m:t>
                            </m:r>
                            <m:r>
                              <a:rPr lang="en-US" sz="1595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∙</m:t>
                            </m:r>
                            <m:r>
                              <a:rPr lang="en-US" sz="1595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  <m:r>
                              <a:rPr lang="en-US" sz="1595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) </m:t>
                            </m:r>
                          </m:oMath>
                        </a14:m>
                        <a:r>
                          <a:rPr lang="en-US" sz="1595" dirty="0">
                            <a:latin typeface="Arial" panose="020B0604020202020204" pitchFamily="34" charset="0"/>
                            <a:cs typeface="Arial" panose="020B0604020202020204" pitchFamily="34" charset="0"/>
                            <a:sym typeface="+mn-ea"/>
                          </a:rPr>
                          <a:t> </a:t>
                        </a:r>
                        <a:endParaRPr lang="en-US" altLang="en-US" sz="1595" dirty="0">
                          <a:latin typeface="Arial" panose="020B0604020202020204" pitchFamily="34" charset="0"/>
                          <a:cs typeface="Arial" panose="020B0604020202020204" pitchFamily="34" charset="0"/>
                          <a:sym typeface="+mn-ea"/>
                        </a:endParaRPr>
                      </a:p>
                    </p:txBody>
                  </p:sp>
                </mc:Choice>
                <mc:Fallback>
                  <p:sp>
                    <p:nvSpPr>
                      <p:cNvPr id="88" name="文本框 87"/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5324" y="1378"/>
                        <a:ext cx="7244" cy="944"/>
                      </a:xfrm>
                      <a:prstGeom prst="rect">
                        <a:avLst/>
                      </a:prstGeom>
                      <a:blipFill rotWithShape="1">
                        <a:blip r:embed="rId14"/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sp>
              <p:nvSpPr>
                <p:cNvPr id="35" name="文本框 34"/>
                <p:cNvSpPr txBox="1"/>
                <p:nvPr/>
              </p:nvSpPr>
              <p:spPr>
                <a:xfrm>
                  <a:off x="6703" y="9322"/>
                  <a:ext cx="4100" cy="828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330">
                      <a:solidFill>
                        <a:schemeClr val="bg1">
                          <a:lumMod val="50000"/>
                        </a:schemeClr>
                      </a:solidFill>
                      <a:latin typeface="+mn-lt"/>
                      <a:cs typeface="+mn-lt"/>
                      <a:sym typeface="+mn-ea"/>
                    </a:rPr>
                    <a:t>Thinly built</a:t>
                  </a:r>
                  <a:endParaRPr lang="en-US" altLang="zh-CN" sz="1330">
                    <a:solidFill>
                      <a:schemeClr val="bg1">
                        <a:lumMod val="50000"/>
                      </a:schemeClr>
                    </a:solidFill>
                    <a:latin typeface="+mn-lt"/>
                    <a:cs typeface="+mn-lt"/>
                    <a:sym typeface="+mn-ea"/>
                  </a:endParaRPr>
                </a:p>
              </p:txBody>
            </p:sp>
            <p:sp>
              <p:nvSpPr>
                <p:cNvPr id="36" name="文本框 35"/>
                <p:cNvSpPr txBox="1"/>
                <p:nvPr/>
              </p:nvSpPr>
              <p:spPr>
                <a:xfrm>
                  <a:off x="1050" y="9322"/>
                  <a:ext cx="4604" cy="828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330" dirty="0">
                      <a:solidFill>
                        <a:schemeClr val="bg1">
                          <a:lumMod val="50000"/>
                        </a:schemeClr>
                      </a:solidFill>
                      <a:latin typeface="+mn-lt"/>
                      <a:cs typeface="+mn-lt"/>
                      <a:sym typeface="+mn-ea"/>
                    </a:rPr>
                    <a:t>Uniformly sparse</a:t>
                  </a:r>
                  <a:endParaRPr lang="en-US" altLang="zh-CN" sz="1330" dirty="0">
                    <a:solidFill>
                      <a:schemeClr val="bg1">
                        <a:lumMod val="50000"/>
                      </a:schemeClr>
                    </a:solidFill>
                    <a:latin typeface="+mn-lt"/>
                    <a:cs typeface="+mn-lt"/>
                    <a:sym typeface="+mn-ea"/>
                  </a:endParaRPr>
                </a:p>
              </p:txBody>
            </p:sp>
            <p:sp>
              <p:nvSpPr>
                <p:cNvPr id="41" name="文本框 40"/>
                <p:cNvSpPr txBox="1"/>
                <p:nvPr/>
              </p:nvSpPr>
              <p:spPr>
                <a:xfrm>
                  <a:off x="17634" y="9322"/>
                  <a:ext cx="3810" cy="828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330">
                      <a:solidFill>
                        <a:schemeClr val="bg1">
                          <a:lumMod val="50000"/>
                        </a:schemeClr>
                      </a:solidFill>
                      <a:latin typeface="+mn-lt"/>
                      <a:cs typeface="+mn-lt"/>
                      <a:sym typeface="+mn-ea"/>
                    </a:rPr>
                    <a:t>Core-dense</a:t>
                  </a:r>
                  <a:endParaRPr lang="en-US" altLang="zh-CN" sz="1330">
                    <a:solidFill>
                      <a:schemeClr val="bg1">
                        <a:lumMod val="50000"/>
                      </a:schemeClr>
                    </a:solidFill>
                    <a:latin typeface="+mn-lt"/>
                    <a:cs typeface="+mn-lt"/>
                    <a:sym typeface="+mn-ea"/>
                  </a:endParaRPr>
                </a:p>
              </p:txBody>
            </p:sp>
            <p:sp>
              <p:nvSpPr>
                <p:cNvPr id="42" name="文本框 41"/>
                <p:cNvSpPr txBox="1"/>
                <p:nvPr/>
              </p:nvSpPr>
              <p:spPr>
                <a:xfrm>
                  <a:off x="11759" y="9322"/>
                  <a:ext cx="4599" cy="828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330">
                      <a:solidFill>
                        <a:schemeClr val="bg1">
                          <a:lumMod val="50000"/>
                        </a:schemeClr>
                      </a:solidFill>
                      <a:latin typeface="+mn-lt"/>
                      <a:cs typeface="+mn-lt"/>
                      <a:sym typeface="+mn-ea"/>
                    </a:rPr>
                    <a:t>Uniformly dense</a:t>
                  </a:r>
                  <a:endParaRPr lang="en-US" altLang="zh-CN" sz="1330">
                    <a:solidFill>
                      <a:schemeClr val="bg1">
                        <a:lumMod val="50000"/>
                      </a:schemeClr>
                    </a:solidFill>
                    <a:latin typeface="+mn-lt"/>
                    <a:cs typeface="+mn-lt"/>
                    <a:sym typeface="+mn-ea"/>
                  </a:endParaRPr>
                </a:p>
              </p:txBody>
            </p:sp>
          </p:grpSp>
          <p:sp>
            <p:nvSpPr>
              <p:cNvPr id="49" name="文本框 48"/>
              <p:cNvSpPr txBox="1"/>
              <p:nvPr/>
            </p:nvSpPr>
            <p:spPr>
              <a:xfrm>
                <a:off x="448" y="6382"/>
                <a:ext cx="6795" cy="58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/>
                  <a:t>Horizontal Constraints Types</a:t>
                </a:r>
                <a:endParaRPr lang="en-US" altLang="zh-CN"/>
              </a:p>
            </p:txBody>
          </p:sp>
          <p:sp>
            <p:nvSpPr>
              <p:cNvPr id="50" name="文本框 49"/>
              <p:cNvSpPr txBox="1"/>
              <p:nvPr/>
            </p:nvSpPr>
            <p:spPr>
              <a:xfrm>
                <a:off x="528" y="11577"/>
                <a:ext cx="6795" cy="58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/>
                  <a:t>Horizontal Construction Types</a:t>
                </a:r>
                <a:endParaRPr lang="en-US" altLang="zh-CN"/>
              </a:p>
            </p:txBody>
          </p:sp>
        </p:grp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54544" y="9707115"/>
            <a:ext cx="2271669" cy="1398437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35" name="图片 3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2061" y="9781361"/>
            <a:ext cx="1792024" cy="993460"/>
          </a:xfrm>
          <a:prstGeom prst="rect">
            <a:avLst/>
          </a:prstGeom>
        </p:spPr>
      </p:pic>
      <p:pic>
        <p:nvPicPr>
          <p:cNvPr id="50" name="图片 4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8536" y="9781361"/>
            <a:ext cx="1673906" cy="927651"/>
          </a:xfrm>
          <a:prstGeom prst="rect">
            <a:avLst/>
          </a:prstGeom>
        </p:spPr>
      </p:pic>
      <p:grpSp>
        <p:nvGrpSpPr>
          <p:cNvPr id="10" name="组合 9"/>
          <p:cNvGrpSpPr/>
          <p:nvPr/>
        </p:nvGrpSpPr>
        <p:grpSpPr>
          <a:xfrm>
            <a:off x="3195345" y="2879131"/>
            <a:ext cx="7555285" cy="2620287"/>
            <a:chOff x="398" y="8731"/>
            <a:chExt cx="11898" cy="4126"/>
          </a:xfrm>
        </p:grpSpPr>
        <p:grpSp>
          <p:nvGrpSpPr>
            <p:cNvPr id="78" name="组合 77"/>
            <p:cNvGrpSpPr/>
            <p:nvPr/>
          </p:nvGrpSpPr>
          <p:grpSpPr>
            <a:xfrm>
              <a:off x="430" y="9118"/>
              <a:ext cx="11866" cy="3739"/>
              <a:chOff x="647" y="2057"/>
              <a:chExt cx="17861" cy="5629"/>
            </a:xfrm>
          </p:grpSpPr>
          <p:grpSp>
            <p:nvGrpSpPr>
              <p:cNvPr id="73" name="组合 72"/>
              <p:cNvGrpSpPr/>
              <p:nvPr/>
            </p:nvGrpSpPr>
            <p:grpSpPr>
              <a:xfrm>
                <a:off x="647" y="2057"/>
                <a:ext cx="3551" cy="5629"/>
                <a:chOff x="647" y="2057"/>
                <a:chExt cx="3551" cy="5629"/>
              </a:xfrm>
            </p:grpSpPr>
            <p:sp>
              <p:nvSpPr>
                <p:cNvPr id="5163" name="TextBox 264"/>
                <p:cNvSpPr txBox="1"/>
                <p:nvPr/>
              </p:nvSpPr>
              <p:spPr>
                <a:xfrm>
                  <a:off x="647" y="4712"/>
                  <a:ext cx="3551" cy="919"/>
                </a:xfrm>
                <a:prstGeom prst="rect">
                  <a:avLst/>
                </a:prstGeom>
                <a:noFill/>
              </p:spPr>
              <p:txBody>
                <a:bodyPr wrap="square" rtlCol="0" anchor="t" anchorCtr="0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065">
                      <a:latin typeface="Arial" panose="020B0604020202020204" pitchFamily="34" charset="0"/>
                      <a:ea typeface="Arial" panose="020B0604020202020204" pitchFamily="34" charset="0"/>
                      <a:sym typeface="+mn-ea"/>
                    </a:rPr>
                    <a:t>C&gt;0, B&gt;0</a:t>
                  </a:r>
                  <a:endParaRPr lang="en-US" altLang="zh-CN" sz="1065">
                    <a:latin typeface="Arial" panose="020B0604020202020204" pitchFamily="34" charset="0"/>
                    <a:ea typeface="Arial" panose="020B0604020202020204" pitchFamily="34" charset="0"/>
                    <a:sym typeface="+mn-ea"/>
                  </a:endParaRPr>
                </a:p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065">
                      <a:latin typeface="Arial" panose="020B0604020202020204" pitchFamily="34" charset="0"/>
                      <a:ea typeface="Arial" panose="020B0604020202020204" pitchFamily="34" charset="0"/>
                      <a:sym typeface="+mn-ea"/>
                    </a:rPr>
                    <a:t>“Bowl” City</a:t>
                  </a:r>
                  <a:endParaRPr lang="en-US" altLang="zh-CN" sz="1065">
                    <a:latin typeface="Arial" panose="020B0604020202020204" pitchFamily="34" charset="0"/>
                    <a:ea typeface="Arial" panose="020B0604020202020204" pitchFamily="34" charset="0"/>
                    <a:sym typeface="+mn-ea"/>
                  </a:endParaRPr>
                </a:p>
              </p:txBody>
            </p:sp>
            <p:grpSp>
              <p:nvGrpSpPr>
                <p:cNvPr id="26" name="组合 25"/>
                <p:cNvGrpSpPr/>
                <p:nvPr/>
              </p:nvGrpSpPr>
              <p:grpSpPr>
                <a:xfrm>
                  <a:off x="1094" y="5693"/>
                  <a:ext cx="2657" cy="1993"/>
                  <a:chOff x="3202" y="5108"/>
                  <a:chExt cx="2657" cy="1993"/>
                </a:xfrm>
              </p:grpSpPr>
              <p:cxnSp>
                <p:nvCxnSpPr>
                  <p:cNvPr id="8" name="直接箭头连接符 7"/>
                  <p:cNvCxnSpPr/>
                  <p:nvPr/>
                </p:nvCxnSpPr>
                <p:spPr>
                  <a:xfrm flipV="1">
                    <a:off x="3755" y="5227"/>
                    <a:ext cx="0" cy="1545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" name="直接箭头连接符 8"/>
                  <p:cNvCxnSpPr/>
                  <p:nvPr/>
                </p:nvCxnSpPr>
                <p:spPr>
                  <a:xfrm>
                    <a:off x="3755" y="6786"/>
                    <a:ext cx="1740" cy="0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3" name="任意多边形 12"/>
                  <p:cNvSpPr/>
                  <p:nvPr/>
                </p:nvSpPr>
                <p:spPr>
                  <a:xfrm>
                    <a:off x="3755" y="5568"/>
                    <a:ext cx="1606" cy="503"/>
                  </a:xfrm>
                  <a:custGeom>
                    <a:avLst/>
                    <a:gdLst>
                      <a:gd name="connsiteX0" fmla="*/ 0 w 7905"/>
                      <a:gd name="connsiteY0" fmla="*/ 2460 h 2476"/>
                      <a:gd name="connsiteX1" fmla="*/ 7905 w 7905"/>
                      <a:gd name="connsiteY1" fmla="*/ 0 h 247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7905" h="2477">
                        <a:moveTo>
                          <a:pt x="0" y="2460"/>
                        </a:moveTo>
                        <a:cubicBezTo>
                          <a:pt x="4710" y="2655"/>
                          <a:pt x="7095" y="1095"/>
                          <a:pt x="7905" y="0"/>
                        </a:cubicBezTo>
                      </a:path>
                    </a:pathLst>
                  </a:custGeom>
                  <a:ln w="38100">
                    <a:solidFill>
                      <a:srgbClr val="47A2DE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195"/>
                  </a:p>
                </p:txBody>
              </p:sp>
              <p:grpSp>
                <p:nvGrpSpPr>
                  <p:cNvPr id="18" name="组合 17"/>
                  <p:cNvGrpSpPr/>
                  <p:nvPr/>
                </p:nvGrpSpPr>
                <p:grpSpPr>
                  <a:xfrm>
                    <a:off x="3202" y="5108"/>
                    <a:ext cx="2657" cy="1993"/>
                    <a:chOff x="3202" y="5108"/>
                    <a:chExt cx="2657" cy="1993"/>
                  </a:xfrm>
                </p:grpSpPr>
                <p:sp>
                  <p:nvSpPr>
                    <p:cNvPr id="41" name="TextBox 256"/>
                    <p:cNvSpPr txBox="1"/>
                    <p:nvPr/>
                  </p:nvSpPr>
                  <p:spPr>
                    <a:xfrm>
                      <a:off x="3320" y="6496"/>
                      <a:ext cx="613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 fontAlgn="auto"/>
                      <a:r>
                        <a:rPr lang="en-US" sz="1065" noProof="1"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0</a:t>
                      </a:r>
                      <a:endParaRPr lang="en-US" sz="1065" noProof="1"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p:txBody>
                </p:sp>
                <p:sp>
                  <p:nvSpPr>
                    <p:cNvPr id="14" name="文本框 13"/>
                    <p:cNvSpPr txBox="1"/>
                    <p:nvPr/>
                  </p:nvSpPr>
                  <p:spPr>
                    <a:xfrm>
                      <a:off x="3202" y="5108"/>
                      <a:ext cx="446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065" i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</a:t>
                      </a:r>
                      <a:endParaRPr lang="en-US" altLang="zh-CN" sz="1065" i="1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  <p:sp>
                  <p:nvSpPr>
                    <p:cNvPr id="15" name="文本框 14"/>
                    <p:cNvSpPr txBox="1"/>
                    <p:nvPr/>
                  </p:nvSpPr>
                  <p:spPr>
                    <a:xfrm>
                      <a:off x="5413" y="6496"/>
                      <a:ext cx="446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065" i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endParaRPr lang="en-US" altLang="zh-CN" sz="1065" i="1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</p:grpSp>
            </p:grpSp>
            <p:pic>
              <p:nvPicPr>
                <p:cNvPr id="16" name="图片 15"/>
                <p:cNvPicPr>
                  <a:picLocks noChangeAspect="1"/>
                </p:cNvPicPr>
                <p:nvPr/>
              </p:nvPicPr>
              <p:blipFill>
                <a:blip r:embed="rId4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  <a:lum bright="12000" contrast="48000"/>
                </a:blip>
                <a:stretch>
                  <a:fillRect/>
                </a:stretch>
              </p:blipFill>
              <p:spPr>
                <a:xfrm>
                  <a:off x="647" y="2057"/>
                  <a:ext cx="3441" cy="2731"/>
                </a:xfrm>
                <a:prstGeom prst="rect">
                  <a:avLst/>
                </a:prstGeom>
                <a:noFill/>
                <a:ln w="9525">
                  <a:noFill/>
                </a:ln>
              </p:spPr>
            </p:pic>
          </p:grpSp>
          <p:grpSp>
            <p:nvGrpSpPr>
              <p:cNvPr id="75" name="组合 74"/>
              <p:cNvGrpSpPr/>
              <p:nvPr/>
            </p:nvGrpSpPr>
            <p:grpSpPr>
              <a:xfrm>
                <a:off x="7659" y="2455"/>
                <a:ext cx="3661" cy="5231"/>
                <a:chOff x="7722" y="2455"/>
                <a:chExt cx="3661" cy="5231"/>
              </a:xfrm>
            </p:grpSpPr>
            <p:pic>
              <p:nvPicPr>
                <p:cNvPr id="2" name="图片 1"/>
                <p:cNvPicPr>
                  <a:picLocks noChangeAspect="1"/>
                </p:cNvPicPr>
                <p:nvPr/>
              </p:nvPicPr>
              <p:blipFill>
                <a:blip r:embed="rId5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  <a:lum bright="12000" contrast="36000"/>
                </a:blip>
                <a:stretch>
                  <a:fillRect/>
                </a:stretch>
              </p:blipFill>
              <p:spPr>
                <a:xfrm>
                  <a:off x="7722" y="2455"/>
                  <a:ext cx="3470" cy="2199"/>
                </a:xfrm>
                <a:prstGeom prst="rect">
                  <a:avLst/>
                </a:prstGeom>
                <a:noFill/>
                <a:ln w="9525">
                  <a:noFill/>
                </a:ln>
              </p:spPr>
            </p:pic>
            <p:sp>
              <p:nvSpPr>
                <p:cNvPr id="3" name="文本框 2"/>
                <p:cNvSpPr txBox="1"/>
                <p:nvPr/>
              </p:nvSpPr>
              <p:spPr>
                <a:xfrm>
                  <a:off x="7740" y="4712"/>
                  <a:ext cx="3643" cy="9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pPr algn="ctr"/>
                  <a:r>
                    <a:rPr lang="en-US" altLang="zh-CN" sz="1065">
                      <a:latin typeface="Arial" panose="020B0604020202020204" pitchFamily="34" charset="0"/>
                      <a:ea typeface="Arial" panose="020B0604020202020204" pitchFamily="34" charset="0"/>
                    </a:rPr>
                    <a:t>C=0, B=0</a:t>
                  </a:r>
                  <a:endParaRPr lang="en-US" altLang="zh-CN" sz="1065">
                    <a:latin typeface="Arial" panose="020B0604020202020204" pitchFamily="34" charset="0"/>
                    <a:ea typeface="Arial" panose="020B0604020202020204" pitchFamily="34" charset="0"/>
                  </a:endParaRPr>
                </a:p>
                <a:p>
                  <a:pPr algn="ctr"/>
                  <a:r>
                    <a:rPr lang="en-US" altLang="zh-CN" sz="1065">
                      <a:latin typeface="Arial" panose="020B0604020202020204" pitchFamily="34" charset="0"/>
                      <a:ea typeface="Arial" panose="020B0604020202020204" pitchFamily="34" charset="0"/>
                    </a:rPr>
                    <a:t>“Pancake” City</a:t>
                  </a:r>
                  <a:endParaRPr lang="en-US" altLang="zh-CN" sz="1065">
                    <a:latin typeface="Arial" panose="020B0604020202020204" pitchFamily="34" charset="0"/>
                    <a:ea typeface="Arial" panose="020B0604020202020204" pitchFamily="34" charset="0"/>
                  </a:endParaRPr>
                </a:p>
              </p:txBody>
            </p:sp>
            <p:grpSp>
              <p:nvGrpSpPr>
                <p:cNvPr id="23" name="组合 22"/>
                <p:cNvGrpSpPr/>
                <p:nvPr/>
              </p:nvGrpSpPr>
              <p:grpSpPr>
                <a:xfrm>
                  <a:off x="8233" y="5693"/>
                  <a:ext cx="2657" cy="1993"/>
                  <a:chOff x="5687" y="5068"/>
                  <a:chExt cx="2657" cy="1993"/>
                </a:xfrm>
              </p:grpSpPr>
              <p:cxnSp>
                <p:nvCxnSpPr>
                  <p:cNvPr id="4" name="直接箭头连接符 3"/>
                  <p:cNvCxnSpPr/>
                  <p:nvPr/>
                </p:nvCxnSpPr>
                <p:spPr>
                  <a:xfrm flipV="1">
                    <a:off x="6221" y="5213"/>
                    <a:ext cx="0" cy="1545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" name="直接箭头连接符 4"/>
                  <p:cNvCxnSpPr/>
                  <p:nvPr/>
                </p:nvCxnSpPr>
                <p:spPr>
                  <a:xfrm>
                    <a:off x="6221" y="6772"/>
                    <a:ext cx="1740" cy="0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" name="直接连接符 5"/>
                  <p:cNvCxnSpPr/>
                  <p:nvPr/>
                </p:nvCxnSpPr>
                <p:spPr>
                  <a:xfrm>
                    <a:off x="6236" y="6085"/>
                    <a:ext cx="1665" cy="0"/>
                  </a:xfrm>
                  <a:prstGeom prst="line">
                    <a:avLst/>
                  </a:prstGeom>
                  <a:ln w="38100">
                    <a:solidFill>
                      <a:srgbClr val="47A2DE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19" name="组合 18"/>
                  <p:cNvGrpSpPr/>
                  <p:nvPr/>
                </p:nvGrpSpPr>
                <p:grpSpPr>
                  <a:xfrm>
                    <a:off x="5687" y="5068"/>
                    <a:ext cx="2657" cy="1993"/>
                    <a:chOff x="3202" y="5108"/>
                    <a:chExt cx="2657" cy="1993"/>
                  </a:xfrm>
                </p:grpSpPr>
                <p:sp>
                  <p:nvSpPr>
                    <p:cNvPr id="20" name="TextBox 256"/>
                    <p:cNvSpPr txBox="1"/>
                    <p:nvPr/>
                  </p:nvSpPr>
                  <p:spPr>
                    <a:xfrm>
                      <a:off x="3320" y="6496"/>
                      <a:ext cx="613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 fontAlgn="auto"/>
                      <a:r>
                        <a:rPr lang="en-US" sz="1065" noProof="1"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0</a:t>
                      </a:r>
                      <a:endParaRPr lang="en-US" sz="1065" noProof="1"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p:txBody>
                </p:sp>
                <p:sp>
                  <p:nvSpPr>
                    <p:cNvPr id="21" name="文本框 20"/>
                    <p:cNvSpPr txBox="1"/>
                    <p:nvPr/>
                  </p:nvSpPr>
                  <p:spPr>
                    <a:xfrm>
                      <a:off x="3202" y="5108"/>
                      <a:ext cx="446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065" i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</a:t>
                      </a:r>
                      <a:endParaRPr lang="en-US" altLang="zh-CN" sz="1065" i="1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  <p:sp>
                  <p:nvSpPr>
                    <p:cNvPr id="22" name="文本框 21"/>
                    <p:cNvSpPr txBox="1"/>
                    <p:nvPr/>
                  </p:nvSpPr>
                  <p:spPr>
                    <a:xfrm>
                      <a:off x="5413" y="6496"/>
                      <a:ext cx="446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065" i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endParaRPr lang="en-US" altLang="zh-CN" sz="1065" i="1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</p:grpSp>
            </p:grpSp>
          </p:grpSp>
          <p:grpSp>
            <p:nvGrpSpPr>
              <p:cNvPr id="77" name="组合 76"/>
              <p:cNvGrpSpPr/>
              <p:nvPr/>
            </p:nvGrpSpPr>
            <p:grpSpPr>
              <a:xfrm>
                <a:off x="14741" y="2761"/>
                <a:ext cx="3767" cy="4925"/>
                <a:chOff x="14737" y="2761"/>
                <a:chExt cx="3767" cy="4925"/>
              </a:xfrm>
            </p:grpSpPr>
            <p:pic>
              <p:nvPicPr>
                <p:cNvPr id="17" name="图片 16"/>
                <p:cNvPicPr>
                  <a:picLocks noChangeAspect="1"/>
                </p:cNvPicPr>
                <p:nvPr/>
              </p:nvPicPr>
              <p:blipFill>
                <a:blip r:embed="rId6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  <a:lum bright="12000" contrast="36000"/>
                </a:blip>
                <a:srcRect l="8333" t="26856" r="10968" b="26289"/>
                <a:stretch>
                  <a:fillRect/>
                </a:stretch>
              </p:blipFill>
              <p:spPr>
                <a:xfrm>
                  <a:off x="14737" y="2761"/>
                  <a:ext cx="3767" cy="1736"/>
                </a:xfrm>
                <a:prstGeom prst="rect">
                  <a:avLst/>
                </a:prstGeom>
                <a:noFill/>
                <a:ln w="9525">
                  <a:noFill/>
                </a:ln>
              </p:spPr>
            </p:pic>
            <p:sp>
              <p:nvSpPr>
                <p:cNvPr id="5126" name="TextBox 190"/>
                <p:cNvSpPr txBox="1"/>
                <p:nvPr/>
              </p:nvSpPr>
              <p:spPr>
                <a:xfrm>
                  <a:off x="14861" y="4712"/>
                  <a:ext cx="3643" cy="919"/>
                </a:xfrm>
                <a:prstGeom prst="rect">
                  <a:avLst/>
                </a:prstGeom>
                <a:noFill/>
              </p:spPr>
              <p:txBody>
                <a:bodyPr wrap="square" rtlCol="0" anchor="t" anchorCtr="0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065">
                      <a:latin typeface="Arial" panose="020B0604020202020204" pitchFamily="34" charset="0"/>
                      <a:ea typeface="Arial" panose="020B0604020202020204" pitchFamily="34" charset="0"/>
                      <a:sym typeface="+mn-ea"/>
                    </a:rPr>
                    <a:t>C&lt;0, B&lt;0</a:t>
                  </a:r>
                  <a:endParaRPr lang="en-US" altLang="zh-CN" sz="1065">
                    <a:latin typeface="Arial" panose="020B0604020202020204" pitchFamily="34" charset="0"/>
                    <a:ea typeface="Arial" panose="020B0604020202020204" pitchFamily="34" charset="0"/>
                    <a:sym typeface="+mn-ea"/>
                  </a:endParaRPr>
                </a:p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065">
                      <a:latin typeface="Arial" panose="020B0604020202020204" pitchFamily="34" charset="0"/>
                      <a:sym typeface="+mn-ea"/>
                    </a:rPr>
                    <a:t>“Pyramid”City</a:t>
                  </a:r>
                  <a:endParaRPr lang="en-US" altLang="zh-CN" sz="1065">
                    <a:latin typeface="Arial" panose="020B0604020202020204" pitchFamily="34" charset="0"/>
                    <a:sym typeface="+mn-ea"/>
                  </a:endParaRPr>
                </a:p>
              </p:txBody>
            </p:sp>
            <p:grpSp>
              <p:nvGrpSpPr>
                <p:cNvPr id="49" name="组合 48"/>
                <p:cNvGrpSpPr/>
                <p:nvPr/>
              </p:nvGrpSpPr>
              <p:grpSpPr>
                <a:xfrm>
                  <a:off x="15354" y="5693"/>
                  <a:ext cx="2657" cy="1993"/>
                  <a:chOff x="10870" y="5054"/>
                  <a:chExt cx="2657" cy="1993"/>
                </a:xfrm>
              </p:grpSpPr>
              <p:sp>
                <p:nvSpPr>
                  <p:cNvPr id="37" name="任意多边形 36"/>
                  <p:cNvSpPr/>
                  <p:nvPr/>
                </p:nvSpPr>
                <p:spPr>
                  <a:xfrm>
                    <a:off x="11415" y="6023"/>
                    <a:ext cx="1395" cy="695"/>
                  </a:xfrm>
                  <a:custGeom>
                    <a:avLst/>
                    <a:gdLst>
                      <a:gd name="connsiteX0" fmla="*/ 0 w 6210"/>
                      <a:gd name="connsiteY0" fmla="*/ 0 h 2550"/>
                      <a:gd name="connsiteX1" fmla="*/ 6210 w 6210"/>
                      <a:gd name="connsiteY1" fmla="*/ 2550 h 25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6210" h="2550">
                        <a:moveTo>
                          <a:pt x="0" y="0"/>
                        </a:moveTo>
                        <a:cubicBezTo>
                          <a:pt x="2385" y="1290"/>
                          <a:pt x="4110" y="2085"/>
                          <a:pt x="6210" y="2550"/>
                        </a:cubicBezTo>
                      </a:path>
                    </a:pathLst>
                  </a:custGeom>
                  <a:ln w="38100">
                    <a:solidFill>
                      <a:srgbClr val="47A2DE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  <p:txBody>
                  <a:bodyPr vertOverflow="overflow" horzOverflow="overflow" vert="horz" wrap="square" numCol="1" spcCol="0" rtlCol="0" fromWordArt="0" anchor="ctr" anchorCtr="0" forceAA="0" compatLnSpc="1">
                    <a:noAutofit/>
                  </a:bodyPr>
                  <a:lstStyle/>
                  <a:p>
                    <a:pPr lvl="0" algn="ctr">
                      <a:buClrTx/>
                      <a:buSzTx/>
                      <a:buFontTx/>
                    </a:pPr>
                    <a:endParaRPr lang="zh-CN" altLang="en-US" sz="1195">
                      <a:sym typeface="+mn-ea"/>
                    </a:endParaRPr>
                  </a:p>
                </p:txBody>
              </p:sp>
              <p:cxnSp>
                <p:nvCxnSpPr>
                  <p:cNvPr id="39" name="直接箭头连接符 38"/>
                  <p:cNvCxnSpPr/>
                  <p:nvPr/>
                </p:nvCxnSpPr>
                <p:spPr>
                  <a:xfrm flipV="1">
                    <a:off x="11423" y="5173"/>
                    <a:ext cx="0" cy="1545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0" name="直接箭头连接符 39"/>
                  <p:cNvCxnSpPr/>
                  <p:nvPr/>
                </p:nvCxnSpPr>
                <p:spPr>
                  <a:xfrm>
                    <a:off x="11423" y="6732"/>
                    <a:ext cx="1740" cy="0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45" name="组合 44"/>
                  <p:cNvGrpSpPr/>
                  <p:nvPr/>
                </p:nvGrpSpPr>
                <p:grpSpPr>
                  <a:xfrm>
                    <a:off x="10870" y="5054"/>
                    <a:ext cx="2657" cy="1993"/>
                    <a:chOff x="3202" y="5108"/>
                    <a:chExt cx="2657" cy="1993"/>
                  </a:xfrm>
                </p:grpSpPr>
                <p:sp>
                  <p:nvSpPr>
                    <p:cNvPr id="46" name="TextBox 256"/>
                    <p:cNvSpPr txBox="1"/>
                    <p:nvPr/>
                  </p:nvSpPr>
                  <p:spPr>
                    <a:xfrm>
                      <a:off x="3320" y="6496"/>
                      <a:ext cx="613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 fontAlgn="auto"/>
                      <a:r>
                        <a:rPr lang="en-US" sz="1065" noProof="1"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0</a:t>
                      </a:r>
                      <a:endParaRPr lang="en-US" sz="1065" noProof="1"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p:txBody>
                </p:sp>
                <p:sp>
                  <p:nvSpPr>
                    <p:cNvPr id="47" name="文本框 46"/>
                    <p:cNvSpPr txBox="1"/>
                    <p:nvPr/>
                  </p:nvSpPr>
                  <p:spPr>
                    <a:xfrm>
                      <a:off x="3202" y="5108"/>
                      <a:ext cx="446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065" i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</a:t>
                      </a:r>
                      <a:endParaRPr lang="en-US" altLang="zh-CN" sz="1065" i="1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  <p:sp>
                  <p:nvSpPr>
                    <p:cNvPr id="48" name="文本框 47"/>
                    <p:cNvSpPr txBox="1"/>
                    <p:nvPr/>
                  </p:nvSpPr>
                  <p:spPr>
                    <a:xfrm>
                      <a:off x="5413" y="6496"/>
                      <a:ext cx="446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065" i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endParaRPr lang="en-US" altLang="zh-CN" sz="1065" i="1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</p:grpSp>
            </p:grpSp>
          </p:grpSp>
          <p:grpSp>
            <p:nvGrpSpPr>
              <p:cNvPr id="76" name="组合 75"/>
              <p:cNvGrpSpPr/>
              <p:nvPr/>
            </p:nvGrpSpPr>
            <p:grpSpPr>
              <a:xfrm>
                <a:off x="11209" y="2584"/>
                <a:ext cx="3643" cy="5102"/>
                <a:chOff x="11192" y="2584"/>
                <a:chExt cx="3643" cy="5102"/>
              </a:xfrm>
            </p:grpSpPr>
            <p:pic>
              <p:nvPicPr>
                <p:cNvPr id="4100" name="图片 6"/>
                <p:cNvPicPr>
                  <a:picLocks noChangeAspect="1"/>
                </p:cNvPicPr>
                <p:nvPr/>
              </p:nvPicPr>
              <p:blipFill>
                <a:blip r:embed="rId7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  <a:lum bright="12000" contrast="36000"/>
                </a:blip>
                <a:stretch>
                  <a:fillRect/>
                </a:stretch>
              </p:blipFill>
              <p:spPr>
                <a:xfrm>
                  <a:off x="11510" y="2584"/>
                  <a:ext cx="3007" cy="2070"/>
                </a:xfrm>
                <a:prstGeom prst="rect">
                  <a:avLst/>
                </a:prstGeom>
                <a:noFill/>
                <a:ln w="9525">
                  <a:noFill/>
                </a:ln>
              </p:spPr>
            </p:pic>
            <p:sp>
              <p:nvSpPr>
                <p:cNvPr id="5127" name="TextBox 191"/>
                <p:cNvSpPr txBox="1"/>
                <p:nvPr/>
              </p:nvSpPr>
              <p:spPr>
                <a:xfrm>
                  <a:off x="11192" y="4712"/>
                  <a:ext cx="3643" cy="919"/>
                </a:xfrm>
                <a:prstGeom prst="rect">
                  <a:avLst/>
                </a:prstGeom>
                <a:noFill/>
              </p:spPr>
              <p:txBody>
                <a:bodyPr wrap="square" rtlCol="0" anchor="t" anchorCtr="0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065">
                      <a:latin typeface="Arial" panose="020B0604020202020204" pitchFamily="34" charset="0"/>
                      <a:ea typeface="Arial" panose="020B0604020202020204" pitchFamily="34" charset="0"/>
                      <a:sym typeface="+mn-ea"/>
                    </a:rPr>
                    <a:t>C&lt;0, B&gt;0</a:t>
                  </a:r>
                  <a:endParaRPr lang="en-US" altLang="zh-CN" sz="1065">
                    <a:latin typeface="Arial" panose="020B0604020202020204" pitchFamily="34" charset="0"/>
                    <a:ea typeface="Arial" panose="020B0604020202020204" pitchFamily="34" charset="0"/>
                    <a:sym typeface="+mn-ea"/>
                  </a:endParaRPr>
                </a:p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065">
                      <a:latin typeface="Arial" panose="020B0604020202020204" pitchFamily="34" charset="0"/>
                      <a:ea typeface="Arial" panose="020B0604020202020204" pitchFamily="34" charset="0"/>
                      <a:sym typeface="+mn-ea"/>
                    </a:rPr>
                    <a:t>“Volcanic Cone” City</a:t>
                  </a:r>
                  <a:endParaRPr lang="en-US" altLang="zh-CN" sz="1065">
                    <a:latin typeface="Arial" panose="020B0604020202020204" pitchFamily="34" charset="0"/>
                    <a:ea typeface="Arial" panose="020B0604020202020204" pitchFamily="34" charset="0"/>
                    <a:sym typeface="+mn-ea"/>
                  </a:endParaRPr>
                </a:p>
              </p:txBody>
            </p:sp>
            <p:grpSp>
              <p:nvGrpSpPr>
                <p:cNvPr id="52" name="组合 51"/>
                <p:cNvGrpSpPr/>
                <p:nvPr/>
              </p:nvGrpSpPr>
              <p:grpSpPr>
                <a:xfrm>
                  <a:off x="11686" y="5693"/>
                  <a:ext cx="2657" cy="1993"/>
                  <a:chOff x="8290" y="5068"/>
                  <a:chExt cx="2657" cy="1993"/>
                </a:xfrm>
              </p:grpSpPr>
              <p:grpSp>
                <p:nvGrpSpPr>
                  <p:cNvPr id="27" name="组合 26"/>
                  <p:cNvGrpSpPr/>
                  <p:nvPr/>
                </p:nvGrpSpPr>
                <p:grpSpPr>
                  <a:xfrm>
                    <a:off x="8290" y="5068"/>
                    <a:ext cx="2657" cy="1993"/>
                    <a:chOff x="3202" y="5108"/>
                    <a:chExt cx="2657" cy="1993"/>
                  </a:xfrm>
                </p:grpSpPr>
                <p:cxnSp>
                  <p:nvCxnSpPr>
                    <p:cNvPr id="28" name="直接箭头连接符 27"/>
                    <p:cNvCxnSpPr/>
                    <p:nvPr/>
                  </p:nvCxnSpPr>
                  <p:spPr>
                    <a:xfrm flipV="1">
                      <a:off x="3755" y="5227"/>
                      <a:ext cx="0" cy="1545"/>
                    </a:xfrm>
                    <a:prstGeom prst="straightConnector1">
                      <a:avLst/>
                    </a:prstGeom>
                    <a:ln>
                      <a:solidFill>
                        <a:schemeClr val="tx1"/>
                      </a:solidFill>
                      <a:tailEnd type="arrow"/>
                    </a:ln>
                  </p:spPr>
                  <p:style>
                    <a:lnRef idx="2">
                      <a:schemeClr val="accent1"/>
                    </a:lnRef>
                    <a:fillRef idx="0">
                      <a:srgbClr val="FFFFFF"/>
                    </a:fillRef>
                    <a:effectRef idx="0">
                      <a:srgbClr val="FFFFFF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9" name="直接箭头连接符 28"/>
                    <p:cNvCxnSpPr/>
                    <p:nvPr/>
                  </p:nvCxnSpPr>
                  <p:spPr>
                    <a:xfrm>
                      <a:off x="3755" y="6786"/>
                      <a:ext cx="1740" cy="0"/>
                    </a:xfrm>
                    <a:prstGeom prst="straightConnector1">
                      <a:avLst/>
                    </a:prstGeom>
                    <a:ln>
                      <a:solidFill>
                        <a:schemeClr val="tx1"/>
                      </a:solidFill>
                      <a:tailEnd type="arrow"/>
                    </a:ln>
                  </p:spPr>
                  <p:style>
                    <a:lnRef idx="2">
                      <a:schemeClr val="accent1"/>
                    </a:lnRef>
                    <a:fillRef idx="0">
                      <a:srgbClr val="FFFFFF"/>
                    </a:fillRef>
                    <a:effectRef idx="0">
                      <a:srgbClr val="FFFFFF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31" name="组合 30"/>
                    <p:cNvGrpSpPr/>
                    <p:nvPr/>
                  </p:nvGrpSpPr>
                  <p:grpSpPr>
                    <a:xfrm>
                      <a:off x="3202" y="5108"/>
                      <a:ext cx="2657" cy="1993"/>
                      <a:chOff x="3202" y="5108"/>
                      <a:chExt cx="2657" cy="1993"/>
                    </a:xfrm>
                  </p:grpSpPr>
                  <p:sp>
                    <p:nvSpPr>
                      <p:cNvPr id="32" name="TextBox 256"/>
                      <p:cNvSpPr txBox="1"/>
                      <p:nvPr/>
                    </p:nvSpPr>
                    <p:spPr>
                      <a:xfrm>
                        <a:off x="3320" y="6496"/>
                        <a:ext cx="613" cy="60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 fontAlgn="auto"/>
                        <a:r>
                          <a:rPr lang="en-US" sz="1065" noProof="1">
                            <a:latin typeface="Arial" panose="020B0604020202020204" pitchFamily="34" charset="0"/>
                            <a:ea typeface="+mn-ea"/>
                            <a:cs typeface="Arial" panose="020B0604020202020204" pitchFamily="34" charset="0"/>
                          </a:rPr>
                          <a:t>0</a:t>
                        </a:r>
                        <a:endParaRPr lang="en-US" sz="1065" noProof="1"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endParaRPr>
                      </a:p>
                    </p:txBody>
                  </p:sp>
                  <p:sp>
                    <p:nvSpPr>
                      <p:cNvPr id="33" name="文本框 32"/>
                      <p:cNvSpPr txBox="1"/>
                      <p:nvPr/>
                    </p:nvSpPr>
                    <p:spPr>
                      <a:xfrm>
                        <a:off x="3202" y="5108"/>
                        <a:ext cx="446" cy="60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r>
                          <a:rPr lang="en-US" altLang="zh-CN" sz="1065" i="1"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a:t>H</a:t>
                        </a:r>
                        <a:endParaRPr lang="en-US" altLang="zh-CN" sz="1065" i="1">
                          <a:latin typeface="Arial" panose="020B0604020202020204" pitchFamily="34" charset="0"/>
                          <a:cs typeface="Arial" panose="020B0604020202020204" pitchFamily="34" charset="0"/>
                        </a:endParaRPr>
                      </a:p>
                    </p:txBody>
                  </p:sp>
                  <p:sp>
                    <p:nvSpPr>
                      <p:cNvPr id="34" name="文本框 33"/>
                      <p:cNvSpPr txBox="1"/>
                      <p:nvPr/>
                    </p:nvSpPr>
                    <p:spPr>
                      <a:xfrm>
                        <a:off x="5413" y="6496"/>
                        <a:ext cx="446" cy="60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r>
                          <a:rPr lang="en-US" altLang="zh-CN" sz="1065" i="1"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a:t>r</a:t>
                        </a:r>
                        <a:endParaRPr lang="en-US" altLang="zh-CN" sz="1065" i="1">
                          <a:latin typeface="Arial" panose="020B0604020202020204" pitchFamily="34" charset="0"/>
                          <a:cs typeface="Arial" panose="020B0604020202020204" pitchFamily="34" charset="0"/>
                        </a:endParaRPr>
                      </a:p>
                    </p:txBody>
                  </p:sp>
                </p:grpSp>
              </p:grpSp>
              <p:sp>
                <p:nvSpPr>
                  <p:cNvPr id="51" name="任意多边形 50"/>
                  <p:cNvSpPr/>
                  <p:nvPr/>
                </p:nvSpPr>
                <p:spPr>
                  <a:xfrm>
                    <a:off x="8843" y="5741"/>
                    <a:ext cx="1742" cy="701"/>
                  </a:xfrm>
                  <a:custGeom>
                    <a:avLst/>
                    <a:gdLst>
                      <a:gd name="connsiteX0" fmla="*/ 0 w 6165"/>
                      <a:gd name="connsiteY0" fmla="*/ 895 h 1794"/>
                      <a:gd name="connsiteX1" fmla="*/ 2745 w 6165"/>
                      <a:gd name="connsiteY1" fmla="*/ 25 h 1794"/>
                      <a:gd name="connsiteX2" fmla="*/ 6165 w 6165"/>
                      <a:gd name="connsiteY2" fmla="*/ 1795 h 179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</a:cxnLst>
                    <a:rect l="l" t="t" r="r" b="b"/>
                    <a:pathLst>
                      <a:path w="6165" h="1795">
                        <a:moveTo>
                          <a:pt x="0" y="895"/>
                        </a:moveTo>
                        <a:cubicBezTo>
                          <a:pt x="411" y="669"/>
                          <a:pt x="1506" y="-152"/>
                          <a:pt x="2745" y="25"/>
                        </a:cubicBezTo>
                        <a:cubicBezTo>
                          <a:pt x="3984" y="202"/>
                          <a:pt x="5415" y="1432"/>
                          <a:pt x="6165" y="1795"/>
                        </a:cubicBezTo>
                      </a:path>
                    </a:pathLst>
                  </a:custGeom>
                  <a:ln w="38100">
                    <a:solidFill>
                      <a:srgbClr val="47A2DE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195"/>
                  </a:p>
                </p:txBody>
              </p:sp>
            </p:grpSp>
          </p:grpSp>
          <p:grpSp>
            <p:nvGrpSpPr>
              <p:cNvPr id="74" name="组合 73"/>
              <p:cNvGrpSpPr/>
              <p:nvPr/>
            </p:nvGrpSpPr>
            <p:grpSpPr>
              <a:xfrm>
                <a:off x="4087" y="2348"/>
                <a:ext cx="3683" cy="5338"/>
                <a:chOff x="4198" y="2348"/>
                <a:chExt cx="3683" cy="5338"/>
              </a:xfrm>
            </p:grpSpPr>
            <p:sp>
              <p:nvSpPr>
                <p:cNvPr id="64" name="TextBox 190"/>
                <p:cNvSpPr txBox="1"/>
                <p:nvPr/>
              </p:nvSpPr>
              <p:spPr>
                <a:xfrm>
                  <a:off x="4218" y="4712"/>
                  <a:ext cx="3643" cy="919"/>
                </a:xfrm>
                <a:prstGeom prst="rect">
                  <a:avLst/>
                </a:prstGeom>
                <a:noFill/>
              </p:spPr>
              <p:txBody>
                <a:bodyPr wrap="square" rtlCol="0" anchor="t" anchorCtr="0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065">
                      <a:latin typeface="Arial" panose="020B0604020202020204" pitchFamily="34" charset="0"/>
                      <a:ea typeface="Arial" panose="020B0604020202020204" pitchFamily="34" charset="0"/>
                      <a:sym typeface="+mn-ea"/>
                    </a:rPr>
                    <a:t>C&gt;0, B&lt;0</a:t>
                  </a:r>
                  <a:endParaRPr lang="en-US" altLang="zh-CN" sz="1065">
                    <a:latin typeface="Arial" panose="020B0604020202020204" pitchFamily="34" charset="0"/>
                    <a:ea typeface="Arial" panose="020B0604020202020204" pitchFamily="34" charset="0"/>
                    <a:sym typeface="+mn-ea"/>
                  </a:endParaRPr>
                </a:p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065">
                      <a:latin typeface="Arial" panose="020B0604020202020204" pitchFamily="34" charset="0"/>
                      <a:sym typeface="+mn-ea"/>
                    </a:rPr>
                    <a:t>“Crown”City</a:t>
                  </a:r>
                  <a:endParaRPr lang="en-US" altLang="zh-CN" sz="1065">
                    <a:latin typeface="Arial" panose="020B0604020202020204" pitchFamily="34" charset="0"/>
                    <a:sym typeface="+mn-ea"/>
                  </a:endParaRPr>
                </a:p>
              </p:txBody>
            </p:sp>
            <p:pic>
              <p:nvPicPr>
                <p:cNvPr id="66" name="图片 65"/>
                <p:cNvPicPr>
                  <a:picLocks noChangeAspect="1"/>
                </p:cNvPicPr>
                <p:nvPr/>
              </p:nvPicPr>
              <p:blipFill>
                <a:blip r:embed="rId8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  <a:lum bright="12000" contrast="36000"/>
                </a:blip>
                <a:stretch>
                  <a:fillRect/>
                </a:stretch>
              </p:blipFill>
              <p:spPr>
                <a:xfrm>
                  <a:off x="4198" y="2348"/>
                  <a:ext cx="3683" cy="2478"/>
                </a:xfrm>
                <a:prstGeom prst="rect">
                  <a:avLst/>
                </a:prstGeom>
                <a:noFill/>
                <a:ln w="9525">
                  <a:noFill/>
                </a:ln>
              </p:spPr>
            </p:pic>
            <p:grpSp>
              <p:nvGrpSpPr>
                <p:cNvPr id="72" name="组合 71"/>
                <p:cNvGrpSpPr/>
                <p:nvPr/>
              </p:nvGrpSpPr>
              <p:grpSpPr>
                <a:xfrm>
                  <a:off x="4712" y="5693"/>
                  <a:ext cx="2657" cy="1993"/>
                  <a:chOff x="4673" y="5693"/>
                  <a:chExt cx="2657" cy="1993"/>
                </a:xfrm>
              </p:grpSpPr>
              <p:grpSp>
                <p:nvGrpSpPr>
                  <p:cNvPr id="56" name="组合 55"/>
                  <p:cNvGrpSpPr/>
                  <p:nvPr/>
                </p:nvGrpSpPr>
                <p:grpSpPr>
                  <a:xfrm>
                    <a:off x="4673" y="5693"/>
                    <a:ext cx="2657" cy="1993"/>
                    <a:chOff x="10870" y="5054"/>
                    <a:chExt cx="2657" cy="1993"/>
                  </a:xfrm>
                </p:grpSpPr>
                <p:cxnSp>
                  <p:nvCxnSpPr>
                    <p:cNvPr id="58" name="直接箭头连接符 57"/>
                    <p:cNvCxnSpPr/>
                    <p:nvPr/>
                  </p:nvCxnSpPr>
                  <p:spPr>
                    <a:xfrm flipV="1">
                      <a:off x="11423" y="5173"/>
                      <a:ext cx="0" cy="1545"/>
                    </a:xfrm>
                    <a:prstGeom prst="straightConnector1">
                      <a:avLst/>
                    </a:prstGeom>
                    <a:ln>
                      <a:solidFill>
                        <a:schemeClr val="tx1"/>
                      </a:solidFill>
                      <a:tailEnd type="arrow"/>
                    </a:ln>
                  </p:spPr>
                  <p:style>
                    <a:lnRef idx="2">
                      <a:schemeClr val="accent1"/>
                    </a:lnRef>
                    <a:fillRef idx="0">
                      <a:srgbClr val="FFFFFF"/>
                    </a:fillRef>
                    <a:effectRef idx="0">
                      <a:srgbClr val="FFFFFF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59" name="直接箭头连接符 58"/>
                    <p:cNvCxnSpPr/>
                    <p:nvPr/>
                  </p:nvCxnSpPr>
                  <p:spPr>
                    <a:xfrm>
                      <a:off x="11423" y="6732"/>
                      <a:ext cx="1740" cy="0"/>
                    </a:xfrm>
                    <a:prstGeom prst="straightConnector1">
                      <a:avLst/>
                    </a:prstGeom>
                    <a:ln>
                      <a:solidFill>
                        <a:schemeClr val="tx1"/>
                      </a:solidFill>
                      <a:tailEnd type="arrow"/>
                    </a:ln>
                  </p:spPr>
                  <p:style>
                    <a:lnRef idx="2">
                      <a:schemeClr val="accent1"/>
                    </a:lnRef>
                    <a:fillRef idx="0">
                      <a:srgbClr val="FFFFFF"/>
                    </a:fillRef>
                    <a:effectRef idx="0">
                      <a:srgbClr val="FFFFFF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60" name="组合 59"/>
                    <p:cNvGrpSpPr/>
                    <p:nvPr/>
                  </p:nvGrpSpPr>
                  <p:grpSpPr>
                    <a:xfrm>
                      <a:off x="10870" y="5054"/>
                      <a:ext cx="2657" cy="1993"/>
                      <a:chOff x="3202" y="5108"/>
                      <a:chExt cx="2657" cy="1993"/>
                    </a:xfrm>
                  </p:grpSpPr>
                  <p:sp>
                    <p:nvSpPr>
                      <p:cNvPr id="61" name="TextBox 256"/>
                      <p:cNvSpPr txBox="1"/>
                      <p:nvPr/>
                    </p:nvSpPr>
                    <p:spPr>
                      <a:xfrm>
                        <a:off x="3320" y="6496"/>
                        <a:ext cx="613" cy="60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 fontAlgn="auto"/>
                        <a:r>
                          <a:rPr lang="en-US" sz="1065" noProof="1">
                            <a:latin typeface="Arial" panose="020B0604020202020204" pitchFamily="34" charset="0"/>
                            <a:ea typeface="+mn-ea"/>
                            <a:cs typeface="Arial" panose="020B0604020202020204" pitchFamily="34" charset="0"/>
                          </a:rPr>
                          <a:t>0</a:t>
                        </a:r>
                        <a:endParaRPr lang="en-US" sz="1065" noProof="1"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endParaRPr>
                      </a:p>
                    </p:txBody>
                  </p:sp>
                  <p:sp>
                    <p:nvSpPr>
                      <p:cNvPr id="62" name="文本框 61"/>
                      <p:cNvSpPr txBox="1"/>
                      <p:nvPr/>
                    </p:nvSpPr>
                    <p:spPr>
                      <a:xfrm>
                        <a:off x="3202" y="5108"/>
                        <a:ext cx="446" cy="60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r>
                          <a:rPr lang="en-US" altLang="zh-CN" sz="1065" i="1"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a:t>H</a:t>
                        </a:r>
                        <a:endParaRPr lang="en-US" altLang="zh-CN" sz="1065" i="1">
                          <a:latin typeface="Arial" panose="020B0604020202020204" pitchFamily="34" charset="0"/>
                          <a:cs typeface="Arial" panose="020B0604020202020204" pitchFamily="34" charset="0"/>
                        </a:endParaRPr>
                      </a:p>
                    </p:txBody>
                  </p:sp>
                  <p:sp>
                    <p:nvSpPr>
                      <p:cNvPr id="63" name="文本框 62"/>
                      <p:cNvSpPr txBox="1"/>
                      <p:nvPr/>
                    </p:nvSpPr>
                    <p:spPr>
                      <a:xfrm>
                        <a:off x="5413" y="6496"/>
                        <a:ext cx="446" cy="60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r>
                          <a:rPr lang="en-US" altLang="zh-CN" sz="1065" i="1"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a:t>r</a:t>
                        </a:r>
                        <a:endParaRPr lang="en-US" altLang="zh-CN" sz="1065" i="1">
                          <a:latin typeface="Arial" panose="020B0604020202020204" pitchFamily="34" charset="0"/>
                          <a:cs typeface="Arial" panose="020B0604020202020204" pitchFamily="34" charset="0"/>
                        </a:endParaRPr>
                      </a:p>
                    </p:txBody>
                  </p:sp>
                </p:grpSp>
              </p:grpSp>
              <p:sp>
                <p:nvSpPr>
                  <p:cNvPr id="68" name="任意多边形 67"/>
                  <p:cNvSpPr/>
                  <p:nvPr/>
                </p:nvSpPr>
                <p:spPr>
                  <a:xfrm>
                    <a:off x="5227" y="6643"/>
                    <a:ext cx="1770" cy="296"/>
                  </a:xfrm>
                  <a:custGeom>
                    <a:avLst/>
                    <a:gdLst>
                      <a:gd name="connsiteX0" fmla="*/ 0 w 6127"/>
                      <a:gd name="connsiteY0" fmla="*/ 0 h 836"/>
                      <a:gd name="connsiteX1" fmla="*/ 3080 w 6127"/>
                      <a:gd name="connsiteY1" fmla="*/ 836 h 836"/>
                      <a:gd name="connsiteX2" fmla="*/ 6127 w 6127"/>
                      <a:gd name="connsiteY2" fmla="*/ 82 h 83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</a:cxnLst>
                    <a:rect l="l" t="t" r="r" b="b"/>
                    <a:pathLst>
                      <a:path w="6127" h="836">
                        <a:moveTo>
                          <a:pt x="0" y="0"/>
                        </a:moveTo>
                        <a:cubicBezTo>
                          <a:pt x="492" y="328"/>
                          <a:pt x="1855" y="829"/>
                          <a:pt x="3080" y="836"/>
                        </a:cubicBezTo>
                        <a:cubicBezTo>
                          <a:pt x="4305" y="843"/>
                          <a:pt x="5586" y="344"/>
                          <a:pt x="6127" y="82"/>
                        </a:cubicBezTo>
                      </a:path>
                    </a:pathLst>
                  </a:custGeom>
                  <a:ln w="38100">
                    <a:solidFill>
                      <a:srgbClr val="47A2DE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  <p:txBody>
                  <a:bodyPr vertOverflow="overflow" horzOverflow="overflow" vert="horz" wrap="square" numCol="1" spcCol="0" rtlCol="0" fromWordArt="0" anchor="ctr" anchorCtr="0" forceAA="0" compatLnSpc="1">
                    <a:noAutofit/>
                  </a:bodyPr>
                  <a:lstStyle/>
                  <a:p>
                    <a:pPr lvl="0" algn="ctr">
                      <a:buClrTx/>
                      <a:buSzTx/>
                      <a:buFontTx/>
                    </a:pPr>
                    <a:endParaRPr lang="zh-CN" altLang="en-US" sz="1195">
                      <a:sym typeface="+mn-ea"/>
                    </a:endParaRPr>
                  </a:p>
                </p:txBody>
              </p:sp>
            </p:grpSp>
          </p:grpSp>
        </p:grpSp>
        <p:sp>
          <p:nvSpPr>
            <p:cNvPr id="7" name="文本框 6"/>
            <p:cNvSpPr txBox="1"/>
            <p:nvPr/>
          </p:nvSpPr>
          <p:spPr>
            <a:xfrm>
              <a:off x="398" y="8731"/>
              <a:ext cx="6795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/>
                <a:t>Vertical Profile Types</a:t>
              </a:r>
              <a:endParaRPr lang="en-US" altLang="zh-CN"/>
            </a:p>
          </p:txBody>
        </p:sp>
      </p:grpSp>
      <p:pic>
        <p:nvPicPr>
          <p:cNvPr id="42" name="图片 41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67610" y="11002010"/>
            <a:ext cx="9753600" cy="151447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组合 43"/>
          <p:cNvGrpSpPr/>
          <p:nvPr/>
        </p:nvGrpSpPr>
        <p:grpSpPr>
          <a:xfrm>
            <a:off x="2834543" y="11244273"/>
            <a:ext cx="5570421" cy="417915"/>
            <a:chOff x="1984" y="9408"/>
            <a:chExt cx="15595" cy="1170"/>
          </a:xfrm>
        </p:grpSpPr>
        <p:sp>
          <p:nvSpPr>
            <p:cNvPr id="32" name="文本框 31"/>
            <p:cNvSpPr txBox="1"/>
            <p:nvPr/>
          </p:nvSpPr>
          <p:spPr>
            <a:xfrm>
              <a:off x="13143" y="9416"/>
              <a:ext cx="4436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/>
                <a:t>Latin America Mean, 2016</a:t>
              </a:r>
              <a:endParaRPr lang="en-US" altLang="zh-CN" sz="900"/>
            </a:p>
          </p:txBody>
        </p:sp>
        <p:sp>
          <p:nvSpPr>
            <p:cNvPr id="22" name="乘号 21"/>
            <p:cNvSpPr/>
            <p:nvPr/>
          </p:nvSpPr>
          <p:spPr>
            <a:xfrm>
              <a:off x="1984" y="9421"/>
              <a:ext cx="483" cy="480"/>
            </a:xfrm>
            <a:prstGeom prst="mathMultiply">
              <a:avLst/>
            </a:prstGeom>
            <a:solidFill>
              <a:srgbClr val="E85748">
                <a:alpha val="8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>
                <a:solidFill>
                  <a:srgbClr val="A985CA"/>
                </a:solidFill>
              </a:endParaRPr>
            </a:p>
          </p:txBody>
        </p:sp>
        <p:sp>
          <p:nvSpPr>
            <p:cNvPr id="23" name="文本框 22"/>
            <p:cNvSpPr txBox="1"/>
            <p:nvPr/>
          </p:nvSpPr>
          <p:spPr>
            <a:xfrm>
              <a:off x="2483" y="9434"/>
              <a:ext cx="3227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/>
                <a:t>Africa Mean, 2016</a:t>
              </a:r>
              <a:endParaRPr lang="en-US" altLang="zh-CN" sz="900"/>
            </a:p>
          </p:txBody>
        </p:sp>
        <p:sp>
          <p:nvSpPr>
            <p:cNvPr id="24" name="乘号 23"/>
            <p:cNvSpPr/>
            <p:nvPr/>
          </p:nvSpPr>
          <p:spPr>
            <a:xfrm>
              <a:off x="1984" y="9935"/>
              <a:ext cx="483" cy="480"/>
            </a:xfrm>
            <a:prstGeom prst="mathMultiply">
              <a:avLst/>
            </a:prstGeom>
            <a:solidFill>
              <a:srgbClr val="E8574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>
                <a:solidFill>
                  <a:srgbClr val="A985CA"/>
                </a:solidFill>
              </a:endParaRPr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2483" y="9934"/>
              <a:ext cx="3227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/>
                <a:t>Africa Mean, 2023</a:t>
              </a:r>
              <a:endParaRPr lang="en-US" altLang="zh-CN" sz="900"/>
            </a:p>
          </p:txBody>
        </p:sp>
        <p:sp>
          <p:nvSpPr>
            <p:cNvPr id="26" name="乘号 25"/>
            <p:cNvSpPr/>
            <p:nvPr/>
          </p:nvSpPr>
          <p:spPr>
            <a:xfrm>
              <a:off x="6195" y="9421"/>
              <a:ext cx="483" cy="480"/>
            </a:xfrm>
            <a:prstGeom prst="mathMultiply">
              <a:avLst/>
            </a:prstGeom>
            <a:solidFill>
              <a:srgbClr val="F39F1B">
                <a:alpha val="8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>
                <a:solidFill>
                  <a:srgbClr val="A985CA"/>
                </a:solidFill>
              </a:endParaRPr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6717" y="9408"/>
              <a:ext cx="5621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>
                  <a:sym typeface="+mn-ea"/>
                </a:rPr>
                <a:t>South&amp;South-east Asia Mean, 2016</a:t>
              </a:r>
              <a:endParaRPr lang="zh-CN" altLang="en-US" sz="900">
                <a:ea typeface="宋体" panose="02010600030101010101" pitchFamily="2" charset="-122"/>
                <a:sym typeface="+mn-ea"/>
              </a:endParaRPr>
            </a:p>
          </p:txBody>
        </p:sp>
        <p:sp>
          <p:nvSpPr>
            <p:cNvPr id="28" name="乘号 27"/>
            <p:cNvSpPr/>
            <p:nvPr/>
          </p:nvSpPr>
          <p:spPr>
            <a:xfrm>
              <a:off x="6195" y="9935"/>
              <a:ext cx="483" cy="480"/>
            </a:xfrm>
            <a:prstGeom prst="mathMultiply">
              <a:avLst/>
            </a:prstGeom>
            <a:solidFill>
              <a:srgbClr val="F39F1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>
                <a:solidFill>
                  <a:srgbClr val="A985CA"/>
                </a:solidFill>
              </a:endParaRPr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6717" y="9895"/>
              <a:ext cx="5620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>
                  <a:sym typeface="+mn-ea"/>
                </a:rPr>
                <a:t>South&amp;South-east Asia Mean, 2023</a:t>
              </a:r>
              <a:endParaRPr lang="en-US" altLang="zh-CN" sz="900"/>
            </a:p>
          </p:txBody>
        </p:sp>
        <p:sp>
          <p:nvSpPr>
            <p:cNvPr id="31" name="乘号 30"/>
            <p:cNvSpPr/>
            <p:nvPr/>
          </p:nvSpPr>
          <p:spPr>
            <a:xfrm>
              <a:off x="12659" y="9421"/>
              <a:ext cx="483" cy="480"/>
            </a:xfrm>
            <a:prstGeom prst="mathMultiply">
              <a:avLst/>
            </a:prstGeom>
            <a:solidFill>
              <a:srgbClr val="47A2DE">
                <a:alpha val="8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>
                <a:solidFill>
                  <a:srgbClr val="A985CA"/>
                </a:solidFill>
              </a:endParaRPr>
            </a:p>
          </p:txBody>
        </p:sp>
        <p:sp>
          <p:nvSpPr>
            <p:cNvPr id="34" name="乘号 33"/>
            <p:cNvSpPr/>
            <p:nvPr/>
          </p:nvSpPr>
          <p:spPr>
            <a:xfrm>
              <a:off x="12659" y="9935"/>
              <a:ext cx="483" cy="480"/>
            </a:xfrm>
            <a:prstGeom prst="mathMultiply">
              <a:avLst/>
            </a:prstGeom>
            <a:solidFill>
              <a:srgbClr val="47A2D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>
                <a:solidFill>
                  <a:srgbClr val="A985CA"/>
                </a:solidFill>
              </a:endParaRPr>
            </a:p>
          </p:txBody>
        </p:sp>
        <p:sp>
          <p:nvSpPr>
            <p:cNvPr id="35" name="文本框 34"/>
            <p:cNvSpPr txBox="1"/>
            <p:nvPr/>
          </p:nvSpPr>
          <p:spPr>
            <a:xfrm>
              <a:off x="13143" y="9907"/>
              <a:ext cx="4257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/>
                <a:t>Latin America Mean, 2023</a:t>
              </a:r>
              <a:endParaRPr lang="en-US" altLang="zh-CN" sz="900"/>
            </a:p>
          </p:txBody>
        </p:sp>
      </p:grpSp>
      <p:grpSp>
        <p:nvGrpSpPr>
          <p:cNvPr id="199" name="组合 198"/>
          <p:cNvGrpSpPr/>
          <p:nvPr/>
        </p:nvGrpSpPr>
        <p:grpSpPr>
          <a:xfrm>
            <a:off x="6955790" y="433070"/>
            <a:ext cx="6586855" cy="3601720"/>
            <a:chOff x="695" y="1519"/>
            <a:chExt cx="10373" cy="5672"/>
          </a:xfrm>
        </p:grpSpPr>
        <p:sp>
          <p:nvSpPr>
            <p:cNvPr id="66" name="矩形 65"/>
            <p:cNvSpPr/>
            <p:nvPr/>
          </p:nvSpPr>
          <p:spPr>
            <a:xfrm>
              <a:off x="695" y="1519"/>
              <a:ext cx="10328" cy="567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grpSp>
          <p:nvGrpSpPr>
            <p:cNvPr id="149" name="组合 148"/>
            <p:cNvGrpSpPr/>
            <p:nvPr/>
          </p:nvGrpSpPr>
          <p:grpSpPr>
            <a:xfrm rot="0">
              <a:off x="2373" y="6470"/>
              <a:ext cx="7223" cy="708"/>
              <a:chOff x="5545" y="9577"/>
              <a:chExt cx="12840" cy="1113"/>
            </a:xfrm>
          </p:grpSpPr>
          <p:sp>
            <p:nvSpPr>
              <p:cNvPr id="4" name="文本框 3"/>
              <p:cNvSpPr txBox="1"/>
              <p:nvPr/>
            </p:nvSpPr>
            <p:spPr>
              <a:xfrm>
                <a:off x="14588" y="9577"/>
                <a:ext cx="3797" cy="6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Latin America, 2016</a:t>
                </a:r>
                <a:endParaRPr lang="en-US" altLang="zh-CN" sz="1015"/>
              </a:p>
            </p:txBody>
          </p:sp>
          <p:sp>
            <p:nvSpPr>
              <p:cNvPr id="11" name="椭圆 10"/>
              <p:cNvSpPr/>
              <p:nvPr/>
            </p:nvSpPr>
            <p:spPr>
              <a:xfrm>
                <a:off x="14172" y="9691"/>
                <a:ext cx="290" cy="255"/>
              </a:xfrm>
              <a:prstGeom prst="ellipse">
                <a:avLst/>
              </a:prstGeom>
              <a:solidFill>
                <a:srgbClr val="47A2DE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12" name="椭圆 11"/>
              <p:cNvSpPr/>
              <p:nvPr/>
            </p:nvSpPr>
            <p:spPr>
              <a:xfrm>
                <a:off x="14172" y="10154"/>
                <a:ext cx="290" cy="255"/>
              </a:xfrm>
              <a:prstGeom prst="ellipse">
                <a:avLst/>
              </a:prstGeom>
              <a:solidFill>
                <a:srgbClr val="47A2DE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13" name="文本框 12"/>
              <p:cNvSpPr txBox="1"/>
              <p:nvPr/>
            </p:nvSpPr>
            <p:spPr>
              <a:xfrm>
                <a:off x="14588" y="10067"/>
                <a:ext cx="3797" cy="6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Latin America, 2023</a:t>
                </a:r>
                <a:endParaRPr lang="en-US" altLang="zh-CN" sz="1015"/>
              </a:p>
            </p:txBody>
          </p:sp>
          <p:sp>
            <p:nvSpPr>
              <p:cNvPr id="14" name="文本框 13"/>
              <p:cNvSpPr txBox="1"/>
              <p:nvPr/>
            </p:nvSpPr>
            <p:spPr>
              <a:xfrm>
                <a:off x="5979" y="9577"/>
                <a:ext cx="3635" cy="6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Africa, 2016</a:t>
                </a:r>
                <a:endParaRPr lang="en-US" altLang="zh-CN" sz="1015"/>
              </a:p>
            </p:txBody>
          </p:sp>
          <p:sp>
            <p:nvSpPr>
              <p:cNvPr id="15" name="椭圆 14"/>
              <p:cNvSpPr/>
              <p:nvPr/>
            </p:nvSpPr>
            <p:spPr>
              <a:xfrm>
                <a:off x="5545" y="9691"/>
                <a:ext cx="290" cy="255"/>
              </a:xfrm>
              <a:prstGeom prst="ellipse">
                <a:avLst/>
              </a:prstGeom>
              <a:solidFill>
                <a:srgbClr val="E85748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>
                  <a:solidFill>
                    <a:srgbClr val="9467BD"/>
                  </a:solidFill>
                </a:endParaRPr>
              </a:p>
            </p:txBody>
          </p:sp>
          <p:sp>
            <p:nvSpPr>
              <p:cNvPr id="16" name="椭圆 15"/>
              <p:cNvSpPr/>
              <p:nvPr/>
            </p:nvSpPr>
            <p:spPr>
              <a:xfrm>
                <a:off x="5545" y="10154"/>
                <a:ext cx="290" cy="255"/>
              </a:xfrm>
              <a:prstGeom prst="ellipse">
                <a:avLst/>
              </a:prstGeom>
              <a:solidFill>
                <a:srgbClr val="E85748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17" name="文本框 16"/>
              <p:cNvSpPr txBox="1"/>
              <p:nvPr/>
            </p:nvSpPr>
            <p:spPr>
              <a:xfrm>
                <a:off x="5979" y="10077"/>
                <a:ext cx="3635" cy="6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Africa, 2023</a:t>
                </a:r>
                <a:endParaRPr lang="en-US" altLang="zh-CN" sz="1015"/>
              </a:p>
            </p:txBody>
          </p:sp>
          <p:sp>
            <p:nvSpPr>
              <p:cNvPr id="18" name="文本框 17"/>
              <p:cNvSpPr txBox="1"/>
              <p:nvPr/>
            </p:nvSpPr>
            <p:spPr>
              <a:xfrm>
                <a:off x="9106" y="9577"/>
                <a:ext cx="5356" cy="6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South&amp;South-east Asia, 2016</a:t>
                </a:r>
                <a:endParaRPr lang="en-US" altLang="zh-CN" sz="1015"/>
              </a:p>
            </p:txBody>
          </p:sp>
          <p:sp>
            <p:nvSpPr>
              <p:cNvPr id="19" name="椭圆 18"/>
              <p:cNvSpPr/>
              <p:nvPr/>
            </p:nvSpPr>
            <p:spPr>
              <a:xfrm>
                <a:off x="8647" y="9691"/>
                <a:ext cx="290" cy="255"/>
              </a:xfrm>
              <a:prstGeom prst="ellipse">
                <a:avLst/>
              </a:prstGeom>
              <a:solidFill>
                <a:srgbClr val="F39F1B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20" name="椭圆 19"/>
              <p:cNvSpPr/>
              <p:nvPr/>
            </p:nvSpPr>
            <p:spPr>
              <a:xfrm>
                <a:off x="8647" y="10154"/>
                <a:ext cx="290" cy="255"/>
              </a:xfrm>
              <a:prstGeom prst="ellipse">
                <a:avLst/>
              </a:prstGeom>
              <a:solidFill>
                <a:srgbClr val="F39F1B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21" name="文本框 20"/>
              <p:cNvSpPr txBox="1"/>
              <p:nvPr/>
            </p:nvSpPr>
            <p:spPr>
              <a:xfrm>
                <a:off x="9106" y="10064"/>
                <a:ext cx="5358" cy="6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>
                    <a:sym typeface="+mn-ea"/>
                  </a:rPr>
                  <a:t>South&amp;South-east Asia, 2023</a:t>
                </a:r>
                <a:endParaRPr lang="en-US" altLang="zh-CN" sz="1015">
                  <a:sym typeface="+mn-ea"/>
                </a:endParaRPr>
              </a:p>
            </p:txBody>
          </p:sp>
        </p:grpSp>
        <p:grpSp>
          <p:nvGrpSpPr>
            <p:cNvPr id="145" name="组合 144"/>
            <p:cNvGrpSpPr/>
            <p:nvPr/>
          </p:nvGrpSpPr>
          <p:grpSpPr>
            <a:xfrm rot="0">
              <a:off x="792" y="1519"/>
              <a:ext cx="4733" cy="4717"/>
              <a:chOff x="1166" y="687"/>
              <a:chExt cx="8414" cy="8385"/>
            </a:xfrm>
          </p:grpSpPr>
          <p:grpSp>
            <p:nvGrpSpPr>
              <p:cNvPr id="99" name="组合 98"/>
              <p:cNvGrpSpPr/>
              <p:nvPr/>
            </p:nvGrpSpPr>
            <p:grpSpPr>
              <a:xfrm>
                <a:off x="1166" y="1626"/>
                <a:ext cx="8414" cy="7446"/>
                <a:chOff x="1166" y="1626"/>
                <a:chExt cx="8414" cy="7446"/>
              </a:xfrm>
            </p:grpSpPr>
            <p:pic>
              <p:nvPicPr>
                <p:cNvPr id="6" name="图片 5"/>
                <p:cNvPicPr/>
                <p:nvPr/>
              </p:nvPicPr>
              <p:blipFill>
                <a:blip r:embed="rId1"/>
                <a:srcRect r="50879"/>
                <a:stretch>
                  <a:fillRect/>
                </a:stretch>
              </p:blipFill>
              <p:spPr>
                <a:xfrm>
                  <a:off x="1477" y="1942"/>
                  <a:ext cx="8103" cy="6670"/>
                </a:xfrm>
                <a:prstGeom prst="rect">
                  <a:avLst/>
                </a:prstGeom>
              </p:spPr>
            </p:pic>
            <p:sp>
              <p:nvSpPr>
                <p:cNvPr id="7" name="矩形 6"/>
                <p:cNvSpPr/>
                <p:nvPr/>
              </p:nvSpPr>
              <p:spPr>
                <a:xfrm>
                  <a:off x="1584" y="2085"/>
                  <a:ext cx="544" cy="647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8" name="矩形 7"/>
                <p:cNvSpPr/>
                <p:nvPr/>
              </p:nvSpPr>
              <p:spPr>
                <a:xfrm rot="5400000">
                  <a:off x="5542" y="4678"/>
                  <a:ext cx="544" cy="7372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37" name="文本框 36"/>
                <p:cNvSpPr txBox="1"/>
                <p:nvPr/>
              </p:nvSpPr>
              <p:spPr>
                <a:xfrm>
                  <a:off x="5407" y="8196"/>
                  <a:ext cx="885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50%</a:t>
                  </a:r>
                  <a:endParaRPr lang="en-US" altLang="zh-CN" sz="1125"/>
                </a:p>
              </p:txBody>
            </p:sp>
            <p:sp>
              <p:nvSpPr>
                <p:cNvPr id="38" name="文本框 37"/>
                <p:cNvSpPr txBox="1"/>
                <p:nvPr/>
              </p:nvSpPr>
              <p:spPr>
                <a:xfrm>
                  <a:off x="8502" y="8196"/>
                  <a:ext cx="10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100%</a:t>
                  </a:r>
                  <a:endParaRPr lang="en-US" altLang="zh-CN" sz="1125"/>
                </a:p>
              </p:txBody>
            </p:sp>
            <p:sp>
              <p:nvSpPr>
                <p:cNvPr id="39" name="文本框 38"/>
                <p:cNvSpPr txBox="1"/>
                <p:nvPr/>
              </p:nvSpPr>
              <p:spPr>
                <a:xfrm>
                  <a:off x="1850" y="8017"/>
                  <a:ext cx="252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</a:t>
                  </a:r>
                  <a:endParaRPr lang="en-US" altLang="zh-CN" sz="1125"/>
                </a:p>
              </p:txBody>
            </p:sp>
            <p:sp>
              <p:nvSpPr>
                <p:cNvPr id="40" name="文本框 39"/>
                <p:cNvSpPr txBox="1"/>
                <p:nvPr/>
              </p:nvSpPr>
              <p:spPr>
                <a:xfrm>
                  <a:off x="1368" y="2050"/>
                  <a:ext cx="724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0.6</a:t>
                  </a:r>
                  <a:endParaRPr lang="en-US" altLang="zh-CN" sz="1125"/>
                </a:p>
              </p:txBody>
            </p:sp>
            <p:sp>
              <p:nvSpPr>
                <p:cNvPr id="41" name="文本框 40"/>
                <p:cNvSpPr txBox="1"/>
                <p:nvPr/>
              </p:nvSpPr>
              <p:spPr>
                <a:xfrm>
                  <a:off x="1166" y="5259"/>
                  <a:ext cx="936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0.3</a:t>
                  </a:r>
                  <a:endParaRPr lang="en-US" altLang="zh-CN" sz="1125"/>
                </a:p>
              </p:txBody>
            </p:sp>
            <p:sp>
              <p:nvSpPr>
                <p:cNvPr id="42" name="文本框 41"/>
                <p:cNvSpPr txBox="1"/>
                <p:nvPr/>
              </p:nvSpPr>
              <p:spPr>
                <a:xfrm>
                  <a:off x="1585" y="1626"/>
                  <a:ext cx="5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β</a:t>
                  </a:r>
                  <a:endParaRPr lang="en-US" altLang="zh-CN" sz="1350" i="1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3" name="文本框 42"/>
                <p:cNvSpPr txBox="1"/>
                <p:nvPr/>
              </p:nvSpPr>
              <p:spPr>
                <a:xfrm>
                  <a:off x="6400" y="8636"/>
                  <a:ext cx="3099" cy="43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probability(α)</a:t>
                  </a:r>
                  <a:endParaRPr lang="en-US" altLang="zh-CN" sz="1350" i="1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57" name="文本框 56"/>
                <p:cNvSpPr txBox="1"/>
                <p:nvPr/>
              </p:nvSpPr>
              <p:spPr>
                <a:xfrm>
                  <a:off x="6457" y="4932"/>
                  <a:ext cx="3042" cy="69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015" i="1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mean </a:t>
                  </a:r>
                  <a:r>
                    <a:rPr lang="en-US" altLang="zh-CN" sz="1015" i="1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rPr>
                    <a:t>β = 0.3</a:t>
                  </a:r>
                  <a:endParaRPr lang="en-US" altLang="zh-CN" sz="1015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endParaRPr>
                </a:p>
              </p:txBody>
            </p:sp>
          </p:grp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6" name="文本框 35"/>
                  <p:cNvSpPr txBox="1"/>
                  <p:nvPr/>
                </p:nvSpPr>
                <p:spPr>
                  <a:xfrm>
                    <a:off x="1645" y="687"/>
                    <a:ext cx="7243" cy="141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35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(a) Horizontal Constraints</a:t>
                    </a:r>
                    <a:endParaRPr lang="en-US" altLang="zh-CN" sz="135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𝜑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𝑙𝑜𝑔𝑖𝑠𝑡𝑖𝑐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+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𝛽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35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36" name="文本框 3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45" y="687"/>
                    <a:ext cx="7243" cy="1419"/>
                  </a:xfrm>
                  <a:prstGeom prst="rect">
                    <a:avLst/>
                  </a:prstGeom>
                  <a:blipFill rotWithShape="1">
                    <a:blip r:embed="rId2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54" name="文本框 53"/>
              <p:cNvSpPr txBox="1"/>
              <p:nvPr/>
            </p:nvSpPr>
            <p:spPr>
              <a:xfrm>
                <a:off x="2279" y="6961"/>
                <a:ext cx="2441" cy="93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l"/>
                <a:r>
                  <a:rPr lang="en-US" altLang="zh-CN" sz="790" i="1">
                    <a:solidFill>
                      <a:schemeClr val="tx1"/>
                    </a:solidFill>
                  </a:rPr>
                  <a:t>29% Uniformly open</a:t>
                </a:r>
                <a:endParaRPr lang="en-US" altLang="zh-CN" sz="790" i="1">
                  <a:solidFill>
                    <a:schemeClr val="tx1"/>
                  </a:solidFill>
                </a:endParaRPr>
              </a:p>
            </p:txBody>
          </p:sp>
          <p:sp>
            <p:nvSpPr>
              <p:cNvPr id="60" name="文本框 59"/>
              <p:cNvSpPr txBox="1"/>
              <p:nvPr/>
            </p:nvSpPr>
            <p:spPr>
              <a:xfrm>
                <a:off x="6924" y="2113"/>
                <a:ext cx="2347" cy="1332"/>
              </a:xfrm>
              <a:prstGeom prst="rect">
                <a:avLst/>
              </a:prstGeom>
            </p:spPr>
            <p:txBody>
              <a:bodyPr wrap="square">
                <a:noAutofit/>
              </a:bodyPr>
              <a:lstStyle/>
              <a:p>
                <a:pPr algn="r"/>
                <a:r>
                  <a:rPr lang="en-US" altLang="zh-CN" sz="790" i="1">
                    <a:solidFill>
                      <a:schemeClr val="tx1"/>
                    </a:solidFill>
                  </a:rPr>
                  <a:t>1% Locked</a:t>
                </a:r>
                <a:endParaRPr lang="en-US" altLang="zh-CN" sz="790" i="1">
                  <a:solidFill>
                    <a:schemeClr val="tx1"/>
                  </a:solidFill>
                </a:endParaRPr>
              </a:p>
            </p:txBody>
          </p:sp>
          <p:sp>
            <p:nvSpPr>
              <p:cNvPr id="61" name="文本框 60"/>
              <p:cNvSpPr txBox="1"/>
              <p:nvPr/>
            </p:nvSpPr>
            <p:spPr>
              <a:xfrm>
                <a:off x="3472" y="2112"/>
                <a:ext cx="2309" cy="93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lvl="0" algn="r">
                  <a:buClrTx/>
                  <a:buSzTx/>
                  <a:buFontTx/>
                </a:pPr>
                <a:r>
                  <a:rPr lang="en-US" altLang="zh-CN" sz="790" i="1">
                    <a:solidFill>
                      <a:schemeClr val="tx1"/>
                    </a:solidFill>
                    <a:sym typeface="+mn-ea"/>
                  </a:rPr>
                  <a:t>45% Edge-constrianed</a:t>
                </a:r>
                <a:endParaRPr lang="en-US" altLang="zh-CN" sz="790" i="1">
                  <a:solidFill>
                    <a:schemeClr val="tx1"/>
                  </a:solidFill>
                  <a:sym typeface="+mn-ea"/>
                </a:endParaRPr>
              </a:p>
            </p:txBody>
          </p:sp>
          <p:sp>
            <p:nvSpPr>
              <p:cNvPr id="62" name="文本框 61"/>
              <p:cNvSpPr txBox="1"/>
              <p:nvPr/>
            </p:nvSpPr>
            <p:spPr>
              <a:xfrm>
                <a:off x="6944" y="5474"/>
                <a:ext cx="2327" cy="127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r"/>
                <a:r>
                  <a:rPr lang="en-US" altLang="zh-CN" sz="790" i="1">
                    <a:solidFill>
                      <a:schemeClr val="tx1"/>
                    </a:solidFill>
                  </a:rPr>
                  <a:t>25% Uniform constrianed landscape</a:t>
                </a:r>
                <a:endParaRPr lang="en-US" altLang="zh-CN" sz="790" i="1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56" name="组合 55"/>
            <p:cNvGrpSpPr/>
            <p:nvPr/>
          </p:nvGrpSpPr>
          <p:grpSpPr>
            <a:xfrm rot="0">
              <a:off x="5242" y="1519"/>
              <a:ext cx="5827" cy="4761"/>
              <a:chOff x="10646" y="774"/>
              <a:chExt cx="10359" cy="8463"/>
            </a:xfrm>
          </p:grpSpPr>
          <p:pic>
            <p:nvPicPr>
              <p:cNvPr id="129" name="图片 128"/>
              <p:cNvPicPr/>
              <p:nvPr/>
            </p:nvPicPr>
            <p:blipFill>
              <a:blip r:embed="rId3"/>
              <a:srcRect l="50483" b="-95"/>
              <a:stretch>
                <a:fillRect/>
              </a:stretch>
            </p:blipFill>
            <p:spPr>
              <a:xfrm>
                <a:off x="11571" y="2030"/>
                <a:ext cx="8033" cy="6693"/>
              </a:xfrm>
              <a:prstGeom prst="rect">
                <a:avLst/>
              </a:prstGeom>
            </p:spPr>
          </p:pic>
          <p:sp>
            <p:nvSpPr>
              <p:cNvPr id="45" name="矩形 44"/>
              <p:cNvSpPr/>
              <p:nvPr/>
            </p:nvSpPr>
            <p:spPr>
              <a:xfrm rot="5400000">
                <a:off x="15482" y="4679"/>
                <a:ext cx="544" cy="754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3" name="矩形 2"/>
              <p:cNvSpPr/>
              <p:nvPr/>
            </p:nvSpPr>
            <p:spPr>
              <a:xfrm>
                <a:off x="11545" y="1757"/>
                <a:ext cx="544" cy="6479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2" name="文本框 51"/>
                  <p:cNvSpPr txBox="1"/>
                  <p:nvPr/>
                </p:nvSpPr>
                <p:spPr>
                  <a:xfrm>
                    <a:off x="10646" y="774"/>
                    <a:ext cx="10359" cy="141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35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(b) Horizontal Construction</a:t>
                    </a:r>
                    <a:endParaRPr lang="en-US" altLang="zh-CN" sz="135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𝜋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𝑙𝑜𝑔𝑖𝑠𝑡𝑖𝑐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𝛿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35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52" name="文本框 5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646" y="774"/>
                    <a:ext cx="10359" cy="1419"/>
                  </a:xfrm>
                  <a:prstGeom prst="rect">
                    <a:avLst/>
                  </a:prstGeom>
                  <a:blipFill rotWithShape="1">
                    <a:blip r:embed="rId4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30" name="组合 29"/>
              <p:cNvGrpSpPr/>
              <p:nvPr/>
            </p:nvGrpSpPr>
            <p:grpSpPr>
              <a:xfrm>
                <a:off x="11207" y="1844"/>
                <a:ext cx="8319" cy="7393"/>
                <a:chOff x="9406" y="1694"/>
                <a:chExt cx="8319" cy="7393"/>
              </a:xfrm>
            </p:grpSpPr>
            <p:sp>
              <p:nvSpPr>
                <p:cNvPr id="46" name="文本框 45"/>
                <p:cNvSpPr txBox="1"/>
                <p:nvPr/>
              </p:nvSpPr>
              <p:spPr>
                <a:xfrm>
                  <a:off x="16838" y="8048"/>
                  <a:ext cx="887" cy="38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70%</a:t>
                  </a:r>
                  <a:endParaRPr lang="en-US" altLang="zh-CN" sz="1125"/>
                </a:p>
              </p:txBody>
            </p:sp>
            <p:sp>
              <p:nvSpPr>
                <p:cNvPr id="47" name="文本框 46"/>
                <p:cNvSpPr txBox="1"/>
                <p:nvPr/>
              </p:nvSpPr>
              <p:spPr>
                <a:xfrm>
                  <a:off x="10288" y="8086"/>
                  <a:ext cx="871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20%</a:t>
                  </a:r>
                  <a:endParaRPr lang="en-US" altLang="zh-CN" sz="1125"/>
                </a:p>
              </p:txBody>
            </p:sp>
            <p:sp>
              <p:nvSpPr>
                <p:cNvPr id="48" name="文本框 47"/>
                <p:cNvSpPr txBox="1"/>
                <p:nvPr/>
              </p:nvSpPr>
              <p:spPr>
                <a:xfrm>
                  <a:off x="9636" y="7086"/>
                  <a:ext cx="5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</a:t>
                  </a:r>
                  <a:endParaRPr lang="en-US" altLang="zh-CN" sz="1125"/>
                </a:p>
              </p:txBody>
            </p:sp>
            <p:sp>
              <p:nvSpPr>
                <p:cNvPr id="49" name="文本框 48"/>
                <p:cNvSpPr txBox="1"/>
                <p:nvPr/>
              </p:nvSpPr>
              <p:spPr>
                <a:xfrm>
                  <a:off x="9406" y="4656"/>
                  <a:ext cx="77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0.2</a:t>
                  </a:r>
                  <a:endParaRPr lang="en-US" altLang="zh-CN" sz="1125"/>
                </a:p>
              </p:txBody>
            </p:sp>
            <p:sp>
              <p:nvSpPr>
                <p:cNvPr id="50" name="文本框 49"/>
                <p:cNvSpPr txBox="1"/>
                <p:nvPr/>
              </p:nvSpPr>
              <p:spPr>
                <a:xfrm>
                  <a:off x="9746" y="1694"/>
                  <a:ext cx="5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δ</a:t>
                  </a:r>
                  <a:endParaRPr lang="en-US" altLang="zh-CN" sz="1350" i="1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51" name="文本框 50"/>
                <p:cNvSpPr txBox="1"/>
                <p:nvPr/>
              </p:nvSpPr>
              <p:spPr>
                <a:xfrm>
                  <a:off x="14812" y="8574"/>
                  <a:ext cx="2741" cy="51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l"/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probability(κ)</a:t>
                  </a:r>
                  <a:endParaRPr lang="en-US" altLang="zh-CN" sz="1350" i="1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53" name="文本框 52"/>
                <p:cNvSpPr txBox="1"/>
                <p:nvPr/>
              </p:nvSpPr>
              <p:spPr>
                <a:xfrm>
                  <a:off x="14149" y="8060"/>
                  <a:ext cx="885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50%</a:t>
                  </a:r>
                  <a:endParaRPr lang="en-US" altLang="zh-CN" sz="1125"/>
                </a:p>
              </p:txBody>
            </p:sp>
            <p:sp>
              <p:nvSpPr>
                <p:cNvPr id="55" name="文本框 54"/>
                <p:cNvSpPr txBox="1"/>
                <p:nvPr/>
              </p:nvSpPr>
              <p:spPr>
                <a:xfrm>
                  <a:off x="9439" y="2187"/>
                  <a:ext cx="76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0.4</a:t>
                  </a:r>
                  <a:endParaRPr lang="en-US" altLang="zh-CN" sz="1125"/>
                </a:p>
              </p:txBody>
            </p:sp>
          </p:grpSp>
          <p:sp>
            <p:nvSpPr>
              <p:cNvPr id="65" name="文本框 64"/>
              <p:cNvSpPr txBox="1"/>
              <p:nvPr/>
            </p:nvSpPr>
            <p:spPr>
              <a:xfrm>
                <a:off x="12166" y="7364"/>
                <a:ext cx="2971" cy="747"/>
              </a:xfrm>
              <a:prstGeom prst="rect">
                <a:avLst/>
              </a:prstGeom>
            </p:spPr>
            <p:txBody>
              <a:bodyPr wrap="square">
                <a:noAutofit/>
              </a:bodyPr>
              <a:lstStyle/>
              <a:p>
                <a:pPr lvl="0" algn="l">
                  <a:buClrTx/>
                  <a:buSzTx/>
                  <a:buFontTx/>
                </a:pPr>
                <a:r>
                  <a:rPr lang="en-US" altLang="zh-CN" sz="790" i="1">
                    <a:solidFill>
                      <a:schemeClr val="tx1"/>
                    </a:solidFill>
                    <a:sym typeface="+mn-ea"/>
                  </a:rPr>
                  <a:t>30% Uniform sparse construction</a:t>
                </a:r>
                <a:endParaRPr lang="en-US" altLang="zh-CN" sz="790" i="1">
                  <a:solidFill>
                    <a:schemeClr val="tx1"/>
                  </a:solidFill>
                  <a:sym typeface="+mn-ea"/>
                </a:endParaRPr>
              </a:p>
            </p:txBody>
          </p:sp>
          <p:sp>
            <p:nvSpPr>
              <p:cNvPr id="67" name="文本框 66"/>
              <p:cNvSpPr txBox="1"/>
              <p:nvPr/>
            </p:nvSpPr>
            <p:spPr>
              <a:xfrm>
                <a:off x="16296" y="7316"/>
                <a:ext cx="2990" cy="93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lvl="0" algn="r">
                  <a:buClrTx/>
                  <a:buSzTx/>
                  <a:buFontTx/>
                </a:pPr>
                <a:r>
                  <a:rPr lang="en-US" altLang="zh-CN" sz="790" i="1">
                    <a:solidFill>
                      <a:schemeClr val="tx1"/>
                    </a:solidFill>
                    <a:sym typeface="+mn-ea"/>
                  </a:rPr>
                  <a:t>18% Uniform dense construction</a:t>
                </a:r>
                <a:endParaRPr lang="en-US" altLang="zh-CN" sz="790" i="1">
                  <a:solidFill>
                    <a:schemeClr val="tx1"/>
                  </a:solidFill>
                  <a:sym typeface="+mn-ea"/>
                </a:endParaRPr>
              </a:p>
            </p:txBody>
          </p:sp>
          <p:sp>
            <p:nvSpPr>
              <p:cNvPr id="68" name="文本框 67"/>
              <p:cNvSpPr txBox="1"/>
              <p:nvPr/>
            </p:nvSpPr>
            <p:spPr>
              <a:xfrm>
                <a:off x="17437" y="2212"/>
                <a:ext cx="1850" cy="195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lvl="0" algn="r">
                  <a:buClrTx/>
                  <a:buSzTx/>
                  <a:buFontTx/>
                </a:pPr>
                <a:r>
                  <a:rPr lang="en-US" altLang="zh-CN" sz="790" i="1">
                    <a:solidFill>
                      <a:schemeClr val="tx1"/>
                    </a:solidFill>
                    <a:sym typeface="+mn-ea"/>
                  </a:rPr>
                  <a:t>10% Dense core, sparse periphery</a:t>
                </a:r>
                <a:endParaRPr lang="en-US" altLang="zh-CN" sz="790" i="1">
                  <a:solidFill>
                    <a:schemeClr val="tx1"/>
                  </a:solidFill>
                  <a:sym typeface="+mn-ea"/>
                </a:endParaRPr>
              </a:p>
            </p:txBody>
          </p:sp>
          <p:sp>
            <p:nvSpPr>
              <p:cNvPr id="143" name="文本框 142"/>
              <p:cNvSpPr txBox="1"/>
              <p:nvPr/>
            </p:nvSpPr>
            <p:spPr>
              <a:xfrm>
                <a:off x="12167" y="2212"/>
                <a:ext cx="2759" cy="746"/>
              </a:xfrm>
              <a:prstGeom prst="rect">
                <a:avLst/>
              </a:prstGeom>
            </p:spPr>
            <p:txBody>
              <a:bodyPr wrap="square">
                <a:noAutofit/>
              </a:bodyPr>
              <a:lstStyle/>
              <a:p>
                <a:pPr lvl="0" algn="l">
                  <a:buClrTx/>
                  <a:buSzTx/>
                  <a:buFontTx/>
                </a:pPr>
                <a:r>
                  <a:rPr lang="en-US" altLang="zh-CN" sz="790" i="1">
                    <a:solidFill>
                      <a:schemeClr val="tx1"/>
                    </a:solidFill>
                    <a:sym typeface="+mn-ea"/>
                  </a:rPr>
                  <a:t>43% Small Core, sparse periphery</a:t>
                </a:r>
                <a:endParaRPr lang="en-US" altLang="zh-CN" sz="790" i="1">
                  <a:solidFill>
                    <a:schemeClr val="tx1"/>
                  </a:solidFill>
                  <a:sym typeface="+mn-ea"/>
                </a:endParaRPr>
              </a:p>
            </p:txBody>
          </p:sp>
          <p:sp>
            <p:nvSpPr>
              <p:cNvPr id="148" name="文本框 147"/>
              <p:cNvSpPr txBox="1"/>
              <p:nvPr/>
            </p:nvSpPr>
            <p:spPr>
              <a:xfrm>
                <a:off x="17418" y="5362"/>
                <a:ext cx="1936" cy="11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zh-CN" sz="1015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mean </a:t>
                </a:r>
                <a:r>
                  <a:rPr lang="en-US" altLang="zh-CN" sz="1015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δ = 0.09</a:t>
                </a:r>
                <a:endParaRPr lang="en-US" altLang="zh-CN" sz="1015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endParaRPr>
              </a:p>
            </p:txBody>
          </p:sp>
        </p:grpSp>
      </p:grpSp>
      <p:cxnSp>
        <p:nvCxnSpPr>
          <p:cNvPr id="33" name="直接连接符 32"/>
          <p:cNvCxnSpPr/>
          <p:nvPr/>
        </p:nvCxnSpPr>
        <p:spPr>
          <a:xfrm>
            <a:off x="2557848" y="12153748"/>
            <a:ext cx="761534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grpSp>
        <p:nvGrpSpPr>
          <p:cNvPr id="97" name="组合 96"/>
          <p:cNvGrpSpPr/>
          <p:nvPr/>
        </p:nvGrpSpPr>
        <p:grpSpPr>
          <a:xfrm>
            <a:off x="10531819" y="11842276"/>
            <a:ext cx="1544858" cy="513643"/>
            <a:chOff x="2166" y="1724"/>
            <a:chExt cx="19159" cy="6372"/>
          </a:xfrm>
        </p:grpSpPr>
        <p:cxnSp>
          <p:nvCxnSpPr>
            <p:cNvPr id="70" name="直接箭头连接符 69"/>
            <p:cNvCxnSpPr/>
            <p:nvPr/>
          </p:nvCxnSpPr>
          <p:spPr>
            <a:xfrm flipV="1">
              <a:off x="2166" y="1724"/>
              <a:ext cx="0" cy="6327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92" name="直接箭头连接符 91"/>
            <p:cNvCxnSpPr/>
            <p:nvPr/>
          </p:nvCxnSpPr>
          <p:spPr>
            <a:xfrm flipV="1">
              <a:off x="2166" y="8047"/>
              <a:ext cx="7744" cy="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95" name="直接箭头连接符 94"/>
            <p:cNvCxnSpPr/>
            <p:nvPr/>
          </p:nvCxnSpPr>
          <p:spPr>
            <a:xfrm flipV="1">
              <a:off x="13581" y="1769"/>
              <a:ext cx="0" cy="6327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96" name="直接箭头连接符 95"/>
            <p:cNvCxnSpPr/>
            <p:nvPr/>
          </p:nvCxnSpPr>
          <p:spPr>
            <a:xfrm flipV="1">
              <a:off x="13581" y="8092"/>
              <a:ext cx="7744" cy="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grpSp>
        <p:nvGrpSpPr>
          <p:cNvPr id="124" name="组合 123"/>
          <p:cNvGrpSpPr/>
          <p:nvPr/>
        </p:nvGrpSpPr>
        <p:grpSpPr>
          <a:xfrm>
            <a:off x="1352837" y="9523955"/>
            <a:ext cx="8195787" cy="1489137"/>
            <a:chOff x="186" y="3371"/>
            <a:chExt cx="22945" cy="4169"/>
          </a:xfrm>
        </p:grpSpPr>
        <p:sp>
          <p:nvSpPr>
            <p:cNvPr id="5" name="文本框 4"/>
            <p:cNvSpPr txBox="1"/>
            <p:nvPr/>
          </p:nvSpPr>
          <p:spPr>
            <a:xfrm>
              <a:off x="186" y="5928"/>
              <a:ext cx="2265" cy="127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r"/>
              <a:r>
                <a:rPr lang="en-US" altLang="zh-CN" sz="790" i="1">
                  <a:solidFill>
                    <a:schemeClr val="tx1"/>
                  </a:solidFill>
                </a:rPr>
                <a:t>Low-Constraint, Flat-Gradient</a:t>
              </a:r>
              <a:endParaRPr lang="en-US" altLang="zh-CN" sz="790" i="1">
                <a:solidFill>
                  <a:schemeClr val="tx1"/>
                </a:solidFill>
              </a:endParaRP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9533" y="4232"/>
              <a:ext cx="2346" cy="679"/>
            </a:xfrm>
            <a:prstGeom prst="rect">
              <a:avLst/>
            </a:prstGeom>
          </p:spPr>
          <p:txBody>
            <a:bodyPr wrap="square">
              <a:noAutofit/>
            </a:bodyPr>
            <a:lstStyle/>
            <a:p>
              <a:pPr algn="l"/>
              <a:r>
                <a:rPr lang="en-US" altLang="zh-CN" sz="790" i="1">
                  <a:solidFill>
                    <a:schemeClr val="tx1"/>
                  </a:solidFill>
                </a:rPr>
                <a:t>High-Constraint, Steep-Gradient</a:t>
              </a:r>
              <a:endParaRPr lang="en-US" altLang="zh-CN" sz="790" i="1">
                <a:solidFill>
                  <a:schemeClr val="tx1"/>
                </a:solidFill>
              </a:endParaRPr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200" y="4186"/>
              <a:ext cx="2211" cy="161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790" i="1">
                  <a:solidFill>
                    <a:schemeClr val="tx1"/>
                  </a:solidFill>
                  <a:sym typeface="+mn-ea"/>
                </a:rPr>
                <a:t>Low-Constraint,</a:t>
              </a:r>
              <a:endParaRPr lang="en-US" altLang="zh-CN" sz="790" i="1">
                <a:solidFill>
                  <a:schemeClr val="tx1"/>
                </a:solidFill>
                <a:sym typeface="+mn-ea"/>
              </a:endParaRPr>
            </a:p>
            <a:p>
              <a:pPr lvl="0" algn="r">
                <a:buClrTx/>
                <a:buSzTx/>
                <a:buFontTx/>
              </a:pPr>
              <a:r>
                <a:rPr lang="en-US" altLang="zh-CN" sz="790" i="1">
                  <a:solidFill>
                    <a:schemeClr val="tx1"/>
                  </a:solidFill>
                  <a:sym typeface="+mn-ea"/>
                </a:rPr>
                <a:t>Steep-Gradient</a:t>
              </a:r>
              <a:endParaRPr lang="en-US" altLang="zh-CN" sz="790" i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59" name="文本框 58"/>
            <p:cNvSpPr txBox="1"/>
            <p:nvPr/>
          </p:nvSpPr>
          <p:spPr>
            <a:xfrm>
              <a:off x="9552" y="5928"/>
              <a:ext cx="2327" cy="127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l"/>
              <a:r>
                <a:rPr lang="en-US" altLang="zh-CN" sz="790" i="1">
                  <a:solidFill>
                    <a:schemeClr val="tx1"/>
                  </a:solidFill>
                </a:rPr>
                <a:t>High-Constraint, Flat-Gradient</a:t>
              </a:r>
              <a:endParaRPr lang="en-US" altLang="zh-CN" sz="790" i="1">
                <a:solidFill>
                  <a:schemeClr val="tx1"/>
                </a:solidFill>
              </a:endParaRPr>
            </a:p>
          </p:txBody>
        </p:sp>
        <p:sp>
          <p:nvSpPr>
            <p:cNvPr id="63" name="文本框 62"/>
            <p:cNvSpPr txBox="1"/>
            <p:nvPr/>
          </p:nvSpPr>
          <p:spPr>
            <a:xfrm>
              <a:off x="11568" y="4232"/>
              <a:ext cx="2211" cy="746"/>
            </a:xfrm>
            <a:prstGeom prst="rect">
              <a:avLst/>
            </a:prstGeom>
          </p:spPr>
          <p:txBody>
            <a:bodyPr wrap="square">
              <a:no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790" i="1">
                  <a:solidFill>
                    <a:schemeClr val="tx1"/>
                  </a:solidFill>
                  <a:sym typeface="+mn-ea"/>
                </a:rPr>
                <a:t>Low-Intensity, Flat-Gradient</a:t>
              </a:r>
              <a:endParaRPr lang="en-US" altLang="zh-CN" sz="790" i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64" name="文本框 63"/>
            <p:cNvSpPr txBox="1"/>
            <p:nvPr/>
          </p:nvSpPr>
          <p:spPr>
            <a:xfrm>
              <a:off x="11568" y="5928"/>
              <a:ext cx="2211" cy="127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790" i="1">
                  <a:solidFill>
                    <a:schemeClr val="tx1"/>
                  </a:solidFill>
                  <a:sym typeface="+mn-ea"/>
                </a:rPr>
                <a:t>Low-Intensity, Steep-Gradient</a:t>
              </a:r>
              <a:endParaRPr lang="en-US" altLang="zh-CN" sz="790" i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69" name="文本框 68"/>
            <p:cNvSpPr txBox="1"/>
            <p:nvPr/>
          </p:nvSpPr>
          <p:spPr>
            <a:xfrm>
              <a:off x="20920" y="4182"/>
              <a:ext cx="2211" cy="127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790" i="1">
                  <a:solidFill>
                    <a:schemeClr val="tx1"/>
                  </a:solidFill>
                  <a:sym typeface="+mn-ea"/>
                </a:rPr>
                <a:t>High-Intensity, Flat-Gradient</a:t>
              </a:r>
              <a:endParaRPr lang="en-US" altLang="zh-CN" sz="790" i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98" name="文本框 97"/>
            <p:cNvSpPr txBox="1"/>
            <p:nvPr/>
          </p:nvSpPr>
          <p:spPr>
            <a:xfrm>
              <a:off x="20874" y="5928"/>
              <a:ext cx="2211" cy="161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790" i="1">
                  <a:solidFill>
                    <a:schemeClr val="tx1"/>
                  </a:solidFill>
                  <a:sym typeface="+mn-ea"/>
                </a:rPr>
                <a:t>High-Intensity, Steep-Gradient</a:t>
              </a:r>
              <a:endParaRPr lang="en-US" altLang="zh-CN" sz="790" i="1">
                <a:solidFill>
                  <a:schemeClr val="tx1"/>
                </a:solidFill>
                <a:sym typeface="+mn-ea"/>
              </a:endParaRPr>
            </a:p>
          </p:txBody>
        </p:sp>
        <p:grpSp>
          <p:nvGrpSpPr>
            <p:cNvPr id="100" name="组合 99"/>
            <p:cNvGrpSpPr/>
            <p:nvPr/>
          </p:nvGrpSpPr>
          <p:grpSpPr>
            <a:xfrm>
              <a:off x="1395" y="6639"/>
              <a:ext cx="831" cy="826"/>
              <a:chOff x="493" y="2941"/>
              <a:chExt cx="4304" cy="4270"/>
            </a:xfrm>
          </p:grpSpPr>
          <p:pic>
            <p:nvPicPr>
              <p:cNvPr id="101" name="图片 100"/>
              <p:cNvPicPr>
                <a:picLocks noChangeAspect="1"/>
              </p:cNvPicPr>
              <p:nvPr/>
            </p:nvPicPr>
            <p:blipFill>
              <a:blip r:embed="rId5">
                <a:grayscl/>
              </a:blip>
              <a:stretch>
                <a:fillRect/>
              </a:stretch>
            </p:blipFill>
            <p:spPr>
              <a:xfrm>
                <a:off x="493" y="2941"/>
                <a:ext cx="4304" cy="4271"/>
              </a:xfrm>
              <a:prstGeom prst="rect">
                <a:avLst/>
              </a:prstGeom>
            </p:spPr>
          </p:pic>
          <p:sp>
            <p:nvSpPr>
              <p:cNvPr id="102" name="椭圆 101"/>
              <p:cNvSpPr/>
              <p:nvPr/>
            </p:nvSpPr>
            <p:spPr>
              <a:xfrm>
                <a:off x="598" y="3013"/>
                <a:ext cx="4199" cy="4199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  <p:grpSp>
          <p:nvGrpSpPr>
            <p:cNvPr id="103" name="组合 102"/>
            <p:cNvGrpSpPr/>
            <p:nvPr/>
          </p:nvGrpSpPr>
          <p:grpSpPr>
            <a:xfrm>
              <a:off x="1365" y="3374"/>
              <a:ext cx="831" cy="826"/>
              <a:chOff x="4929" y="2941"/>
              <a:chExt cx="4302" cy="4270"/>
            </a:xfrm>
          </p:grpSpPr>
          <p:pic>
            <p:nvPicPr>
              <p:cNvPr id="104" name="图片 103"/>
              <p:cNvPicPr>
                <a:picLocks noChangeAspect="1"/>
              </p:cNvPicPr>
              <p:nvPr/>
            </p:nvPicPr>
            <p:blipFill>
              <a:blip r:embed="rId6">
                <a:grayscl/>
              </a:blip>
              <a:stretch>
                <a:fillRect/>
              </a:stretch>
            </p:blipFill>
            <p:spPr>
              <a:xfrm>
                <a:off x="4929" y="2941"/>
                <a:ext cx="4303" cy="4271"/>
              </a:xfrm>
              <a:prstGeom prst="rect">
                <a:avLst/>
              </a:prstGeom>
            </p:spPr>
          </p:pic>
          <p:sp>
            <p:nvSpPr>
              <p:cNvPr id="105" name="椭圆 104"/>
              <p:cNvSpPr/>
              <p:nvPr/>
            </p:nvSpPr>
            <p:spPr>
              <a:xfrm>
                <a:off x="5028" y="3013"/>
                <a:ext cx="4199" cy="4199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  <p:grpSp>
          <p:nvGrpSpPr>
            <p:cNvPr id="106" name="组合 105"/>
            <p:cNvGrpSpPr/>
            <p:nvPr/>
          </p:nvGrpSpPr>
          <p:grpSpPr>
            <a:xfrm>
              <a:off x="9591" y="6639"/>
              <a:ext cx="831" cy="826"/>
              <a:chOff x="9364" y="2941"/>
              <a:chExt cx="4302" cy="4270"/>
            </a:xfrm>
          </p:grpSpPr>
          <p:pic>
            <p:nvPicPr>
              <p:cNvPr id="107" name="图片 106"/>
              <p:cNvPicPr>
                <a:picLocks noChangeAspect="1"/>
              </p:cNvPicPr>
              <p:nvPr/>
            </p:nvPicPr>
            <p:blipFill>
              <a:blip r:embed="rId7">
                <a:grayscl/>
              </a:blip>
              <a:stretch>
                <a:fillRect/>
              </a:stretch>
            </p:blipFill>
            <p:spPr>
              <a:xfrm>
                <a:off x="9364" y="2941"/>
                <a:ext cx="4303" cy="4271"/>
              </a:xfrm>
              <a:prstGeom prst="rect">
                <a:avLst/>
              </a:prstGeom>
            </p:spPr>
          </p:pic>
          <p:sp>
            <p:nvSpPr>
              <p:cNvPr id="108" name="椭圆 107"/>
              <p:cNvSpPr/>
              <p:nvPr/>
            </p:nvSpPr>
            <p:spPr>
              <a:xfrm>
                <a:off x="9457" y="3013"/>
                <a:ext cx="4199" cy="4199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  <p:grpSp>
          <p:nvGrpSpPr>
            <p:cNvPr id="109" name="组合 108"/>
            <p:cNvGrpSpPr/>
            <p:nvPr/>
          </p:nvGrpSpPr>
          <p:grpSpPr>
            <a:xfrm>
              <a:off x="9594" y="3374"/>
              <a:ext cx="831" cy="826"/>
              <a:chOff x="13799" y="2941"/>
              <a:chExt cx="4302" cy="4270"/>
            </a:xfrm>
          </p:grpSpPr>
          <p:pic>
            <p:nvPicPr>
              <p:cNvPr id="110" name="图片 109"/>
              <p:cNvPicPr>
                <a:picLocks noChangeAspect="1"/>
              </p:cNvPicPr>
              <p:nvPr/>
            </p:nvPicPr>
            <p:blipFill>
              <a:blip r:embed="rId8">
                <a:grayscl/>
              </a:blip>
              <a:stretch>
                <a:fillRect/>
              </a:stretch>
            </p:blipFill>
            <p:spPr>
              <a:xfrm>
                <a:off x="13799" y="2941"/>
                <a:ext cx="4303" cy="4271"/>
              </a:xfrm>
              <a:prstGeom prst="rect">
                <a:avLst/>
              </a:prstGeom>
            </p:spPr>
          </p:pic>
          <p:sp>
            <p:nvSpPr>
              <p:cNvPr id="111" name="椭圆 110"/>
              <p:cNvSpPr/>
              <p:nvPr/>
            </p:nvSpPr>
            <p:spPr>
              <a:xfrm>
                <a:off x="13887" y="3013"/>
                <a:ext cx="4199" cy="4199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  <p:grpSp>
          <p:nvGrpSpPr>
            <p:cNvPr id="112" name="组合 111"/>
            <p:cNvGrpSpPr/>
            <p:nvPr/>
          </p:nvGrpSpPr>
          <p:grpSpPr>
            <a:xfrm>
              <a:off x="12704" y="3371"/>
              <a:ext cx="848" cy="829"/>
              <a:chOff x="1057" y="2049"/>
              <a:chExt cx="4212" cy="4114"/>
            </a:xfrm>
          </p:grpSpPr>
          <p:pic>
            <p:nvPicPr>
              <p:cNvPr id="113" name="图片 112"/>
              <p:cNvPicPr>
                <a:picLocks noChangeAspect="1"/>
              </p:cNvPicPr>
              <p:nvPr/>
            </p:nvPicPr>
            <p:blipFill>
              <a:blip r:embed="rId9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1057" y="2049"/>
                <a:ext cx="4212" cy="4115"/>
              </a:xfrm>
              <a:prstGeom prst="rect">
                <a:avLst/>
              </a:prstGeom>
            </p:spPr>
          </p:pic>
          <p:sp>
            <p:nvSpPr>
              <p:cNvPr id="114" name="椭圆 113"/>
              <p:cNvSpPr/>
              <p:nvPr/>
            </p:nvSpPr>
            <p:spPr>
              <a:xfrm>
                <a:off x="1280" y="2210"/>
                <a:ext cx="3862" cy="3862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  <p:grpSp>
          <p:nvGrpSpPr>
            <p:cNvPr id="115" name="组合 114"/>
            <p:cNvGrpSpPr/>
            <p:nvPr/>
          </p:nvGrpSpPr>
          <p:grpSpPr>
            <a:xfrm>
              <a:off x="12734" y="6636"/>
              <a:ext cx="848" cy="829"/>
              <a:chOff x="5571" y="2049"/>
              <a:chExt cx="4212" cy="4114"/>
            </a:xfrm>
          </p:grpSpPr>
          <p:pic>
            <p:nvPicPr>
              <p:cNvPr id="116" name="图片 115"/>
              <p:cNvPicPr>
                <a:picLocks noChangeAspect="1"/>
              </p:cNvPicPr>
              <p:nvPr/>
            </p:nvPicPr>
            <p:blipFill>
              <a:blip r:embed="rId10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5571" y="2049"/>
                <a:ext cx="4212" cy="4115"/>
              </a:xfrm>
              <a:prstGeom prst="rect">
                <a:avLst/>
              </a:prstGeom>
            </p:spPr>
          </p:pic>
          <p:sp>
            <p:nvSpPr>
              <p:cNvPr id="117" name="椭圆 116"/>
              <p:cNvSpPr/>
              <p:nvPr/>
            </p:nvSpPr>
            <p:spPr>
              <a:xfrm>
                <a:off x="5813" y="2210"/>
                <a:ext cx="3862" cy="3862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  <p:grpSp>
          <p:nvGrpSpPr>
            <p:cNvPr id="118" name="组合 117"/>
            <p:cNvGrpSpPr/>
            <p:nvPr/>
          </p:nvGrpSpPr>
          <p:grpSpPr>
            <a:xfrm>
              <a:off x="21052" y="3371"/>
              <a:ext cx="848" cy="829"/>
              <a:chOff x="10084" y="2049"/>
              <a:chExt cx="4212" cy="4114"/>
            </a:xfrm>
          </p:grpSpPr>
          <p:pic>
            <p:nvPicPr>
              <p:cNvPr id="119" name="图片 118"/>
              <p:cNvPicPr>
                <a:picLocks noChangeAspect="1"/>
              </p:cNvPicPr>
              <p:nvPr/>
            </p:nvPicPr>
            <p:blipFill>
              <a:blip r:embed="rId11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10084" y="2049"/>
                <a:ext cx="4212" cy="4115"/>
              </a:xfrm>
              <a:prstGeom prst="rect">
                <a:avLst/>
              </a:prstGeom>
            </p:spPr>
          </p:pic>
          <p:sp>
            <p:nvSpPr>
              <p:cNvPr id="120" name="椭圆 119"/>
              <p:cNvSpPr/>
              <p:nvPr/>
            </p:nvSpPr>
            <p:spPr>
              <a:xfrm>
                <a:off x="10347" y="2210"/>
                <a:ext cx="3862" cy="3862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  <p:grpSp>
          <p:nvGrpSpPr>
            <p:cNvPr id="121" name="组合 120"/>
            <p:cNvGrpSpPr/>
            <p:nvPr/>
          </p:nvGrpSpPr>
          <p:grpSpPr>
            <a:xfrm>
              <a:off x="21000" y="6668"/>
              <a:ext cx="848" cy="828"/>
              <a:chOff x="22212" y="8641"/>
              <a:chExt cx="848" cy="828"/>
            </a:xfrm>
          </p:grpSpPr>
          <p:pic>
            <p:nvPicPr>
              <p:cNvPr id="122" name="图片 121"/>
              <p:cNvPicPr>
                <a:picLocks noChangeAspect="1"/>
              </p:cNvPicPr>
              <p:nvPr/>
            </p:nvPicPr>
            <p:blipFill>
              <a:blip r:embed="rId12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22212" y="8641"/>
                <a:ext cx="848" cy="829"/>
              </a:xfrm>
              <a:prstGeom prst="rect">
                <a:avLst/>
              </a:prstGeom>
            </p:spPr>
          </p:pic>
          <p:sp>
            <p:nvSpPr>
              <p:cNvPr id="123" name="椭圆 122"/>
              <p:cNvSpPr/>
              <p:nvPr/>
            </p:nvSpPr>
            <p:spPr>
              <a:xfrm>
                <a:off x="22232" y="8657"/>
                <a:ext cx="778" cy="778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</p:grpSp>
      <p:sp>
        <p:nvSpPr>
          <p:cNvPr id="71" name="文本框 70"/>
          <p:cNvSpPr txBox="1"/>
          <p:nvPr/>
        </p:nvSpPr>
        <p:spPr>
          <a:xfrm>
            <a:off x="3582991" y="11845848"/>
            <a:ext cx="5580422" cy="2990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ctr"/>
            <a:r>
              <a:rPr lang="en-US" altLang="zh-CN" sz="1350" b="1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Horizontal Construction Params</a:t>
            </a:r>
            <a:endParaRPr lang="en-US" altLang="zh-CN" sz="1350" b="1"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</p:txBody>
      </p:sp>
      <p:sp>
        <p:nvSpPr>
          <p:cNvPr id="170" name="矩形 169"/>
          <p:cNvSpPr/>
          <p:nvPr/>
        </p:nvSpPr>
        <p:spPr>
          <a:xfrm>
            <a:off x="3314700" y="4378960"/>
            <a:ext cx="7044055" cy="43535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15"/>
          </a:p>
        </p:txBody>
      </p:sp>
      <p:pic>
        <p:nvPicPr>
          <p:cNvPr id="125" name="图片 124" descr="horizontal_scatter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480435" y="5157470"/>
            <a:ext cx="6781800" cy="2667000"/>
          </a:xfrm>
          <a:prstGeom prst="rect">
            <a:avLst/>
          </a:prstGeom>
        </p:spPr>
      </p:pic>
      <p:grpSp>
        <p:nvGrpSpPr>
          <p:cNvPr id="73" name="组合 72"/>
          <p:cNvGrpSpPr/>
          <p:nvPr/>
        </p:nvGrpSpPr>
        <p:grpSpPr>
          <a:xfrm rot="0">
            <a:off x="3382645" y="4492625"/>
            <a:ext cx="3509010" cy="3488055"/>
            <a:chOff x="1155" y="-568"/>
            <a:chExt cx="9823" cy="9764"/>
          </a:xfrm>
        </p:grpSpPr>
        <p:grpSp>
          <p:nvGrpSpPr>
            <p:cNvPr id="74" name="组合 73"/>
            <p:cNvGrpSpPr/>
            <p:nvPr/>
          </p:nvGrpSpPr>
          <p:grpSpPr>
            <a:xfrm>
              <a:off x="1155" y="1258"/>
              <a:ext cx="9823" cy="7938"/>
              <a:chOff x="1155" y="1258"/>
              <a:chExt cx="9823" cy="7938"/>
            </a:xfrm>
          </p:grpSpPr>
          <p:sp>
            <p:nvSpPr>
              <p:cNvPr id="77" name="矩形 76"/>
              <p:cNvSpPr/>
              <p:nvPr/>
            </p:nvSpPr>
            <p:spPr>
              <a:xfrm>
                <a:off x="1584" y="2085"/>
                <a:ext cx="544" cy="6479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78" name="矩形 77"/>
              <p:cNvSpPr/>
              <p:nvPr/>
            </p:nvSpPr>
            <p:spPr>
              <a:xfrm rot="5400000">
                <a:off x="6142" y="4180"/>
                <a:ext cx="750" cy="878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79" name="文本框 78"/>
              <p:cNvSpPr txBox="1"/>
              <p:nvPr/>
            </p:nvSpPr>
            <p:spPr>
              <a:xfrm>
                <a:off x="5929" y="8196"/>
                <a:ext cx="885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r>
                  <a:rPr lang="en-US" altLang="zh-CN" sz="1125"/>
                  <a:t>50%</a:t>
                </a:r>
                <a:endParaRPr lang="en-US" altLang="zh-CN" sz="1125"/>
              </a:p>
            </p:txBody>
          </p:sp>
          <p:sp>
            <p:nvSpPr>
              <p:cNvPr id="80" name="文本框 79"/>
              <p:cNvSpPr txBox="1"/>
              <p:nvPr/>
            </p:nvSpPr>
            <p:spPr>
              <a:xfrm>
                <a:off x="9935" y="8196"/>
                <a:ext cx="10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r>
                  <a:rPr lang="en-US" altLang="zh-CN" sz="1125"/>
                  <a:t>100%</a:t>
                </a:r>
                <a:endParaRPr lang="en-US" altLang="zh-CN" sz="1125"/>
              </a:p>
            </p:txBody>
          </p:sp>
          <p:sp>
            <p:nvSpPr>
              <p:cNvPr id="81" name="文本框 80"/>
              <p:cNvSpPr txBox="1"/>
              <p:nvPr/>
            </p:nvSpPr>
            <p:spPr>
              <a:xfrm>
                <a:off x="1946" y="8194"/>
                <a:ext cx="71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125"/>
                  <a:t>0%</a:t>
                </a:r>
                <a:endParaRPr lang="en-US" altLang="zh-CN" sz="1125"/>
              </a:p>
            </p:txBody>
          </p:sp>
          <p:sp>
            <p:nvSpPr>
              <p:cNvPr id="82" name="文本框 81"/>
              <p:cNvSpPr txBox="1"/>
              <p:nvPr/>
            </p:nvSpPr>
            <p:spPr>
              <a:xfrm>
                <a:off x="1368" y="2050"/>
                <a:ext cx="724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125"/>
                  <a:t>0.6</a:t>
                </a:r>
                <a:endParaRPr lang="en-US" altLang="zh-CN" sz="1125"/>
              </a:p>
            </p:txBody>
          </p:sp>
          <p:sp>
            <p:nvSpPr>
              <p:cNvPr id="83" name="文本框 82"/>
              <p:cNvSpPr txBox="1"/>
              <p:nvPr/>
            </p:nvSpPr>
            <p:spPr>
              <a:xfrm>
                <a:off x="1155" y="4932"/>
                <a:ext cx="936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125"/>
                  <a:t>0.3</a:t>
                </a:r>
                <a:endParaRPr lang="en-US" altLang="zh-CN" sz="1125"/>
              </a:p>
            </p:txBody>
          </p:sp>
          <p:sp>
            <p:nvSpPr>
              <p:cNvPr id="84" name="文本框 83"/>
              <p:cNvSpPr txBox="1"/>
              <p:nvPr/>
            </p:nvSpPr>
            <p:spPr>
              <a:xfrm>
                <a:off x="1608" y="1258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ctr"/>
                <a:r>
                  <a:rPr lang="en-US" altLang="zh-CN" sz="1350" i="1">
                    <a:latin typeface="Arial" panose="020B0604020202020204" pitchFamily="34" charset="0"/>
                    <a:cs typeface="Arial" panose="020B0604020202020204" pitchFamily="34" charset="0"/>
                  </a:rPr>
                  <a:t>β</a:t>
                </a:r>
                <a:endParaRPr lang="en-US" altLang="zh-CN" sz="1350" i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85" name="文本框 84"/>
              <p:cNvSpPr txBox="1"/>
              <p:nvPr/>
            </p:nvSpPr>
            <p:spPr>
              <a:xfrm>
                <a:off x="7700" y="8760"/>
                <a:ext cx="3099" cy="43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350" i="1">
                    <a:latin typeface="Arial" panose="020B0604020202020204" pitchFamily="34" charset="0"/>
                    <a:cs typeface="Arial" panose="020B0604020202020204" pitchFamily="34" charset="0"/>
                  </a:rPr>
                  <a:t>probability(α)</a:t>
                </a:r>
                <a:endParaRPr lang="en-US" altLang="zh-CN" sz="1350" i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86" name="文本框 85"/>
              <p:cNvSpPr txBox="1"/>
              <p:nvPr/>
            </p:nvSpPr>
            <p:spPr>
              <a:xfrm>
                <a:off x="7886" y="4932"/>
                <a:ext cx="3042" cy="69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mean </a:t>
                </a:r>
                <a:r>
                  <a:rPr lang="en-US" altLang="zh-CN" sz="1015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β = 0.3</a:t>
                </a:r>
                <a:endParaRPr lang="en-US" altLang="zh-CN" sz="1015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endParaRPr>
              </a:p>
            </p:txBody>
          </p: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7" name="文本框 86"/>
                <p:cNvSpPr txBox="1"/>
                <p:nvPr/>
              </p:nvSpPr>
              <p:spPr>
                <a:xfrm>
                  <a:off x="2895" y="-568"/>
                  <a:ext cx="7243" cy="14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350">
                      <a:latin typeface="Arial" panose="020B0604020202020204" pitchFamily="34" charset="0"/>
                      <a:cs typeface="Arial" panose="020B0604020202020204" pitchFamily="34" charset="0"/>
                    </a:rPr>
                    <a:t>(a) Horizontal Constraints</a:t>
                  </a:r>
                  <a:endParaRPr lang="en-US" altLang="zh-CN" sz="135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𝜑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𝑙𝑜𝑔𝑖𝑠𝑡𝑖𝑐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𝛼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𝛽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350" i="1">
                    <a:latin typeface="Cambria Math" panose="02040503050406030204" charset="0"/>
                    <a:ea typeface="MS Mincho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87" name="文本框 8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95" y="-568"/>
                  <a:ext cx="7243" cy="1419"/>
                </a:xfrm>
                <a:prstGeom prst="rect">
                  <a:avLst/>
                </a:prstGeom>
                <a:blipFill rotWithShape="1">
                  <a:blip r:embed="rId15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8" name="文本框 87"/>
            <p:cNvSpPr txBox="1"/>
            <p:nvPr/>
          </p:nvSpPr>
          <p:spPr>
            <a:xfrm>
              <a:off x="2364" y="7446"/>
              <a:ext cx="3436" cy="688"/>
            </a:xfrm>
            <a:prstGeom prst="rect">
              <a:avLst/>
            </a:prstGeom>
          </p:spPr>
          <p:txBody>
            <a:bodyPr wrap="square" lIns="0" tIns="0" rIns="0" bIns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800" b="1" i="1">
                  <a:sym typeface="+mn-ea"/>
                </a:rPr>
                <a:t>Uniformly open</a:t>
              </a:r>
              <a:endParaRPr lang="en-US" altLang="zh-CN" sz="800" b="1" i="1">
                <a:sym typeface="+mn-ea"/>
              </a:endParaRPr>
            </a:p>
            <a:p>
              <a:pPr lvl="0" algn="l">
                <a:buClrTx/>
                <a:buSzTx/>
                <a:buFontTx/>
              </a:pPr>
              <a:r>
                <a:rPr lang="en-US" altLang="zh-CN" sz="800" i="1">
                  <a:sym typeface="+mn-ea"/>
                </a:rPr>
                <a:t>28% / 30% (2016 / 2023)</a:t>
              </a:r>
              <a:endParaRPr lang="en-US" altLang="zh-CN" sz="800" i="1">
                <a:sym typeface="+mn-ea"/>
              </a:endParaRPr>
            </a:p>
          </p:txBody>
        </p:sp>
        <p:sp>
          <p:nvSpPr>
            <p:cNvPr id="89" name="文本框 88"/>
            <p:cNvSpPr txBox="1"/>
            <p:nvPr/>
          </p:nvSpPr>
          <p:spPr>
            <a:xfrm>
              <a:off x="7972" y="894"/>
              <a:ext cx="2825" cy="688"/>
            </a:xfrm>
            <a:prstGeom prst="rect">
              <a:avLst/>
            </a:prstGeom>
          </p:spPr>
          <p:txBody>
            <a:bodyPr wrap="square" lIns="0" tIns="0" rIns="0" bIns="0">
              <a:sp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800" b="1" i="1">
                  <a:sym typeface="+mn-ea"/>
                </a:rPr>
                <a:t>Locked</a:t>
              </a:r>
              <a:endParaRPr lang="en-US" altLang="zh-CN" sz="800" b="1" i="1">
                <a:sym typeface="+mn-ea"/>
              </a:endParaRPr>
            </a:p>
            <a:p>
              <a:pPr lvl="0" algn="r">
                <a:buClrTx/>
                <a:buSzTx/>
                <a:buFontTx/>
              </a:pPr>
              <a:r>
                <a:rPr lang="en-US" altLang="zh-CN" sz="800" i="1">
                  <a:sym typeface="+mn-ea"/>
                </a:rPr>
                <a:t>1% / 1% (2016 / 2023)</a:t>
              </a:r>
              <a:endParaRPr lang="en-US" altLang="zh-CN" sz="800" i="1">
                <a:sym typeface="+mn-ea"/>
              </a:endParaRPr>
            </a:p>
          </p:txBody>
        </p:sp>
        <p:sp>
          <p:nvSpPr>
            <p:cNvPr id="90" name="文本框 89"/>
            <p:cNvSpPr txBox="1"/>
            <p:nvPr/>
          </p:nvSpPr>
          <p:spPr>
            <a:xfrm>
              <a:off x="2273" y="894"/>
              <a:ext cx="3529" cy="688"/>
            </a:xfrm>
            <a:prstGeom prst="rect">
              <a:avLst/>
            </a:prstGeom>
          </p:spPr>
          <p:txBody>
            <a:bodyPr wrap="square" lIns="0" tIns="0" rIns="0" bIns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800" b="1" i="1">
                  <a:solidFill>
                    <a:schemeClr val="tx1"/>
                  </a:solidFill>
                  <a:sym typeface="+mn-ea"/>
                </a:rPr>
                <a:t>Edge-constrianed</a:t>
              </a:r>
              <a:endParaRPr lang="en-US" altLang="zh-CN" sz="800" b="1" i="1">
                <a:solidFill>
                  <a:schemeClr val="tx1"/>
                </a:solidFill>
                <a:sym typeface="+mn-ea"/>
              </a:endParaRPr>
            </a:p>
            <a:p>
              <a:pPr lvl="0" algn="l">
                <a:buClrTx/>
                <a:buSzTx/>
                <a:buFontTx/>
              </a:pPr>
              <a:r>
                <a:rPr lang="en-US" altLang="zh-CN" sz="800" i="1">
                  <a:solidFill>
                    <a:schemeClr val="tx1"/>
                  </a:solidFill>
                  <a:sym typeface="+mn-ea"/>
                </a:rPr>
                <a:t>45% / 44% (2016 / 2023)</a:t>
              </a:r>
              <a:endParaRPr lang="en-US" altLang="zh-CN" sz="800" i="1">
                <a:solidFill>
                  <a:schemeClr val="tx1"/>
                </a:solidFill>
                <a:ea typeface="宋体" panose="02010600030101010101" pitchFamily="2" charset="-122"/>
                <a:sym typeface="+mn-ea"/>
              </a:endParaRPr>
            </a:p>
          </p:txBody>
        </p:sp>
        <p:sp>
          <p:nvSpPr>
            <p:cNvPr id="91" name="文本框 90"/>
            <p:cNvSpPr txBox="1"/>
            <p:nvPr/>
          </p:nvSpPr>
          <p:spPr>
            <a:xfrm>
              <a:off x="7570" y="7446"/>
              <a:ext cx="3227" cy="688"/>
            </a:xfrm>
            <a:prstGeom prst="rect">
              <a:avLst/>
            </a:prstGeom>
          </p:spPr>
          <p:txBody>
            <a:bodyPr wrap="square" lIns="0" tIns="0" rIns="0" bIns="0">
              <a:sp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800" b="1" i="1">
                  <a:sym typeface="+mn-ea"/>
                </a:rPr>
                <a:t>Uniform</a:t>
              </a:r>
              <a:r>
                <a:rPr lang="en-US" altLang="zh-CN" sz="800" b="1" i="1">
                  <a:sym typeface="+mn-ea"/>
                </a:rPr>
                <a:t>ly</a:t>
              </a:r>
              <a:r>
                <a:rPr lang="en-US" altLang="zh-CN" sz="800" b="1" i="1">
                  <a:sym typeface="+mn-ea"/>
                </a:rPr>
                <a:t> constrianed</a:t>
              </a:r>
              <a:endParaRPr lang="en-US" altLang="zh-CN" sz="800" b="1" i="1">
                <a:sym typeface="+mn-ea"/>
              </a:endParaRPr>
            </a:p>
            <a:p>
              <a:pPr lvl="0" algn="r">
                <a:buClrTx/>
                <a:buSzTx/>
                <a:buFontTx/>
              </a:pPr>
              <a:r>
                <a:rPr lang="en-US" altLang="zh-CN" sz="800" i="1">
                  <a:sym typeface="+mn-ea"/>
                </a:rPr>
                <a:t>26% / 25% (2016/2023)</a:t>
              </a:r>
              <a:endParaRPr lang="en-US" altLang="zh-CN" sz="800" i="1">
                <a:sym typeface="+mn-ea"/>
              </a:endParaRPr>
            </a:p>
          </p:txBody>
        </p:sp>
      </p:grpSp>
      <p:sp>
        <p:nvSpPr>
          <p:cNvPr id="126" name="文本框 125"/>
          <p:cNvSpPr txBox="1"/>
          <p:nvPr/>
        </p:nvSpPr>
        <p:spPr>
          <a:xfrm>
            <a:off x="3454400" y="7355205"/>
            <a:ext cx="254635" cy="13144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r>
              <a:rPr lang="en-US" altLang="zh-CN" sz="1125"/>
              <a:t>0</a:t>
            </a:r>
            <a:endParaRPr lang="en-US" altLang="zh-CN" sz="1125"/>
          </a:p>
        </p:txBody>
      </p:sp>
      <p:grpSp>
        <p:nvGrpSpPr>
          <p:cNvPr id="127" name="组合 126"/>
          <p:cNvGrpSpPr/>
          <p:nvPr/>
        </p:nvGrpSpPr>
        <p:grpSpPr>
          <a:xfrm rot="0">
            <a:off x="6813550" y="4507865"/>
            <a:ext cx="3489960" cy="3499485"/>
            <a:chOff x="11191" y="149"/>
            <a:chExt cx="9770" cy="9797"/>
          </a:xfrm>
        </p:grpSpPr>
        <p:sp>
          <p:nvSpPr>
            <p:cNvPr id="130" name="矩形 129"/>
            <p:cNvSpPr/>
            <p:nvPr/>
          </p:nvSpPr>
          <p:spPr>
            <a:xfrm rot="5400000">
              <a:off x="15794" y="4768"/>
              <a:ext cx="731" cy="897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125"/>
            </a:p>
          </p:txBody>
        </p:sp>
        <p:sp>
          <p:nvSpPr>
            <p:cNvPr id="131" name="矩形 130"/>
            <p:cNvSpPr/>
            <p:nvPr/>
          </p:nvSpPr>
          <p:spPr>
            <a:xfrm>
              <a:off x="11358" y="1930"/>
              <a:ext cx="644" cy="630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125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2" name="文本框 131"/>
                <p:cNvSpPr txBox="1"/>
                <p:nvPr/>
              </p:nvSpPr>
              <p:spPr>
                <a:xfrm>
                  <a:off x="11408" y="149"/>
                  <a:ext cx="9438" cy="141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350">
                      <a:latin typeface="Arial" panose="020B0604020202020204" pitchFamily="34" charset="0"/>
                      <a:cs typeface="Arial" panose="020B0604020202020204" pitchFamily="34" charset="0"/>
                    </a:rPr>
                    <a:t>(b) Horizontal Construction</a:t>
                  </a:r>
                  <a:endParaRPr lang="en-US" altLang="zh-CN" sz="135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𝜋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𝑙𝑜𝑔𝑖𝑠𝑡𝑖𝑐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𝜅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𝛿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350" i="1">
                    <a:latin typeface="Cambria Math" panose="02040503050406030204" charset="0"/>
                    <a:ea typeface="MS Mincho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132" name="文本框 13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408" y="149"/>
                  <a:ext cx="9438" cy="1418"/>
                </a:xfrm>
                <a:prstGeom prst="rect">
                  <a:avLst/>
                </a:prstGeom>
                <a:blipFill rotWithShape="1">
                  <a:blip r:embed="rId16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33" name="组合 132"/>
            <p:cNvGrpSpPr/>
            <p:nvPr/>
          </p:nvGrpSpPr>
          <p:grpSpPr>
            <a:xfrm>
              <a:off x="11191" y="1844"/>
              <a:ext cx="9656" cy="8102"/>
              <a:chOff x="9390" y="1694"/>
              <a:chExt cx="9656" cy="8102"/>
            </a:xfrm>
          </p:grpSpPr>
          <p:sp>
            <p:nvSpPr>
              <p:cNvPr id="134" name="文本框 133"/>
              <p:cNvSpPr txBox="1"/>
              <p:nvPr/>
            </p:nvSpPr>
            <p:spPr>
              <a:xfrm>
                <a:off x="17956" y="8712"/>
                <a:ext cx="887" cy="38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r>
                  <a:rPr lang="en-US" altLang="zh-CN" sz="1125"/>
                  <a:t>70%</a:t>
                </a:r>
                <a:endParaRPr lang="en-US" altLang="zh-CN" sz="1125"/>
              </a:p>
            </p:txBody>
          </p:sp>
          <p:sp>
            <p:nvSpPr>
              <p:cNvPr id="135" name="文本框 134"/>
              <p:cNvSpPr txBox="1"/>
              <p:nvPr/>
            </p:nvSpPr>
            <p:spPr>
              <a:xfrm>
                <a:off x="9969" y="8712"/>
                <a:ext cx="871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r>
                  <a:rPr lang="en-US" altLang="zh-CN" sz="1125"/>
                  <a:t>20%</a:t>
                </a:r>
                <a:endParaRPr lang="en-US" altLang="zh-CN" sz="1125"/>
              </a:p>
            </p:txBody>
          </p:sp>
          <p:sp>
            <p:nvSpPr>
              <p:cNvPr id="136" name="文本框 135"/>
              <p:cNvSpPr txBox="1"/>
              <p:nvPr/>
            </p:nvSpPr>
            <p:spPr>
              <a:xfrm>
                <a:off x="9583" y="7683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125"/>
                  <a:t>0</a:t>
                </a:r>
                <a:endParaRPr lang="en-US" altLang="zh-CN" sz="1125"/>
              </a:p>
            </p:txBody>
          </p:sp>
          <p:sp>
            <p:nvSpPr>
              <p:cNvPr id="137" name="文本框 136"/>
              <p:cNvSpPr txBox="1"/>
              <p:nvPr/>
            </p:nvSpPr>
            <p:spPr>
              <a:xfrm>
                <a:off x="9390" y="4928"/>
                <a:ext cx="77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125"/>
                  <a:t>0.2</a:t>
                </a:r>
                <a:endParaRPr lang="en-US" altLang="zh-CN" sz="1125"/>
              </a:p>
            </p:txBody>
          </p:sp>
          <p:sp>
            <p:nvSpPr>
              <p:cNvPr id="138" name="文本框 137"/>
              <p:cNvSpPr txBox="1"/>
              <p:nvPr/>
            </p:nvSpPr>
            <p:spPr>
              <a:xfrm>
                <a:off x="9746" y="1694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ctr"/>
                <a:r>
                  <a:rPr lang="en-US" altLang="zh-CN" sz="1350" i="1">
                    <a:latin typeface="Arial" panose="020B0604020202020204" pitchFamily="34" charset="0"/>
                    <a:cs typeface="Arial" panose="020B0604020202020204" pitchFamily="34" charset="0"/>
                  </a:rPr>
                  <a:t>δ</a:t>
                </a:r>
                <a:endParaRPr lang="en-US" altLang="zh-CN" sz="1350" i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9" name="文本框 138"/>
              <p:cNvSpPr txBox="1"/>
              <p:nvPr/>
            </p:nvSpPr>
            <p:spPr>
              <a:xfrm>
                <a:off x="16305" y="9283"/>
                <a:ext cx="2741" cy="51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l"/>
                <a:r>
                  <a:rPr lang="en-US" altLang="zh-CN" sz="1350" i="1">
                    <a:latin typeface="Arial" panose="020B0604020202020204" pitchFamily="34" charset="0"/>
                    <a:cs typeface="Arial" panose="020B0604020202020204" pitchFamily="34" charset="0"/>
                  </a:rPr>
                  <a:t>probability(κ)</a:t>
                </a:r>
                <a:endParaRPr lang="en-US" altLang="zh-CN" sz="1350" i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40" name="文本框 139"/>
              <p:cNvSpPr txBox="1"/>
              <p:nvPr/>
            </p:nvSpPr>
            <p:spPr>
              <a:xfrm>
                <a:off x="14751" y="8712"/>
                <a:ext cx="885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r>
                  <a:rPr lang="en-US" altLang="zh-CN" sz="1125"/>
                  <a:t>50%</a:t>
                </a:r>
                <a:endParaRPr lang="en-US" altLang="zh-CN" sz="1125"/>
              </a:p>
            </p:txBody>
          </p:sp>
          <p:sp>
            <p:nvSpPr>
              <p:cNvPr id="141" name="文本框 140"/>
              <p:cNvSpPr txBox="1"/>
              <p:nvPr/>
            </p:nvSpPr>
            <p:spPr>
              <a:xfrm>
                <a:off x="9439" y="2187"/>
                <a:ext cx="76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125"/>
                  <a:t>0.4</a:t>
                </a:r>
                <a:endParaRPr lang="en-US" altLang="zh-CN" sz="1125"/>
              </a:p>
            </p:txBody>
          </p:sp>
        </p:grpSp>
        <p:sp>
          <p:nvSpPr>
            <p:cNvPr id="142" name="文本框 141"/>
            <p:cNvSpPr txBox="1"/>
            <p:nvPr/>
          </p:nvSpPr>
          <p:spPr>
            <a:xfrm>
              <a:off x="12139" y="8119"/>
              <a:ext cx="3365" cy="688"/>
            </a:xfrm>
            <a:prstGeom prst="rect">
              <a:avLst/>
            </a:prstGeom>
          </p:spPr>
          <p:txBody>
            <a:bodyPr wrap="square" lIns="0" tIns="0" rIns="0" bIns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800" b="1" i="1">
                  <a:sym typeface="+mn-ea"/>
                </a:rPr>
                <a:t>Uniformly sparse</a:t>
              </a:r>
              <a:endParaRPr lang="en-US" altLang="zh-CN" sz="800" b="1" i="1">
                <a:sym typeface="+mn-ea"/>
              </a:endParaRPr>
            </a:p>
            <a:p>
              <a:pPr lvl="0" algn="l">
                <a:buClrTx/>
                <a:buSzTx/>
                <a:buFontTx/>
              </a:pPr>
              <a:r>
                <a:rPr lang="en-US" altLang="zh-CN" sz="800" i="1">
                  <a:sym typeface="+mn-ea"/>
                </a:rPr>
                <a:t>43% / 41% (2016 / 2023)</a:t>
              </a:r>
              <a:endParaRPr lang="en-US" altLang="zh-CN" sz="800" i="1">
                <a:sym typeface="+mn-ea"/>
              </a:endParaRPr>
            </a:p>
          </p:txBody>
        </p:sp>
        <p:sp>
          <p:nvSpPr>
            <p:cNvPr id="144" name="文本框 143"/>
            <p:cNvSpPr txBox="1"/>
            <p:nvPr/>
          </p:nvSpPr>
          <p:spPr>
            <a:xfrm>
              <a:off x="17856" y="8119"/>
              <a:ext cx="2990" cy="688"/>
            </a:xfrm>
            <a:prstGeom prst="rect">
              <a:avLst/>
            </a:prstGeom>
          </p:spPr>
          <p:txBody>
            <a:bodyPr wrap="square" lIns="0" tIns="0" rIns="0" bIns="0">
              <a:sp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800" b="1" i="1">
                  <a:sym typeface="+mn-ea"/>
                </a:rPr>
                <a:t>Uniformly dense</a:t>
              </a:r>
              <a:endParaRPr lang="en-US" altLang="zh-CN" sz="800" b="1" i="1">
                <a:sym typeface="+mn-ea"/>
              </a:endParaRPr>
            </a:p>
            <a:p>
              <a:pPr lvl="0" algn="r">
                <a:buClrTx/>
                <a:buSzTx/>
                <a:buFontTx/>
              </a:pPr>
              <a:r>
                <a:rPr lang="en-US" altLang="zh-CN" sz="800" i="1">
                  <a:sym typeface="+mn-ea"/>
                </a:rPr>
                <a:t>9% / 12% (2016 / 2023)</a:t>
              </a:r>
              <a:endParaRPr lang="en-US" altLang="zh-CN" sz="800" i="1">
                <a:sym typeface="+mn-ea"/>
              </a:endParaRPr>
            </a:p>
          </p:txBody>
        </p:sp>
        <p:sp>
          <p:nvSpPr>
            <p:cNvPr id="146" name="文本框 145"/>
            <p:cNvSpPr txBox="1"/>
            <p:nvPr/>
          </p:nvSpPr>
          <p:spPr>
            <a:xfrm>
              <a:off x="17571" y="1524"/>
              <a:ext cx="3275" cy="688"/>
            </a:xfrm>
            <a:prstGeom prst="rect">
              <a:avLst/>
            </a:prstGeom>
          </p:spPr>
          <p:txBody>
            <a:bodyPr wrap="square" lIns="0" tIns="0" rIns="0" bIns="0">
              <a:sp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800" b="1" i="1">
                  <a:sym typeface="+mn-ea"/>
                </a:rPr>
                <a:t>Core-dense</a:t>
              </a:r>
              <a:endParaRPr lang="en-US" altLang="zh-CN" sz="800" b="1" i="1">
                <a:sym typeface="+mn-ea"/>
              </a:endParaRPr>
            </a:p>
            <a:p>
              <a:pPr lvl="0" algn="r">
                <a:buClrTx/>
                <a:buSzTx/>
                <a:buFontTx/>
              </a:pPr>
              <a:r>
                <a:rPr lang="en-US" altLang="zh-CN" sz="800" i="1">
                  <a:sym typeface="+mn-ea"/>
                </a:rPr>
                <a:t>16% / 20% (2016 / 2023)</a:t>
              </a:r>
              <a:endParaRPr lang="en-US" altLang="zh-CN" sz="800" i="1">
                <a:sym typeface="+mn-ea"/>
              </a:endParaRPr>
            </a:p>
          </p:txBody>
        </p:sp>
        <p:sp>
          <p:nvSpPr>
            <p:cNvPr id="147" name="文本框 146"/>
            <p:cNvSpPr txBox="1"/>
            <p:nvPr/>
          </p:nvSpPr>
          <p:spPr>
            <a:xfrm>
              <a:off x="12165" y="1553"/>
              <a:ext cx="3291" cy="688"/>
            </a:xfrm>
            <a:prstGeom prst="rect">
              <a:avLst/>
            </a:prstGeom>
          </p:spPr>
          <p:txBody>
            <a:bodyPr wrap="square" lIns="0" tIns="0" rIns="0" bIns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800" b="1" i="1">
                  <a:sym typeface="+mn-ea"/>
                </a:rPr>
                <a:t>Thinly built</a:t>
              </a:r>
              <a:endParaRPr lang="en-US" altLang="zh-CN" sz="800" b="1" i="1">
                <a:sym typeface="+mn-ea"/>
              </a:endParaRPr>
            </a:p>
            <a:p>
              <a:pPr lvl="0" algn="l">
                <a:buClrTx/>
                <a:buSzTx/>
                <a:buFontTx/>
              </a:pPr>
              <a:r>
                <a:rPr lang="en-US" altLang="zh-CN" sz="800" i="1">
                  <a:sym typeface="+mn-ea"/>
                </a:rPr>
                <a:t>32% / 27% (2016 / 2023)</a:t>
              </a:r>
              <a:endParaRPr lang="en-US" altLang="zh-CN" sz="800" i="1">
                <a:sym typeface="+mn-ea"/>
              </a:endParaRPr>
            </a:p>
          </p:txBody>
        </p:sp>
        <p:sp>
          <p:nvSpPr>
            <p:cNvPr id="150" name="文本框 149"/>
            <p:cNvSpPr txBox="1"/>
            <p:nvPr/>
          </p:nvSpPr>
          <p:spPr>
            <a:xfrm>
              <a:off x="18266" y="5773"/>
              <a:ext cx="2695" cy="11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zh-CN" sz="1015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</a:t>
              </a:r>
              <a:r>
                <a:rPr lang="en-US" altLang="zh-CN" sz="1015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 = 0.086</a:t>
              </a:r>
              <a:endParaRPr lang="en-US" altLang="zh-CN" sz="1015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</p:grpSp>
      <p:grpSp>
        <p:nvGrpSpPr>
          <p:cNvPr id="197" name="组合 196"/>
          <p:cNvGrpSpPr/>
          <p:nvPr/>
        </p:nvGrpSpPr>
        <p:grpSpPr>
          <a:xfrm rot="0">
            <a:off x="4607560" y="8121650"/>
            <a:ext cx="4500880" cy="353060"/>
            <a:chOff x="3905" y="13468"/>
            <a:chExt cx="7088" cy="556"/>
          </a:xfrm>
        </p:grpSpPr>
        <p:grpSp>
          <p:nvGrpSpPr>
            <p:cNvPr id="195" name="组合 194"/>
            <p:cNvGrpSpPr/>
            <p:nvPr/>
          </p:nvGrpSpPr>
          <p:grpSpPr>
            <a:xfrm>
              <a:off x="8921" y="13468"/>
              <a:ext cx="2073" cy="246"/>
              <a:chOff x="8921" y="13468"/>
              <a:chExt cx="2073" cy="246"/>
            </a:xfrm>
          </p:grpSpPr>
          <p:sp>
            <p:nvSpPr>
              <p:cNvPr id="172" name="文本框 171"/>
              <p:cNvSpPr txBox="1"/>
              <p:nvPr/>
            </p:nvSpPr>
            <p:spPr>
              <a:xfrm>
                <a:off x="9172" y="13468"/>
                <a:ext cx="1822" cy="24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lvl="0" algn="l">
                  <a:buClrTx/>
                  <a:buSzTx/>
                  <a:buFontTx/>
                </a:pPr>
                <a:r>
                  <a:rPr lang="en-US" altLang="zh-CN" sz="1015">
                    <a:sym typeface="+mn-ea"/>
                  </a:rPr>
                  <a:t>Latin America, 2016</a:t>
                </a:r>
                <a:endParaRPr lang="en-US" altLang="zh-CN" sz="1015">
                  <a:sym typeface="+mn-ea"/>
                </a:endParaRPr>
              </a:p>
            </p:txBody>
          </p:sp>
          <p:sp>
            <p:nvSpPr>
              <p:cNvPr id="173" name="椭圆 172"/>
              <p:cNvSpPr/>
              <p:nvPr/>
            </p:nvSpPr>
            <p:spPr>
              <a:xfrm>
                <a:off x="8921" y="13510"/>
                <a:ext cx="163" cy="162"/>
              </a:xfrm>
              <a:prstGeom prst="ellipse">
                <a:avLst/>
              </a:prstGeom>
              <a:noFill/>
              <a:ln>
                <a:solidFill>
                  <a:srgbClr val="47A2DE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</p:grpSp>
        <p:grpSp>
          <p:nvGrpSpPr>
            <p:cNvPr id="196" name="组合 195"/>
            <p:cNvGrpSpPr/>
            <p:nvPr/>
          </p:nvGrpSpPr>
          <p:grpSpPr>
            <a:xfrm>
              <a:off x="8921" y="13778"/>
              <a:ext cx="2073" cy="246"/>
              <a:chOff x="8921" y="13778"/>
              <a:chExt cx="2073" cy="246"/>
            </a:xfrm>
          </p:grpSpPr>
          <p:sp>
            <p:nvSpPr>
              <p:cNvPr id="174" name="椭圆 173"/>
              <p:cNvSpPr/>
              <p:nvPr/>
            </p:nvSpPr>
            <p:spPr>
              <a:xfrm>
                <a:off x="8921" y="13820"/>
                <a:ext cx="163" cy="162"/>
              </a:xfrm>
              <a:prstGeom prst="ellipse">
                <a:avLst/>
              </a:prstGeom>
              <a:solidFill>
                <a:srgbClr val="47A2DE">
                  <a:alpha val="70000"/>
                </a:srgbClr>
              </a:solidFill>
              <a:ln>
                <a:solidFill>
                  <a:srgbClr val="47A2DE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175" name="文本框 174"/>
              <p:cNvSpPr txBox="1"/>
              <p:nvPr/>
            </p:nvSpPr>
            <p:spPr>
              <a:xfrm>
                <a:off x="9172" y="13778"/>
                <a:ext cx="1822" cy="24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lvl="0" algn="l">
                  <a:buClrTx/>
                  <a:buSzTx/>
                  <a:buFontTx/>
                </a:pPr>
                <a:r>
                  <a:rPr lang="en-US" altLang="zh-CN" sz="1015">
                    <a:sym typeface="+mn-ea"/>
                  </a:rPr>
                  <a:t>Latin America, 2023</a:t>
                </a:r>
                <a:endParaRPr lang="en-US" altLang="zh-CN" sz="1015">
                  <a:sym typeface="+mn-ea"/>
                </a:endParaRPr>
              </a:p>
            </p:txBody>
          </p:sp>
        </p:grpSp>
        <p:sp>
          <p:nvSpPr>
            <p:cNvPr id="177" name="椭圆 176"/>
            <p:cNvSpPr/>
            <p:nvPr/>
          </p:nvSpPr>
          <p:spPr>
            <a:xfrm>
              <a:off x="3905" y="13510"/>
              <a:ext cx="163" cy="162"/>
            </a:xfrm>
            <a:prstGeom prst="ellipse">
              <a:avLst/>
            </a:prstGeom>
            <a:noFill/>
            <a:ln>
              <a:solidFill>
                <a:srgbClr val="E85748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125">
                <a:solidFill>
                  <a:srgbClr val="9467BD"/>
                </a:solidFill>
              </a:endParaRPr>
            </a:p>
          </p:txBody>
        </p:sp>
        <p:grpSp>
          <p:nvGrpSpPr>
            <p:cNvPr id="190" name="组合 189"/>
            <p:cNvGrpSpPr/>
            <p:nvPr/>
          </p:nvGrpSpPr>
          <p:grpSpPr>
            <a:xfrm>
              <a:off x="3905" y="13778"/>
              <a:ext cx="1336" cy="246"/>
              <a:chOff x="3905" y="13786"/>
              <a:chExt cx="1336" cy="246"/>
            </a:xfrm>
          </p:grpSpPr>
          <p:sp>
            <p:nvSpPr>
              <p:cNvPr id="178" name="椭圆 177"/>
              <p:cNvSpPr/>
              <p:nvPr/>
            </p:nvSpPr>
            <p:spPr>
              <a:xfrm>
                <a:off x="3905" y="13828"/>
                <a:ext cx="163" cy="162"/>
              </a:xfrm>
              <a:prstGeom prst="ellipse">
                <a:avLst/>
              </a:prstGeom>
              <a:solidFill>
                <a:srgbClr val="E85748">
                  <a:alpha val="70000"/>
                </a:srgbClr>
              </a:solidFill>
              <a:ln>
                <a:solidFill>
                  <a:srgbClr val="E85748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179" name="文本框 178"/>
              <p:cNvSpPr txBox="1"/>
              <p:nvPr/>
            </p:nvSpPr>
            <p:spPr>
              <a:xfrm>
                <a:off x="4149" y="13786"/>
                <a:ext cx="1093" cy="24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altLang="zh-CN" sz="1015"/>
                  <a:t>Africa, 2023</a:t>
                </a:r>
                <a:endParaRPr lang="en-US" altLang="zh-CN" sz="1015"/>
              </a:p>
            </p:txBody>
          </p:sp>
        </p:grpSp>
        <p:grpSp>
          <p:nvGrpSpPr>
            <p:cNvPr id="191" name="组合 190"/>
            <p:cNvGrpSpPr/>
            <p:nvPr/>
          </p:nvGrpSpPr>
          <p:grpSpPr>
            <a:xfrm>
              <a:off x="5650" y="13468"/>
              <a:ext cx="2918" cy="246"/>
              <a:chOff x="5650" y="13468"/>
              <a:chExt cx="2918" cy="246"/>
            </a:xfrm>
          </p:grpSpPr>
          <p:sp>
            <p:nvSpPr>
              <p:cNvPr id="180" name="文本框 179"/>
              <p:cNvSpPr txBox="1"/>
              <p:nvPr/>
            </p:nvSpPr>
            <p:spPr>
              <a:xfrm>
                <a:off x="5884" y="13468"/>
                <a:ext cx="2684" cy="24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lvl="0" algn="l">
                  <a:buClrTx/>
                  <a:buSzTx/>
                  <a:buFontTx/>
                </a:pPr>
                <a:r>
                  <a:rPr lang="en-US" altLang="zh-CN" sz="1015">
                    <a:sym typeface="+mn-ea"/>
                  </a:rPr>
                  <a:t>South&amp;Southeast Asia, 2016</a:t>
                </a:r>
                <a:endParaRPr lang="en-US" altLang="zh-CN" sz="1015">
                  <a:sym typeface="+mn-ea"/>
                </a:endParaRPr>
              </a:p>
            </p:txBody>
          </p:sp>
          <p:sp>
            <p:nvSpPr>
              <p:cNvPr id="181" name="椭圆 180"/>
              <p:cNvSpPr/>
              <p:nvPr/>
            </p:nvSpPr>
            <p:spPr>
              <a:xfrm>
                <a:off x="5650" y="13510"/>
                <a:ext cx="163" cy="162"/>
              </a:xfrm>
              <a:prstGeom prst="ellipse">
                <a:avLst/>
              </a:prstGeom>
              <a:noFill/>
              <a:ln>
                <a:solidFill>
                  <a:srgbClr val="F39F1B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</p:grpSp>
        <p:grpSp>
          <p:nvGrpSpPr>
            <p:cNvPr id="193" name="组合 192"/>
            <p:cNvGrpSpPr/>
            <p:nvPr/>
          </p:nvGrpSpPr>
          <p:grpSpPr>
            <a:xfrm>
              <a:off x="5650" y="13778"/>
              <a:ext cx="2918" cy="246"/>
              <a:chOff x="5650" y="13778"/>
              <a:chExt cx="2918" cy="246"/>
            </a:xfrm>
          </p:grpSpPr>
          <p:sp>
            <p:nvSpPr>
              <p:cNvPr id="182" name="椭圆 181"/>
              <p:cNvSpPr/>
              <p:nvPr/>
            </p:nvSpPr>
            <p:spPr>
              <a:xfrm>
                <a:off x="5650" y="13820"/>
                <a:ext cx="163" cy="162"/>
              </a:xfrm>
              <a:prstGeom prst="ellipse">
                <a:avLst/>
              </a:prstGeom>
              <a:solidFill>
                <a:srgbClr val="F39F1B">
                  <a:alpha val="70000"/>
                </a:srgbClr>
              </a:solidFill>
              <a:ln>
                <a:solidFill>
                  <a:srgbClr val="F39F1B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183" name="文本框 182"/>
              <p:cNvSpPr txBox="1"/>
              <p:nvPr/>
            </p:nvSpPr>
            <p:spPr>
              <a:xfrm>
                <a:off x="5884" y="13778"/>
                <a:ext cx="2684" cy="24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lvl="0" algn="l">
                  <a:buClrTx/>
                  <a:buSzTx/>
                  <a:buFontTx/>
                </a:pPr>
                <a:r>
                  <a:rPr lang="en-US" altLang="zh-CN" sz="1015">
                    <a:sym typeface="+mn-ea"/>
                  </a:rPr>
                  <a:t>South&amp;Southeast Asia, 2023</a:t>
                </a:r>
                <a:endParaRPr lang="en-US" altLang="zh-CN" sz="1015">
                  <a:sym typeface="+mn-ea"/>
                </a:endParaRPr>
              </a:p>
            </p:txBody>
          </p:sp>
        </p:grpSp>
        <p:grpSp>
          <p:nvGrpSpPr>
            <p:cNvPr id="194" name="组合 193"/>
            <p:cNvGrpSpPr/>
            <p:nvPr/>
          </p:nvGrpSpPr>
          <p:grpSpPr>
            <a:xfrm>
              <a:off x="3905" y="13468"/>
              <a:ext cx="1336" cy="246"/>
              <a:chOff x="3905" y="13468"/>
              <a:chExt cx="1336" cy="246"/>
            </a:xfrm>
          </p:grpSpPr>
          <p:sp>
            <p:nvSpPr>
              <p:cNvPr id="176" name="文本框 175"/>
              <p:cNvSpPr txBox="1"/>
              <p:nvPr/>
            </p:nvSpPr>
            <p:spPr>
              <a:xfrm>
                <a:off x="4149" y="13468"/>
                <a:ext cx="1093" cy="24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altLang="zh-CN" sz="1015"/>
                  <a:t>Africa, 2016</a:t>
                </a:r>
                <a:endParaRPr lang="en-US" altLang="zh-CN" sz="1015"/>
              </a:p>
            </p:txBody>
          </p:sp>
          <p:sp>
            <p:nvSpPr>
              <p:cNvPr id="188" name="椭圆 187"/>
              <p:cNvSpPr/>
              <p:nvPr/>
            </p:nvSpPr>
            <p:spPr>
              <a:xfrm>
                <a:off x="3905" y="13510"/>
                <a:ext cx="163" cy="162"/>
              </a:xfrm>
              <a:prstGeom prst="ellipse">
                <a:avLst/>
              </a:prstGeom>
              <a:noFill/>
              <a:ln>
                <a:solidFill>
                  <a:srgbClr val="E85748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>
                  <a:solidFill>
                    <a:srgbClr val="9467BD"/>
                  </a:solidFill>
                </a:endParaRPr>
              </a:p>
            </p:txBody>
          </p:sp>
        </p:grp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2205" y="8985250"/>
            <a:ext cx="1471295" cy="724535"/>
          </a:xfrm>
          <a:prstGeom prst="rect">
            <a:avLst/>
          </a:prstGeom>
        </p:spPr>
      </p:pic>
      <p:pic>
        <p:nvPicPr>
          <p:cNvPr id="33" name="图片 3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750" y="7903845"/>
            <a:ext cx="1419860" cy="699135"/>
          </a:xfrm>
          <a:prstGeom prst="rect">
            <a:avLst/>
          </a:prstGeom>
        </p:spPr>
      </p:pic>
      <p:grpSp>
        <p:nvGrpSpPr>
          <p:cNvPr id="120" name="组合 119"/>
          <p:cNvGrpSpPr/>
          <p:nvPr/>
        </p:nvGrpSpPr>
        <p:grpSpPr>
          <a:xfrm>
            <a:off x="3049270" y="2152015"/>
            <a:ext cx="8300720" cy="4268470"/>
            <a:chOff x="4802" y="3389"/>
            <a:chExt cx="13072" cy="6722"/>
          </a:xfrm>
        </p:grpSpPr>
        <p:sp>
          <p:nvSpPr>
            <p:cNvPr id="73" name="矩形 72"/>
            <p:cNvSpPr/>
            <p:nvPr/>
          </p:nvSpPr>
          <p:spPr>
            <a:xfrm>
              <a:off x="4802" y="3389"/>
              <a:ext cx="13072" cy="672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pic>
          <p:nvPicPr>
            <p:cNvPr id="8" name="图片 7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108" y="4215"/>
              <a:ext cx="6415" cy="4917"/>
            </a:xfrm>
            <a:prstGeom prst="rect">
              <a:avLst/>
            </a:prstGeom>
          </p:spPr>
        </p:pic>
        <p:grpSp>
          <p:nvGrpSpPr>
            <p:cNvPr id="37" name="组合 36"/>
            <p:cNvGrpSpPr/>
            <p:nvPr/>
          </p:nvGrpSpPr>
          <p:grpSpPr>
            <a:xfrm rot="0">
              <a:off x="5680" y="9013"/>
              <a:ext cx="5625" cy="769"/>
              <a:chOff x="5468" y="13333"/>
              <a:chExt cx="5625" cy="769"/>
            </a:xfrm>
          </p:grpSpPr>
          <p:sp>
            <p:nvSpPr>
              <p:cNvPr id="14" name="矩形 13"/>
              <p:cNvSpPr/>
              <p:nvPr/>
            </p:nvSpPr>
            <p:spPr>
              <a:xfrm>
                <a:off x="5468" y="13449"/>
                <a:ext cx="415" cy="249"/>
              </a:xfrm>
              <a:prstGeom prst="rect">
                <a:avLst/>
              </a:prstGeom>
              <a:solidFill>
                <a:srgbClr val="DADAEB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15" name="文本框 14"/>
              <p:cNvSpPr txBox="1"/>
              <p:nvPr/>
            </p:nvSpPr>
            <p:spPr>
              <a:xfrm>
                <a:off x="5880" y="13358"/>
                <a:ext cx="2254" cy="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/>
                  <a:t>Uniformly open</a:t>
                </a:r>
                <a:endParaRPr lang="en-US" altLang="zh-CN" sz="1200"/>
              </a:p>
            </p:txBody>
          </p:sp>
          <p:sp>
            <p:nvSpPr>
              <p:cNvPr id="16" name="矩形 15"/>
              <p:cNvSpPr/>
              <p:nvPr/>
            </p:nvSpPr>
            <p:spPr>
              <a:xfrm>
                <a:off x="5468" y="13772"/>
                <a:ext cx="415" cy="249"/>
              </a:xfrm>
              <a:prstGeom prst="rect">
                <a:avLst/>
              </a:prstGeom>
              <a:solidFill>
                <a:srgbClr val="9E9AC8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17" name="文本框 16"/>
              <p:cNvSpPr txBox="1"/>
              <p:nvPr/>
            </p:nvSpPr>
            <p:spPr>
              <a:xfrm>
                <a:off x="5883" y="13668"/>
                <a:ext cx="2250" cy="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/>
                  <a:t>Edge constrained</a:t>
                </a:r>
                <a:endParaRPr lang="en-US" altLang="zh-CN" sz="1200"/>
              </a:p>
            </p:txBody>
          </p:sp>
          <p:sp>
            <p:nvSpPr>
              <p:cNvPr id="18" name="矩形 17"/>
              <p:cNvSpPr/>
              <p:nvPr/>
            </p:nvSpPr>
            <p:spPr>
              <a:xfrm>
                <a:off x="8020" y="13449"/>
                <a:ext cx="415" cy="249"/>
              </a:xfrm>
              <a:prstGeom prst="rect">
                <a:avLst/>
              </a:prstGeom>
              <a:solidFill>
                <a:srgbClr val="6A51A3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19" name="矩形 18"/>
              <p:cNvSpPr/>
              <p:nvPr/>
            </p:nvSpPr>
            <p:spPr>
              <a:xfrm>
                <a:off x="8020" y="13772"/>
                <a:ext cx="415" cy="249"/>
              </a:xfrm>
              <a:prstGeom prst="rect">
                <a:avLst/>
              </a:prstGeom>
              <a:solidFill>
                <a:srgbClr val="3F007D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20" name="文本框 19"/>
              <p:cNvSpPr txBox="1"/>
              <p:nvPr/>
            </p:nvSpPr>
            <p:spPr>
              <a:xfrm>
                <a:off x="8435" y="13333"/>
                <a:ext cx="2659" cy="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/>
                  <a:t>Uniformly constrianed</a:t>
                </a:r>
                <a:endParaRPr lang="en-US" altLang="zh-CN" sz="1200"/>
              </a:p>
            </p:txBody>
          </p:sp>
          <p:sp>
            <p:nvSpPr>
              <p:cNvPr id="21" name="文本框 20"/>
              <p:cNvSpPr txBox="1"/>
              <p:nvPr/>
            </p:nvSpPr>
            <p:spPr>
              <a:xfrm>
                <a:off x="8435" y="13668"/>
                <a:ext cx="2659" cy="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/>
                  <a:t>Locked</a:t>
                </a:r>
                <a:endParaRPr lang="en-US" altLang="zh-CN" sz="1200"/>
              </a:p>
            </p:txBody>
          </p:sp>
        </p:grpSp>
        <p:sp>
          <p:nvSpPr>
            <p:cNvPr id="31" name="文本框 30"/>
            <p:cNvSpPr txBox="1"/>
            <p:nvPr/>
          </p:nvSpPr>
          <p:spPr>
            <a:xfrm>
              <a:off x="5602" y="3609"/>
              <a:ext cx="5213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/>
                <a:t>(a) Horizontal Constraint Types</a:t>
              </a:r>
              <a:endParaRPr lang="en-US" altLang="zh-CN" sz="1400"/>
            </a:p>
          </p:txBody>
        </p:sp>
        <p:sp>
          <p:nvSpPr>
            <p:cNvPr id="36" name="文本框 35"/>
            <p:cNvSpPr txBox="1"/>
            <p:nvPr/>
          </p:nvSpPr>
          <p:spPr>
            <a:xfrm>
              <a:off x="11410" y="3609"/>
              <a:ext cx="6113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/>
                <a:t>(b) Horizontal Construction Types</a:t>
              </a:r>
              <a:endParaRPr lang="en-US" altLang="zh-CN" sz="1400"/>
            </a:p>
          </p:txBody>
        </p:sp>
        <p:pic>
          <p:nvPicPr>
            <p:cNvPr id="6" name="图片 5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013" y="4198"/>
              <a:ext cx="6095" cy="4840"/>
            </a:xfrm>
            <a:prstGeom prst="rect">
              <a:avLst/>
            </a:prstGeom>
          </p:spPr>
        </p:pic>
        <p:grpSp>
          <p:nvGrpSpPr>
            <p:cNvPr id="119" name="组合 118"/>
            <p:cNvGrpSpPr/>
            <p:nvPr/>
          </p:nvGrpSpPr>
          <p:grpSpPr>
            <a:xfrm>
              <a:off x="11748" y="9013"/>
              <a:ext cx="5625" cy="769"/>
              <a:chOff x="11808" y="9013"/>
              <a:chExt cx="5625" cy="769"/>
            </a:xfrm>
          </p:grpSpPr>
          <p:sp>
            <p:nvSpPr>
              <p:cNvPr id="39" name="矩形 38"/>
              <p:cNvSpPr/>
              <p:nvPr/>
            </p:nvSpPr>
            <p:spPr>
              <a:xfrm>
                <a:off x="11808" y="9129"/>
                <a:ext cx="415" cy="249"/>
              </a:xfrm>
              <a:prstGeom prst="rect">
                <a:avLst/>
              </a:prstGeom>
              <a:solidFill>
                <a:srgbClr val="C7E9C0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40" name="文本框 39"/>
              <p:cNvSpPr txBox="1"/>
              <p:nvPr/>
            </p:nvSpPr>
            <p:spPr>
              <a:xfrm>
                <a:off x="12220" y="9038"/>
                <a:ext cx="2254" cy="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>
                    <a:sym typeface="+mn-ea"/>
                  </a:rPr>
                  <a:t>Uniformly sparse</a:t>
                </a:r>
                <a:endParaRPr lang="en-US" altLang="zh-CN" sz="1200"/>
              </a:p>
            </p:txBody>
          </p:sp>
          <p:sp>
            <p:nvSpPr>
              <p:cNvPr id="41" name="矩形 40"/>
              <p:cNvSpPr/>
              <p:nvPr/>
            </p:nvSpPr>
            <p:spPr>
              <a:xfrm>
                <a:off x="11808" y="9452"/>
                <a:ext cx="415" cy="249"/>
              </a:xfrm>
              <a:prstGeom prst="rect">
                <a:avLst/>
              </a:prstGeom>
              <a:solidFill>
                <a:srgbClr val="74C476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42" name="文本框 41"/>
              <p:cNvSpPr txBox="1"/>
              <p:nvPr/>
            </p:nvSpPr>
            <p:spPr>
              <a:xfrm>
                <a:off x="12223" y="9348"/>
                <a:ext cx="2250" cy="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>
                    <a:sym typeface="+mn-ea"/>
                  </a:rPr>
                  <a:t>Thinly built</a:t>
                </a:r>
                <a:endParaRPr lang="en-US" altLang="zh-CN" sz="1200"/>
              </a:p>
            </p:txBody>
          </p:sp>
          <p:sp>
            <p:nvSpPr>
              <p:cNvPr id="43" name="矩形 42"/>
              <p:cNvSpPr/>
              <p:nvPr/>
            </p:nvSpPr>
            <p:spPr>
              <a:xfrm>
                <a:off x="14360" y="9129"/>
                <a:ext cx="415" cy="249"/>
              </a:xfrm>
              <a:prstGeom prst="rect">
                <a:avLst/>
              </a:prstGeom>
              <a:solidFill>
                <a:srgbClr val="238B45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44" name="矩形 43"/>
              <p:cNvSpPr/>
              <p:nvPr/>
            </p:nvSpPr>
            <p:spPr>
              <a:xfrm>
                <a:off x="14360" y="9452"/>
                <a:ext cx="415" cy="249"/>
              </a:xfrm>
              <a:prstGeom prst="rect">
                <a:avLst/>
              </a:prstGeom>
              <a:solidFill>
                <a:srgbClr val="00441B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45" name="文本框 44"/>
              <p:cNvSpPr txBox="1"/>
              <p:nvPr/>
            </p:nvSpPr>
            <p:spPr>
              <a:xfrm>
                <a:off x="14775" y="9013"/>
                <a:ext cx="2659" cy="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/>
                  <a:t>Uniformly dense</a:t>
                </a:r>
                <a:endParaRPr lang="en-US" altLang="zh-CN" sz="1200"/>
              </a:p>
            </p:txBody>
          </p:sp>
          <p:sp>
            <p:nvSpPr>
              <p:cNvPr id="71" name="文本框 70"/>
              <p:cNvSpPr txBox="1"/>
              <p:nvPr/>
            </p:nvSpPr>
            <p:spPr>
              <a:xfrm>
                <a:off x="14775" y="9348"/>
                <a:ext cx="2659" cy="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/>
                  <a:t>Core-dense</a:t>
                </a:r>
                <a:endParaRPr lang="en-US" altLang="zh-CN" sz="1200"/>
              </a:p>
            </p:txBody>
          </p:sp>
        </p:grpSp>
      </p:grpSp>
      <p:pic>
        <p:nvPicPr>
          <p:cNvPr id="104" name="图片 10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50060" y="9973310"/>
            <a:ext cx="947420" cy="782320"/>
          </a:xfrm>
          <a:prstGeom prst="rect">
            <a:avLst/>
          </a:prstGeom>
        </p:spPr>
      </p:pic>
      <p:grpSp>
        <p:nvGrpSpPr>
          <p:cNvPr id="121" name="组合 120"/>
          <p:cNvGrpSpPr/>
          <p:nvPr/>
        </p:nvGrpSpPr>
        <p:grpSpPr>
          <a:xfrm>
            <a:off x="4538980" y="7019925"/>
            <a:ext cx="5536565" cy="3533775"/>
            <a:chOff x="7148" y="11055"/>
            <a:chExt cx="8719" cy="5565"/>
          </a:xfrm>
        </p:grpSpPr>
        <p:sp>
          <p:nvSpPr>
            <p:cNvPr id="75" name="矩形 74"/>
            <p:cNvSpPr/>
            <p:nvPr/>
          </p:nvSpPr>
          <p:spPr>
            <a:xfrm>
              <a:off x="7148" y="11055"/>
              <a:ext cx="8719" cy="556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77" name="文本框 76"/>
            <p:cNvSpPr txBox="1"/>
            <p:nvPr/>
          </p:nvSpPr>
          <p:spPr>
            <a:xfrm>
              <a:off x="7398" y="11103"/>
              <a:ext cx="8469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 dirty="0"/>
                <a:t>Vertical Profile Types</a:t>
              </a:r>
              <a:endParaRPr lang="en-US" altLang="zh-CN" sz="1400" dirty="0"/>
            </a:p>
          </p:txBody>
        </p:sp>
        <p:grpSp>
          <p:nvGrpSpPr>
            <p:cNvPr id="113" name="组合 112"/>
            <p:cNvGrpSpPr/>
            <p:nvPr/>
          </p:nvGrpSpPr>
          <p:grpSpPr>
            <a:xfrm>
              <a:off x="14017" y="13395"/>
              <a:ext cx="1849" cy="348"/>
              <a:chOff x="14132" y="12117"/>
              <a:chExt cx="1849" cy="348"/>
            </a:xfrm>
          </p:grpSpPr>
          <p:sp>
            <p:nvSpPr>
              <p:cNvPr id="97" name="矩形 96"/>
              <p:cNvSpPr/>
              <p:nvPr/>
            </p:nvSpPr>
            <p:spPr>
              <a:xfrm>
                <a:off x="14132" y="12167"/>
                <a:ext cx="415" cy="249"/>
              </a:xfrm>
              <a:prstGeom prst="rect">
                <a:avLst/>
              </a:prstGeom>
              <a:solidFill>
                <a:srgbClr val="7F2704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99" name="文本框 98"/>
              <p:cNvSpPr txBox="1"/>
              <p:nvPr/>
            </p:nvSpPr>
            <p:spPr>
              <a:xfrm>
                <a:off x="14547" y="12117"/>
                <a:ext cx="1435" cy="34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845"/>
                  <a:t>Bowl</a:t>
                </a:r>
                <a:endParaRPr lang="en-US" altLang="zh-CN" sz="845"/>
              </a:p>
            </p:txBody>
          </p:sp>
        </p:grpSp>
        <p:grpSp>
          <p:nvGrpSpPr>
            <p:cNvPr id="114" name="组合 113"/>
            <p:cNvGrpSpPr/>
            <p:nvPr/>
          </p:nvGrpSpPr>
          <p:grpSpPr>
            <a:xfrm>
              <a:off x="14017" y="13086"/>
              <a:ext cx="1849" cy="348"/>
              <a:chOff x="14132" y="12436"/>
              <a:chExt cx="1849" cy="348"/>
            </a:xfrm>
          </p:grpSpPr>
          <p:sp>
            <p:nvSpPr>
              <p:cNvPr id="98" name="矩形 97"/>
              <p:cNvSpPr/>
              <p:nvPr/>
            </p:nvSpPr>
            <p:spPr>
              <a:xfrm>
                <a:off x="14132" y="12486"/>
                <a:ext cx="415" cy="249"/>
              </a:xfrm>
              <a:prstGeom prst="rect">
                <a:avLst/>
              </a:prstGeom>
              <a:solidFill>
                <a:srgbClr val="A63603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100" name="文本框 99"/>
              <p:cNvSpPr txBox="1"/>
              <p:nvPr/>
            </p:nvSpPr>
            <p:spPr>
              <a:xfrm>
                <a:off x="14547" y="12436"/>
                <a:ext cx="1435" cy="34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845"/>
                  <a:t>Crown</a:t>
                </a:r>
                <a:endParaRPr lang="en-US" altLang="zh-CN" sz="845"/>
              </a:p>
            </p:txBody>
          </p:sp>
        </p:grpSp>
        <p:grpSp>
          <p:nvGrpSpPr>
            <p:cNvPr id="118" name="组合 117"/>
            <p:cNvGrpSpPr/>
            <p:nvPr/>
          </p:nvGrpSpPr>
          <p:grpSpPr>
            <a:xfrm>
              <a:off x="14017" y="12159"/>
              <a:ext cx="1849" cy="348"/>
              <a:chOff x="14132" y="13393"/>
              <a:chExt cx="1849" cy="348"/>
            </a:xfrm>
          </p:grpSpPr>
          <p:sp>
            <p:nvSpPr>
              <p:cNvPr id="96" name="文本框 95"/>
              <p:cNvSpPr txBox="1"/>
              <p:nvPr/>
            </p:nvSpPr>
            <p:spPr>
              <a:xfrm>
                <a:off x="14547" y="13393"/>
                <a:ext cx="1435" cy="34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845"/>
                  <a:t>Pyramid</a:t>
                </a:r>
                <a:endParaRPr lang="en-US" altLang="zh-CN" sz="845"/>
              </a:p>
            </p:txBody>
          </p:sp>
          <p:sp>
            <p:nvSpPr>
              <p:cNvPr id="101" name="矩形 100"/>
              <p:cNvSpPr/>
              <p:nvPr/>
            </p:nvSpPr>
            <p:spPr>
              <a:xfrm>
                <a:off x="14132" y="13443"/>
                <a:ext cx="415" cy="249"/>
              </a:xfrm>
              <a:prstGeom prst="rect">
                <a:avLst/>
              </a:prstGeom>
              <a:solidFill>
                <a:srgbClr val="FEEDDE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</p:grpSp>
        <p:grpSp>
          <p:nvGrpSpPr>
            <p:cNvPr id="116" name="组合 115"/>
            <p:cNvGrpSpPr/>
            <p:nvPr/>
          </p:nvGrpSpPr>
          <p:grpSpPr>
            <a:xfrm>
              <a:off x="14017" y="12468"/>
              <a:ext cx="1849" cy="348"/>
              <a:chOff x="14132" y="13074"/>
              <a:chExt cx="1849" cy="348"/>
            </a:xfrm>
          </p:grpSpPr>
          <p:sp>
            <p:nvSpPr>
              <p:cNvPr id="95" name="矩形 94"/>
              <p:cNvSpPr/>
              <p:nvPr/>
            </p:nvSpPr>
            <p:spPr>
              <a:xfrm>
                <a:off x="14132" y="13124"/>
                <a:ext cx="415" cy="249"/>
              </a:xfrm>
              <a:prstGeom prst="rect">
                <a:avLst/>
              </a:prstGeom>
              <a:solidFill>
                <a:srgbClr val="FDAE6B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102" name="文本框 101"/>
              <p:cNvSpPr txBox="1"/>
              <p:nvPr/>
            </p:nvSpPr>
            <p:spPr>
              <a:xfrm>
                <a:off x="14547" y="13074"/>
                <a:ext cx="1435" cy="34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845"/>
                  <a:t>Volcanic Cone</a:t>
                </a:r>
                <a:endParaRPr lang="en-US" altLang="zh-CN" sz="845"/>
              </a:p>
            </p:txBody>
          </p:sp>
        </p:grpSp>
        <p:grpSp>
          <p:nvGrpSpPr>
            <p:cNvPr id="115" name="组合 114"/>
            <p:cNvGrpSpPr/>
            <p:nvPr/>
          </p:nvGrpSpPr>
          <p:grpSpPr>
            <a:xfrm>
              <a:off x="14017" y="12777"/>
              <a:ext cx="1849" cy="348"/>
              <a:chOff x="14132" y="12755"/>
              <a:chExt cx="1849" cy="348"/>
            </a:xfrm>
          </p:grpSpPr>
          <p:sp>
            <p:nvSpPr>
              <p:cNvPr id="109" name="矩形 108"/>
              <p:cNvSpPr/>
              <p:nvPr/>
            </p:nvSpPr>
            <p:spPr>
              <a:xfrm>
                <a:off x="14132" y="12805"/>
                <a:ext cx="415" cy="249"/>
              </a:xfrm>
              <a:prstGeom prst="rect">
                <a:avLst/>
              </a:prstGeom>
              <a:solidFill>
                <a:srgbClr val="E6550D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110" name="文本框 109"/>
              <p:cNvSpPr txBox="1"/>
              <p:nvPr/>
            </p:nvSpPr>
            <p:spPr>
              <a:xfrm>
                <a:off x="14547" y="12755"/>
                <a:ext cx="1435" cy="34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845"/>
                  <a:t>Pancake</a:t>
                </a:r>
                <a:endParaRPr lang="en-US" altLang="zh-CN" sz="845"/>
              </a:p>
            </p:txBody>
          </p:sp>
        </p:grpSp>
        <p:pic>
          <p:nvPicPr>
            <p:cNvPr id="112" name="图片 111"/>
            <p:cNvPicPr>
              <a:picLocks noChangeAspect="1"/>
            </p:cNvPicPr>
            <p:nvPr/>
          </p:nvPicPr>
          <p:blipFill>
            <a:blip r:embed="rId6"/>
            <a:srcRect b="2438"/>
            <a:stretch>
              <a:fillRect/>
            </a:stretch>
          </p:blipFill>
          <p:spPr>
            <a:xfrm>
              <a:off x="7399" y="11574"/>
              <a:ext cx="6557" cy="4923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矩形 56"/>
          <p:cNvSpPr/>
          <p:nvPr/>
        </p:nvSpPr>
        <p:spPr>
          <a:xfrm>
            <a:off x="1589405" y="6532880"/>
            <a:ext cx="10842625" cy="49618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15"/>
          </a:p>
        </p:txBody>
      </p:sp>
      <p:grpSp>
        <p:nvGrpSpPr>
          <p:cNvPr id="30" name="组合 29"/>
          <p:cNvGrpSpPr/>
          <p:nvPr/>
        </p:nvGrpSpPr>
        <p:grpSpPr>
          <a:xfrm>
            <a:off x="393723" y="2560853"/>
            <a:ext cx="8100059" cy="3899130"/>
            <a:chOff x="0" y="865"/>
            <a:chExt cx="22677" cy="10916"/>
          </a:xfrm>
        </p:grpSpPr>
        <p:sp>
          <p:nvSpPr>
            <p:cNvPr id="66" name="矩形 65"/>
            <p:cNvSpPr/>
            <p:nvPr/>
          </p:nvSpPr>
          <p:spPr>
            <a:xfrm>
              <a:off x="0" y="865"/>
              <a:ext cx="22677" cy="1080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pic>
          <p:nvPicPr>
            <p:cNvPr id="4" name="图片 3"/>
            <p:cNvPicPr/>
            <p:nvPr/>
          </p:nvPicPr>
          <p:blipFill>
            <a:blip r:embed="rId1"/>
            <a:stretch>
              <a:fillRect/>
            </a:stretch>
          </p:blipFill>
          <p:spPr>
            <a:xfrm>
              <a:off x="314" y="2846"/>
              <a:ext cx="21426" cy="7022"/>
            </a:xfrm>
            <a:prstGeom prst="rect">
              <a:avLst/>
            </a:prstGeom>
          </p:spPr>
        </p:pic>
        <p:sp>
          <p:nvSpPr>
            <p:cNvPr id="8" name="矩形 7"/>
            <p:cNvSpPr/>
            <p:nvPr/>
          </p:nvSpPr>
          <p:spPr>
            <a:xfrm rot="5400000">
              <a:off x="11231" y="-696"/>
              <a:ext cx="614" cy="2058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125"/>
            </a:p>
          </p:txBody>
        </p:sp>
        <p:sp>
          <p:nvSpPr>
            <p:cNvPr id="7" name="矩形 6"/>
            <p:cNvSpPr/>
            <p:nvPr/>
          </p:nvSpPr>
          <p:spPr>
            <a:xfrm>
              <a:off x="181" y="2595"/>
              <a:ext cx="923" cy="730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125"/>
            </a:p>
          </p:txBody>
        </p:sp>
        <p:sp>
          <p:nvSpPr>
            <p:cNvPr id="5" name="矩形 4"/>
            <p:cNvSpPr/>
            <p:nvPr/>
          </p:nvSpPr>
          <p:spPr>
            <a:xfrm>
              <a:off x="7428" y="2414"/>
              <a:ext cx="923" cy="730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125"/>
            </a:p>
          </p:txBody>
        </p:sp>
        <p:sp>
          <p:nvSpPr>
            <p:cNvPr id="6" name="矩形 5"/>
            <p:cNvSpPr/>
            <p:nvPr/>
          </p:nvSpPr>
          <p:spPr>
            <a:xfrm>
              <a:off x="14693" y="2559"/>
              <a:ext cx="923" cy="730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125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6" name="文本框 35"/>
                <p:cNvSpPr txBox="1"/>
                <p:nvPr/>
              </p:nvSpPr>
              <p:spPr>
                <a:xfrm>
                  <a:off x="4785" y="1036"/>
                  <a:ext cx="12486" cy="160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575">
                      <a:latin typeface="Arial" panose="020B0604020202020204" pitchFamily="34" charset="0"/>
                      <a:cs typeface="Arial" panose="020B0604020202020204" pitchFamily="34" charset="0"/>
                    </a:rPr>
                    <a:t>Vertical - Height</a:t>
                  </a:r>
                  <a:endParaRPr lang="en-US" altLang="zh-CN" sz="1575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𝐴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𝑒𝑥𝑝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𝐵𝑟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altLang="zh-CN" sz="1575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1575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zh-CN" sz="1575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1575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575" i="1">
                    <a:latin typeface="Cambria Math" panose="02040503050406030204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36" name="文本框 3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85" y="1036"/>
                  <a:ext cx="12486" cy="1600"/>
                </a:xfrm>
                <a:prstGeom prst="rect">
                  <a:avLst/>
                </a:prstGeom>
                <a:blipFill rotWithShape="1">
                  <a:blip r:embed="rId2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文本框 36"/>
            <p:cNvSpPr txBox="1"/>
            <p:nvPr/>
          </p:nvSpPr>
          <p:spPr>
            <a:xfrm>
              <a:off x="3615" y="9308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125"/>
                <a:t>10</a:t>
              </a:r>
              <a:endParaRPr lang="en-US" altLang="zh-CN" sz="1125"/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189" y="7990"/>
              <a:ext cx="84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-0.4</a:t>
              </a:r>
              <a:endParaRPr lang="en-US" altLang="zh-CN" sz="1125"/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1548" y="9308"/>
              <a:ext cx="61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5</a:t>
              </a:r>
              <a:endParaRPr lang="en-US" altLang="zh-CN" sz="1125"/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6507" y="9353"/>
              <a:ext cx="1315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en-US" altLang="zh-CN" sz="135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473" y="2559"/>
              <a:ext cx="61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  <a:endParaRPr lang="en-US" altLang="zh-CN" sz="135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5589" y="9308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125"/>
                <a:t>15</a:t>
              </a:r>
              <a:endParaRPr lang="en-US" altLang="zh-CN" sz="1125"/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501" y="3840"/>
              <a:ext cx="530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</a:t>
              </a:r>
              <a:endParaRPr lang="en-US" altLang="zh-CN" sz="1125"/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204" y="5906"/>
              <a:ext cx="82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-0.2</a:t>
              </a:r>
              <a:endParaRPr lang="en-US" altLang="zh-CN" sz="1125"/>
            </a:p>
          </p:txBody>
        </p:sp>
        <p:sp>
          <p:nvSpPr>
            <p:cNvPr id="13" name="文本框 12"/>
            <p:cNvSpPr txBox="1"/>
            <p:nvPr/>
          </p:nvSpPr>
          <p:spPr>
            <a:xfrm>
              <a:off x="11011" y="9353"/>
              <a:ext cx="792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125"/>
                <a:t>-0.2</a:t>
              </a:r>
              <a:endParaRPr lang="en-US" altLang="zh-CN" sz="1125"/>
            </a:p>
          </p:txBody>
        </p:sp>
        <p:sp>
          <p:nvSpPr>
            <p:cNvPr id="14" name="文本框 13"/>
            <p:cNvSpPr txBox="1"/>
            <p:nvPr/>
          </p:nvSpPr>
          <p:spPr>
            <a:xfrm>
              <a:off x="7207" y="8775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-0.02</a:t>
              </a:r>
              <a:endParaRPr lang="en-US" altLang="zh-CN" sz="1125"/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8934" y="9353"/>
              <a:ext cx="84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-0.4</a:t>
              </a:r>
              <a:endParaRPr lang="en-US" altLang="zh-CN" sz="1125"/>
            </a:p>
          </p:txBody>
        </p:sp>
        <p:sp>
          <p:nvSpPr>
            <p:cNvPr id="16" name="文本框 15"/>
            <p:cNvSpPr txBox="1"/>
            <p:nvPr/>
          </p:nvSpPr>
          <p:spPr>
            <a:xfrm>
              <a:off x="13786" y="9353"/>
              <a:ext cx="1315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  <a:endParaRPr lang="en-US" altLang="zh-CN" sz="135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17" name="文本框 16"/>
            <p:cNvSpPr txBox="1"/>
            <p:nvPr/>
          </p:nvSpPr>
          <p:spPr>
            <a:xfrm>
              <a:off x="8003" y="2467"/>
              <a:ext cx="61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  <a:endParaRPr lang="en-US" altLang="zh-CN" sz="135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8" name="文本框 17"/>
            <p:cNvSpPr txBox="1"/>
            <p:nvPr/>
          </p:nvSpPr>
          <p:spPr>
            <a:xfrm>
              <a:off x="13294" y="9353"/>
              <a:ext cx="265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125"/>
                <a:t>0</a:t>
              </a:r>
              <a:endParaRPr lang="en-US" altLang="zh-CN" sz="1125"/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7207" y="7309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</a:t>
              </a:r>
              <a:endParaRPr lang="en-US" altLang="zh-CN" sz="1125"/>
            </a:p>
          </p:txBody>
        </p:sp>
        <p:sp>
          <p:nvSpPr>
            <p:cNvPr id="23" name="文本框 22"/>
            <p:cNvSpPr txBox="1"/>
            <p:nvPr/>
          </p:nvSpPr>
          <p:spPr>
            <a:xfrm>
              <a:off x="7207" y="5856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0.02</a:t>
              </a:r>
              <a:endParaRPr lang="en-US" altLang="zh-CN" sz="1125"/>
            </a:p>
          </p:txBody>
        </p:sp>
        <p:sp>
          <p:nvSpPr>
            <p:cNvPr id="24" name="文本框 23"/>
            <p:cNvSpPr txBox="1"/>
            <p:nvPr/>
          </p:nvSpPr>
          <p:spPr>
            <a:xfrm>
              <a:off x="7207" y="4315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0.04</a:t>
              </a:r>
              <a:endParaRPr lang="en-US" altLang="zh-CN" sz="1125"/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7207" y="2893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0.06</a:t>
              </a:r>
              <a:endParaRPr lang="en-US" altLang="zh-CN" sz="1125"/>
            </a:p>
          </p:txBody>
        </p:sp>
        <p:sp>
          <p:nvSpPr>
            <p:cNvPr id="26" name="文本框 25"/>
            <p:cNvSpPr txBox="1"/>
            <p:nvPr/>
          </p:nvSpPr>
          <p:spPr>
            <a:xfrm>
              <a:off x="18125" y="9369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125"/>
                <a:t>10</a:t>
              </a:r>
              <a:endParaRPr lang="en-US" altLang="zh-CN" sz="1125"/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16058" y="9369"/>
              <a:ext cx="61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5</a:t>
              </a:r>
              <a:endParaRPr lang="en-US" altLang="zh-CN" sz="1125"/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20607" y="9353"/>
              <a:ext cx="1315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en-US" altLang="zh-CN" sz="135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20099" y="9369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125"/>
                <a:t>15</a:t>
              </a:r>
              <a:endParaRPr lang="en-US" altLang="zh-CN" sz="1125"/>
            </a:p>
          </p:txBody>
        </p:sp>
        <p:sp>
          <p:nvSpPr>
            <p:cNvPr id="2" name="文本框 1"/>
            <p:cNvSpPr txBox="1"/>
            <p:nvPr/>
          </p:nvSpPr>
          <p:spPr>
            <a:xfrm>
              <a:off x="14496" y="8775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-0.02</a:t>
              </a:r>
              <a:endParaRPr lang="en-US" altLang="zh-CN" sz="1125"/>
            </a:p>
          </p:txBody>
        </p:sp>
        <p:sp>
          <p:nvSpPr>
            <p:cNvPr id="3" name="文本框 2"/>
            <p:cNvSpPr txBox="1"/>
            <p:nvPr/>
          </p:nvSpPr>
          <p:spPr>
            <a:xfrm>
              <a:off x="15292" y="2467"/>
              <a:ext cx="61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  <a:endParaRPr lang="en-US" altLang="zh-CN" sz="135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" name="文本框 18"/>
            <p:cNvSpPr txBox="1"/>
            <p:nvPr/>
          </p:nvSpPr>
          <p:spPr>
            <a:xfrm>
              <a:off x="14496" y="7309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</a:t>
              </a:r>
              <a:endParaRPr lang="en-US" altLang="zh-CN" sz="1125"/>
            </a:p>
          </p:txBody>
        </p:sp>
        <p:sp>
          <p:nvSpPr>
            <p:cNvPr id="20" name="文本框 19"/>
            <p:cNvSpPr txBox="1"/>
            <p:nvPr/>
          </p:nvSpPr>
          <p:spPr>
            <a:xfrm>
              <a:off x="14496" y="5856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0.02</a:t>
              </a:r>
              <a:endParaRPr lang="en-US" altLang="zh-CN" sz="1125"/>
            </a:p>
          </p:txBody>
        </p:sp>
        <p:sp>
          <p:nvSpPr>
            <p:cNvPr id="22" name="文本框 21"/>
            <p:cNvSpPr txBox="1"/>
            <p:nvPr/>
          </p:nvSpPr>
          <p:spPr>
            <a:xfrm>
              <a:off x="14496" y="4315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0.04</a:t>
              </a:r>
              <a:endParaRPr lang="en-US" altLang="zh-CN" sz="1125"/>
            </a:p>
          </p:txBody>
        </p:sp>
        <p:sp>
          <p:nvSpPr>
            <p:cNvPr id="31" name="文本框 30"/>
            <p:cNvSpPr txBox="1"/>
            <p:nvPr/>
          </p:nvSpPr>
          <p:spPr>
            <a:xfrm>
              <a:off x="14496" y="2893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0.06</a:t>
              </a:r>
              <a:endParaRPr lang="en-US" altLang="zh-CN" sz="1125"/>
            </a:p>
          </p:txBody>
        </p:sp>
        <p:grpSp>
          <p:nvGrpSpPr>
            <p:cNvPr id="82" name="组合 81"/>
            <p:cNvGrpSpPr/>
            <p:nvPr/>
          </p:nvGrpSpPr>
          <p:grpSpPr>
            <a:xfrm>
              <a:off x="3058" y="10523"/>
              <a:ext cx="17548" cy="1258"/>
              <a:chOff x="3914" y="9142"/>
              <a:chExt cx="15555" cy="1115"/>
            </a:xfrm>
          </p:grpSpPr>
          <p:sp>
            <p:nvSpPr>
              <p:cNvPr id="33" name="文本框 32"/>
              <p:cNvSpPr txBox="1"/>
              <p:nvPr/>
            </p:nvSpPr>
            <p:spPr>
              <a:xfrm>
                <a:off x="14959" y="9142"/>
                <a:ext cx="4510" cy="6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Latin America, 2016</a:t>
                </a:r>
                <a:endParaRPr lang="en-US" altLang="zh-CN" sz="1015"/>
              </a:p>
            </p:txBody>
          </p:sp>
          <p:sp>
            <p:nvSpPr>
              <p:cNvPr id="34" name="椭圆 33"/>
              <p:cNvSpPr/>
              <p:nvPr/>
            </p:nvSpPr>
            <p:spPr>
              <a:xfrm>
                <a:off x="14589" y="9256"/>
                <a:ext cx="257" cy="255"/>
              </a:xfrm>
              <a:prstGeom prst="ellipse">
                <a:avLst/>
              </a:prstGeom>
              <a:solidFill>
                <a:srgbClr val="47A2DE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35" name="椭圆 34"/>
              <p:cNvSpPr/>
              <p:nvPr/>
            </p:nvSpPr>
            <p:spPr>
              <a:xfrm>
                <a:off x="14589" y="9719"/>
                <a:ext cx="257" cy="255"/>
              </a:xfrm>
              <a:prstGeom prst="ellipse">
                <a:avLst/>
              </a:prstGeom>
              <a:solidFill>
                <a:srgbClr val="47A2DE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4959" y="9634"/>
                <a:ext cx="4510" cy="6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Latin America, 2023</a:t>
                </a:r>
                <a:endParaRPr lang="en-US" altLang="zh-CN" sz="1015"/>
              </a:p>
            </p:txBody>
          </p:sp>
          <p:sp>
            <p:nvSpPr>
              <p:cNvPr id="40" name="文本框 39"/>
              <p:cNvSpPr txBox="1"/>
              <p:nvPr/>
            </p:nvSpPr>
            <p:spPr>
              <a:xfrm>
                <a:off x="4299" y="9142"/>
                <a:ext cx="3227" cy="6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Africa, 2016</a:t>
                </a:r>
                <a:endParaRPr lang="en-US" altLang="zh-CN" sz="1015"/>
              </a:p>
            </p:txBody>
          </p:sp>
          <p:sp>
            <p:nvSpPr>
              <p:cNvPr id="43" name="椭圆 42"/>
              <p:cNvSpPr/>
              <p:nvPr/>
            </p:nvSpPr>
            <p:spPr>
              <a:xfrm>
                <a:off x="3914" y="9256"/>
                <a:ext cx="257" cy="255"/>
              </a:xfrm>
              <a:prstGeom prst="ellipse">
                <a:avLst/>
              </a:prstGeom>
              <a:solidFill>
                <a:srgbClr val="E85748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>
                  <a:solidFill>
                    <a:srgbClr val="9467BD"/>
                  </a:solidFill>
                </a:endParaRPr>
              </a:p>
            </p:txBody>
          </p:sp>
          <p:sp>
            <p:nvSpPr>
              <p:cNvPr id="44" name="椭圆 43"/>
              <p:cNvSpPr/>
              <p:nvPr/>
            </p:nvSpPr>
            <p:spPr>
              <a:xfrm>
                <a:off x="3914" y="9719"/>
                <a:ext cx="257" cy="255"/>
              </a:xfrm>
              <a:prstGeom prst="ellipse">
                <a:avLst/>
              </a:prstGeom>
              <a:solidFill>
                <a:srgbClr val="E85748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45" name="文本框 44"/>
              <p:cNvSpPr txBox="1"/>
              <p:nvPr/>
            </p:nvSpPr>
            <p:spPr>
              <a:xfrm>
                <a:off x="4299" y="9642"/>
                <a:ext cx="3227" cy="6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Africa, 2023</a:t>
                </a:r>
                <a:endParaRPr lang="en-US" altLang="zh-CN" sz="1015"/>
              </a:p>
            </p:txBody>
          </p:sp>
          <p:sp>
            <p:nvSpPr>
              <p:cNvPr id="46" name="文本框 45"/>
              <p:cNvSpPr txBox="1"/>
              <p:nvPr/>
            </p:nvSpPr>
            <p:spPr>
              <a:xfrm>
                <a:off x="8533" y="9142"/>
                <a:ext cx="5404" cy="6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South&amp;South-east Asia, 2016</a:t>
                </a:r>
                <a:endParaRPr lang="en-US" altLang="zh-CN" sz="1015"/>
              </a:p>
            </p:txBody>
          </p:sp>
          <p:sp>
            <p:nvSpPr>
              <p:cNvPr id="47" name="椭圆 46"/>
              <p:cNvSpPr/>
              <p:nvPr/>
            </p:nvSpPr>
            <p:spPr>
              <a:xfrm>
                <a:off x="8125" y="9256"/>
                <a:ext cx="257" cy="255"/>
              </a:xfrm>
              <a:prstGeom prst="ellipse">
                <a:avLst/>
              </a:prstGeom>
              <a:solidFill>
                <a:srgbClr val="F39F1B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48" name="椭圆 47"/>
              <p:cNvSpPr/>
              <p:nvPr/>
            </p:nvSpPr>
            <p:spPr>
              <a:xfrm>
                <a:off x="8125" y="9719"/>
                <a:ext cx="257" cy="255"/>
              </a:xfrm>
              <a:prstGeom prst="ellipse">
                <a:avLst/>
              </a:prstGeom>
              <a:solidFill>
                <a:srgbClr val="F39F1B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49" name="文本框 48"/>
              <p:cNvSpPr txBox="1"/>
              <p:nvPr/>
            </p:nvSpPr>
            <p:spPr>
              <a:xfrm>
                <a:off x="8533" y="9629"/>
                <a:ext cx="5697" cy="6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>
                    <a:sym typeface="+mn-ea"/>
                  </a:rPr>
                  <a:t>South&amp;South-east Asia, 2023</a:t>
                </a:r>
                <a:endParaRPr lang="en-US" altLang="zh-CN" sz="1015">
                  <a:sym typeface="+mn-ea"/>
                </a:endParaRPr>
              </a:p>
            </p:txBody>
          </p:sp>
        </p:grpSp>
        <p:cxnSp>
          <p:nvCxnSpPr>
            <p:cNvPr id="32" name="直接连接符 31"/>
            <p:cNvCxnSpPr/>
            <p:nvPr/>
          </p:nvCxnSpPr>
          <p:spPr>
            <a:xfrm>
              <a:off x="8440" y="7532"/>
              <a:ext cx="5925" cy="0"/>
            </a:xfrm>
            <a:prstGeom prst="line">
              <a:avLst/>
            </a:prstGeom>
            <a:ln w="1905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50" name="直接连接符 49"/>
            <p:cNvCxnSpPr/>
            <p:nvPr/>
          </p:nvCxnSpPr>
          <p:spPr>
            <a:xfrm flipH="1">
              <a:off x="13410" y="3068"/>
              <a:ext cx="27" cy="6191"/>
            </a:xfrm>
            <a:prstGeom prst="line">
              <a:avLst/>
            </a:prstGeom>
            <a:ln w="1905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51" name="TextBox 190"/>
            <p:cNvSpPr txBox="1"/>
            <p:nvPr/>
          </p:nvSpPr>
          <p:spPr>
            <a:xfrm>
              <a:off x="8494" y="6733"/>
              <a:ext cx="2309" cy="798"/>
            </a:xfrm>
            <a:prstGeom prst="rect">
              <a:avLst/>
            </a:prstGeom>
            <a:noFill/>
          </p:spPr>
          <p:txBody>
            <a:bodyPr wrap="square" rtlCol="0" anchor="t" anchorCtr="0">
              <a:no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79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C&gt;0, B&lt;0</a:t>
              </a:r>
              <a:endParaRPr lang="en-US" altLang="zh-CN" sz="790">
                <a:latin typeface="Arial" panose="020B0604020202020204" pitchFamily="34" charset="0"/>
                <a:ea typeface="Arial" panose="020B0604020202020204" pitchFamily="34" charset="0"/>
                <a:sym typeface="+mn-ea"/>
              </a:endParaRPr>
            </a:p>
            <a:p>
              <a:pPr lvl="0" algn="l">
                <a:buClrTx/>
                <a:buSzTx/>
                <a:buFontTx/>
              </a:pPr>
              <a:r>
                <a:rPr lang="en-US" altLang="zh-CN" sz="790">
                  <a:latin typeface="Arial" panose="020B0604020202020204" pitchFamily="34" charset="0"/>
                  <a:sym typeface="+mn-ea"/>
                </a:rPr>
                <a:t>“Crown”City</a:t>
              </a:r>
              <a:endParaRPr lang="en-US" altLang="zh-CN" sz="790">
                <a:latin typeface="Arial" panose="020B0604020202020204" pitchFamily="34" charset="0"/>
                <a:sym typeface="+mn-ea"/>
              </a:endParaRPr>
            </a:p>
          </p:txBody>
        </p:sp>
        <p:sp>
          <p:nvSpPr>
            <p:cNvPr id="5126" name="TextBox 190"/>
            <p:cNvSpPr txBox="1"/>
            <p:nvPr/>
          </p:nvSpPr>
          <p:spPr>
            <a:xfrm>
              <a:off x="8494" y="7531"/>
              <a:ext cx="2859" cy="873"/>
            </a:xfrm>
            <a:prstGeom prst="rect">
              <a:avLst/>
            </a:prstGeom>
            <a:noFill/>
          </p:spPr>
          <p:txBody>
            <a:bodyPr wrap="square" rtlCol="0" anchor="t" anchorCtr="0">
              <a:no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79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C&lt;0, B&lt;0</a:t>
              </a:r>
              <a:endParaRPr lang="en-US" altLang="zh-CN" sz="790">
                <a:latin typeface="Arial" panose="020B0604020202020204" pitchFamily="34" charset="0"/>
                <a:ea typeface="Arial" panose="020B0604020202020204" pitchFamily="34" charset="0"/>
                <a:sym typeface="+mn-ea"/>
              </a:endParaRPr>
            </a:p>
            <a:p>
              <a:pPr lvl="0" algn="l">
                <a:buClrTx/>
                <a:buSzTx/>
                <a:buFontTx/>
              </a:pPr>
              <a:r>
                <a:rPr lang="en-US" altLang="zh-CN" sz="790">
                  <a:latin typeface="Arial" panose="020B0604020202020204" pitchFamily="34" charset="0"/>
                  <a:sym typeface="+mn-ea"/>
                </a:rPr>
                <a:t>“Pyramid”City</a:t>
              </a:r>
              <a:endParaRPr lang="en-US" altLang="zh-CN" sz="790">
                <a:latin typeface="Arial" panose="020B0604020202020204" pitchFamily="34" charset="0"/>
                <a:sym typeface="+mn-ea"/>
              </a:endParaRPr>
            </a:p>
          </p:txBody>
        </p:sp>
        <p:cxnSp>
          <p:nvCxnSpPr>
            <p:cNvPr id="52" name="曲线连接符 51"/>
            <p:cNvCxnSpPr/>
            <p:nvPr/>
          </p:nvCxnSpPr>
          <p:spPr>
            <a:xfrm rot="5400000" flipV="1">
              <a:off x="13512" y="9267"/>
              <a:ext cx="958" cy="171"/>
            </a:xfrm>
            <a:prstGeom prst="curvedConnector3">
              <a:avLst>
                <a:gd name="adj1" fmla="val 50052"/>
              </a:avLst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5127" name="TextBox 191"/>
            <p:cNvSpPr txBox="1"/>
            <p:nvPr/>
          </p:nvSpPr>
          <p:spPr>
            <a:xfrm>
              <a:off x="13163" y="9839"/>
              <a:ext cx="2894" cy="813"/>
            </a:xfrm>
            <a:prstGeom prst="rect">
              <a:avLst/>
            </a:prstGeom>
            <a:noFill/>
          </p:spPr>
          <p:txBody>
            <a:bodyPr wrap="square" rtlCol="0" anchor="t" anchorCtr="0">
              <a:no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79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C&lt;0, B&gt;0</a:t>
              </a:r>
              <a:endParaRPr lang="en-US" altLang="zh-CN" sz="790">
                <a:latin typeface="Arial" panose="020B0604020202020204" pitchFamily="34" charset="0"/>
                <a:ea typeface="Arial" panose="020B0604020202020204" pitchFamily="34" charset="0"/>
                <a:sym typeface="+mn-ea"/>
              </a:endParaRPr>
            </a:p>
            <a:p>
              <a:pPr lvl="0" algn="l">
                <a:buClrTx/>
                <a:buSzTx/>
                <a:buFontTx/>
              </a:pPr>
              <a:r>
                <a:rPr lang="en-US" altLang="zh-CN" sz="79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“Volcanic Cone” City</a:t>
              </a:r>
              <a:endParaRPr lang="en-US" altLang="zh-CN" sz="790">
                <a:latin typeface="Arial" panose="020B0604020202020204" pitchFamily="34" charset="0"/>
                <a:ea typeface="Arial" panose="020B0604020202020204" pitchFamily="34" charset="0"/>
                <a:sym typeface="+mn-ea"/>
              </a:endParaRPr>
            </a:p>
          </p:txBody>
        </p:sp>
        <p:cxnSp>
          <p:nvCxnSpPr>
            <p:cNvPr id="53" name="曲线连接符 52"/>
            <p:cNvCxnSpPr/>
            <p:nvPr/>
          </p:nvCxnSpPr>
          <p:spPr>
            <a:xfrm rot="16200000">
              <a:off x="13764" y="2715"/>
              <a:ext cx="663" cy="622"/>
            </a:xfrm>
            <a:prstGeom prst="curvedConnector3">
              <a:avLst>
                <a:gd name="adj1" fmla="val 50000"/>
              </a:avLst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5163" name="TextBox 264"/>
            <p:cNvSpPr txBox="1"/>
            <p:nvPr/>
          </p:nvSpPr>
          <p:spPr>
            <a:xfrm>
              <a:off x="14044" y="1892"/>
              <a:ext cx="1805" cy="803"/>
            </a:xfrm>
            <a:prstGeom prst="rect">
              <a:avLst/>
            </a:prstGeom>
            <a:noFill/>
          </p:spPr>
          <p:txBody>
            <a:bodyPr wrap="square" rtlCol="0" anchor="t" anchorCtr="0">
              <a:no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79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C&gt;0, B&gt;0</a:t>
              </a:r>
              <a:endParaRPr lang="en-US" altLang="zh-CN" sz="790">
                <a:latin typeface="Arial" panose="020B0604020202020204" pitchFamily="34" charset="0"/>
                <a:ea typeface="Arial" panose="020B0604020202020204" pitchFamily="34" charset="0"/>
                <a:sym typeface="+mn-ea"/>
              </a:endParaRPr>
            </a:p>
            <a:p>
              <a:pPr lvl="0" algn="l">
                <a:buClrTx/>
                <a:buSzTx/>
                <a:buFontTx/>
              </a:pPr>
              <a:r>
                <a:rPr lang="en-US" altLang="zh-CN" sz="79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“Bowl” City</a:t>
              </a:r>
              <a:endParaRPr lang="en-US" altLang="zh-CN" sz="790">
                <a:latin typeface="Arial" panose="020B0604020202020204" pitchFamily="34" charset="0"/>
                <a:ea typeface="Arial" panose="020B0604020202020204" pitchFamily="34" charset="0"/>
                <a:sym typeface="+mn-ea"/>
              </a:endParaRPr>
            </a:p>
          </p:txBody>
        </p:sp>
      </p:grpSp>
      <p:pic>
        <p:nvPicPr>
          <p:cNvPr id="55" name="图片 54" descr="vertical_scatter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49890"/>
          <a:stretch>
            <a:fillRect/>
          </a:stretch>
        </p:blipFill>
        <p:spPr>
          <a:xfrm>
            <a:off x="1894205" y="7199630"/>
            <a:ext cx="4612005" cy="3619500"/>
          </a:xfrm>
          <a:prstGeom prst="rect">
            <a:avLst/>
          </a:prstGeom>
        </p:spPr>
      </p:pic>
      <p:pic>
        <p:nvPicPr>
          <p:cNvPr id="56" name="图片 55" descr="/home/liang/Documents/Research/Urban_Growth/Python_Codes/Presentations/Graphs/vertical_scatter.svgvertical_scatter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l="50134" t="35" r="-64" b="-35"/>
          <a:stretch>
            <a:fillRect/>
          </a:stretch>
        </p:blipFill>
        <p:spPr>
          <a:xfrm>
            <a:off x="7202805" y="7200900"/>
            <a:ext cx="4612005" cy="361950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8" name="文本框 57"/>
              <p:cNvSpPr txBox="1"/>
              <p:nvPr/>
            </p:nvSpPr>
            <p:spPr>
              <a:xfrm>
                <a:off x="2046605" y="6629400"/>
                <a:ext cx="4948555" cy="5715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575">
                    <a:latin typeface="Arial" panose="020B0604020202020204" pitchFamily="34" charset="0"/>
                    <a:cs typeface="Arial" panose="020B0604020202020204" pitchFamily="34" charset="0"/>
                  </a:rPr>
                  <a:t>(a) Vertical Profile: Gradient B - Curvature C</a:t>
                </a:r>
                <a:endParaRPr lang="en-US" altLang="zh-CN" sz="1575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575" i="1">
                          <a:latin typeface="Cambria Math" panose="02040503050406030204" charset="0"/>
                          <a:cs typeface="Cambria Math" panose="02040503050406030204" charset="0"/>
                        </a:rPr>
                        <m:t>𝐻</m:t>
                      </m:r>
                      <m:r>
                        <a:rPr lang="en-US" altLang="zh-CN" sz="1575" i="1">
                          <a:latin typeface="Cambria Math" panose="02040503050406030204" charset="0"/>
                          <a:cs typeface="Cambria Math" panose="02040503050406030204" charset="0"/>
                        </a:rPr>
                        <m:t>(</m:t>
                      </m:r>
                      <m:r>
                        <a:rPr lang="en-US" altLang="zh-CN" sz="1575" i="1">
                          <a:latin typeface="Cambria Math" panose="02040503050406030204" charset="0"/>
                          <a:cs typeface="Cambria Math" panose="02040503050406030204" charset="0"/>
                        </a:rPr>
                        <m:t>𝑟</m:t>
                      </m:r>
                      <m:r>
                        <a:rPr lang="en-US" altLang="zh-CN" sz="1575" i="1">
                          <a:latin typeface="Cambria Math" panose="02040503050406030204" charset="0"/>
                          <a:cs typeface="Cambria Math" panose="02040503050406030204" charset="0"/>
                        </a:rPr>
                        <m:t>)=</m:t>
                      </m:r>
                      <m:r>
                        <a:rPr lang="en-US" altLang="zh-CN" sz="1575" i="1">
                          <a:latin typeface="Cambria Math" panose="02040503050406030204" charset="0"/>
                          <a:cs typeface="Cambria Math" panose="02040503050406030204" charset="0"/>
                        </a:rPr>
                        <m:t>𝐴</m:t>
                      </m:r>
                      <m:r>
                        <a:rPr lang="en-US" altLang="zh-CN" sz="1575" i="1">
                          <a:latin typeface="Cambria Math" panose="02040503050406030204" charset="0"/>
                          <a:cs typeface="Cambria Math" panose="02040503050406030204" charset="0"/>
                        </a:rPr>
                        <m:t>∙</m:t>
                      </m:r>
                      <m:r>
                        <a:rPr lang="en-US" altLang="zh-CN" sz="1575" i="1">
                          <a:latin typeface="Cambria Math" panose="02040503050406030204" charset="0"/>
                          <a:cs typeface="Cambria Math" panose="02040503050406030204" charset="0"/>
                        </a:rPr>
                        <m:t>𝑒𝑥𝑝</m:t>
                      </m:r>
                      <m:r>
                        <a:rPr lang="en-US" altLang="zh-CN" sz="1575" i="1">
                          <a:latin typeface="Cambria Math" panose="02040503050406030204" charset="0"/>
                          <a:cs typeface="Cambria Math" panose="02040503050406030204" charset="0"/>
                        </a:rPr>
                        <m:t>(</m:t>
                      </m:r>
                      <m:r>
                        <a:rPr lang="en-US" altLang="zh-CN" sz="1575" i="1">
                          <a:latin typeface="Cambria Math" panose="02040503050406030204" charset="0"/>
                          <a:cs typeface="Cambria Math" panose="02040503050406030204" charset="0"/>
                        </a:rPr>
                        <m:t>𝐵𝑟</m:t>
                      </m:r>
                      <m:r>
                        <a:rPr lang="en-US" altLang="zh-CN" sz="1575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r>
                        <a:rPr lang="en-US" altLang="zh-CN" sz="1575" i="1">
                          <a:latin typeface="Cambria Math" panose="02040503050406030204" charset="0"/>
                          <a:cs typeface="Cambria Math" panose="02040503050406030204" charset="0"/>
                        </a:rPr>
                        <m:t>𝐶</m:t>
                      </m:r>
                      <m:sSup>
                        <m:sSupPr>
                          <m:ctrlPr>
                            <a:rPr lang="en-US" altLang="zh-CN" sz="157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sz="157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</m:e>
                        <m:sup>
                          <m:r>
                            <a:rPr lang="en-US" altLang="zh-CN" sz="157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2</m:t>
                          </m:r>
                        </m:sup>
                      </m:sSup>
                      <m:r>
                        <a:rPr lang="en-US" altLang="zh-CN" sz="1575" i="1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rPr>
                        <m:t>)</m:t>
                      </m:r>
                    </m:oMath>
                  </m:oMathPara>
                </a14:m>
                <a:endParaRPr lang="en-US" altLang="zh-CN" sz="1575" i="1"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58" name="文本框 5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6605" y="6629400"/>
                <a:ext cx="4948555" cy="571500"/>
              </a:xfrm>
              <a:prstGeom prst="rect">
                <a:avLst/>
              </a:prstGeom>
              <a:blipFill rotWithShape="1">
                <a:blip r:embed="rId7"/>
                <a:stretch>
                  <a:fillRect l="-41358" t="-1160000" r="-135814" b="-1140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9" name="文本框 58"/>
              <p:cNvSpPr txBox="1"/>
              <p:nvPr/>
            </p:nvSpPr>
            <p:spPr>
              <a:xfrm>
                <a:off x="7270115" y="6629400"/>
                <a:ext cx="4830445" cy="5715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575">
                    <a:latin typeface="Arial" panose="020B0604020202020204" pitchFamily="34" charset="0"/>
                    <a:cs typeface="Arial" panose="020B0604020202020204" pitchFamily="34" charset="0"/>
                  </a:rPr>
                  <a:t>(b) Vertical Profile: Verticality A</a:t>
                </a:r>
                <a:endParaRPr lang="en-US" altLang="zh-CN" sz="1575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575" i="1">
                          <a:latin typeface="Cambria Math" panose="02040503050406030204" charset="0"/>
                          <a:cs typeface="Cambria Math" panose="02040503050406030204" charset="0"/>
                        </a:rPr>
                        <m:t>𝐻</m:t>
                      </m:r>
                      <m:r>
                        <a:rPr lang="en-US" altLang="zh-CN" sz="1575" i="1">
                          <a:latin typeface="Cambria Math" panose="02040503050406030204" charset="0"/>
                          <a:cs typeface="Cambria Math" panose="02040503050406030204" charset="0"/>
                        </a:rPr>
                        <m:t>(</m:t>
                      </m:r>
                      <m:r>
                        <a:rPr lang="en-US" altLang="zh-CN" sz="1575" i="1">
                          <a:latin typeface="Cambria Math" panose="02040503050406030204" charset="0"/>
                          <a:cs typeface="Cambria Math" panose="02040503050406030204" charset="0"/>
                        </a:rPr>
                        <m:t>𝑟</m:t>
                      </m:r>
                      <m:r>
                        <a:rPr lang="en-US" altLang="zh-CN" sz="1575" i="1">
                          <a:latin typeface="Cambria Math" panose="02040503050406030204" charset="0"/>
                          <a:cs typeface="Cambria Math" panose="02040503050406030204" charset="0"/>
                        </a:rPr>
                        <m:t>)=</m:t>
                      </m:r>
                      <m:r>
                        <a:rPr lang="en-US" altLang="zh-CN" sz="1575" i="1">
                          <a:latin typeface="Cambria Math" panose="02040503050406030204" charset="0"/>
                          <a:cs typeface="Cambria Math" panose="02040503050406030204" charset="0"/>
                        </a:rPr>
                        <m:t>𝐴</m:t>
                      </m:r>
                      <m:r>
                        <a:rPr lang="en-US" altLang="zh-CN" sz="1575" i="1">
                          <a:latin typeface="Cambria Math" panose="02040503050406030204" charset="0"/>
                          <a:cs typeface="Cambria Math" panose="02040503050406030204" charset="0"/>
                        </a:rPr>
                        <m:t>∙</m:t>
                      </m:r>
                      <m:r>
                        <a:rPr lang="en-US" altLang="zh-CN" sz="1575" i="1">
                          <a:latin typeface="Cambria Math" panose="02040503050406030204" charset="0"/>
                          <a:cs typeface="Cambria Math" panose="02040503050406030204" charset="0"/>
                        </a:rPr>
                        <m:t>𝑒𝑥𝑝</m:t>
                      </m:r>
                      <m:r>
                        <a:rPr lang="en-US" altLang="zh-CN" sz="1575" i="1">
                          <a:latin typeface="Cambria Math" panose="02040503050406030204" charset="0"/>
                          <a:cs typeface="Cambria Math" panose="02040503050406030204" charset="0"/>
                        </a:rPr>
                        <m:t>(</m:t>
                      </m:r>
                      <m:r>
                        <a:rPr lang="en-US" altLang="zh-CN" sz="1575" i="1">
                          <a:latin typeface="Cambria Math" panose="02040503050406030204" charset="0"/>
                          <a:cs typeface="Cambria Math" panose="02040503050406030204" charset="0"/>
                        </a:rPr>
                        <m:t>𝐵𝑟</m:t>
                      </m:r>
                      <m:r>
                        <a:rPr lang="en-US" altLang="zh-CN" sz="1575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r>
                        <a:rPr lang="en-US" altLang="zh-CN" sz="1575" i="1">
                          <a:latin typeface="Cambria Math" panose="02040503050406030204" charset="0"/>
                          <a:cs typeface="Cambria Math" panose="02040503050406030204" charset="0"/>
                        </a:rPr>
                        <m:t>𝐶</m:t>
                      </m:r>
                      <m:sSup>
                        <m:sSupPr>
                          <m:ctrlPr>
                            <a:rPr lang="en-US" altLang="zh-CN" sz="157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sz="157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</m:e>
                        <m:sup>
                          <m:r>
                            <a:rPr lang="en-US" altLang="zh-CN" sz="157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2</m:t>
                          </m:r>
                        </m:sup>
                      </m:sSup>
                      <m:r>
                        <a:rPr lang="en-US" altLang="zh-CN" sz="1575" i="1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rPr>
                        <m:t>)</m:t>
                      </m:r>
                    </m:oMath>
                  </m:oMathPara>
                </a14:m>
                <a:endParaRPr lang="en-US" altLang="zh-CN" sz="1575" i="1"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59" name="文本框 5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0115" y="6629400"/>
                <a:ext cx="4830445" cy="571500"/>
              </a:xfrm>
              <a:prstGeom prst="rect">
                <a:avLst/>
              </a:prstGeom>
              <a:blipFill rotWithShape="1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" name="TextBox 190"/>
          <p:cNvSpPr txBox="1"/>
          <p:nvPr/>
        </p:nvSpPr>
        <p:spPr>
          <a:xfrm>
            <a:off x="2534920" y="7200900"/>
            <a:ext cx="1838960" cy="424180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lvl="0" algn="l">
              <a:buClrTx/>
              <a:buSzTx/>
              <a:buFontTx/>
            </a:pPr>
            <a:r>
              <a:rPr lang="en-US" altLang="zh-CN" sz="1200" b="1">
                <a:latin typeface="Arial" panose="020B0604020202020204" pitchFamily="34" charset="0"/>
                <a:sym typeface="+mn-ea"/>
              </a:rPr>
              <a:t>Crown</a:t>
            </a:r>
            <a:endParaRPr lang="en-US" altLang="zh-CN" sz="1200" b="1">
              <a:latin typeface="Arial" panose="020B0604020202020204" pitchFamily="34" charset="0"/>
              <a:sym typeface="+mn-ea"/>
            </a:endParaRPr>
          </a:p>
          <a:p>
            <a:pPr lvl="0" algn="l">
              <a:buClrTx/>
              <a:buSzTx/>
              <a:buFontTx/>
            </a:pPr>
            <a:r>
              <a:rPr lang="en-US" altLang="zh-CN" sz="1200">
                <a:latin typeface="Arial" panose="020B0604020202020204" pitchFamily="34" charset="0"/>
                <a:sym typeface="+mn-ea"/>
              </a:rPr>
              <a:t>82 % / 86% (2016 / 2023)</a:t>
            </a:r>
            <a:endParaRPr lang="en-US" altLang="zh-CN" sz="1200">
              <a:latin typeface="Arial" panose="020B0604020202020204" pitchFamily="34" charset="0"/>
              <a:sym typeface="+mn-ea"/>
            </a:endParaRPr>
          </a:p>
          <a:p>
            <a:pPr lvl="0" algn="l">
              <a:buClrTx/>
              <a:buSzTx/>
              <a:buFontTx/>
            </a:pPr>
            <a:endParaRPr lang="en-US" altLang="zh-CN" sz="1200">
              <a:latin typeface="Arial" panose="020B0604020202020204" pitchFamily="34" charset="0"/>
              <a:sym typeface="+mn-ea"/>
            </a:endParaRPr>
          </a:p>
        </p:txBody>
      </p:sp>
      <p:sp>
        <p:nvSpPr>
          <p:cNvPr id="81" name="矩形 80"/>
          <p:cNvSpPr/>
          <p:nvPr/>
        </p:nvSpPr>
        <p:spPr>
          <a:xfrm>
            <a:off x="1773775" y="7561070"/>
            <a:ext cx="329689" cy="261081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zh-CN" sz="1125"/>
          </a:p>
        </p:txBody>
      </p:sp>
      <p:sp>
        <p:nvSpPr>
          <p:cNvPr id="83" name="矩形 82"/>
          <p:cNvSpPr/>
          <p:nvPr/>
        </p:nvSpPr>
        <p:spPr>
          <a:xfrm>
            <a:off x="1774190" y="7560945"/>
            <a:ext cx="615950" cy="27920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zh-CN" sz="1125"/>
          </a:p>
        </p:txBody>
      </p:sp>
      <p:sp>
        <p:nvSpPr>
          <p:cNvPr id="84" name="文本框 83"/>
          <p:cNvSpPr txBox="1"/>
          <p:nvPr/>
        </p:nvSpPr>
        <p:spPr>
          <a:xfrm>
            <a:off x="1894205" y="10114915"/>
            <a:ext cx="495935" cy="18542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r>
              <a:rPr lang="en-US" altLang="zh-CN" sz="1400"/>
              <a:t>-0.02</a:t>
            </a:r>
            <a:endParaRPr lang="en-US" altLang="zh-CN" sz="1400"/>
          </a:p>
        </p:txBody>
      </p:sp>
      <p:sp>
        <p:nvSpPr>
          <p:cNvPr id="85" name="文本框 84"/>
          <p:cNvSpPr txBox="1"/>
          <p:nvPr/>
        </p:nvSpPr>
        <p:spPr>
          <a:xfrm>
            <a:off x="1894205" y="8889365"/>
            <a:ext cx="495935" cy="18542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r>
              <a:rPr lang="en-US" altLang="zh-CN" sz="1400"/>
              <a:t>0</a:t>
            </a:r>
            <a:endParaRPr lang="en-US" altLang="zh-CN" sz="1400"/>
          </a:p>
        </p:txBody>
      </p:sp>
      <p:sp>
        <p:nvSpPr>
          <p:cNvPr id="86" name="文本框 85"/>
          <p:cNvSpPr txBox="1"/>
          <p:nvPr/>
        </p:nvSpPr>
        <p:spPr>
          <a:xfrm>
            <a:off x="1894205" y="7699375"/>
            <a:ext cx="495935" cy="18542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r>
              <a:rPr lang="en-US" altLang="zh-CN" sz="1400"/>
              <a:t>0.02</a:t>
            </a:r>
            <a:endParaRPr lang="en-US" altLang="zh-CN" sz="1400"/>
          </a:p>
        </p:txBody>
      </p:sp>
      <p:sp>
        <p:nvSpPr>
          <p:cNvPr id="88" name="TextBox 190"/>
          <p:cNvSpPr txBox="1"/>
          <p:nvPr/>
        </p:nvSpPr>
        <p:spPr>
          <a:xfrm>
            <a:off x="5787390" y="7199630"/>
            <a:ext cx="1080135" cy="608330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lvl="0" algn="r">
              <a:buClrTx/>
              <a:buSzTx/>
              <a:buFontTx/>
            </a:pPr>
            <a:r>
              <a:rPr lang="en-US" altLang="zh-CN" sz="1200" b="1">
                <a:latin typeface="Arial" panose="020B0604020202020204" pitchFamily="34" charset="0"/>
                <a:sym typeface="+mn-ea"/>
              </a:rPr>
              <a:t>Bowl</a:t>
            </a:r>
            <a:endParaRPr lang="en-US" altLang="zh-CN" sz="1200" b="1">
              <a:latin typeface="Arial" panose="020B0604020202020204" pitchFamily="34" charset="0"/>
              <a:sym typeface="+mn-ea"/>
            </a:endParaRPr>
          </a:p>
          <a:p>
            <a:pPr lvl="0" algn="r">
              <a:buClrTx/>
              <a:buSzTx/>
              <a:buFontTx/>
            </a:pPr>
            <a:r>
              <a:rPr lang="en-US" altLang="zh-CN" sz="1200">
                <a:latin typeface="Arial" panose="020B0604020202020204" pitchFamily="34" charset="0"/>
                <a:sym typeface="+mn-ea"/>
              </a:rPr>
              <a:t>1 % / 1% </a:t>
            </a:r>
            <a:endParaRPr lang="en-US" altLang="zh-CN" sz="1200">
              <a:latin typeface="Arial" panose="020B0604020202020204" pitchFamily="34" charset="0"/>
              <a:sym typeface="+mn-ea"/>
            </a:endParaRPr>
          </a:p>
          <a:p>
            <a:pPr lvl="0" algn="r">
              <a:buClrTx/>
              <a:buSzTx/>
              <a:buFontTx/>
            </a:pPr>
            <a:r>
              <a:rPr lang="en-US" altLang="zh-CN" sz="1200">
                <a:latin typeface="Arial" panose="020B0604020202020204" pitchFamily="34" charset="0"/>
                <a:sym typeface="+mn-ea"/>
              </a:rPr>
              <a:t>(</a:t>
            </a:r>
            <a:r>
              <a:rPr lang="en-US" altLang="zh-CN" sz="1200">
                <a:latin typeface="Arial" panose="020B0604020202020204" pitchFamily="34" charset="0"/>
                <a:sym typeface="+mn-ea"/>
              </a:rPr>
              <a:t>2016</a:t>
            </a:r>
            <a:r>
              <a:rPr lang="en-US" altLang="zh-CN" sz="1200">
                <a:latin typeface="Arial" panose="020B0604020202020204" pitchFamily="34" charset="0"/>
                <a:sym typeface="+mn-ea"/>
              </a:rPr>
              <a:t> / 2023)</a:t>
            </a:r>
            <a:endParaRPr lang="en-US" altLang="zh-CN" sz="1200">
              <a:latin typeface="Arial" panose="020B0604020202020204" pitchFamily="34" charset="0"/>
              <a:sym typeface="+mn-ea"/>
            </a:endParaRPr>
          </a:p>
          <a:p>
            <a:pPr lvl="0" algn="r">
              <a:buClrTx/>
              <a:buSzTx/>
              <a:buFontTx/>
            </a:pPr>
            <a:endParaRPr lang="en-US" altLang="zh-CN" sz="1200">
              <a:latin typeface="Arial" panose="020B0604020202020204" pitchFamily="34" charset="0"/>
              <a:sym typeface="+mn-ea"/>
            </a:endParaRPr>
          </a:p>
        </p:txBody>
      </p:sp>
      <p:sp>
        <p:nvSpPr>
          <p:cNvPr id="89" name="TextBox 190"/>
          <p:cNvSpPr txBox="1"/>
          <p:nvPr/>
        </p:nvSpPr>
        <p:spPr>
          <a:xfrm>
            <a:off x="5914390" y="9903460"/>
            <a:ext cx="1080135" cy="608330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lvl="0" algn="r">
              <a:buClrTx/>
              <a:buSzTx/>
              <a:buFontTx/>
            </a:pPr>
            <a:r>
              <a:rPr lang="en-US" altLang="zh-CN" sz="1200" b="1">
                <a:latin typeface="Arial" panose="020B0604020202020204" pitchFamily="34" charset="0"/>
                <a:sym typeface="+mn-ea"/>
              </a:rPr>
              <a:t>Vocanic Cone</a:t>
            </a:r>
            <a:endParaRPr lang="en-US" altLang="zh-CN" sz="1200" b="1">
              <a:latin typeface="Arial" panose="020B0604020202020204" pitchFamily="34" charset="0"/>
              <a:sym typeface="+mn-ea"/>
            </a:endParaRPr>
          </a:p>
          <a:p>
            <a:pPr lvl="0" indent="457200" algn="r">
              <a:buClrTx/>
              <a:buSzTx/>
              <a:buFontTx/>
            </a:pPr>
            <a:r>
              <a:rPr lang="en-US" altLang="zh-CN" sz="1200">
                <a:latin typeface="Arial" panose="020B0604020202020204" pitchFamily="34" charset="0"/>
                <a:sym typeface="+mn-ea"/>
              </a:rPr>
              <a:t>6 % / 6% </a:t>
            </a:r>
            <a:endParaRPr lang="en-US" altLang="zh-CN" sz="1200">
              <a:latin typeface="Arial" panose="020B0604020202020204" pitchFamily="34" charset="0"/>
              <a:sym typeface="+mn-ea"/>
            </a:endParaRPr>
          </a:p>
          <a:p>
            <a:pPr lvl="0" algn="r">
              <a:buClrTx/>
              <a:buSzTx/>
              <a:buFontTx/>
            </a:pPr>
            <a:r>
              <a:rPr lang="en-US" altLang="zh-CN" sz="1200">
                <a:latin typeface="Arial" panose="020B0604020202020204" pitchFamily="34" charset="0"/>
                <a:sym typeface="+mn-ea"/>
              </a:rPr>
              <a:t>(2016 / 2023)</a:t>
            </a:r>
            <a:endParaRPr lang="en-US" altLang="zh-CN" sz="1200">
              <a:latin typeface="Arial" panose="020B0604020202020204" pitchFamily="34" charset="0"/>
              <a:sym typeface="+mn-ea"/>
            </a:endParaRPr>
          </a:p>
          <a:p>
            <a:pPr lvl="0" algn="r">
              <a:buClrTx/>
              <a:buSzTx/>
              <a:buFontTx/>
            </a:pPr>
            <a:endParaRPr lang="en-US" altLang="zh-CN" sz="1200">
              <a:latin typeface="Arial" panose="020B0604020202020204" pitchFamily="34" charset="0"/>
              <a:sym typeface="+mn-ea"/>
            </a:endParaRPr>
          </a:p>
        </p:txBody>
      </p:sp>
      <p:sp>
        <p:nvSpPr>
          <p:cNvPr id="90" name="TextBox 190"/>
          <p:cNvSpPr txBox="1"/>
          <p:nvPr/>
        </p:nvSpPr>
        <p:spPr>
          <a:xfrm>
            <a:off x="2534920" y="9995535"/>
            <a:ext cx="1838960" cy="424180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lvl="0" algn="l">
              <a:buClrTx/>
              <a:buSzTx/>
              <a:buFontTx/>
            </a:pPr>
            <a:r>
              <a:rPr lang="en-US" altLang="zh-CN" sz="1200" b="1">
                <a:latin typeface="Arial" panose="020B0604020202020204" pitchFamily="34" charset="0"/>
                <a:sym typeface="+mn-ea"/>
              </a:rPr>
              <a:t>Pyramid</a:t>
            </a:r>
            <a:endParaRPr lang="en-US" altLang="zh-CN" sz="1200" b="1">
              <a:latin typeface="Arial" panose="020B0604020202020204" pitchFamily="34" charset="0"/>
              <a:sym typeface="+mn-ea"/>
            </a:endParaRPr>
          </a:p>
          <a:p>
            <a:pPr lvl="0" algn="l">
              <a:buClrTx/>
              <a:buSzTx/>
              <a:buFontTx/>
            </a:pPr>
            <a:r>
              <a:rPr lang="en-US" altLang="zh-CN" sz="1200">
                <a:latin typeface="Arial" panose="020B0604020202020204" pitchFamily="34" charset="0"/>
                <a:sym typeface="+mn-ea"/>
              </a:rPr>
              <a:t>12 % / 8% (2016 / 2023)</a:t>
            </a:r>
            <a:endParaRPr lang="en-US" altLang="zh-CN" sz="1200">
              <a:latin typeface="Arial" panose="020B0604020202020204" pitchFamily="34" charset="0"/>
              <a:sym typeface="+mn-ea"/>
            </a:endParaRPr>
          </a:p>
        </p:txBody>
      </p:sp>
      <p:sp>
        <p:nvSpPr>
          <p:cNvPr id="91" name="矩形 90"/>
          <p:cNvSpPr/>
          <p:nvPr/>
        </p:nvSpPr>
        <p:spPr>
          <a:xfrm>
            <a:off x="7221855" y="7199630"/>
            <a:ext cx="370840" cy="338518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zh-CN" sz="1125"/>
          </a:p>
        </p:txBody>
      </p:sp>
      <p:sp>
        <p:nvSpPr>
          <p:cNvPr id="92" name="矩形 91"/>
          <p:cNvSpPr/>
          <p:nvPr/>
        </p:nvSpPr>
        <p:spPr>
          <a:xfrm rot="5400000">
            <a:off x="4175760" y="8268970"/>
            <a:ext cx="219075" cy="47828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125"/>
          </a:p>
        </p:txBody>
      </p:sp>
      <p:sp>
        <p:nvSpPr>
          <p:cNvPr id="93" name="文本框 92"/>
          <p:cNvSpPr txBox="1"/>
          <p:nvPr/>
        </p:nvSpPr>
        <p:spPr>
          <a:xfrm>
            <a:off x="3347085" y="10588625"/>
            <a:ext cx="396875" cy="19812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altLang="zh-CN" sz="1400"/>
              <a:t>-0.2</a:t>
            </a:r>
            <a:endParaRPr lang="en-US" altLang="zh-CN" sz="1400"/>
          </a:p>
        </p:txBody>
      </p:sp>
      <p:sp>
        <p:nvSpPr>
          <p:cNvPr id="94" name="文本框 93"/>
          <p:cNvSpPr txBox="1"/>
          <p:nvPr/>
        </p:nvSpPr>
        <p:spPr>
          <a:xfrm>
            <a:off x="2258695" y="10588625"/>
            <a:ext cx="396875" cy="19812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/>
            <a:r>
              <a:rPr lang="en-US" altLang="zh-CN" sz="1400"/>
              <a:t>-0.3</a:t>
            </a:r>
            <a:endParaRPr lang="en-US" altLang="zh-CN" sz="1400"/>
          </a:p>
        </p:txBody>
      </p:sp>
      <p:sp>
        <p:nvSpPr>
          <p:cNvPr id="95" name="文本框 94"/>
          <p:cNvSpPr txBox="1"/>
          <p:nvPr/>
        </p:nvSpPr>
        <p:spPr>
          <a:xfrm>
            <a:off x="5571490" y="10588625"/>
            <a:ext cx="396875" cy="19812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altLang="zh-CN" sz="1400"/>
              <a:t>0</a:t>
            </a:r>
            <a:endParaRPr lang="en-US" altLang="zh-CN" sz="1400"/>
          </a:p>
        </p:txBody>
      </p:sp>
      <p:sp>
        <p:nvSpPr>
          <p:cNvPr id="96" name="文本框 95"/>
          <p:cNvSpPr txBox="1"/>
          <p:nvPr/>
        </p:nvSpPr>
        <p:spPr>
          <a:xfrm>
            <a:off x="4373880" y="10588625"/>
            <a:ext cx="396875" cy="19812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altLang="zh-CN" sz="1400"/>
              <a:t>-0.1</a:t>
            </a:r>
            <a:endParaRPr lang="en-US" altLang="zh-CN" sz="1400"/>
          </a:p>
        </p:txBody>
      </p:sp>
      <p:sp>
        <p:nvSpPr>
          <p:cNvPr id="97" name="文本框 96"/>
          <p:cNvSpPr txBox="1"/>
          <p:nvPr/>
        </p:nvSpPr>
        <p:spPr>
          <a:xfrm>
            <a:off x="7077075" y="7640955"/>
            <a:ext cx="495935" cy="18542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r>
              <a:rPr lang="en-US" altLang="zh-CN" sz="1400"/>
              <a:t>16</a:t>
            </a:r>
            <a:endParaRPr lang="en-US" altLang="zh-CN" sz="1400"/>
          </a:p>
        </p:txBody>
      </p:sp>
      <p:sp>
        <p:nvSpPr>
          <p:cNvPr id="98" name="文本框 97"/>
          <p:cNvSpPr txBox="1"/>
          <p:nvPr/>
        </p:nvSpPr>
        <p:spPr>
          <a:xfrm>
            <a:off x="7049135" y="8520430"/>
            <a:ext cx="495935" cy="18542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r>
              <a:rPr lang="en-US" altLang="zh-CN" sz="1400"/>
              <a:t>12</a:t>
            </a:r>
            <a:endParaRPr lang="en-US" altLang="zh-CN" sz="1400"/>
          </a:p>
        </p:txBody>
      </p:sp>
      <p:sp>
        <p:nvSpPr>
          <p:cNvPr id="99" name="文本框 98"/>
          <p:cNvSpPr txBox="1"/>
          <p:nvPr/>
        </p:nvSpPr>
        <p:spPr>
          <a:xfrm>
            <a:off x="7049135" y="9387205"/>
            <a:ext cx="495935" cy="18542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r>
              <a:rPr lang="en-US" altLang="zh-CN" sz="1400"/>
              <a:t>8</a:t>
            </a:r>
            <a:endParaRPr lang="en-US" altLang="zh-CN" sz="1400"/>
          </a:p>
        </p:txBody>
      </p:sp>
      <p:sp>
        <p:nvSpPr>
          <p:cNvPr id="100" name="文本框 99"/>
          <p:cNvSpPr txBox="1"/>
          <p:nvPr/>
        </p:nvSpPr>
        <p:spPr>
          <a:xfrm>
            <a:off x="7049135" y="10234295"/>
            <a:ext cx="495935" cy="18542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r>
              <a:rPr lang="en-US" altLang="zh-CN" sz="1400"/>
              <a:t>4</a:t>
            </a:r>
            <a:endParaRPr lang="en-US" altLang="zh-CN" sz="1400"/>
          </a:p>
        </p:txBody>
      </p:sp>
      <p:sp>
        <p:nvSpPr>
          <p:cNvPr id="101" name="文本框 100"/>
          <p:cNvSpPr txBox="1"/>
          <p:nvPr/>
        </p:nvSpPr>
        <p:spPr>
          <a:xfrm>
            <a:off x="7122971" y="7199365"/>
            <a:ext cx="469708" cy="14824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/>
            <a:r>
              <a:rPr lang="en-US" altLang="zh-CN" sz="1400" b="1" i="1">
                <a:latin typeface="Arial" panose="020B0604020202020204" pitchFamily="34" charset="0"/>
                <a:cs typeface="Arial" panose="020B0604020202020204" pitchFamily="34" charset="0"/>
              </a:rPr>
              <a:t>A(m)</a:t>
            </a:r>
            <a:endParaRPr lang="en-US" altLang="zh-CN" sz="1400" b="1" i="1">
              <a:latin typeface="Arial" panose="020B0604020202020204" pitchFamily="34" charset="0"/>
              <a:ea typeface="宋体" panose="02010600030101010101" pitchFamily="2" charset="-122"/>
              <a:cs typeface="Arial" panose="020B0604020202020204" pitchFamily="34" charset="0"/>
            </a:endParaRPr>
          </a:p>
        </p:txBody>
      </p:sp>
      <p:sp>
        <p:nvSpPr>
          <p:cNvPr id="102" name="文本框 101"/>
          <p:cNvSpPr txBox="1"/>
          <p:nvPr/>
        </p:nvSpPr>
        <p:spPr>
          <a:xfrm>
            <a:off x="6283182" y="10622015"/>
            <a:ext cx="469708" cy="14824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/>
            <a:r>
              <a:rPr lang="en-US" altLang="zh-CN" sz="1400" b="1" i="1">
                <a:latin typeface="Arial" panose="020B0604020202020204" pitchFamily="34" charset="0"/>
                <a:cs typeface="Arial" panose="020B0604020202020204" pitchFamily="34" charset="0"/>
              </a:rPr>
              <a:t>B</a:t>
            </a:r>
            <a:endParaRPr lang="en-US" altLang="zh-CN" sz="1400" b="1" i="1">
              <a:latin typeface="Arial" panose="020B0604020202020204" pitchFamily="34" charset="0"/>
              <a:ea typeface="宋体" panose="02010600030101010101" pitchFamily="2" charset="-122"/>
              <a:cs typeface="Arial" panose="020B0604020202020204" pitchFamily="34" charset="0"/>
            </a:endParaRPr>
          </a:p>
        </p:txBody>
      </p:sp>
      <p:sp>
        <p:nvSpPr>
          <p:cNvPr id="103" name="文本框 102"/>
          <p:cNvSpPr txBox="1"/>
          <p:nvPr/>
        </p:nvSpPr>
        <p:spPr>
          <a:xfrm>
            <a:off x="1986772" y="7199365"/>
            <a:ext cx="469708" cy="14824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/>
            <a:r>
              <a:rPr lang="en-US" altLang="zh-CN" sz="1400" b="1" i="1">
                <a:latin typeface="Arial" panose="020B0604020202020204" pitchFamily="34" charset="0"/>
                <a:cs typeface="Arial" panose="020B0604020202020204" pitchFamily="34" charset="0"/>
              </a:rPr>
              <a:t>C</a:t>
            </a:r>
            <a:endParaRPr lang="en-US" altLang="zh-CN" sz="1400" b="1" i="1">
              <a:latin typeface="Arial" panose="020B0604020202020204" pitchFamily="34" charset="0"/>
              <a:ea typeface="宋体" panose="02010600030101010101" pitchFamily="2" charset="-122"/>
              <a:cs typeface="Arial" panose="020B0604020202020204" pitchFamily="34" charset="0"/>
            </a:endParaRPr>
          </a:p>
        </p:txBody>
      </p:sp>
      <p:grpSp>
        <p:nvGrpSpPr>
          <p:cNvPr id="197" name="组合 196"/>
          <p:cNvGrpSpPr/>
          <p:nvPr/>
        </p:nvGrpSpPr>
        <p:grpSpPr>
          <a:xfrm rot="0">
            <a:off x="2390140" y="10902315"/>
            <a:ext cx="4500880" cy="353060"/>
            <a:chOff x="3905" y="13468"/>
            <a:chExt cx="7088" cy="556"/>
          </a:xfrm>
        </p:grpSpPr>
        <p:grpSp>
          <p:nvGrpSpPr>
            <p:cNvPr id="195" name="组合 194"/>
            <p:cNvGrpSpPr/>
            <p:nvPr/>
          </p:nvGrpSpPr>
          <p:grpSpPr>
            <a:xfrm>
              <a:off x="8921" y="13468"/>
              <a:ext cx="2073" cy="246"/>
              <a:chOff x="8921" y="13468"/>
              <a:chExt cx="2073" cy="246"/>
            </a:xfrm>
          </p:grpSpPr>
          <p:sp>
            <p:nvSpPr>
              <p:cNvPr id="172" name="文本框 171"/>
              <p:cNvSpPr txBox="1"/>
              <p:nvPr/>
            </p:nvSpPr>
            <p:spPr>
              <a:xfrm>
                <a:off x="9172" y="13468"/>
                <a:ext cx="1822" cy="24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lvl="0" algn="l">
                  <a:buClrTx/>
                  <a:buSzTx/>
                  <a:buFontTx/>
                </a:pPr>
                <a:r>
                  <a:rPr lang="en-US" altLang="zh-CN" sz="1015">
                    <a:sym typeface="+mn-ea"/>
                  </a:rPr>
                  <a:t>Latin America, 2016</a:t>
                </a:r>
                <a:endParaRPr lang="en-US" altLang="zh-CN" sz="1015">
                  <a:sym typeface="+mn-ea"/>
                </a:endParaRPr>
              </a:p>
            </p:txBody>
          </p:sp>
          <p:sp>
            <p:nvSpPr>
              <p:cNvPr id="173" name="椭圆 172"/>
              <p:cNvSpPr/>
              <p:nvPr/>
            </p:nvSpPr>
            <p:spPr>
              <a:xfrm>
                <a:off x="8921" y="13510"/>
                <a:ext cx="163" cy="162"/>
              </a:xfrm>
              <a:prstGeom prst="ellipse">
                <a:avLst/>
              </a:prstGeom>
              <a:noFill/>
              <a:ln>
                <a:solidFill>
                  <a:srgbClr val="47A2DE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</p:grpSp>
        <p:grpSp>
          <p:nvGrpSpPr>
            <p:cNvPr id="196" name="组合 195"/>
            <p:cNvGrpSpPr/>
            <p:nvPr/>
          </p:nvGrpSpPr>
          <p:grpSpPr>
            <a:xfrm>
              <a:off x="8921" y="13778"/>
              <a:ext cx="2073" cy="246"/>
              <a:chOff x="8921" y="13778"/>
              <a:chExt cx="2073" cy="246"/>
            </a:xfrm>
          </p:grpSpPr>
          <p:sp>
            <p:nvSpPr>
              <p:cNvPr id="174" name="椭圆 173"/>
              <p:cNvSpPr/>
              <p:nvPr/>
            </p:nvSpPr>
            <p:spPr>
              <a:xfrm>
                <a:off x="8921" y="13820"/>
                <a:ext cx="163" cy="162"/>
              </a:xfrm>
              <a:prstGeom prst="ellipse">
                <a:avLst/>
              </a:prstGeom>
              <a:solidFill>
                <a:srgbClr val="47A2DE">
                  <a:alpha val="70000"/>
                </a:srgbClr>
              </a:solidFill>
              <a:ln>
                <a:solidFill>
                  <a:srgbClr val="47A2DE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175" name="文本框 174"/>
              <p:cNvSpPr txBox="1"/>
              <p:nvPr/>
            </p:nvSpPr>
            <p:spPr>
              <a:xfrm>
                <a:off x="9172" y="13778"/>
                <a:ext cx="1822" cy="24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lvl="0" algn="l">
                  <a:buClrTx/>
                  <a:buSzTx/>
                  <a:buFontTx/>
                </a:pPr>
                <a:r>
                  <a:rPr lang="en-US" altLang="zh-CN" sz="1015">
                    <a:sym typeface="+mn-ea"/>
                  </a:rPr>
                  <a:t>Latin America, 2023</a:t>
                </a:r>
                <a:endParaRPr lang="en-US" altLang="zh-CN" sz="1015">
                  <a:sym typeface="+mn-ea"/>
                </a:endParaRPr>
              </a:p>
            </p:txBody>
          </p:sp>
        </p:grpSp>
        <p:sp>
          <p:nvSpPr>
            <p:cNvPr id="177" name="椭圆 176"/>
            <p:cNvSpPr/>
            <p:nvPr/>
          </p:nvSpPr>
          <p:spPr>
            <a:xfrm>
              <a:off x="3905" y="13510"/>
              <a:ext cx="163" cy="162"/>
            </a:xfrm>
            <a:prstGeom prst="ellipse">
              <a:avLst/>
            </a:prstGeom>
            <a:noFill/>
            <a:ln>
              <a:solidFill>
                <a:srgbClr val="E85748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125">
                <a:solidFill>
                  <a:srgbClr val="9467BD"/>
                </a:solidFill>
              </a:endParaRPr>
            </a:p>
          </p:txBody>
        </p:sp>
        <p:grpSp>
          <p:nvGrpSpPr>
            <p:cNvPr id="190" name="组合 189"/>
            <p:cNvGrpSpPr/>
            <p:nvPr/>
          </p:nvGrpSpPr>
          <p:grpSpPr>
            <a:xfrm>
              <a:off x="3905" y="13778"/>
              <a:ext cx="1336" cy="246"/>
              <a:chOff x="3905" y="13786"/>
              <a:chExt cx="1336" cy="246"/>
            </a:xfrm>
          </p:grpSpPr>
          <p:sp>
            <p:nvSpPr>
              <p:cNvPr id="178" name="椭圆 177"/>
              <p:cNvSpPr/>
              <p:nvPr/>
            </p:nvSpPr>
            <p:spPr>
              <a:xfrm>
                <a:off x="3905" y="13828"/>
                <a:ext cx="163" cy="162"/>
              </a:xfrm>
              <a:prstGeom prst="ellipse">
                <a:avLst/>
              </a:prstGeom>
              <a:solidFill>
                <a:srgbClr val="E85748">
                  <a:alpha val="70000"/>
                </a:srgbClr>
              </a:solidFill>
              <a:ln>
                <a:solidFill>
                  <a:srgbClr val="E85748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179" name="文本框 178"/>
              <p:cNvSpPr txBox="1"/>
              <p:nvPr/>
            </p:nvSpPr>
            <p:spPr>
              <a:xfrm>
                <a:off x="4149" y="13786"/>
                <a:ext cx="1093" cy="24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altLang="zh-CN" sz="1015"/>
                  <a:t>Africa, 2023</a:t>
                </a:r>
                <a:endParaRPr lang="en-US" altLang="zh-CN" sz="1015"/>
              </a:p>
            </p:txBody>
          </p:sp>
        </p:grpSp>
        <p:grpSp>
          <p:nvGrpSpPr>
            <p:cNvPr id="191" name="组合 190"/>
            <p:cNvGrpSpPr/>
            <p:nvPr/>
          </p:nvGrpSpPr>
          <p:grpSpPr>
            <a:xfrm>
              <a:off x="5650" y="13468"/>
              <a:ext cx="2918" cy="246"/>
              <a:chOff x="5650" y="13468"/>
              <a:chExt cx="2918" cy="246"/>
            </a:xfrm>
          </p:grpSpPr>
          <p:sp>
            <p:nvSpPr>
              <p:cNvPr id="180" name="文本框 179"/>
              <p:cNvSpPr txBox="1"/>
              <p:nvPr/>
            </p:nvSpPr>
            <p:spPr>
              <a:xfrm>
                <a:off x="5884" y="13468"/>
                <a:ext cx="2684" cy="24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lvl="0" algn="l">
                  <a:buClrTx/>
                  <a:buSzTx/>
                  <a:buFontTx/>
                </a:pPr>
                <a:r>
                  <a:rPr lang="en-US" altLang="zh-CN" sz="1015">
                    <a:sym typeface="+mn-ea"/>
                  </a:rPr>
                  <a:t>South&amp;Southeast Asia, 2016</a:t>
                </a:r>
                <a:endParaRPr lang="en-US" altLang="zh-CN" sz="1015">
                  <a:sym typeface="+mn-ea"/>
                </a:endParaRPr>
              </a:p>
            </p:txBody>
          </p:sp>
          <p:sp>
            <p:nvSpPr>
              <p:cNvPr id="181" name="椭圆 180"/>
              <p:cNvSpPr/>
              <p:nvPr/>
            </p:nvSpPr>
            <p:spPr>
              <a:xfrm>
                <a:off x="5650" y="13510"/>
                <a:ext cx="163" cy="162"/>
              </a:xfrm>
              <a:prstGeom prst="ellipse">
                <a:avLst/>
              </a:prstGeom>
              <a:noFill/>
              <a:ln>
                <a:solidFill>
                  <a:srgbClr val="F39F1B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</p:grpSp>
        <p:grpSp>
          <p:nvGrpSpPr>
            <p:cNvPr id="193" name="组合 192"/>
            <p:cNvGrpSpPr/>
            <p:nvPr/>
          </p:nvGrpSpPr>
          <p:grpSpPr>
            <a:xfrm>
              <a:off x="5650" y="13778"/>
              <a:ext cx="2918" cy="246"/>
              <a:chOff x="5650" y="13778"/>
              <a:chExt cx="2918" cy="246"/>
            </a:xfrm>
          </p:grpSpPr>
          <p:sp>
            <p:nvSpPr>
              <p:cNvPr id="182" name="椭圆 181"/>
              <p:cNvSpPr/>
              <p:nvPr/>
            </p:nvSpPr>
            <p:spPr>
              <a:xfrm>
                <a:off x="5650" y="13820"/>
                <a:ext cx="163" cy="162"/>
              </a:xfrm>
              <a:prstGeom prst="ellipse">
                <a:avLst/>
              </a:prstGeom>
              <a:solidFill>
                <a:srgbClr val="F39F1B">
                  <a:alpha val="70000"/>
                </a:srgbClr>
              </a:solidFill>
              <a:ln>
                <a:solidFill>
                  <a:srgbClr val="F39F1B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183" name="文本框 182"/>
              <p:cNvSpPr txBox="1"/>
              <p:nvPr/>
            </p:nvSpPr>
            <p:spPr>
              <a:xfrm>
                <a:off x="5884" y="13778"/>
                <a:ext cx="2684" cy="24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lvl="0" algn="l">
                  <a:buClrTx/>
                  <a:buSzTx/>
                  <a:buFontTx/>
                </a:pPr>
                <a:r>
                  <a:rPr lang="en-US" altLang="zh-CN" sz="1015">
                    <a:sym typeface="+mn-ea"/>
                  </a:rPr>
                  <a:t>South&amp;Southeast Asia, 2023</a:t>
                </a:r>
                <a:endParaRPr lang="en-US" altLang="zh-CN" sz="1015">
                  <a:sym typeface="+mn-ea"/>
                </a:endParaRPr>
              </a:p>
            </p:txBody>
          </p:sp>
        </p:grpSp>
        <p:grpSp>
          <p:nvGrpSpPr>
            <p:cNvPr id="194" name="组合 193"/>
            <p:cNvGrpSpPr/>
            <p:nvPr/>
          </p:nvGrpSpPr>
          <p:grpSpPr>
            <a:xfrm>
              <a:off x="3905" y="13468"/>
              <a:ext cx="1336" cy="246"/>
              <a:chOff x="3905" y="13468"/>
              <a:chExt cx="1336" cy="246"/>
            </a:xfrm>
          </p:grpSpPr>
          <p:sp>
            <p:nvSpPr>
              <p:cNvPr id="176" name="文本框 175"/>
              <p:cNvSpPr txBox="1"/>
              <p:nvPr/>
            </p:nvSpPr>
            <p:spPr>
              <a:xfrm>
                <a:off x="4149" y="13468"/>
                <a:ext cx="1093" cy="24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altLang="zh-CN" sz="1015"/>
                  <a:t>Africa, 2016</a:t>
                </a:r>
                <a:endParaRPr lang="en-US" altLang="zh-CN" sz="1015"/>
              </a:p>
            </p:txBody>
          </p:sp>
          <p:sp>
            <p:nvSpPr>
              <p:cNvPr id="188" name="椭圆 187"/>
              <p:cNvSpPr/>
              <p:nvPr/>
            </p:nvSpPr>
            <p:spPr>
              <a:xfrm>
                <a:off x="3905" y="13510"/>
                <a:ext cx="163" cy="162"/>
              </a:xfrm>
              <a:prstGeom prst="ellipse">
                <a:avLst/>
              </a:prstGeom>
              <a:noFill/>
              <a:ln>
                <a:solidFill>
                  <a:srgbClr val="E85748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>
                  <a:solidFill>
                    <a:srgbClr val="9467BD"/>
                  </a:solidFill>
                </a:endParaRPr>
              </a:p>
            </p:txBody>
          </p:sp>
        </p:grpSp>
      </p:grpSp>
      <p:grpSp>
        <p:nvGrpSpPr>
          <p:cNvPr id="126" name="组合 125"/>
          <p:cNvGrpSpPr/>
          <p:nvPr/>
        </p:nvGrpSpPr>
        <p:grpSpPr>
          <a:xfrm>
            <a:off x="8089265" y="7255510"/>
            <a:ext cx="725170" cy="138430"/>
            <a:chOff x="12739" y="16304"/>
            <a:chExt cx="1142" cy="218"/>
          </a:xfrm>
        </p:grpSpPr>
        <p:sp>
          <p:nvSpPr>
            <p:cNvPr id="124" name="文本框 123"/>
            <p:cNvSpPr txBox="1"/>
            <p:nvPr/>
          </p:nvSpPr>
          <p:spPr>
            <a:xfrm>
              <a:off x="12739" y="16304"/>
              <a:ext cx="444" cy="218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900" b="1">
                  <a:solidFill>
                    <a:schemeClr val="tx1">
                      <a:lumMod val="65000"/>
                      <a:lumOff val="35000"/>
                    </a:schemeClr>
                  </a:solidFill>
                  <a:sym typeface="+mn-ea"/>
                </a:rPr>
                <a:t>2016</a:t>
              </a:r>
              <a:endParaRPr lang="en-US" altLang="zh-CN" sz="900" b="1">
                <a:solidFill>
                  <a:schemeClr val="tx1">
                    <a:lumMod val="65000"/>
                    <a:lumOff val="35000"/>
                  </a:schemeClr>
                </a:solidFill>
                <a:sym typeface="+mn-ea"/>
              </a:endParaRPr>
            </a:p>
          </p:txBody>
        </p:sp>
        <p:sp>
          <p:nvSpPr>
            <p:cNvPr id="125" name="文本框 124"/>
            <p:cNvSpPr txBox="1"/>
            <p:nvPr/>
          </p:nvSpPr>
          <p:spPr>
            <a:xfrm>
              <a:off x="13437" y="16304"/>
              <a:ext cx="444" cy="218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900" b="1">
                  <a:solidFill>
                    <a:schemeClr val="tx1">
                      <a:lumMod val="65000"/>
                      <a:lumOff val="35000"/>
                    </a:schemeClr>
                  </a:solidFill>
                  <a:sym typeface="+mn-ea"/>
                </a:rPr>
                <a:t>2023</a:t>
              </a:r>
              <a:endParaRPr lang="en-US" altLang="zh-CN" sz="900" b="1">
                <a:solidFill>
                  <a:schemeClr val="tx1">
                    <a:lumMod val="65000"/>
                    <a:lumOff val="35000"/>
                  </a:schemeClr>
                </a:solidFill>
                <a:sym typeface="+mn-ea"/>
              </a:endParaRPr>
            </a:p>
          </p:txBody>
        </p:sp>
      </p:grpSp>
      <p:grpSp>
        <p:nvGrpSpPr>
          <p:cNvPr id="127" name="组合 126"/>
          <p:cNvGrpSpPr/>
          <p:nvPr/>
        </p:nvGrpSpPr>
        <p:grpSpPr>
          <a:xfrm>
            <a:off x="9322435" y="7255510"/>
            <a:ext cx="725170" cy="138430"/>
            <a:chOff x="12739" y="16304"/>
            <a:chExt cx="1142" cy="218"/>
          </a:xfrm>
        </p:grpSpPr>
        <p:sp>
          <p:nvSpPr>
            <p:cNvPr id="128" name="文本框 127"/>
            <p:cNvSpPr txBox="1"/>
            <p:nvPr/>
          </p:nvSpPr>
          <p:spPr>
            <a:xfrm>
              <a:off x="12739" y="16304"/>
              <a:ext cx="444" cy="218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900" b="1">
                  <a:solidFill>
                    <a:schemeClr val="tx1">
                      <a:lumMod val="65000"/>
                      <a:lumOff val="35000"/>
                    </a:schemeClr>
                  </a:solidFill>
                  <a:sym typeface="+mn-ea"/>
                </a:rPr>
                <a:t>2016</a:t>
              </a:r>
              <a:endParaRPr lang="en-US" altLang="zh-CN" sz="900" b="1">
                <a:solidFill>
                  <a:schemeClr val="tx1">
                    <a:lumMod val="65000"/>
                    <a:lumOff val="35000"/>
                  </a:schemeClr>
                </a:solidFill>
                <a:sym typeface="+mn-ea"/>
              </a:endParaRPr>
            </a:p>
          </p:txBody>
        </p:sp>
        <p:sp>
          <p:nvSpPr>
            <p:cNvPr id="129" name="文本框 128"/>
            <p:cNvSpPr txBox="1"/>
            <p:nvPr/>
          </p:nvSpPr>
          <p:spPr>
            <a:xfrm>
              <a:off x="13437" y="16304"/>
              <a:ext cx="444" cy="218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900" b="1">
                  <a:solidFill>
                    <a:schemeClr val="tx1">
                      <a:lumMod val="65000"/>
                      <a:lumOff val="35000"/>
                    </a:schemeClr>
                  </a:solidFill>
                  <a:sym typeface="+mn-ea"/>
                </a:rPr>
                <a:t>2023</a:t>
              </a:r>
              <a:endParaRPr lang="en-US" altLang="zh-CN" sz="900" b="1">
                <a:solidFill>
                  <a:schemeClr val="tx1">
                    <a:lumMod val="65000"/>
                    <a:lumOff val="35000"/>
                  </a:schemeClr>
                </a:solidFill>
                <a:sym typeface="+mn-ea"/>
              </a:endParaRPr>
            </a:p>
          </p:txBody>
        </p:sp>
      </p:grpSp>
      <p:grpSp>
        <p:nvGrpSpPr>
          <p:cNvPr id="130" name="组合 129"/>
          <p:cNvGrpSpPr/>
          <p:nvPr/>
        </p:nvGrpSpPr>
        <p:grpSpPr>
          <a:xfrm>
            <a:off x="10539730" y="7255510"/>
            <a:ext cx="725170" cy="138430"/>
            <a:chOff x="12739" y="16304"/>
            <a:chExt cx="1142" cy="218"/>
          </a:xfrm>
        </p:grpSpPr>
        <p:sp>
          <p:nvSpPr>
            <p:cNvPr id="131" name="文本框 130"/>
            <p:cNvSpPr txBox="1"/>
            <p:nvPr/>
          </p:nvSpPr>
          <p:spPr>
            <a:xfrm>
              <a:off x="12739" y="16304"/>
              <a:ext cx="444" cy="218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900" b="1">
                  <a:solidFill>
                    <a:schemeClr val="tx1">
                      <a:lumMod val="65000"/>
                      <a:lumOff val="35000"/>
                    </a:schemeClr>
                  </a:solidFill>
                  <a:sym typeface="+mn-ea"/>
                </a:rPr>
                <a:t>2016</a:t>
              </a:r>
              <a:endParaRPr lang="en-US" altLang="zh-CN" sz="900" b="1">
                <a:solidFill>
                  <a:schemeClr val="tx1">
                    <a:lumMod val="65000"/>
                    <a:lumOff val="35000"/>
                  </a:schemeClr>
                </a:solidFill>
                <a:sym typeface="+mn-ea"/>
              </a:endParaRPr>
            </a:p>
          </p:txBody>
        </p:sp>
        <p:sp>
          <p:nvSpPr>
            <p:cNvPr id="132" name="文本框 131"/>
            <p:cNvSpPr txBox="1"/>
            <p:nvPr/>
          </p:nvSpPr>
          <p:spPr>
            <a:xfrm>
              <a:off x="13437" y="16304"/>
              <a:ext cx="444" cy="218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900" b="1">
                  <a:solidFill>
                    <a:schemeClr val="tx1">
                      <a:lumMod val="65000"/>
                      <a:lumOff val="35000"/>
                    </a:schemeClr>
                  </a:solidFill>
                  <a:sym typeface="+mn-ea"/>
                </a:rPr>
                <a:t>2023</a:t>
              </a:r>
              <a:endParaRPr lang="en-US" altLang="zh-CN" sz="900" b="1">
                <a:solidFill>
                  <a:schemeClr val="tx1">
                    <a:lumMod val="65000"/>
                    <a:lumOff val="35000"/>
                  </a:schemeClr>
                </a:solidFill>
                <a:sym typeface="+mn-ea"/>
              </a:endParaRP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/>
          <p:nvPr/>
        </p:nvPicPr>
        <p:blipFill>
          <a:blip r:embed="rId1"/>
          <a:srcRect l="50166" t="71" r="-5" b="-71"/>
          <a:stretch>
            <a:fillRect/>
          </a:stretch>
        </p:blipFill>
        <p:spPr>
          <a:xfrm>
            <a:off x="7909284" y="10594660"/>
            <a:ext cx="3248311" cy="2563573"/>
          </a:xfrm>
          <a:prstGeom prst="rect">
            <a:avLst/>
          </a:prstGeom>
        </p:spPr>
      </p:pic>
      <p:pic>
        <p:nvPicPr>
          <p:cNvPr id="6" name="图片 5"/>
          <p:cNvPicPr/>
          <p:nvPr/>
        </p:nvPicPr>
        <p:blipFill>
          <a:blip r:embed="rId1"/>
          <a:srcRect r="50161"/>
          <a:stretch>
            <a:fillRect/>
          </a:stretch>
        </p:blipFill>
        <p:spPr>
          <a:xfrm>
            <a:off x="4335213" y="10603233"/>
            <a:ext cx="3248311" cy="2563573"/>
          </a:xfrm>
          <a:prstGeom prst="rect">
            <a:avLst/>
          </a:prstGeom>
        </p:spPr>
      </p:pic>
      <p:sp>
        <p:nvSpPr>
          <p:cNvPr id="66" name="矩形 65"/>
          <p:cNvSpPr/>
          <p:nvPr/>
        </p:nvSpPr>
        <p:spPr>
          <a:xfrm>
            <a:off x="3324925" y="5370690"/>
            <a:ext cx="7104564" cy="38148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15" dirty="0"/>
          </a:p>
        </p:txBody>
      </p:sp>
      <p:grpSp>
        <p:nvGrpSpPr>
          <p:cNvPr id="30" name="Group 29"/>
          <p:cNvGrpSpPr/>
          <p:nvPr/>
        </p:nvGrpSpPr>
        <p:grpSpPr>
          <a:xfrm>
            <a:off x="3381362" y="5443915"/>
            <a:ext cx="6929897" cy="3798388"/>
            <a:chOff x="410845" y="927735"/>
            <a:chExt cx="12319635" cy="6752590"/>
          </a:xfrm>
        </p:grpSpPr>
        <p:grpSp>
          <p:nvGrpSpPr>
            <p:cNvPr id="64" name="组合 63"/>
            <p:cNvGrpSpPr/>
            <p:nvPr/>
          </p:nvGrpSpPr>
          <p:grpSpPr>
            <a:xfrm>
              <a:off x="410845" y="927735"/>
              <a:ext cx="12319635" cy="6752590"/>
              <a:chOff x="647" y="1461"/>
              <a:chExt cx="19401" cy="10634"/>
            </a:xfrm>
          </p:grpSpPr>
          <p:pic>
            <p:nvPicPr>
              <p:cNvPr id="11" name="图片 10"/>
              <p:cNvPicPr>
                <a:picLocks noChangeAspect="1"/>
              </p:cNvPicPr>
              <p:nvPr/>
            </p:nvPicPr>
            <p:blipFill>
              <a:blip r:embed="rId2"/>
              <a:srcRect t="1124"/>
              <a:stretch>
                <a:fillRect/>
              </a:stretch>
            </p:blipFill>
            <p:spPr>
              <a:xfrm>
                <a:off x="647" y="2767"/>
                <a:ext cx="19200" cy="7920"/>
              </a:xfrm>
              <a:prstGeom prst="rect">
                <a:avLst/>
              </a:prstGeom>
            </p:spPr>
          </p:pic>
          <p:grpSp>
            <p:nvGrpSpPr>
              <p:cNvPr id="12" name="组合 11"/>
              <p:cNvGrpSpPr/>
              <p:nvPr/>
            </p:nvGrpSpPr>
            <p:grpSpPr>
              <a:xfrm>
                <a:off x="1609" y="9777"/>
                <a:ext cx="8717" cy="993"/>
                <a:chOff x="1420" y="9835"/>
                <a:chExt cx="8717" cy="993"/>
              </a:xfrm>
            </p:grpSpPr>
            <p:sp>
              <p:nvSpPr>
                <p:cNvPr id="8" name="矩形 7"/>
                <p:cNvSpPr/>
                <p:nvPr/>
              </p:nvSpPr>
              <p:spPr>
                <a:xfrm rot="5400000">
                  <a:off x="5245" y="6010"/>
                  <a:ext cx="993" cy="8643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37" name="文本框 36"/>
                <p:cNvSpPr txBox="1"/>
                <p:nvPr/>
              </p:nvSpPr>
              <p:spPr>
                <a:xfrm>
                  <a:off x="5669" y="9926"/>
                  <a:ext cx="885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0%</a:t>
                  </a:r>
                  <a:endParaRPr lang="en-US" altLang="zh-CN" sz="1125"/>
                </a:p>
              </p:txBody>
            </p:sp>
            <p:sp>
              <p:nvSpPr>
                <p:cNvPr id="38" name="文本框 37"/>
                <p:cNvSpPr txBox="1"/>
                <p:nvPr/>
              </p:nvSpPr>
              <p:spPr>
                <a:xfrm>
                  <a:off x="9094" y="9937"/>
                  <a:ext cx="10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6%</a:t>
                  </a:r>
                  <a:endParaRPr lang="en-US" altLang="zh-CN" sz="1125"/>
                </a:p>
              </p:txBody>
            </p:sp>
            <p:sp>
              <p:nvSpPr>
                <p:cNvPr id="39" name="文本框 38"/>
                <p:cNvSpPr txBox="1"/>
                <p:nvPr/>
              </p:nvSpPr>
              <p:spPr>
                <a:xfrm>
                  <a:off x="2056" y="9861"/>
                  <a:ext cx="1073" cy="58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-6%</a:t>
                  </a:r>
                  <a:endParaRPr lang="en-US" altLang="zh-CN" sz="1125"/>
                </a:p>
              </p:txBody>
            </p:sp>
            <p:sp>
              <p:nvSpPr>
                <p:cNvPr id="43" name="文本框 42"/>
                <p:cNvSpPr txBox="1"/>
                <p:nvPr/>
              </p:nvSpPr>
              <p:spPr>
                <a:xfrm>
                  <a:off x="6996" y="10251"/>
                  <a:ext cx="3099" cy="43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l"/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probability(</a:t>
                  </a:r>
                  <a:r>
                    <a:rPr lang="zh-CN" altLang="en-US" sz="1350"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rPr>
                    <a:t>Δ</a:t>
                  </a:r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α)</a:t>
                  </a:r>
                  <a:endParaRPr lang="en-US" altLang="zh-CN" sz="1350" i="1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grpSp>
            <p:nvGrpSpPr>
              <p:cNvPr id="26" name="组合 25"/>
              <p:cNvGrpSpPr/>
              <p:nvPr/>
            </p:nvGrpSpPr>
            <p:grpSpPr>
              <a:xfrm>
                <a:off x="10507" y="2632"/>
                <a:ext cx="1252" cy="7156"/>
                <a:chOff x="10399" y="3051"/>
                <a:chExt cx="1252" cy="7054"/>
              </a:xfrm>
            </p:grpSpPr>
            <p:sp>
              <p:nvSpPr>
                <p:cNvPr id="14" name="矩形 13"/>
                <p:cNvSpPr/>
                <p:nvPr/>
              </p:nvSpPr>
              <p:spPr>
                <a:xfrm>
                  <a:off x="10399" y="3051"/>
                  <a:ext cx="1252" cy="7054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 useBgFill="1">
              <p:nvSpPr>
                <p:cNvPr id="48" name="文本框 47"/>
                <p:cNvSpPr txBox="1"/>
                <p:nvPr/>
              </p:nvSpPr>
              <p:spPr>
                <a:xfrm>
                  <a:off x="10485" y="3678"/>
                  <a:ext cx="1069" cy="442"/>
                </a:xfrm>
                <a:prstGeom prst="rect">
                  <a:avLst/>
                </a:prstGeom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0.04</a:t>
                  </a:r>
                  <a:endParaRPr lang="en-US" altLang="zh-CN" sz="1125"/>
                </a:p>
              </p:txBody>
            </p:sp>
            <p:sp>
              <p:nvSpPr>
                <p:cNvPr id="49" name="文本框 48"/>
                <p:cNvSpPr txBox="1"/>
                <p:nvPr/>
              </p:nvSpPr>
              <p:spPr>
                <a:xfrm>
                  <a:off x="10740" y="6129"/>
                  <a:ext cx="77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</a:t>
                  </a:r>
                  <a:endParaRPr lang="en-US" altLang="zh-CN" sz="1125"/>
                </a:p>
              </p:txBody>
            </p:sp>
            <p:sp>
              <p:nvSpPr>
                <p:cNvPr id="50" name="文本框 49"/>
                <p:cNvSpPr txBox="1"/>
                <p:nvPr/>
              </p:nvSpPr>
              <p:spPr>
                <a:xfrm>
                  <a:off x="10798" y="3051"/>
                  <a:ext cx="853" cy="44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zh-CN" altLang="en-US" sz="1350"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rPr>
                    <a:t>Δ</a:t>
                  </a:r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δ</a:t>
                  </a:r>
                  <a:endParaRPr lang="en-US" altLang="zh-CN" sz="1350" i="1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55" name="文本框 54"/>
                <p:cNvSpPr txBox="1"/>
                <p:nvPr/>
              </p:nvSpPr>
              <p:spPr>
                <a:xfrm>
                  <a:off x="10400" y="8553"/>
                  <a:ext cx="1154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-0.04</a:t>
                  </a:r>
                  <a:endParaRPr lang="en-US" altLang="zh-CN" sz="1125"/>
                </a:p>
              </p:txBody>
            </p:sp>
          </p:grp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6" name="文本框 35"/>
                  <p:cNvSpPr txBox="1"/>
                  <p:nvPr/>
                </p:nvSpPr>
                <p:spPr>
                  <a:xfrm>
                    <a:off x="1838" y="1461"/>
                    <a:ext cx="8139" cy="141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35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Change of Structural Zero Params</a:t>
                    </a:r>
                    <a:endParaRPr lang="en-US" altLang="zh-CN" sz="135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𝜑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𝑙𝑜𝑔𝑖𝑠𝑡𝑖𝑐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+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𝛽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35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36" name="文本框 3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38" y="1461"/>
                    <a:ext cx="8139" cy="1419"/>
                  </a:xfrm>
                  <a:prstGeom prst="rect">
                    <a:avLst/>
                  </a:prstGeom>
                  <a:blipFill rotWithShape="1">
                    <a:blip r:embed="rId3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24" name="组合 23"/>
              <p:cNvGrpSpPr/>
              <p:nvPr/>
            </p:nvGrpSpPr>
            <p:grpSpPr>
              <a:xfrm>
                <a:off x="647" y="2767"/>
                <a:ext cx="1442" cy="6919"/>
                <a:chOff x="647" y="3188"/>
                <a:chExt cx="1442" cy="6919"/>
              </a:xfrm>
            </p:grpSpPr>
            <p:sp>
              <p:nvSpPr>
                <p:cNvPr id="7" name="矩形 6"/>
                <p:cNvSpPr/>
                <p:nvPr/>
              </p:nvSpPr>
              <p:spPr>
                <a:xfrm>
                  <a:off x="647" y="3189"/>
                  <a:ext cx="1442" cy="6918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40" name="文本框 39"/>
                <p:cNvSpPr txBox="1"/>
                <p:nvPr/>
              </p:nvSpPr>
              <p:spPr>
                <a:xfrm>
                  <a:off x="902" y="4069"/>
                  <a:ext cx="1092" cy="38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0.08</a:t>
                  </a:r>
                  <a:endParaRPr lang="en-US" altLang="zh-CN" sz="1125"/>
                </a:p>
              </p:txBody>
            </p:sp>
            <p:sp>
              <p:nvSpPr>
                <p:cNvPr id="41" name="文本框 40"/>
                <p:cNvSpPr txBox="1"/>
                <p:nvPr/>
              </p:nvSpPr>
              <p:spPr>
                <a:xfrm>
                  <a:off x="735" y="7457"/>
                  <a:ext cx="1103" cy="40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</a:t>
                  </a:r>
                  <a:endParaRPr lang="en-US" altLang="zh-CN" sz="1125"/>
                </a:p>
              </p:txBody>
            </p:sp>
            <p:sp>
              <p:nvSpPr>
                <p:cNvPr id="42" name="文本框 41"/>
                <p:cNvSpPr txBox="1"/>
                <p:nvPr/>
              </p:nvSpPr>
              <p:spPr>
                <a:xfrm>
                  <a:off x="1001" y="3188"/>
                  <a:ext cx="993" cy="42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zh-CN" altLang="en-US" sz="1350"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rPr>
                    <a:t>Δ</a:t>
                  </a:r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β</a:t>
                  </a:r>
                  <a:endParaRPr lang="en-US" altLang="zh-CN" sz="1350" i="1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" name="文本框 16"/>
                <p:cNvSpPr txBox="1"/>
                <p:nvPr/>
              </p:nvSpPr>
              <p:spPr>
                <a:xfrm>
                  <a:off x="902" y="9157"/>
                  <a:ext cx="1092" cy="38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-0.04</a:t>
                  </a:r>
                  <a:endParaRPr lang="en-US" altLang="zh-CN" sz="1125"/>
                </a:p>
              </p:txBody>
            </p:sp>
            <p:sp>
              <p:nvSpPr>
                <p:cNvPr id="18" name="文本框 17"/>
                <p:cNvSpPr txBox="1"/>
                <p:nvPr/>
              </p:nvSpPr>
              <p:spPr>
                <a:xfrm>
                  <a:off x="902" y="5743"/>
                  <a:ext cx="1092" cy="38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0.04</a:t>
                  </a:r>
                  <a:endParaRPr lang="en-US" altLang="zh-CN" sz="1125"/>
                </a:p>
              </p:txBody>
            </p:sp>
          </p:grp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9" name="文本框 18"/>
                  <p:cNvSpPr txBox="1"/>
                  <p:nvPr/>
                </p:nvSpPr>
                <p:spPr>
                  <a:xfrm>
                    <a:off x="11204" y="1621"/>
                    <a:ext cx="8844" cy="141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35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Change of Actual Construction Params</a:t>
                    </a:r>
                    <a:endParaRPr lang="en-US" altLang="zh-CN" sz="135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𝜋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𝑙𝑜𝑔𝑖𝑠𝑡𝑖𝑐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𝛿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35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19" name="文本框 1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204" y="1621"/>
                    <a:ext cx="8844" cy="1419"/>
                  </a:xfrm>
                  <a:prstGeom prst="rect">
                    <a:avLst/>
                  </a:prstGeom>
                  <a:blipFill rotWithShape="1">
                    <a:blip r:embed="rId4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20" name="组合 19"/>
              <p:cNvGrpSpPr/>
              <p:nvPr/>
            </p:nvGrpSpPr>
            <p:grpSpPr>
              <a:xfrm>
                <a:off x="11204" y="9686"/>
                <a:ext cx="8643" cy="1009"/>
                <a:chOff x="11000" y="9740"/>
                <a:chExt cx="8643" cy="1009"/>
              </a:xfrm>
            </p:grpSpPr>
            <p:sp>
              <p:nvSpPr>
                <p:cNvPr id="15" name="矩形 14"/>
                <p:cNvSpPr/>
                <p:nvPr/>
              </p:nvSpPr>
              <p:spPr>
                <a:xfrm rot="5400000">
                  <a:off x="14817" y="5923"/>
                  <a:ext cx="1009" cy="8643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51" name="文本框 50"/>
                <p:cNvSpPr txBox="1"/>
                <p:nvPr/>
              </p:nvSpPr>
              <p:spPr>
                <a:xfrm>
                  <a:off x="16551" y="10182"/>
                  <a:ext cx="3092" cy="51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l"/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probability(</a:t>
                  </a:r>
                  <a:r>
                    <a:rPr lang="zh-CN" altLang="en-US" sz="1350"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rPr>
                    <a:t>Δ</a:t>
                  </a:r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κ)</a:t>
                  </a:r>
                  <a:endParaRPr lang="en-US" altLang="zh-CN" sz="1350" i="1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6" name="文本框 45"/>
                <p:cNvSpPr txBox="1"/>
                <p:nvPr/>
              </p:nvSpPr>
              <p:spPr>
                <a:xfrm>
                  <a:off x="18460" y="9832"/>
                  <a:ext cx="887" cy="38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en-US" altLang="zh-CN" sz="1125"/>
                    <a:t>6%</a:t>
                  </a:r>
                  <a:endParaRPr lang="en-US" altLang="zh-CN" sz="1125"/>
                </a:p>
              </p:txBody>
            </p:sp>
            <p:sp>
              <p:nvSpPr>
                <p:cNvPr id="47" name="文本框 46"/>
                <p:cNvSpPr txBox="1"/>
                <p:nvPr/>
              </p:nvSpPr>
              <p:spPr>
                <a:xfrm>
                  <a:off x="12824" y="9832"/>
                  <a:ext cx="871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-2%</a:t>
                  </a:r>
                  <a:endParaRPr lang="en-US" altLang="zh-CN" sz="1125"/>
                </a:p>
              </p:txBody>
            </p:sp>
            <p:sp>
              <p:nvSpPr>
                <p:cNvPr id="53" name="文本框 52"/>
                <p:cNvSpPr txBox="1"/>
                <p:nvPr/>
              </p:nvSpPr>
              <p:spPr>
                <a:xfrm>
                  <a:off x="14303" y="9832"/>
                  <a:ext cx="885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en-US" altLang="zh-CN" sz="1125"/>
                    <a:t>0%</a:t>
                  </a:r>
                  <a:endParaRPr lang="en-US" altLang="zh-CN" sz="1125"/>
                </a:p>
              </p:txBody>
            </p:sp>
            <p:sp>
              <p:nvSpPr>
                <p:cNvPr id="10" name="文本框 9"/>
                <p:cNvSpPr txBox="1"/>
                <p:nvPr/>
              </p:nvSpPr>
              <p:spPr>
                <a:xfrm>
                  <a:off x="15796" y="9844"/>
                  <a:ext cx="871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2%</a:t>
                  </a:r>
                  <a:endParaRPr lang="en-US" altLang="zh-CN" sz="1125"/>
                </a:p>
              </p:txBody>
            </p:sp>
          </p:grpSp>
          <p:grpSp>
            <p:nvGrpSpPr>
              <p:cNvPr id="59" name="组合 58"/>
              <p:cNvGrpSpPr/>
              <p:nvPr/>
            </p:nvGrpSpPr>
            <p:grpSpPr>
              <a:xfrm>
                <a:off x="6986" y="10883"/>
                <a:ext cx="8899" cy="1212"/>
                <a:chOff x="6124" y="10847"/>
                <a:chExt cx="8899" cy="1212"/>
              </a:xfrm>
            </p:grpSpPr>
            <p:sp>
              <p:nvSpPr>
                <p:cNvPr id="33" name="文本框 32"/>
                <p:cNvSpPr txBox="1"/>
                <p:nvPr/>
              </p:nvSpPr>
              <p:spPr>
                <a:xfrm>
                  <a:off x="12483" y="10892"/>
                  <a:ext cx="2540" cy="11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015"/>
                    <a:t>Latin America</a:t>
                  </a:r>
                  <a:endParaRPr lang="en-US" altLang="zh-CN" sz="1015"/>
                </a:p>
              </p:txBody>
            </p:sp>
            <p:sp>
              <p:nvSpPr>
                <p:cNvPr id="29" name="文本框 28"/>
                <p:cNvSpPr txBox="1"/>
                <p:nvPr/>
              </p:nvSpPr>
              <p:spPr>
                <a:xfrm>
                  <a:off x="6331" y="10928"/>
                  <a:ext cx="1310" cy="11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015"/>
                    <a:t>Africa</a:t>
                  </a:r>
                  <a:endParaRPr lang="en-US" altLang="zh-CN" sz="1015"/>
                </a:p>
              </p:txBody>
            </p:sp>
            <p:sp>
              <p:nvSpPr>
                <p:cNvPr id="31" name="文本框 30"/>
                <p:cNvSpPr txBox="1"/>
                <p:nvPr/>
              </p:nvSpPr>
              <p:spPr>
                <a:xfrm>
                  <a:off x="8012" y="10915"/>
                  <a:ext cx="4471" cy="69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015"/>
                    <a:t>South&amp;South-east Asia</a:t>
                  </a:r>
                  <a:endParaRPr lang="en-US" altLang="zh-CN" sz="1015"/>
                </a:p>
              </p:txBody>
            </p:sp>
            <p:sp>
              <p:nvSpPr>
                <p:cNvPr id="56" name="上箭头 55"/>
                <p:cNvSpPr/>
                <p:nvPr/>
              </p:nvSpPr>
              <p:spPr>
                <a:xfrm>
                  <a:off x="12193" y="10847"/>
                  <a:ext cx="290" cy="651"/>
                </a:xfrm>
                <a:prstGeom prst="upArrow">
                  <a:avLst>
                    <a:gd name="adj1" fmla="val 50000"/>
                    <a:gd name="adj2" fmla="val 101034"/>
                  </a:avLst>
                </a:prstGeom>
                <a:solidFill>
                  <a:srgbClr val="47A2DE">
                    <a:alpha val="7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57" name="上箭头 56"/>
                <p:cNvSpPr/>
                <p:nvPr/>
              </p:nvSpPr>
              <p:spPr>
                <a:xfrm>
                  <a:off x="6124" y="10860"/>
                  <a:ext cx="290" cy="651"/>
                </a:xfrm>
                <a:prstGeom prst="upArrow">
                  <a:avLst>
                    <a:gd name="adj1" fmla="val 50000"/>
                    <a:gd name="adj2" fmla="val 93103"/>
                  </a:avLst>
                </a:prstGeom>
                <a:solidFill>
                  <a:srgbClr val="E85748">
                    <a:alpha val="7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>
                    <a:solidFill>
                      <a:srgbClr val="9467BD"/>
                    </a:solidFill>
                  </a:endParaRPr>
                </a:p>
              </p:txBody>
            </p:sp>
            <p:sp>
              <p:nvSpPr>
                <p:cNvPr id="58" name="上箭头 57"/>
                <p:cNvSpPr/>
                <p:nvPr/>
              </p:nvSpPr>
              <p:spPr>
                <a:xfrm>
                  <a:off x="7810" y="10847"/>
                  <a:ext cx="290" cy="651"/>
                </a:xfrm>
                <a:prstGeom prst="upArrow">
                  <a:avLst>
                    <a:gd name="adj1" fmla="val 50000"/>
                    <a:gd name="adj2" fmla="val 108620"/>
                  </a:avLst>
                </a:prstGeom>
                <a:solidFill>
                  <a:srgbClr val="F39F1B">
                    <a:alpha val="7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</p:grpSp>
          <p:cxnSp>
            <p:nvCxnSpPr>
              <p:cNvPr id="60" name="直接连接符 59"/>
              <p:cNvCxnSpPr/>
              <p:nvPr/>
            </p:nvCxnSpPr>
            <p:spPr>
              <a:xfrm>
                <a:off x="2172" y="7254"/>
                <a:ext cx="7944" cy="0"/>
              </a:xfrm>
              <a:prstGeom prst="line">
                <a:avLst/>
              </a:prstGeom>
              <a:ln w="19050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61" name="直接连接符 60"/>
              <p:cNvCxnSpPr/>
              <p:nvPr/>
            </p:nvCxnSpPr>
            <p:spPr>
              <a:xfrm>
                <a:off x="11827" y="5929"/>
                <a:ext cx="7944" cy="0"/>
              </a:xfrm>
              <a:prstGeom prst="line">
                <a:avLst/>
              </a:prstGeom>
              <a:ln w="19050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62" name="直接连接符 61"/>
              <p:cNvCxnSpPr/>
              <p:nvPr/>
            </p:nvCxnSpPr>
            <p:spPr>
              <a:xfrm>
                <a:off x="6161" y="2821"/>
                <a:ext cx="0" cy="6830"/>
              </a:xfrm>
              <a:prstGeom prst="line">
                <a:avLst/>
              </a:prstGeom>
              <a:ln w="19050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63" name="直接连接符 62"/>
              <p:cNvCxnSpPr/>
              <p:nvPr/>
            </p:nvCxnSpPr>
            <p:spPr>
              <a:xfrm>
                <a:off x="14719" y="2780"/>
                <a:ext cx="0" cy="6830"/>
              </a:xfrm>
              <a:prstGeom prst="line">
                <a:avLst/>
              </a:prstGeom>
              <a:ln w="19050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</p:grpSp>
        <p:sp>
          <p:nvSpPr>
            <p:cNvPr id="2" name="文本框 1"/>
            <p:cNvSpPr txBox="1"/>
            <p:nvPr/>
          </p:nvSpPr>
          <p:spPr>
            <a:xfrm>
              <a:off x="2385695" y="1859280"/>
              <a:ext cx="1438275" cy="9967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zh-CN" sz="1015"/>
                <a:t>36% p(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α</a:t>
              </a:r>
              <a:r>
                <a:rPr lang="en-US" altLang="zh-CN" sz="1015"/>
                <a:t>)</a:t>
              </a:r>
              <a:r>
                <a:rPr lang="en-US" altLang="zh-CN" sz="1015">
                  <a:latin typeface="东文宋体" charset="0"/>
                  <a:ea typeface="东文宋体" charset="0"/>
                </a:rPr>
                <a:t>↓,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β</a:t>
              </a:r>
              <a:r>
                <a:rPr lang="en-US" altLang="zh-CN" sz="1015">
                  <a:latin typeface="东文宋体" charset="0"/>
                  <a:ea typeface="东文宋体" charset="0"/>
                  <a:cs typeface="Arial" panose="020B0604020202020204" pitchFamily="34" charset="0"/>
                </a:rPr>
                <a:t>↑</a:t>
              </a:r>
              <a:endParaRPr lang="zh-CN" altLang="en-US" sz="1015">
                <a:latin typeface="东文宋体" charset="0"/>
                <a:ea typeface="东文宋体" charset="0"/>
                <a:cs typeface="Arial" panose="020B0604020202020204" pitchFamily="34" charset="0"/>
              </a:endParaRPr>
            </a:p>
          </p:txBody>
        </p:sp>
        <p:sp>
          <p:nvSpPr>
            <p:cNvPr id="3" name="文本框 2"/>
            <p:cNvSpPr txBox="1"/>
            <p:nvPr/>
          </p:nvSpPr>
          <p:spPr>
            <a:xfrm>
              <a:off x="4068445" y="1859280"/>
              <a:ext cx="1438275" cy="9967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zh-CN" sz="1015"/>
                <a:t>12% p(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α</a:t>
              </a:r>
              <a:r>
                <a:rPr lang="en-US" altLang="zh-CN" sz="1015"/>
                <a:t>)</a:t>
              </a:r>
              <a:r>
                <a:rPr lang="en-US" altLang="zh-CN" sz="1015">
                  <a:latin typeface="东文宋体" charset="0"/>
                  <a:ea typeface="东文宋体" charset="0"/>
                  <a:cs typeface="Arial" panose="020B0604020202020204" pitchFamily="34" charset="0"/>
                  <a:sym typeface="+mn-ea"/>
                </a:rPr>
                <a:t>↑</a:t>
              </a:r>
              <a:r>
                <a:rPr lang="en-US" altLang="zh-CN" sz="1015">
                  <a:latin typeface="东文宋体" charset="0"/>
                  <a:ea typeface="东文宋体" charset="0"/>
                </a:rPr>
                <a:t>,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β</a:t>
              </a:r>
              <a:r>
                <a:rPr lang="en-US" altLang="zh-CN" sz="1015">
                  <a:latin typeface="东文宋体" charset="0"/>
                  <a:ea typeface="东文宋体" charset="0"/>
                  <a:cs typeface="Arial" panose="020B0604020202020204" pitchFamily="34" charset="0"/>
                </a:rPr>
                <a:t>↑</a:t>
              </a:r>
              <a:endParaRPr lang="zh-CN" altLang="en-US" sz="1015">
                <a:latin typeface="东文宋体" charset="0"/>
                <a:ea typeface="东文宋体" charset="0"/>
                <a:cs typeface="Arial" panose="020B0604020202020204" pitchFamily="34" charset="0"/>
              </a:endParaRPr>
            </a:p>
          </p:txBody>
        </p:sp>
        <p:sp>
          <p:nvSpPr>
            <p:cNvPr id="4" name="文本框 3"/>
            <p:cNvSpPr txBox="1"/>
            <p:nvPr/>
          </p:nvSpPr>
          <p:spPr>
            <a:xfrm>
              <a:off x="1639570" y="5347970"/>
              <a:ext cx="1438275" cy="9967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zh-CN" sz="1015"/>
                <a:t>22% p(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α</a:t>
              </a:r>
              <a:r>
                <a:rPr lang="en-US" altLang="zh-CN" sz="1015"/>
                <a:t>)</a:t>
              </a:r>
              <a:r>
                <a:rPr lang="en-US" altLang="zh-CN" sz="1015">
                  <a:latin typeface="东文宋体" charset="0"/>
                  <a:ea typeface="东文宋体" charset="0"/>
                </a:rPr>
                <a:t>↓,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β</a:t>
              </a:r>
              <a:r>
                <a:rPr lang="en-US" altLang="zh-CN" sz="1015">
                  <a:latin typeface="东文宋体" charset="0"/>
                  <a:ea typeface="东文宋体" charset="0"/>
                  <a:sym typeface="+mn-ea"/>
                </a:rPr>
                <a:t>↓</a:t>
              </a:r>
              <a:endParaRPr lang="zh-CN" altLang="en-US" sz="1015">
                <a:latin typeface="东文宋体" charset="0"/>
                <a:ea typeface="东文宋体" charset="0"/>
                <a:cs typeface="Arial" panose="020B0604020202020204" pitchFamily="34" charset="0"/>
              </a:endParaRP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4897120" y="5347970"/>
              <a:ext cx="1438275" cy="9967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zh-CN" sz="1015"/>
                <a:t>30% p(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α</a:t>
              </a:r>
              <a:r>
                <a:rPr lang="en-US" altLang="zh-CN" sz="1015"/>
                <a:t>)</a:t>
              </a:r>
              <a:r>
                <a:rPr lang="en-US" altLang="zh-CN" sz="1015">
                  <a:latin typeface="东文宋体" charset="0"/>
                  <a:ea typeface="东文宋体" charset="0"/>
                  <a:cs typeface="Arial" panose="020B0604020202020204" pitchFamily="34" charset="0"/>
                  <a:sym typeface="+mn-ea"/>
                </a:rPr>
                <a:t>↑</a:t>
              </a:r>
              <a:r>
                <a:rPr lang="en-US" altLang="zh-CN" sz="1015">
                  <a:latin typeface="东文宋体" charset="0"/>
                  <a:ea typeface="东文宋体" charset="0"/>
                </a:rPr>
                <a:t>,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β</a:t>
              </a:r>
              <a:r>
                <a:rPr lang="en-US" altLang="zh-CN" sz="1015">
                  <a:latin typeface="东文宋体" charset="0"/>
                  <a:ea typeface="东文宋体" charset="0"/>
                  <a:sym typeface="+mn-ea"/>
                </a:rPr>
                <a:t>↓</a:t>
              </a:r>
              <a:endParaRPr lang="zh-CN" altLang="en-US" sz="1015">
                <a:latin typeface="东文宋体" charset="0"/>
                <a:ea typeface="东文宋体" charset="0"/>
                <a:cs typeface="Arial" panose="020B0604020202020204" pitchFamily="34" charset="0"/>
              </a:endParaRPr>
            </a:p>
          </p:txBody>
        </p:sp>
        <p:sp>
          <p:nvSpPr>
            <p:cNvPr id="13" name="文本框 12"/>
            <p:cNvSpPr txBox="1"/>
            <p:nvPr/>
          </p:nvSpPr>
          <p:spPr>
            <a:xfrm>
              <a:off x="7593965" y="1859280"/>
              <a:ext cx="1438275" cy="7179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zh-CN" sz="1015"/>
                <a:t>8% p(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κ</a:t>
              </a:r>
              <a:r>
                <a:rPr lang="en-US" altLang="zh-CN" sz="1015"/>
                <a:t>)</a:t>
              </a:r>
              <a:r>
                <a:rPr lang="en-US" altLang="zh-CN" sz="1015">
                  <a:latin typeface="东文宋体" charset="0"/>
                  <a:ea typeface="东文宋体" charset="0"/>
                </a:rPr>
                <a:t>↓,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δ</a:t>
              </a:r>
              <a:r>
                <a:rPr lang="en-US" altLang="zh-CN" sz="1015">
                  <a:latin typeface="东文宋体" charset="0"/>
                  <a:ea typeface="东文宋体" charset="0"/>
                  <a:cs typeface="Arial" panose="020B0604020202020204" pitchFamily="34" charset="0"/>
                </a:rPr>
                <a:t>↑</a:t>
              </a:r>
              <a:endParaRPr lang="zh-CN" altLang="en-US" sz="1015">
                <a:latin typeface="东文宋体" charset="0"/>
                <a:ea typeface="东文宋体" charset="0"/>
                <a:cs typeface="Arial" panose="020B0604020202020204" pitchFamily="34" charset="0"/>
              </a:endParaRPr>
            </a:p>
          </p:txBody>
        </p:sp>
        <p:sp>
          <p:nvSpPr>
            <p:cNvPr id="23" name="文本框 22"/>
            <p:cNvSpPr txBox="1"/>
            <p:nvPr/>
          </p:nvSpPr>
          <p:spPr>
            <a:xfrm>
              <a:off x="7593965" y="5347970"/>
              <a:ext cx="1438275" cy="7179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zh-CN" sz="1015"/>
                <a:t>21% p(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κ</a:t>
              </a:r>
              <a:r>
                <a:rPr lang="en-US" altLang="zh-CN" sz="1015"/>
                <a:t>)</a:t>
              </a:r>
              <a:r>
                <a:rPr lang="en-US" altLang="zh-CN" sz="1015">
                  <a:latin typeface="东文宋体" charset="0"/>
                  <a:ea typeface="东文宋体" charset="0"/>
                </a:rPr>
                <a:t>↓,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δ</a:t>
              </a:r>
              <a:r>
                <a:rPr lang="en-US" altLang="zh-CN" sz="1015">
                  <a:latin typeface="东文宋体" charset="0"/>
                  <a:ea typeface="东文宋体" charset="0"/>
                  <a:sym typeface="+mn-ea"/>
                </a:rPr>
                <a:t>↓</a:t>
              </a:r>
              <a:endParaRPr lang="zh-CN" altLang="en-US" sz="1015">
                <a:latin typeface="东文宋体" charset="0"/>
                <a:ea typeface="东文宋体" charset="0"/>
                <a:cs typeface="Arial" panose="020B0604020202020204" pitchFamily="34" charset="0"/>
              </a:endParaRPr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10901680" y="5347970"/>
              <a:ext cx="1438275" cy="7179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zh-CN" sz="1015"/>
                <a:t>27% p(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κ</a:t>
              </a:r>
              <a:r>
                <a:rPr lang="en-US" altLang="zh-CN" sz="1015"/>
                <a:t>)</a:t>
              </a:r>
              <a:r>
                <a:rPr lang="en-US" altLang="zh-CN" sz="1015">
                  <a:latin typeface="东文宋体" charset="0"/>
                  <a:ea typeface="东文宋体" charset="0"/>
                  <a:cs typeface="Arial" panose="020B0604020202020204" pitchFamily="34" charset="0"/>
                  <a:sym typeface="+mn-ea"/>
                </a:rPr>
                <a:t>↑</a:t>
              </a:r>
              <a:r>
                <a:rPr lang="en-US" altLang="zh-CN" sz="1015">
                  <a:latin typeface="东文宋体" charset="0"/>
                  <a:ea typeface="东文宋体" charset="0"/>
                </a:rPr>
                <a:t>,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δ</a:t>
              </a:r>
              <a:r>
                <a:rPr lang="en-US" altLang="zh-CN" sz="1015">
                  <a:latin typeface="东文宋体" charset="0"/>
                  <a:ea typeface="东文宋体" charset="0"/>
                  <a:sym typeface="+mn-ea"/>
                </a:rPr>
                <a:t>↓</a:t>
              </a:r>
              <a:endParaRPr lang="zh-CN" altLang="en-US" sz="1015">
                <a:latin typeface="东文宋体" charset="0"/>
                <a:ea typeface="东文宋体" charset="0"/>
                <a:cs typeface="Arial" panose="020B0604020202020204" pitchFamily="34" charset="0"/>
              </a:endParaRPr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10901680" y="1859280"/>
              <a:ext cx="1438275" cy="7179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zh-CN" sz="1015"/>
                <a:t>44% p(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κ</a:t>
              </a:r>
              <a:r>
                <a:rPr lang="en-US" altLang="zh-CN" sz="1015"/>
                <a:t>)</a:t>
              </a:r>
              <a:r>
                <a:rPr lang="en-US" altLang="zh-CN" sz="1015">
                  <a:latin typeface="东文宋体" charset="0"/>
                  <a:ea typeface="东文宋体" charset="0"/>
                  <a:cs typeface="Arial" panose="020B0604020202020204" pitchFamily="34" charset="0"/>
                  <a:sym typeface="+mn-ea"/>
                </a:rPr>
                <a:t>↑</a:t>
              </a:r>
              <a:r>
                <a:rPr lang="en-US" altLang="zh-CN" sz="1015">
                  <a:latin typeface="东文宋体" charset="0"/>
                  <a:ea typeface="东文宋体" charset="0"/>
                </a:rPr>
                <a:t>,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δ</a:t>
              </a:r>
              <a:r>
                <a:rPr lang="en-US" altLang="zh-CN" sz="1015">
                  <a:latin typeface="东文宋体" charset="0"/>
                  <a:ea typeface="东文宋体" charset="0"/>
                  <a:cs typeface="Arial" panose="020B0604020202020204" pitchFamily="34" charset="0"/>
                </a:rPr>
                <a:t>↑</a:t>
              </a:r>
              <a:endParaRPr lang="zh-CN" altLang="en-US" sz="1015">
                <a:latin typeface="东文宋体" charset="0"/>
                <a:ea typeface="东文宋体" charset="0"/>
                <a:cs typeface="Arial" panose="020B0604020202020204" pitchFamily="34" charset="0"/>
              </a:endParaRP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矩形 65"/>
          <p:cNvSpPr/>
          <p:nvPr/>
        </p:nvSpPr>
        <p:spPr>
          <a:xfrm>
            <a:off x="651510" y="5314315"/>
            <a:ext cx="8441055" cy="337121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15"/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rcRect l="49624"/>
          <a:stretch>
            <a:fillRect/>
          </a:stretch>
        </p:blipFill>
        <p:spPr>
          <a:xfrm>
            <a:off x="3380740" y="6019800"/>
            <a:ext cx="2720975" cy="2253615"/>
          </a:xfrm>
          <a:prstGeom prst="rect">
            <a:avLst/>
          </a:prstGeom>
        </p:spPr>
      </p:pic>
      <p:sp>
        <p:nvSpPr>
          <p:cNvPr id="8" name="矩形 7"/>
          <p:cNvSpPr/>
          <p:nvPr/>
        </p:nvSpPr>
        <p:spPr>
          <a:xfrm rot="5400000">
            <a:off x="4992370" y="4238625"/>
            <a:ext cx="329565" cy="78701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125"/>
          </a:p>
        </p:txBody>
      </p:sp>
      <p:sp>
        <p:nvSpPr>
          <p:cNvPr id="7" name="矩形 6"/>
          <p:cNvSpPr/>
          <p:nvPr/>
        </p:nvSpPr>
        <p:spPr>
          <a:xfrm>
            <a:off x="787400" y="5884545"/>
            <a:ext cx="330200" cy="261048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zh-CN" sz="1125"/>
          </a:p>
        </p:txBody>
      </p:sp>
      <p:sp>
        <p:nvSpPr>
          <p:cNvPr id="5" name="矩形 4"/>
          <p:cNvSpPr/>
          <p:nvPr/>
        </p:nvSpPr>
        <p:spPr>
          <a:xfrm>
            <a:off x="3411220" y="5846445"/>
            <a:ext cx="413385" cy="261048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zh-CN" sz="1125"/>
          </a:p>
        </p:txBody>
      </p:sp>
      <p:sp>
        <p:nvSpPr>
          <p:cNvPr id="14" name="文本框 13"/>
          <p:cNvSpPr txBox="1"/>
          <p:nvPr/>
        </p:nvSpPr>
        <p:spPr>
          <a:xfrm>
            <a:off x="3992880" y="8008620"/>
            <a:ext cx="393700" cy="14795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r>
              <a:rPr lang="en-US" altLang="zh-CN" sz="1125"/>
              <a:t>-0.04</a:t>
            </a:r>
            <a:endParaRPr lang="en-US" altLang="zh-CN" sz="1125"/>
          </a:p>
        </p:txBody>
      </p:sp>
      <p:sp>
        <p:nvSpPr>
          <p:cNvPr id="15" name="文本框 14"/>
          <p:cNvSpPr txBox="1"/>
          <p:nvPr/>
        </p:nvSpPr>
        <p:spPr>
          <a:xfrm>
            <a:off x="5277485" y="8008620"/>
            <a:ext cx="300990" cy="14795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/>
            <a:r>
              <a:rPr lang="en-US" altLang="zh-CN" sz="1125"/>
              <a:t>0.04</a:t>
            </a:r>
            <a:endParaRPr lang="en-US" altLang="zh-CN" sz="1125"/>
          </a:p>
        </p:txBody>
      </p:sp>
      <p:sp>
        <p:nvSpPr>
          <p:cNvPr id="16" name="文本框 15"/>
          <p:cNvSpPr txBox="1"/>
          <p:nvPr/>
        </p:nvSpPr>
        <p:spPr>
          <a:xfrm>
            <a:off x="5735955" y="8008620"/>
            <a:ext cx="469900" cy="14795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/>
            <a:r>
              <a:rPr lang="zh-CN" altLang="en-US" sz="135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Δ</a:t>
            </a:r>
            <a:r>
              <a:rPr lang="en-US" altLang="zh-CN" sz="1350" i="1">
                <a:latin typeface="Arial" panose="020B0604020202020204" pitchFamily="34" charset="0"/>
                <a:cs typeface="Arial" panose="020B0604020202020204" pitchFamily="34" charset="0"/>
              </a:rPr>
              <a:t>B</a:t>
            </a:r>
            <a:endParaRPr lang="en-US" altLang="zh-CN" sz="1350" i="1">
              <a:latin typeface="Arial" panose="020B0604020202020204" pitchFamily="34" charset="0"/>
              <a:ea typeface="宋体" panose="02010600030101010101" pitchFamily="2" charset="-122"/>
              <a:cs typeface="Arial" panose="020B0604020202020204" pitchFamily="34" charset="0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3510915" y="5907405"/>
            <a:ext cx="344170" cy="14795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/>
            <a:r>
              <a:rPr lang="zh-CN" altLang="en-US" sz="135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Δ</a:t>
            </a:r>
            <a:r>
              <a:rPr lang="en-US" altLang="zh-CN" sz="1350" i="1">
                <a:latin typeface="Arial" panose="020B0604020202020204" pitchFamily="34" charset="0"/>
                <a:cs typeface="Arial" panose="020B0604020202020204" pitchFamily="34" charset="0"/>
              </a:rPr>
              <a:t>C</a:t>
            </a:r>
            <a:endParaRPr lang="en-US" altLang="zh-CN" sz="1350" i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4774565" y="8008620"/>
            <a:ext cx="94615" cy="14795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altLang="zh-CN" sz="1125"/>
              <a:t>0</a:t>
            </a:r>
            <a:endParaRPr lang="en-US" altLang="zh-CN" sz="1125"/>
          </a:p>
        </p:txBody>
      </p:sp>
      <p:sp>
        <p:nvSpPr>
          <p:cNvPr id="21" name="文本框 20"/>
          <p:cNvSpPr txBox="1"/>
          <p:nvPr/>
        </p:nvSpPr>
        <p:spPr>
          <a:xfrm>
            <a:off x="3449320" y="6925310"/>
            <a:ext cx="393700" cy="14795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r>
              <a:rPr lang="en-US" altLang="zh-CN" sz="1125"/>
              <a:t>0</a:t>
            </a:r>
            <a:endParaRPr lang="en-US" altLang="zh-CN" sz="1125"/>
          </a:p>
        </p:txBody>
      </p:sp>
      <p:sp>
        <p:nvSpPr>
          <p:cNvPr id="23" name="文本框 22"/>
          <p:cNvSpPr txBox="1"/>
          <p:nvPr/>
        </p:nvSpPr>
        <p:spPr>
          <a:xfrm>
            <a:off x="3300730" y="7394575"/>
            <a:ext cx="506095" cy="14795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r>
              <a:rPr lang="en-US" altLang="zh-CN" sz="1015"/>
              <a:t>-0.005</a:t>
            </a:r>
            <a:endParaRPr lang="en-US" altLang="zh-CN" sz="1015"/>
          </a:p>
        </p:txBody>
      </p:sp>
      <p:sp>
        <p:nvSpPr>
          <p:cNvPr id="24" name="文本框 23"/>
          <p:cNvSpPr txBox="1"/>
          <p:nvPr/>
        </p:nvSpPr>
        <p:spPr>
          <a:xfrm>
            <a:off x="3413125" y="6415405"/>
            <a:ext cx="393700" cy="14795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r>
              <a:rPr lang="en-US" altLang="zh-CN" sz="1015"/>
              <a:t>0.005</a:t>
            </a:r>
            <a:endParaRPr lang="en-US" altLang="zh-CN" sz="1015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5" name="文本框 54"/>
              <p:cNvSpPr txBox="1"/>
              <p:nvPr/>
            </p:nvSpPr>
            <p:spPr>
              <a:xfrm>
                <a:off x="2417445" y="5375275"/>
                <a:ext cx="4459605" cy="5715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575">
                    <a:latin typeface="Arial" panose="020B0604020202020204" pitchFamily="34" charset="0"/>
                    <a:cs typeface="Arial" panose="020B0604020202020204" pitchFamily="34" charset="0"/>
                  </a:rPr>
                  <a:t>Change of Vertical Params</a:t>
                </a:r>
                <a:endParaRPr lang="en-US" altLang="zh-CN" sz="1575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575" i="1">
                          <a:latin typeface="Cambria Math" panose="02040503050406030204" charset="0"/>
                          <a:cs typeface="Cambria Math" panose="02040503050406030204" charset="0"/>
                        </a:rPr>
                        <m:t>𝐻</m:t>
                      </m:r>
                      <m:r>
                        <a:rPr lang="en-US" altLang="zh-CN" sz="1575" i="1">
                          <a:latin typeface="Cambria Math" panose="02040503050406030204" charset="0"/>
                          <a:cs typeface="Cambria Math" panose="02040503050406030204" charset="0"/>
                        </a:rPr>
                        <m:t>(</m:t>
                      </m:r>
                      <m:r>
                        <a:rPr lang="en-US" altLang="zh-CN" sz="1575" i="1">
                          <a:latin typeface="Cambria Math" panose="02040503050406030204" charset="0"/>
                          <a:cs typeface="Cambria Math" panose="02040503050406030204" charset="0"/>
                        </a:rPr>
                        <m:t>𝑟</m:t>
                      </m:r>
                      <m:r>
                        <a:rPr lang="en-US" altLang="zh-CN" sz="1575" i="1">
                          <a:latin typeface="Cambria Math" panose="02040503050406030204" charset="0"/>
                          <a:cs typeface="Cambria Math" panose="02040503050406030204" charset="0"/>
                        </a:rPr>
                        <m:t>)=</m:t>
                      </m:r>
                      <m:r>
                        <a:rPr lang="en-US" altLang="zh-CN" sz="1575" i="1">
                          <a:latin typeface="Cambria Math" panose="02040503050406030204" charset="0"/>
                          <a:cs typeface="Cambria Math" panose="02040503050406030204" charset="0"/>
                        </a:rPr>
                        <m:t>𝐴</m:t>
                      </m:r>
                      <m:r>
                        <a:rPr lang="en-US" altLang="zh-CN" sz="1575" i="1">
                          <a:latin typeface="Cambria Math" panose="02040503050406030204" charset="0"/>
                          <a:cs typeface="Cambria Math" panose="02040503050406030204" charset="0"/>
                        </a:rPr>
                        <m:t>∙</m:t>
                      </m:r>
                      <m:r>
                        <a:rPr lang="en-US" altLang="zh-CN" sz="1575" i="1">
                          <a:latin typeface="Cambria Math" panose="02040503050406030204" charset="0"/>
                          <a:cs typeface="Cambria Math" panose="02040503050406030204" charset="0"/>
                        </a:rPr>
                        <m:t>𝑒𝑥𝑝</m:t>
                      </m:r>
                      <m:r>
                        <a:rPr lang="en-US" altLang="zh-CN" sz="1575" i="1">
                          <a:latin typeface="Cambria Math" panose="02040503050406030204" charset="0"/>
                          <a:cs typeface="Cambria Math" panose="02040503050406030204" charset="0"/>
                        </a:rPr>
                        <m:t>(</m:t>
                      </m:r>
                      <m:r>
                        <a:rPr lang="en-US" altLang="zh-CN" sz="1575" i="1">
                          <a:latin typeface="Cambria Math" panose="02040503050406030204" charset="0"/>
                          <a:cs typeface="Cambria Math" panose="02040503050406030204" charset="0"/>
                        </a:rPr>
                        <m:t>𝐵𝑟</m:t>
                      </m:r>
                      <m:r>
                        <a:rPr lang="en-US" altLang="zh-CN" sz="1575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r>
                        <a:rPr lang="en-US" altLang="zh-CN" sz="1575" i="1">
                          <a:latin typeface="Cambria Math" panose="02040503050406030204" charset="0"/>
                          <a:cs typeface="Cambria Math" panose="02040503050406030204" charset="0"/>
                        </a:rPr>
                        <m:t>𝐶</m:t>
                      </m:r>
                      <m:sSup>
                        <m:sSupPr>
                          <m:ctrlPr>
                            <a:rPr lang="en-US" altLang="zh-CN" sz="157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sz="157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</m:e>
                        <m:sup>
                          <m:r>
                            <a:rPr lang="en-US" altLang="zh-CN" sz="157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2</m:t>
                          </m:r>
                        </m:sup>
                      </m:sSup>
                      <m:r>
                        <a:rPr lang="en-US" altLang="zh-CN" sz="1575" i="1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rPr>
                        <m:t>)</m:t>
                      </m:r>
                    </m:oMath>
                  </m:oMathPara>
                </a14:m>
                <a:endParaRPr lang="en-US" altLang="zh-CN" sz="1575" i="1"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55" name="文本框 5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17445" y="5375275"/>
                <a:ext cx="4459605" cy="571500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6" name="文本框 55"/>
          <p:cNvSpPr txBox="1"/>
          <p:nvPr/>
        </p:nvSpPr>
        <p:spPr>
          <a:xfrm>
            <a:off x="5578475" y="8381365"/>
            <a:ext cx="907415" cy="4038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15"/>
              <a:t>Latin America</a:t>
            </a:r>
            <a:endParaRPr lang="en-US" altLang="zh-CN" sz="1015"/>
          </a:p>
        </p:txBody>
      </p:sp>
      <p:sp>
        <p:nvSpPr>
          <p:cNvPr id="57" name="文本框 56"/>
          <p:cNvSpPr txBox="1"/>
          <p:nvPr/>
        </p:nvSpPr>
        <p:spPr>
          <a:xfrm>
            <a:off x="3380740" y="8394065"/>
            <a:ext cx="467995" cy="4038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15"/>
              <a:t>Africa</a:t>
            </a:r>
            <a:endParaRPr lang="en-US" altLang="zh-CN" sz="1015"/>
          </a:p>
        </p:txBody>
      </p:sp>
      <p:sp>
        <p:nvSpPr>
          <p:cNvPr id="58" name="文本框 57"/>
          <p:cNvSpPr txBox="1"/>
          <p:nvPr/>
        </p:nvSpPr>
        <p:spPr>
          <a:xfrm>
            <a:off x="3981450" y="8389620"/>
            <a:ext cx="1597025" cy="2476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15"/>
              <a:t>South&amp;South-east Asia</a:t>
            </a:r>
            <a:endParaRPr lang="en-US" altLang="zh-CN" sz="1015"/>
          </a:p>
        </p:txBody>
      </p:sp>
      <p:sp>
        <p:nvSpPr>
          <p:cNvPr id="59" name="上箭头 58"/>
          <p:cNvSpPr/>
          <p:nvPr/>
        </p:nvSpPr>
        <p:spPr>
          <a:xfrm>
            <a:off x="5474970" y="8364855"/>
            <a:ext cx="103505" cy="232410"/>
          </a:xfrm>
          <a:prstGeom prst="upArrow">
            <a:avLst>
              <a:gd name="adj1" fmla="val 50000"/>
              <a:gd name="adj2" fmla="val 101034"/>
            </a:avLst>
          </a:prstGeom>
          <a:solidFill>
            <a:srgbClr val="47A2DE">
              <a:alpha val="70000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125"/>
          </a:p>
        </p:txBody>
      </p:sp>
      <p:sp>
        <p:nvSpPr>
          <p:cNvPr id="60" name="上箭头 59"/>
          <p:cNvSpPr/>
          <p:nvPr/>
        </p:nvSpPr>
        <p:spPr>
          <a:xfrm>
            <a:off x="3307080" y="8369935"/>
            <a:ext cx="103505" cy="232410"/>
          </a:xfrm>
          <a:prstGeom prst="upArrow">
            <a:avLst>
              <a:gd name="adj1" fmla="val 50000"/>
              <a:gd name="adj2" fmla="val 93103"/>
            </a:avLst>
          </a:prstGeom>
          <a:solidFill>
            <a:srgbClr val="E85748">
              <a:alpha val="70000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125">
              <a:solidFill>
                <a:srgbClr val="9467BD"/>
              </a:solidFill>
            </a:endParaRPr>
          </a:p>
        </p:txBody>
      </p:sp>
      <p:sp>
        <p:nvSpPr>
          <p:cNvPr id="61" name="上箭头 60"/>
          <p:cNvSpPr/>
          <p:nvPr/>
        </p:nvSpPr>
        <p:spPr>
          <a:xfrm>
            <a:off x="3909060" y="8364855"/>
            <a:ext cx="103505" cy="232410"/>
          </a:xfrm>
          <a:prstGeom prst="upArrow">
            <a:avLst>
              <a:gd name="adj1" fmla="val 50000"/>
              <a:gd name="adj2" fmla="val 108620"/>
            </a:avLst>
          </a:prstGeom>
          <a:solidFill>
            <a:srgbClr val="F39F1B">
              <a:alpha val="70000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125"/>
          </a:p>
        </p:txBody>
      </p:sp>
      <p:sp>
        <p:nvSpPr>
          <p:cNvPr id="4" name="文本框 3"/>
          <p:cNvSpPr txBox="1"/>
          <p:nvPr/>
        </p:nvSpPr>
        <p:spPr>
          <a:xfrm>
            <a:off x="8516375" y="6020065"/>
            <a:ext cx="709385" cy="4038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15">
                <a:latin typeface="Arial" panose="020B0604020202020204" pitchFamily="34" charset="0"/>
                <a:cs typeface="Arial" panose="020B0604020202020204" pitchFamily="34" charset="0"/>
              </a:rPr>
              <a:t>52% B</a:t>
            </a:r>
            <a:r>
              <a:rPr lang="en-US" altLang="zh-CN" sz="1015">
                <a:latin typeface="Arial" panose="020B0604020202020204" pitchFamily="34" charset="0"/>
                <a:ea typeface="东文宋体" charset="0"/>
                <a:cs typeface="Arial" panose="020B0604020202020204" pitchFamily="34" charset="0"/>
              </a:rPr>
              <a:t>↓C↑</a:t>
            </a:r>
            <a:endParaRPr lang="en-US" altLang="zh-CN" sz="1015">
              <a:latin typeface="Arial" panose="020B0604020202020204" pitchFamily="34" charset="0"/>
              <a:ea typeface="东文宋体" charset="0"/>
              <a:cs typeface="Arial" panose="020B0604020202020204" pitchFamily="34" charset="0"/>
            </a:endParaRPr>
          </a:p>
        </p:txBody>
      </p:sp>
      <p:cxnSp>
        <p:nvCxnSpPr>
          <p:cNvPr id="6" name="直接连接符 5"/>
          <p:cNvCxnSpPr/>
          <p:nvPr/>
        </p:nvCxnSpPr>
        <p:spPr>
          <a:xfrm>
            <a:off x="3855273" y="6983217"/>
            <a:ext cx="220245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0" name="直接连接符 9"/>
          <p:cNvCxnSpPr/>
          <p:nvPr/>
        </p:nvCxnSpPr>
        <p:spPr>
          <a:xfrm>
            <a:off x="4821961" y="5987759"/>
            <a:ext cx="0" cy="1985635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9" name="文本框 28"/>
          <p:cNvSpPr txBox="1"/>
          <p:nvPr/>
        </p:nvSpPr>
        <p:spPr>
          <a:xfrm>
            <a:off x="6422163" y="8494991"/>
            <a:ext cx="709385" cy="4038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15">
                <a:latin typeface="Arial" panose="020B0604020202020204" pitchFamily="34" charset="0"/>
                <a:cs typeface="Arial" panose="020B0604020202020204" pitchFamily="34" charset="0"/>
              </a:rPr>
              <a:t>52% B</a:t>
            </a:r>
            <a:r>
              <a:rPr lang="en-US" altLang="zh-CN" sz="1015">
                <a:latin typeface="Arial" panose="020B0604020202020204" pitchFamily="34" charset="0"/>
                <a:ea typeface="东文宋体" charset="0"/>
                <a:cs typeface="Arial" panose="020B0604020202020204" pitchFamily="34" charset="0"/>
              </a:rPr>
              <a:t>↓C↑</a:t>
            </a:r>
            <a:endParaRPr lang="en-US" altLang="zh-CN" sz="1015">
              <a:latin typeface="Arial" panose="020B0604020202020204" pitchFamily="34" charset="0"/>
              <a:ea typeface="东文宋体" charset="0"/>
              <a:cs typeface="Arial" panose="020B0604020202020204" pitchFamily="34" charset="0"/>
            </a:endParaRPr>
          </a:p>
        </p:txBody>
      </p:sp>
      <p:grpSp>
        <p:nvGrpSpPr>
          <p:cNvPr id="30" name="组合 29"/>
          <p:cNvGrpSpPr/>
          <p:nvPr/>
        </p:nvGrpSpPr>
        <p:grpSpPr>
          <a:xfrm>
            <a:off x="10684510" y="2934970"/>
            <a:ext cx="3039110" cy="2609850"/>
            <a:chOff x="16056" y="8978"/>
            <a:chExt cx="4786" cy="4110"/>
          </a:xfrm>
        </p:grpSpPr>
        <p:pic>
          <p:nvPicPr>
            <p:cNvPr id="3" name="图片 2"/>
            <p:cNvPicPr>
              <a:picLocks noChangeAspect="1"/>
            </p:cNvPicPr>
            <p:nvPr/>
          </p:nvPicPr>
          <p:blipFill>
            <a:blip r:embed="rId3"/>
            <a:srcRect r="49995" b="10558"/>
            <a:stretch>
              <a:fillRect/>
            </a:stretch>
          </p:blipFill>
          <p:spPr>
            <a:xfrm>
              <a:off x="16206" y="9267"/>
              <a:ext cx="4233" cy="3160"/>
            </a:xfrm>
            <a:prstGeom prst="rect">
              <a:avLst/>
            </a:prstGeom>
          </p:spPr>
        </p:pic>
        <p:sp>
          <p:nvSpPr>
            <p:cNvPr id="28" name="文本框 27"/>
            <p:cNvSpPr txBox="1"/>
            <p:nvPr/>
          </p:nvSpPr>
          <p:spPr>
            <a:xfrm>
              <a:off x="20102" y="12427"/>
              <a:ext cx="740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zh-CN" altLang="en-US" sz="135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</a:t>
              </a:r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en-US" altLang="zh-CN" sz="135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46" name="矩形 45"/>
            <p:cNvSpPr/>
            <p:nvPr/>
          </p:nvSpPr>
          <p:spPr>
            <a:xfrm>
              <a:off x="16229" y="8978"/>
              <a:ext cx="651" cy="411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125"/>
            </a:p>
          </p:txBody>
        </p:sp>
        <p:sp>
          <p:nvSpPr>
            <p:cNvPr id="47" name="文本框 46"/>
            <p:cNvSpPr txBox="1"/>
            <p:nvPr/>
          </p:nvSpPr>
          <p:spPr>
            <a:xfrm>
              <a:off x="16289" y="10677"/>
              <a:ext cx="620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</a:t>
              </a:r>
              <a:endParaRPr lang="en-US" altLang="zh-CN" sz="1125"/>
            </a:p>
          </p:txBody>
        </p:sp>
        <p:sp>
          <p:nvSpPr>
            <p:cNvPr id="48" name="文本框 47"/>
            <p:cNvSpPr txBox="1"/>
            <p:nvPr/>
          </p:nvSpPr>
          <p:spPr>
            <a:xfrm>
              <a:off x="16056" y="11416"/>
              <a:ext cx="797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-0.005</a:t>
              </a:r>
              <a:endParaRPr lang="en-US" altLang="zh-CN" sz="1015"/>
            </a:p>
          </p:txBody>
        </p:sp>
        <p:sp>
          <p:nvSpPr>
            <p:cNvPr id="49" name="文本框 48"/>
            <p:cNvSpPr txBox="1"/>
            <p:nvPr/>
          </p:nvSpPr>
          <p:spPr>
            <a:xfrm>
              <a:off x="16232" y="9874"/>
              <a:ext cx="620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0.005</a:t>
              </a:r>
              <a:endParaRPr lang="en-US" altLang="zh-CN" sz="1015"/>
            </a:p>
          </p:txBody>
        </p:sp>
        <p:sp>
          <p:nvSpPr>
            <p:cNvPr id="50" name="文本框 49"/>
            <p:cNvSpPr txBox="1"/>
            <p:nvPr/>
          </p:nvSpPr>
          <p:spPr>
            <a:xfrm>
              <a:off x="18802" y="12427"/>
              <a:ext cx="286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0</a:t>
              </a:r>
              <a:endParaRPr lang="en-US" altLang="zh-CN" sz="1125"/>
            </a:p>
          </p:txBody>
        </p:sp>
        <p:sp>
          <p:nvSpPr>
            <p:cNvPr id="51" name="文本框 50"/>
            <p:cNvSpPr txBox="1"/>
            <p:nvPr/>
          </p:nvSpPr>
          <p:spPr>
            <a:xfrm>
              <a:off x="16976" y="12427"/>
              <a:ext cx="345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-2</a:t>
              </a:r>
              <a:endParaRPr lang="en-US" altLang="zh-CN" sz="1125"/>
            </a:p>
          </p:txBody>
        </p:sp>
        <p:sp>
          <p:nvSpPr>
            <p:cNvPr id="52" name="文本框 51"/>
            <p:cNvSpPr txBox="1"/>
            <p:nvPr/>
          </p:nvSpPr>
          <p:spPr>
            <a:xfrm>
              <a:off x="17919" y="12427"/>
              <a:ext cx="286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-1</a:t>
              </a:r>
              <a:endParaRPr lang="en-US" altLang="zh-CN" sz="1125"/>
            </a:p>
          </p:txBody>
        </p:sp>
        <p:sp>
          <p:nvSpPr>
            <p:cNvPr id="53" name="文本框 52"/>
            <p:cNvSpPr txBox="1"/>
            <p:nvPr/>
          </p:nvSpPr>
          <p:spPr>
            <a:xfrm>
              <a:off x="19686" y="12427"/>
              <a:ext cx="286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1</a:t>
              </a:r>
              <a:endParaRPr lang="en-US" altLang="zh-CN" sz="1125"/>
            </a:p>
          </p:txBody>
        </p:sp>
        <p:sp>
          <p:nvSpPr>
            <p:cNvPr id="20" name="文本框 19"/>
            <p:cNvSpPr txBox="1"/>
            <p:nvPr/>
          </p:nvSpPr>
          <p:spPr>
            <a:xfrm>
              <a:off x="16318" y="9207"/>
              <a:ext cx="562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zh-CN" altLang="en-US" sz="135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</a:t>
              </a:r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  <a:endParaRPr lang="en-US" altLang="zh-CN" sz="135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32" name="组合 31"/>
          <p:cNvGrpSpPr/>
          <p:nvPr/>
        </p:nvGrpSpPr>
        <p:grpSpPr>
          <a:xfrm>
            <a:off x="10917555" y="5725795"/>
            <a:ext cx="2783840" cy="2247900"/>
            <a:chOff x="10016" y="12259"/>
            <a:chExt cx="4384" cy="3540"/>
          </a:xfrm>
        </p:grpSpPr>
        <p:pic>
          <p:nvPicPr>
            <p:cNvPr id="31" name="图片 30"/>
            <p:cNvPicPr>
              <a:picLocks noChangeAspect="1"/>
            </p:cNvPicPr>
            <p:nvPr/>
          </p:nvPicPr>
          <p:blipFill>
            <a:blip r:embed="rId1"/>
            <a:srcRect l="7501" r="49976" b="10904"/>
            <a:stretch>
              <a:fillRect/>
            </a:stretch>
          </p:blipFill>
          <p:spPr>
            <a:xfrm>
              <a:off x="10549" y="12339"/>
              <a:ext cx="3617" cy="3162"/>
            </a:xfrm>
            <a:prstGeom prst="rect">
              <a:avLst/>
            </a:prstGeom>
          </p:spPr>
        </p:pic>
        <p:sp>
          <p:nvSpPr>
            <p:cNvPr id="37" name="文本框 36"/>
            <p:cNvSpPr txBox="1"/>
            <p:nvPr/>
          </p:nvSpPr>
          <p:spPr>
            <a:xfrm>
              <a:off x="12455" y="15566"/>
              <a:ext cx="286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0</a:t>
              </a:r>
              <a:endParaRPr lang="en-US" altLang="zh-CN" sz="1125"/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10016" y="14882"/>
              <a:ext cx="520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-0.04</a:t>
              </a:r>
              <a:endParaRPr lang="en-US" altLang="zh-CN" sz="1125"/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10629" y="15566"/>
              <a:ext cx="345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-2</a:t>
              </a:r>
              <a:endParaRPr lang="en-US" altLang="zh-CN" sz="1125"/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13660" y="15566"/>
              <a:ext cx="740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zh-CN" altLang="en-US" sz="135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</a:t>
              </a:r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en-US" altLang="zh-CN" sz="135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10137" y="12259"/>
              <a:ext cx="412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zh-CN" altLang="en-US" sz="135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</a:t>
              </a:r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  <a:endParaRPr lang="en-US" altLang="zh-CN" sz="135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10201" y="14048"/>
              <a:ext cx="298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</a:t>
              </a:r>
              <a:endParaRPr lang="en-US" altLang="zh-CN" sz="1125"/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10071" y="13247"/>
              <a:ext cx="466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>
                  <a:ea typeface="宋体" panose="02010600030101010101" pitchFamily="2" charset="-122"/>
                </a:rPr>
                <a:t>0.04</a:t>
              </a:r>
              <a:endParaRPr lang="en-US" altLang="zh-CN" sz="1125">
                <a:ea typeface="宋体" panose="02010600030101010101" pitchFamily="2" charset="-122"/>
              </a:endParaRPr>
            </a:p>
          </p:txBody>
        </p:sp>
        <p:sp>
          <p:nvSpPr>
            <p:cNvPr id="36" name="文本框 35"/>
            <p:cNvSpPr txBox="1"/>
            <p:nvPr/>
          </p:nvSpPr>
          <p:spPr>
            <a:xfrm>
              <a:off x="11572" y="15566"/>
              <a:ext cx="286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-1</a:t>
              </a:r>
              <a:endParaRPr lang="en-US" altLang="zh-CN" sz="1125"/>
            </a:p>
          </p:txBody>
        </p:sp>
        <p:sp>
          <p:nvSpPr>
            <p:cNvPr id="38" name="文本框 37"/>
            <p:cNvSpPr txBox="1"/>
            <p:nvPr/>
          </p:nvSpPr>
          <p:spPr>
            <a:xfrm>
              <a:off x="13339" y="15566"/>
              <a:ext cx="286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1</a:t>
              </a:r>
              <a:endParaRPr lang="en-US" altLang="zh-CN" sz="1125"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2" name="表格 31"/>
              <p:cNvGraphicFramePr/>
              <p:nvPr>
                <p:custDataLst>
                  <p:tags r:id="rId1"/>
                </p:custDataLst>
              </p:nvPr>
            </p:nvGraphicFramePr>
            <p:xfrm>
              <a:off x="9367822" y="3254867"/>
              <a:ext cx="1976120" cy="1372235"/>
            </p:xfrm>
            <a:graphic>
              <a:graphicData uri="http://schemas.openxmlformats.org/drawingml/2006/table">
                <a:tbl>
                  <a:tblPr firstRow="1">
                    <a:tableStyleId>{9D7B26C5-4107-4FEC-AEDC-1716B250A1EF}</a:tableStyleId>
                  </a:tblPr>
                  <a:tblGrid>
                    <a:gridCol w="542925"/>
                    <a:gridCol w="784860"/>
                    <a:gridCol w="648335"/>
                  </a:tblGrid>
                  <a:tr h="16764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ΔParam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Significance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Sign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𝛼</m:t>
                                </m:r>
                              </m:oMath>
                            </m:oMathPara>
                          </a14:m>
                          <a:endParaRPr lang="en-US" altLang="zh-CN" sz="1125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-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𝛽</m:t>
                                </m:r>
                              </m:oMath>
                            </m:oMathPara>
                          </a14:m>
                          <a:endParaRPr lang="en-US" altLang="zh-CN" sz="1125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+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𝜅</m:t>
                                </m:r>
                              </m:oMath>
                            </m:oMathPara>
                          </a14:m>
                          <a:endParaRPr lang="en-US" altLang="zh-CN" sz="1125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+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𝛿</m:t>
                                </m:r>
                              </m:oMath>
                            </m:oMathPara>
                          </a14:m>
                          <a:endParaRPr lang="en-US" altLang="zh-CN" sz="1125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-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1125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𝐴</m:t>
                                </m:r>
                              </m:oMath>
                            </m:oMathPara>
                          </a14:m>
                          <a:endParaRPr lang="en-US" altLang="zh-CN" sz="1125">
                            <a:latin typeface="Cambria Math" panose="02040503050406030204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790"/>
                            <a:t>not significant</a:t>
                          </a:r>
                          <a:endParaRPr lang="en-US" altLang="zh-CN" sz="79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790">
                              <a:sym typeface="+mn-ea"/>
                            </a:rPr>
                            <a:t>not significant</a:t>
                          </a:r>
                          <a:endParaRPr lang="en-US" altLang="zh-CN" sz="790">
                            <a:sym typeface="+mn-ea"/>
                          </a:endParaRPr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1125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𝐵</m:t>
                                </m:r>
                              </m:oMath>
                            </m:oMathPara>
                          </a14:m>
                          <a:endParaRPr lang="en-US" altLang="zh-CN" sz="1125">
                            <a:latin typeface="Cambria Math" panose="02040503050406030204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-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1125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𝐶</m:t>
                                </m:r>
                              </m:oMath>
                            </m:oMathPara>
                          </a14:m>
                          <a:endParaRPr lang="en-US" altLang="zh-CN" sz="1125">
                            <a:latin typeface="Cambria Math" panose="02040503050406030204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+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</a:tbl>
              </a:graphicData>
            </a:graphic>
          </p:graphicFrame>
        </mc:Choice>
        <mc:Fallback xmlns="">
          <p:graphicFrame>
            <p:nvGraphicFramePr>
              <p:cNvPr id="32" name="表格 31"/>
              <p:cNvGraphicFramePr/>
              <p:nvPr>
                <p:custDataLst>
                  <p:tags r:id="rId2"/>
                </p:custDataLst>
              </p:nvPr>
            </p:nvGraphicFramePr>
            <p:xfrm>
              <a:off x="9367822" y="3254867"/>
              <a:ext cx="1976120" cy="1372235"/>
            </p:xfrm>
            <a:graphic>
              <a:graphicData uri="http://schemas.openxmlformats.org/drawingml/2006/table">
                <a:tbl>
                  <a:tblPr firstRow="1">
                    <a:tableStyleId>{9D7B26C5-4107-4FEC-AEDC-1716B250A1EF}</a:tableStyleId>
                  </a:tblPr>
                  <a:tblGrid>
                    <a:gridCol w="542925"/>
                    <a:gridCol w="784860"/>
                    <a:gridCol w="648335"/>
                  </a:tblGrid>
                  <a:tr h="16764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ΔParam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Significance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Sign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3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-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3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+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3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+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3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-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3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790"/>
                            <a:t>not significant</a:t>
                          </a:r>
                          <a:endParaRPr lang="en-US" altLang="zh-CN" sz="79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790">
                              <a:sym typeface="+mn-ea"/>
                            </a:rPr>
                            <a:t>not significant</a:t>
                          </a:r>
                          <a:endParaRPr lang="en-US" altLang="zh-CN" sz="790">
                            <a:sym typeface="+mn-ea"/>
                          </a:endParaRPr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3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-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3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+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</a:tbl>
              </a:graphicData>
            </a:graphic>
          </p:graphicFrame>
        </mc:Fallback>
      </mc:AlternateContent>
      <p:sp>
        <p:nvSpPr>
          <p:cNvPr id="3" name="文本框 2"/>
          <p:cNvSpPr txBox="1"/>
          <p:nvPr/>
        </p:nvSpPr>
        <p:spPr>
          <a:xfrm>
            <a:off x="9236780" y="2110701"/>
            <a:ext cx="1980276" cy="5607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indent="0">
              <a:buFont typeface="Arial" panose="020B0604020202020204" pitchFamily="34" charset="0"/>
              <a:buNone/>
            </a:pPr>
            <a:r>
              <a:rPr lang="en-US" altLang="zh-CN" sz="1015" b="1">
                <a:sym typeface="+mn-ea"/>
              </a:rPr>
              <a:t>Population growth ↑ </a:t>
            </a:r>
            <a:endParaRPr lang="en-US" altLang="zh-CN" sz="1015" b="1">
              <a:sym typeface="+mn-ea"/>
            </a:endParaRPr>
          </a:p>
          <a:p>
            <a:pPr indent="0">
              <a:buFont typeface="Arial" panose="020B0604020202020204" pitchFamily="34" charset="0"/>
              <a:buNone/>
            </a:pPr>
            <a:r>
              <a:rPr lang="en-US" altLang="zh-CN" sz="1015" b="1">
                <a:sym typeface="+mn-ea"/>
              </a:rPr>
              <a:t>→ Δα ↓, Δβ ↑, Δκ ↑, Δδ ↓</a:t>
            </a:r>
            <a:endParaRPr lang="en-US" altLang="zh-CN" sz="1015" b="1">
              <a:sym typeface="+mn-ea"/>
            </a:endParaRPr>
          </a:p>
          <a:p>
            <a:pPr indent="0">
              <a:buFont typeface="Arial" panose="020B0604020202020204" pitchFamily="34" charset="0"/>
              <a:buNone/>
            </a:pPr>
            <a:r>
              <a:rPr lang="en-US" altLang="zh-CN" sz="1015" b="1">
                <a:sym typeface="+mn-ea"/>
              </a:rPr>
              <a:t>→ ΔB ↓, ΔC ↑</a:t>
            </a:r>
            <a:endParaRPr lang="en-US" altLang="zh-CN" sz="1015" b="1">
              <a:sym typeface="+mn-ea"/>
            </a:endParaRPr>
          </a:p>
        </p:txBody>
      </p:sp>
      <p:grpSp>
        <p:nvGrpSpPr>
          <p:cNvPr id="17" name="Group 16"/>
          <p:cNvGrpSpPr/>
          <p:nvPr/>
        </p:nvGrpSpPr>
        <p:grpSpPr>
          <a:xfrm>
            <a:off x="3212053" y="5136729"/>
            <a:ext cx="7917534" cy="4196658"/>
            <a:chOff x="109855" y="381635"/>
            <a:chExt cx="14075410" cy="7460615"/>
          </a:xfrm>
        </p:grpSpPr>
        <p:pic>
          <p:nvPicPr>
            <p:cNvPr id="42" name="图片 41"/>
            <p:cNvPicPr>
              <a:picLocks noChangeAspect="1"/>
            </p:cNvPicPr>
            <p:nvPr/>
          </p:nvPicPr>
          <p:blipFill>
            <a:blip r:embed="rId4"/>
            <a:srcRect l="8417" t="1057" b="7890"/>
            <a:stretch>
              <a:fillRect/>
            </a:stretch>
          </p:blipFill>
          <p:spPr>
            <a:xfrm>
              <a:off x="10466705" y="381635"/>
              <a:ext cx="3247390" cy="3282950"/>
            </a:xfrm>
            <a:prstGeom prst="rect">
              <a:avLst/>
            </a:prstGeom>
          </p:spPr>
        </p:pic>
        <p:grpSp>
          <p:nvGrpSpPr>
            <p:cNvPr id="39" name="组合 38"/>
            <p:cNvGrpSpPr/>
            <p:nvPr/>
          </p:nvGrpSpPr>
          <p:grpSpPr>
            <a:xfrm>
              <a:off x="109855" y="381635"/>
              <a:ext cx="14075410" cy="7460615"/>
              <a:chOff x="173" y="601"/>
              <a:chExt cx="22166" cy="11749"/>
            </a:xfrm>
          </p:grpSpPr>
          <p:pic>
            <p:nvPicPr>
              <p:cNvPr id="5" name="图片 4"/>
              <p:cNvPicPr/>
              <p:nvPr/>
            </p:nvPicPr>
            <p:blipFill>
              <a:blip r:embed="rId5"/>
              <a:srcRect l="1918" t="1292" r="75749" b="52389"/>
              <a:stretch>
                <a:fillRect/>
              </a:stretch>
            </p:blipFill>
            <p:spPr>
              <a:xfrm>
                <a:off x="173" y="641"/>
                <a:ext cx="5042" cy="5197"/>
              </a:xfrm>
              <a:prstGeom prst="rect">
                <a:avLst/>
              </a:prstGeom>
            </p:spPr>
          </p:pic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3" name="文本框 12"/>
                  <p:cNvSpPr txBox="1"/>
                  <p:nvPr/>
                </p:nvSpPr>
                <p:spPr>
                  <a:xfrm>
                    <a:off x="732" y="70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∆</m:t>
                          </m:r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𝛼</m:t>
                          </m:r>
                        </m:oMath>
                      </m:oMathPara>
                    </a14:m>
                    <a:endParaRPr lang="en-US" altLang="zh-CN" sz="20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13" name="文本框 1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32" y="701"/>
                    <a:ext cx="1199" cy="1004"/>
                  </a:xfrm>
                  <a:prstGeom prst="rect">
                    <a:avLst/>
                  </a:prstGeom>
                  <a:blipFill rotWithShape="1">
                    <a:blip r:embed="rId6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pic>
            <p:nvPicPr>
              <p:cNvPr id="14" name="图片 13"/>
              <p:cNvPicPr/>
              <p:nvPr/>
            </p:nvPicPr>
            <p:blipFill>
              <a:blip r:embed="rId5"/>
              <a:srcRect l="27028" t="1292" r="50577" b="52389"/>
              <a:stretch>
                <a:fillRect/>
              </a:stretch>
            </p:blipFill>
            <p:spPr>
              <a:xfrm>
                <a:off x="5515" y="641"/>
                <a:ext cx="5056" cy="5197"/>
              </a:xfrm>
              <a:prstGeom prst="rect">
                <a:avLst/>
              </a:prstGeom>
            </p:spPr>
          </p:pic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5" name="文本框 14"/>
                  <p:cNvSpPr txBox="1"/>
                  <p:nvPr/>
                </p:nvSpPr>
                <p:spPr>
                  <a:xfrm>
                    <a:off x="6025" y="64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∆</m:t>
                          </m:r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𝛽</m:t>
                          </m:r>
                        </m:oMath>
                      </m:oMathPara>
                    </a14:m>
                    <a:endParaRPr lang="en-US" altLang="zh-CN" sz="20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15" name="文本框 14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025" y="641"/>
                    <a:ext cx="1199" cy="1004"/>
                  </a:xfrm>
                  <a:prstGeom prst="rect">
                    <a:avLst/>
                  </a:prstGeom>
                  <a:blipFill rotWithShape="1">
                    <a:blip r:embed="rId7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pic>
            <p:nvPicPr>
              <p:cNvPr id="16" name="图片 15"/>
              <p:cNvPicPr/>
              <p:nvPr/>
            </p:nvPicPr>
            <p:blipFill>
              <a:blip r:embed="rId5"/>
              <a:srcRect l="52342" t="811" r="25263" b="52513"/>
              <a:stretch>
                <a:fillRect/>
              </a:stretch>
            </p:blipFill>
            <p:spPr>
              <a:xfrm>
                <a:off x="10999" y="601"/>
                <a:ext cx="5056" cy="5237"/>
              </a:xfrm>
              <a:prstGeom prst="rect">
                <a:avLst/>
              </a:prstGeom>
            </p:spPr>
          </p:pic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2" name="文本框 21"/>
                  <p:cNvSpPr txBox="1"/>
                  <p:nvPr/>
                </p:nvSpPr>
                <p:spPr>
                  <a:xfrm>
                    <a:off x="11484" y="64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∆</m:t>
                          </m:r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𝜅</m:t>
                          </m:r>
                        </m:oMath>
                      </m:oMathPara>
                    </a14:m>
                    <a:endParaRPr lang="en-US" altLang="zh-CN" sz="20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22" name="文本框 2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484" y="641"/>
                    <a:ext cx="1199" cy="1004"/>
                  </a:xfrm>
                  <a:prstGeom prst="rect">
                    <a:avLst/>
                  </a:prstGeom>
                  <a:blipFill rotWithShape="1">
                    <a:blip r:embed="rId8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3" name="文本框 22"/>
                  <p:cNvSpPr txBox="1"/>
                  <p:nvPr/>
                </p:nvSpPr>
                <p:spPr>
                  <a:xfrm>
                    <a:off x="17039" y="635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∆</m:t>
                          </m:r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𝛿</m:t>
                          </m:r>
                        </m:oMath>
                      </m:oMathPara>
                    </a14:m>
                    <a:endParaRPr lang="en-US" altLang="zh-CN" sz="20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23" name="文本框 2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039" y="635"/>
                    <a:ext cx="1199" cy="1004"/>
                  </a:xfrm>
                  <a:prstGeom prst="rect">
                    <a:avLst/>
                  </a:prstGeom>
                  <a:blipFill rotWithShape="1">
                    <a:blip r:embed="rId9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7" name="文本框 26"/>
              <p:cNvSpPr txBox="1"/>
              <p:nvPr/>
            </p:nvSpPr>
            <p:spPr>
              <a:xfrm>
                <a:off x="550" y="5693"/>
                <a:ext cx="4497" cy="7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125"/>
                  <a:t>Pop growth rate</a:t>
                </a:r>
                <a:endParaRPr lang="en-US" altLang="zh-CN" sz="1125"/>
              </a:p>
            </p:txBody>
          </p:sp>
          <p:sp>
            <p:nvSpPr>
              <p:cNvPr id="28" name="文本框 27"/>
              <p:cNvSpPr txBox="1"/>
              <p:nvPr/>
            </p:nvSpPr>
            <p:spPr>
              <a:xfrm>
                <a:off x="5946" y="5693"/>
                <a:ext cx="4497" cy="7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125"/>
                  <a:t>Pop growth rate</a:t>
                </a:r>
                <a:endParaRPr lang="en-US" altLang="zh-CN" sz="1125"/>
              </a:p>
            </p:txBody>
          </p:sp>
          <p:sp>
            <p:nvSpPr>
              <p:cNvPr id="30" name="文本框 29"/>
              <p:cNvSpPr txBox="1"/>
              <p:nvPr/>
            </p:nvSpPr>
            <p:spPr>
              <a:xfrm>
                <a:off x="11342" y="5693"/>
                <a:ext cx="4497" cy="7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125"/>
                  <a:t>Pop growth rate</a:t>
                </a:r>
                <a:endParaRPr lang="en-US" altLang="zh-CN" sz="1125"/>
              </a:p>
            </p:txBody>
          </p:sp>
          <p:sp>
            <p:nvSpPr>
              <p:cNvPr id="31" name="文本框 30"/>
              <p:cNvSpPr txBox="1"/>
              <p:nvPr/>
            </p:nvSpPr>
            <p:spPr>
              <a:xfrm>
                <a:off x="16945" y="5681"/>
                <a:ext cx="4497" cy="7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125"/>
                  <a:t>Pop growth rate</a:t>
                </a:r>
                <a:endParaRPr lang="en-US" altLang="zh-CN" sz="1125"/>
              </a:p>
            </p:txBody>
          </p:sp>
          <p:grpSp>
            <p:nvGrpSpPr>
              <p:cNvPr id="34" name="组合 33"/>
              <p:cNvGrpSpPr/>
              <p:nvPr/>
            </p:nvGrpSpPr>
            <p:grpSpPr>
              <a:xfrm>
                <a:off x="16432" y="10351"/>
                <a:ext cx="5907" cy="1999"/>
                <a:chOff x="16736" y="6695"/>
                <a:chExt cx="5907" cy="1999"/>
              </a:xfrm>
            </p:grpSpPr>
            <p:sp>
              <p:nvSpPr>
                <p:cNvPr id="35" name="椭圆 34"/>
                <p:cNvSpPr/>
                <p:nvPr/>
              </p:nvSpPr>
              <p:spPr>
                <a:xfrm>
                  <a:off x="16736" y="8135"/>
                  <a:ext cx="257" cy="255"/>
                </a:xfrm>
                <a:prstGeom prst="ellipse">
                  <a:avLst/>
                </a:prstGeom>
                <a:solidFill>
                  <a:srgbClr val="47A2DE">
                    <a:alpha val="9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350"/>
                </a:p>
              </p:txBody>
            </p:sp>
            <p:sp>
              <p:nvSpPr>
                <p:cNvPr id="38" name="文本框 37"/>
                <p:cNvSpPr txBox="1"/>
                <p:nvPr/>
              </p:nvSpPr>
              <p:spPr>
                <a:xfrm>
                  <a:off x="17013" y="7953"/>
                  <a:ext cx="3168" cy="7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125"/>
                    <a:t>Latin America</a:t>
                  </a:r>
                  <a:endParaRPr lang="en-US" altLang="zh-CN" sz="1125"/>
                </a:p>
              </p:txBody>
            </p:sp>
            <p:sp>
              <p:nvSpPr>
                <p:cNvPr id="44" name="椭圆 43"/>
                <p:cNvSpPr/>
                <p:nvPr/>
              </p:nvSpPr>
              <p:spPr>
                <a:xfrm>
                  <a:off x="16736" y="6868"/>
                  <a:ext cx="257" cy="255"/>
                </a:xfrm>
                <a:prstGeom prst="ellipse">
                  <a:avLst/>
                </a:prstGeom>
                <a:solidFill>
                  <a:srgbClr val="E85748">
                    <a:alpha val="9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350"/>
                </a:p>
              </p:txBody>
            </p:sp>
            <p:sp>
              <p:nvSpPr>
                <p:cNvPr id="45" name="文本框 44"/>
                <p:cNvSpPr txBox="1"/>
                <p:nvPr/>
              </p:nvSpPr>
              <p:spPr>
                <a:xfrm>
                  <a:off x="17013" y="6695"/>
                  <a:ext cx="3227" cy="7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125"/>
                    <a:t>Africa</a:t>
                  </a:r>
                  <a:endParaRPr lang="en-US" altLang="zh-CN" sz="1125"/>
                </a:p>
              </p:txBody>
            </p:sp>
            <p:sp>
              <p:nvSpPr>
                <p:cNvPr id="48" name="椭圆 47"/>
                <p:cNvSpPr/>
                <p:nvPr/>
              </p:nvSpPr>
              <p:spPr>
                <a:xfrm>
                  <a:off x="16736" y="7510"/>
                  <a:ext cx="257" cy="255"/>
                </a:xfrm>
                <a:prstGeom prst="ellipse">
                  <a:avLst/>
                </a:prstGeom>
                <a:solidFill>
                  <a:srgbClr val="F39F1B">
                    <a:alpha val="9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350"/>
                </a:p>
              </p:txBody>
            </p:sp>
            <p:sp>
              <p:nvSpPr>
                <p:cNvPr id="49" name="文本框 48"/>
                <p:cNvSpPr txBox="1"/>
                <p:nvPr/>
              </p:nvSpPr>
              <p:spPr>
                <a:xfrm>
                  <a:off x="17013" y="7324"/>
                  <a:ext cx="5630" cy="7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125">
                      <a:sym typeface="+mn-ea"/>
                    </a:rPr>
                    <a:t>South &amp; South-east Asia</a:t>
                  </a:r>
                  <a:endParaRPr lang="en-US" altLang="zh-CN" sz="1125">
                    <a:sym typeface="+mn-ea"/>
                  </a:endParaRPr>
                </a:p>
              </p:txBody>
            </p:sp>
          </p:grpSp>
          <p:grpSp>
            <p:nvGrpSpPr>
              <p:cNvPr id="36" name="组合 35"/>
              <p:cNvGrpSpPr/>
              <p:nvPr/>
            </p:nvGrpSpPr>
            <p:grpSpPr>
              <a:xfrm>
                <a:off x="245" y="6378"/>
                <a:ext cx="15881" cy="5951"/>
                <a:chOff x="503" y="6892"/>
                <a:chExt cx="15881" cy="5951"/>
              </a:xfrm>
            </p:grpSpPr>
            <p:grpSp>
              <p:nvGrpSpPr>
                <p:cNvPr id="2" name="组合 1"/>
                <p:cNvGrpSpPr/>
                <p:nvPr/>
              </p:nvGrpSpPr>
              <p:grpSpPr>
                <a:xfrm>
                  <a:off x="503" y="6892"/>
                  <a:ext cx="15881" cy="5230"/>
                  <a:chOff x="433" y="6578"/>
                  <a:chExt cx="15881" cy="5230"/>
                </a:xfrm>
              </p:grpSpPr>
              <p:pic>
                <p:nvPicPr>
                  <p:cNvPr id="18" name="图片 17"/>
                  <p:cNvPicPr/>
                  <p:nvPr/>
                </p:nvPicPr>
                <p:blipFill>
                  <a:blip r:embed="rId5"/>
                  <a:srcRect l="1917" t="50579" r="75927" b="3155"/>
                  <a:stretch>
                    <a:fillRect/>
                  </a:stretch>
                </p:blipFill>
                <p:spPr>
                  <a:xfrm>
                    <a:off x="433" y="6597"/>
                    <a:ext cx="5002" cy="5191"/>
                  </a:xfrm>
                  <a:prstGeom prst="rect">
                    <a:avLst/>
                  </a:prstGeom>
                </p:spPr>
              </p:pic>
              <p:pic>
                <p:nvPicPr>
                  <p:cNvPr id="19" name="图片 18"/>
                  <p:cNvPicPr/>
                  <p:nvPr/>
                </p:nvPicPr>
                <p:blipFill>
                  <a:blip r:embed="rId5"/>
                  <a:srcRect l="27196" t="50579" r="50688" b="2977"/>
                  <a:stretch>
                    <a:fillRect/>
                  </a:stretch>
                </p:blipFill>
                <p:spPr>
                  <a:xfrm>
                    <a:off x="5768" y="6598"/>
                    <a:ext cx="4993" cy="5211"/>
                  </a:xfrm>
                  <a:prstGeom prst="rect">
                    <a:avLst/>
                  </a:prstGeom>
                </p:spPr>
              </p:pic>
              <p:pic>
                <p:nvPicPr>
                  <p:cNvPr id="20" name="图片 19"/>
                  <p:cNvPicPr/>
                  <p:nvPr/>
                </p:nvPicPr>
                <p:blipFill>
                  <a:blip r:embed="rId5"/>
                  <a:srcRect l="50916" t="50579" r="25356" b="2977"/>
                  <a:stretch>
                    <a:fillRect/>
                  </a:stretch>
                </p:blipFill>
                <p:spPr>
                  <a:xfrm>
                    <a:off x="10958" y="6578"/>
                    <a:ext cx="5357" cy="5211"/>
                  </a:xfrm>
                  <a:prstGeom prst="rect">
                    <a:avLst/>
                  </a:prstGeom>
                </p:spPr>
              </p:pic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24" name="文本框 23"/>
                      <p:cNvSpPr txBox="1"/>
                      <p:nvPr/>
                    </p:nvSpPr>
                    <p:spPr>
                      <a:xfrm>
                        <a:off x="810" y="6597"/>
                        <a:ext cx="1199" cy="100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14:m>
                          <m:oMathPara xmlns:m="http://schemas.openxmlformats.org/officeDocument/2006/math">
                            <m:oMathParaPr>
                              <m:jc m:val="left"/>
                            </m:oMathParaPr>
                            <m:oMath xmlns:m="http://schemas.openxmlformats.org/officeDocument/2006/math">
                              <m:r>
                                <a:rPr lang="en-US" altLang="zh-CN" sz="2025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∆</m:t>
                              </m:r>
                              <m:r>
                                <a:rPr lang="en-US" altLang="zh-CN" sz="2025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𝐴</m:t>
                              </m:r>
                            </m:oMath>
                          </m:oMathPara>
                        </a14:m>
                        <a:endParaRPr lang="en-US" altLang="zh-CN" sz="2025" i="1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>
                  <p:sp>
                    <p:nvSpPr>
                      <p:cNvPr id="24" name="文本框 23"/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810" y="6597"/>
                        <a:ext cx="1199" cy="1004"/>
                      </a:xfrm>
                      <a:prstGeom prst="rect">
                        <a:avLst/>
                      </a:prstGeom>
                      <a:blipFill rotWithShape="1">
                        <a:blip r:embed="rId10"/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25" name="文本框 24"/>
                      <p:cNvSpPr txBox="1"/>
                      <p:nvPr/>
                    </p:nvSpPr>
                    <p:spPr>
                      <a:xfrm>
                        <a:off x="6109" y="6627"/>
                        <a:ext cx="1199" cy="100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14:m>
                          <m:oMathPara xmlns:m="http://schemas.openxmlformats.org/officeDocument/2006/math">
                            <m:oMathParaPr>
                              <m:jc m:val="left"/>
                            </m:oMathParaPr>
                            <m:oMath xmlns:m="http://schemas.openxmlformats.org/officeDocument/2006/math">
                              <m:r>
                                <a:rPr lang="en-US" altLang="zh-CN" sz="2025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∆</m:t>
                              </m:r>
                              <m:r>
                                <a:rPr lang="en-US" altLang="zh-CN" sz="2025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𝐵</m:t>
                              </m:r>
                            </m:oMath>
                          </m:oMathPara>
                        </a14:m>
                        <a:endParaRPr lang="en-US" altLang="zh-CN" sz="2025" i="1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>
                  <p:sp>
                    <p:nvSpPr>
                      <p:cNvPr id="25" name="文本框 24"/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6109" y="6627"/>
                        <a:ext cx="1199" cy="1004"/>
                      </a:xfrm>
                      <a:prstGeom prst="rect">
                        <a:avLst/>
                      </a:prstGeom>
                      <a:blipFill rotWithShape="1">
                        <a:blip r:embed="rId11"/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26" name="文本框 25"/>
                      <p:cNvSpPr txBox="1"/>
                      <p:nvPr/>
                    </p:nvSpPr>
                    <p:spPr>
                      <a:xfrm>
                        <a:off x="11744" y="6627"/>
                        <a:ext cx="1199" cy="100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14:m>
                          <m:oMathPara xmlns:m="http://schemas.openxmlformats.org/officeDocument/2006/math">
                            <m:oMathParaPr>
                              <m:jc m:val="left"/>
                            </m:oMathParaPr>
                            <m:oMath xmlns:m="http://schemas.openxmlformats.org/officeDocument/2006/math">
                              <m:r>
                                <a:rPr lang="en-US" altLang="zh-CN" sz="2025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∆</m:t>
                              </m:r>
                              <m:r>
                                <a:rPr lang="en-US" altLang="zh-CN" sz="2025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𝐶</m:t>
                              </m:r>
                            </m:oMath>
                          </m:oMathPara>
                        </a14:m>
                        <a:endParaRPr lang="en-US" altLang="zh-CN" sz="2025" i="1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>
                  <p:sp>
                    <p:nvSpPr>
                      <p:cNvPr id="26" name="文本框 25"/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1744" y="6627"/>
                        <a:ext cx="1199" cy="1004"/>
                      </a:xfrm>
                      <a:prstGeom prst="rect">
                        <a:avLst/>
                      </a:prstGeom>
                      <a:blipFill rotWithShape="1">
                        <a:blip r:embed="rId12"/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sp>
              <p:nvSpPr>
                <p:cNvPr id="4" name="文本框 3"/>
                <p:cNvSpPr txBox="1"/>
                <p:nvPr/>
              </p:nvSpPr>
              <p:spPr>
                <a:xfrm>
                  <a:off x="810" y="12102"/>
                  <a:ext cx="4497" cy="7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125"/>
                    <a:t>Pop growth rate</a:t>
                  </a:r>
                  <a:endParaRPr lang="en-US" altLang="zh-CN" sz="1125"/>
                </a:p>
              </p:txBody>
            </p:sp>
            <p:sp>
              <p:nvSpPr>
                <p:cNvPr id="21" name="文本框 20"/>
                <p:cNvSpPr txBox="1"/>
                <p:nvPr/>
              </p:nvSpPr>
              <p:spPr>
                <a:xfrm>
                  <a:off x="6206" y="12102"/>
                  <a:ext cx="4497" cy="7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125"/>
                    <a:t>Pop growth rate</a:t>
                  </a:r>
                  <a:endParaRPr lang="en-US" altLang="zh-CN" sz="1125"/>
                </a:p>
              </p:txBody>
            </p:sp>
            <p:sp>
              <p:nvSpPr>
                <p:cNvPr id="29" name="文本框 28"/>
                <p:cNvSpPr txBox="1"/>
                <p:nvPr/>
              </p:nvSpPr>
              <p:spPr>
                <a:xfrm>
                  <a:off x="11602" y="12102"/>
                  <a:ext cx="4497" cy="7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125"/>
                    <a:t>Pop growth rate</a:t>
                  </a:r>
                  <a:endParaRPr lang="en-US" altLang="zh-CN" sz="1125"/>
                </a:p>
              </p:txBody>
            </p:sp>
          </p:grpSp>
          <p:pic>
            <p:nvPicPr>
              <p:cNvPr id="37" name="图片 36"/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16389" y="6417"/>
                <a:ext cx="5535" cy="3825"/>
              </a:xfrm>
              <a:prstGeom prst="rect">
                <a:avLst/>
              </a:prstGeom>
            </p:spPr>
          </p:pic>
        </p:grpSp>
      </p:grpSp>
      <p:grpSp>
        <p:nvGrpSpPr>
          <p:cNvPr id="33" name="组合 32"/>
          <p:cNvGrpSpPr/>
          <p:nvPr/>
        </p:nvGrpSpPr>
        <p:grpSpPr>
          <a:xfrm>
            <a:off x="1189538" y="1749196"/>
            <a:ext cx="7346026" cy="2647155"/>
            <a:chOff x="992" y="61"/>
            <a:chExt cx="20566" cy="7411"/>
          </a:xfrm>
        </p:grpSpPr>
        <p:sp>
          <p:nvSpPr>
            <p:cNvPr id="6" name="文本框 5"/>
            <p:cNvSpPr txBox="1"/>
            <p:nvPr/>
          </p:nvSpPr>
          <p:spPr>
            <a:xfrm>
              <a:off x="992" y="61"/>
              <a:ext cx="4355" cy="11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015" b="1" i="1"/>
                <a:t>Strong Significance ***</a:t>
              </a:r>
              <a:endParaRPr lang="en-US" altLang="zh-CN" sz="1015" b="1" i="1"/>
            </a:p>
          </p:txBody>
        </p:sp>
        <p:sp>
          <p:nvSpPr>
            <p:cNvPr id="7" name="文本框 6"/>
            <p:cNvSpPr txBox="1"/>
            <p:nvPr/>
          </p:nvSpPr>
          <p:spPr>
            <a:xfrm>
              <a:off x="6285" y="61"/>
              <a:ext cx="4355" cy="11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015" b="1" i="1">
                  <a:sym typeface="+mn-ea"/>
                </a:rPr>
                <a:t>Strong Significance ***</a:t>
              </a:r>
              <a:endParaRPr lang="en-US" altLang="zh-CN" sz="1015" b="1" i="1">
                <a:sym typeface="+mn-ea"/>
              </a:endParaRPr>
            </a:p>
          </p:txBody>
        </p:sp>
        <p:sp>
          <p:nvSpPr>
            <p:cNvPr id="8" name="文本框 7"/>
            <p:cNvSpPr txBox="1"/>
            <p:nvPr/>
          </p:nvSpPr>
          <p:spPr>
            <a:xfrm>
              <a:off x="11744" y="61"/>
              <a:ext cx="4355" cy="11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015" b="1" i="1">
                  <a:sym typeface="+mn-ea"/>
                </a:rPr>
                <a:t>Strong Significance ***</a:t>
              </a:r>
              <a:endParaRPr lang="en-US" altLang="zh-CN" sz="1015" b="1" i="1">
                <a:sym typeface="+mn-ea"/>
              </a:endParaRP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17203" y="61"/>
              <a:ext cx="4355" cy="11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015" b="1" i="1">
                  <a:sym typeface="+mn-ea"/>
                </a:rPr>
                <a:t>Strong Significance ***</a:t>
              </a:r>
              <a:endParaRPr lang="en-US" altLang="zh-CN" sz="1015" b="1" i="1">
                <a:sym typeface="+mn-ea"/>
              </a:endParaRPr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992" y="6333"/>
              <a:ext cx="4355" cy="69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015" b="1" i="1">
                  <a:sym typeface="+mn-ea"/>
                </a:rPr>
                <a:t>Not Significant</a:t>
              </a:r>
              <a:endParaRPr lang="en-US" altLang="zh-CN" sz="1015" b="1" i="1">
                <a:sym typeface="+mn-ea"/>
              </a:endParaRP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6264" y="6341"/>
              <a:ext cx="4355" cy="11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015" b="1" i="1">
                  <a:sym typeface="+mn-ea"/>
                </a:rPr>
                <a:t>Strong Significance ***</a:t>
              </a:r>
              <a:endParaRPr lang="en-US" altLang="zh-CN" sz="1015" b="1" i="1">
                <a:sym typeface="+mn-ea"/>
              </a:endParaRPr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11744" y="6333"/>
              <a:ext cx="4355" cy="69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015" b="1" i="1">
                  <a:sym typeface="+mn-ea"/>
                </a:rPr>
                <a:t>Significance *</a:t>
              </a:r>
              <a:endParaRPr lang="en-US" altLang="zh-CN" sz="1015" b="1" i="1">
                <a:sym typeface="+mn-ea"/>
              </a:endParaRP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组合 30"/>
          <p:cNvGrpSpPr/>
          <p:nvPr/>
        </p:nvGrpSpPr>
        <p:grpSpPr>
          <a:xfrm>
            <a:off x="3311352" y="5368547"/>
            <a:ext cx="7523908" cy="3687658"/>
            <a:chOff x="451" y="1250"/>
            <a:chExt cx="21064" cy="10324"/>
          </a:xfrm>
        </p:grpSpPr>
        <p:pic>
          <p:nvPicPr>
            <p:cNvPr id="30" name="图片 29"/>
            <p:cNvPicPr/>
            <p:nvPr/>
          </p:nvPicPr>
          <p:blipFill>
            <a:blip r:embed="rId1"/>
            <a:srcRect t="4937"/>
            <a:stretch>
              <a:fillRect/>
            </a:stretch>
          </p:blipFill>
          <p:spPr>
            <a:xfrm>
              <a:off x="11468" y="2755"/>
              <a:ext cx="8035" cy="7953"/>
            </a:xfrm>
            <a:prstGeom prst="rect">
              <a:avLst/>
            </a:prstGeom>
          </p:spPr>
        </p:pic>
        <p:pic>
          <p:nvPicPr>
            <p:cNvPr id="29" name="图片 28"/>
            <p:cNvPicPr/>
            <p:nvPr/>
          </p:nvPicPr>
          <p:blipFill>
            <a:blip r:embed="rId2"/>
            <a:srcRect t="4937"/>
            <a:stretch>
              <a:fillRect/>
            </a:stretch>
          </p:blipFill>
          <p:spPr>
            <a:xfrm>
              <a:off x="1160" y="2755"/>
              <a:ext cx="8035" cy="7953"/>
            </a:xfrm>
            <a:prstGeom prst="rect">
              <a:avLst/>
            </a:prstGeom>
          </p:spPr>
        </p:pic>
        <p:grpSp>
          <p:nvGrpSpPr>
            <p:cNvPr id="28" name="组合 27"/>
            <p:cNvGrpSpPr/>
            <p:nvPr/>
          </p:nvGrpSpPr>
          <p:grpSpPr>
            <a:xfrm>
              <a:off x="451" y="1250"/>
              <a:ext cx="21065" cy="10324"/>
              <a:chOff x="655" y="941"/>
              <a:chExt cx="21065" cy="10324"/>
            </a:xfrm>
          </p:grpSpPr>
          <p:grpSp>
            <p:nvGrpSpPr>
              <p:cNvPr id="11" name="组合 10"/>
              <p:cNvGrpSpPr/>
              <p:nvPr/>
            </p:nvGrpSpPr>
            <p:grpSpPr>
              <a:xfrm>
                <a:off x="655" y="1763"/>
                <a:ext cx="10698" cy="9502"/>
                <a:chOff x="655" y="1763"/>
                <a:chExt cx="10698" cy="9502"/>
              </a:xfrm>
            </p:grpSpPr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3" name="文本框 12"/>
                    <p:cNvSpPr txBox="1"/>
                    <p:nvPr/>
                  </p:nvSpPr>
                  <p:spPr>
                    <a:xfrm>
                      <a:off x="9371" y="5886"/>
                      <a:ext cx="1982" cy="98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𝑝𝑟𝑜𝑏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(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𝛼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13" name="文本框 12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371" y="5886"/>
                      <a:ext cx="1982" cy="984"/>
                    </a:xfrm>
                    <a:prstGeom prst="rect">
                      <a:avLst/>
                    </a:prstGeom>
                    <a:blipFill rotWithShape="1">
                      <a:blip r:embed="rId3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5" name="文本框 14"/>
                    <p:cNvSpPr txBox="1"/>
                    <p:nvPr/>
                  </p:nvSpPr>
                  <p:spPr>
                    <a:xfrm>
                      <a:off x="7650" y="2629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𝛽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15" name="文本框 14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50" y="2629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4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2" name="文本框 21"/>
                    <p:cNvSpPr txBox="1"/>
                    <p:nvPr/>
                  </p:nvSpPr>
                  <p:spPr>
                    <a:xfrm>
                      <a:off x="3496" y="1763"/>
                      <a:ext cx="2510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𝑝𝑟𝑜𝑏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(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𝜅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22" name="文本框 21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496" y="1763"/>
                      <a:ext cx="2510" cy="1004"/>
                    </a:xfrm>
                    <a:prstGeom prst="rect">
                      <a:avLst/>
                    </a:prstGeom>
                    <a:blipFill rotWithShape="1">
                      <a:blip r:embed="rId5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3" name="文本框 22"/>
                    <p:cNvSpPr txBox="1"/>
                    <p:nvPr/>
                  </p:nvSpPr>
                  <p:spPr>
                    <a:xfrm>
                      <a:off x="924" y="3951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𝛿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23" name="文本框 22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24" y="3951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6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7" name="文本框 6"/>
                    <p:cNvSpPr txBox="1"/>
                    <p:nvPr/>
                  </p:nvSpPr>
                  <p:spPr>
                    <a:xfrm>
                      <a:off x="655" y="7578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𝐴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7" name="文本框 6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55" y="7578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7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8" name="文本框 7"/>
                    <p:cNvSpPr txBox="1"/>
                    <p:nvPr/>
                  </p:nvSpPr>
                  <p:spPr>
                    <a:xfrm>
                      <a:off x="3695" y="10261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𝐵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8" name="文本框 7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695" y="10261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8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9" name="文本框 8"/>
                    <p:cNvSpPr txBox="1"/>
                    <p:nvPr/>
                  </p:nvSpPr>
                  <p:spPr>
                    <a:xfrm>
                      <a:off x="7650" y="9257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𝐶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9" name="文本框 8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50" y="9257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9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4" name="组合 13"/>
              <p:cNvGrpSpPr/>
              <p:nvPr/>
            </p:nvGrpSpPr>
            <p:grpSpPr>
              <a:xfrm>
                <a:off x="11022" y="1763"/>
                <a:ext cx="10698" cy="9502"/>
                <a:chOff x="655" y="1763"/>
                <a:chExt cx="10698" cy="9502"/>
              </a:xfrm>
            </p:grpSpPr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6" name="文本框 15"/>
                    <p:cNvSpPr txBox="1"/>
                    <p:nvPr/>
                  </p:nvSpPr>
                  <p:spPr>
                    <a:xfrm>
                      <a:off x="9371" y="5886"/>
                      <a:ext cx="1982" cy="98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𝑝𝑟𝑜𝑏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(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𝛼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16" name="文本框 15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371" y="5886"/>
                      <a:ext cx="1982" cy="984"/>
                    </a:xfrm>
                    <a:prstGeom prst="rect">
                      <a:avLst/>
                    </a:prstGeom>
                    <a:blipFill rotWithShape="1">
                      <a:blip r:embed="rId10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7" name="文本框 16"/>
                    <p:cNvSpPr txBox="1"/>
                    <p:nvPr/>
                  </p:nvSpPr>
                  <p:spPr>
                    <a:xfrm>
                      <a:off x="7650" y="2629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𝛽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17" name="文本框 16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50" y="2629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4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8" name="文本框 17"/>
                    <p:cNvSpPr txBox="1"/>
                    <p:nvPr/>
                  </p:nvSpPr>
                  <p:spPr>
                    <a:xfrm>
                      <a:off x="3496" y="1763"/>
                      <a:ext cx="2510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𝑝𝑟𝑜𝑏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(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𝜅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18" name="文本框 17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496" y="1763"/>
                      <a:ext cx="2510" cy="1004"/>
                    </a:xfrm>
                    <a:prstGeom prst="rect">
                      <a:avLst/>
                    </a:prstGeom>
                    <a:blipFill rotWithShape="1">
                      <a:blip r:embed="rId5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9" name="文本框 18"/>
                    <p:cNvSpPr txBox="1"/>
                    <p:nvPr/>
                  </p:nvSpPr>
                  <p:spPr>
                    <a:xfrm>
                      <a:off x="924" y="3951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𝛿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19" name="文本框 18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24" y="3951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6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0" name="文本框 19"/>
                    <p:cNvSpPr txBox="1"/>
                    <p:nvPr/>
                  </p:nvSpPr>
                  <p:spPr>
                    <a:xfrm>
                      <a:off x="655" y="7578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𝐴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20" name="文本框 19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55" y="7578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7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1" name="文本框 20"/>
                    <p:cNvSpPr txBox="1"/>
                    <p:nvPr/>
                  </p:nvSpPr>
                  <p:spPr>
                    <a:xfrm>
                      <a:off x="3695" y="10261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𝐵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21" name="文本框 20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695" y="10261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8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4" name="文本框 23"/>
                    <p:cNvSpPr txBox="1"/>
                    <p:nvPr/>
                  </p:nvSpPr>
                  <p:spPr>
                    <a:xfrm>
                      <a:off x="7650" y="9257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𝐶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24" name="文本框 23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50" y="9257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9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25" name="文本框 24"/>
              <p:cNvSpPr txBox="1"/>
              <p:nvPr/>
            </p:nvSpPr>
            <p:spPr>
              <a:xfrm>
                <a:off x="3947" y="941"/>
                <a:ext cx="2060" cy="9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575"/>
                  <a:t>2016</a:t>
                </a:r>
                <a:endParaRPr lang="en-US" altLang="zh-CN" sz="1575"/>
              </a:p>
            </p:txBody>
          </p:sp>
          <p:sp>
            <p:nvSpPr>
              <p:cNvPr id="26" name="文本框 25"/>
              <p:cNvSpPr txBox="1"/>
              <p:nvPr/>
            </p:nvSpPr>
            <p:spPr>
              <a:xfrm>
                <a:off x="15261" y="962"/>
                <a:ext cx="2583" cy="9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575"/>
                  <a:t>2023</a:t>
                </a:r>
                <a:endParaRPr lang="en-US" altLang="zh-CN" sz="1575"/>
              </a:p>
            </p:txBody>
          </p:sp>
          <p:grpSp>
            <p:nvGrpSpPr>
              <p:cNvPr id="27" name="组合 26"/>
              <p:cNvGrpSpPr/>
              <p:nvPr/>
            </p:nvGrpSpPr>
            <p:grpSpPr>
              <a:xfrm>
                <a:off x="8849" y="9109"/>
                <a:ext cx="5633" cy="1999"/>
                <a:chOff x="9225" y="1246"/>
                <a:chExt cx="5633" cy="1999"/>
              </a:xfrm>
            </p:grpSpPr>
            <p:sp>
              <p:nvSpPr>
                <p:cNvPr id="35" name="圆角矩形 34"/>
                <p:cNvSpPr/>
                <p:nvPr/>
              </p:nvSpPr>
              <p:spPr>
                <a:xfrm>
                  <a:off x="9225" y="2686"/>
                  <a:ext cx="530" cy="338"/>
                </a:xfrm>
                <a:prstGeom prst="roundRect">
                  <a:avLst/>
                </a:prstGeom>
                <a:solidFill>
                  <a:srgbClr val="47A2DE">
                    <a:alpha val="20000"/>
                  </a:srgbClr>
                </a:solidFill>
                <a:ln w="38100">
                  <a:solidFill>
                    <a:srgbClr val="47A2DE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350"/>
                </a:p>
              </p:txBody>
            </p:sp>
            <p:sp>
              <p:nvSpPr>
                <p:cNvPr id="38" name="文本框 37"/>
                <p:cNvSpPr txBox="1"/>
                <p:nvPr/>
              </p:nvSpPr>
              <p:spPr>
                <a:xfrm>
                  <a:off x="9775" y="2504"/>
                  <a:ext cx="3168" cy="7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125"/>
                    <a:t>Latin America</a:t>
                  </a:r>
                  <a:endParaRPr lang="en-US" altLang="zh-CN" sz="1125"/>
                </a:p>
              </p:txBody>
            </p:sp>
            <p:sp>
              <p:nvSpPr>
                <p:cNvPr id="44" name="圆角矩形 43"/>
                <p:cNvSpPr/>
                <p:nvPr/>
              </p:nvSpPr>
              <p:spPr>
                <a:xfrm>
                  <a:off x="9225" y="1419"/>
                  <a:ext cx="530" cy="338"/>
                </a:xfrm>
                <a:prstGeom prst="roundRect">
                  <a:avLst/>
                </a:prstGeom>
                <a:solidFill>
                  <a:srgbClr val="E85748">
                    <a:alpha val="20000"/>
                  </a:srgbClr>
                </a:solidFill>
                <a:ln w="38100">
                  <a:solidFill>
                    <a:srgbClr val="E85748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350"/>
                </a:p>
              </p:txBody>
            </p:sp>
            <p:sp>
              <p:nvSpPr>
                <p:cNvPr id="45" name="文本框 44"/>
                <p:cNvSpPr txBox="1"/>
                <p:nvPr/>
              </p:nvSpPr>
              <p:spPr>
                <a:xfrm>
                  <a:off x="9775" y="1246"/>
                  <a:ext cx="3227" cy="7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125"/>
                    <a:t>Africa</a:t>
                  </a:r>
                  <a:endParaRPr lang="en-US" altLang="zh-CN" sz="1125"/>
                </a:p>
              </p:txBody>
            </p:sp>
            <p:sp>
              <p:nvSpPr>
                <p:cNvPr id="48" name="圆角矩形 47"/>
                <p:cNvSpPr/>
                <p:nvPr/>
              </p:nvSpPr>
              <p:spPr>
                <a:xfrm>
                  <a:off x="9225" y="2061"/>
                  <a:ext cx="530" cy="338"/>
                </a:xfrm>
                <a:prstGeom prst="roundRect">
                  <a:avLst/>
                </a:prstGeom>
                <a:solidFill>
                  <a:srgbClr val="F39F1B">
                    <a:alpha val="20000"/>
                  </a:srgbClr>
                </a:solidFill>
                <a:ln w="38100">
                  <a:solidFill>
                    <a:srgbClr val="F39F1B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350"/>
                </a:p>
              </p:txBody>
            </p:sp>
            <p:sp>
              <p:nvSpPr>
                <p:cNvPr id="49" name="文本框 48"/>
                <p:cNvSpPr txBox="1"/>
                <p:nvPr/>
              </p:nvSpPr>
              <p:spPr>
                <a:xfrm>
                  <a:off x="9774" y="1875"/>
                  <a:ext cx="5084" cy="66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r>
                    <a:rPr lang="en-US" altLang="zh-CN" sz="1125">
                      <a:sym typeface="+mn-ea"/>
                    </a:rPr>
                    <a:t>South &amp; South-east Asia</a:t>
                  </a:r>
                  <a:endParaRPr lang="en-US" altLang="zh-CN" sz="1125">
                    <a:sym typeface="+mn-ea"/>
                  </a:endParaRPr>
                </a:p>
              </p:txBody>
            </p:sp>
          </p:grpSp>
        </p:grpSp>
      </p:grpSp>
    </p:spTree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组合 4"/>
          <p:cNvGrpSpPr/>
          <p:nvPr/>
        </p:nvGrpSpPr>
        <p:grpSpPr>
          <a:xfrm>
            <a:off x="3187065" y="5614035"/>
            <a:ext cx="8021320" cy="2885440"/>
            <a:chOff x="5019" y="8841"/>
            <a:chExt cx="12632" cy="4544"/>
          </a:xfrm>
        </p:grpSpPr>
        <p:pic>
          <p:nvPicPr>
            <p:cNvPr id="56" name="图片 55"/>
            <p:cNvPicPr/>
            <p:nvPr/>
          </p:nvPicPr>
          <p:blipFill>
            <a:blip r:embed="rId1"/>
            <a:stretch>
              <a:fillRect/>
            </a:stretch>
          </p:blipFill>
          <p:spPr>
            <a:xfrm>
              <a:off x="13616" y="9454"/>
              <a:ext cx="3234" cy="3241"/>
            </a:xfrm>
            <a:prstGeom prst="rect">
              <a:avLst/>
            </a:prstGeom>
          </p:spPr>
        </p:pic>
        <p:pic>
          <p:nvPicPr>
            <p:cNvPr id="54" name="图片 53"/>
            <p:cNvPicPr/>
            <p:nvPr/>
          </p:nvPicPr>
          <p:blipFill>
            <a:blip r:embed="rId2"/>
            <a:stretch>
              <a:fillRect/>
            </a:stretch>
          </p:blipFill>
          <p:spPr>
            <a:xfrm>
              <a:off x="9425" y="9454"/>
              <a:ext cx="3234" cy="3241"/>
            </a:xfrm>
            <a:prstGeom prst="rect">
              <a:avLst/>
            </a:prstGeom>
          </p:spPr>
        </p:pic>
        <p:pic>
          <p:nvPicPr>
            <p:cNvPr id="51" name="图片 50"/>
            <p:cNvPicPr/>
            <p:nvPr/>
          </p:nvPicPr>
          <p:blipFill>
            <a:blip r:embed="rId3"/>
            <a:stretch>
              <a:fillRect/>
            </a:stretch>
          </p:blipFill>
          <p:spPr>
            <a:xfrm>
              <a:off x="5293" y="9454"/>
              <a:ext cx="3234" cy="3241"/>
            </a:xfrm>
            <a:prstGeom prst="rect">
              <a:avLst/>
            </a:prstGeom>
          </p:spPr>
        </p:pic>
        <p:grpSp>
          <p:nvGrpSpPr>
            <p:cNvPr id="11" name="组合 10"/>
            <p:cNvGrpSpPr/>
            <p:nvPr/>
          </p:nvGrpSpPr>
          <p:grpSpPr>
            <a:xfrm rot="0">
              <a:off x="5019" y="9218"/>
              <a:ext cx="4305" cy="3824"/>
              <a:chOff x="655" y="1763"/>
              <a:chExt cx="10698" cy="9502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3" name="文本框 12"/>
                  <p:cNvSpPr txBox="1"/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13" name="文本框 1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blipFill rotWithShape="1">
                    <a:blip r:embed="rId4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5" name="文本框 14"/>
                  <p:cNvSpPr txBox="1"/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𝛽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15" name="文本框 14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blipFill rotWithShape="1">
                    <a:blip r:embed="rId5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2" name="文本框 21"/>
                  <p:cNvSpPr txBox="1"/>
                  <p:nvPr/>
                </p:nvSpPr>
                <p:spPr>
                  <a:xfrm>
                    <a:off x="3496" y="1763"/>
                    <a:ext cx="2510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22" name="文本框 2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96" y="1763"/>
                    <a:ext cx="2510" cy="1004"/>
                  </a:xfrm>
                  <a:prstGeom prst="rect">
                    <a:avLst/>
                  </a:prstGeom>
                  <a:blipFill rotWithShape="1">
                    <a:blip r:embed="rId6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3" name="文本框 22"/>
                  <p:cNvSpPr txBox="1"/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𝛿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23" name="文本框 2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blipFill rotWithShape="1">
                    <a:blip r:embed="rId7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7" name="文本框 6"/>
                  <p:cNvSpPr txBox="1"/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𝐴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7" name="文本框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blipFill rotWithShape="1">
                    <a:blip r:embed="rId8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8" name="文本框 7"/>
                  <p:cNvSpPr txBox="1"/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𝐵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8" name="文本框 7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blipFill rotWithShape="1">
                    <a:blip r:embed="rId9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9" name="文本框 8"/>
                  <p:cNvSpPr txBox="1"/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𝐶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9" name="文本框 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blipFill rotWithShape="1">
                    <a:blip r:embed="rId10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4" name="组合 13"/>
            <p:cNvGrpSpPr/>
            <p:nvPr/>
          </p:nvGrpSpPr>
          <p:grpSpPr>
            <a:xfrm rot="0">
              <a:off x="9191" y="9218"/>
              <a:ext cx="4305" cy="3824"/>
              <a:chOff x="655" y="1763"/>
              <a:chExt cx="10698" cy="9502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6" name="文本框 15"/>
                  <p:cNvSpPr txBox="1"/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16" name="文本框 1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blipFill rotWithShape="1">
                    <a:blip r:embed="rId4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7" name="文本框 16"/>
                  <p:cNvSpPr txBox="1"/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𝛽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17" name="文本框 1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blipFill rotWithShape="1">
                    <a:blip r:embed="rId5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8" name="文本框 17"/>
                  <p:cNvSpPr txBox="1"/>
                  <p:nvPr/>
                </p:nvSpPr>
                <p:spPr>
                  <a:xfrm>
                    <a:off x="3496" y="1763"/>
                    <a:ext cx="2510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18" name="文本框 17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96" y="1763"/>
                    <a:ext cx="2510" cy="1004"/>
                  </a:xfrm>
                  <a:prstGeom prst="rect">
                    <a:avLst/>
                  </a:prstGeom>
                  <a:blipFill rotWithShape="1">
                    <a:blip r:embed="rId11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9" name="文本框 18"/>
                  <p:cNvSpPr txBox="1"/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𝛿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19" name="文本框 1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blipFill rotWithShape="1">
                    <a:blip r:embed="rId12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0" name="文本框 19"/>
                  <p:cNvSpPr txBox="1"/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𝐴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20" name="文本框 19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blipFill rotWithShape="1">
                    <a:blip r:embed="rId8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1" name="文本框 20"/>
                  <p:cNvSpPr txBox="1"/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𝐵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21" name="文本框 20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blipFill rotWithShape="1">
                    <a:blip r:embed="rId9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4" name="文本框 23"/>
                  <p:cNvSpPr txBox="1"/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𝐶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24" name="文本框 23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blipFill rotWithShape="1">
                    <a:blip r:embed="rId10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25" name="文本框 24"/>
            <p:cNvSpPr txBox="1"/>
            <p:nvPr/>
          </p:nvSpPr>
          <p:spPr>
            <a:xfrm>
              <a:off x="6353" y="8841"/>
              <a:ext cx="1115" cy="4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350" b="1">
                  <a:solidFill>
                    <a:srgbClr val="E85748"/>
                  </a:solidFill>
                </a:rPr>
                <a:t>Africa</a:t>
              </a:r>
              <a:endParaRPr lang="en-US" altLang="zh-CN" sz="1350" b="1">
                <a:solidFill>
                  <a:srgbClr val="E85748"/>
                </a:solidFill>
              </a:endParaRPr>
            </a:p>
          </p:txBody>
        </p:sp>
        <p:sp>
          <p:nvSpPr>
            <p:cNvPr id="26" name="文本框 25"/>
            <p:cNvSpPr txBox="1"/>
            <p:nvPr/>
          </p:nvSpPr>
          <p:spPr>
            <a:xfrm>
              <a:off x="9161" y="8841"/>
              <a:ext cx="3979" cy="4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350" b="1">
                  <a:solidFill>
                    <a:srgbClr val="F39F1B"/>
                  </a:solidFill>
                </a:rPr>
                <a:t>South &amp; Southeast Asia</a:t>
              </a:r>
              <a:endParaRPr lang="en-US" altLang="zh-CN" sz="1350" b="1">
                <a:solidFill>
                  <a:srgbClr val="F39F1B"/>
                </a:solidFill>
              </a:endParaRPr>
            </a:p>
          </p:txBody>
        </p:sp>
        <p:grpSp>
          <p:nvGrpSpPr>
            <p:cNvPr id="10" name="组合 9"/>
            <p:cNvGrpSpPr/>
            <p:nvPr/>
          </p:nvGrpSpPr>
          <p:grpSpPr>
            <a:xfrm rot="0">
              <a:off x="13347" y="9227"/>
              <a:ext cx="4305" cy="3824"/>
              <a:chOff x="655" y="1763"/>
              <a:chExt cx="10698" cy="9502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2" name="文本框 11"/>
                  <p:cNvSpPr txBox="1"/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12" name="文本框 1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blipFill rotWithShape="1">
                    <a:blip r:embed="rId13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2" name="文本框 31"/>
                  <p:cNvSpPr txBox="1"/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𝛽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32" name="文本框 3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blipFill rotWithShape="1">
                    <a:blip r:embed="rId5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3" name="文本框 32"/>
                  <p:cNvSpPr txBox="1"/>
                  <p:nvPr/>
                </p:nvSpPr>
                <p:spPr>
                  <a:xfrm>
                    <a:off x="3496" y="1763"/>
                    <a:ext cx="2510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33" name="文本框 3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96" y="1763"/>
                    <a:ext cx="2510" cy="1004"/>
                  </a:xfrm>
                  <a:prstGeom prst="rect">
                    <a:avLst/>
                  </a:prstGeom>
                  <a:blipFill rotWithShape="1">
                    <a:blip r:embed="rId11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4" name="文本框 33"/>
                  <p:cNvSpPr txBox="1"/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𝛿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34" name="文本框 33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blipFill rotWithShape="1">
                    <a:blip r:embed="rId7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6" name="文本框 35"/>
                  <p:cNvSpPr txBox="1"/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𝐴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36" name="文本框 3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blipFill rotWithShape="1">
                    <a:blip r:embed="rId8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7" name="文本框 36"/>
                  <p:cNvSpPr txBox="1"/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𝐵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37" name="文本框 3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blipFill rotWithShape="1">
                    <a:blip r:embed="rId9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9" name="文本框 38"/>
                  <p:cNvSpPr txBox="1"/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𝐶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39" name="文本框 3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blipFill rotWithShape="1">
                    <a:blip r:embed="rId10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52" name="文本框 51"/>
            <p:cNvSpPr txBox="1"/>
            <p:nvPr/>
          </p:nvSpPr>
          <p:spPr>
            <a:xfrm>
              <a:off x="13398" y="8841"/>
              <a:ext cx="3854" cy="4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350" b="1">
                  <a:solidFill>
                    <a:srgbClr val="47A2DE"/>
                  </a:solidFill>
                </a:rPr>
                <a:t>Latin America</a:t>
              </a:r>
              <a:endParaRPr lang="en-US" altLang="zh-CN" sz="1350" b="1">
                <a:solidFill>
                  <a:srgbClr val="47A2DE"/>
                </a:solidFill>
              </a:endParaRPr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9955" y="12969"/>
              <a:ext cx="888" cy="417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r>
                <a:rPr lang="en-US" altLang="zh-CN" sz="1125">
                  <a:sym typeface="+mn-ea"/>
                </a:rPr>
                <a:t>2016</a:t>
              </a:r>
              <a:endParaRPr lang="en-US" altLang="zh-CN" sz="1125">
                <a:sym typeface="+mn-ea"/>
              </a:endParaRPr>
            </a:p>
          </p:txBody>
        </p:sp>
        <p:grpSp>
          <p:nvGrpSpPr>
            <p:cNvPr id="31" name="组合 30"/>
            <p:cNvGrpSpPr/>
            <p:nvPr/>
          </p:nvGrpSpPr>
          <p:grpSpPr>
            <a:xfrm rot="0">
              <a:off x="8866" y="13072"/>
              <a:ext cx="1059" cy="212"/>
              <a:chOff x="6153" y="11442"/>
              <a:chExt cx="1740" cy="348"/>
            </a:xfrm>
          </p:grpSpPr>
          <p:sp>
            <p:nvSpPr>
              <p:cNvPr id="4" name="圆角矩形 3"/>
              <p:cNvSpPr/>
              <p:nvPr/>
            </p:nvSpPr>
            <p:spPr>
              <a:xfrm>
                <a:off x="6153" y="11442"/>
                <a:ext cx="536" cy="348"/>
              </a:xfrm>
              <a:prstGeom prst="roundRect">
                <a:avLst/>
              </a:prstGeom>
              <a:solidFill>
                <a:srgbClr val="E85748">
                  <a:alpha val="20000"/>
                </a:srgbClr>
              </a:solidFill>
              <a:ln w="19050">
                <a:solidFill>
                  <a:srgbClr val="E85748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350"/>
              </a:p>
            </p:txBody>
          </p:sp>
          <p:sp>
            <p:nvSpPr>
              <p:cNvPr id="29" name="圆角矩形 28"/>
              <p:cNvSpPr/>
              <p:nvPr/>
            </p:nvSpPr>
            <p:spPr>
              <a:xfrm>
                <a:off x="6761" y="11442"/>
                <a:ext cx="530" cy="338"/>
              </a:xfrm>
              <a:prstGeom prst="roundRect">
                <a:avLst/>
              </a:prstGeom>
              <a:solidFill>
                <a:srgbClr val="F39F1B">
                  <a:alpha val="20000"/>
                </a:srgbClr>
              </a:solidFill>
              <a:ln w="19050">
                <a:solidFill>
                  <a:srgbClr val="F39F1B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350"/>
              </a:p>
            </p:txBody>
          </p:sp>
          <p:sp>
            <p:nvSpPr>
              <p:cNvPr id="30" name="圆角矩形 29"/>
              <p:cNvSpPr/>
              <p:nvPr/>
            </p:nvSpPr>
            <p:spPr>
              <a:xfrm>
                <a:off x="7363" y="11442"/>
                <a:ext cx="530" cy="338"/>
              </a:xfrm>
              <a:prstGeom prst="roundRect">
                <a:avLst/>
              </a:prstGeom>
              <a:solidFill>
                <a:srgbClr val="47A2DE">
                  <a:alpha val="20000"/>
                </a:srgbClr>
              </a:solidFill>
              <a:ln w="19050">
                <a:solidFill>
                  <a:srgbClr val="47A2DE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350"/>
              </a:p>
            </p:txBody>
          </p:sp>
        </p:grpSp>
        <p:grpSp>
          <p:nvGrpSpPr>
            <p:cNvPr id="40" name="组合 39"/>
            <p:cNvGrpSpPr/>
            <p:nvPr/>
          </p:nvGrpSpPr>
          <p:grpSpPr>
            <a:xfrm rot="0">
              <a:off x="11606" y="13072"/>
              <a:ext cx="1092" cy="212"/>
              <a:chOff x="5151" y="11234"/>
              <a:chExt cx="1795" cy="348"/>
            </a:xfrm>
          </p:grpSpPr>
          <p:sp>
            <p:nvSpPr>
              <p:cNvPr id="41" name="圆角矩形 40"/>
              <p:cNvSpPr/>
              <p:nvPr/>
            </p:nvSpPr>
            <p:spPr>
              <a:xfrm>
                <a:off x="5151" y="11234"/>
                <a:ext cx="536" cy="348"/>
              </a:xfrm>
              <a:prstGeom prst="roundRect">
                <a:avLst/>
              </a:prstGeom>
              <a:solidFill>
                <a:srgbClr val="E85748">
                  <a:alpha val="20000"/>
                </a:srgbClr>
              </a:solidFill>
              <a:ln w="19050">
                <a:solidFill>
                  <a:srgbClr val="E85748"/>
                </a:solidFill>
                <a:prstDash val="sysDash"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350">
                  <a:solidFill>
                    <a:srgbClr val="47A2DE"/>
                  </a:solidFill>
                </a:endParaRPr>
              </a:p>
            </p:txBody>
          </p:sp>
          <p:sp>
            <p:nvSpPr>
              <p:cNvPr id="42" name="圆角矩形 41"/>
              <p:cNvSpPr/>
              <p:nvPr/>
            </p:nvSpPr>
            <p:spPr>
              <a:xfrm>
                <a:off x="5787" y="11234"/>
                <a:ext cx="530" cy="338"/>
              </a:xfrm>
              <a:prstGeom prst="roundRect">
                <a:avLst/>
              </a:prstGeom>
              <a:solidFill>
                <a:srgbClr val="F39F1B">
                  <a:alpha val="20000"/>
                </a:srgbClr>
              </a:solidFill>
              <a:ln w="19050">
                <a:solidFill>
                  <a:srgbClr val="F39F1B"/>
                </a:solidFill>
                <a:prstDash val="sysDash"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350"/>
              </a:p>
            </p:txBody>
          </p:sp>
          <p:sp>
            <p:nvSpPr>
              <p:cNvPr id="43" name="圆角矩形 42"/>
              <p:cNvSpPr/>
              <p:nvPr/>
            </p:nvSpPr>
            <p:spPr>
              <a:xfrm>
                <a:off x="6416" y="11234"/>
                <a:ext cx="530" cy="338"/>
              </a:xfrm>
              <a:prstGeom prst="roundRect">
                <a:avLst/>
              </a:prstGeom>
              <a:solidFill>
                <a:srgbClr val="47A2DE">
                  <a:alpha val="20000"/>
                </a:srgbClr>
              </a:solidFill>
              <a:ln w="19050">
                <a:solidFill>
                  <a:srgbClr val="47A2DE"/>
                </a:solidFill>
                <a:prstDash val="sysDash"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350"/>
              </a:p>
            </p:txBody>
          </p:sp>
        </p:grpSp>
        <p:sp>
          <p:nvSpPr>
            <p:cNvPr id="46" name="文本框 45"/>
            <p:cNvSpPr txBox="1"/>
            <p:nvPr/>
          </p:nvSpPr>
          <p:spPr>
            <a:xfrm>
              <a:off x="12759" y="12969"/>
              <a:ext cx="888" cy="417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r>
                <a:rPr lang="en-US" altLang="zh-CN" sz="1125">
                  <a:sym typeface="+mn-ea"/>
                </a:rPr>
                <a:t>2023</a:t>
              </a:r>
              <a:endParaRPr lang="en-US" altLang="zh-CN" sz="1125">
                <a:sym typeface="+mn-ea"/>
              </a:endParaRPr>
            </a:p>
          </p:txBody>
        </p:sp>
      </p:grpSp>
      <p:grpSp>
        <p:nvGrpSpPr>
          <p:cNvPr id="60" name="组合 59"/>
          <p:cNvGrpSpPr/>
          <p:nvPr/>
        </p:nvGrpSpPr>
        <p:grpSpPr>
          <a:xfrm>
            <a:off x="4914961" y="11522594"/>
            <a:ext cx="4575639" cy="622587"/>
            <a:chOff x="6709" y="10473"/>
            <a:chExt cx="12810" cy="1743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7" name="文本框 56"/>
                <p:cNvSpPr txBox="1"/>
                <p:nvPr/>
              </p:nvSpPr>
              <p:spPr>
                <a:xfrm>
                  <a:off x="11348" y="10643"/>
                  <a:ext cx="8171" cy="81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𝐴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𝑒𝑥𝑝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𝐵𝑟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altLang="zh-CN" sz="135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135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zh-CN" sz="135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135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350" i="1">
                    <a:latin typeface="Cambria Math" panose="02040503050406030204" charset="0"/>
                    <a:ea typeface="MS Mincho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57" name="文本框 5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48" y="10643"/>
                  <a:ext cx="8171" cy="816"/>
                </a:xfrm>
                <a:prstGeom prst="rect">
                  <a:avLst/>
                </a:prstGeom>
                <a:blipFill rotWithShape="1">
                  <a:blip r:embed="rId14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8" name="文本框 57"/>
                <p:cNvSpPr txBox="1"/>
                <p:nvPr/>
              </p:nvSpPr>
              <p:spPr>
                <a:xfrm>
                  <a:off x="6711" y="10473"/>
                  <a:ext cx="5790" cy="837"/>
                </a:xfrm>
                <a:prstGeom prst="rect">
                  <a:avLst/>
                </a:prstGeom>
                <a:noFill/>
              </p:spPr>
              <p:txBody>
                <a:bodyPr wrap="square" rtlCol="0" anchor="t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𝜑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𝑙𝑜𝑔𝑖𝑠𝑡𝑖𝑐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𝛼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𝛽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350" i="1">
                    <a:latin typeface="Cambria Math" panose="02040503050406030204" charset="0"/>
                    <a:ea typeface="MS Mincho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58" name="文本框 5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11" y="10473"/>
                  <a:ext cx="5790" cy="837"/>
                </a:xfrm>
                <a:prstGeom prst="rect">
                  <a:avLst/>
                </a:prstGeom>
                <a:blipFill rotWithShape="1">
                  <a:blip r:embed="rId15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9" name="文本框 58"/>
                <p:cNvSpPr txBox="1"/>
                <p:nvPr/>
              </p:nvSpPr>
              <p:spPr>
                <a:xfrm>
                  <a:off x="6709" y="11379"/>
                  <a:ext cx="5792" cy="837"/>
                </a:xfrm>
                <a:prstGeom prst="rect">
                  <a:avLst/>
                </a:prstGeom>
                <a:noFill/>
              </p:spPr>
              <p:txBody>
                <a:bodyPr wrap="square" rtlCol="0" anchor="t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𝜋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𝑙𝑜𝑔𝑖𝑠𝑡𝑖𝑐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𝜅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𝛿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350" i="1">
                    <a:latin typeface="Cambria Math" panose="02040503050406030204" charset="0"/>
                    <a:ea typeface="MS Mincho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59" name="文本框 5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09" y="11379"/>
                  <a:ext cx="5792" cy="837"/>
                </a:xfrm>
                <a:prstGeom prst="rect">
                  <a:avLst/>
                </a:prstGeom>
                <a:blipFill rotWithShape="1">
                  <a:blip r:embed="rId16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组合 58"/>
          <p:cNvGrpSpPr/>
          <p:nvPr/>
        </p:nvGrpSpPr>
        <p:grpSpPr>
          <a:xfrm>
            <a:off x="4235975" y="5437111"/>
            <a:ext cx="5898681" cy="3612647"/>
            <a:chOff x="1301" y="464"/>
            <a:chExt cx="16514" cy="10114"/>
          </a:xfrm>
        </p:grpSpPr>
        <p:grpSp>
          <p:nvGrpSpPr>
            <p:cNvPr id="33" name="组合 32"/>
            <p:cNvGrpSpPr/>
            <p:nvPr/>
          </p:nvGrpSpPr>
          <p:grpSpPr>
            <a:xfrm>
              <a:off x="1301" y="1635"/>
              <a:ext cx="16514" cy="6542"/>
              <a:chOff x="0" y="1154"/>
              <a:chExt cx="19116" cy="7572"/>
            </a:xfrm>
          </p:grpSpPr>
          <p:pic>
            <p:nvPicPr>
              <p:cNvPr id="6" name="图片 5"/>
              <p:cNvPicPr/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0" y="1154"/>
                <a:ext cx="19116" cy="7538"/>
              </a:xfrm>
              <a:prstGeom prst="rect">
                <a:avLst/>
              </a:prstGeom>
            </p:spPr>
          </p:pic>
          <p:sp>
            <p:nvSpPr>
              <p:cNvPr id="7" name="矩形 6"/>
              <p:cNvSpPr/>
              <p:nvPr/>
            </p:nvSpPr>
            <p:spPr>
              <a:xfrm>
                <a:off x="161" y="1193"/>
                <a:ext cx="630" cy="7499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8" name="矩形 7"/>
              <p:cNvSpPr/>
              <p:nvPr/>
            </p:nvSpPr>
            <p:spPr>
              <a:xfrm rot="5400000">
                <a:off x="4742" y="4127"/>
                <a:ext cx="630" cy="8533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9" name="矩形 8"/>
              <p:cNvSpPr/>
              <p:nvPr/>
            </p:nvSpPr>
            <p:spPr>
              <a:xfrm>
                <a:off x="9418" y="1193"/>
                <a:ext cx="986" cy="7499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10" name="矩形 9"/>
              <p:cNvSpPr/>
              <p:nvPr/>
            </p:nvSpPr>
            <p:spPr>
              <a:xfrm rot="5400000">
                <a:off x="14022" y="3732"/>
                <a:ext cx="630" cy="9357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</p:grpSp>
        <p:grpSp>
          <p:nvGrpSpPr>
            <p:cNvPr id="56" name="组合 55"/>
            <p:cNvGrpSpPr/>
            <p:nvPr/>
          </p:nvGrpSpPr>
          <p:grpSpPr>
            <a:xfrm>
              <a:off x="1984" y="8434"/>
              <a:ext cx="15595" cy="2144"/>
              <a:chOff x="2352" y="8858"/>
              <a:chExt cx="15488" cy="2144"/>
            </a:xfrm>
          </p:grpSpPr>
          <p:sp>
            <p:nvSpPr>
              <p:cNvPr id="32" name="文本框 31"/>
              <p:cNvSpPr txBox="1"/>
              <p:nvPr/>
            </p:nvSpPr>
            <p:spPr>
              <a:xfrm>
                <a:off x="13434" y="9840"/>
                <a:ext cx="4406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 Mean, 2016</a:t>
                </a:r>
                <a:endParaRPr lang="en-US" altLang="zh-CN" sz="900"/>
              </a:p>
            </p:txBody>
          </p:sp>
          <p:sp>
            <p:nvSpPr>
              <p:cNvPr id="4" name="文本框 3"/>
              <p:cNvSpPr txBox="1"/>
              <p:nvPr/>
            </p:nvSpPr>
            <p:spPr>
              <a:xfrm>
                <a:off x="13434" y="8858"/>
                <a:ext cx="314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America, 2016</a:t>
                </a:r>
                <a:endParaRPr lang="en-US" altLang="zh-CN" sz="900"/>
              </a:p>
            </p:txBody>
          </p:sp>
          <p:sp>
            <p:nvSpPr>
              <p:cNvPr id="11" name="椭圆 10"/>
              <p:cNvSpPr/>
              <p:nvPr/>
            </p:nvSpPr>
            <p:spPr>
              <a:xfrm>
                <a:off x="13067" y="8972"/>
                <a:ext cx="255" cy="255"/>
              </a:xfrm>
              <a:prstGeom prst="ellipse">
                <a:avLst/>
              </a:prstGeom>
              <a:solidFill>
                <a:srgbClr val="1F77B4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12" name="椭圆 11"/>
              <p:cNvSpPr/>
              <p:nvPr/>
            </p:nvSpPr>
            <p:spPr>
              <a:xfrm>
                <a:off x="13067" y="9435"/>
                <a:ext cx="255" cy="255"/>
              </a:xfrm>
              <a:prstGeom prst="ellipse">
                <a:avLst/>
              </a:prstGeom>
              <a:solidFill>
                <a:srgbClr val="1F77B4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13" name="文本框 12"/>
              <p:cNvSpPr txBox="1"/>
              <p:nvPr/>
            </p:nvSpPr>
            <p:spPr>
              <a:xfrm>
                <a:off x="13434" y="9349"/>
                <a:ext cx="314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America, 2023</a:t>
                </a:r>
                <a:endParaRPr lang="en-US" altLang="zh-CN" sz="900"/>
              </a:p>
            </p:txBody>
          </p:sp>
          <p:sp>
            <p:nvSpPr>
              <p:cNvPr id="14" name="文本框 13"/>
              <p:cNvSpPr txBox="1"/>
              <p:nvPr/>
            </p:nvSpPr>
            <p:spPr>
              <a:xfrm>
                <a:off x="2848" y="88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Africa, 2016</a:t>
                </a:r>
                <a:endParaRPr lang="en-US" altLang="zh-CN" sz="900"/>
              </a:p>
            </p:txBody>
          </p:sp>
          <p:sp>
            <p:nvSpPr>
              <p:cNvPr id="15" name="椭圆 14"/>
              <p:cNvSpPr/>
              <p:nvPr/>
            </p:nvSpPr>
            <p:spPr>
              <a:xfrm>
                <a:off x="2465" y="8972"/>
                <a:ext cx="255" cy="255"/>
              </a:xfrm>
              <a:prstGeom prst="ellipse">
                <a:avLst/>
              </a:prstGeom>
              <a:solidFill>
                <a:srgbClr val="9467BD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9467BD"/>
                  </a:solidFill>
                </a:endParaRPr>
              </a:p>
            </p:txBody>
          </p:sp>
          <p:sp>
            <p:nvSpPr>
              <p:cNvPr id="16" name="椭圆 15"/>
              <p:cNvSpPr/>
              <p:nvPr/>
            </p:nvSpPr>
            <p:spPr>
              <a:xfrm>
                <a:off x="2465" y="9435"/>
                <a:ext cx="255" cy="255"/>
              </a:xfrm>
              <a:prstGeom prst="ellipse">
                <a:avLst/>
              </a:prstGeom>
              <a:solidFill>
                <a:srgbClr val="9467BD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17" name="文本框 16"/>
              <p:cNvSpPr txBox="1"/>
              <p:nvPr/>
            </p:nvSpPr>
            <p:spPr>
              <a:xfrm>
                <a:off x="2848" y="93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Africa, 2023</a:t>
                </a:r>
                <a:endParaRPr lang="en-US" altLang="zh-CN" sz="900"/>
              </a:p>
            </p:txBody>
          </p:sp>
          <p:sp>
            <p:nvSpPr>
              <p:cNvPr id="18" name="文本框 17"/>
              <p:cNvSpPr txBox="1"/>
              <p:nvPr/>
            </p:nvSpPr>
            <p:spPr>
              <a:xfrm>
                <a:off x="7053" y="8858"/>
                <a:ext cx="452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South&amp;South-east Asia, 2016</a:t>
                </a:r>
                <a:endParaRPr lang="en-US" altLang="zh-CN" sz="900"/>
              </a:p>
            </p:txBody>
          </p:sp>
          <p:sp>
            <p:nvSpPr>
              <p:cNvPr id="19" name="椭圆 18"/>
              <p:cNvSpPr/>
              <p:nvPr/>
            </p:nvSpPr>
            <p:spPr>
              <a:xfrm>
                <a:off x="6647" y="8972"/>
                <a:ext cx="255" cy="255"/>
              </a:xfrm>
              <a:prstGeom prst="ellipse">
                <a:avLst/>
              </a:prstGeom>
              <a:solidFill>
                <a:srgbClr val="2CA02C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20" name="椭圆 19"/>
              <p:cNvSpPr/>
              <p:nvPr/>
            </p:nvSpPr>
            <p:spPr>
              <a:xfrm>
                <a:off x="6647" y="9435"/>
                <a:ext cx="255" cy="255"/>
              </a:xfrm>
              <a:prstGeom prst="ellipse">
                <a:avLst/>
              </a:prstGeom>
              <a:solidFill>
                <a:srgbClr val="2CA02C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21" name="文本框 20"/>
              <p:cNvSpPr txBox="1"/>
              <p:nvPr/>
            </p:nvSpPr>
            <p:spPr>
              <a:xfrm>
                <a:off x="7053" y="9345"/>
                <a:ext cx="452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>
                    <a:sym typeface="+mn-ea"/>
                  </a:rPr>
                  <a:t>South&amp;South-east Asia, 2023</a:t>
                </a:r>
                <a:endParaRPr lang="en-US" altLang="zh-CN" sz="900"/>
              </a:p>
            </p:txBody>
          </p:sp>
          <p:sp>
            <p:nvSpPr>
              <p:cNvPr id="22" name="乘号 21"/>
              <p:cNvSpPr/>
              <p:nvPr/>
            </p:nvSpPr>
            <p:spPr>
              <a:xfrm>
                <a:off x="2352" y="9845"/>
                <a:ext cx="480" cy="480"/>
              </a:xfrm>
              <a:prstGeom prst="mathMultiply">
                <a:avLst/>
              </a:prstGeom>
              <a:solidFill>
                <a:srgbClr val="9467BD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23" name="文本框 22"/>
              <p:cNvSpPr txBox="1"/>
              <p:nvPr/>
            </p:nvSpPr>
            <p:spPr>
              <a:xfrm>
                <a:off x="2848" y="98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 Mean, 2016</a:t>
                </a:r>
                <a:endParaRPr lang="en-US" altLang="zh-CN" sz="900"/>
              </a:p>
            </p:txBody>
          </p:sp>
          <p:sp>
            <p:nvSpPr>
              <p:cNvPr id="24" name="乘号 23"/>
              <p:cNvSpPr/>
              <p:nvPr/>
            </p:nvSpPr>
            <p:spPr>
              <a:xfrm>
                <a:off x="2352" y="10359"/>
                <a:ext cx="480" cy="480"/>
              </a:xfrm>
              <a:prstGeom prst="mathMultiply">
                <a:avLst/>
              </a:prstGeom>
              <a:solidFill>
                <a:srgbClr val="9467BD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25" name="文本框 24"/>
              <p:cNvSpPr txBox="1"/>
              <p:nvPr/>
            </p:nvSpPr>
            <p:spPr>
              <a:xfrm>
                <a:off x="2848" y="103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 Mean, 2023</a:t>
                </a:r>
                <a:endParaRPr lang="en-US" altLang="zh-CN" sz="900"/>
              </a:p>
            </p:txBody>
          </p:sp>
          <p:sp>
            <p:nvSpPr>
              <p:cNvPr id="26" name="乘号 25"/>
              <p:cNvSpPr/>
              <p:nvPr/>
            </p:nvSpPr>
            <p:spPr>
              <a:xfrm>
                <a:off x="6534" y="9845"/>
                <a:ext cx="480" cy="480"/>
              </a:xfrm>
              <a:prstGeom prst="mathMultiply">
                <a:avLst/>
              </a:prstGeom>
              <a:solidFill>
                <a:srgbClr val="2CA02C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27" name="文本框 26"/>
              <p:cNvSpPr txBox="1"/>
              <p:nvPr/>
            </p:nvSpPr>
            <p:spPr>
              <a:xfrm>
                <a:off x="7053" y="9832"/>
                <a:ext cx="5582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>
                    <a:sym typeface="+mn-ea"/>
                  </a:rPr>
                  <a:t>South&amp;South-east Asia Mean, 2016</a:t>
                </a:r>
                <a:endParaRPr lang="zh-CN" altLang="en-US" sz="900">
                  <a:ea typeface="宋体" panose="02010600030101010101" pitchFamily="2" charset="-122"/>
                  <a:sym typeface="+mn-ea"/>
                </a:endParaRPr>
              </a:p>
            </p:txBody>
          </p:sp>
          <p:sp>
            <p:nvSpPr>
              <p:cNvPr id="28" name="乘号 27"/>
              <p:cNvSpPr/>
              <p:nvPr/>
            </p:nvSpPr>
            <p:spPr>
              <a:xfrm>
                <a:off x="6534" y="10359"/>
                <a:ext cx="480" cy="480"/>
              </a:xfrm>
              <a:prstGeom prst="mathMultiply">
                <a:avLst/>
              </a:prstGeom>
              <a:solidFill>
                <a:srgbClr val="2CA02C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29" name="文本框 28"/>
              <p:cNvSpPr txBox="1"/>
              <p:nvPr/>
            </p:nvSpPr>
            <p:spPr>
              <a:xfrm>
                <a:off x="7053" y="10319"/>
                <a:ext cx="5581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>
                    <a:sym typeface="+mn-ea"/>
                  </a:rPr>
                  <a:t>South&amp;South-east Asia Mean, 2023</a:t>
                </a:r>
                <a:endParaRPr lang="en-US" altLang="zh-CN" sz="900"/>
              </a:p>
            </p:txBody>
          </p:sp>
          <p:sp>
            <p:nvSpPr>
              <p:cNvPr id="31" name="乘号 30"/>
              <p:cNvSpPr/>
              <p:nvPr/>
            </p:nvSpPr>
            <p:spPr>
              <a:xfrm>
                <a:off x="12954" y="9845"/>
                <a:ext cx="480" cy="480"/>
              </a:xfrm>
              <a:prstGeom prst="mathMultiply">
                <a:avLst/>
              </a:prstGeom>
              <a:solidFill>
                <a:srgbClr val="1F77B4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34" name="乘号 33"/>
              <p:cNvSpPr/>
              <p:nvPr/>
            </p:nvSpPr>
            <p:spPr>
              <a:xfrm>
                <a:off x="12954" y="10359"/>
                <a:ext cx="480" cy="480"/>
              </a:xfrm>
              <a:prstGeom prst="mathMultiply">
                <a:avLst/>
              </a:prstGeom>
              <a:solidFill>
                <a:srgbClr val="1F77B4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35" name="文本框 34"/>
              <p:cNvSpPr txBox="1"/>
              <p:nvPr/>
            </p:nvSpPr>
            <p:spPr>
              <a:xfrm>
                <a:off x="13434" y="10331"/>
                <a:ext cx="4228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 Mean, 2023</a:t>
                </a:r>
                <a:endParaRPr lang="en-US" altLang="zh-CN" sz="900"/>
              </a:p>
            </p:txBody>
          </p: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6" name="文本框 35"/>
                <p:cNvSpPr txBox="1"/>
                <p:nvPr/>
              </p:nvSpPr>
              <p:spPr>
                <a:xfrm>
                  <a:off x="1974" y="464"/>
                  <a:ext cx="7243" cy="14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350">
                      <a:latin typeface="Arial" panose="020B0604020202020204" pitchFamily="34" charset="0"/>
                      <a:cs typeface="Arial" panose="020B0604020202020204" pitchFamily="34" charset="0"/>
                    </a:rPr>
                    <a:t>Structural Zero Params</a:t>
                  </a:r>
                  <a:endParaRPr lang="en-US" altLang="zh-CN" sz="135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𝜑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𝑙𝑜𝑔𝑖𝑠𝑡𝑖𝑐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𝛼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𝛽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35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>
            <p:sp>
              <p:nvSpPr>
                <p:cNvPr id="36" name="文本框 3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74" y="464"/>
                  <a:ext cx="7243" cy="1419"/>
                </a:xfrm>
                <a:prstGeom prst="rect">
                  <a:avLst/>
                </a:prstGeom>
                <a:blipFill rotWithShape="1">
                  <a:blip r:embed="rId2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文本框 36"/>
            <p:cNvSpPr txBox="1"/>
            <p:nvPr/>
          </p:nvSpPr>
          <p:spPr>
            <a:xfrm>
              <a:off x="5263" y="7644"/>
              <a:ext cx="885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50%</a:t>
              </a:r>
              <a:endParaRPr lang="en-US" altLang="zh-CN" sz="1015"/>
            </a:p>
          </p:txBody>
        </p:sp>
        <p:sp>
          <p:nvSpPr>
            <p:cNvPr id="38" name="文本框 37"/>
            <p:cNvSpPr txBox="1"/>
            <p:nvPr/>
          </p:nvSpPr>
          <p:spPr>
            <a:xfrm>
              <a:off x="8394" y="7617"/>
              <a:ext cx="10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100%</a:t>
              </a:r>
              <a:endParaRPr lang="en-US" altLang="zh-CN" sz="1015"/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1706" y="7601"/>
              <a:ext cx="252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</a:t>
              </a:r>
              <a:endParaRPr lang="en-US" altLang="zh-CN" sz="1015"/>
            </a:p>
          </p:txBody>
        </p:sp>
        <p:sp>
          <p:nvSpPr>
            <p:cNvPr id="40" name="文本框 39"/>
            <p:cNvSpPr txBox="1"/>
            <p:nvPr/>
          </p:nvSpPr>
          <p:spPr>
            <a:xfrm>
              <a:off x="1424" y="1653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0.6</a:t>
              </a:r>
              <a:endParaRPr lang="en-US" altLang="zh-CN" sz="1015"/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1415" y="4843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0.3</a:t>
              </a:r>
              <a:endParaRPr lang="en-US" altLang="zh-CN" sz="1015"/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1441" y="1267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β</a:t>
              </a:r>
              <a:endParaRPr lang="en-US" altLang="zh-CN" sz="1125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3" name="文本框 42"/>
            <p:cNvSpPr txBox="1"/>
            <p:nvPr/>
          </p:nvSpPr>
          <p:spPr>
            <a:xfrm>
              <a:off x="6173" y="7985"/>
              <a:ext cx="3182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probability(α)</a:t>
              </a:r>
              <a:endParaRPr lang="en-US" altLang="zh-CN" sz="1125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6" name="文本框 45"/>
            <p:cNvSpPr txBox="1"/>
            <p:nvPr/>
          </p:nvSpPr>
          <p:spPr>
            <a:xfrm>
              <a:off x="16838" y="7632"/>
              <a:ext cx="7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70%</a:t>
              </a:r>
              <a:endParaRPr lang="en-US" altLang="zh-CN" sz="1015"/>
            </a:p>
          </p:txBody>
        </p:sp>
        <p:sp>
          <p:nvSpPr>
            <p:cNvPr id="47" name="文本框 46"/>
            <p:cNvSpPr txBox="1"/>
            <p:nvPr/>
          </p:nvSpPr>
          <p:spPr>
            <a:xfrm>
              <a:off x="10288" y="7670"/>
              <a:ext cx="871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20%</a:t>
              </a:r>
              <a:endParaRPr lang="en-US" altLang="zh-CN" sz="1015"/>
            </a:p>
          </p:txBody>
        </p:sp>
        <p:sp>
          <p:nvSpPr>
            <p:cNvPr id="48" name="文本框 47"/>
            <p:cNvSpPr txBox="1"/>
            <p:nvPr/>
          </p:nvSpPr>
          <p:spPr>
            <a:xfrm>
              <a:off x="9666" y="2267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</a:t>
              </a:r>
              <a:endParaRPr lang="en-US" altLang="zh-CN" sz="1015"/>
            </a:p>
          </p:txBody>
        </p:sp>
        <p:sp>
          <p:nvSpPr>
            <p:cNvPr id="49" name="文本框 48"/>
            <p:cNvSpPr txBox="1"/>
            <p:nvPr/>
          </p:nvSpPr>
          <p:spPr>
            <a:xfrm>
              <a:off x="9483" y="4691"/>
              <a:ext cx="77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-0.2</a:t>
              </a:r>
              <a:endParaRPr lang="en-US" altLang="zh-CN" sz="1015"/>
            </a:p>
          </p:txBody>
        </p:sp>
        <p:sp>
          <p:nvSpPr>
            <p:cNvPr id="50" name="文本框 49"/>
            <p:cNvSpPr txBox="1"/>
            <p:nvPr/>
          </p:nvSpPr>
          <p:spPr>
            <a:xfrm>
              <a:off x="9746" y="1403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δ</a:t>
              </a:r>
              <a:endParaRPr lang="en-US" altLang="zh-CN" sz="1125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1" name="文本框 50"/>
            <p:cNvSpPr txBox="1"/>
            <p:nvPr/>
          </p:nvSpPr>
          <p:spPr>
            <a:xfrm>
              <a:off x="14398" y="7985"/>
              <a:ext cx="3182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probability(κ)</a:t>
              </a:r>
              <a:endParaRPr lang="en-US" altLang="zh-CN" sz="1125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2" name="文本框 51"/>
                <p:cNvSpPr txBox="1"/>
                <p:nvPr/>
              </p:nvSpPr>
              <p:spPr>
                <a:xfrm>
                  <a:off x="10288" y="464"/>
                  <a:ext cx="7293" cy="14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350">
                      <a:latin typeface="Arial" panose="020B0604020202020204" pitchFamily="34" charset="0"/>
                      <a:cs typeface="Arial" panose="020B0604020202020204" pitchFamily="34" charset="0"/>
                    </a:rPr>
                    <a:t>Actual Construction Params</a:t>
                  </a:r>
                  <a:endParaRPr lang="en-US" altLang="zh-CN" sz="135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𝜋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𝑙𝑜𝑔𝑖𝑠𝑡𝑖𝑐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𝜅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𝛿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35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>
            <p:sp>
              <p:nvSpPr>
                <p:cNvPr id="52" name="文本框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288" y="464"/>
                  <a:ext cx="7293" cy="1419"/>
                </a:xfrm>
                <a:prstGeom prst="rect">
                  <a:avLst/>
                </a:prstGeom>
                <a:blipFill rotWithShape="1">
                  <a:blip r:embed="rId3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3" name="文本框 52"/>
            <p:cNvSpPr txBox="1"/>
            <p:nvPr/>
          </p:nvSpPr>
          <p:spPr>
            <a:xfrm>
              <a:off x="14149" y="7644"/>
              <a:ext cx="885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50%</a:t>
              </a:r>
              <a:endParaRPr lang="en-US" altLang="zh-CN" sz="1015"/>
            </a:p>
          </p:txBody>
        </p:sp>
        <p:sp>
          <p:nvSpPr>
            <p:cNvPr id="55" name="文本框 54"/>
            <p:cNvSpPr txBox="1"/>
            <p:nvPr/>
          </p:nvSpPr>
          <p:spPr>
            <a:xfrm>
              <a:off x="9436" y="7076"/>
              <a:ext cx="76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-0.4</a:t>
              </a:r>
              <a:endParaRPr lang="en-US" altLang="zh-CN" sz="1015"/>
            </a:p>
          </p:txBody>
        </p:sp>
        <p:sp>
          <p:nvSpPr>
            <p:cNvPr id="57" name="文本框 56"/>
            <p:cNvSpPr txBox="1"/>
            <p:nvPr/>
          </p:nvSpPr>
          <p:spPr>
            <a:xfrm>
              <a:off x="6781" y="4616"/>
              <a:ext cx="2574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</a:t>
              </a:r>
              <a:r>
                <a:rPr lang="en-US" altLang="zh-CN" sz="9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β = 0.3</a:t>
              </a:r>
              <a:endParaRPr lang="en-US" altLang="zh-CN" sz="9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58" name="文本框 57"/>
            <p:cNvSpPr txBox="1"/>
            <p:nvPr/>
          </p:nvSpPr>
          <p:spPr>
            <a:xfrm>
              <a:off x="10380" y="3475"/>
              <a:ext cx="2574" cy="10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</a:t>
              </a:r>
              <a:r>
                <a:rPr lang="en-US" altLang="zh-CN" sz="9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 = -0.09</a:t>
              </a:r>
              <a:endParaRPr lang="en-US" altLang="zh-CN" sz="9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</p:grpSp>
    </p:spTree>
  </p:cSld>
  <p:clrMapOvr>
    <a:masterClrMapping/>
  </p:clrMapOvr>
  <p:transition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组合 4"/>
          <p:cNvGrpSpPr/>
          <p:nvPr/>
        </p:nvGrpSpPr>
        <p:grpSpPr>
          <a:xfrm>
            <a:off x="4247554" y="5312111"/>
            <a:ext cx="5892251" cy="3737664"/>
            <a:chOff x="1333" y="114"/>
            <a:chExt cx="16496" cy="10464"/>
          </a:xfrm>
        </p:grpSpPr>
        <p:grpSp>
          <p:nvGrpSpPr>
            <p:cNvPr id="30" name="组合 29"/>
            <p:cNvGrpSpPr/>
            <p:nvPr/>
          </p:nvGrpSpPr>
          <p:grpSpPr>
            <a:xfrm>
              <a:off x="1333" y="114"/>
              <a:ext cx="16496" cy="10464"/>
              <a:chOff x="1333" y="114"/>
              <a:chExt cx="16496" cy="10464"/>
            </a:xfrm>
          </p:grpSpPr>
          <p:pic>
            <p:nvPicPr>
              <p:cNvPr id="3" name="图片 2"/>
              <p:cNvPicPr/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333" y="1508"/>
                <a:ext cx="16496" cy="6670"/>
              </a:xfrm>
              <a:prstGeom prst="rect">
                <a:avLst/>
              </a:prstGeom>
            </p:spPr>
          </p:pic>
          <p:grpSp>
            <p:nvGrpSpPr>
              <p:cNvPr id="33" name="组合 32"/>
              <p:cNvGrpSpPr/>
              <p:nvPr/>
            </p:nvGrpSpPr>
            <p:grpSpPr>
              <a:xfrm>
                <a:off x="1440" y="1669"/>
                <a:ext cx="16289" cy="6551"/>
                <a:chOff x="161" y="1193"/>
                <a:chExt cx="18855" cy="7582"/>
              </a:xfrm>
            </p:grpSpPr>
            <p:sp>
              <p:nvSpPr>
                <p:cNvPr id="7" name="矩形 6"/>
                <p:cNvSpPr/>
                <p:nvPr/>
              </p:nvSpPr>
              <p:spPr>
                <a:xfrm>
                  <a:off x="161" y="1193"/>
                  <a:ext cx="630" cy="749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8" name="矩形 7"/>
                <p:cNvSpPr/>
                <p:nvPr/>
              </p:nvSpPr>
              <p:spPr>
                <a:xfrm rot="5400000">
                  <a:off x="4742" y="4193"/>
                  <a:ext cx="630" cy="8533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9" name="矩形 8"/>
                <p:cNvSpPr/>
                <p:nvPr/>
              </p:nvSpPr>
              <p:spPr>
                <a:xfrm>
                  <a:off x="9418" y="1193"/>
                  <a:ext cx="986" cy="749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10" name="矩形 9"/>
                <p:cNvSpPr/>
                <p:nvPr/>
              </p:nvSpPr>
              <p:spPr>
                <a:xfrm rot="5400000">
                  <a:off x="14022" y="3732"/>
                  <a:ext cx="630" cy="9357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</p:grpSp>
          <p:grpSp>
            <p:nvGrpSpPr>
              <p:cNvPr id="56" name="组合 55"/>
              <p:cNvGrpSpPr/>
              <p:nvPr/>
            </p:nvGrpSpPr>
            <p:grpSpPr>
              <a:xfrm>
                <a:off x="1984" y="8434"/>
                <a:ext cx="15595" cy="2144"/>
                <a:chOff x="2352" y="8858"/>
                <a:chExt cx="15488" cy="2144"/>
              </a:xfrm>
            </p:grpSpPr>
            <p:sp>
              <p:nvSpPr>
                <p:cNvPr id="32" name="文本框 31"/>
                <p:cNvSpPr txBox="1"/>
                <p:nvPr/>
              </p:nvSpPr>
              <p:spPr>
                <a:xfrm>
                  <a:off x="13434" y="9840"/>
                  <a:ext cx="4406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Latin America Mean, 2016</a:t>
                  </a:r>
                  <a:endParaRPr lang="en-US" altLang="zh-CN" sz="900"/>
                </a:p>
              </p:txBody>
            </p:sp>
            <p:sp>
              <p:nvSpPr>
                <p:cNvPr id="4" name="文本框 3"/>
                <p:cNvSpPr txBox="1"/>
                <p:nvPr/>
              </p:nvSpPr>
              <p:spPr>
                <a:xfrm>
                  <a:off x="13434" y="8858"/>
                  <a:ext cx="3146" cy="10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Latin America, 2016</a:t>
                  </a:r>
                  <a:endParaRPr lang="en-US" altLang="zh-CN" sz="900"/>
                </a:p>
              </p:txBody>
            </p:sp>
            <p:sp>
              <p:nvSpPr>
                <p:cNvPr id="11" name="椭圆 10"/>
                <p:cNvSpPr/>
                <p:nvPr/>
              </p:nvSpPr>
              <p:spPr>
                <a:xfrm>
                  <a:off x="13067" y="8972"/>
                  <a:ext cx="255" cy="255"/>
                </a:xfrm>
                <a:prstGeom prst="ellipse">
                  <a:avLst/>
                </a:prstGeom>
                <a:solidFill>
                  <a:srgbClr val="47A2DE">
                    <a:alpha val="3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12" name="椭圆 11"/>
                <p:cNvSpPr/>
                <p:nvPr/>
              </p:nvSpPr>
              <p:spPr>
                <a:xfrm>
                  <a:off x="13067" y="9435"/>
                  <a:ext cx="255" cy="255"/>
                </a:xfrm>
                <a:prstGeom prst="ellipse">
                  <a:avLst/>
                </a:prstGeom>
                <a:solidFill>
                  <a:srgbClr val="47A2DE">
                    <a:alpha val="6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13" name="文本框 12"/>
                <p:cNvSpPr txBox="1"/>
                <p:nvPr/>
              </p:nvSpPr>
              <p:spPr>
                <a:xfrm>
                  <a:off x="13434" y="9349"/>
                  <a:ext cx="3146" cy="10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Latin America, 2023</a:t>
                  </a:r>
                  <a:endParaRPr lang="en-US" altLang="zh-CN" sz="900"/>
                </a:p>
              </p:txBody>
            </p:sp>
            <p:sp>
              <p:nvSpPr>
                <p:cNvPr id="14" name="文本框 13"/>
                <p:cNvSpPr txBox="1"/>
                <p:nvPr/>
              </p:nvSpPr>
              <p:spPr>
                <a:xfrm>
                  <a:off x="2848" y="8858"/>
                  <a:ext cx="3205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Africa, 2016</a:t>
                  </a:r>
                  <a:endParaRPr lang="en-US" altLang="zh-CN" sz="900"/>
                </a:p>
              </p:txBody>
            </p:sp>
            <p:sp>
              <p:nvSpPr>
                <p:cNvPr id="15" name="椭圆 14"/>
                <p:cNvSpPr/>
                <p:nvPr/>
              </p:nvSpPr>
              <p:spPr>
                <a:xfrm>
                  <a:off x="2465" y="8972"/>
                  <a:ext cx="255" cy="255"/>
                </a:xfrm>
                <a:prstGeom prst="ellipse">
                  <a:avLst/>
                </a:prstGeom>
                <a:solidFill>
                  <a:srgbClr val="E85748">
                    <a:alpha val="3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>
                    <a:solidFill>
                      <a:srgbClr val="9467BD"/>
                    </a:solidFill>
                  </a:endParaRPr>
                </a:p>
              </p:txBody>
            </p:sp>
            <p:sp>
              <p:nvSpPr>
                <p:cNvPr id="16" name="椭圆 15"/>
                <p:cNvSpPr/>
                <p:nvPr/>
              </p:nvSpPr>
              <p:spPr>
                <a:xfrm>
                  <a:off x="2465" y="9435"/>
                  <a:ext cx="255" cy="255"/>
                </a:xfrm>
                <a:prstGeom prst="ellipse">
                  <a:avLst/>
                </a:prstGeom>
                <a:solidFill>
                  <a:srgbClr val="E85748">
                    <a:alpha val="6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17" name="文本框 16"/>
                <p:cNvSpPr txBox="1"/>
                <p:nvPr/>
              </p:nvSpPr>
              <p:spPr>
                <a:xfrm>
                  <a:off x="2848" y="9358"/>
                  <a:ext cx="3205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Africa, 2023</a:t>
                  </a:r>
                  <a:endParaRPr lang="en-US" altLang="zh-CN" sz="900"/>
                </a:p>
              </p:txBody>
            </p:sp>
            <p:sp>
              <p:nvSpPr>
                <p:cNvPr id="18" name="文本框 17"/>
                <p:cNvSpPr txBox="1"/>
                <p:nvPr/>
              </p:nvSpPr>
              <p:spPr>
                <a:xfrm>
                  <a:off x="7053" y="8858"/>
                  <a:ext cx="4526" cy="10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South&amp;South-east Asia, 2016</a:t>
                  </a:r>
                  <a:endParaRPr lang="en-US" altLang="zh-CN" sz="900"/>
                </a:p>
              </p:txBody>
            </p:sp>
            <p:sp>
              <p:nvSpPr>
                <p:cNvPr id="19" name="椭圆 18"/>
                <p:cNvSpPr/>
                <p:nvPr/>
              </p:nvSpPr>
              <p:spPr>
                <a:xfrm>
                  <a:off x="6647" y="8972"/>
                  <a:ext cx="255" cy="255"/>
                </a:xfrm>
                <a:prstGeom prst="ellipse">
                  <a:avLst/>
                </a:prstGeom>
                <a:solidFill>
                  <a:srgbClr val="F39F1B">
                    <a:alpha val="3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20" name="椭圆 19"/>
                <p:cNvSpPr/>
                <p:nvPr/>
              </p:nvSpPr>
              <p:spPr>
                <a:xfrm>
                  <a:off x="6647" y="9435"/>
                  <a:ext cx="255" cy="255"/>
                </a:xfrm>
                <a:prstGeom prst="ellipse">
                  <a:avLst/>
                </a:prstGeom>
                <a:solidFill>
                  <a:srgbClr val="F39F1B">
                    <a:alpha val="6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21" name="文本框 20"/>
                <p:cNvSpPr txBox="1"/>
                <p:nvPr/>
              </p:nvSpPr>
              <p:spPr>
                <a:xfrm>
                  <a:off x="7053" y="9345"/>
                  <a:ext cx="4526" cy="10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>
                      <a:sym typeface="+mn-ea"/>
                    </a:rPr>
                    <a:t>South&amp;South-east Asia, 2023</a:t>
                  </a:r>
                  <a:endParaRPr lang="en-US" altLang="zh-CN" sz="900"/>
                </a:p>
              </p:txBody>
            </p:sp>
            <p:sp>
              <p:nvSpPr>
                <p:cNvPr id="22" name="乘号 21"/>
                <p:cNvSpPr/>
                <p:nvPr/>
              </p:nvSpPr>
              <p:spPr>
                <a:xfrm>
                  <a:off x="2352" y="9845"/>
                  <a:ext cx="480" cy="480"/>
                </a:xfrm>
                <a:prstGeom prst="mathMultiply">
                  <a:avLst/>
                </a:prstGeom>
                <a:solidFill>
                  <a:srgbClr val="E85748">
                    <a:alpha val="80000"/>
                  </a:srgb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23" name="文本框 22"/>
                <p:cNvSpPr txBox="1"/>
                <p:nvPr/>
              </p:nvSpPr>
              <p:spPr>
                <a:xfrm>
                  <a:off x="2848" y="9858"/>
                  <a:ext cx="3205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Africa Mean, 2016</a:t>
                  </a:r>
                  <a:endParaRPr lang="en-US" altLang="zh-CN" sz="900"/>
                </a:p>
              </p:txBody>
            </p:sp>
            <p:sp>
              <p:nvSpPr>
                <p:cNvPr id="24" name="乘号 23"/>
                <p:cNvSpPr/>
                <p:nvPr/>
              </p:nvSpPr>
              <p:spPr>
                <a:xfrm>
                  <a:off x="2352" y="10359"/>
                  <a:ext cx="480" cy="480"/>
                </a:xfrm>
                <a:prstGeom prst="mathMultiply">
                  <a:avLst/>
                </a:prstGeom>
                <a:solidFill>
                  <a:srgbClr val="E85748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25" name="文本框 24"/>
                <p:cNvSpPr txBox="1"/>
                <p:nvPr/>
              </p:nvSpPr>
              <p:spPr>
                <a:xfrm>
                  <a:off x="2848" y="10358"/>
                  <a:ext cx="3205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Africa Mean, 2023</a:t>
                  </a:r>
                  <a:endParaRPr lang="en-US" altLang="zh-CN" sz="900"/>
                </a:p>
              </p:txBody>
            </p:sp>
            <p:sp>
              <p:nvSpPr>
                <p:cNvPr id="26" name="乘号 25"/>
                <p:cNvSpPr/>
                <p:nvPr/>
              </p:nvSpPr>
              <p:spPr>
                <a:xfrm>
                  <a:off x="6534" y="9845"/>
                  <a:ext cx="480" cy="480"/>
                </a:xfrm>
                <a:prstGeom prst="mathMultiply">
                  <a:avLst/>
                </a:prstGeom>
                <a:solidFill>
                  <a:srgbClr val="F39F1B">
                    <a:alpha val="80000"/>
                  </a:srgb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27" name="文本框 26"/>
                <p:cNvSpPr txBox="1"/>
                <p:nvPr/>
              </p:nvSpPr>
              <p:spPr>
                <a:xfrm>
                  <a:off x="7053" y="9832"/>
                  <a:ext cx="5582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>
                      <a:sym typeface="+mn-ea"/>
                    </a:rPr>
                    <a:t>South&amp;South-east Asia Mean, 2016</a:t>
                  </a:r>
                  <a:endParaRPr lang="zh-CN" altLang="en-US" sz="900">
                    <a:ea typeface="宋体" panose="02010600030101010101" pitchFamily="2" charset="-122"/>
                    <a:sym typeface="+mn-ea"/>
                  </a:endParaRPr>
                </a:p>
              </p:txBody>
            </p:sp>
            <p:sp>
              <p:nvSpPr>
                <p:cNvPr id="28" name="乘号 27"/>
                <p:cNvSpPr/>
                <p:nvPr/>
              </p:nvSpPr>
              <p:spPr>
                <a:xfrm>
                  <a:off x="6534" y="10359"/>
                  <a:ext cx="480" cy="480"/>
                </a:xfrm>
                <a:prstGeom prst="mathMultiply">
                  <a:avLst/>
                </a:prstGeom>
                <a:solidFill>
                  <a:srgbClr val="F39F1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29" name="文本框 28"/>
                <p:cNvSpPr txBox="1"/>
                <p:nvPr/>
              </p:nvSpPr>
              <p:spPr>
                <a:xfrm>
                  <a:off x="7053" y="10319"/>
                  <a:ext cx="5581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>
                      <a:sym typeface="+mn-ea"/>
                    </a:rPr>
                    <a:t>South&amp;South-east Asia Mean, 2023</a:t>
                  </a:r>
                  <a:endParaRPr lang="en-US" altLang="zh-CN" sz="900"/>
                </a:p>
              </p:txBody>
            </p:sp>
            <p:sp>
              <p:nvSpPr>
                <p:cNvPr id="31" name="乘号 30"/>
                <p:cNvSpPr/>
                <p:nvPr/>
              </p:nvSpPr>
              <p:spPr>
                <a:xfrm>
                  <a:off x="12954" y="9845"/>
                  <a:ext cx="480" cy="480"/>
                </a:xfrm>
                <a:prstGeom prst="mathMultiply">
                  <a:avLst/>
                </a:prstGeom>
                <a:solidFill>
                  <a:srgbClr val="47A2DE">
                    <a:alpha val="80000"/>
                  </a:srgb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34" name="乘号 33"/>
                <p:cNvSpPr/>
                <p:nvPr/>
              </p:nvSpPr>
              <p:spPr>
                <a:xfrm>
                  <a:off x="12954" y="10359"/>
                  <a:ext cx="480" cy="480"/>
                </a:xfrm>
                <a:prstGeom prst="mathMultiply">
                  <a:avLst/>
                </a:prstGeom>
                <a:solidFill>
                  <a:srgbClr val="47A2DE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35" name="文本框 34"/>
                <p:cNvSpPr txBox="1"/>
                <p:nvPr/>
              </p:nvSpPr>
              <p:spPr>
                <a:xfrm>
                  <a:off x="13434" y="10331"/>
                  <a:ext cx="4228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Latin America Mean, 2023</a:t>
                  </a:r>
                  <a:endParaRPr lang="en-US" altLang="zh-CN" sz="900"/>
                </a:p>
              </p:txBody>
            </p:sp>
          </p:grp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6" name="文本框 35"/>
                  <p:cNvSpPr txBox="1"/>
                  <p:nvPr/>
                </p:nvSpPr>
                <p:spPr>
                  <a:xfrm>
                    <a:off x="1974" y="658"/>
                    <a:ext cx="7243" cy="122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125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Structural Zero</a:t>
                    </a:r>
                    <a:endParaRPr lang="en-US" altLang="zh-CN" sz="1125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𝜑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𝑙𝑜𝑔𝑖𝑠𝑡𝑖𝑐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+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𝛽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36" name="文本框 3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74" y="658"/>
                    <a:ext cx="7243" cy="1228"/>
                  </a:xfrm>
                  <a:prstGeom prst="rect">
                    <a:avLst/>
                  </a:prstGeom>
                  <a:blipFill rotWithShape="1">
                    <a:blip r:embed="rId2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7" name="文本框 36"/>
              <p:cNvSpPr txBox="1"/>
              <p:nvPr/>
            </p:nvSpPr>
            <p:spPr>
              <a:xfrm>
                <a:off x="5263" y="7644"/>
                <a:ext cx="885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r>
                  <a:rPr lang="en-US" altLang="zh-CN" sz="1015"/>
                  <a:t>50%</a:t>
                </a:r>
                <a:endParaRPr lang="en-US" altLang="zh-CN" sz="1015"/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8394" y="7617"/>
                <a:ext cx="10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r>
                  <a:rPr lang="en-US" altLang="zh-CN" sz="1015"/>
                  <a:t>100%</a:t>
                </a:r>
                <a:endParaRPr lang="en-US" altLang="zh-CN" sz="1015"/>
              </a:p>
            </p:txBody>
          </p:sp>
          <p:sp>
            <p:nvSpPr>
              <p:cNvPr id="39" name="文本框 38"/>
              <p:cNvSpPr txBox="1"/>
              <p:nvPr/>
            </p:nvSpPr>
            <p:spPr>
              <a:xfrm>
                <a:off x="1706" y="7601"/>
                <a:ext cx="252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015"/>
                  <a:t>0</a:t>
                </a:r>
                <a:endParaRPr lang="en-US" altLang="zh-CN" sz="1015"/>
              </a:p>
            </p:txBody>
          </p:sp>
          <p:sp>
            <p:nvSpPr>
              <p:cNvPr id="40" name="文本框 39"/>
              <p:cNvSpPr txBox="1"/>
              <p:nvPr/>
            </p:nvSpPr>
            <p:spPr>
              <a:xfrm>
                <a:off x="1424" y="1653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015"/>
                  <a:t>0.6</a:t>
                </a:r>
                <a:endParaRPr lang="en-US" altLang="zh-CN" sz="1015"/>
              </a:p>
            </p:txBody>
          </p:sp>
          <p:sp>
            <p:nvSpPr>
              <p:cNvPr id="41" name="文本框 40"/>
              <p:cNvSpPr txBox="1"/>
              <p:nvPr/>
            </p:nvSpPr>
            <p:spPr>
              <a:xfrm>
                <a:off x="1415" y="4843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015"/>
                  <a:t>0.3</a:t>
                </a:r>
                <a:endParaRPr lang="en-US" altLang="zh-CN" sz="1015"/>
              </a:p>
            </p:txBody>
          </p:sp>
          <p:sp>
            <p:nvSpPr>
              <p:cNvPr id="42" name="文本框 41"/>
              <p:cNvSpPr txBox="1"/>
              <p:nvPr/>
            </p:nvSpPr>
            <p:spPr>
              <a:xfrm>
                <a:off x="1441" y="1210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ctr"/>
                <a:r>
                  <a:rPr lang="en-US" altLang="zh-CN" sz="1125" i="1">
                    <a:latin typeface="Arial" panose="020B0604020202020204" pitchFamily="34" charset="0"/>
                    <a:cs typeface="Arial" panose="020B0604020202020204" pitchFamily="34" charset="0"/>
                  </a:rPr>
                  <a:t>β</a:t>
                </a:r>
                <a:endParaRPr lang="en-US" altLang="zh-CN" sz="1125" i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3" name="文本框 42"/>
              <p:cNvSpPr txBox="1"/>
              <p:nvPr/>
            </p:nvSpPr>
            <p:spPr>
              <a:xfrm>
                <a:off x="6173" y="7985"/>
                <a:ext cx="3182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125" i="1">
                    <a:latin typeface="Arial" panose="020B0604020202020204" pitchFamily="34" charset="0"/>
                    <a:cs typeface="Arial" panose="020B0604020202020204" pitchFamily="34" charset="0"/>
                  </a:rPr>
                  <a:t>probability(α)</a:t>
                </a:r>
                <a:endParaRPr lang="en-US" altLang="zh-CN" sz="1125" i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6" name="文本框 45"/>
              <p:cNvSpPr txBox="1"/>
              <p:nvPr/>
            </p:nvSpPr>
            <p:spPr>
              <a:xfrm>
                <a:off x="16838" y="7632"/>
                <a:ext cx="7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r>
                  <a:rPr lang="en-US" altLang="zh-CN" sz="1015"/>
                  <a:t>70%</a:t>
                </a:r>
                <a:endParaRPr lang="en-US" altLang="zh-CN" sz="1015"/>
              </a:p>
            </p:txBody>
          </p:sp>
          <p:sp>
            <p:nvSpPr>
              <p:cNvPr id="47" name="文本框 46"/>
              <p:cNvSpPr txBox="1"/>
              <p:nvPr/>
            </p:nvSpPr>
            <p:spPr>
              <a:xfrm>
                <a:off x="10288" y="7670"/>
                <a:ext cx="871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r>
                  <a:rPr lang="en-US" altLang="zh-CN" sz="1015"/>
                  <a:t>20%</a:t>
                </a:r>
                <a:endParaRPr lang="en-US" altLang="zh-CN" sz="1015"/>
              </a:p>
            </p:txBody>
          </p:sp>
          <p:sp>
            <p:nvSpPr>
              <p:cNvPr id="48" name="文本框 47"/>
              <p:cNvSpPr txBox="1"/>
              <p:nvPr/>
            </p:nvSpPr>
            <p:spPr>
              <a:xfrm>
                <a:off x="9666" y="2267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015"/>
                  <a:t>0</a:t>
                </a:r>
                <a:endParaRPr lang="en-US" altLang="zh-CN" sz="1015"/>
              </a:p>
            </p:txBody>
          </p:sp>
          <p:sp>
            <p:nvSpPr>
              <p:cNvPr id="49" name="文本框 48"/>
              <p:cNvSpPr txBox="1"/>
              <p:nvPr/>
            </p:nvSpPr>
            <p:spPr>
              <a:xfrm>
                <a:off x="9483" y="4691"/>
                <a:ext cx="77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015"/>
                  <a:t>-0.2</a:t>
                </a:r>
                <a:endParaRPr lang="en-US" altLang="zh-CN" sz="1015"/>
              </a:p>
            </p:txBody>
          </p:sp>
          <p:sp>
            <p:nvSpPr>
              <p:cNvPr id="50" name="文本框 49"/>
              <p:cNvSpPr txBox="1"/>
              <p:nvPr/>
            </p:nvSpPr>
            <p:spPr>
              <a:xfrm>
                <a:off x="9746" y="1403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ctr"/>
                <a:r>
                  <a:rPr lang="en-US" altLang="zh-CN" sz="1125" i="1">
                    <a:latin typeface="Arial" panose="020B0604020202020204" pitchFamily="34" charset="0"/>
                    <a:cs typeface="Arial" panose="020B0604020202020204" pitchFamily="34" charset="0"/>
                  </a:rPr>
                  <a:t>δ</a:t>
                </a:r>
                <a:endParaRPr lang="en-US" altLang="zh-CN" sz="1125" i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51" name="文本框 50"/>
              <p:cNvSpPr txBox="1"/>
              <p:nvPr/>
            </p:nvSpPr>
            <p:spPr>
              <a:xfrm>
                <a:off x="14398" y="7985"/>
                <a:ext cx="3182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125" i="1">
                    <a:latin typeface="Arial" panose="020B0604020202020204" pitchFamily="34" charset="0"/>
                    <a:cs typeface="Arial" panose="020B0604020202020204" pitchFamily="34" charset="0"/>
                  </a:rPr>
                  <a:t>probability(κ)</a:t>
                </a:r>
                <a:endParaRPr lang="en-US" altLang="zh-CN" sz="1125" i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2" name="文本框 51"/>
                  <p:cNvSpPr txBox="1"/>
                  <p:nvPr/>
                </p:nvSpPr>
                <p:spPr>
                  <a:xfrm>
                    <a:off x="10288" y="658"/>
                    <a:ext cx="7293" cy="122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125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Actual Construction</a:t>
                    </a:r>
                    <a:endParaRPr lang="en-US" altLang="zh-CN" sz="1125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𝜋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𝑙𝑜𝑔𝑖𝑠𝑡𝑖𝑐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+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𝛿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52" name="文本框 5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288" y="658"/>
                    <a:ext cx="7293" cy="1228"/>
                  </a:xfrm>
                  <a:prstGeom prst="rect">
                    <a:avLst/>
                  </a:prstGeom>
                  <a:blipFill rotWithShape="1">
                    <a:blip r:embed="rId3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53" name="文本框 52"/>
              <p:cNvSpPr txBox="1"/>
              <p:nvPr/>
            </p:nvSpPr>
            <p:spPr>
              <a:xfrm>
                <a:off x="14149" y="7644"/>
                <a:ext cx="885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r>
                  <a:rPr lang="en-US" altLang="zh-CN" sz="1015"/>
                  <a:t>50%</a:t>
                </a:r>
                <a:endParaRPr lang="en-US" altLang="zh-CN" sz="1015"/>
              </a:p>
            </p:txBody>
          </p:sp>
          <p:sp>
            <p:nvSpPr>
              <p:cNvPr id="55" name="文本框 54"/>
              <p:cNvSpPr txBox="1"/>
              <p:nvPr/>
            </p:nvSpPr>
            <p:spPr>
              <a:xfrm>
                <a:off x="9436" y="7076"/>
                <a:ext cx="76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015"/>
                  <a:t>-0.4</a:t>
                </a:r>
                <a:endParaRPr lang="en-US" altLang="zh-CN" sz="1015"/>
              </a:p>
            </p:txBody>
          </p:sp>
          <p:sp>
            <p:nvSpPr>
              <p:cNvPr id="57" name="文本框 56"/>
              <p:cNvSpPr txBox="1"/>
              <p:nvPr/>
            </p:nvSpPr>
            <p:spPr>
              <a:xfrm>
                <a:off x="6781" y="4584"/>
                <a:ext cx="2574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mean </a:t>
                </a:r>
                <a:r>
                  <a:rPr lang="en-US" altLang="zh-CN" sz="900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β = 0.3</a:t>
                </a:r>
                <a:endParaRPr lang="en-US" altLang="zh-CN" sz="9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endParaRPr>
              </a:p>
            </p:txBody>
          </p:sp>
          <p:sp>
            <p:nvSpPr>
              <p:cNvPr id="58" name="文本框 57"/>
              <p:cNvSpPr txBox="1"/>
              <p:nvPr/>
            </p:nvSpPr>
            <p:spPr>
              <a:xfrm>
                <a:off x="10380" y="3395"/>
                <a:ext cx="2574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mean </a:t>
                </a:r>
                <a:r>
                  <a:rPr lang="en-US" altLang="zh-CN" sz="900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δ = -0.09</a:t>
                </a:r>
                <a:endParaRPr lang="en-US" altLang="zh-CN" sz="9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endParaRPr>
              </a:p>
            </p:txBody>
          </p:sp>
          <p:sp>
            <p:nvSpPr>
              <p:cNvPr id="2" name="文本框 1"/>
              <p:cNvSpPr txBox="1"/>
              <p:nvPr/>
            </p:nvSpPr>
            <p:spPr>
              <a:xfrm>
                <a:off x="1958" y="114"/>
                <a:ext cx="15623" cy="83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algn="ctr"/>
                <a:r>
                  <a:rPr lang="en-US" altLang="zh-CN" sz="1350" b="1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Horizontal Construction Params</a:t>
                </a:r>
                <a:endParaRPr lang="en-US" altLang="zh-CN" sz="1350" b="1">
                  <a:latin typeface="Arial" panose="020B0604020202020204" pitchFamily="34" charset="0"/>
                  <a:cs typeface="Arial" panose="020B0604020202020204" pitchFamily="34" charset="0"/>
                  <a:sym typeface="+mn-ea"/>
                </a:endParaRPr>
              </a:p>
            </p:txBody>
          </p:sp>
        </p:grpSp>
        <p:sp>
          <p:nvSpPr>
            <p:cNvPr id="54" name="文本框 53"/>
            <p:cNvSpPr txBox="1"/>
            <p:nvPr/>
          </p:nvSpPr>
          <p:spPr>
            <a:xfrm>
              <a:off x="1984" y="6876"/>
              <a:ext cx="2151" cy="84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</a:rPr>
                <a:t>Low-Constraint, Flat-Gradient</a:t>
              </a:r>
              <a:endParaRPr lang="en-US" altLang="zh-CN" sz="675" i="1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60" name="文本框 59"/>
            <p:cNvSpPr txBox="1"/>
            <p:nvPr/>
          </p:nvSpPr>
          <p:spPr>
            <a:xfrm>
              <a:off x="6781" y="1716"/>
              <a:ext cx="2404" cy="84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r"/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</a:rPr>
                <a:t>High-Constraint, Steep-Gradient</a:t>
              </a:r>
              <a:endParaRPr lang="en-US" altLang="zh-CN" sz="675" i="1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61" name="文本框 60"/>
            <p:cNvSpPr txBox="1"/>
            <p:nvPr/>
          </p:nvSpPr>
          <p:spPr>
            <a:xfrm>
              <a:off x="3396" y="1716"/>
              <a:ext cx="2211" cy="84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Low-Constraint,</a:t>
              </a:r>
              <a:endParaRPr lang="en-US" altLang="zh-CN" sz="675" i="1">
                <a:solidFill>
                  <a:schemeClr val="bg1">
                    <a:lumMod val="50000"/>
                  </a:schemeClr>
                </a:solidFill>
                <a:sym typeface="+mn-ea"/>
              </a:endParaRPr>
            </a:p>
            <a:p>
              <a:pPr lvl="0" algn="r">
                <a:buClrTx/>
                <a:buSzTx/>
                <a:buFontTx/>
              </a:pPr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Steep-Gradient</a:t>
              </a:r>
              <a:endParaRPr lang="en-US" altLang="zh-CN" sz="675" i="1">
                <a:solidFill>
                  <a:schemeClr val="bg1">
                    <a:lumMod val="50000"/>
                  </a:schemeClr>
                </a:solidFill>
                <a:sym typeface="+mn-ea"/>
              </a:endParaRPr>
            </a:p>
          </p:txBody>
        </p:sp>
        <p:sp>
          <p:nvSpPr>
            <p:cNvPr id="62" name="文本框 61"/>
            <p:cNvSpPr txBox="1"/>
            <p:nvPr/>
          </p:nvSpPr>
          <p:spPr>
            <a:xfrm>
              <a:off x="6992" y="4969"/>
              <a:ext cx="2151" cy="113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r"/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</a:rPr>
                <a:t>High-Constraint, Flat-Gradient</a:t>
              </a:r>
              <a:endParaRPr lang="en-US" altLang="zh-CN" sz="675" i="1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65" name="文本框 64"/>
            <p:cNvSpPr txBox="1"/>
            <p:nvPr/>
          </p:nvSpPr>
          <p:spPr>
            <a:xfrm>
              <a:off x="10380" y="1716"/>
              <a:ext cx="2211" cy="84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Low-Intensity, Flat-Gradient</a:t>
              </a:r>
              <a:endParaRPr lang="en-US" altLang="zh-CN" sz="675" i="1">
                <a:solidFill>
                  <a:schemeClr val="bg1">
                    <a:lumMod val="50000"/>
                  </a:schemeClr>
                </a:solidFill>
                <a:sym typeface="+mn-ea"/>
              </a:endParaRPr>
            </a:p>
          </p:txBody>
        </p:sp>
        <p:sp>
          <p:nvSpPr>
            <p:cNvPr id="66" name="文本框 65"/>
            <p:cNvSpPr txBox="1"/>
            <p:nvPr/>
          </p:nvSpPr>
          <p:spPr>
            <a:xfrm>
              <a:off x="10388" y="6840"/>
              <a:ext cx="2211" cy="84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Low-Intensity, Steep-Gradient</a:t>
              </a:r>
              <a:endParaRPr lang="en-US" altLang="zh-CN" sz="675" i="1">
                <a:solidFill>
                  <a:schemeClr val="bg1">
                    <a:lumMod val="50000"/>
                  </a:schemeClr>
                </a:solidFill>
                <a:sym typeface="+mn-ea"/>
              </a:endParaRPr>
            </a:p>
          </p:txBody>
        </p:sp>
        <p:sp>
          <p:nvSpPr>
            <p:cNvPr id="67" name="文本框 66"/>
            <p:cNvSpPr txBox="1"/>
            <p:nvPr/>
          </p:nvSpPr>
          <p:spPr>
            <a:xfrm>
              <a:off x="15264" y="1669"/>
              <a:ext cx="2211" cy="84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High-Intensity, Flat-Gradient</a:t>
              </a:r>
              <a:endParaRPr lang="en-US" altLang="zh-CN" sz="675" i="1">
                <a:solidFill>
                  <a:schemeClr val="bg1">
                    <a:lumMod val="50000"/>
                  </a:schemeClr>
                </a:solidFill>
                <a:sym typeface="+mn-ea"/>
              </a:endParaRPr>
            </a:p>
          </p:txBody>
        </p:sp>
        <p:sp>
          <p:nvSpPr>
            <p:cNvPr id="68" name="文本框 67"/>
            <p:cNvSpPr txBox="1"/>
            <p:nvPr/>
          </p:nvSpPr>
          <p:spPr>
            <a:xfrm>
              <a:off x="15278" y="6839"/>
              <a:ext cx="2211" cy="84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High-Intensity, Steep-Gradient</a:t>
              </a:r>
              <a:endParaRPr lang="en-US" altLang="zh-CN" sz="675" i="1">
                <a:solidFill>
                  <a:schemeClr val="bg1">
                    <a:lumMod val="50000"/>
                  </a:schemeClr>
                </a:solidFill>
                <a:sym typeface="+mn-ea"/>
              </a:endParaRPr>
            </a:p>
          </p:txBody>
        </p:sp>
      </p:grpSp>
    </p:spTree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" name="组合 68"/>
          <p:cNvGrpSpPr/>
          <p:nvPr/>
        </p:nvGrpSpPr>
        <p:grpSpPr>
          <a:xfrm>
            <a:off x="3771268" y="5397821"/>
            <a:ext cx="6883818" cy="3555497"/>
            <a:chOff x="0" y="354"/>
            <a:chExt cx="19272" cy="9954"/>
          </a:xfrm>
        </p:grpSpPr>
        <p:pic>
          <p:nvPicPr>
            <p:cNvPr id="4" name="图片 3"/>
            <p:cNvPicPr/>
            <p:nvPr/>
          </p:nvPicPr>
          <p:blipFill>
            <a:blip r:embed="rId1"/>
            <a:stretch>
              <a:fillRect/>
            </a:stretch>
          </p:blipFill>
          <p:spPr>
            <a:xfrm>
              <a:off x="0" y="1805"/>
              <a:ext cx="19192" cy="6290"/>
            </a:xfrm>
            <a:prstGeom prst="rect">
              <a:avLst/>
            </a:prstGeom>
          </p:spPr>
        </p:pic>
        <p:sp>
          <p:nvSpPr>
            <p:cNvPr id="8" name="矩形 7"/>
            <p:cNvSpPr/>
            <p:nvPr/>
          </p:nvSpPr>
          <p:spPr>
            <a:xfrm rot="5400000">
              <a:off x="9795" y="-1270"/>
              <a:ext cx="544" cy="182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7" name="矩形 6"/>
            <p:cNvSpPr/>
            <p:nvPr/>
          </p:nvSpPr>
          <p:spPr>
            <a:xfrm>
              <a:off x="0" y="1648"/>
              <a:ext cx="818" cy="647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015"/>
            </a:p>
          </p:txBody>
        </p:sp>
        <p:sp>
          <p:nvSpPr>
            <p:cNvPr id="5" name="矩形 4"/>
            <p:cNvSpPr/>
            <p:nvPr/>
          </p:nvSpPr>
          <p:spPr>
            <a:xfrm>
              <a:off x="6424" y="1487"/>
              <a:ext cx="818" cy="647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015"/>
            </a:p>
          </p:txBody>
        </p:sp>
        <p:sp>
          <p:nvSpPr>
            <p:cNvPr id="6" name="矩形 5"/>
            <p:cNvSpPr/>
            <p:nvPr/>
          </p:nvSpPr>
          <p:spPr>
            <a:xfrm>
              <a:off x="12864" y="1616"/>
              <a:ext cx="818" cy="647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015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6" name="文本框 35"/>
                <p:cNvSpPr txBox="1"/>
                <p:nvPr/>
              </p:nvSpPr>
              <p:spPr>
                <a:xfrm>
                  <a:off x="5977" y="354"/>
                  <a:ext cx="7243" cy="139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350" b="1">
                      <a:latin typeface="Arial" panose="020B0604020202020204" pitchFamily="34" charset="0"/>
                      <a:cs typeface="Arial" panose="020B0604020202020204" pitchFamily="34" charset="0"/>
                    </a:rPr>
                    <a:t>Vertical Profile Params</a:t>
                  </a:r>
                  <a:endParaRPr lang="en-US" altLang="zh-CN" sz="1350" b="1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𝐴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𝑒𝑥𝑝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𝐵𝑟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altLang="zh-CN" sz="135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135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zh-CN" sz="135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35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>
            <p:sp>
              <p:nvSpPr>
                <p:cNvPr id="36" name="文本框 3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77" y="354"/>
                  <a:ext cx="7243" cy="1397"/>
                </a:xfrm>
                <a:prstGeom prst="rect">
                  <a:avLst/>
                </a:prstGeom>
                <a:blipFill rotWithShape="1">
                  <a:blip r:embed="rId2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文本框 36"/>
            <p:cNvSpPr txBox="1"/>
            <p:nvPr/>
          </p:nvSpPr>
          <p:spPr>
            <a:xfrm>
              <a:off x="3044" y="7598"/>
              <a:ext cx="45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10</a:t>
              </a:r>
              <a:endParaRPr lang="en-US" altLang="zh-CN" sz="1015"/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7" y="6430"/>
              <a:ext cx="747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-0.4</a:t>
              </a:r>
              <a:endParaRPr lang="en-US" altLang="zh-CN" sz="1015"/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1212" y="7598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015"/>
                <a:t>5</a:t>
              </a:r>
              <a:endParaRPr lang="en-US" altLang="zh-CN" sz="1015"/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5608" y="7638"/>
              <a:ext cx="1166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zh-CN" altLang="en-US" sz="1125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259" y="1616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  <a:endParaRPr lang="en-US" altLang="zh-CN" sz="1125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4794" y="7598"/>
              <a:ext cx="45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15</a:t>
              </a:r>
              <a:endParaRPr lang="en-US" altLang="zh-CN" sz="1015"/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284" y="2751"/>
              <a:ext cx="47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</a:t>
              </a:r>
              <a:endParaRPr lang="en-US" altLang="zh-CN" sz="1015"/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20" y="4583"/>
              <a:ext cx="734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-0.2</a:t>
              </a:r>
              <a:endParaRPr lang="en-US" altLang="zh-CN" sz="1015"/>
            </a:p>
          </p:txBody>
        </p:sp>
        <p:sp>
          <p:nvSpPr>
            <p:cNvPr id="13" name="文本框 12"/>
            <p:cNvSpPr txBox="1"/>
            <p:nvPr/>
          </p:nvSpPr>
          <p:spPr>
            <a:xfrm>
              <a:off x="9600" y="7638"/>
              <a:ext cx="702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-0.2</a:t>
              </a:r>
              <a:endParaRPr lang="en-US" altLang="zh-CN" sz="1015"/>
            </a:p>
          </p:txBody>
        </p:sp>
        <p:sp>
          <p:nvSpPr>
            <p:cNvPr id="14" name="文本框 13"/>
            <p:cNvSpPr txBox="1"/>
            <p:nvPr/>
          </p:nvSpPr>
          <p:spPr>
            <a:xfrm>
              <a:off x="6228" y="7126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-0.02</a:t>
              </a:r>
              <a:endParaRPr lang="en-US" altLang="zh-CN" sz="1015"/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7759" y="7638"/>
              <a:ext cx="747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015"/>
                <a:t>-0.4</a:t>
              </a:r>
              <a:endParaRPr lang="en-US" altLang="zh-CN" sz="1015"/>
            </a:p>
          </p:txBody>
        </p:sp>
        <p:sp>
          <p:nvSpPr>
            <p:cNvPr id="16" name="文本框 15"/>
            <p:cNvSpPr txBox="1"/>
            <p:nvPr/>
          </p:nvSpPr>
          <p:spPr>
            <a:xfrm>
              <a:off x="12060" y="7638"/>
              <a:ext cx="1166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  <a:endParaRPr lang="zh-CN" altLang="en-US" sz="1125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17" name="文本框 16"/>
            <p:cNvSpPr txBox="1"/>
            <p:nvPr/>
          </p:nvSpPr>
          <p:spPr>
            <a:xfrm>
              <a:off x="6934" y="1534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  <a:endParaRPr lang="en-US" altLang="zh-CN" sz="1125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8" name="文本框 17"/>
            <p:cNvSpPr txBox="1"/>
            <p:nvPr/>
          </p:nvSpPr>
          <p:spPr>
            <a:xfrm>
              <a:off x="11624" y="7638"/>
              <a:ext cx="235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0</a:t>
              </a:r>
              <a:endParaRPr lang="en-US" altLang="zh-CN" sz="1015"/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6228" y="5826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</a:t>
              </a:r>
              <a:endParaRPr lang="en-US" altLang="zh-CN" sz="1015"/>
            </a:p>
          </p:txBody>
        </p:sp>
        <p:sp>
          <p:nvSpPr>
            <p:cNvPr id="23" name="文本框 22"/>
            <p:cNvSpPr txBox="1"/>
            <p:nvPr/>
          </p:nvSpPr>
          <p:spPr>
            <a:xfrm>
              <a:off x="6228" y="4538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0.02</a:t>
              </a:r>
              <a:endParaRPr lang="en-US" altLang="zh-CN" sz="1015"/>
            </a:p>
          </p:txBody>
        </p:sp>
        <p:sp>
          <p:nvSpPr>
            <p:cNvPr id="24" name="文本框 23"/>
            <p:cNvSpPr txBox="1"/>
            <p:nvPr/>
          </p:nvSpPr>
          <p:spPr>
            <a:xfrm>
              <a:off x="6228" y="3172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0.04</a:t>
              </a:r>
              <a:endParaRPr lang="en-US" altLang="zh-CN" sz="1015"/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6228" y="1912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0.06</a:t>
              </a:r>
              <a:endParaRPr lang="en-US" altLang="zh-CN" sz="1015"/>
            </a:p>
          </p:txBody>
        </p:sp>
        <p:sp>
          <p:nvSpPr>
            <p:cNvPr id="26" name="文本框 25"/>
            <p:cNvSpPr txBox="1"/>
            <p:nvPr/>
          </p:nvSpPr>
          <p:spPr>
            <a:xfrm>
              <a:off x="15906" y="7652"/>
              <a:ext cx="45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10</a:t>
              </a:r>
              <a:endParaRPr lang="en-US" altLang="zh-CN" sz="1015"/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14074" y="7652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015"/>
                <a:t>5</a:t>
              </a:r>
              <a:endParaRPr lang="en-US" altLang="zh-CN" sz="1015"/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18106" y="7638"/>
              <a:ext cx="1166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zh-CN" altLang="en-US" sz="1125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17656" y="7652"/>
              <a:ext cx="45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15</a:t>
              </a:r>
              <a:endParaRPr lang="en-US" altLang="zh-CN" sz="1015"/>
            </a:p>
          </p:txBody>
        </p:sp>
        <p:sp>
          <p:nvSpPr>
            <p:cNvPr id="2" name="文本框 1"/>
            <p:cNvSpPr txBox="1"/>
            <p:nvPr/>
          </p:nvSpPr>
          <p:spPr>
            <a:xfrm>
              <a:off x="12689" y="7126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-0.02</a:t>
              </a:r>
              <a:endParaRPr lang="en-US" altLang="zh-CN" sz="1015"/>
            </a:p>
          </p:txBody>
        </p:sp>
        <p:sp>
          <p:nvSpPr>
            <p:cNvPr id="3" name="文本框 2"/>
            <p:cNvSpPr txBox="1"/>
            <p:nvPr/>
          </p:nvSpPr>
          <p:spPr>
            <a:xfrm>
              <a:off x="13395" y="1534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  <a:endParaRPr lang="en-US" altLang="zh-CN" sz="1125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" name="文本框 18"/>
            <p:cNvSpPr txBox="1"/>
            <p:nvPr/>
          </p:nvSpPr>
          <p:spPr>
            <a:xfrm>
              <a:off x="12689" y="5826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</a:t>
              </a:r>
              <a:endParaRPr lang="en-US" altLang="zh-CN" sz="1015"/>
            </a:p>
          </p:txBody>
        </p:sp>
        <p:sp>
          <p:nvSpPr>
            <p:cNvPr id="20" name="文本框 19"/>
            <p:cNvSpPr txBox="1"/>
            <p:nvPr/>
          </p:nvSpPr>
          <p:spPr>
            <a:xfrm>
              <a:off x="12689" y="4538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0.02</a:t>
              </a:r>
              <a:endParaRPr lang="en-US" altLang="zh-CN" sz="1015"/>
            </a:p>
          </p:txBody>
        </p:sp>
        <p:sp>
          <p:nvSpPr>
            <p:cNvPr id="22" name="文本框 21"/>
            <p:cNvSpPr txBox="1"/>
            <p:nvPr/>
          </p:nvSpPr>
          <p:spPr>
            <a:xfrm>
              <a:off x="12689" y="3172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0.04</a:t>
              </a:r>
              <a:endParaRPr lang="en-US" altLang="zh-CN" sz="1015"/>
            </a:p>
          </p:txBody>
        </p:sp>
        <p:sp>
          <p:nvSpPr>
            <p:cNvPr id="31" name="文本框 30"/>
            <p:cNvSpPr txBox="1"/>
            <p:nvPr/>
          </p:nvSpPr>
          <p:spPr>
            <a:xfrm>
              <a:off x="12689" y="1912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0.06</a:t>
              </a:r>
              <a:endParaRPr lang="en-US" altLang="zh-CN" sz="1015"/>
            </a:p>
          </p:txBody>
        </p:sp>
        <p:grpSp>
          <p:nvGrpSpPr>
            <p:cNvPr id="56" name="组合 55"/>
            <p:cNvGrpSpPr/>
            <p:nvPr/>
          </p:nvGrpSpPr>
          <p:grpSpPr>
            <a:xfrm>
              <a:off x="2061" y="8164"/>
              <a:ext cx="15595" cy="2144"/>
              <a:chOff x="2352" y="8858"/>
              <a:chExt cx="15488" cy="2144"/>
            </a:xfrm>
          </p:grpSpPr>
          <p:sp>
            <p:nvSpPr>
              <p:cNvPr id="32" name="文本框 31"/>
              <p:cNvSpPr txBox="1"/>
              <p:nvPr/>
            </p:nvSpPr>
            <p:spPr>
              <a:xfrm>
                <a:off x="13434" y="9840"/>
                <a:ext cx="4406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 Mean, 2016</a:t>
                </a:r>
                <a:endParaRPr lang="en-US" altLang="zh-CN" sz="900"/>
              </a:p>
            </p:txBody>
          </p:sp>
          <p:sp>
            <p:nvSpPr>
              <p:cNvPr id="33" name="文本框 32"/>
              <p:cNvSpPr txBox="1"/>
              <p:nvPr/>
            </p:nvSpPr>
            <p:spPr>
              <a:xfrm>
                <a:off x="13434" y="8858"/>
                <a:ext cx="314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America, 2016</a:t>
                </a:r>
                <a:endParaRPr lang="en-US" altLang="zh-CN" sz="900"/>
              </a:p>
            </p:txBody>
          </p:sp>
          <p:sp>
            <p:nvSpPr>
              <p:cNvPr id="34" name="椭圆 33"/>
              <p:cNvSpPr/>
              <p:nvPr/>
            </p:nvSpPr>
            <p:spPr>
              <a:xfrm>
                <a:off x="13067" y="8972"/>
                <a:ext cx="255" cy="255"/>
              </a:xfrm>
              <a:prstGeom prst="ellipse">
                <a:avLst/>
              </a:prstGeom>
              <a:solidFill>
                <a:srgbClr val="47A2DE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35" name="椭圆 34"/>
              <p:cNvSpPr/>
              <p:nvPr/>
            </p:nvSpPr>
            <p:spPr>
              <a:xfrm>
                <a:off x="13067" y="9435"/>
                <a:ext cx="255" cy="255"/>
              </a:xfrm>
              <a:prstGeom prst="ellipse">
                <a:avLst/>
              </a:prstGeom>
              <a:solidFill>
                <a:srgbClr val="47A2DE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3434" y="9349"/>
                <a:ext cx="314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America, 2023</a:t>
                </a:r>
                <a:endParaRPr lang="en-US" altLang="zh-CN" sz="900"/>
              </a:p>
            </p:txBody>
          </p:sp>
          <p:sp>
            <p:nvSpPr>
              <p:cNvPr id="40" name="文本框 39"/>
              <p:cNvSpPr txBox="1"/>
              <p:nvPr/>
            </p:nvSpPr>
            <p:spPr>
              <a:xfrm>
                <a:off x="2848" y="88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Africa, 2016</a:t>
                </a:r>
                <a:endParaRPr lang="en-US" altLang="zh-CN" sz="900"/>
              </a:p>
            </p:txBody>
          </p:sp>
          <p:sp>
            <p:nvSpPr>
              <p:cNvPr id="43" name="椭圆 42"/>
              <p:cNvSpPr/>
              <p:nvPr/>
            </p:nvSpPr>
            <p:spPr>
              <a:xfrm>
                <a:off x="2465" y="8972"/>
                <a:ext cx="255" cy="255"/>
              </a:xfrm>
              <a:prstGeom prst="ellipse">
                <a:avLst/>
              </a:prstGeom>
              <a:solidFill>
                <a:srgbClr val="E85748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9467BD"/>
                  </a:solidFill>
                </a:endParaRPr>
              </a:p>
            </p:txBody>
          </p:sp>
          <p:sp>
            <p:nvSpPr>
              <p:cNvPr id="44" name="椭圆 43"/>
              <p:cNvSpPr/>
              <p:nvPr/>
            </p:nvSpPr>
            <p:spPr>
              <a:xfrm>
                <a:off x="2465" y="9435"/>
                <a:ext cx="255" cy="255"/>
              </a:xfrm>
              <a:prstGeom prst="ellipse">
                <a:avLst/>
              </a:prstGeom>
              <a:solidFill>
                <a:srgbClr val="E85748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45" name="文本框 44"/>
              <p:cNvSpPr txBox="1"/>
              <p:nvPr/>
            </p:nvSpPr>
            <p:spPr>
              <a:xfrm>
                <a:off x="2848" y="93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Africa, 2023</a:t>
                </a:r>
                <a:endParaRPr lang="en-US" altLang="zh-CN" sz="900"/>
              </a:p>
            </p:txBody>
          </p:sp>
          <p:sp>
            <p:nvSpPr>
              <p:cNvPr id="46" name="文本框 45"/>
              <p:cNvSpPr txBox="1"/>
              <p:nvPr/>
            </p:nvSpPr>
            <p:spPr>
              <a:xfrm>
                <a:off x="7053" y="8858"/>
                <a:ext cx="452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South&amp;South-east Asia, 2016</a:t>
                </a:r>
                <a:endParaRPr lang="en-US" altLang="zh-CN" sz="900"/>
              </a:p>
            </p:txBody>
          </p:sp>
          <p:sp>
            <p:nvSpPr>
              <p:cNvPr id="47" name="椭圆 46"/>
              <p:cNvSpPr/>
              <p:nvPr/>
            </p:nvSpPr>
            <p:spPr>
              <a:xfrm>
                <a:off x="6647" y="8972"/>
                <a:ext cx="255" cy="255"/>
              </a:xfrm>
              <a:prstGeom prst="ellipse">
                <a:avLst/>
              </a:prstGeom>
              <a:solidFill>
                <a:srgbClr val="F39F1B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48" name="椭圆 47"/>
              <p:cNvSpPr/>
              <p:nvPr/>
            </p:nvSpPr>
            <p:spPr>
              <a:xfrm>
                <a:off x="6647" y="9435"/>
                <a:ext cx="255" cy="255"/>
              </a:xfrm>
              <a:prstGeom prst="ellipse">
                <a:avLst/>
              </a:prstGeom>
              <a:solidFill>
                <a:srgbClr val="F39F1B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49" name="文本框 48"/>
              <p:cNvSpPr txBox="1"/>
              <p:nvPr/>
            </p:nvSpPr>
            <p:spPr>
              <a:xfrm>
                <a:off x="7053" y="9345"/>
                <a:ext cx="452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>
                    <a:sym typeface="+mn-ea"/>
                  </a:rPr>
                  <a:t>South&amp;South-east Asia, 2023</a:t>
                </a:r>
                <a:endParaRPr lang="en-US" altLang="zh-CN" sz="900"/>
              </a:p>
            </p:txBody>
          </p:sp>
          <p:sp>
            <p:nvSpPr>
              <p:cNvPr id="50" name="乘号 49"/>
              <p:cNvSpPr/>
              <p:nvPr/>
            </p:nvSpPr>
            <p:spPr>
              <a:xfrm>
                <a:off x="2352" y="9845"/>
                <a:ext cx="480" cy="480"/>
              </a:xfrm>
              <a:prstGeom prst="mathMultiply">
                <a:avLst/>
              </a:prstGeom>
              <a:solidFill>
                <a:srgbClr val="E85748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51" name="文本框 50"/>
              <p:cNvSpPr txBox="1"/>
              <p:nvPr/>
            </p:nvSpPr>
            <p:spPr>
              <a:xfrm>
                <a:off x="2848" y="98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 Mean, 2016</a:t>
                </a:r>
                <a:endParaRPr lang="en-US" altLang="zh-CN" sz="900"/>
              </a:p>
            </p:txBody>
          </p:sp>
          <p:sp>
            <p:nvSpPr>
              <p:cNvPr id="52" name="乘号 51"/>
              <p:cNvSpPr/>
              <p:nvPr/>
            </p:nvSpPr>
            <p:spPr>
              <a:xfrm>
                <a:off x="2352" y="10359"/>
                <a:ext cx="480" cy="480"/>
              </a:xfrm>
              <a:prstGeom prst="mathMultiply">
                <a:avLst/>
              </a:prstGeom>
              <a:solidFill>
                <a:srgbClr val="E85748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53" name="文本框 52"/>
              <p:cNvSpPr txBox="1"/>
              <p:nvPr/>
            </p:nvSpPr>
            <p:spPr>
              <a:xfrm>
                <a:off x="2848" y="103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 Mean, 2023</a:t>
                </a:r>
                <a:endParaRPr lang="en-US" altLang="zh-CN" sz="900"/>
              </a:p>
            </p:txBody>
          </p:sp>
          <p:sp>
            <p:nvSpPr>
              <p:cNvPr id="54" name="乘号 53"/>
              <p:cNvSpPr/>
              <p:nvPr/>
            </p:nvSpPr>
            <p:spPr>
              <a:xfrm>
                <a:off x="6534" y="9845"/>
                <a:ext cx="480" cy="480"/>
              </a:xfrm>
              <a:prstGeom prst="mathMultiply">
                <a:avLst/>
              </a:prstGeom>
              <a:solidFill>
                <a:srgbClr val="F39F1B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55" name="文本框 54"/>
              <p:cNvSpPr txBox="1"/>
              <p:nvPr/>
            </p:nvSpPr>
            <p:spPr>
              <a:xfrm>
                <a:off x="7053" y="9832"/>
                <a:ext cx="5582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>
                    <a:sym typeface="+mn-ea"/>
                  </a:rPr>
                  <a:t>South&amp;South-east Asia Mean, 2016</a:t>
                </a:r>
                <a:endParaRPr lang="zh-CN" altLang="en-US" sz="900">
                  <a:ea typeface="宋体" panose="02010600030101010101" pitchFamily="2" charset="-122"/>
                  <a:sym typeface="+mn-ea"/>
                </a:endParaRPr>
              </a:p>
            </p:txBody>
          </p:sp>
          <p:sp>
            <p:nvSpPr>
              <p:cNvPr id="57" name="乘号 56"/>
              <p:cNvSpPr/>
              <p:nvPr/>
            </p:nvSpPr>
            <p:spPr>
              <a:xfrm>
                <a:off x="6534" y="10359"/>
                <a:ext cx="480" cy="480"/>
              </a:xfrm>
              <a:prstGeom prst="mathMultiply">
                <a:avLst/>
              </a:prstGeom>
              <a:solidFill>
                <a:srgbClr val="F39F1B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58" name="文本框 57"/>
              <p:cNvSpPr txBox="1"/>
              <p:nvPr/>
            </p:nvSpPr>
            <p:spPr>
              <a:xfrm>
                <a:off x="7053" y="10319"/>
                <a:ext cx="5581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>
                    <a:sym typeface="+mn-ea"/>
                  </a:rPr>
                  <a:t>South&amp;South-east Asia Mean, 2023</a:t>
                </a:r>
                <a:endParaRPr lang="en-US" altLang="zh-CN" sz="900"/>
              </a:p>
            </p:txBody>
          </p:sp>
          <p:sp>
            <p:nvSpPr>
              <p:cNvPr id="59" name="乘号 58"/>
              <p:cNvSpPr/>
              <p:nvPr/>
            </p:nvSpPr>
            <p:spPr>
              <a:xfrm>
                <a:off x="12954" y="9845"/>
                <a:ext cx="480" cy="480"/>
              </a:xfrm>
              <a:prstGeom prst="mathMultiply">
                <a:avLst/>
              </a:prstGeom>
              <a:solidFill>
                <a:srgbClr val="47A2DE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60" name="乘号 59"/>
              <p:cNvSpPr/>
              <p:nvPr/>
            </p:nvSpPr>
            <p:spPr>
              <a:xfrm>
                <a:off x="12954" y="10359"/>
                <a:ext cx="480" cy="480"/>
              </a:xfrm>
              <a:prstGeom prst="mathMultiply">
                <a:avLst/>
              </a:prstGeom>
              <a:solidFill>
                <a:srgbClr val="47A2DE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61" name="文本框 60"/>
              <p:cNvSpPr txBox="1"/>
              <p:nvPr/>
            </p:nvSpPr>
            <p:spPr>
              <a:xfrm>
                <a:off x="13434" y="10331"/>
                <a:ext cx="4228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 Mean, 2023</a:t>
                </a:r>
                <a:endParaRPr lang="en-US" altLang="zh-CN" sz="900"/>
              </a:p>
            </p:txBody>
          </p:sp>
        </p:grpSp>
        <p:sp>
          <p:nvSpPr>
            <p:cNvPr id="63" name="文本框 62"/>
            <p:cNvSpPr txBox="1"/>
            <p:nvPr/>
          </p:nvSpPr>
          <p:spPr>
            <a:xfrm>
              <a:off x="2432" y="6672"/>
              <a:ext cx="1485" cy="9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A</a:t>
              </a:r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 </a:t>
              </a:r>
              <a:endParaRPr lang="en-US" altLang="zh-CN" sz="79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7.58</a:t>
              </a:r>
              <a:endParaRPr lang="en-US" altLang="zh-CN" sz="79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65" name="文本框 64"/>
            <p:cNvSpPr txBox="1"/>
            <p:nvPr/>
          </p:nvSpPr>
          <p:spPr>
            <a:xfrm>
              <a:off x="3917" y="3540"/>
              <a:ext cx="2355" cy="9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B </a:t>
              </a:r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-0.08</a:t>
              </a:r>
              <a:endParaRPr lang="en-US" altLang="zh-CN" sz="79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66" name="文本框 65"/>
            <p:cNvSpPr txBox="1"/>
            <p:nvPr/>
          </p:nvSpPr>
          <p:spPr>
            <a:xfrm>
              <a:off x="15284" y="6672"/>
              <a:ext cx="1485" cy="9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A</a:t>
              </a:r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 </a:t>
              </a:r>
              <a:endParaRPr lang="en-US" altLang="zh-CN" sz="79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7.58</a:t>
              </a:r>
              <a:endParaRPr lang="en-US" altLang="zh-CN" sz="79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67" name="文本框 66"/>
            <p:cNvSpPr txBox="1"/>
            <p:nvPr/>
          </p:nvSpPr>
          <p:spPr>
            <a:xfrm>
              <a:off x="7387" y="5711"/>
              <a:ext cx="2355" cy="9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C </a:t>
              </a:r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0.00</a:t>
              </a:r>
              <a:endParaRPr lang="en-US" altLang="zh-CN" sz="79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68" name="文本框 67"/>
            <p:cNvSpPr txBox="1"/>
            <p:nvPr/>
          </p:nvSpPr>
          <p:spPr>
            <a:xfrm>
              <a:off x="16703" y="5711"/>
              <a:ext cx="2355" cy="9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C </a:t>
              </a:r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0.00</a:t>
              </a:r>
              <a:endParaRPr lang="en-US" altLang="zh-CN" sz="79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</p:grpSp>
      <p:sp>
        <p:nvSpPr>
          <p:cNvPr id="30" name="文本框 29"/>
          <p:cNvSpPr txBox="1"/>
          <p:nvPr/>
        </p:nvSpPr>
        <p:spPr>
          <a:xfrm>
            <a:off x="6867771" y="6026836"/>
            <a:ext cx="841189" cy="333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79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mean B </a:t>
            </a:r>
            <a:r>
              <a:rPr lang="en-US" altLang="zh-CN" sz="79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= -0.08</a:t>
            </a:r>
            <a:endParaRPr lang="en-US" altLang="zh-CN" sz="790" i="1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</p:txBody>
      </p:sp>
    </p:spTree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组合 14"/>
          <p:cNvGrpSpPr/>
          <p:nvPr/>
        </p:nvGrpSpPr>
        <p:grpSpPr>
          <a:xfrm>
            <a:off x="3150258" y="4383437"/>
            <a:ext cx="8100119" cy="3554121"/>
            <a:chOff x="0" y="1736"/>
            <a:chExt cx="22678" cy="6706"/>
          </a:xfrm>
        </p:grpSpPr>
        <p:graphicFrame>
          <p:nvGraphicFramePr>
            <p:cNvPr id="3" name="图表 2"/>
            <p:cNvGraphicFramePr/>
            <p:nvPr/>
          </p:nvGraphicFramePr>
          <p:xfrm>
            <a:off x="0" y="2773"/>
            <a:ext cx="5669" cy="5669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1"/>
            </a:graphicData>
          </a:graphic>
        </p:graphicFrame>
        <p:graphicFrame>
          <p:nvGraphicFramePr>
            <p:cNvPr id="2" name="图表 1"/>
            <p:cNvGraphicFramePr/>
            <p:nvPr/>
          </p:nvGraphicFramePr>
          <p:xfrm>
            <a:off x="11554" y="2773"/>
            <a:ext cx="5669" cy="5669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"/>
            </a:graphicData>
          </a:graphic>
        </p:graphicFrame>
        <p:graphicFrame>
          <p:nvGraphicFramePr>
            <p:cNvPr id="6" name="图表 5"/>
            <p:cNvGraphicFramePr/>
            <p:nvPr/>
          </p:nvGraphicFramePr>
          <p:xfrm>
            <a:off x="5639" y="2773"/>
            <a:ext cx="5669" cy="5669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3"/>
            </a:graphicData>
          </a:graphic>
        </p:graphicFrame>
        <p:graphicFrame>
          <p:nvGraphicFramePr>
            <p:cNvPr id="7" name="图表 6"/>
            <p:cNvGraphicFramePr/>
            <p:nvPr/>
          </p:nvGraphicFramePr>
          <p:xfrm>
            <a:off x="17008" y="2773"/>
            <a:ext cx="5669" cy="5669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4"/>
            </a:graphicData>
          </a:graphic>
        </p:graphicFrame>
        <p:sp>
          <p:nvSpPr>
            <p:cNvPr id="9" name="文本框 8"/>
            <p:cNvSpPr txBox="1"/>
            <p:nvPr/>
          </p:nvSpPr>
          <p:spPr>
            <a:xfrm>
              <a:off x="0" y="1736"/>
              <a:ext cx="11307" cy="5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125"/>
                <a:t>Horizontal - Structural Zero Part</a:t>
              </a:r>
              <a:endParaRPr lang="en-US" altLang="zh-CN" sz="1125"/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11554" y="1736"/>
              <a:ext cx="11124" cy="5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125"/>
                <a:t>Horizontal - Binomial (Real Construction) Part</a:t>
              </a:r>
              <a:endParaRPr lang="en-US" altLang="zh-CN" sz="1125"/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2265" y="2364"/>
              <a:ext cx="1968" cy="4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015"/>
                <a:t>2016</a:t>
              </a:r>
              <a:endParaRPr lang="en-US" altLang="zh-CN" sz="1015"/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7841" y="2364"/>
              <a:ext cx="1968" cy="4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015"/>
                <a:t>2023</a:t>
              </a:r>
              <a:endParaRPr lang="en-US" altLang="zh-CN" sz="1015"/>
            </a:p>
          </p:txBody>
        </p:sp>
        <p:sp>
          <p:nvSpPr>
            <p:cNvPr id="13" name="文本框 12"/>
            <p:cNvSpPr txBox="1"/>
            <p:nvPr/>
          </p:nvSpPr>
          <p:spPr>
            <a:xfrm>
              <a:off x="13632" y="2364"/>
              <a:ext cx="1968" cy="4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015"/>
                <a:t>2016</a:t>
              </a:r>
              <a:endParaRPr lang="en-US" altLang="zh-CN" sz="1015"/>
            </a:p>
          </p:txBody>
        </p:sp>
        <p:sp>
          <p:nvSpPr>
            <p:cNvPr id="14" name="文本框 13"/>
            <p:cNvSpPr txBox="1"/>
            <p:nvPr/>
          </p:nvSpPr>
          <p:spPr>
            <a:xfrm>
              <a:off x="19208" y="2364"/>
              <a:ext cx="1968" cy="4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015"/>
                <a:t>2023</a:t>
              </a:r>
              <a:endParaRPr lang="en-US" altLang="zh-CN" sz="1015"/>
            </a:p>
          </p:txBody>
        </p:sp>
      </p:grpSp>
    </p:spTree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0CDCABCE-D623-4CDD-A77A-7869E116686A}" type="slidenum">
              <a:rPr lang="de-AT" sz="1065" smtClean="0"/>
            </a:fld>
            <a:endParaRPr lang="de-AT" sz="1065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2" name="文本框 4"/>
              <p:cNvSpPr txBox="1"/>
              <p:nvPr/>
            </p:nvSpPr>
            <p:spPr>
              <a:xfrm>
                <a:off x="5489682" y="11274130"/>
                <a:ext cx="3511748" cy="52705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de-AT" sz="1420" dirty="0">
                        <a:solidFill>
                          <a:schemeClr val="dk1"/>
                        </a:solidFill>
                        <a:latin typeface="Cambria Math" panose="02040503050406030204" charset="0"/>
                      </a:rPr>
                      <m:t>κ</m:t>
                    </m:r>
                  </m:oMath>
                </a14:m>
                <a:r>
                  <a:rPr lang="en-US" altLang="zh-CN" sz="1420" dirty="0">
                    <a:latin typeface="Arial" panose="020B0604020202020204" pitchFamily="34" charset="0"/>
                  </a:rPr>
                  <a:t>: central building presence probability.</a:t>
                </a:r>
                <a:endParaRPr lang="en-US" altLang="zh-CN" sz="1420" dirty="0">
                  <a:latin typeface="Arial" panose="020B0604020202020204" pitchFamily="34" charset="0"/>
                </a:endParaRPr>
              </a:p>
              <a:p>
                <a:pPr algn="ctr"/>
                <a:r>
                  <a:rPr lang="en-US" altLang="zh-CN" sz="1420" dirty="0">
                    <a:latin typeface="Arial" panose="020B0604020202020204" pitchFamily="34" charset="0"/>
                  </a:rPr>
                  <a:t>δ (delta): decay rate.</a:t>
                </a:r>
                <a:endParaRPr lang="en-US" altLang="zh-CN" sz="1420" dirty="0">
                  <a:latin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182" name="文本框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9682" y="11274130"/>
                <a:ext cx="3511748" cy="527050"/>
              </a:xfrm>
              <a:prstGeom prst="rect">
                <a:avLst/>
              </a:prstGeom>
              <a:blipFill rotWithShape="1">
                <a:blip r:embed="rId1"/>
                <a:stretch>
                  <a:fillRect l="-3" t="-65" r="9" b="6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" name="组合 7"/>
          <p:cNvGrpSpPr/>
          <p:nvPr/>
        </p:nvGrpSpPr>
        <p:grpSpPr>
          <a:xfrm>
            <a:off x="3427717" y="5909019"/>
            <a:ext cx="7614992" cy="2646798"/>
            <a:chOff x="775" y="2740"/>
            <a:chExt cx="21319" cy="7410"/>
          </a:xfrm>
        </p:grpSpPr>
        <p:grpSp>
          <p:nvGrpSpPr>
            <p:cNvPr id="6" name="组合 5"/>
            <p:cNvGrpSpPr/>
            <p:nvPr/>
          </p:nvGrpSpPr>
          <p:grpSpPr>
            <a:xfrm>
              <a:off x="775" y="2740"/>
              <a:ext cx="21319" cy="6874"/>
              <a:chOff x="1249" y="1357"/>
              <a:chExt cx="21319" cy="6874"/>
            </a:xfrm>
          </p:grpSpPr>
          <p:sp>
            <p:nvSpPr>
              <p:cNvPr id="126" name="Google Shape;421;p29"/>
              <p:cNvSpPr txBox="1"/>
              <p:nvPr/>
            </p:nvSpPr>
            <p:spPr>
              <a:xfrm>
                <a:off x="7112" y="7170"/>
                <a:ext cx="4043" cy="106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80960" tIns="80960" rIns="80960" bIns="80960" anchor="t" anchorCtr="0">
                <a:spAutoFit/>
              </a:bodyPr>
              <a:lstStyle/>
              <a:p>
                <a:pPr lvl="0" algn="ctr"/>
                <a:r>
                  <a:rPr lang="de-AT" sz="1420" dirty="0">
                    <a:solidFill>
                      <a:schemeClr val="dk1"/>
                    </a:solidFill>
                    <a:latin typeface="Arial" panose="020B0604020202020204" pitchFamily="34" charset="0"/>
                  </a:rPr>
                  <a:t>κ small δ large </a:t>
                </a:r>
                <a:endParaRPr sz="1420" dirty="0">
                  <a:solidFill>
                    <a:schemeClr val="dk1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127" name="Google Shape;422;p29"/>
              <p:cNvSpPr txBox="1"/>
              <p:nvPr/>
            </p:nvSpPr>
            <p:spPr>
              <a:xfrm>
                <a:off x="17905" y="7170"/>
                <a:ext cx="4249" cy="106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80960" tIns="80960" rIns="80960" bIns="80960" anchor="t" anchorCtr="0">
                <a:spAutoFit/>
              </a:bodyPr>
              <a:lstStyle/>
              <a:p>
                <a:pPr lvl="0" algn="ctr"/>
                <a:r>
                  <a:rPr lang="de-AT" sz="1420" dirty="0">
                    <a:solidFill>
                      <a:schemeClr val="dk1"/>
                    </a:solidFill>
                    <a:latin typeface="Arial" panose="020B0604020202020204" pitchFamily="34" charset="0"/>
                  </a:rPr>
                  <a:t>κ large δ large </a:t>
                </a:r>
                <a:endParaRPr sz="1420" dirty="0">
                  <a:solidFill>
                    <a:schemeClr val="dk1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128" name="Google Shape;423;p29"/>
              <p:cNvSpPr txBox="1"/>
              <p:nvPr/>
            </p:nvSpPr>
            <p:spPr>
              <a:xfrm>
                <a:off x="1714" y="7170"/>
                <a:ext cx="4044" cy="106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80960" tIns="80960" rIns="80960" bIns="80960" anchor="t" anchorCtr="0">
                <a:spAutoFit/>
              </a:bodyPr>
              <a:lstStyle/>
              <a:p>
                <a:pPr lvl="0" algn="ctr"/>
                <a:r>
                  <a:rPr lang="de-AT" sz="1420" dirty="0">
                    <a:solidFill>
                      <a:schemeClr val="dk1"/>
                    </a:solidFill>
                    <a:latin typeface="Arial" panose="020B0604020202020204" pitchFamily="34" charset="0"/>
                  </a:rPr>
                  <a:t>κ small δ small </a:t>
                </a:r>
                <a:endParaRPr sz="1420" dirty="0">
                  <a:solidFill>
                    <a:schemeClr val="dk1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129" name="Google Shape;424;p29"/>
              <p:cNvSpPr txBox="1"/>
              <p:nvPr/>
            </p:nvSpPr>
            <p:spPr>
              <a:xfrm>
                <a:off x="12509" y="7170"/>
                <a:ext cx="4043" cy="106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80960" tIns="80960" rIns="80960" bIns="80960" anchor="t" anchorCtr="0">
                <a:spAutoFit/>
              </a:bodyPr>
              <a:lstStyle/>
              <a:p>
                <a:pPr lvl="0" algn="ctr"/>
                <a:r>
                  <a:rPr lang="de-AT" sz="1420" dirty="0">
                    <a:solidFill>
                      <a:schemeClr val="dk1"/>
                    </a:solidFill>
                    <a:latin typeface="Arial" panose="020B0604020202020204" pitchFamily="34" charset="0"/>
                  </a:rPr>
                  <a:t>κ large δ small </a:t>
                </a:r>
                <a:endParaRPr sz="1420" dirty="0">
                  <a:solidFill>
                    <a:schemeClr val="dk1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32" name="TextBox 12"/>
              <p:cNvSpPr txBox="1"/>
              <p:nvPr/>
            </p:nvSpPr>
            <p:spPr>
              <a:xfrm>
                <a:off x="2886" y="1378"/>
                <a:ext cx="2508" cy="7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65" dirty="0">
                    <a:latin typeface="Arial" panose="020B0604020202020204" pitchFamily="34" charset="0"/>
                  </a:rPr>
                  <a:t>Buildings</a:t>
                </a:r>
                <a:endParaRPr lang="en-US" sz="1065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33" name="TextBox 98"/>
              <p:cNvSpPr txBox="1"/>
              <p:nvPr/>
            </p:nvSpPr>
            <p:spPr>
              <a:xfrm>
                <a:off x="11121" y="1505"/>
                <a:ext cx="5239" cy="7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65" dirty="0">
                    <a:latin typeface="Arial" panose="020B0604020202020204" pitchFamily="34" charset="0"/>
                  </a:rPr>
                  <a:t>Constructable Area</a:t>
                </a:r>
                <a:endParaRPr lang="en-US" sz="1065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34" name="矩形 33"/>
              <p:cNvSpPr/>
              <p:nvPr/>
            </p:nvSpPr>
            <p:spPr>
              <a:xfrm>
                <a:off x="2073" y="1357"/>
                <a:ext cx="813" cy="813"/>
              </a:xfrm>
              <a:prstGeom prst="rect">
                <a:avLst/>
              </a:prstGeom>
              <a:solidFill>
                <a:srgbClr val="69A2BC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0"/>
              </a:p>
            </p:txBody>
          </p:sp>
          <p:sp>
            <p:nvSpPr>
              <p:cNvPr id="37" name="矩形 36"/>
              <p:cNvSpPr/>
              <p:nvPr/>
            </p:nvSpPr>
            <p:spPr>
              <a:xfrm>
                <a:off x="10309" y="1379"/>
                <a:ext cx="813" cy="813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0"/>
              </a:p>
            </p:txBody>
          </p:sp>
          <p:grpSp>
            <p:nvGrpSpPr>
              <p:cNvPr id="2" name="组合 1"/>
              <p:cNvGrpSpPr/>
              <p:nvPr/>
            </p:nvGrpSpPr>
            <p:grpSpPr>
              <a:xfrm>
                <a:off x="1249" y="2420"/>
                <a:ext cx="4974" cy="4859"/>
                <a:chOff x="1057" y="2049"/>
                <a:chExt cx="4212" cy="4114"/>
              </a:xfrm>
            </p:grpSpPr>
            <p:pic>
              <p:nvPicPr>
                <p:cNvPr id="38" name="图片 37"/>
                <p:cNvPicPr>
                  <a:picLocks noChangeAspect="1"/>
                </p:cNvPicPr>
                <p:nvPr/>
              </p:nvPicPr>
              <p:blipFill>
                <a:blip r:embed="rId2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</a:blip>
                <a:stretch>
                  <a:fillRect/>
                </a:stretch>
              </p:blipFill>
              <p:spPr>
                <a:xfrm>
                  <a:off x="1057" y="2049"/>
                  <a:ext cx="4212" cy="4115"/>
                </a:xfrm>
                <a:prstGeom prst="rect">
                  <a:avLst/>
                </a:prstGeom>
              </p:spPr>
            </p:pic>
            <p:sp>
              <p:nvSpPr>
                <p:cNvPr id="27" name="椭圆 26"/>
                <p:cNvSpPr/>
                <p:nvPr/>
              </p:nvSpPr>
              <p:spPr>
                <a:xfrm>
                  <a:off x="1280" y="2210"/>
                  <a:ext cx="3862" cy="3862"/>
                </a:xfrm>
                <a:prstGeom prst="ellipse">
                  <a:avLst/>
                </a:prstGeom>
                <a:noFill/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0"/>
                </a:p>
              </p:txBody>
            </p:sp>
          </p:grpSp>
          <p:grpSp>
            <p:nvGrpSpPr>
              <p:cNvPr id="3" name="组合 2"/>
              <p:cNvGrpSpPr/>
              <p:nvPr/>
            </p:nvGrpSpPr>
            <p:grpSpPr>
              <a:xfrm>
                <a:off x="6580" y="2420"/>
                <a:ext cx="4974" cy="4859"/>
                <a:chOff x="5571" y="2049"/>
                <a:chExt cx="4212" cy="4114"/>
              </a:xfrm>
            </p:grpSpPr>
            <p:pic>
              <p:nvPicPr>
                <p:cNvPr id="44" name="图片 43"/>
                <p:cNvPicPr>
                  <a:picLocks noChangeAspect="1"/>
                </p:cNvPicPr>
                <p:nvPr/>
              </p:nvPicPr>
              <p:blipFill>
                <a:blip r:embed="rId3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</a:blip>
                <a:stretch>
                  <a:fillRect/>
                </a:stretch>
              </p:blipFill>
              <p:spPr>
                <a:xfrm>
                  <a:off x="5571" y="2049"/>
                  <a:ext cx="4212" cy="4115"/>
                </a:xfrm>
                <a:prstGeom prst="rect">
                  <a:avLst/>
                </a:prstGeom>
              </p:spPr>
            </p:pic>
            <p:sp>
              <p:nvSpPr>
                <p:cNvPr id="28" name="椭圆 27"/>
                <p:cNvSpPr/>
                <p:nvPr/>
              </p:nvSpPr>
              <p:spPr>
                <a:xfrm>
                  <a:off x="5813" y="2210"/>
                  <a:ext cx="3862" cy="3862"/>
                </a:xfrm>
                <a:prstGeom prst="ellipse">
                  <a:avLst/>
                </a:prstGeom>
                <a:noFill/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0"/>
                </a:p>
              </p:txBody>
            </p:sp>
          </p:grpSp>
          <p:grpSp>
            <p:nvGrpSpPr>
              <p:cNvPr id="4" name="组合 3"/>
              <p:cNvGrpSpPr/>
              <p:nvPr/>
            </p:nvGrpSpPr>
            <p:grpSpPr>
              <a:xfrm>
                <a:off x="11910" y="2420"/>
                <a:ext cx="4974" cy="4859"/>
                <a:chOff x="10084" y="2049"/>
                <a:chExt cx="4212" cy="4114"/>
              </a:xfrm>
            </p:grpSpPr>
            <p:pic>
              <p:nvPicPr>
                <p:cNvPr id="45" name="图片 44"/>
                <p:cNvPicPr>
                  <a:picLocks noChangeAspect="1"/>
                </p:cNvPicPr>
                <p:nvPr/>
              </p:nvPicPr>
              <p:blipFill>
                <a:blip r:embed="rId4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</a:blip>
                <a:stretch>
                  <a:fillRect/>
                </a:stretch>
              </p:blipFill>
              <p:spPr>
                <a:xfrm>
                  <a:off x="10084" y="2049"/>
                  <a:ext cx="4212" cy="4115"/>
                </a:xfrm>
                <a:prstGeom prst="rect">
                  <a:avLst/>
                </a:prstGeom>
              </p:spPr>
            </p:pic>
            <p:sp>
              <p:nvSpPr>
                <p:cNvPr id="29" name="椭圆 28"/>
                <p:cNvSpPr/>
                <p:nvPr/>
              </p:nvSpPr>
              <p:spPr>
                <a:xfrm>
                  <a:off x="10347" y="2210"/>
                  <a:ext cx="3862" cy="3862"/>
                </a:xfrm>
                <a:prstGeom prst="ellipse">
                  <a:avLst/>
                </a:prstGeom>
                <a:noFill/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0"/>
                </a:p>
              </p:txBody>
            </p:sp>
          </p:grpSp>
          <p:grpSp>
            <p:nvGrpSpPr>
              <p:cNvPr id="7" name="组合 6"/>
              <p:cNvGrpSpPr/>
              <p:nvPr/>
            </p:nvGrpSpPr>
            <p:grpSpPr>
              <a:xfrm>
                <a:off x="17241" y="2420"/>
                <a:ext cx="4974" cy="4859"/>
                <a:chOff x="14598" y="2049"/>
                <a:chExt cx="4212" cy="4114"/>
              </a:xfrm>
            </p:grpSpPr>
            <p:pic>
              <p:nvPicPr>
                <p:cNvPr id="46" name="图片 45"/>
                <p:cNvPicPr>
                  <a:picLocks noChangeAspect="1"/>
                </p:cNvPicPr>
                <p:nvPr/>
              </p:nvPicPr>
              <p:blipFill>
                <a:blip r:embed="rId5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</a:blip>
                <a:stretch>
                  <a:fillRect/>
                </a:stretch>
              </p:blipFill>
              <p:spPr>
                <a:xfrm>
                  <a:off x="14598" y="2049"/>
                  <a:ext cx="4212" cy="4115"/>
                </a:xfrm>
                <a:prstGeom prst="rect">
                  <a:avLst/>
                </a:prstGeom>
              </p:spPr>
            </p:pic>
            <p:sp>
              <p:nvSpPr>
                <p:cNvPr id="30" name="椭圆 29"/>
                <p:cNvSpPr/>
                <p:nvPr/>
              </p:nvSpPr>
              <p:spPr>
                <a:xfrm>
                  <a:off x="14880" y="2210"/>
                  <a:ext cx="3862" cy="3862"/>
                </a:xfrm>
                <a:prstGeom prst="ellipse">
                  <a:avLst/>
                </a:prstGeom>
                <a:noFill/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0"/>
                </a:p>
              </p:txBody>
            </p:sp>
          </p:grpSp>
          <p:sp>
            <p:nvSpPr>
              <p:cNvPr id="31" name="TextBox 12"/>
              <p:cNvSpPr txBox="1"/>
              <p:nvPr/>
            </p:nvSpPr>
            <p:spPr>
              <a:xfrm>
                <a:off x="6570" y="1378"/>
                <a:ext cx="3374" cy="7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65" dirty="0">
                    <a:latin typeface="Arial" panose="020B0604020202020204" pitchFamily="34" charset="0"/>
                  </a:rPr>
                  <a:t>Structural Zeros</a:t>
                </a:r>
                <a:endParaRPr lang="en-US" sz="1065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39" name="矩形 38"/>
              <p:cNvSpPr/>
              <p:nvPr/>
            </p:nvSpPr>
            <p:spPr>
              <a:xfrm>
                <a:off x="5768" y="1357"/>
                <a:ext cx="813" cy="813"/>
              </a:xfrm>
              <a:prstGeom prst="rect">
                <a:avLst/>
              </a:prstGeom>
              <a:solidFill>
                <a:srgbClr val="BFBFBF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0"/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88" name="文本框 87"/>
                  <p:cNvSpPr txBox="1"/>
                  <p:nvPr/>
                </p:nvSpPr>
                <p:spPr>
                  <a:xfrm>
                    <a:off x="15324" y="1378"/>
                    <a:ext cx="7244" cy="94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t">
                    <a:spAutoFit/>
                  </a:bodyPr>
                  <a:lstStyle/>
                  <a:p>
                    <a:pPr marL="0" indent="0">
                      <a:lnSpc>
                        <a:spcPct val="100000"/>
                      </a:lnSpc>
                      <a:spcBef>
                        <a:spcPts val="1200"/>
                      </a:spcBef>
                      <a:buFont typeface="Wingdings" panose="05000000000000000000" charset="0"/>
                      <a:buNone/>
                    </a:pPr>
                    <a14:m>
                      <m:oMath xmlns:m="http://schemas.openxmlformats.org/officeDocument/2006/math">
                        <m:r>
                          <a:rPr lang="en-US" sz="159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𝜋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 (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𝑙𝑜𝑔𝑖𝑠𝑡𝑖𝑐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ea typeface="Cambria Math" panose="02040503050406030204" charset="0"/>
                            <a:cs typeface="Cambria Math" panose="02040503050406030204" charset="0"/>
                          </a:rPr>
                          <m:t>𝜅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ea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ea typeface="Cambria Math" panose="02040503050406030204" charset="0"/>
                            <a:cs typeface="Cambria Math" panose="02040503050406030204" charset="0"/>
                          </a:rPr>
                          <m:t>𝛿</m:t>
                        </m:r>
                        <m:r>
                          <a:rPr lang="en-US" sz="159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a:rPr lang="en-US" sz="159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sz="159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 </m:t>
                        </m:r>
                      </m:oMath>
                    </a14:m>
                    <a:r>
                      <a:rPr lang="en-US" sz="1595" dirty="0">
                        <a:latin typeface="Arial" panose="020B0604020202020204" pitchFamily="34" charset="0"/>
                        <a:cs typeface="Arial" panose="020B0604020202020204" pitchFamily="34" charset="0"/>
                        <a:sym typeface="+mn-ea"/>
                      </a:rPr>
                      <a:t> </a:t>
                    </a:r>
                    <a:endParaRPr lang="en-US" altLang="en-US" sz="1595" dirty="0"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endParaRPr>
                  </a:p>
                </p:txBody>
              </p:sp>
            </mc:Choice>
            <mc:Fallback>
              <p:sp>
                <p:nvSpPr>
                  <p:cNvPr id="88" name="文本框 87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324" y="1378"/>
                    <a:ext cx="7244" cy="944"/>
                  </a:xfrm>
                  <a:prstGeom prst="rect">
                    <a:avLst/>
                  </a:prstGeom>
                  <a:blipFill rotWithShape="1">
                    <a:blip r:embed="rId6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61" name="文本框 60"/>
            <p:cNvSpPr txBox="1"/>
            <p:nvPr/>
          </p:nvSpPr>
          <p:spPr>
            <a:xfrm>
              <a:off x="6703" y="9322"/>
              <a:ext cx="4100" cy="82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133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Thinly built</a:t>
              </a:r>
              <a:endParaRPr lang="en-US" altLang="zh-CN" sz="1330">
                <a:solidFill>
                  <a:schemeClr val="bg1">
                    <a:lumMod val="50000"/>
                  </a:schemeClr>
                </a:solidFill>
                <a:latin typeface="+mn-lt"/>
                <a:cs typeface="+mn-lt"/>
                <a:sym typeface="+mn-ea"/>
              </a:endParaRPr>
            </a:p>
          </p:txBody>
        </p:sp>
        <p:sp>
          <p:nvSpPr>
            <p:cNvPr id="54" name="文本框 53"/>
            <p:cNvSpPr txBox="1"/>
            <p:nvPr/>
          </p:nvSpPr>
          <p:spPr>
            <a:xfrm>
              <a:off x="1050" y="9322"/>
              <a:ext cx="4604" cy="82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1330" dirty="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Uniformly sparse</a:t>
              </a:r>
              <a:endParaRPr lang="en-US" altLang="zh-CN" sz="1330" dirty="0">
                <a:solidFill>
                  <a:schemeClr val="bg1">
                    <a:lumMod val="50000"/>
                  </a:schemeClr>
                </a:solidFill>
                <a:latin typeface="+mn-lt"/>
                <a:cs typeface="+mn-lt"/>
                <a:sym typeface="+mn-ea"/>
              </a:endParaRPr>
            </a:p>
          </p:txBody>
        </p:sp>
        <p:sp>
          <p:nvSpPr>
            <p:cNvPr id="60" name="文本框 59"/>
            <p:cNvSpPr txBox="1"/>
            <p:nvPr/>
          </p:nvSpPr>
          <p:spPr>
            <a:xfrm>
              <a:off x="17634" y="9322"/>
              <a:ext cx="3810" cy="82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133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Core-dense</a:t>
              </a:r>
              <a:endParaRPr lang="en-US" altLang="zh-CN" sz="1330">
                <a:solidFill>
                  <a:schemeClr val="bg1">
                    <a:lumMod val="50000"/>
                  </a:schemeClr>
                </a:solidFill>
                <a:latin typeface="+mn-lt"/>
                <a:cs typeface="+mn-lt"/>
                <a:sym typeface="+mn-ea"/>
              </a:endParaRPr>
            </a:p>
          </p:txBody>
        </p:sp>
        <p:sp>
          <p:nvSpPr>
            <p:cNvPr id="62" name="文本框 61"/>
            <p:cNvSpPr txBox="1"/>
            <p:nvPr/>
          </p:nvSpPr>
          <p:spPr>
            <a:xfrm>
              <a:off x="11759" y="9322"/>
              <a:ext cx="4599" cy="82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133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Uniformly dense</a:t>
              </a:r>
              <a:endParaRPr lang="en-US" altLang="zh-CN" sz="1330">
                <a:solidFill>
                  <a:schemeClr val="bg1">
                    <a:lumMod val="50000"/>
                  </a:schemeClr>
                </a:solidFill>
                <a:latin typeface="+mn-lt"/>
                <a:cs typeface="+mn-lt"/>
                <a:sym typeface="+mn-ea"/>
              </a:endParaRPr>
            </a:p>
          </p:txBody>
        </p:sp>
      </p:grpSp>
    </p:spTree>
  </p:cSld>
  <p:clrMapOvr>
    <a:masterClrMapping/>
  </p:clrMapOvr>
  <p:transition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组合 71"/>
          <p:cNvGrpSpPr/>
          <p:nvPr/>
        </p:nvGrpSpPr>
        <p:grpSpPr>
          <a:xfrm>
            <a:off x="3554730" y="2071370"/>
            <a:ext cx="7552055" cy="3625215"/>
            <a:chOff x="5599" y="8364"/>
            <a:chExt cx="11893" cy="5709"/>
          </a:xfrm>
        </p:grpSpPr>
        <p:sp>
          <p:nvSpPr>
            <p:cNvPr id="73" name="矩形 72"/>
            <p:cNvSpPr/>
            <p:nvPr/>
          </p:nvSpPr>
          <p:spPr>
            <a:xfrm>
              <a:off x="5600" y="8364"/>
              <a:ext cx="11893" cy="554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pic>
          <p:nvPicPr>
            <p:cNvPr id="3" name="图片 2"/>
            <p:cNvPicPr/>
            <p:nvPr/>
          </p:nvPicPr>
          <p:blipFill>
            <a:blip r:embed="rId1"/>
            <a:srcRect t="6059" r="30212" b="5321"/>
            <a:stretch>
              <a:fillRect/>
            </a:stretch>
          </p:blipFill>
          <p:spPr>
            <a:xfrm>
              <a:off x="11079" y="8810"/>
              <a:ext cx="5538" cy="3513"/>
            </a:xfrm>
            <a:prstGeom prst="rect">
              <a:avLst/>
            </a:prstGeom>
          </p:spPr>
        </p:pic>
        <p:pic>
          <p:nvPicPr>
            <p:cNvPr id="2" name="图片 1"/>
            <p:cNvPicPr/>
            <p:nvPr/>
          </p:nvPicPr>
          <p:blipFill>
            <a:blip r:embed="rId2"/>
            <a:srcRect t="6058" r="32331" b="5235"/>
            <a:stretch>
              <a:fillRect/>
            </a:stretch>
          </p:blipFill>
          <p:spPr>
            <a:xfrm>
              <a:off x="5599" y="8848"/>
              <a:ext cx="5214" cy="3417"/>
            </a:xfrm>
            <a:prstGeom prst="rect">
              <a:avLst/>
            </a:prstGeom>
          </p:spPr>
        </p:pic>
        <p:sp>
          <p:nvSpPr>
            <p:cNvPr id="55" name="文本框 54"/>
            <p:cNvSpPr txBox="1"/>
            <p:nvPr/>
          </p:nvSpPr>
          <p:spPr>
            <a:xfrm>
              <a:off x="11917" y="12232"/>
              <a:ext cx="993" cy="39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015"/>
                <a:t>Africa</a:t>
              </a:r>
              <a:endParaRPr lang="en-US" altLang="zh-CN" sz="1015"/>
            </a:p>
          </p:txBody>
        </p:sp>
        <p:sp>
          <p:nvSpPr>
            <p:cNvPr id="56" name="文本框 55"/>
            <p:cNvSpPr txBox="1"/>
            <p:nvPr/>
          </p:nvSpPr>
          <p:spPr>
            <a:xfrm>
              <a:off x="13193" y="12230"/>
              <a:ext cx="1758" cy="6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015"/>
                <a:t>South &amp; Southeast Asia</a:t>
              </a:r>
              <a:endParaRPr lang="en-US" altLang="zh-CN" sz="1015"/>
            </a:p>
          </p:txBody>
        </p:sp>
        <p:sp>
          <p:nvSpPr>
            <p:cNvPr id="57" name="文本框 56"/>
            <p:cNvSpPr txBox="1"/>
            <p:nvPr/>
          </p:nvSpPr>
          <p:spPr>
            <a:xfrm>
              <a:off x="15010" y="12233"/>
              <a:ext cx="1122" cy="6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015">
                  <a:ea typeface="宋体" panose="02010600030101010101" pitchFamily="2" charset="-122"/>
                </a:rPr>
                <a:t>Latin</a:t>
              </a:r>
              <a:endParaRPr lang="en-US" altLang="zh-CN" sz="1015">
                <a:ea typeface="宋体" panose="02010600030101010101" pitchFamily="2" charset="-122"/>
              </a:endParaRPr>
            </a:p>
            <a:p>
              <a:pPr algn="ctr"/>
              <a:r>
                <a:rPr lang="en-US" altLang="zh-CN" sz="1015">
                  <a:ea typeface="宋体" panose="02010600030101010101" pitchFamily="2" charset="-122"/>
                </a:rPr>
                <a:t>America</a:t>
              </a:r>
              <a:endParaRPr lang="en-US" altLang="zh-CN" sz="1015">
                <a:ea typeface="宋体" panose="02010600030101010101" pitchFamily="2" charset="-122"/>
              </a:endParaRPr>
            </a:p>
          </p:txBody>
        </p:sp>
        <p:sp>
          <p:nvSpPr>
            <p:cNvPr id="64" name="文本框 63"/>
            <p:cNvSpPr txBox="1"/>
            <p:nvPr/>
          </p:nvSpPr>
          <p:spPr>
            <a:xfrm>
              <a:off x="11834" y="8810"/>
              <a:ext cx="578" cy="5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790"/>
                <a:t>2016</a:t>
              </a:r>
              <a:endParaRPr lang="en-US" altLang="zh-CN" sz="790"/>
            </a:p>
          </p:txBody>
        </p:sp>
        <p:sp>
          <p:nvSpPr>
            <p:cNvPr id="65" name="文本框 64"/>
            <p:cNvSpPr txBox="1"/>
            <p:nvPr/>
          </p:nvSpPr>
          <p:spPr>
            <a:xfrm>
              <a:off x="12438" y="8810"/>
              <a:ext cx="578" cy="5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790"/>
                <a:t>2023</a:t>
              </a:r>
              <a:endParaRPr lang="en-US" altLang="zh-CN" sz="790"/>
            </a:p>
          </p:txBody>
        </p:sp>
        <p:sp>
          <p:nvSpPr>
            <p:cNvPr id="66" name="文本框 65"/>
            <p:cNvSpPr txBox="1"/>
            <p:nvPr/>
          </p:nvSpPr>
          <p:spPr>
            <a:xfrm>
              <a:off x="13382" y="8810"/>
              <a:ext cx="578" cy="5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790"/>
                <a:t>2016</a:t>
              </a:r>
              <a:endParaRPr lang="en-US" altLang="zh-CN" sz="790"/>
            </a:p>
          </p:txBody>
        </p:sp>
        <p:sp>
          <p:nvSpPr>
            <p:cNvPr id="67" name="文本框 66"/>
            <p:cNvSpPr txBox="1"/>
            <p:nvPr/>
          </p:nvSpPr>
          <p:spPr>
            <a:xfrm>
              <a:off x="13986" y="8810"/>
              <a:ext cx="578" cy="5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790"/>
                <a:t>2023</a:t>
              </a:r>
              <a:endParaRPr lang="en-US" altLang="zh-CN" sz="790"/>
            </a:p>
          </p:txBody>
        </p:sp>
        <p:sp>
          <p:nvSpPr>
            <p:cNvPr id="68" name="文本框 67"/>
            <p:cNvSpPr txBox="1"/>
            <p:nvPr/>
          </p:nvSpPr>
          <p:spPr>
            <a:xfrm>
              <a:off x="14987" y="8810"/>
              <a:ext cx="578" cy="5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790"/>
                <a:t>2016</a:t>
              </a:r>
              <a:endParaRPr lang="en-US" altLang="zh-CN" sz="790"/>
            </a:p>
          </p:txBody>
        </p:sp>
        <p:sp>
          <p:nvSpPr>
            <p:cNvPr id="69" name="文本框 68"/>
            <p:cNvSpPr txBox="1"/>
            <p:nvPr/>
          </p:nvSpPr>
          <p:spPr>
            <a:xfrm>
              <a:off x="15591" y="8810"/>
              <a:ext cx="578" cy="5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790"/>
                <a:t>2023</a:t>
              </a:r>
              <a:endParaRPr lang="en-US" altLang="zh-CN" sz="790"/>
            </a:p>
          </p:txBody>
        </p:sp>
        <p:sp>
          <p:nvSpPr>
            <p:cNvPr id="14" name="矩形 13"/>
            <p:cNvSpPr/>
            <p:nvPr/>
          </p:nvSpPr>
          <p:spPr>
            <a:xfrm>
              <a:off x="6195" y="13258"/>
              <a:ext cx="415" cy="249"/>
            </a:xfrm>
            <a:prstGeom prst="rect">
              <a:avLst/>
            </a:prstGeom>
            <a:solidFill>
              <a:srgbClr val="9EDAE5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6680" y="13222"/>
              <a:ext cx="1918" cy="5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Uniformly Developable</a:t>
              </a:r>
              <a:endParaRPr lang="en-US" altLang="zh-CN" sz="845"/>
            </a:p>
          </p:txBody>
        </p:sp>
        <p:sp>
          <p:nvSpPr>
            <p:cNvPr id="16" name="矩形 15"/>
            <p:cNvSpPr/>
            <p:nvPr/>
          </p:nvSpPr>
          <p:spPr>
            <a:xfrm>
              <a:off x="6195" y="13568"/>
              <a:ext cx="415" cy="249"/>
            </a:xfrm>
            <a:prstGeom prst="rect">
              <a:avLst/>
            </a:prstGeom>
            <a:solidFill>
              <a:srgbClr val="F7B6D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17" name="文本框 16"/>
            <p:cNvSpPr txBox="1"/>
            <p:nvPr/>
          </p:nvSpPr>
          <p:spPr>
            <a:xfrm>
              <a:off x="6680" y="13531"/>
              <a:ext cx="2076" cy="3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Uniformly Constrianed</a:t>
              </a:r>
              <a:endParaRPr lang="en-US" altLang="zh-CN" sz="845"/>
            </a:p>
          </p:txBody>
        </p:sp>
        <p:sp>
          <p:nvSpPr>
            <p:cNvPr id="18" name="矩形 17"/>
            <p:cNvSpPr/>
            <p:nvPr/>
          </p:nvSpPr>
          <p:spPr>
            <a:xfrm>
              <a:off x="8824" y="13246"/>
              <a:ext cx="415" cy="249"/>
            </a:xfrm>
            <a:prstGeom prst="rect">
              <a:avLst/>
            </a:prstGeom>
            <a:solidFill>
              <a:srgbClr val="D62728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19" name="矩形 18"/>
            <p:cNvSpPr/>
            <p:nvPr/>
          </p:nvSpPr>
          <p:spPr>
            <a:xfrm>
              <a:off x="8824" y="13556"/>
              <a:ext cx="415" cy="249"/>
            </a:xfrm>
            <a:prstGeom prst="rect">
              <a:avLst/>
            </a:prstGeom>
            <a:solidFill>
              <a:srgbClr val="1F77B4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20" name="文本框 19"/>
            <p:cNvSpPr txBox="1"/>
            <p:nvPr/>
          </p:nvSpPr>
          <p:spPr>
            <a:xfrm>
              <a:off x="9304" y="13234"/>
              <a:ext cx="2272" cy="3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Core-Open, Edge-Locked</a:t>
              </a:r>
              <a:endParaRPr lang="en-US" altLang="zh-CN" sz="845"/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9304" y="13519"/>
              <a:ext cx="2272" cy="5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Core-Limited, Edge-Locked</a:t>
              </a:r>
              <a:endParaRPr lang="en-US" altLang="zh-CN" sz="845"/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7254" y="12936"/>
              <a:ext cx="3164" cy="3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845" b="1">
                  <a:latin typeface="Arial" panose="020B0604020202020204" pitchFamily="34" charset="0"/>
                  <a:cs typeface="Arial" panose="020B0604020202020204" pitchFamily="34" charset="0"/>
                </a:rPr>
                <a:t>α-β Categories</a:t>
              </a:r>
              <a:endParaRPr lang="en-US" altLang="zh-CN" sz="845" b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" name="文本框 30"/>
            <p:cNvSpPr txBox="1"/>
            <p:nvPr/>
          </p:nvSpPr>
          <p:spPr>
            <a:xfrm>
              <a:off x="5600" y="8364"/>
              <a:ext cx="5213" cy="4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350"/>
                <a:t>(a) Horizontal Constraint Types</a:t>
              </a:r>
              <a:endParaRPr lang="en-US" altLang="zh-CN" sz="1350"/>
            </a:p>
          </p:txBody>
        </p:sp>
        <p:sp>
          <p:nvSpPr>
            <p:cNvPr id="36" name="文本框 35"/>
            <p:cNvSpPr txBox="1"/>
            <p:nvPr/>
          </p:nvSpPr>
          <p:spPr>
            <a:xfrm>
              <a:off x="10966" y="8364"/>
              <a:ext cx="6113" cy="4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350"/>
                <a:t>(b) Horizontal Construction Types</a:t>
              </a:r>
              <a:endParaRPr lang="en-US" altLang="zh-CN" sz="1350"/>
            </a:p>
          </p:txBody>
        </p:sp>
        <p:sp>
          <p:nvSpPr>
            <p:cNvPr id="46" name="矩形 45"/>
            <p:cNvSpPr/>
            <p:nvPr/>
          </p:nvSpPr>
          <p:spPr>
            <a:xfrm>
              <a:off x="12094" y="13258"/>
              <a:ext cx="415" cy="249"/>
            </a:xfrm>
            <a:prstGeom prst="rect">
              <a:avLst/>
            </a:prstGeom>
            <a:solidFill>
              <a:srgbClr val="B3B3B3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47" name="文本框 46"/>
            <p:cNvSpPr txBox="1"/>
            <p:nvPr/>
          </p:nvSpPr>
          <p:spPr>
            <a:xfrm>
              <a:off x="12579" y="13222"/>
              <a:ext cx="3164" cy="3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Uniformly Sparse</a:t>
              </a:r>
              <a:endParaRPr lang="en-US" altLang="zh-CN" sz="845"/>
            </a:p>
          </p:txBody>
        </p:sp>
        <p:sp>
          <p:nvSpPr>
            <p:cNvPr id="48" name="矩形 47"/>
            <p:cNvSpPr/>
            <p:nvPr/>
          </p:nvSpPr>
          <p:spPr>
            <a:xfrm>
              <a:off x="12094" y="13568"/>
              <a:ext cx="415" cy="249"/>
            </a:xfrm>
            <a:prstGeom prst="rect">
              <a:avLst/>
            </a:prstGeom>
            <a:solidFill>
              <a:srgbClr val="FFD92F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49" name="文本框 48"/>
            <p:cNvSpPr txBox="1"/>
            <p:nvPr/>
          </p:nvSpPr>
          <p:spPr>
            <a:xfrm>
              <a:off x="12579" y="13543"/>
              <a:ext cx="3165" cy="3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Uniformly Dense</a:t>
              </a:r>
              <a:endParaRPr lang="en-US" altLang="zh-CN" sz="845"/>
            </a:p>
          </p:txBody>
        </p:sp>
        <p:sp>
          <p:nvSpPr>
            <p:cNvPr id="50" name="矩形 49"/>
            <p:cNvSpPr/>
            <p:nvPr/>
          </p:nvSpPr>
          <p:spPr>
            <a:xfrm>
              <a:off x="14092" y="13246"/>
              <a:ext cx="415" cy="249"/>
            </a:xfrm>
            <a:prstGeom prst="rect">
              <a:avLst/>
            </a:prstGeom>
            <a:solidFill>
              <a:srgbClr val="8DA0CB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51" name="矩形 50"/>
            <p:cNvSpPr/>
            <p:nvPr/>
          </p:nvSpPr>
          <p:spPr>
            <a:xfrm>
              <a:off x="14092" y="13556"/>
              <a:ext cx="415" cy="249"/>
            </a:xfrm>
            <a:prstGeom prst="rect">
              <a:avLst/>
            </a:prstGeom>
            <a:solidFill>
              <a:srgbClr val="66C2A5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52" name="文本框 51"/>
            <p:cNvSpPr txBox="1"/>
            <p:nvPr/>
          </p:nvSpPr>
          <p:spPr>
            <a:xfrm>
              <a:off x="14572" y="13234"/>
              <a:ext cx="2506" cy="5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Small-Core, Sparse-Periphery</a:t>
              </a:r>
              <a:endParaRPr lang="en-US" altLang="zh-CN" sz="845"/>
            </a:p>
          </p:txBody>
        </p:sp>
        <p:sp>
          <p:nvSpPr>
            <p:cNvPr id="53" name="文本框 52"/>
            <p:cNvSpPr txBox="1"/>
            <p:nvPr/>
          </p:nvSpPr>
          <p:spPr>
            <a:xfrm>
              <a:off x="14572" y="13519"/>
              <a:ext cx="2507" cy="5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Dense-Core, Sparse-Periphery</a:t>
              </a:r>
              <a:endParaRPr lang="en-US" altLang="zh-CN" sz="845"/>
            </a:p>
          </p:txBody>
        </p:sp>
        <p:sp>
          <p:nvSpPr>
            <p:cNvPr id="54" name="文本框 53"/>
            <p:cNvSpPr txBox="1"/>
            <p:nvPr/>
          </p:nvSpPr>
          <p:spPr>
            <a:xfrm>
              <a:off x="12952" y="12900"/>
              <a:ext cx="3164" cy="3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845" b="1">
                  <a:latin typeface="Arial" panose="020B0604020202020204" pitchFamily="34" charset="0"/>
                  <a:cs typeface="Arial" panose="020B0604020202020204" pitchFamily="34" charset="0"/>
                </a:rPr>
                <a:t>κ-δ Categories</a:t>
              </a:r>
              <a:endParaRPr lang="en-US" altLang="zh-CN" sz="845" b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70" name="组合 69"/>
            <p:cNvGrpSpPr/>
            <p:nvPr/>
          </p:nvGrpSpPr>
          <p:grpSpPr>
            <a:xfrm rot="0">
              <a:off x="6298" y="8820"/>
              <a:ext cx="4295" cy="4046"/>
              <a:chOff x="3143" y="2576"/>
              <a:chExt cx="6906" cy="6504"/>
            </a:xfrm>
          </p:grpSpPr>
          <p:sp>
            <p:nvSpPr>
              <p:cNvPr id="10" name="文本框 9"/>
              <p:cNvSpPr txBox="1"/>
              <p:nvPr/>
            </p:nvSpPr>
            <p:spPr>
              <a:xfrm>
                <a:off x="3279" y="8057"/>
                <a:ext cx="1602" cy="6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015"/>
                  <a:t>Africa</a:t>
                </a:r>
                <a:endParaRPr lang="en-US" altLang="zh-CN" sz="1015"/>
              </a:p>
            </p:txBody>
          </p:sp>
          <p:sp>
            <p:nvSpPr>
              <p:cNvPr id="11" name="文本框 10"/>
              <p:cNvSpPr txBox="1"/>
              <p:nvPr/>
            </p:nvSpPr>
            <p:spPr>
              <a:xfrm>
                <a:off x="5187" y="8058"/>
                <a:ext cx="2769" cy="10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015"/>
                  <a:t>South &amp; Southeast Asia</a:t>
                </a:r>
                <a:endParaRPr lang="en-US" altLang="zh-CN" sz="1015"/>
              </a:p>
            </p:txBody>
          </p:sp>
          <p:sp>
            <p:nvSpPr>
              <p:cNvPr id="12" name="文本框 11"/>
              <p:cNvSpPr txBox="1"/>
              <p:nvPr/>
            </p:nvSpPr>
            <p:spPr>
              <a:xfrm>
                <a:off x="8099" y="8058"/>
                <a:ext cx="1810" cy="10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015">
                    <a:ea typeface="宋体" panose="02010600030101010101" pitchFamily="2" charset="-122"/>
                  </a:rPr>
                  <a:t>Latin</a:t>
                </a:r>
                <a:endParaRPr lang="en-US" altLang="zh-CN" sz="1015">
                  <a:ea typeface="宋体" panose="02010600030101010101" pitchFamily="2" charset="-122"/>
                </a:endParaRPr>
              </a:p>
              <a:p>
                <a:pPr algn="ctr"/>
                <a:r>
                  <a:rPr lang="en-US" altLang="zh-CN" sz="1015">
                    <a:ea typeface="宋体" panose="02010600030101010101" pitchFamily="2" charset="-122"/>
                  </a:rPr>
                  <a:t>America</a:t>
                </a:r>
                <a:endParaRPr lang="en-US" altLang="zh-CN" sz="1015">
                  <a:ea typeface="宋体" panose="02010600030101010101" pitchFamily="2" charset="-122"/>
                </a:endParaRPr>
              </a:p>
            </p:txBody>
          </p:sp>
          <p:sp>
            <p:nvSpPr>
              <p:cNvPr id="58" name="文本框 57"/>
              <p:cNvSpPr txBox="1"/>
              <p:nvPr/>
            </p:nvSpPr>
            <p:spPr>
              <a:xfrm>
                <a:off x="3143" y="2576"/>
                <a:ext cx="933" cy="8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2016</a:t>
                </a:r>
                <a:endParaRPr lang="en-US" altLang="zh-CN" sz="790"/>
              </a:p>
            </p:txBody>
          </p:sp>
          <p:sp>
            <p:nvSpPr>
              <p:cNvPr id="59" name="文本框 58"/>
              <p:cNvSpPr txBox="1"/>
              <p:nvPr/>
            </p:nvSpPr>
            <p:spPr>
              <a:xfrm>
                <a:off x="4118" y="2576"/>
                <a:ext cx="933" cy="8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2023</a:t>
                </a:r>
                <a:endParaRPr lang="en-US" altLang="zh-CN" sz="790"/>
              </a:p>
            </p:txBody>
          </p:sp>
          <p:sp>
            <p:nvSpPr>
              <p:cNvPr id="60" name="文本框 59"/>
              <p:cNvSpPr txBox="1"/>
              <p:nvPr/>
            </p:nvSpPr>
            <p:spPr>
              <a:xfrm>
                <a:off x="5642" y="2576"/>
                <a:ext cx="933" cy="8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2016</a:t>
                </a:r>
                <a:endParaRPr lang="en-US" altLang="zh-CN" sz="790"/>
              </a:p>
            </p:txBody>
          </p:sp>
          <p:sp>
            <p:nvSpPr>
              <p:cNvPr id="61" name="文本框 60"/>
              <p:cNvSpPr txBox="1"/>
              <p:nvPr/>
            </p:nvSpPr>
            <p:spPr>
              <a:xfrm>
                <a:off x="6617" y="2576"/>
                <a:ext cx="933" cy="8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2023</a:t>
                </a:r>
                <a:endParaRPr lang="en-US" altLang="zh-CN" sz="790"/>
              </a:p>
            </p:txBody>
          </p:sp>
          <p:sp>
            <p:nvSpPr>
              <p:cNvPr id="62" name="文本框 61"/>
              <p:cNvSpPr txBox="1"/>
              <p:nvPr/>
            </p:nvSpPr>
            <p:spPr>
              <a:xfrm>
                <a:off x="8141" y="2576"/>
                <a:ext cx="933" cy="8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2016</a:t>
                </a:r>
                <a:endParaRPr lang="en-US" altLang="zh-CN" sz="790"/>
              </a:p>
            </p:txBody>
          </p:sp>
          <p:sp>
            <p:nvSpPr>
              <p:cNvPr id="63" name="文本框 62"/>
              <p:cNvSpPr txBox="1"/>
              <p:nvPr/>
            </p:nvSpPr>
            <p:spPr>
              <a:xfrm>
                <a:off x="9116" y="2576"/>
                <a:ext cx="933" cy="8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2023</a:t>
                </a:r>
                <a:endParaRPr lang="en-US" altLang="zh-CN" sz="790"/>
              </a:p>
            </p:txBody>
          </p:sp>
        </p:grpSp>
      </p:grpSp>
      <p:grpSp>
        <p:nvGrpSpPr>
          <p:cNvPr id="9" name="组合 8"/>
          <p:cNvGrpSpPr/>
          <p:nvPr/>
        </p:nvGrpSpPr>
        <p:grpSpPr>
          <a:xfrm>
            <a:off x="5178425" y="7110730"/>
            <a:ext cx="4069715" cy="3889375"/>
            <a:chOff x="5457" y="1090"/>
            <a:chExt cx="10553" cy="10888"/>
          </a:xfrm>
        </p:grpSpPr>
        <p:sp>
          <p:nvSpPr>
            <p:cNvPr id="4" name="矩形 3"/>
            <p:cNvSpPr/>
            <p:nvPr/>
          </p:nvSpPr>
          <p:spPr>
            <a:xfrm>
              <a:off x="5457" y="1090"/>
              <a:ext cx="10553" cy="1077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pic>
          <p:nvPicPr>
            <p:cNvPr id="8" name="图片 7"/>
            <p:cNvPicPr/>
            <p:nvPr/>
          </p:nvPicPr>
          <p:blipFill>
            <a:blip r:embed="rId3"/>
            <a:srcRect r="23787" b="5455"/>
            <a:stretch>
              <a:fillRect/>
            </a:stretch>
          </p:blipFill>
          <p:spPr>
            <a:xfrm>
              <a:off x="5683" y="2161"/>
              <a:ext cx="9394" cy="5868"/>
            </a:xfrm>
            <a:prstGeom prst="rect">
              <a:avLst/>
            </a:prstGeom>
          </p:spPr>
        </p:pic>
        <p:sp>
          <p:nvSpPr>
            <p:cNvPr id="5" name="文本框 4"/>
            <p:cNvSpPr txBox="1"/>
            <p:nvPr/>
          </p:nvSpPr>
          <p:spPr>
            <a:xfrm>
              <a:off x="6120" y="1175"/>
              <a:ext cx="9268" cy="8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350" dirty="0"/>
                <a:t>Vertical - Height</a:t>
              </a:r>
              <a:endParaRPr lang="en-US" altLang="zh-CN" sz="1350" dirty="0"/>
            </a:p>
          </p:txBody>
        </p:sp>
        <p:sp>
          <p:nvSpPr>
            <p:cNvPr id="6" name="文本框 5"/>
            <p:cNvSpPr txBox="1"/>
            <p:nvPr/>
          </p:nvSpPr>
          <p:spPr>
            <a:xfrm>
              <a:off x="8369" y="9019"/>
              <a:ext cx="5625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845" b="1">
                  <a:latin typeface="Arial" panose="020B0604020202020204" pitchFamily="34" charset="0"/>
                  <a:cs typeface="Arial" panose="020B0604020202020204" pitchFamily="34" charset="0"/>
                </a:rPr>
                <a:t>Vertical Profile Categories</a:t>
              </a:r>
              <a:endParaRPr lang="en-US" altLang="zh-CN" sz="845" b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7" name="组合 6"/>
            <p:cNvGrpSpPr/>
            <p:nvPr/>
          </p:nvGrpSpPr>
          <p:grpSpPr>
            <a:xfrm>
              <a:off x="6974" y="1967"/>
              <a:ext cx="7820" cy="7193"/>
              <a:chOff x="3143" y="2576"/>
              <a:chExt cx="7072" cy="6504"/>
            </a:xfrm>
          </p:grpSpPr>
          <p:sp>
            <p:nvSpPr>
              <p:cNvPr id="13" name="文本框 12"/>
              <p:cNvSpPr txBox="1"/>
              <p:nvPr/>
            </p:nvSpPr>
            <p:spPr>
              <a:xfrm>
                <a:off x="3279" y="8057"/>
                <a:ext cx="1602" cy="6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015"/>
                  <a:t>Africa</a:t>
                </a:r>
                <a:endParaRPr lang="en-US" altLang="zh-CN" sz="1015"/>
              </a:p>
            </p:txBody>
          </p:sp>
          <p:sp>
            <p:nvSpPr>
              <p:cNvPr id="22" name="文本框 21"/>
              <p:cNvSpPr txBox="1"/>
              <p:nvPr/>
            </p:nvSpPr>
            <p:spPr>
              <a:xfrm>
                <a:off x="5397" y="8058"/>
                <a:ext cx="2558" cy="10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015"/>
                  <a:t>South &amp; Southeast Asia</a:t>
                </a:r>
                <a:endParaRPr lang="en-US" altLang="zh-CN" sz="1015"/>
              </a:p>
            </p:txBody>
          </p:sp>
          <p:sp>
            <p:nvSpPr>
              <p:cNvPr id="23" name="文本框 22"/>
              <p:cNvSpPr txBox="1"/>
              <p:nvPr/>
            </p:nvSpPr>
            <p:spPr>
              <a:xfrm>
                <a:off x="8099" y="7743"/>
                <a:ext cx="2116" cy="9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015">
                    <a:ea typeface="宋体" panose="02010600030101010101" pitchFamily="2" charset="-122"/>
                  </a:rPr>
                  <a:t>Latin</a:t>
                </a:r>
                <a:endParaRPr lang="en-US" altLang="zh-CN" sz="1015">
                  <a:ea typeface="宋体" panose="02010600030101010101" pitchFamily="2" charset="-122"/>
                </a:endParaRPr>
              </a:p>
              <a:p>
                <a:pPr algn="ctr"/>
                <a:r>
                  <a:rPr lang="en-US" altLang="zh-CN" sz="1015">
                    <a:ea typeface="宋体" panose="02010600030101010101" pitchFamily="2" charset="-122"/>
                  </a:rPr>
                  <a:t>America</a:t>
                </a:r>
                <a:endParaRPr lang="en-US" altLang="zh-CN" sz="1015">
                  <a:ea typeface="宋体" panose="02010600030101010101" pitchFamily="2" charset="-122"/>
                </a:endParaRPr>
              </a:p>
            </p:txBody>
          </p:sp>
          <p:sp>
            <p:nvSpPr>
              <p:cNvPr id="24" name="文本框 23"/>
              <p:cNvSpPr txBox="1"/>
              <p:nvPr/>
            </p:nvSpPr>
            <p:spPr>
              <a:xfrm>
                <a:off x="3143" y="2576"/>
                <a:ext cx="933" cy="7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2016</a:t>
                </a:r>
                <a:endParaRPr lang="en-US" altLang="zh-CN" sz="790"/>
              </a:p>
            </p:txBody>
          </p:sp>
          <p:sp>
            <p:nvSpPr>
              <p:cNvPr id="25" name="文本框 24"/>
              <p:cNvSpPr txBox="1"/>
              <p:nvPr/>
            </p:nvSpPr>
            <p:spPr>
              <a:xfrm>
                <a:off x="4118" y="2576"/>
                <a:ext cx="933" cy="7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2023</a:t>
                </a:r>
                <a:endParaRPr lang="en-US" altLang="zh-CN" sz="790"/>
              </a:p>
            </p:txBody>
          </p:sp>
          <p:sp>
            <p:nvSpPr>
              <p:cNvPr id="26" name="文本框 25"/>
              <p:cNvSpPr txBox="1"/>
              <p:nvPr/>
            </p:nvSpPr>
            <p:spPr>
              <a:xfrm>
                <a:off x="5642" y="2576"/>
                <a:ext cx="933" cy="7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2016</a:t>
                </a:r>
                <a:endParaRPr lang="en-US" altLang="zh-CN" sz="790"/>
              </a:p>
            </p:txBody>
          </p:sp>
          <p:sp>
            <p:nvSpPr>
              <p:cNvPr id="27" name="文本框 26"/>
              <p:cNvSpPr txBox="1"/>
              <p:nvPr/>
            </p:nvSpPr>
            <p:spPr>
              <a:xfrm>
                <a:off x="6617" y="2576"/>
                <a:ext cx="933" cy="7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2023</a:t>
                </a:r>
                <a:endParaRPr lang="en-US" altLang="zh-CN" sz="790"/>
              </a:p>
            </p:txBody>
          </p:sp>
          <p:sp>
            <p:nvSpPr>
              <p:cNvPr id="28" name="文本框 27"/>
              <p:cNvSpPr txBox="1"/>
              <p:nvPr/>
            </p:nvSpPr>
            <p:spPr>
              <a:xfrm>
                <a:off x="8141" y="2576"/>
                <a:ext cx="933" cy="7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2016</a:t>
                </a:r>
                <a:endParaRPr lang="en-US" altLang="zh-CN" sz="790"/>
              </a:p>
            </p:txBody>
          </p:sp>
          <p:sp>
            <p:nvSpPr>
              <p:cNvPr id="30" name="文本框 29"/>
              <p:cNvSpPr txBox="1"/>
              <p:nvPr/>
            </p:nvSpPr>
            <p:spPr>
              <a:xfrm>
                <a:off x="9116" y="2576"/>
                <a:ext cx="933" cy="7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2023</a:t>
                </a:r>
                <a:endParaRPr lang="en-US" altLang="zh-CN" sz="790"/>
              </a:p>
            </p:txBody>
          </p:sp>
        </p:grpSp>
        <p:sp>
          <p:nvSpPr>
            <p:cNvPr id="32" name="矩形 31"/>
            <p:cNvSpPr/>
            <p:nvPr/>
          </p:nvSpPr>
          <p:spPr>
            <a:xfrm>
              <a:off x="7005" y="9636"/>
              <a:ext cx="619" cy="442"/>
            </a:xfrm>
            <a:prstGeom prst="rect">
              <a:avLst/>
            </a:prstGeom>
            <a:solidFill>
              <a:srgbClr val="66C2A5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33" name="矩形 32"/>
            <p:cNvSpPr/>
            <p:nvPr/>
          </p:nvSpPr>
          <p:spPr>
            <a:xfrm>
              <a:off x="7005" y="10214"/>
              <a:ext cx="619" cy="442"/>
            </a:xfrm>
            <a:prstGeom prst="rect">
              <a:avLst/>
            </a:prstGeom>
            <a:solidFill>
              <a:srgbClr val="FC8D6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34" name="文本框 33"/>
            <p:cNvSpPr txBox="1"/>
            <p:nvPr/>
          </p:nvSpPr>
          <p:spPr>
            <a:xfrm>
              <a:off x="7740" y="9636"/>
              <a:ext cx="3393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High-scale, Crown</a:t>
              </a:r>
              <a:endParaRPr lang="en-US" altLang="zh-CN" sz="845"/>
            </a:p>
          </p:txBody>
        </p:sp>
        <p:sp>
          <p:nvSpPr>
            <p:cNvPr id="35" name="文本框 34"/>
            <p:cNvSpPr txBox="1"/>
            <p:nvPr/>
          </p:nvSpPr>
          <p:spPr>
            <a:xfrm>
              <a:off x="7740" y="10182"/>
              <a:ext cx="3393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High-scale, Pyramid</a:t>
              </a:r>
              <a:endParaRPr lang="en-US" altLang="zh-CN" sz="845"/>
            </a:p>
          </p:txBody>
        </p:sp>
        <p:sp>
          <p:nvSpPr>
            <p:cNvPr id="37" name="矩形 36"/>
            <p:cNvSpPr/>
            <p:nvPr/>
          </p:nvSpPr>
          <p:spPr>
            <a:xfrm>
              <a:off x="7005" y="10792"/>
              <a:ext cx="619" cy="442"/>
            </a:xfrm>
            <a:prstGeom prst="rect">
              <a:avLst/>
            </a:prstGeom>
            <a:solidFill>
              <a:srgbClr val="8DA0CB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38" name="文本框 37"/>
            <p:cNvSpPr txBox="1"/>
            <p:nvPr/>
          </p:nvSpPr>
          <p:spPr>
            <a:xfrm>
              <a:off x="7740" y="10728"/>
              <a:ext cx="3393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High-scale, Volcanic</a:t>
              </a:r>
              <a:endParaRPr lang="en-US" altLang="zh-CN" sz="845"/>
            </a:p>
          </p:txBody>
        </p:sp>
        <p:sp>
          <p:nvSpPr>
            <p:cNvPr id="39" name="矩形 38"/>
            <p:cNvSpPr/>
            <p:nvPr/>
          </p:nvSpPr>
          <p:spPr>
            <a:xfrm>
              <a:off x="11399" y="10812"/>
              <a:ext cx="653" cy="442"/>
            </a:xfrm>
            <a:prstGeom prst="rect">
              <a:avLst/>
            </a:prstGeom>
            <a:solidFill>
              <a:srgbClr val="E5C494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40" name="文本框 39"/>
            <p:cNvSpPr txBox="1"/>
            <p:nvPr/>
          </p:nvSpPr>
          <p:spPr>
            <a:xfrm>
              <a:off x="12163" y="10784"/>
              <a:ext cx="3225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Low-scale, Pyramid</a:t>
              </a:r>
              <a:endParaRPr lang="en-US" altLang="zh-CN" sz="845"/>
            </a:p>
          </p:txBody>
        </p:sp>
        <p:sp>
          <p:nvSpPr>
            <p:cNvPr id="41" name="矩形 40"/>
            <p:cNvSpPr/>
            <p:nvPr/>
          </p:nvSpPr>
          <p:spPr>
            <a:xfrm>
              <a:off x="11399" y="9636"/>
              <a:ext cx="653" cy="442"/>
            </a:xfrm>
            <a:prstGeom prst="rect">
              <a:avLst/>
            </a:prstGeom>
            <a:solidFill>
              <a:srgbClr val="A6D854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42" name="矩形 41"/>
            <p:cNvSpPr/>
            <p:nvPr/>
          </p:nvSpPr>
          <p:spPr>
            <a:xfrm>
              <a:off x="11399" y="10242"/>
              <a:ext cx="653" cy="442"/>
            </a:xfrm>
            <a:prstGeom prst="rect">
              <a:avLst/>
            </a:prstGeom>
            <a:solidFill>
              <a:srgbClr val="FFD92F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43" name="文本框 42"/>
            <p:cNvSpPr txBox="1"/>
            <p:nvPr/>
          </p:nvSpPr>
          <p:spPr>
            <a:xfrm>
              <a:off x="12163" y="9636"/>
              <a:ext cx="3224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Low-scale, Bowl</a:t>
              </a:r>
              <a:endParaRPr lang="en-US" altLang="zh-CN" sz="845"/>
            </a:p>
          </p:txBody>
        </p:sp>
        <p:sp>
          <p:nvSpPr>
            <p:cNvPr id="44" name="文本框 43"/>
            <p:cNvSpPr txBox="1"/>
            <p:nvPr/>
          </p:nvSpPr>
          <p:spPr>
            <a:xfrm>
              <a:off x="12163" y="10210"/>
              <a:ext cx="3224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Low-scale, Crown</a:t>
              </a:r>
              <a:endParaRPr lang="en-US" altLang="zh-CN" sz="845"/>
            </a:p>
          </p:txBody>
        </p:sp>
        <p:sp>
          <p:nvSpPr>
            <p:cNvPr id="45" name="矩形 44"/>
            <p:cNvSpPr/>
            <p:nvPr/>
          </p:nvSpPr>
          <p:spPr>
            <a:xfrm>
              <a:off x="11399" y="11403"/>
              <a:ext cx="653" cy="442"/>
            </a:xfrm>
            <a:prstGeom prst="rect">
              <a:avLst/>
            </a:prstGeom>
            <a:solidFill>
              <a:srgbClr val="B3B3B3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71" name="文本框 70"/>
            <p:cNvSpPr txBox="1"/>
            <p:nvPr/>
          </p:nvSpPr>
          <p:spPr>
            <a:xfrm>
              <a:off x="12163" y="11358"/>
              <a:ext cx="3225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Low-scale, Volcanic</a:t>
              </a:r>
              <a:endParaRPr lang="en-US" altLang="zh-CN" sz="845"/>
            </a:p>
          </p:txBody>
        </p:sp>
      </p:grpSp>
    </p:spTree>
  </p:cSld>
  <p:clrMapOvr>
    <a:masterClrMapping/>
  </p:clrMapOvr>
  <p:transition/>
</p:sld>
</file>

<file path=ppt/tags/tag1.xml><?xml version="1.0" encoding="utf-8"?>
<p:tagLst xmlns:p="http://schemas.openxmlformats.org/presentationml/2006/main">
  <p:tag name="TABLE_ENDDRAG_ORIGIN_RECT" val="276*166"/>
  <p:tag name="TABLE_ENDDRAG_RECT" val="820*321*276*166"/>
</p:tagLst>
</file>

<file path=ppt/tags/tag2.xml><?xml version="1.0" encoding="utf-8"?>
<p:tagLst xmlns:p="http://schemas.openxmlformats.org/presentationml/2006/main">
  <p:tag name="TABLE_ENDDRAG_ORIGIN_RECT" val="276*166"/>
  <p:tag name="TABLE_ENDDRAG_RECT" val="820*321*276*166"/>
</p:tagLst>
</file>

<file path=ppt/theme/theme1.xml><?xml version="1.0" encoding="utf-8"?>
<a:theme xmlns:a="http://schemas.openxmlformats.org/drawingml/2006/main" name="WPS">
  <a:themeElements>
    <a:clrScheme name="Custom 1">
      <a:dk1>
        <a:srgbClr val="000000"/>
      </a:dk1>
      <a:lt1>
        <a:srgbClr val="FFFFFF"/>
      </a:lt1>
      <a:dk2>
        <a:srgbClr val="B6E1FF"/>
      </a:dk2>
      <a:lt2>
        <a:srgbClr val="4488FF"/>
      </a:lt2>
      <a:accent1>
        <a:srgbClr val="D3B137"/>
      </a:accent1>
      <a:accent2>
        <a:srgbClr val="FEF436"/>
      </a:accent2>
      <a:accent3>
        <a:srgbClr val="C577E2"/>
      </a:accent3>
      <a:accent4>
        <a:srgbClr val="DAC7FF"/>
      </a:accent4>
      <a:accent5>
        <a:srgbClr val="6EDC8B"/>
      </a:accent5>
      <a:accent6>
        <a:srgbClr val="2AB320"/>
      </a:accent6>
      <a:hlink>
        <a:srgbClr val="B6E1FF"/>
      </a:hlink>
      <a:folHlink>
        <a:srgbClr val="B6E1FF"/>
      </a:folHlink>
    </a:clrScheme>
    <a:fontScheme name="WPS">
      <a:majorFont>
        <a:latin typeface="Arial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Arial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Arial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7140</Words>
  <Application>WPS 演示</Application>
  <PresentationFormat>Custom</PresentationFormat>
  <Paragraphs>1175</Paragraphs>
  <Slides>16</Slides>
  <Notes>4</Notes>
  <HiddenSlides>5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16</vt:i4>
      </vt:variant>
    </vt:vector>
  </HeadingPairs>
  <TitlesOfParts>
    <vt:vector size="28" baseType="lpstr">
      <vt:lpstr>Arial</vt:lpstr>
      <vt:lpstr>宋体</vt:lpstr>
      <vt:lpstr>Wingdings</vt:lpstr>
      <vt:lpstr>Cambria Math</vt:lpstr>
      <vt:lpstr>MS Mincho</vt:lpstr>
      <vt:lpstr>Wingdings</vt:lpstr>
      <vt:lpstr>东文宋体</vt:lpstr>
      <vt:lpstr>微软雅黑</vt:lpstr>
      <vt:lpstr>Arial Unicode MS</vt:lpstr>
      <vt:lpstr>MS Gothic</vt:lpstr>
      <vt:lpstr>文泉驿正黑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April Liang</cp:lastModifiedBy>
  <cp:revision>39</cp:revision>
  <dcterms:created xsi:type="dcterms:W3CDTF">2026-05-22T16:15:56Z</dcterms:created>
  <dcterms:modified xsi:type="dcterms:W3CDTF">2026-05-22T16:15:56Z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2052-12.1.2.25882</vt:lpwstr>
  </property>
  <property fmtid="{D5CDD505-2E9C-101B-9397-08002B2CF9AE}" pid="3" name="ICV">
    <vt:lpwstr>0364E104D99840A39D3DA0694DD01CB9_41</vt:lpwstr>
  </property>
</Properties>
</file>