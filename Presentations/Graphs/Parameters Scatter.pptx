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8"/>
  </p:handoutMasterIdLst>
  <p:sldIdLst>
    <p:sldId id="256" r:id="rId3"/>
    <p:sldId id="257" r:id="rId4"/>
    <p:sldId id="258" r:id="rId6"/>
    <p:sldId id="262" r:id="rId7"/>
    <p:sldId id="263" r:id="rId8"/>
    <p:sldId id="264" r:id="rId9"/>
    <p:sldId id="260" r:id="rId10"/>
    <p:sldId id="267" r:id="rId11"/>
    <p:sldId id="269" r:id="rId12"/>
    <p:sldId id="259" r:id="rId13"/>
    <p:sldId id="266" r:id="rId14"/>
    <p:sldId id="261" r:id="rId15"/>
    <p:sldId id="265" r:id="rId16"/>
    <p:sldId id="268" r:id="rId17"/>
  </p:sldIdLst>
  <p:sldSz cx="14399895" cy="809942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81244984-ffb1-4a92-8f35-ff698557d6d0}">
          <p14:sldIdLst>
            <p14:sldId id="256"/>
            <p14:sldId id="257"/>
            <p14:sldId id="258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7"/>
            <p14:sldId id="269"/>
            <p14:sldId id="259"/>
            <p14:sldId id="266"/>
            <p14:sldId id="261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551" userDrawn="1">
          <p15:clr>
            <a:srgbClr val="A4A3A4"/>
          </p15:clr>
        </p15:guide>
        <p15:guide id="2" pos="444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9467BD"/>
    <a:srgbClr val="2CA02C"/>
    <a:srgbClr val="1F77B4"/>
    <a:srgbClr val="3C9749"/>
    <a:srgbClr val="A884C9"/>
    <a:srgbClr val="A985CA"/>
    <a:srgbClr val="7FC6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551"/>
        <p:guide pos="444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1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1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8.png"/><Relationship Id="rId8" Type="http://schemas.openxmlformats.org/officeDocument/2006/relationships/image" Target="../media/image47.png"/><Relationship Id="rId7" Type="http://schemas.openxmlformats.org/officeDocument/2006/relationships/image" Target="../media/image46.png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51.png"/><Relationship Id="rId11" Type="http://schemas.openxmlformats.org/officeDocument/2006/relationships/image" Target="../media/image50.png"/><Relationship Id="rId10" Type="http://schemas.openxmlformats.org/officeDocument/2006/relationships/image" Target="../media/image49.png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60.png"/><Relationship Id="rId8" Type="http://schemas.openxmlformats.org/officeDocument/2006/relationships/image" Target="../media/image59.png"/><Relationship Id="rId7" Type="http://schemas.openxmlformats.org/officeDocument/2006/relationships/image" Target="../media/image58.png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69.png"/><Relationship Id="rId8" Type="http://schemas.openxmlformats.org/officeDocument/2006/relationships/image" Target="../media/image68.png"/><Relationship Id="rId7" Type="http://schemas.openxmlformats.org/officeDocument/2006/relationships/image" Target="../media/image67.png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6" Type="http://schemas.openxmlformats.org/officeDocument/2006/relationships/slideLayout" Target="../slideLayouts/slideLayout2.xml"/><Relationship Id="rId15" Type="http://schemas.openxmlformats.org/officeDocument/2006/relationships/image" Target="../media/image75.png"/><Relationship Id="rId14" Type="http://schemas.openxmlformats.org/officeDocument/2006/relationships/image" Target="../media/image74.png"/><Relationship Id="rId13" Type="http://schemas.openxmlformats.org/officeDocument/2006/relationships/image" Target="../media/image73.png"/><Relationship Id="rId12" Type="http://schemas.openxmlformats.org/officeDocument/2006/relationships/image" Target="../media/image72.png"/><Relationship Id="rId11" Type="http://schemas.openxmlformats.org/officeDocument/2006/relationships/image" Target="../media/image71.png"/><Relationship Id="rId10" Type="http://schemas.openxmlformats.org/officeDocument/2006/relationships/image" Target="../media/image70.png"/><Relationship Id="rId1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100%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0.6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0.3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70%</a:t>
              </a:r>
              <a:endParaRPr lang="en-US" altLang="zh-CN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20%</a:t>
              </a:r>
              <a:endParaRPr lang="en-US" altLang="zh-CN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 rot="0"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 rot="0"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2016</a:t>
                  </a:r>
                  <a:endParaRPr lang="en-US" altLang="zh-CN" sz="16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2016</a:t>
                  </a:r>
                  <a:endParaRPr lang="en-US" altLang="zh-CN" sz="16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2023</a:t>
                  </a:r>
                  <a:endParaRPr lang="en-US" altLang="zh-CN" sz="16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2016</a:t>
                  </a:r>
                  <a:endParaRPr lang="en-US" altLang="zh-CN" sz="16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2023</a:t>
                  </a:r>
                  <a:endParaRPr lang="en-US" altLang="zh-CN" sz="16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South&amp;South-east Asia, 2016</a:t>
                  </a:r>
                  <a:endParaRPr lang="en-US" altLang="zh-CN" sz="16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2016</a:t>
                  </a:r>
                  <a:endParaRPr lang="en-US" altLang="zh-CN" sz="16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2023</a:t>
                  </a:r>
                  <a:endParaRPr lang="en-US" altLang="zh-CN" sz="16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2023</a:t>
                  </a:r>
                  <a:endParaRPr lang="en-US" altLang="zh-CN" sz="16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100%</a:t>
                </a:r>
                <a:endParaRPr lang="en-US" altLang="zh-CN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0.6</a:t>
                </a:r>
                <a:endParaRPr lang="en-US" altLang="zh-CN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0.3</a:t>
                </a:r>
                <a:endParaRPr lang="en-US" altLang="zh-CN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70%</a:t>
                </a:r>
                <a:endParaRPr lang="en-US" altLang="zh-CN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20%</a:t>
                </a:r>
                <a:endParaRPr lang="en-US" altLang="zh-CN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-0.2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-0.4</a:t>
                </a:r>
                <a:endParaRPr lang="en-US" altLang="zh-CN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2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24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p:grpSp>
        <p:nvGrpSpPr>
          <p:cNvPr id="8" name="组合 7"/>
          <p:cNvGrpSpPr/>
          <p:nvPr/>
        </p:nvGrpSpPr>
        <p:grpSpPr>
          <a:xfrm>
            <a:off x="370205" y="1605915"/>
            <a:ext cx="13336905" cy="5130165"/>
            <a:chOff x="583" y="2529"/>
            <a:chExt cx="21003" cy="807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2205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2205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2645" y="2655"/>
              <a:ext cx="7452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Structural Zeros (cannot be constructed)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10880" y="2676"/>
              <a:ext cx="5239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Constructable Area</a:t>
              </a:r>
              <a:endParaRPr lang="en-US" sz="1890" dirty="0">
                <a:latin typeface="Arial" panose="020B0604020202020204" pitchFamily="3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32" y="2529"/>
              <a:ext cx="813" cy="813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sp>
          <p:nvSpPr>
            <p:cNvPr id="37" name="矩形 36"/>
            <p:cNvSpPr/>
            <p:nvPr/>
          </p:nvSpPr>
          <p:spPr>
            <a:xfrm>
              <a:off x="10068" y="2551"/>
              <a:ext cx="813" cy="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583" y="3473"/>
              <a:ext cx="5083" cy="5043"/>
              <a:chOff x="493" y="2941"/>
              <a:chExt cx="4304" cy="4270"/>
            </a:xfrm>
          </p:grpSpPr>
          <p:pic>
            <p:nvPicPr>
              <p:cNvPr id="40" name="图片 39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9" name="椭圆 18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5822" y="3473"/>
              <a:ext cx="5081" cy="5043"/>
              <a:chOff x="4929" y="2941"/>
              <a:chExt cx="4302" cy="4270"/>
            </a:xfrm>
          </p:grpSpPr>
          <p:pic>
            <p:nvPicPr>
              <p:cNvPr id="44" name="图片 4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39" name="椭圆 38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11060" y="3473"/>
              <a:ext cx="5081" cy="5043"/>
              <a:chOff x="9364" y="2941"/>
              <a:chExt cx="4302" cy="4270"/>
            </a:xfrm>
          </p:grpSpPr>
          <p:pic>
            <p:nvPicPr>
              <p:cNvPr id="46" name="图片 45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5" name="椭圆 44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16298" y="3473"/>
              <a:ext cx="5081" cy="5043"/>
              <a:chOff x="13799" y="2941"/>
              <a:chExt cx="4302" cy="4270"/>
            </a:xfrm>
          </p:grpSpPr>
          <p:pic>
            <p:nvPicPr>
              <p:cNvPr id="47" name="图片 46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8" name="椭圆 47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𝜑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)=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2835" b="0" i="1" dirty="0" smtClean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blipFill rotWithShape="1">
                  <a:blip r:embed="rId9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64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Low-Constraint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Steep-Gradient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98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Low-Constraint, Flat-Gradient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6932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High-Constraint, Steep-Gradient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70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High-Constraint, Flat-Gradient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25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25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25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  <a:blipFill rotWithShape="1">
                <a:blip r:embed="rId1"/>
                <a:stretch>
                  <a:fillRect l="-5" t="-24" r="10" b="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492125" y="1739900"/>
            <a:ext cx="13313410" cy="4996180"/>
            <a:chOff x="775" y="2740"/>
            <a:chExt cx="20966" cy="7868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0966" cy="6873"/>
              <a:chOff x="1249" y="1357"/>
              <a:chExt cx="20966" cy="6873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9"/>
                <a:ext cx="2022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Buildings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Constructable Area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12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Structural Zeros</a:t>
                </a:r>
                <a:endParaRPr lang="en-US" sz="189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2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283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283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4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Low-Intensity, Steep-Gradient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98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Low-Intensity, Flat-Gradient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High-Intensity, Steep-Gradient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20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High-Intensity, Flat-Gradient</a:t>
              </a:r>
              <a:endPara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95" y="8506646"/>
            <a:ext cx="4038463" cy="248607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998" y="8638637"/>
            <a:ext cx="3185774" cy="1766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1234" y="8638637"/>
            <a:ext cx="2975789" cy="1649133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485674" y="1542640"/>
            <a:ext cx="13394799" cy="4149455"/>
            <a:chOff x="647" y="2057"/>
            <a:chExt cx="17861" cy="5533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533"/>
              <a:chOff x="647" y="2057"/>
              <a:chExt cx="3551" cy="5533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094" y="5693"/>
                <a:ext cx="2657" cy="1897"/>
                <a:chOff x="3202" y="5108"/>
                <a:chExt cx="2657" cy="1897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135"/>
              <a:chOff x="7722" y="2455"/>
              <a:chExt cx="3661" cy="513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 rot="0">
                <a:off x="8233" y="5693"/>
                <a:ext cx="2657" cy="1897"/>
                <a:chOff x="5687" y="5068"/>
                <a:chExt cx="2657" cy="1897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829"/>
              <a:chOff x="14737" y="2761"/>
              <a:chExt cx="3767" cy="4829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“Pyramid”City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 rot="0">
                <a:off x="15354" y="5693"/>
                <a:ext cx="2657" cy="1897"/>
                <a:chOff x="10870" y="5054"/>
                <a:chExt cx="2657" cy="1897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 rot="0">
                  <a:off x="10870" y="5054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006"/>
              <a:chOff x="11192" y="2584"/>
              <a:chExt cx="3643" cy="5006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 rot="0">
                <a:off x="11686" y="5693"/>
                <a:ext cx="2657" cy="1897"/>
                <a:chOff x="8290" y="5068"/>
                <a:chExt cx="2657" cy="1897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1897"/>
                  <a:chOff x="3202" y="5108"/>
                  <a:chExt cx="2657" cy="1897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242"/>
              <a:chOff x="4198" y="2348"/>
              <a:chExt cx="3683" cy="5242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“Crown”City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1897"/>
                <a:chOff x="4673" y="5693"/>
                <a:chExt cx="2657" cy="1897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 rot="0">
                  <a:off x="4673" y="5693"/>
                  <a:ext cx="2657" cy="1897"/>
                  <a:chOff x="10870" y="5054"/>
                  <a:chExt cx="2657" cy="1897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 rot="0">
                    <a:off x="10870" y="5054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240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grpSp>
        <p:nvGrpSpPr>
          <p:cNvPr id="45" name="组合 44"/>
          <p:cNvGrpSpPr/>
          <p:nvPr/>
        </p:nvGrpSpPr>
        <p:grpSpPr>
          <a:xfrm rot="0">
            <a:off x="2478405" y="6081395"/>
            <a:ext cx="10166985" cy="685800"/>
            <a:chOff x="2098" y="8434"/>
            <a:chExt cx="14213" cy="1080"/>
          </a:xfrm>
        </p:grpSpPr>
        <p:sp>
          <p:nvSpPr>
            <p:cNvPr id="4" name="文本框 3"/>
            <p:cNvSpPr txBox="1"/>
            <p:nvPr/>
          </p:nvSpPr>
          <p:spPr>
            <a:xfrm>
              <a:off x="13143" y="8434"/>
              <a:ext cx="31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America, 2016</a:t>
              </a:r>
              <a:endParaRPr lang="en-US" altLang="zh-CN"/>
            </a:p>
          </p:txBody>
        </p:sp>
        <p:sp>
          <p:nvSpPr>
            <p:cNvPr id="11" name="椭圆 10"/>
            <p:cNvSpPr/>
            <p:nvPr/>
          </p:nvSpPr>
          <p:spPr>
            <a:xfrm>
              <a:off x="12773" y="8548"/>
              <a:ext cx="257" cy="255"/>
            </a:xfrm>
            <a:prstGeom prst="ellipse">
              <a:avLst/>
            </a:prstGeom>
            <a:solidFill>
              <a:srgbClr val="47A2DE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2" name="椭圆 11"/>
            <p:cNvSpPr/>
            <p:nvPr/>
          </p:nvSpPr>
          <p:spPr>
            <a:xfrm>
              <a:off x="12773" y="9011"/>
              <a:ext cx="257" cy="255"/>
            </a:xfrm>
            <a:prstGeom prst="ellipse">
              <a:avLst/>
            </a:prstGeom>
            <a:solidFill>
              <a:srgbClr val="47A2D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143" y="8925"/>
              <a:ext cx="31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America, 2023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483" y="8434"/>
              <a:ext cx="322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Africa, 2016</a:t>
              </a:r>
              <a:endParaRPr lang="en-US" altLang="zh-CN"/>
            </a:p>
          </p:txBody>
        </p:sp>
        <p:sp>
          <p:nvSpPr>
            <p:cNvPr id="15" name="椭圆 14"/>
            <p:cNvSpPr/>
            <p:nvPr/>
          </p:nvSpPr>
          <p:spPr>
            <a:xfrm>
              <a:off x="2098" y="8548"/>
              <a:ext cx="257" cy="255"/>
            </a:xfrm>
            <a:prstGeom prst="ellipse">
              <a:avLst/>
            </a:prstGeom>
            <a:solidFill>
              <a:srgbClr val="E85748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>
                <a:solidFill>
                  <a:srgbClr val="9467BD"/>
                </a:solidFill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2098" y="9011"/>
              <a:ext cx="257" cy="255"/>
            </a:xfrm>
            <a:prstGeom prst="ellipse">
              <a:avLst/>
            </a:prstGeom>
            <a:solidFill>
              <a:srgbClr val="E85748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2483" y="8934"/>
              <a:ext cx="322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Africa, 2023</a:t>
              </a:r>
              <a:endParaRPr lang="en-US" altLang="zh-CN"/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6717" y="8434"/>
              <a:ext cx="455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South&amp;South-east Asia, 2016</a:t>
              </a:r>
              <a:endParaRPr lang="en-US" altLang="zh-CN"/>
            </a:p>
          </p:txBody>
        </p:sp>
        <p:sp>
          <p:nvSpPr>
            <p:cNvPr id="19" name="椭圆 18"/>
            <p:cNvSpPr/>
            <p:nvPr/>
          </p:nvSpPr>
          <p:spPr>
            <a:xfrm>
              <a:off x="6309" y="8548"/>
              <a:ext cx="257" cy="255"/>
            </a:xfrm>
            <a:prstGeom prst="ellipse">
              <a:avLst/>
            </a:prstGeom>
            <a:solidFill>
              <a:srgbClr val="F39F1B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20" name="椭圆 19"/>
            <p:cNvSpPr/>
            <p:nvPr/>
          </p:nvSpPr>
          <p:spPr>
            <a:xfrm>
              <a:off x="6309" y="9011"/>
              <a:ext cx="257" cy="255"/>
            </a:xfrm>
            <a:prstGeom prst="ellipse">
              <a:avLst/>
            </a:prstGeom>
            <a:solidFill>
              <a:srgbClr val="F39F1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717" y="8921"/>
              <a:ext cx="455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ym typeface="+mn-ea"/>
                </a:rPr>
                <a:t>South&amp;South-east Asia, 2023</a:t>
              </a:r>
              <a:endParaRPr lang="en-US" altLang="zh-CN">
                <a:sym typeface="+mn-ea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本框 35"/>
              <p:cNvSpPr txBox="1"/>
              <p:nvPr/>
            </p:nvSpPr>
            <p:spPr>
              <a:xfrm>
                <a:off x="1327150" y="436245"/>
                <a:ext cx="459930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Structural Zero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𝜑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𝛼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𝛽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6" name="文本框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150" y="436245"/>
                <a:ext cx="4599305" cy="8299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本框 51"/>
              <p:cNvSpPr txBox="1"/>
              <p:nvPr/>
            </p:nvSpPr>
            <p:spPr>
              <a:xfrm>
                <a:off x="8669020" y="436245"/>
                <a:ext cx="463105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Actual Construction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2" name="文本框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020" y="436245"/>
                <a:ext cx="4631055" cy="8299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组合 98"/>
          <p:cNvGrpSpPr/>
          <p:nvPr/>
        </p:nvGrpSpPr>
        <p:grpSpPr>
          <a:xfrm rot="0">
            <a:off x="740410" y="1032510"/>
            <a:ext cx="5342890" cy="4728210"/>
            <a:chOff x="1166" y="1626"/>
            <a:chExt cx="8414" cy="7446"/>
          </a:xfrm>
        </p:grpSpPr>
        <p:pic>
          <p:nvPicPr>
            <p:cNvPr id="6" name="图片 5"/>
            <p:cNvPicPr/>
            <p:nvPr/>
          </p:nvPicPr>
          <p:blipFill>
            <a:blip r:embed="rId3"/>
            <a:srcRect r="50879"/>
            <a:stretch>
              <a:fillRect/>
            </a:stretch>
          </p:blipFill>
          <p:spPr>
            <a:xfrm>
              <a:off x="1477" y="1942"/>
              <a:ext cx="8103" cy="6670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1584" y="2085"/>
              <a:ext cx="544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8" name="矩形 7"/>
            <p:cNvSpPr/>
            <p:nvPr/>
          </p:nvSpPr>
          <p:spPr>
            <a:xfrm rot="5400000">
              <a:off x="5542" y="4678"/>
              <a:ext cx="544" cy="7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407" y="8196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50%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502" y="8196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100%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50" y="8017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549" y="2050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0.6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166" y="5259"/>
              <a:ext cx="93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0.3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585" y="162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292" y="8636"/>
              <a:ext cx="3099" cy="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925" y="5000"/>
              <a:ext cx="2574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 rot="0">
            <a:off x="8036560" y="1195070"/>
            <a:ext cx="5263515" cy="4522470"/>
            <a:chOff x="9436" y="1819"/>
            <a:chExt cx="8289" cy="7122"/>
          </a:xfrm>
        </p:grpSpPr>
        <p:pic>
          <p:nvPicPr>
            <p:cNvPr id="3" name="图片 2"/>
            <p:cNvPicPr/>
            <p:nvPr/>
          </p:nvPicPr>
          <p:blipFill>
            <a:blip r:embed="rId3"/>
            <a:srcRect l="54304" t="1604" r="1509" b="7631"/>
            <a:stretch>
              <a:fillRect/>
            </a:stretch>
          </p:blipFill>
          <p:spPr>
            <a:xfrm>
              <a:off x="10293" y="1987"/>
              <a:ext cx="7288" cy="6102"/>
            </a:xfrm>
            <a:prstGeom prst="rect">
              <a:avLst/>
            </a:prstGeom>
          </p:spPr>
        </p:pic>
        <p:sp>
          <p:nvSpPr>
            <p:cNvPr id="46" name="文本框 45"/>
            <p:cNvSpPr txBox="1"/>
            <p:nvPr/>
          </p:nvSpPr>
          <p:spPr>
            <a:xfrm>
              <a:off x="16838" y="8048"/>
              <a:ext cx="887" cy="3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70%</a:t>
              </a:r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8086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20%</a:t>
              </a:r>
              <a:endParaRPr lang="en-US" altLang="zh-CN" sz="2000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45" y="25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5043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819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839" y="8428"/>
              <a:ext cx="2741" cy="51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149" y="8060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50%</a:t>
              </a:r>
              <a:endParaRPr lang="en-US" altLang="zh-CN" sz="2000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492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811"/>
              <a:ext cx="257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54" name="文本框 53"/>
          <p:cNvSpPr txBox="1"/>
          <p:nvPr/>
        </p:nvSpPr>
        <p:spPr>
          <a:xfrm>
            <a:off x="-8890" y="3637280"/>
            <a:ext cx="1438275" cy="521970"/>
          </a:xfrm>
          <a:prstGeom prst="rect">
            <a:avLst/>
          </a:prstGeom>
        </p:spPr>
        <p:txBody>
          <a:bodyPr wrap="square">
            <a:spAutoFit/>
          </a:bodyPr>
          <a:p>
            <a:pPr algn="r"/>
            <a:r>
              <a:rPr lang="en-US" altLang="zh-CN" sz="1400" i="1">
                <a:solidFill>
                  <a:schemeClr val="tx1"/>
                </a:solidFill>
              </a:rPr>
              <a:t>Low-Constraint, Flat-Gradient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926455" y="2560320"/>
            <a:ext cx="1489710" cy="431165"/>
          </a:xfrm>
          <a:prstGeom prst="rect">
            <a:avLst/>
          </a:prstGeom>
        </p:spPr>
        <p:txBody>
          <a:bodyPr wrap="square">
            <a:noAutofit/>
          </a:bodyPr>
          <a:p>
            <a:pPr algn="l"/>
            <a:r>
              <a:rPr lang="en-US" altLang="zh-CN" sz="1400" i="1">
                <a:solidFill>
                  <a:schemeClr val="tx1"/>
                </a:solidFill>
              </a:rPr>
              <a:t>High-Constraint, Steep-Gradient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0" y="253111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Low-Constraint,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5938520" y="3637280"/>
            <a:ext cx="1477645" cy="521970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en-US" altLang="zh-CN" sz="1400" i="1">
                <a:solidFill>
                  <a:schemeClr val="tx1"/>
                </a:solidFill>
              </a:rPr>
              <a:t>High-Constraint, Flat-Gradient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7218680" y="2560320"/>
            <a:ext cx="1403985" cy="473710"/>
          </a:xfrm>
          <a:prstGeom prst="rect">
            <a:avLst/>
          </a:prstGeom>
        </p:spPr>
        <p:txBody>
          <a:bodyPr wrap="square">
            <a:no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Low-Intensity, Flat-Gradient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218680" y="363728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Low-Intensity, 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13157200" y="252857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High-Intensity, Flat-Gradient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3127990" y="363728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High-Intensity, 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grpSp>
        <p:nvGrpSpPr>
          <p:cNvPr id="71" name="组合 70"/>
          <p:cNvGrpSpPr/>
          <p:nvPr/>
        </p:nvGrpSpPr>
        <p:grpSpPr>
          <a:xfrm rot="0">
            <a:off x="758825" y="4088765"/>
            <a:ext cx="527685" cy="524510"/>
            <a:chOff x="493" y="2941"/>
            <a:chExt cx="4304" cy="4270"/>
          </a:xfrm>
        </p:grpSpPr>
        <p:pic>
          <p:nvPicPr>
            <p:cNvPr id="72" name="图片 71"/>
            <p:cNvPicPr>
              <a:picLocks noChangeAspect="1"/>
            </p:cNvPicPr>
            <p:nvPr/>
          </p:nvPicPr>
          <p:blipFill>
            <a:blip r:embed="rId4">
              <a:grayscl/>
            </a:blip>
            <a:stretch>
              <a:fillRect/>
            </a:stretch>
          </p:blipFill>
          <p:spPr>
            <a:xfrm>
              <a:off x="493" y="2941"/>
              <a:ext cx="4304" cy="4271"/>
            </a:xfrm>
            <a:prstGeom prst="rect">
              <a:avLst/>
            </a:prstGeom>
          </p:spPr>
        </p:pic>
        <p:sp>
          <p:nvSpPr>
            <p:cNvPr id="73" name="椭圆 72"/>
            <p:cNvSpPr/>
            <p:nvPr/>
          </p:nvSpPr>
          <p:spPr>
            <a:xfrm>
              <a:off x="59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74" name="组合 73"/>
          <p:cNvGrpSpPr/>
          <p:nvPr/>
        </p:nvGrpSpPr>
        <p:grpSpPr>
          <a:xfrm rot="0">
            <a:off x="739775" y="2015490"/>
            <a:ext cx="527685" cy="524510"/>
            <a:chOff x="4929" y="2941"/>
            <a:chExt cx="4302" cy="4270"/>
          </a:xfrm>
        </p:grpSpPr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5">
              <a:grayscl/>
            </a:blip>
            <a:stretch>
              <a:fillRect/>
            </a:stretch>
          </p:blipFill>
          <p:spPr>
            <a:xfrm>
              <a:off x="4929" y="2941"/>
              <a:ext cx="4303" cy="4271"/>
            </a:xfrm>
            <a:prstGeom prst="rect">
              <a:avLst/>
            </a:prstGeom>
          </p:spPr>
        </p:pic>
        <p:sp>
          <p:nvSpPr>
            <p:cNvPr id="76" name="椭圆 75"/>
            <p:cNvSpPr/>
            <p:nvPr/>
          </p:nvSpPr>
          <p:spPr>
            <a:xfrm>
              <a:off x="502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77" name="组合 76"/>
          <p:cNvGrpSpPr/>
          <p:nvPr/>
        </p:nvGrpSpPr>
        <p:grpSpPr>
          <a:xfrm rot="0">
            <a:off x="5963285" y="4088765"/>
            <a:ext cx="527685" cy="524510"/>
            <a:chOff x="9364" y="2941"/>
            <a:chExt cx="4302" cy="4270"/>
          </a:xfrm>
        </p:grpSpPr>
        <p:pic>
          <p:nvPicPr>
            <p:cNvPr id="78" name="图片 77"/>
            <p:cNvPicPr>
              <a:picLocks noChangeAspect="1"/>
            </p:cNvPicPr>
            <p:nvPr/>
          </p:nvPicPr>
          <p:blipFill>
            <a:blip r:embed="rId6">
              <a:grayscl/>
            </a:blip>
            <a:stretch>
              <a:fillRect/>
            </a:stretch>
          </p:blipFill>
          <p:spPr>
            <a:xfrm>
              <a:off x="9364" y="2941"/>
              <a:ext cx="4303" cy="4271"/>
            </a:xfrm>
            <a:prstGeom prst="rect">
              <a:avLst/>
            </a:prstGeom>
          </p:spPr>
        </p:pic>
        <p:sp>
          <p:nvSpPr>
            <p:cNvPr id="79" name="椭圆 78"/>
            <p:cNvSpPr/>
            <p:nvPr/>
          </p:nvSpPr>
          <p:spPr>
            <a:xfrm>
              <a:off x="945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0" name="组合 79"/>
          <p:cNvGrpSpPr/>
          <p:nvPr/>
        </p:nvGrpSpPr>
        <p:grpSpPr>
          <a:xfrm rot="0">
            <a:off x="5965190" y="2015490"/>
            <a:ext cx="527685" cy="524510"/>
            <a:chOff x="13799" y="2941"/>
            <a:chExt cx="4302" cy="4270"/>
          </a:xfrm>
        </p:grpSpPr>
        <p:pic>
          <p:nvPicPr>
            <p:cNvPr id="81" name="图片 80"/>
            <p:cNvPicPr>
              <a:picLocks noChangeAspect="1"/>
            </p:cNvPicPr>
            <p:nvPr/>
          </p:nvPicPr>
          <p:blipFill>
            <a:blip r:embed="rId7">
              <a:grayscl/>
            </a:blip>
            <a:stretch>
              <a:fillRect/>
            </a:stretch>
          </p:blipFill>
          <p:spPr>
            <a:xfrm>
              <a:off x="13799" y="2941"/>
              <a:ext cx="4303" cy="4271"/>
            </a:xfrm>
            <a:prstGeom prst="rect">
              <a:avLst/>
            </a:prstGeom>
          </p:spPr>
        </p:pic>
        <p:sp>
          <p:nvSpPr>
            <p:cNvPr id="82" name="椭圆 81"/>
            <p:cNvSpPr/>
            <p:nvPr/>
          </p:nvSpPr>
          <p:spPr>
            <a:xfrm>
              <a:off x="1388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3" name="组合 82"/>
          <p:cNvGrpSpPr/>
          <p:nvPr/>
        </p:nvGrpSpPr>
        <p:grpSpPr>
          <a:xfrm rot="0">
            <a:off x="7940040" y="2013585"/>
            <a:ext cx="538480" cy="526415"/>
            <a:chOff x="1057" y="2049"/>
            <a:chExt cx="4212" cy="4114"/>
          </a:xfrm>
        </p:grpSpPr>
        <p:pic>
          <p:nvPicPr>
            <p:cNvPr id="84" name="图片 83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7" y="2049"/>
              <a:ext cx="4212" cy="4115"/>
            </a:xfrm>
            <a:prstGeom prst="rect">
              <a:avLst/>
            </a:prstGeom>
          </p:spPr>
        </p:pic>
        <p:sp>
          <p:nvSpPr>
            <p:cNvPr id="85" name="椭圆 84"/>
            <p:cNvSpPr/>
            <p:nvPr/>
          </p:nvSpPr>
          <p:spPr>
            <a:xfrm>
              <a:off x="1280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6" name="组合 85"/>
          <p:cNvGrpSpPr/>
          <p:nvPr/>
        </p:nvGrpSpPr>
        <p:grpSpPr>
          <a:xfrm rot="0">
            <a:off x="7959090" y="4086860"/>
            <a:ext cx="538480" cy="526415"/>
            <a:chOff x="5571" y="2049"/>
            <a:chExt cx="4212" cy="4114"/>
          </a:xfrm>
        </p:grpSpPr>
        <p:pic>
          <p:nvPicPr>
            <p:cNvPr id="87" name="图片 86"/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71" y="2049"/>
              <a:ext cx="4212" cy="4115"/>
            </a:xfrm>
            <a:prstGeom prst="rect">
              <a:avLst/>
            </a:prstGeom>
          </p:spPr>
        </p:pic>
        <p:sp>
          <p:nvSpPr>
            <p:cNvPr id="88" name="椭圆 87"/>
            <p:cNvSpPr/>
            <p:nvPr/>
          </p:nvSpPr>
          <p:spPr>
            <a:xfrm>
              <a:off x="5813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9" name="组合 88"/>
          <p:cNvGrpSpPr/>
          <p:nvPr/>
        </p:nvGrpSpPr>
        <p:grpSpPr>
          <a:xfrm rot="0">
            <a:off x="13241020" y="2013585"/>
            <a:ext cx="538480" cy="526415"/>
            <a:chOff x="10084" y="2049"/>
            <a:chExt cx="4212" cy="4114"/>
          </a:xfrm>
        </p:grpSpPr>
        <p:pic>
          <p:nvPicPr>
            <p:cNvPr id="90" name="图片 89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084" y="2049"/>
              <a:ext cx="4212" cy="4115"/>
            </a:xfrm>
            <a:prstGeom prst="rect">
              <a:avLst/>
            </a:prstGeom>
          </p:spPr>
        </p:pic>
        <p:sp>
          <p:nvSpPr>
            <p:cNvPr id="91" name="椭圆 90"/>
            <p:cNvSpPr/>
            <p:nvPr/>
          </p:nvSpPr>
          <p:spPr>
            <a:xfrm>
              <a:off x="10347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56" name="组合 55"/>
          <p:cNvGrpSpPr/>
          <p:nvPr/>
        </p:nvGrpSpPr>
        <p:grpSpPr>
          <a:xfrm rot="0">
            <a:off x="13208000" y="4107180"/>
            <a:ext cx="538480" cy="525780"/>
            <a:chOff x="22212" y="8641"/>
            <a:chExt cx="848" cy="828"/>
          </a:xfrm>
        </p:grpSpPr>
        <p:pic>
          <p:nvPicPr>
            <p:cNvPr id="93" name="图片 92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2212" y="8641"/>
              <a:ext cx="848" cy="829"/>
            </a:xfrm>
            <a:prstGeom prst="rect">
              <a:avLst/>
            </a:prstGeom>
          </p:spPr>
        </p:pic>
        <p:sp>
          <p:nvSpPr>
            <p:cNvPr id="94" name="椭圆 93"/>
            <p:cNvSpPr/>
            <p:nvPr/>
          </p:nvSpPr>
          <p:spPr>
            <a:xfrm>
              <a:off x="22232" y="8657"/>
              <a:ext cx="778" cy="778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cxnSp>
        <p:nvCxnSpPr>
          <p:cNvPr id="33" name="直接连接符 32"/>
          <p:cNvCxnSpPr/>
          <p:nvPr/>
        </p:nvCxnSpPr>
        <p:spPr>
          <a:xfrm>
            <a:off x="655690" y="-64519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heatmap_horizontal_param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250" y="1342390"/>
            <a:ext cx="6903720" cy="5394960"/>
          </a:xfrm>
          <a:prstGeom prst="rect">
            <a:avLst/>
          </a:prstGeom>
        </p:spPr>
      </p:pic>
      <p:pic>
        <p:nvPicPr>
          <p:cNvPr id="5" name="图片 4" descr="heatmap_horizontal_params20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2970" y="1351915"/>
            <a:ext cx="702246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86" name="组合 85"/>
          <p:cNvGrpSpPr/>
          <p:nvPr/>
        </p:nvGrpSpPr>
        <p:grpSpPr>
          <a:xfrm>
            <a:off x="114935" y="651510"/>
            <a:ext cx="13805535" cy="6364278"/>
            <a:chOff x="1739" y="1235"/>
            <a:chExt cx="19272" cy="8884"/>
          </a:xfrm>
        </p:grpSpPr>
        <p:pic>
          <p:nvPicPr>
            <p:cNvPr id="81" name="图片 80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739" y="2783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534" y="-292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1739" y="262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8163" y="2465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03" y="2594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7891" y="1800"/>
                  <a:ext cx="7243" cy="7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1" y="1800"/>
                  <a:ext cx="7243" cy="71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478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46" y="740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2951" y="857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347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998" y="259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653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3" y="3729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59" y="5561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339" y="8616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967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9498" y="8616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99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673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363" y="8616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967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967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967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967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764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5813" y="8630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9845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939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28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134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28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28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28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28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4583" y="9105"/>
              <a:ext cx="14213" cy="1014"/>
              <a:chOff x="3914" y="9142"/>
              <a:chExt cx="14213" cy="1014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4171" y="7650"/>
              <a:ext cx="1485" cy="8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5656" y="4518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7023" y="7650"/>
              <a:ext cx="1485" cy="8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9126" y="66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8442" y="66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683" y="1235"/>
              <a:ext cx="11340" cy="72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 sz="28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Vertical Profile</a:t>
              </a:r>
              <a:endParaRPr lang="en-US" altLang="zh-CN" sz="28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0512" y="79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635635" y="1951990"/>
            <a:ext cx="5774690" cy="4557395"/>
          </a:xfrm>
          <a:prstGeom prst="rect">
            <a:avLst/>
          </a:prstGeom>
        </p:spPr>
      </p:pic>
      <p:grpSp>
        <p:nvGrpSpPr>
          <p:cNvPr id="99" name="组合 98"/>
          <p:cNvGrpSpPr/>
          <p:nvPr/>
        </p:nvGrpSpPr>
        <p:grpSpPr>
          <a:xfrm rot="0">
            <a:off x="466725" y="2024380"/>
            <a:ext cx="5991225" cy="4761865"/>
            <a:chOff x="869" y="1626"/>
            <a:chExt cx="9435" cy="7499"/>
          </a:xfrm>
        </p:grpSpPr>
        <p:sp>
          <p:nvSpPr>
            <p:cNvPr id="7" name="矩形 6"/>
            <p:cNvSpPr/>
            <p:nvPr/>
          </p:nvSpPr>
          <p:spPr>
            <a:xfrm>
              <a:off x="1352" y="1627"/>
              <a:ext cx="871" cy="69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8" name="矩形 7"/>
            <p:cNvSpPr/>
            <p:nvPr/>
          </p:nvSpPr>
          <p:spPr>
            <a:xfrm rot="5400000">
              <a:off x="5552" y="4127"/>
              <a:ext cx="711" cy="86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836" y="8166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0%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9261" y="817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6%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23" y="8101"/>
              <a:ext cx="1073" cy="58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-6%</a:t>
              </a:r>
              <a:endParaRPr lang="en-US" altLang="zh-CN" sz="200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036" y="2507"/>
              <a:ext cx="1092" cy="3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0.08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869" y="5665"/>
              <a:ext cx="1103" cy="4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135" y="1626"/>
              <a:ext cx="993" cy="4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7130" y="8689"/>
              <a:ext cx="3099" cy="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</a:t>
              </a:r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α)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6577965" y="2023745"/>
            <a:ext cx="5899150" cy="4883150"/>
            <a:chOff x="11629" y="1511"/>
            <a:chExt cx="9290" cy="7690"/>
          </a:xfrm>
        </p:grpSpPr>
        <p:pic>
          <p:nvPicPr>
            <p:cNvPr id="12" name="图片 11"/>
            <p:cNvPicPr/>
            <p:nvPr/>
          </p:nvPicPr>
          <p:blipFill>
            <a:blip r:embed="rId1"/>
            <a:srcRect l="50166" t="71" r="-5" b="-71"/>
            <a:stretch>
              <a:fillRect/>
            </a:stretch>
          </p:blipFill>
          <p:spPr>
            <a:xfrm>
              <a:off x="11819" y="1511"/>
              <a:ext cx="9094" cy="7177"/>
            </a:xfrm>
            <a:prstGeom prst="rect">
              <a:avLst/>
            </a:prstGeom>
          </p:spPr>
        </p:pic>
        <p:sp>
          <p:nvSpPr>
            <p:cNvPr id="15" name="矩形 14"/>
            <p:cNvSpPr/>
            <p:nvPr/>
          </p:nvSpPr>
          <p:spPr>
            <a:xfrm rot="5400000">
              <a:off x="16243" y="4135"/>
              <a:ext cx="711" cy="86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4" name="矩形 13"/>
            <p:cNvSpPr/>
            <p:nvPr/>
          </p:nvSpPr>
          <p:spPr>
            <a:xfrm>
              <a:off x="11755" y="1655"/>
              <a:ext cx="1069" cy="69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9470" y="8166"/>
              <a:ext cx="887" cy="3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6%</a:t>
              </a:r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3214" y="8178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-2%</a:t>
              </a:r>
              <a:endParaRPr lang="en-US" altLang="zh-CN" sz="2000"/>
            </a:p>
          </p:txBody>
        </p:sp>
        <p:sp useBgFill="1">
          <p:nvSpPr>
            <p:cNvPr id="48" name="文本框 47"/>
            <p:cNvSpPr txBox="1"/>
            <p:nvPr/>
          </p:nvSpPr>
          <p:spPr>
            <a:xfrm>
              <a:off x="11714" y="2673"/>
              <a:ext cx="1069" cy="442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020" y="497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2068" y="1766"/>
              <a:ext cx="853" cy="44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7821" y="8689"/>
              <a:ext cx="3092" cy="51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</a:t>
              </a:r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κ)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844" y="8216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0%</a:t>
              </a:r>
              <a:endParaRPr lang="en-US" altLang="zh-CN" sz="2000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11629" y="7252"/>
              <a:ext cx="115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-0.04</a:t>
              </a:r>
              <a:endParaRPr lang="en-US" altLang="zh-CN" sz="20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本框 35"/>
              <p:cNvSpPr txBox="1"/>
              <p:nvPr/>
            </p:nvSpPr>
            <p:spPr>
              <a:xfrm>
                <a:off x="1167130" y="1193800"/>
                <a:ext cx="516826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Change of Structural Zero Params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𝜑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𝛼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𝛽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6" name="文本框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130" y="1193800"/>
                <a:ext cx="5168265" cy="8299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/>
          <p:cNvSpPr txBox="1"/>
          <p:nvPr/>
        </p:nvSpPr>
        <p:spPr>
          <a:xfrm>
            <a:off x="572770" y="5584825"/>
            <a:ext cx="693420" cy="2457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 algn="r"/>
            <a:r>
              <a:rPr lang="en-US" altLang="zh-CN" sz="2000"/>
              <a:t>-0.04</a:t>
            </a:r>
            <a:endParaRPr lang="en-US" altLang="zh-CN" sz="2000"/>
          </a:p>
        </p:txBody>
      </p:sp>
      <p:sp>
        <p:nvSpPr>
          <p:cNvPr id="18" name="文本框 17"/>
          <p:cNvSpPr txBox="1"/>
          <p:nvPr/>
        </p:nvSpPr>
        <p:spPr>
          <a:xfrm>
            <a:off x="572770" y="3583940"/>
            <a:ext cx="693420" cy="2457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p>
            <a:pPr algn="r"/>
            <a:r>
              <a:rPr lang="en-US" altLang="zh-CN" sz="2000"/>
              <a:t>0.04</a:t>
            </a:r>
            <a:endParaRPr lang="en-US" altLang="zh-CN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6821805" y="1195070"/>
                <a:ext cx="5615940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Change of Actual Construction Params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1805" y="1195070"/>
                <a:ext cx="5615940" cy="8299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3877945" y="5755640"/>
            <a:ext cx="245681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/>
              <a:t>Centralized Zero Growth</a:t>
            </a:r>
            <a:endParaRPr lang="en-US" altLang="zh-CN" sz="1600"/>
          </a:p>
        </p:txBody>
      </p:sp>
      <p:sp>
        <p:nvSpPr>
          <p:cNvPr id="23" name="文本框 22"/>
          <p:cNvSpPr txBox="1"/>
          <p:nvPr/>
        </p:nvSpPr>
        <p:spPr>
          <a:xfrm>
            <a:off x="1379855" y="5755640"/>
            <a:ext cx="2426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1600"/>
              <a:t>Uniform Zero Reduction</a:t>
            </a:r>
            <a:endParaRPr lang="en-US" altLang="zh-CN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175260" y="9278620"/>
            <a:ext cx="13058775" cy="4356100"/>
            <a:chOff x="992" y="61"/>
            <a:chExt cx="20565" cy="6860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b="1" i="1"/>
                <a:t>Strong Significance ***</a:t>
              </a:r>
              <a:endParaRPr lang="en-US" altLang="zh-CN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Not Significant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</a:t>
              </a:r>
              <a:r>
                <a:rPr lang="en-US" altLang="zh-CN" b="1" i="1">
                  <a:sym typeface="+mn-ea"/>
                </a:rPr>
                <a:t>Significance ***</a:t>
              </a:r>
              <a:endParaRPr lang="en-US" altLang="zh-CN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Significance *</a:t>
              </a:r>
              <a:endParaRPr lang="en-US" altLang="zh-CN" b="1" i="1">
                <a:sym typeface="+mn-ea"/>
              </a:endParaRP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0469245" y="8209915"/>
            <a:ext cx="35204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Population growth ↑ 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Δα ↓, Δβ ↑, Δκ ↑, Δδ ↓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ΔB ↓, ΔC ↑</a:t>
            </a:r>
            <a:endParaRPr lang="en-US" altLang="zh-CN" b="1">
              <a:sym typeface="+mn-ea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109855" y="381635"/>
            <a:ext cx="13811250" cy="7388860"/>
            <a:chOff x="173" y="601"/>
            <a:chExt cx="21750" cy="11636"/>
          </a:xfrm>
        </p:grpSpPr>
        <p:pic>
          <p:nvPicPr>
            <p:cNvPr id="5" name="图片 4"/>
            <p:cNvPicPr/>
            <p:nvPr/>
          </p:nvPicPr>
          <p:blipFill>
            <a:blip r:embed="rId4"/>
            <a:srcRect l="1918" t="1292" r="75749" b="52389"/>
            <a:stretch>
              <a:fillRect/>
            </a:stretch>
          </p:blipFill>
          <p:spPr>
            <a:xfrm>
              <a:off x="173" y="641"/>
              <a:ext cx="5042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𝛼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" y="701"/>
                  <a:ext cx="1199" cy="100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" name="图片 13"/>
            <p:cNvPicPr/>
            <p:nvPr/>
          </p:nvPicPr>
          <p:blipFill>
            <a:blip r:embed="rId4"/>
            <a:srcRect l="27028" t="1292" r="50577" b="52389"/>
            <a:stretch>
              <a:fillRect/>
            </a:stretch>
          </p:blipFill>
          <p:spPr>
            <a:xfrm>
              <a:off x="5515" y="641"/>
              <a:ext cx="5056" cy="519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" y="641"/>
                  <a:ext cx="1199" cy="1004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" name="图片 15"/>
            <p:cNvPicPr/>
            <p:nvPr/>
          </p:nvPicPr>
          <p:blipFill>
            <a:blip r:embed="rId4"/>
            <a:srcRect l="52342" t="811" r="25263" b="52513"/>
            <a:stretch>
              <a:fillRect/>
            </a:stretch>
          </p:blipFill>
          <p:spPr>
            <a:xfrm>
              <a:off x="10999" y="601"/>
              <a:ext cx="5056" cy="5237"/>
            </a:xfrm>
            <a:prstGeom prst="rect">
              <a:avLst/>
            </a:prstGeom>
          </p:spPr>
        </p:pic>
        <p:pic>
          <p:nvPicPr>
            <p:cNvPr id="17" name="图片 16"/>
            <p:cNvPicPr/>
            <p:nvPr/>
          </p:nvPicPr>
          <p:blipFill>
            <a:blip r:embed="rId4"/>
            <a:srcRect l="77426" t="935" r="237" b="52389"/>
            <a:stretch>
              <a:fillRect/>
            </a:stretch>
          </p:blipFill>
          <p:spPr>
            <a:xfrm>
              <a:off x="16399" y="601"/>
              <a:ext cx="5043" cy="5237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本框 21"/>
                <p:cNvSpPr txBox="1"/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𝜅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4" y="641"/>
                  <a:ext cx="1199" cy="1004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本框 22"/>
                <p:cNvSpPr txBox="1"/>
                <p:nvPr/>
              </p:nvSpPr>
              <p:spPr>
                <a:xfrm>
                  <a:off x="16943" y="641"/>
                  <a:ext cx="1199" cy="1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∆</m:t>
                        </m:r>
                        <m:r>
                          <a:rPr lang="en-US" altLang="zh-CN" sz="3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𝛿</m:t>
                        </m:r>
                      </m:oMath>
                    </m:oMathPara>
                  </a14:m>
                  <a:endParaRPr lang="en-US" altLang="zh-CN" sz="36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43" y="641"/>
                  <a:ext cx="1199" cy="1004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文本框 26"/>
            <p:cNvSpPr txBox="1"/>
            <p:nvPr/>
          </p:nvSpPr>
          <p:spPr>
            <a:xfrm>
              <a:off x="550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46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11342" y="5693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6945" y="5681"/>
              <a:ext cx="449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Pop growth rate</a:t>
              </a:r>
              <a:endParaRPr lang="en-US" altLang="zh-CN" sz="2000"/>
            </a:p>
          </p:txBody>
        </p:sp>
        <p:grpSp>
          <p:nvGrpSpPr>
            <p:cNvPr id="34" name="组合 33"/>
            <p:cNvGrpSpPr/>
            <p:nvPr/>
          </p:nvGrpSpPr>
          <p:grpSpPr>
            <a:xfrm>
              <a:off x="16432" y="10351"/>
              <a:ext cx="5061" cy="1886"/>
              <a:chOff x="16736" y="6695"/>
              <a:chExt cx="5061" cy="1886"/>
            </a:xfrm>
          </p:grpSpPr>
          <p:sp>
            <p:nvSpPr>
              <p:cNvPr id="35" name="椭圆 34"/>
              <p:cNvSpPr/>
              <p:nvPr/>
            </p:nvSpPr>
            <p:spPr>
              <a:xfrm>
                <a:off x="16736" y="8135"/>
                <a:ext cx="257" cy="255"/>
              </a:xfrm>
              <a:prstGeom prst="ellipse">
                <a:avLst/>
              </a:prstGeom>
              <a:solidFill>
                <a:srgbClr val="47A2DE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7013" y="7953"/>
                <a:ext cx="3168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Latin America</a:t>
                </a:r>
                <a:endParaRPr lang="en-US" altLang="zh-CN" sz="2000"/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16736" y="6868"/>
                <a:ext cx="257" cy="255"/>
              </a:xfrm>
              <a:prstGeom prst="ellipse">
                <a:avLst/>
              </a:prstGeom>
              <a:solidFill>
                <a:srgbClr val="E85748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7013" y="6695"/>
                <a:ext cx="322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/>
                  <a:t>Africa</a:t>
                </a:r>
                <a:endParaRPr lang="en-US" altLang="zh-CN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6736" y="7510"/>
                <a:ext cx="257" cy="255"/>
              </a:xfrm>
              <a:prstGeom prst="ellipse">
                <a:avLst/>
              </a:prstGeom>
              <a:solidFill>
                <a:srgbClr val="F39F1B">
                  <a:alpha val="9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4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7013" y="7324"/>
                <a:ext cx="4784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000">
                    <a:sym typeface="+mn-ea"/>
                  </a:rPr>
                  <a:t>South &amp; South-east Asia</a:t>
                </a:r>
                <a:endParaRPr lang="en-US" altLang="zh-CN" sz="2000">
                  <a:sym typeface="+mn-ea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>
              <a:off x="245" y="6378"/>
              <a:ext cx="15880" cy="5838"/>
              <a:chOff x="503" y="6892"/>
              <a:chExt cx="15880" cy="5838"/>
            </a:xfrm>
          </p:grpSpPr>
          <p:grpSp>
            <p:nvGrpSpPr>
              <p:cNvPr id="2" name="组合 1"/>
              <p:cNvGrpSpPr/>
              <p:nvPr/>
            </p:nvGrpSpPr>
            <p:grpSpPr>
              <a:xfrm>
                <a:off x="503" y="6892"/>
                <a:ext cx="15881" cy="5230"/>
                <a:chOff x="433" y="6578"/>
                <a:chExt cx="15881" cy="5230"/>
              </a:xfrm>
            </p:grpSpPr>
            <p:pic>
              <p:nvPicPr>
                <p:cNvPr id="18" name="图片 17"/>
                <p:cNvPicPr/>
                <p:nvPr/>
              </p:nvPicPr>
              <p:blipFill>
                <a:blip r:embed="rId4"/>
                <a:srcRect l="1917" t="50579" r="75927" b="3155"/>
                <a:stretch>
                  <a:fillRect/>
                </a:stretch>
              </p:blipFill>
              <p:spPr>
                <a:xfrm>
                  <a:off x="433" y="6597"/>
                  <a:ext cx="5002" cy="5191"/>
                </a:xfrm>
                <a:prstGeom prst="rect">
                  <a:avLst/>
                </a:prstGeom>
              </p:spPr>
            </p:pic>
            <p:pic>
              <p:nvPicPr>
                <p:cNvPr id="19" name="图片 18"/>
                <p:cNvPicPr/>
                <p:nvPr/>
              </p:nvPicPr>
              <p:blipFill>
                <a:blip r:embed="rId4"/>
                <a:srcRect l="27196" t="50579" r="50688" b="2977"/>
                <a:stretch>
                  <a:fillRect/>
                </a:stretch>
              </p:blipFill>
              <p:spPr>
                <a:xfrm>
                  <a:off x="5768" y="6598"/>
                  <a:ext cx="4993" cy="5211"/>
                </a:xfrm>
                <a:prstGeom prst="rect">
                  <a:avLst/>
                </a:prstGeom>
              </p:spPr>
            </p:pic>
            <p:pic>
              <p:nvPicPr>
                <p:cNvPr id="20" name="图片 19"/>
                <p:cNvPicPr/>
                <p:nvPr/>
              </p:nvPicPr>
              <p:blipFill>
                <a:blip r:embed="rId4"/>
                <a:srcRect l="50916" t="50579" r="25356" b="2977"/>
                <a:stretch>
                  <a:fillRect/>
                </a:stretch>
              </p:blipFill>
              <p:spPr>
                <a:xfrm>
                  <a:off x="10958" y="6578"/>
                  <a:ext cx="5357" cy="5211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" y="659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文本框 24"/>
                    <p:cNvSpPr txBox="1"/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5" name="文本框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09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文本框 25"/>
                    <p:cNvSpPr txBox="1"/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∆</m:t>
                            </m:r>
                            <m:r>
                              <a:rPr lang="en-US" altLang="zh-CN" sz="36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36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6" name="文本框 2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44" y="662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4" name="文本框 3"/>
              <p:cNvSpPr txBox="1"/>
              <p:nvPr/>
            </p:nvSpPr>
            <p:spPr>
              <a:xfrm>
                <a:off x="810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6206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11602" y="12102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000"/>
                  <a:t>Pop growth rate</a:t>
                </a:r>
                <a:endParaRPr lang="en-US" altLang="zh-CN" sz="2000"/>
              </a:p>
            </p:txBody>
          </p:sp>
        </p:grpSp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6389" y="6417"/>
              <a:ext cx="5535" cy="38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1" name="组合 30"/>
          <p:cNvGrpSpPr/>
          <p:nvPr/>
        </p:nvGrpSpPr>
        <p:grpSpPr>
          <a:xfrm>
            <a:off x="286385" y="793750"/>
            <a:ext cx="13375640" cy="6555740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2016</a:t>
                </a:r>
                <a:endParaRPr lang="en-US" altLang="zh-CN" sz="280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2800"/>
                  <a:t>2023</a:t>
                </a:r>
                <a:endParaRPr lang="en-US" altLang="zh-CN" sz="2800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886"/>
                <a:chOff x="9225" y="1246"/>
                <a:chExt cx="5334" cy="1886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Latin America</a:t>
                  </a:r>
                  <a:endParaRPr lang="en-US" altLang="zh-CN" sz="2000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/>
                    <a:t>Africa</a:t>
                  </a:r>
                  <a:endParaRPr lang="en-US" altLang="zh-CN" sz="2000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4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2000">
                      <a:sym typeface="+mn-ea"/>
                    </a:rPr>
                    <a:t>South &amp; South-east Asia</a:t>
                  </a:r>
                  <a:endParaRPr lang="en-US" altLang="zh-CN" sz="2000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6" name="图片 55"/>
          <p:cNvPicPr/>
          <p:nvPr/>
        </p:nvPicPr>
        <p:blipFill>
          <a:blip r:embed="rId1"/>
          <a:stretch>
            <a:fillRect/>
          </a:stretch>
        </p:blipFill>
        <p:spPr>
          <a:xfrm>
            <a:off x="9770681" y="1921954"/>
            <a:ext cx="3651250" cy="3658235"/>
          </a:xfrm>
          <a:prstGeom prst="rect">
            <a:avLst/>
          </a:prstGeom>
        </p:spPr>
      </p:pic>
      <p:pic>
        <p:nvPicPr>
          <p:cNvPr id="54" name="图片 53"/>
          <p:cNvPicPr/>
          <p:nvPr/>
        </p:nvPicPr>
        <p:blipFill>
          <a:blip r:embed="rId2"/>
          <a:stretch>
            <a:fillRect/>
          </a:stretch>
        </p:blipFill>
        <p:spPr>
          <a:xfrm>
            <a:off x="5039360" y="1922145"/>
            <a:ext cx="3651250" cy="3658235"/>
          </a:xfrm>
          <a:prstGeom prst="rect">
            <a:avLst/>
          </a:prstGeom>
        </p:spPr>
      </p:pic>
      <p:pic>
        <p:nvPicPr>
          <p:cNvPr id="51" name="图片 50"/>
          <p:cNvPicPr/>
          <p:nvPr/>
        </p:nvPicPr>
        <p:blipFill>
          <a:blip r:embed="rId3"/>
          <a:stretch>
            <a:fillRect/>
          </a:stretch>
        </p:blipFill>
        <p:spPr>
          <a:xfrm>
            <a:off x="374650" y="1922145"/>
            <a:ext cx="3651250" cy="3658235"/>
          </a:xfrm>
          <a:prstGeom prst="rect">
            <a:avLst/>
          </a:prstGeom>
        </p:spPr>
      </p:pic>
      <p:grpSp>
        <p:nvGrpSpPr>
          <p:cNvPr id="53" name="组合 52"/>
          <p:cNvGrpSpPr/>
          <p:nvPr/>
        </p:nvGrpSpPr>
        <p:grpSpPr>
          <a:xfrm rot="0">
            <a:off x="65405" y="1282700"/>
            <a:ext cx="14261465" cy="10886689"/>
            <a:chOff x="451" y="1250"/>
            <a:chExt cx="31393" cy="23960"/>
          </a:xfrm>
        </p:grpSpPr>
        <p:pic>
          <p:nvPicPr>
            <p:cNvPr id="3" name="图片 2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1024" y="17160"/>
              <a:ext cx="8035" cy="8050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451" y="2072"/>
              <a:ext cx="10698" cy="9502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10818" y="2072"/>
              <a:ext cx="10698" cy="9502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3744" y="1250"/>
              <a:ext cx="2319" cy="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/>
                <a:t>Africa</a:t>
              </a:r>
              <a:endParaRPr lang="en-US" altLang="zh-CN" sz="20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1088" y="1272"/>
              <a:ext cx="8446" cy="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South &amp; Southeast Asia</a:t>
              </a:r>
              <a:endParaRPr lang="en-US" altLang="zh-CN" sz="2000"/>
            </a:p>
          </p:txBody>
        </p:sp>
        <p:grpSp>
          <p:nvGrpSpPr>
            <p:cNvPr id="10" name="组合 9"/>
            <p:cNvGrpSpPr/>
            <p:nvPr/>
          </p:nvGrpSpPr>
          <p:grpSpPr>
            <a:xfrm rot="0">
              <a:off x="21146" y="2094"/>
              <a:ext cx="10698" cy="9502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21183" y="1272"/>
              <a:ext cx="8446" cy="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2000"/>
                <a:t>Latin America</a:t>
              </a:r>
              <a:endParaRPr lang="en-US" altLang="zh-CN" sz="2000"/>
            </a:p>
          </p:txBody>
        </p:sp>
      </p:grpSp>
      <p:sp>
        <p:nvSpPr>
          <p:cNvPr id="28" name="文本框 27"/>
          <p:cNvSpPr txBox="1"/>
          <p:nvPr/>
        </p:nvSpPr>
        <p:spPr>
          <a:xfrm>
            <a:off x="5690870" y="6021705"/>
            <a:ext cx="8013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sym typeface="+mn-ea"/>
              </a:rPr>
              <a:t>2016</a:t>
            </a:r>
            <a:endParaRPr lang="en-US" altLang="zh-CN" sz="2000">
              <a:sym typeface="+mn-ea"/>
            </a:endParaRPr>
          </a:p>
        </p:txBody>
      </p:sp>
      <p:grpSp>
        <p:nvGrpSpPr>
          <p:cNvPr id="31" name="组合 30"/>
          <p:cNvGrpSpPr/>
          <p:nvPr/>
        </p:nvGrpSpPr>
        <p:grpSpPr>
          <a:xfrm rot="0">
            <a:off x="4408170" y="6132195"/>
            <a:ext cx="1195601" cy="239470"/>
            <a:chOff x="6153" y="11442"/>
            <a:chExt cx="1740" cy="348"/>
          </a:xfrm>
        </p:grpSpPr>
        <p:sp>
          <p:nvSpPr>
            <p:cNvPr id="4" name="圆角矩形 3"/>
            <p:cNvSpPr/>
            <p:nvPr/>
          </p:nvSpPr>
          <p:spPr>
            <a:xfrm>
              <a:off x="6153" y="11442"/>
              <a:ext cx="536" cy="348"/>
            </a:xfrm>
            <a:prstGeom prst="roundRect">
              <a:avLst/>
            </a:prstGeom>
            <a:solidFill>
              <a:srgbClr val="E85748">
                <a:alpha val="20000"/>
              </a:srgbClr>
            </a:solidFill>
            <a:ln w="38100">
              <a:solidFill>
                <a:srgbClr val="E8574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  <p:sp>
          <p:nvSpPr>
            <p:cNvPr id="29" name="圆角矩形 28"/>
            <p:cNvSpPr/>
            <p:nvPr/>
          </p:nvSpPr>
          <p:spPr>
            <a:xfrm>
              <a:off x="6761" y="11442"/>
              <a:ext cx="530" cy="338"/>
            </a:xfrm>
            <a:prstGeom prst="roundRect">
              <a:avLst/>
            </a:prstGeom>
            <a:solidFill>
              <a:srgbClr val="F39F1B">
                <a:alpha val="20000"/>
              </a:srgbClr>
            </a:solidFill>
            <a:ln w="38100">
              <a:solidFill>
                <a:srgbClr val="F39F1B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  <p:sp>
          <p:nvSpPr>
            <p:cNvPr id="30" name="圆角矩形 29"/>
            <p:cNvSpPr/>
            <p:nvPr/>
          </p:nvSpPr>
          <p:spPr>
            <a:xfrm>
              <a:off x="7363" y="11442"/>
              <a:ext cx="530" cy="338"/>
            </a:xfrm>
            <a:prstGeom prst="roundRect">
              <a:avLst/>
            </a:prstGeom>
            <a:solidFill>
              <a:srgbClr val="47A2DE">
                <a:alpha val="20000"/>
              </a:srgbClr>
            </a:solidFill>
            <a:ln w="38100">
              <a:solidFill>
                <a:srgbClr val="47A2DE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</p:grpSp>
      <p:grpSp>
        <p:nvGrpSpPr>
          <p:cNvPr id="40" name="组合 39"/>
          <p:cNvGrpSpPr/>
          <p:nvPr/>
        </p:nvGrpSpPr>
        <p:grpSpPr>
          <a:xfrm rot="0">
            <a:off x="7501094" y="6049389"/>
            <a:ext cx="1233393" cy="239470"/>
            <a:chOff x="5151" y="11234"/>
            <a:chExt cx="1795" cy="348"/>
          </a:xfrm>
        </p:grpSpPr>
        <p:sp>
          <p:nvSpPr>
            <p:cNvPr id="41" name="圆角矩形 40"/>
            <p:cNvSpPr/>
            <p:nvPr/>
          </p:nvSpPr>
          <p:spPr>
            <a:xfrm>
              <a:off x="5151" y="11234"/>
              <a:ext cx="536" cy="348"/>
            </a:xfrm>
            <a:prstGeom prst="roundRect">
              <a:avLst/>
            </a:prstGeom>
            <a:solidFill>
              <a:srgbClr val="E85748">
                <a:alpha val="20000"/>
              </a:srgbClr>
            </a:solidFill>
            <a:ln w="38100">
              <a:solidFill>
                <a:srgbClr val="E85748"/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  <p:sp>
          <p:nvSpPr>
            <p:cNvPr id="42" name="圆角矩形 41"/>
            <p:cNvSpPr/>
            <p:nvPr/>
          </p:nvSpPr>
          <p:spPr>
            <a:xfrm>
              <a:off x="5787" y="11234"/>
              <a:ext cx="530" cy="338"/>
            </a:xfrm>
            <a:prstGeom prst="roundRect">
              <a:avLst/>
            </a:prstGeom>
            <a:solidFill>
              <a:srgbClr val="F39F1B">
                <a:alpha val="20000"/>
              </a:srgbClr>
            </a:solidFill>
            <a:ln w="38100">
              <a:solidFill>
                <a:srgbClr val="F39F1B"/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  <p:sp>
          <p:nvSpPr>
            <p:cNvPr id="43" name="圆角矩形 42"/>
            <p:cNvSpPr/>
            <p:nvPr/>
          </p:nvSpPr>
          <p:spPr>
            <a:xfrm>
              <a:off x="6416" y="11234"/>
              <a:ext cx="530" cy="338"/>
            </a:xfrm>
            <a:prstGeom prst="roundRect">
              <a:avLst/>
            </a:prstGeom>
            <a:solidFill>
              <a:srgbClr val="47A2DE">
                <a:alpha val="20000"/>
              </a:srgbClr>
            </a:solidFill>
            <a:ln w="38100">
              <a:solidFill>
                <a:srgbClr val="47A2DE"/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400"/>
            </a:p>
          </p:txBody>
        </p:sp>
      </p:grpSp>
      <p:sp>
        <p:nvSpPr>
          <p:cNvPr id="46" name="文本框 45"/>
          <p:cNvSpPr txBox="1"/>
          <p:nvPr/>
        </p:nvSpPr>
        <p:spPr>
          <a:xfrm>
            <a:off x="8878570" y="5972810"/>
            <a:ext cx="8013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000">
                <a:sym typeface="+mn-ea"/>
              </a:rPr>
              <a:t>2023</a:t>
            </a:r>
            <a:endParaRPr lang="en-US" altLang="zh-CN" sz="2000">
              <a:sym typeface="+mn-ea"/>
            </a:endParaRPr>
          </a:p>
        </p:txBody>
      </p:sp>
      <p:grpSp>
        <p:nvGrpSpPr>
          <p:cNvPr id="60" name="组合 59"/>
          <p:cNvGrpSpPr/>
          <p:nvPr/>
        </p:nvGrpSpPr>
        <p:grpSpPr>
          <a:xfrm>
            <a:off x="4511040" y="8391525"/>
            <a:ext cx="8133715" cy="1035050"/>
            <a:chOff x="6709" y="10473"/>
            <a:chExt cx="12809" cy="163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blipFill rotWithShape="1">
                  <a:blip r:embed="rId1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4630</Words>
  <Application>WPS 演示</Application>
  <PresentationFormat>宽屏</PresentationFormat>
  <Paragraphs>764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Cambria Math</vt:lpstr>
      <vt:lpstr>MS Mincho</vt:lpstr>
      <vt:lpstr>Wingdings</vt:lpstr>
      <vt:lpstr>微软雅黑</vt:lpstr>
      <vt:lpstr>Arial Unicode MS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20</cp:revision>
  <dcterms:created xsi:type="dcterms:W3CDTF">2026-03-11T16:13:19Z</dcterms:created>
  <dcterms:modified xsi:type="dcterms:W3CDTF">2026-03-11T16:13:19Z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