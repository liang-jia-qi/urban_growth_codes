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1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72" r:id="rId18"/>
    <p:sldId id="265" r:id="rId19"/>
    <p:sldId id="268" r:id="rId20"/>
  </p:sldIdLst>
  <p:sldSz cx="809942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2550" userDrawn="1">
          <p15:clr>
            <a:srgbClr val="A4A3A4"/>
          </p15:clr>
        </p15:guide>
        <p15:guide id="3" orient="horz" pos="456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2550"/>
        <p:guide orient="horz" pos="456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274" y="1279525"/>
            <a:ext cx="19431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581275" y="1279525"/>
            <a:ext cx="19431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012507" y="2778071"/>
            <a:ext cx="6075045" cy="4592454"/>
          </a:xfrm>
        </p:spPr>
        <p:txBody>
          <a:bodyPr anchor="b">
            <a:normAutofit/>
          </a:bodyPr>
          <a:lstStyle>
            <a:lvl1pPr algn="ctr">
              <a:defRPr sz="531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012507" y="7563872"/>
            <a:ext cx="6075045" cy="3476914"/>
          </a:xfrm>
        </p:spPr>
        <p:txBody>
          <a:bodyPr>
            <a:normAutofit/>
          </a:bodyPr>
          <a:lstStyle>
            <a:lvl1pPr marL="0" indent="0" algn="ctr">
              <a:buNone/>
              <a:defRPr sz="159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05130" indent="0" algn="ctr">
              <a:buNone/>
              <a:defRPr sz="1770"/>
            </a:lvl2pPr>
            <a:lvl3pPr marL="810260" indent="0" algn="ctr">
              <a:buNone/>
              <a:defRPr sz="1595"/>
            </a:lvl3pPr>
            <a:lvl4pPr marL="1214755" indent="0" algn="ctr">
              <a:buNone/>
              <a:defRPr sz="1420"/>
            </a:lvl4pPr>
            <a:lvl5pPr marL="1620520" indent="0" algn="ctr">
              <a:buNone/>
              <a:defRPr sz="1420"/>
            </a:lvl5pPr>
            <a:lvl6pPr marL="2025015" indent="0" algn="ctr">
              <a:buNone/>
              <a:defRPr sz="1420"/>
            </a:lvl6pPr>
            <a:lvl7pPr marL="2430145" indent="0" algn="ctr">
              <a:buNone/>
              <a:defRPr sz="1420"/>
            </a:lvl7pPr>
            <a:lvl8pPr marL="2835275" indent="0" algn="ctr">
              <a:buNone/>
              <a:defRPr sz="1420"/>
            </a:lvl8pPr>
            <a:lvl9pPr marL="3240405" indent="0" algn="ctr">
              <a:buNone/>
              <a:defRPr sz="142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0316" y="542705"/>
            <a:ext cx="6986301" cy="2783533"/>
          </a:xfrm>
        </p:spPr>
        <p:txBody>
          <a:bodyPr anchor="ctr" anchorCtr="0">
            <a:normAutofit/>
          </a:bodyPr>
          <a:lstStyle>
            <a:lvl1pPr>
              <a:defRPr sz="212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0316" y="3833606"/>
            <a:ext cx="6986301" cy="9137317"/>
          </a:xfrm>
        </p:spPr>
        <p:txBody>
          <a:bodyPr>
            <a:normAutofit/>
          </a:bodyPr>
          <a:lstStyle>
            <a:lvl1pPr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2660" y="7876920"/>
            <a:ext cx="4864255" cy="1703758"/>
          </a:xfrm>
        </p:spPr>
        <p:txBody>
          <a:bodyPr anchor="b">
            <a:normAutofit/>
          </a:bodyPr>
          <a:lstStyle>
            <a:lvl1pPr>
              <a:defRPr sz="354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2660" y="9680536"/>
            <a:ext cx="4864255" cy="1359793"/>
          </a:xfrm>
        </p:spPr>
        <p:txBody>
          <a:bodyPr>
            <a:normAutofit/>
          </a:bodyPr>
          <a:lstStyle>
            <a:lvl1pPr marL="0" indent="0">
              <a:buNone/>
              <a:defRPr sz="1595">
                <a:solidFill>
                  <a:schemeClr val="tx1"/>
                </a:solidFill>
              </a:defRPr>
            </a:lvl1pPr>
            <a:lvl2pPr marL="405130" indent="0">
              <a:buNone/>
              <a:defRPr sz="1770">
                <a:solidFill>
                  <a:schemeClr val="tx1">
                    <a:tint val="75000"/>
                  </a:schemeClr>
                </a:solidFill>
              </a:defRPr>
            </a:lvl2pPr>
            <a:lvl3pPr marL="810260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21475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4pPr>
            <a:lvl5pPr marL="1620520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5pPr>
            <a:lvl6pPr marL="202501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6pPr>
            <a:lvl7pPr marL="243014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7pPr>
            <a:lvl8pPr marL="283527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8pPr>
            <a:lvl9pPr marL="3240405" indent="0">
              <a:buNone/>
              <a:defRPr sz="1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0316" y="542705"/>
            <a:ext cx="6986301" cy="2783533"/>
          </a:xfrm>
        </p:spPr>
        <p:txBody>
          <a:bodyPr>
            <a:normAutofit/>
          </a:bodyPr>
          <a:lstStyle>
            <a:lvl1pPr>
              <a:defRPr sz="212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0316" y="3833606"/>
            <a:ext cx="3442525" cy="913731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974092" y="3833606"/>
            <a:ext cx="3442525" cy="913731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7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59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42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7934" y="766721"/>
            <a:ext cx="6986301" cy="278353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7934" y="3664221"/>
            <a:ext cx="3426705" cy="1730121"/>
          </a:xfrm>
        </p:spPr>
        <p:txBody>
          <a:bodyPr anchor="b"/>
          <a:lstStyle>
            <a:lvl1pPr marL="0" indent="0">
              <a:buNone/>
              <a:defRPr sz="2125" b="1"/>
            </a:lvl1pPr>
            <a:lvl2pPr marL="405130" indent="0">
              <a:buNone/>
              <a:defRPr sz="1770" b="1"/>
            </a:lvl2pPr>
            <a:lvl3pPr marL="810260" indent="0">
              <a:buNone/>
              <a:defRPr sz="1595" b="1"/>
            </a:lvl3pPr>
            <a:lvl4pPr marL="1214755" indent="0">
              <a:buNone/>
              <a:defRPr sz="1420" b="1"/>
            </a:lvl4pPr>
            <a:lvl5pPr marL="1620520" indent="0">
              <a:buNone/>
              <a:defRPr sz="1420" b="1"/>
            </a:lvl5pPr>
            <a:lvl6pPr marL="2025015" indent="0">
              <a:buNone/>
              <a:defRPr sz="1420" b="1"/>
            </a:lvl6pPr>
            <a:lvl7pPr marL="2430145" indent="0">
              <a:buNone/>
              <a:defRPr sz="1420" b="1"/>
            </a:lvl7pPr>
            <a:lvl8pPr marL="2835275" indent="0">
              <a:buNone/>
              <a:defRPr sz="1420" b="1"/>
            </a:lvl8pPr>
            <a:lvl9pPr marL="3240405" indent="0">
              <a:buNone/>
              <a:defRPr sz="142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57934" y="5492483"/>
            <a:ext cx="3426705" cy="75051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100655" y="3664221"/>
            <a:ext cx="3443581" cy="1730121"/>
          </a:xfrm>
        </p:spPr>
        <p:txBody>
          <a:bodyPr anchor="b"/>
          <a:lstStyle>
            <a:lvl1pPr marL="0" indent="0">
              <a:buNone/>
              <a:defRPr sz="2125" b="1"/>
            </a:lvl1pPr>
            <a:lvl2pPr marL="405130" indent="0">
              <a:buNone/>
              <a:defRPr sz="1770" b="1"/>
            </a:lvl2pPr>
            <a:lvl3pPr marL="810260" indent="0">
              <a:buNone/>
              <a:defRPr sz="1595" b="1"/>
            </a:lvl3pPr>
            <a:lvl4pPr marL="1214755" indent="0">
              <a:buNone/>
              <a:defRPr sz="1420" b="1"/>
            </a:lvl4pPr>
            <a:lvl5pPr marL="1620520" indent="0">
              <a:buNone/>
              <a:defRPr sz="1420" b="1"/>
            </a:lvl5pPr>
            <a:lvl6pPr marL="2025015" indent="0">
              <a:buNone/>
              <a:defRPr sz="1420" b="1"/>
            </a:lvl6pPr>
            <a:lvl7pPr marL="2430145" indent="0">
              <a:buNone/>
              <a:defRPr sz="1420" b="1"/>
            </a:lvl7pPr>
            <a:lvl8pPr marL="2835275" indent="0">
              <a:buNone/>
              <a:defRPr sz="1420" b="1"/>
            </a:lvl8pPr>
            <a:lvl9pPr marL="3240405" indent="0">
              <a:buNone/>
              <a:defRPr sz="142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100655" y="5492483"/>
            <a:ext cx="3443581" cy="75051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6879" y="5808747"/>
            <a:ext cx="6986301" cy="2783533"/>
          </a:xfrm>
        </p:spPr>
        <p:txBody>
          <a:bodyPr>
            <a:normAutofit/>
          </a:bodyPr>
          <a:lstStyle>
            <a:lvl1pPr algn="ctr">
              <a:defRPr sz="425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29682" y="266686"/>
            <a:ext cx="2767255" cy="3360239"/>
          </a:xfrm>
        </p:spPr>
        <p:txBody>
          <a:bodyPr anchor="ctr" anchorCtr="0">
            <a:normAutofit/>
          </a:bodyPr>
          <a:lstStyle>
            <a:lvl1pPr>
              <a:defRPr sz="212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444120" y="1609257"/>
            <a:ext cx="3864919" cy="10697761"/>
          </a:xfrm>
        </p:spPr>
        <p:txBody>
          <a:bodyPr/>
          <a:lstStyle>
            <a:lvl1pPr marL="0" indent="0">
              <a:buNone/>
              <a:defRPr sz="2835"/>
            </a:lvl1pPr>
            <a:lvl2pPr marL="405130" indent="0">
              <a:buNone/>
              <a:defRPr sz="2480"/>
            </a:lvl2pPr>
            <a:lvl3pPr marL="810260" indent="0">
              <a:buNone/>
              <a:defRPr sz="2125"/>
            </a:lvl3pPr>
            <a:lvl4pPr marL="1214755" indent="0">
              <a:buNone/>
              <a:defRPr sz="1770"/>
            </a:lvl4pPr>
            <a:lvl5pPr marL="1620520" indent="0">
              <a:buNone/>
              <a:defRPr sz="1770"/>
            </a:lvl5pPr>
            <a:lvl6pPr marL="2025015" indent="0">
              <a:buNone/>
              <a:defRPr sz="1770"/>
            </a:lvl6pPr>
            <a:lvl7pPr marL="2430145" indent="0">
              <a:buNone/>
              <a:defRPr sz="1770"/>
            </a:lvl7pPr>
            <a:lvl8pPr marL="2835275" indent="0">
              <a:buNone/>
              <a:defRPr sz="1770"/>
            </a:lvl8pPr>
            <a:lvl9pPr marL="3240405" indent="0">
              <a:buNone/>
              <a:defRPr sz="177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33057" y="4320307"/>
            <a:ext cx="2767255" cy="800390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420"/>
            </a:lvl1pPr>
            <a:lvl2pPr marL="405130" indent="0">
              <a:buNone/>
              <a:defRPr sz="1240"/>
            </a:lvl2pPr>
            <a:lvl3pPr marL="810260" indent="0">
              <a:buNone/>
              <a:defRPr sz="1060"/>
            </a:lvl3pPr>
            <a:lvl4pPr marL="1214755" indent="0">
              <a:buNone/>
              <a:defRPr sz="885"/>
            </a:lvl4pPr>
            <a:lvl5pPr marL="1620520" indent="0">
              <a:buNone/>
              <a:defRPr sz="885"/>
            </a:lvl5pPr>
            <a:lvl6pPr marL="2025015" indent="0">
              <a:buNone/>
              <a:defRPr sz="885"/>
            </a:lvl6pPr>
            <a:lvl7pPr marL="2430145" indent="0">
              <a:buNone/>
              <a:defRPr sz="885"/>
            </a:lvl7pPr>
            <a:lvl8pPr marL="2835275" indent="0">
              <a:buNone/>
              <a:defRPr sz="885"/>
            </a:lvl8pPr>
            <a:lvl9pPr marL="3240405" indent="0">
              <a:buNone/>
              <a:defRPr sz="88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27142" y="766721"/>
            <a:ext cx="1016039" cy="12204202"/>
          </a:xfrm>
        </p:spPr>
        <p:txBody>
          <a:bodyPr vert="eaVert">
            <a:normAutofit/>
          </a:bodyPr>
          <a:lstStyle>
            <a:lvl1pPr>
              <a:defRPr sz="319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6879" y="766721"/>
            <a:ext cx="5899622" cy="12204202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556879" y="1158178"/>
            <a:ext cx="6986301" cy="1167320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56879" y="766721"/>
            <a:ext cx="6986301" cy="27835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56879" y="3833606"/>
            <a:ext cx="6986301" cy="91373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56879" y="13347615"/>
            <a:ext cx="1822513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83145" y="13347615"/>
            <a:ext cx="2733770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720667" y="13347615"/>
            <a:ext cx="1822513" cy="766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6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810260" rtl="0" eaLnBrk="1" latinLnBrk="0" hangingPunct="1">
        <a:lnSpc>
          <a:spcPct val="90000"/>
        </a:lnSpc>
        <a:spcBef>
          <a:spcPct val="0"/>
        </a:spcBef>
        <a:buNone/>
        <a:defRPr sz="35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02565" indent="-202565" algn="l" defTabSz="810260" rtl="0" eaLnBrk="1" latinLnBrk="0" hangingPunct="1">
        <a:lnSpc>
          <a:spcPct val="90000"/>
        </a:lnSpc>
        <a:spcBef>
          <a:spcPts val="885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60769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77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01282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41732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182245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22758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6pPr>
      <a:lvl7pPr marL="263271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7pPr>
      <a:lvl8pPr marL="3037840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8pPr>
      <a:lvl9pPr marL="3442335" indent="-202565" algn="l" defTabSz="810260" rtl="0" eaLnBrk="1" latinLnBrk="0" hangingPunct="1">
        <a:lnSpc>
          <a:spcPct val="90000"/>
        </a:lnSpc>
        <a:spcBef>
          <a:spcPct val="89000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1pPr>
      <a:lvl2pPr marL="40513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2pPr>
      <a:lvl3pPr marL="81026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3pPr>
      <a:lvl4pPr marL="121475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4pPr>
      <a:lvl5pPr marL="1620520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5pPr>
      <a:lvl6pPr marL="202501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6pPr>
      <a:lvl7pPr marL="243014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8pPr>
      <a:lvl9pPr marL="3240405" algn="l" defTabSz="810260" rtl="0" eaLnBrk="1" latinLnBrk="0" hangingPunct="1">
        <a:defRPr sz="15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1.pn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8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9.png"/><Relationship Id="rId1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image" Target="../media/image77.png"/><Relationship Id="rId7" Type="http://schemas.openxmlformats.org/officeDocument/2006/relationships/image" Target="../media/image76.png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84.png"/><Relationship Id="rId14" Type="http://schemas.openxmlformats.org/officeDocument/2006/relationships/image" Target="../media/image83.png"/><Relationship Id="rId13" Type="http://schemas.openxmlformats.org/officeDocument/2006/relationships/image" Target="../media/image82.png"/><Relationship Id="rId12" Type="http://schemas.openxmlformats.org/officeDocument/2006/relationships/image" Target="../media/image81.png"/><Relationship Id="rId11" Type="http://schemas.openxmlformats.org/officeDocument/2006/relationships/image" Target="../media/image80.png"/><Relationship Id="rId10" Type="http://schemas.openxmlformats.org/officeDocument/2006/relationships/image" Target="../media/image79.png"/><Relationship Id="rId1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085709" y="5437071"/>
            <a:ext cx="5898638" cy="3612621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1097288" y="5312072"/>
            <a:ext cx="5892208" cy="3737637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621005" y="5397781"/>
            <a:ext cx="6883768" cy="3555471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3717486" y="6026792"/>
            <a:ext cx="841183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0" y="4383405"/>
            <a:ext cx="8100060" cy="3554095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51" name="组合 50"/>
          <p:cNvGrpSpPr/>
          <p:nvPr/>
        </p:nvGrpSpPr>
        <p:grpSpPr>
          <a:xfrm>
            <a:off x="85725" y="4052570"/>
            <a:ext cx="7614920" cy="6424930"/>
            <a:chOff x="135" y="6382"/>
            <a:chExt cx="11992" cy="10118"/>
          </a:xfrm>
        </p:grpSpPr>
        <p:grpSp>
          <p:nvGrpSpPr>
            <p:cNvPr id="8" name="组合 7"/>
            <p:cNvGrpSpPr/>
            <p:nvPr/>
          </p:nvGrpSpPr>
          <p:grpSpPr>
            <a:xfrm rot="0">
              <a:off x="193" y="7052"/>
              <a:ext cx="11934" cy="4292"/>
              <a:chOff x="583" y="2529"/>
              <a:chExt cx="21216" cy="763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" name="TextBox 30"/>
                  <p:cNvSpPr txBox="1"/>
                  <p:nvPr/>
                </p:nvSpPr>
                <p:spPr>
                  <a:xfrm>
                    <a:off x="11630" y="8665"/>
                    <a:ext cx="3967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large,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small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31" name="TextBox 3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30" y="8665"/>
                    <a:ext cx="3967" cy="788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/>
                  <p:cNvSpPr txBox="1"/>
                  <p:nvPr/>
                </p:nvSpPr>
                <p:spPr>
                  <a:xfrm>
                    <a:off x="1098" y="8646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small,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small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11" name="TextBox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" y="8646"/>
                    <a:ext cx="4052" cy="78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16811" y="8646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large,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large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21" name="TextBox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1" y="8646"/>
                    <a:ext cx="4052" cy="78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/>
                  <p:cNvSpPr txBox="1"/>
                  <p:nvPr/>
                </p:nvSpPr>
                <p:spPr>
                  <a:xfrm>
                    <a:off x="6364" y="8637"/>
                    <a:ext cx="4052" cy="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</m:oMath>
                    </a14:m>
                    <a:r>
                      <a:rPr lang="en-US" sz="1240" dirty="0">
                        <a:latin typeface="Arial" panose="020B0604020202020204" pitchFamily="34" charset="0"/>
                      </a:rPr>
                      <a:t> </a:t>
                    </a:r>
                    <a:r>
                      <a:rPr lang="en-US" altLang="zh-CN" sz="1240" dirty="0">
                        <a:latin typeface="Arial" panose="020B0604020202020204" pitchFamily="34" charset="0"/>
                      </a:rPr>
                      <a:t>small</a:t>
                    </a:r>
                    <a:r>
                      <a:rPr lang="en-US" sz="1240" dirty="0">
                        <a:latin typeface="Arial" panose="020B0604020202020204" pitchFamily="34" charset="0"/>
                      </a:rPr>
                      <a:t>, </a:t>
                    </a:r>
                    <a14:m>
                      <m:oMath xmlns:m="http://schemas.openxmlformats.org/officeDocument/2006/math">
                        <m:r>
                          <a:rPr lang="en-US" sz="124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240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 </m:t>
                        </m:r>
                      </m:oMath>
                    </a14:m>
                    <a:r>
                      <a:rPr lang="en-US" altLang="zh-CN" sz="1240" dirty="0">
                        <a:latin typeface="Arial" panose="020B0604020202020204" pitchFamily="34" charset="0"/>
                      </a:rPr>
                      <a:t>large</a:t>
                    </a:r>
                    <a:endParaRPr lang="en-US" sz="1240" dirty="0">
                      <a:latin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64" y="8637"/>
                    <a:ext cx="4052" cy="78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" name="TextBox 12"/>
              <p:cNvSpPr txBox="1"/>
              <p:nvPr/>
            </p:nvSpPr>
            <p:spPr>
              <a:xfrm>
                <a:off x="2645" y="2655"/>
                <a:ext cx="7452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 (cannot be constructed)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0880" y="2676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1832" y="2529"/>
                <a:ext cx="813" cy="813"/>
              </a:xfrm>
              <a:prstGeom prst="rect">
                <a:avLst/>
              </a:prstGeom>
              <a:solidFill>
                <a:srgbClr val="69696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068" y="2551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69696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583" y="3473"/>
                <a:ext cx="5083" cy="5043"/>
                <a:chOff x="493" y="2941"/>
                <a:chExt cx="4304" cy="4270"/>
              </a:xfrm>
            </p:grpSpPr>
            <p:pic>
              <p:nvPicPr>
                <p:cNvPr id="40" name="图片 39"/>
                <p:cNvPicPr>
                  <a:picLocks noChangeAspect="1"/>
                </p:cNvPicPr>
                <p:nvPr/>
              </p:nvPicPr>
              <p:blipFill>
                <a:blip r:embed="rId5">
                  <a:grayscl/>
                </a:blip>
                <a:stretch>
                  <a:fillRect/>
                </a:stretch>
              </p:blipFill>
              <p:spPr>
                <a:xfrm>
                  <a:off x="493" y="2941"/>
                  <a:ext cx="4304" cy="4271"/>
                </a:xfrm>
                <a:prstGeom prst="rect">
                  <a:avLst/>
                </a:prstGeom>
              </p:spPr>
            </p:pic>
            <p:sp>
              <p:nvSpPr>
                <p:cNvPr id="19" name="椭圆 18"/>
                <p:cNvSpPr/>
                <p:nvPr/>
              </p:nvSpPr>
              <p:spPr>
                <a:xfrm>
                  <a:off x="59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5822" y="3473"/>
                <a:ext cx="5081" cy="5043"/>
                <a:chOff x="4929" y="2941"/>
                <a:chExt cx="4302" cy="4270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6">
                  <a:grayscl/>
                </a:blip>
                <a:stretch>
                  <a:fillRect/>
                </a:stretch>
              </p:blipFill>
              <p:spPr>
                <a:xfrm>
                  <a:off x="492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39" name="椭圆 38"/>
                <p:cNvSpPr/>
                <p:nvPr/>
              </p:nvSpPr>
              <p:spPr>
                <a:xfrm>
                  <a:off x="5028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060" y="3473"/>
                <a:ext cx="5081" cy="5043"/>
                <a:chOff x="9364" y="2941"/>
                <a:chExt cx="4302" cy="4270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7">
                  <a:grayscl/>
                </a:blip>
                <a:stretch>
                  <a:fillRect/>
                </a:stretch>
              </p:blipFill>
              <p:spPr>
                <a:xfrm>
                  <a:off x="9364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45" name="椭圆 44"/>
                <p:cNvSpPr/>
                <p:nvPr/>
              </p:nvSpPr>
              <p:spPr>
                <a:xfrm>
                  <a:off x="945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6" name="组合 5"/>
              <p:cNvGrpSpPr/>
              <p:nvPr/>
            </p:nvGrpSpPr>
            <p:grpSpPr>
              <a:xfrm>
                <a:off x="16298" y="3473"/>
                <a:ext cx="5081" cy="5043"/>
                <a:chOff x="13799" y="2941"/>
                <a:chExt cx="4302" cy="4270"/>
              </a:xfrm>
            </p:grpSpPr>
            <p:pic>
              <p:nvPicPr>
                <p:cNvPr id="47" name="图片 46"/>
                <p:cNvPicPr>
                  <a:picLocks noChangeAspect="1"/>
                </p:cNvPicPr>
                <p:nvPr/>
              </p:nvPicPr>
              <p:blipFill>
                <a:blip r:embed="rId8">
                  <a:grayscl/>
                </a:blip>
                <a:stretch>
                  <a:fillRect/>
                </a:stretch>
              </p:blipFill>
              <p:spPr>
                <a:xfrm>
                  <a:off x="13799" y="2941"/>
                  <a:ext cx="4303" cy="4271"/>
                </a:xfrm>
                <a:prstGeom prst="rect">
                  <a:avLst/>
                </a:prstGeom>
              </p:spPr>
            </p:pic>
            <p:sp>
              <p:nvSpPr>
                <p:cNvPr id="48" name="椭圆 47"/>
                <p:cNvSpPr/>
                <p:nvPr/>
              </p:nvSpPr>
              <p:spPr>
                <a:xfrm>
                  <a:off x="13887" y="3013"/>
                  <a:ext cx="4199" cy="4199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8"/>
                  <p:cNvSpPr txBox="1"/>
                  <p:nvPr/>
                </p:nvSpPr>
                <p:spPr>
                  <a:xfrm>
                    <a:off x="14972" y="2557"/>
                    <a:ext cx="6827" cy="9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𝜑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(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)=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(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+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∙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  <m:r>
                            <a:rPr lang="en-US" sz="1595" b="0" i="1" smtClean="0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595" b="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8" name="TextBox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72" y="2557"/>
                    <a:ext cx="6827" cy="94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文本框 60"/>
              <p:cNvSpPr txBox="1"/>
              <p:nvPr/>
            </p:nvSpPr>
            <p:spPr>
              <a:xfrm>
                <a:off x="5933" y="9322"/>
                <a:ext cx="4928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Edge constrained</a:t>
                </a:r>
                <a:endPara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932" y="9302"/>
                <a:ext cx="4734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Open</a:t>
                </a:r>
                <a:endPara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6422" y="9322"/>
                <a:ext cx="4936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Locked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1095" y="9322"/>
                <a:ext cx="5252" cy="8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constrained</a:t>
                </a:r>
                <a:endPara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 rot="0">
              <a:off x="135" y="12332"/>
              <a:ext cx="11992" cy="4169"/>
              <a:chOff x="775" y="2738"/>
              <a:chExt cx="21319" cy="7412"/>
            </a:xfrm>
          </p:grpSpPr>
          <p:grpSp>
            <p:nvGrpSpPr>
              <p:cNvPr id="9" name="组合 8"/>
              <p:cNvGrpSpPr/>
              <p:nvPr/>
            </p:nvGrpSpPr>
            <p:grpSpPr>
              <a:xfrm>
                <a:off x="775" y="2738"/>
                <a:ext cx="21319" cy="6876"/>
                <a:chOff x="1249" y="1355"/>
                <a:chExt cx="21319" cy="6876"/>
              </a:xfrm>
            </p:grpSpPr>
            <p:sp>
              <p:nvSpPr>
                <p:cNvPr id="126" name="Google Shape;421;p29"/>
                <p:cNvSpPr txBox="1"/>
                <p:nvPr/>
              </p:nvSpPr>
              <p:spPr>
                <a:xfrm>
                  <a:off x="7112" y="7170"/>
                  <a:ext cx="4043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small δ large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7" name="Google Shape;422;p29"/>
                <p:cNvSpPr txBox="1"/>
                <p:nvPr/>
              </p:nvSpPr>
              <p:spPr>
                <a:xfrm>
                  <a:off x="17905" y="7170"/>
                  <a:ext cx="4249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large δ large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8" name="Google Shape;423;p29"/>
                <p:cNvSpPr txBox="1"/>
                <p:nvPr/>
              </p:nvSpPr>
              <p:spPr>
                <a:xfrm>
                  <a:off x="1714" y="7170"/>
                  <a:ext cx="4044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small δ small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9" name="Google Shape;424;p29"/>
                <p:cNvSpPr txBox="1"/>
                <p:nvPr/>
              </p:nvSpPr>
              <p:spPr>
                <a:xfrm>
                  <a:off x="12509" y="7170"/>
                  <a:ext cx="4043" cy="1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80960" tIns="80960" rIns="80960" bIns="80960" anchor="t" anchorCtr="0">
                  <a:spAutoFit/>
                </a:bodyPr>
                <a:lstStyle/>
                <a:p>
                  <a:pPr lvl="0" algn="ctr"/>
                  <a:r>
                    <a:rPr lang="de-AT" sz="1420" dirty="0">
                      <a:solidFill>
                        <a:schemeClr val="dk1"/>
                      </a:solidFill>
                      <a:latin typeface="Arial" panose="020B0604020202020204" pitchFamily="34" charset="0"/>
                    </a:rPr>
                    <a:t>κ large δ small </a:t>
                  </a:r>
                  <a:endParaRPr sz="1420" dirty="0">
                    <a:solidFill>
                      <a:schemeClr val="dk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2" name="TextBox 12"/>
                <p:cNvSpPr txBox="1"/>
                <p:nvPr/>
              </p:nvSpPr>
              <p:spPr>
                <a:xfrm>
                  <a:off x="2886" y="1378"/>
                  <a:ext cx="2508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Buildings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" name="TextBox 98"/>
                <p:cNvSpPr txBox="1"/>
                <p:nvPr/>
              </p:nvSpPr>
              <p:spPr>
                <a:xfrm>
                  <a:off x="11123" y="1379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2073" y="1357"/>
                  <a:ext cx="813" cy="813"/>
                </a:xfrm>
                <a:prstGeom prst="rect">
                  <a:avLst/>
                </a:prstGeom>
                <a:solidFill>
                  <a:srgbClr val="69A2BC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10309" y="1355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14" name="组合 13"/>
                <p:cNvGrpSpPr/>
                <p:nvPr/>
              </p:nvGrpSpPr>
              <p:grpSpPr>
                <a:xfrm>
                  <a:off x="1249" y="2420"/>
                  <a:ext cx="4974" cy="4859"/>
                  <a:chOff x="1057" y="2049"/>
                  <a:chExt cx="4212" cy="4114"/>
                </a:xfrm>
              </p:grpSpPr>
              <p:pic>
                <p:nvPicPr>
                  <p:cNvPr id="15" name="图片 14"/>
                  <p:cNvPicPr>
                    <a:picLocks noChangeAspect="1"/>
                  </p:cNvPicPr>
                  <p:nvPr/>
                </p:nvPicPr>
                <p:blipFill>
                  <a:blip r:embed="rId10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057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7" name="椭圆 26"/>
                  <p:cNvSpPr/>
                  <p:nvPr/>
                </p:nvSpPr>
                <p:spPr>
                  <a:xfrm>
                    <a:off x="1280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16" name="组合 15"/>
                <p:cNvGrpSpPr/>
                <p:nvPr/>
              </p:nvGrpSpPr>
              <p:grpSpPr>
                <a:xfrm>
                  <a:off x="6580" y="2420"/>
                  <a:ext cx="4974" cy="4859"/>
                  <a:chOff x="5571" y="2049"/>
                  <a:chExt cx="4212" cy="4114"/>
                </a:xfrm>
              </p:grpSpPr>
              <p:pic>
                <p:nvPicPr>
                  <p:cNvPr id="17" name="图片 16"/>
                  <p:cNvPicPr>
                    <a:picLocks noChangeAspect="1"/>
                  </p:cNvPicPr>
                  <p:nvPr/>
                </p:nvPicPr>
                <p:blipFill>
                  <a:blip r:embed="rId11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5571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8" name="椭圆 27"/>
                  <p:cNvSpPr/>
                  <p:nvPr/>
                </p:nvSpPr>
                <p:spPr>
                  <a:xfrm>
                    <a:off x="5813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18" name="组合 17"/>
                <p:cNvGrpSpPr/>
                <p:nvPr/>
              </p:nvGrpSpPr>
              <p:grpSpPr>
                <a:xfrm>
                  <a:off x="11910" y="2420"/>
                  <a:ext cx="4974" cy="4859"/>
                  <a:chOff x="10084" y="2049"/>
                  <a:chExt cx="4212" cy="4114"/>
                </a:xfrm>
              </p:grpSpPr>
              <p:pic>
                <p:nvPicPr>
                  <p:cNvPr id="20" name="图片 19"/>
                  <p:cNvPicPr>
                    <a:picLocks noChangeAspect="1"/>
                  </p:cNvPicPr>
                  <p:nvPr/>
                </p:nvPicPr>
                <p:blipFill>
                  <a:blip r:embed="rId12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0084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22" name="椭圆 21"/>
                  <p:cNvSpPr/>
                  <p:nvPr/>
                </p:nvSpPr>
                <p:spPr>
                  <a:xfrm>
                    <a:off x="10347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23" name="组合 22"/>
                <p:cNvGrpSpPr/>
                <p:nvPr/>
              </p:nvGrpSpPr>
              <p:grpSpPr>
                <a:xfrm>
                  <a:off x="17241" y="2420"/>
                  <a:ext cx="4974" cy="4859"/>
                  <a:chOff x="14598" y="2049"/>
                  <a:chExt cx="4212" cy="4114"/>
                </a:xfrm>
              </p:grpSpPr>
              <p:pic>
                <p:nvPicPr>
                  <p:cNvPr id="24" name="图片 23"/>
                  <p:cNvPicPr>
                    <a:picLocks noChangeAspect="1"/>
                  </p:cNvPicPr>
                  <p:nvPr/>
                </p:nvPicPr>
                <p:blipFill>
                  <a:blip r:embed="rId13">
                    <a:clrChange>
                      <a:clrFrom>
                        <a:srgbClr val="F7F7F7">
                          <a:alpha val="100000"/>
                        </a:srgbClr>
                      </a:clrFrom>
                      <a:clrTo>
                        <a:srgbClr val="F7F7F7">
                          <a:alpha val="100000"/>
                          <a:alpha val="0"/>
                        </a:srgbClr>
                      </a:clrTo>
                    </a:clrChange>
                  </a:blip>
                  <a:stretch>
                    <a:fillRect/>
                  </a:stretch>
                </p:blipFill>
                <p:spPr>
                  <a:xfrm>
                    <a:off x="14598" y="2049"/>
                    <a:ext cx="4212" cy="4115"/>
                  </a:xfrm>
                  <a:prstGeom prst="rect">
                    <a:avLst/>
                  </a:prstGeom>
                </p:spPr>
              </p:pic>
              <p:sp>
                <p:nvSpPr>
                  <p:cNvPr id="30" name="椭圆 29"/>
                  <p:cNvSpPr/>
                  <p:nvPr/>
                </p:nvSpPr>
                <p:spPr>
                  <a:xfrm>
                    <a:off x="14880" y="2210"/>
                    <a:ext cx="3862" cy="3862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sp>
              <p:nvSpPr>
                <p:cNvPr id="25" name="TextBox 12"/>
                <p:cNvSpPr txBox="1"/>
                <p:nvPr/>
              </p:nvSpPr>
              <p:spPr>
                <a:xfrm>
                  <a:off x="6570" y="1378"/>
                  <a:ext cx="3374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5768" y="1357"/>
                  <a:ext cx="813" cy="813"/>
                </a:xfrm>
                <a:prstGeom prst="rect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8" name="文本框 87"/>
                    <p:cNvSpPr txBox="1"/>
                    <p:nvPr/>
                  </p:nvSpPr>
                  <p:spPr>
                    <a:xfrm>
                      <a:off x="15324" y="1378"/>
                      <a:ext cx="7244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>
                      <a:spAutoFit/>
                    </a:bodyPr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1200"/>
                        </a:spcBef>
                        <a:buFont typeface="Wingdings" panose="05000000000000000000" charset="0"/>
                        <a:buNone/>
                      </a:pPr>
                      <a14:m>
                        <m:oMath xmlns:m="http://schemas.openxmlformats.org/officeDocument/2006/math"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 (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sz="1595" i="1" smtClean="0"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sz="159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 </m:t>
                          </m:r>
                        </m:oMath>
                      </a14:m>
                      <a:r>
                        <a:rPr 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 </a:t>
                      </a:r>
                      <a:endParaRPr lang="en-US" alt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p:txBody>
                </p:sp>
              </mc:Choice>
              <mc:Fallback>
                <p:sp>
                  <p:nvSpPr>
                    <p:cNvPr id="88" name="文本框 8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324" y="1378"/>
                      <a:ext cx="7244" cy="944"/>
                    </a:xfrm>
                    <a:prstGeom prst="rect">
                      <a:avLst/>
                    </a:prstGeom>
                    <a:blipFill rotWithShape="1">
                      <a:blip r:embed="rId1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5" name="文本框 34"/>
              <p:cNvSpPr txBox="1"/>
              <p:nvPr/>
            </p:nvSpPr>
            <p:spPr>
              <a:xfrm>
                <a:off x="6703" y="9322"/>
                <a:ext cx="4100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Thinly built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50" y="9322"/>
                <a:ext cx="4604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sparse</a:t>
                </a:r>
                <a:endPara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634" y="9322"/>
                <a:ext cx="3810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Core-dense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1759" y="9322"/>
                <a:ext cx="4599" cy="8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rPr>
                  <a:t>Uniformly dense</a:t>
                </a:r>
                <a:endPara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endParaRPr>
              </a:p>
            </p:txBody>
          </p:sp>
        </p:grpSp>
        <p:sp>
          <p:nvSpPr>
            <p:cNvPr id="49" name="文本框 48"/>
            <p:cNvSpPr txBox="1"/>
            <p:nvPr/>
          </p:nvSpPr>
          <p:spPr>
            <a:xfrm>
              <a:off x="448" y="6382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Horizontal Constraints Types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528" y="11577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Horizontal Construction Types</a:t>
              </a:r>
              <a:endParaRPr lang="en-US" altLang="zh-CN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2339407" y="11274047"/>
                <a:ext cx="3511722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407" y="11274047"/>
                <a:ext cx="3511722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2" t="-49" r="7" b="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277457" y="5908976"/>
            <a:ext cx="7614936" cy="2646779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279" y="9707044"/>
            <a:ext cx="2271652" cy="139842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776" y="9781289"/>
            <a:ext cx="1792011" cy="993453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236" y="9781289"/>
            <a:ext cx="1673894" cy="927644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252730" y="5544185"/>
            <a:ext cx="7555230" cy="2633345"/>
            <a:chOff x="398" y="8731"/>
            <a:chExt cx="11898" cy="4147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60"/>
              <a:chOff x="647" y="2057"/>
              <a:chExt cx="17861" cy="5660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62"/>
                <a:chOff x="7722" y="2455"/>
                <a:chExt cx="3661" cy="5262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2024"/>
                  <a:chOff x="5687" y="5068"/>
                  <a:chExt cx="2657" cy="2024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2024"/>
                    <a:chOff x="3202" y="5108"/>
                    <a:chExt cx="2657" cy="2024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56"/>
                <a:chOff x="14737" y="2761"/>
                <a:chExt cx="3767" cy="4956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2024"/>
                  <a:chOff x="10870" y="5054"/>
                  <a:chExt cx="2657" cy="2024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2024"/>
                    <a:chOff x="3202" y="5108"/>
                    <a:chExt cx="2657" cy="2024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33"/>
                <a:chOff x="11192" y="2584"/>
                <a:chExt cx="3643" cy="5133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2024"/>
                  <a:chOff x="8290" y="5068"/>
                  <a:chExt cx="2657" cy="2024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2024"/>
                    <a:chOff x="3202" y="5108"/>
                    <a:chExt cx="2657" cy="2024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2024"/>
                      <a:chOff x="3202" y="5108"/>
                      <a:chExt cx="2657" cy="2024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3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3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69"/>
                <a:chOff x="4198" y="2348"/>
                <a:chExt cx="3683" cy="5369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2024"/>
                  <a:chOff x="4673" y="5693"/>
                  <a:chExt cx="2657" cy="2024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2024"/>
                    <a:chOff x="10870" y="5054"/>
                    <a:chExt cx="2657" cy="2024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2024"/>
                      <a:chOff x="3202" y="5108"/>
                      <a:chExt cx="2657" cy="2024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3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3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Vertical Profile Types</a:t>
              </a:r>
              <a:endParaRPr lang="en-US" altLang="zh-CN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9769283" y="5287934"/>
            <a:ext cx="5570380" cy="417912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915121" y="5192056"/>
            <a:ext cx="6587657" cy="3602262"/>
            <a:chOff x="2562" y="774"/>
            <a:chExt cx="18443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5545" y="9577"/>
              <a:ext cx="12840" cy="1259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0646" y="774"/>
              <a:ext cx="10359" cy="8317"/>
              <a:chOff x="10646" y="774"/>
              <a:chExt cx="10359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368977" y="4559115"/>
            <a:ext cx="76152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8342890" y="4247645"/>
            <a:ext cx="1544847" cy="513639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8921314" y="6387008"/>
            <a:ext cx="8195727" cy="1489126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394113" y="4251217"/>
            <a:ext cx="5580381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/>
          <p:cNvSpPr/>
          <p:nvPr/>
        </p:nvSpPr>
        <p:spPr>
          <a:xfrm>
            <a:off x="405765" y="5311140"/>
            <a:ext cx="7552055" cy="35229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3" name="图片 2"/>
          <p:cNvPicPr/>
          <p:nvPr/>
        </p:nvPicPr>
        <p:blipFill>
          <a:blip r:embed="rId1"/>
          <a:srcRect t="6059" r="30212" b="5321"/>
          <a:stretch>
            <a:fillRect/>
          </a:stretch>
        </p:blipFill>
        <p:spPr>
          <a:xfrm>
            <a:off x="3884930" y="5594350"/>
            <a:ext cx="3516630" cy="2230755"/>
          </a:xfrm>
          <a:prstGeom prst="rect">
            <a:avLst/>
          </a:prstGeom>
        </p:spPr>
      </p:pic>
      <p:pic>
        <p:nvPicPr>
          <p:cNvPr id="2" name="图片 1"/>
          <p:cNvPicPr/>
          <p:nvPr/>
        </p:nvPicPr>
        <p:blipFill>
          <a:blip r:embed="rId2"/>
          <a:srcRect t="6058" r="32331" b="5235"/>
          <a:stretch>
            <a:fillRect/>
          </a:stretch>
        </p:blipFill>
        <p:spPr>
          <a:xfrm>
            <a:off x="405130" y="5618480"/>
            <a:ext cx="3310890" cy="2169795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4417060" y="7767320"/>
            <a:ext cx="630555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/>
              <a:t>Africa</a:t>
            </a:r>
            <a:endParaRPr lang="en-US" altLang="zh-CN" sz="1015"/>
          </a:p>
        </p:txBody>
      </p:sp>
      <p:sp>
        <p:nvSpPr>
          <p:cNvPr id="56" name="文本框 55"/>
          <p:cNvSpPr txBox="1"/>
          <p:nvPr/>
        </p:nvSpPr>
        <p:spPr>
          <a:xfrm>
            <a:off x="5227320" y="7766050"/>
            <a:ext cx="111633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/>
              <a:t>South &amp; Southeast Asia</a:t>
            </a:r>
            <a:endParaRPr lang="en-US" altLang="zh-CN" sz="1015"/>
          </a:p>
        </p:txBody>
      </p:sp>
      <p:sp>
        <p:nvSpPr>
          <p:cNvPr id="57" name="文本框 56"/>
          <p:cNvSpPr txBox="1"/>
          <p:nvPr/>
        </p:nvSpPr>
        <p:spPr>
          <a:xfrm>
            <a:off x="6381115" y="7767955"/>
            <a:ext cx="71247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15">
                <a:ea typeface="宋体" panose="02010600030101010101" pitchFamily="2" charset="-122"/>
              </a:rPr>
              <a:t>Latin</a:t>
            </a:r>
            <a:endParaRPr lang="en-US" altLang="zh-CN" sz="1015">
              <a:ea typeface="宋体" panose="02010600030101010101" pitchFamily="2" charset="-122"/>
            </a:endParaRPr>
          </a:p>
          <a:p>
            <a:pPr algn="ctr"/>
            <a:r>
              <a:rPr lang="en-US" altLang="zh-CN" sz="1015">
                <a:ea typeface="宋体" panose="02010600030101010101" pitchFamily="2" charset="-122"/>
              </a:rPr>
              <a:t>America</a:t>
            </a:r>
            <a:endParaRPr lang="en-US" altLang="zh-CN" sz="1015">
              <a:ea typeface="宋体" panose="02010600030101010101" pitchFamily="2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4364355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5" name="文本框 64"/>
          <p:cNvSpPr txBox="1"/>
          <p:nvPr/>
        </p:nvSpPr>
        <p:spPr>
          <a:xfrm>
            <a:off x="4747895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66" name="文本框 65"/>
          <p:cNvSpPr txBox="1"/>
          <p:nvPr/>
        </p:nvSpPr>
        <p:spPr>
          <a:xfrm>
            <a:off x="5347335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7" name="文本框 66"/>
          <p:cNvSpPr txBox="1"/>
          <p:nvPr/>
        </p:nvSpPr>
        <p:spPr>
          <a:xfrm>
            <a:off x="5730875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68" name="文本框 67"/>
          <p:cNvSpPr txBox="1"/>
          <p:nvPr/>
        </p:nvSpPr>
        <p:spPr>
          <a:xfrm>
            <a:off x="6366510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2016</a:t>
            </a:r>
            <a:endParaRPr lang="en-US" altLang="zh-CN" sz="790"/>
          </a:p>
        </p:txBody>
      </p:sp>
      <p:sp>
        <p:nvSpPr>
          <p:cNvPr id="69" name="文本框 68"/>
          <p:cNvSpPr txBox="1"/>
          <p:nvPr/>
        </p:nvSpPr>
        <p:spPr>
          <a:xfrm>
            <a:off x="6750050" y="5594350"/>
            <a:ext cx="367030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90"/>
              <a:t>2023</a:t>
            </a:r>
            <a:endParaRPr lang="en-US" altLang="zh-CN" sz="790"/>
          </a:p>
        </p:txBody>
      </p:sp>
      <p:sp>
        <p:nvSpPr>
          <p:cNvPr id="14" name="矩形 13"/>
          <p:cNvSpPr/>
          <p:nvPr/>
        </p:nvSpPr>
        <p:spPr>
          <a:xfrm>
            <a:off x="783590" y="8418830"/>
            <a:ext cx="263525" cy="158115"/>
          </a:xfrm>
          <a:prstGeom prst="rect">
            <a:avLst/>
          </a:prstGeom>
          <a:solidFill>
            <a:srgbClr val="9EDA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5" name="文本框 14"/>
          <p:cNvSpPr txBox="1"/>
          <p:nvPr/>
        </p:nvSpPr>
        <p:spPr>
          <a:xfrm>
            <a:off x="1091565" y="8395970"/>
            <a:ext cx="1217930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Developable</a:t>
            </a:r>
            <a:endParaRPr lang="en-US" altLang="zh-CN" sz="845"/>
          </a:p>
        </p:txBody>
      </p:sp>
      <p:sp>
        <p:nvSpPr>
          <p:cNvPr id="16" name="矩形 15"/>
          <p:cNvSpPr/>
          <p:nvPr/>
        </p:nvSpPr>
        <p:spPr>
          <a:xfrm>
            <a:off x="783590" y="8615680"/>
            <a:ext cx="263525" cy="158115"/>
          </a:xfrm>
          <a:prstGeom prst="rect">
            <a:avLst/>
          </a:prstGeom>
          <a:solidFill>
            <a:srgbClr val="F7B6D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7" name="文本框 16"/>
          <p:cNvSpPr txBox="1"/>
          <p:nvPr/>
        </p:nvSpPr>
        <p:spPr>
          <a:xfrm>
            <a:off x="1091565" y="8592185"/>
            <a:ext cx="131826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Constrianed</a:t>
            </a:r>
            <a:endParaRPr lang="en-US" altLang="zh-CN" sz="845"/>
          </a:p>
        </p:txBody>
      </p:sp>
      <p:sp>
        <p:nvSpPr>
          <p:cNvPr id="18" name="矩形 17"/>
          <p:cNvSpPr/>
          <p:nvPr/>
        </p:nvSpPr>
        <p:spPr>
          <a:xfrm>
            <a:off x="2453005" y="8411210"/>
            <a:ext cx="263525" cy="158115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9" name="矩形 18"/>
          <p:cNvSpPr/>
          <p:nvPr/>
        </p:nvSpPr>
        <p:spPr>
          <a:xfrm>
            <a:off x="2453005" y="8608060"/>
            <a:ext cx="263525" cy="158115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20" name="文本框 19"/>
          <p:cNvSpPr txBox="1"/>
          <p:nvPr/>
        </p:nvSpPr>
        <p:spPr>
          <a:xfrm>
            <a:off x="2757805" y="8403590"/>
            <a:ext cx="144272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Core-Open, Edge-Locked</a:t>
            </a:r>
            <a:endParaRPr lang="en-US" altLang="zh-CN" sz="845"/>
          </a:p>
        </p:txBody>
      </p:sp>
      <p:sp>
        <p:nvSpPr>
          <p:cNvPr id="21" name="文本框 20"/>
          <p:cNvSpPr txBox="1"/>
          <p:nvPr/>
        </p:nvSpPr>
        <p:spPr>
          <a:xfrm>
            <a:off x="2757805" y="8584565"/>
            <a:ext cx="1442720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Core-Limited, Edge-Locked</a:t>
            </a:r>
            <a:endParaRPr lang="en-US" altLang="zh-CN" sz="845"/>
          </a:p>
        </p:txBody>
      </p:sp>
      <p:sp>
        <p:nvSpPr>
          <p:cNvPr id="29" name="文本框 28"/>
          <p:cNvSpPr txBox="1"/>
          <p:nvPr/>
        </p:nvSpPr>
        <p:spPr>
          <a:xfrm>
            <a:off x="1456055" y="8214360"/>
            <a:ext cx="200914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45" b="1">
                <a:latin typeface="Arial" panose="020B0604020202020204" pitchFamily="34" charset="0"/>
                <a:cs typeface="Arial" panose="020B0604020202020204" pitchFamily="34" charset="0"/>
              </a:rPr>
              <a:t>α-β Categories</a:t>
            </a:r>
            <a:endParaRPr lang="en-US" altLang="zh-CN" sz="845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05765" y="5311140"/>
            <a:ext cx="3310255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/>
              <a:t>(a) Horizontal Constraint Types</a:t>
            </a:r>
            <a:endParaRPr lang="en-US" altLang="zh-CN" sz="1350"/>
          </a:p>
        </p:txBody>
      </p:sp>
      <p:sp>
        <p:nvSpPr>
          <p:cNvPr id="36" name="文本框 35"/>
          <p:cNvSpPr txBox="1"/>
          <p:nvPr/>
        </p:nvSpPr>
        <p:spPr>
          <a:xfrm>
            <a:off x="3813175" y="5311140"/>
            <a:ext cx="3881755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50"/>
              <a:t>(b) Horizontal Construction Types</a:t>
            </a:r>
            <a:endParaRPr lang="en-US" altLang="zh-CN" sz="1350"/>
          </a:p>
        </p:txBody>
      </p:sp>
      <p:sp>
        <p:nvSpPr>
          <p:cNvPr id="46" name="矩形 45"/>
          <p:cNvSpPr/>
          <p:nvPr/>
        </p:nvSpPr>
        <p:spPr>
          <a:xfrm>
            <a:off x="4529455" y="8418830"/>
            <a:ext cx="263525" cy="158115"/>
          </a:xfrm>
          <a:prstGeom prst="rect">
            <a:avLst/>
          </a:prstGeom>
          <a:solidFill>
            <a:srgbClr val="B3B3B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47" name="文本框 46"/>
          <p:cNvSpPr txBox="1"/>
          <p:nvPr/>
        </p:nvSpPr>
        <p:spPr>
          <a:xfrm>
            <a:off x="4837430" y="8395970"/>
            <a:ext cx="200914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Sparse</a:t>
            </a:r>
            <a:endParaRPr lang="en-US" altLang="zh-CN" sz="845"/>
          </a:p>
        </p:txBody>
      </p:sp>
      <p:sp>
        <p:nvSpPr>
          <p:cNvPr id="48" name="矩形 47"/>
          <p:cNvSpPr/>
          <p:nvPr/>
        </p:nvSpPr>
        <p:spPr>
          <a:xfrm>
            <a:off x="4529455" y="8615680"/>
            <a:ext cx="263525" cy="158115"/>
          </a:xfrm>
          <a:prstGeom prst="rect">
            <a:avLst/>
          </a:prstGeom>
          <a:solidFill>
            <a:srgbClr val="FFD92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49" name="文本框 48"/>
          <p:cNvSpPr txBox="1"/>
          <p:nvPr/>
        </p:nvSpPr>
        <p:spPr>
          <a:xfrm>
            <a:off x="4837430" y="8599805"/>
            <a:ext cx="2009775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Uniformly Dense</a:t>
            </a:r>
            <a:endParaRPr lang="en-US" altLang="zh-CN" sz="845"/>
          </a:p>
        </p:txBody>
      </p:sp>
      <p:sp>
        <p:nvSpPr>
          <p:cNvPr id="50" name="矩形 49"/>
          <p:cNvSpPr/>
          <p:nvPr/>
        </p:nvSpPr>
        <p:spPr>
          <a:xfrm>
            <a:off x="5798185" y="8411210"/>
            <a:ext cx="263525" cy="158115"/>
          </a:xfrm>
          <a:prstGeom prst="rect">
            <a:avLst/>
          </a:prstGeom>
          <a:solidFill>
            <a:srgbClr val="8DA0CB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51" name="矩形 50"/>
          <p:cNvSpPr/>
          <p:nvPr/>
        </p:nvSpPr>
        <p:spPr>
          <a:xfrm>
            <a:off x="5798185" y="8608060"/>
            <a:ext cx="263525" cy="158115"/>
          </a:xfrm>
          <a:prstGeom prst="rect">
            <a:avLst/>
          </a:prstGeom>
          <a:solidFill>
            <a:srgbClr val="66C2A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52" name="文本框 51"/>
          <p:cNvSpPr txBox="1"/>
          <p:nvPr/>
        </p:nvSpPr>
        <p:spPr>
          <a:xfrm>
            <a:off x="6102985" y="8403590"/>
            <a:ext cx="1591310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Small-Core, Sparse-Periphery</a:t>
            </a:r>
            <a:endParaRPr lang="en-US" altLang="zh-CN" sz="845"/>
          </a:p>
        </p:txBody>
      </p:sp>
      <p:sp>
        <p:nvSpPr>
          <p:cNvPr id="53" name="文本框 52"/>
          <p:cNvSpPr txBox="1"/>
          <p:nvPr/>
        </p:nvSpPr>
        <p:spPr>
          <a:xfrm>
            <a:off x="6102985" y="8584565"/>
            <a:ext cx="1591945" cy="352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45"/>
              <a:t>Dense-Core, Sparse-Periphery</a:t>
            </a:r>
            <a:endParaRPr lang="en-US" altLang="zh-CN" sz="845"/>
          </a:p>
        </p:txBody>
      </p:sp>
      <p:sp>
        <p:nvSpPr>
          <p:cNvPr id="54" name="文本框 53"/>
          <p:cNvSpPr txBox="1"/>
          <p:nvPr/>
        </p:nvSpPr>
        <p:spPr>
          <a:xfrm>
            <a:off x="5074285" y="8191500"/>
            <a:ext cx="2009140" cy="221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45" b="1">
                <a:latin typeface="Arial" panose="020B0604020202020204" pitchFamily="34" charset="0"/>
                <a:cs typeface="Arial" panose="020B0604020202020204" pitchFamily="34" charset="0"/>
              </a:rPr>
              <a:t>κ-δ Categories</a:t>
            </a:r>
            <a:endParaRPr lang="en-US" altLang="zh-CN" sz="845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0" name="组合 69"/>
          <p:cNvGrpSpPr/>
          <p:nvPr/>
        </p:nvGrpSpPr>
        <p:grpSpPr>
          <a:xfrm rot="0">
            <a:off x="848995" y="5600700"/>
            <a:ext cx="2727325" cy="2600960"/>
            <a:chOff x="3143" y="2576"/>
            <a:chExt cx="6906" cy="6584"/>
          </a:xfrm>
        </p:grpSpPr>
        <p:sp>
          <p:nvSpPr>
            <p:cNvPr id="10" name="文本框 9"/>
            <p:cNvSpPr txBox="1"/>
            <p:nvPr/>
          </p:nvSpPr>
          <p:spPr>
            <a:xfrm>
              <a:off x="3279" y="8057"/>
              <a:ext cx="1602" cy="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187" y="8058"/>
              <a:ext cx="2769" cy="9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8099" y="8058"/>
              <a:ext cx="1810" cy="11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143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4118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5642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6617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8141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9116" y="2576"/>
              <a:ext cx="933" cy="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949187" y="5311357"/>
            <a:ext cx="3769427" cy="3889086"/>
            <a:chOff x="5457" y="1090"/>
            <a:chExt cx="10553" cy="10888"/>
          </a:xfrm>
        </p:grpSpPr>
        <p:sp>
          <p:nvSpPr>
            <p:cNvPr id="73" name="矩形 72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1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31" name="文本框 30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974" y="1967"/>
              <a:ext cx="7820" cy="7632"/>
              <a:chOff x="3143" y="2576"/>
              <a:chExt cx="7072" cy="69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1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2116" cy="11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18" name="矩形 17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46" name="矩形 45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6" name="矩形 5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/>
          <p:cNvGrpSpPr/>
          <p:nvPr/>
        </p:nvGrpSpPr>
        <p:grpSpPr>
          <a:xfrm>
            <a:off x="1357322" y="9564063"/>
            <a:ext cx="5570380" cy="417912"/>
            <a:chOff x="3800" y="12996"/>
            <a:chExt cx="15595" cy="1170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230990"/>
            <a:ext cx="8100000" cy="4051397"/>
            <a:chOff x="0" y="865"/>
            <a:chExt cx="22677" cy="1134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6034" cy="1684"/>
              <a:chOff x="3914" y="9142"/>
              <a:chExt cx="14213" cy="149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3931592" y="9654789"/>
            <a:ext cx="3248287" cy="2563554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357547" y="9663362"/>
            <a:ext cx="3248287" cy="2563554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174666" y="5370651"/>
            <a:ext cx="7104512" cy="3814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231102" y="5443875"/>
            <a:ext cx="6929846" cy="3798360"/>
            <a:chOff x="410845" y="927735"/>
            <a:chExt cx="12319635" cy="675259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752590"/>
              <a:chOff x="647" y="1461"/>
              <a:chExt cx="19401" cy="10634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1212"/>
                <a:chOff x="6124" y="10847"/>
                <a:chExt cx="8899" cy="1212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8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/>
          <p:cNvGrpSpPr/>
          <p:nvPr/>
        </p:nvGrpSpPr>
        <p:grpSpPr>
          <a:xfrm>
            <a:off x="-32147" y="5140978"/>
            <a:ext cx="8440760" cy="3483675"/>
            <a:chOff x="-90" y="613"/>
            <a:chExt cx="23631" cy="9753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Latin America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/>
                <a:t>South&amp;South-east Asia</a:t>
              </a:r>
              <a:endParaRPr lang="en-US" altLang="zh-CN" sz="1015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3340442" y="5911437"/>
            <a:ext cx="70938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435772" y="6978721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726300" y="5849286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3121842" y="6812270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113759" y="5854644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5833986" y="6830487"/>
            <a:ext cx="220243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7133087" y="5882504"/>
            <a:ext cx="0" cy="198562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614896" y="6840131"/>
            <a:ext cx="709380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5468224" y="10530620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5468224" y="10530620"/>
              <a:ext cx="1976120" cy="13595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549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98584" y="10141282"/>
            <a:ext cx="7345972" cy="2647136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5888994" y="9540131"/>
            <a:ext cx="1980262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1794" y="5136691"/>
            <a:ext cx="7769242" cy="4196627"/>
            <a:chOff x="109855" y="381635"/>
            <a:chExt cx="13811885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3811885" cy="7460615"/>
              <a:chOff x="173" y="601"/>
              <a:chExt cx="21751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061" cy="1999"/>
                <a:chOff x="16736" y="6695"/>
                <a:chExt cx="5061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4784" cy="12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68"/>
                <a:chOff x="503" y="6892"/>
                <a:chExt cx="15881" cy="5968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1215161" y="6664036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11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1215161" y="6664036"/>
              <a:ext cx="5669280" cy="186944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1889760"/>
                    <a:gridCol w="1889760"/>
                    <a:gridCol w="1889760"/>
                  </a:tblGrid>
                  <a:tr h="2336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 sz="1195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 sz="1195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Significance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195"/>
                            <a:t>Sign</a:t>
                          </a:r>
                          <a:endParaRPr lang="en-US" altLang="zh-CN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  <a:tr h="2336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51435" marR="51435" marT="25717" marB="25717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 sz="1195"/>
                        </a:p>
                      </a:txBody>
                      <a:tcPr marL="51435" marR="51435" marT="25717" marB="25717"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161093" y="5368508"/>
            <a:ext cx="7523853" cy="3687631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1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999"/>
                <a:chOff x="9225" y="1246"/>
                <a:chExt cx="5334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13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83239" y="9709797"/>
            <a:ext cx="2053129" cy="2057415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36791" y="5614255"/>
            <a:ext cx="8022133" cy="3059333"/>
            <a:chOff x="103" y="1938"/>
            <a:chExt cx="22459" cy="85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12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2537479" y="9642288"/>
            <a:ext cx="4575606" cy="622582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6061</Words>
  <Application>WPS 演示</Application>
  <PresentationFormat>Custom</PresentationFormat>
  <Paragraphs>1022</Paragraphs>
  <Slides>17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东文宋体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34</cp:revision>
  <dcterms:created xsi:type="dcterms:W3CDTF">2026-05-15T16:30:01Z</dcterms:created>
  <dcterms:modified xsi:type="dcterms:W3CDTF">2026-05-15T16:30:01Z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