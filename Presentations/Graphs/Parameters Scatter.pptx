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0"/>
  </p:handoutMasterIdLst>
  <p:sldIdLst>
    <p:sldId id="256" r:id="rId3"/>
    <p:sldId id="257" r:id="rId4"/>
    <p:sldId id="258" r:id="rId6"/>
    <p:sldId id="267" r:id="rId7"/>
    <p:sldId id="262" r:id="rId8"/>
    <p:sldId id="263" r:id="rId9"/>
    <p:sldId id="264" r:id="rId10"/>
    <p:sldId id="260" r:id="rId11"/>
    <p:sldId id="269" r:id="rId12"/>
    <p:sldId id="271" r:id="rId13"/>
    <p:sldId id="259" r:id="rId14"/>
    <p:sldId id="266" r:id="rId15"/>
    <p:sldId id="270" r:id="rId16"/>
    <p:sldId id="261" r:id="rId17"/>
    <p:sldId id="265" r:id="rId18"/>
    <p:sldId id="268" r:id="rId19"/>
  </p:sldIdLst>
  <p:sldSz cx="14399895" cy="809942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 used" id="{81244984-ffb1-4a92-8f35-ff698557d6d0}">
          <p14:sldIdLst>
            <p14:sldId id="256"/>
            <p14:sldId id="257"/>
            <p14:sldId id="258"/>
            <p14:sldId id="267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9"/>
            <p14:sldId id="271"/>
            <p14:sldId id="259"/>
            <p14:sldId id="266"/>
            <p14:sldId id="270"/>
            <p14:sldId id="261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34" userDrawn="1">
          <p15:clr>
            <a:srgbClr val="A4A3A4"/>
          </p15:clr>
        </p15:guide>
        <p15:guide id="2" pos="4560" userDrawn="1">
          <p15:clr>
            <a:srgbClr val="A4A3A4"/>
          </p15:clr>
        </p15:guide>
        <p15:guide id="3" orient="horz" pos="260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66C2A5"/>
    <a:srgbClr val="8DA0CB"/>
    <a:srgbClr val="FFD92F"/>
    <a:srgbClr val="B3B3B3"/>
    <a:srgbClr val="1F77B4"/>
    <a:srgbClr val="D62728"/>
    <a:srgbClr val="F7B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1334"/>
        <p:guide pos="4560"/>
        <p:guide orient="horz" pos="260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0" cy="90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commentAuthors" Target="commentAuthors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2.png"/><Relationship Id="rId11" Type="http://schemas.openxmlformats.org/officeDocument/2006/relationships/image" Target="../media/image21.png"/><Relationship Id="rId10" Type="http://schemas.openxmlformats.org/officeDocument/2006/relationships/image" Target="../media/image20.png"/><Relationship Id="rId1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53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57.png"/><Relationship Id="rId11" Type="http://schemas.openxmlformats.org/officeDocument/2006/relationships/image" Target="../media/image56.png"/><Relationship Id="rId10" Type="http://schemas.openxmlformats.org/officeDocument/2006/relationships/image" Target="../media/image55.png"/><Relationship Id="rId1" Type="http://schemas.openxmlformats.org/officeDocument/2006/relationships/tags" Target="../tags/tag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66.png"/><Relationship Id="rId8" Type="http://schemas.openxmlformats.org/officeDocument/2006/relationships/image" Target="../media/image65.png"/><Relationship Id="rId7" Type="http://schemas.openxmlformats.org/officeDocument/2006/relationships/image" Target="../media/image64.png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8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75.png"/><Relationship Id="rId8" Type="http://schemas.openxmlformats.org/officeDocument/2006/relationships/image" Target="../media/image74.png"/><Relationship Id="rId7" Type="http://schemas.openxmlformats.org/officeDocument/2006/relationships/image" Target="../media/image73.png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82.png"/><Relationship Id="rId15" Type="http://schemas.openxmlformats.org/officeDocument/2006/relationships/image" Target="../media/image81.png"/><Relationship Id="rId14" Type="http://schemas.openxmlformats.org/officeDocument/2006/relationships/image" Target="../media/image80.png"/><Relationship Id="rId13" Type="http://schemas.openxmlformats.org/officeDocument/2006/relationships/image" Target="../media/image79.png"/><Relationship Id="rId12" Type="http://schemas.openxmlformats.org/officeDocument/2006/relationships/image" Target="../media/image78.png"/><Relationship Id="rId11" Type="http://schemas.openxmlformats.org/officeDocument/2006/relationships/image" Target="../media/image77.png"/><Relationship Id="rId10" Type="http://schemas.openxmlformats.org/officeDocument/2006/relationships/image" Target="../media/image76.png"/><Relationship Id="rId1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100%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0.6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0.3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70%</a:t>
              </a:r>
              <a:endParaRPr lang="en-US" altLang="zh-CN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20%</a:t>
              </a:r>
              <a:endParaRPr lang="en-US" altLang="zh-CN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 rot="0"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 rot="0"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2016</a:t>
                  </a:r>
                  <a:endParaRPr lang="en-US" altLang="zh-CN" sz="16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2016</a:t>
                  </a:r>
                  <a:endParaRPr lang="en-US" altLang="zh-CN" sz="16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2023</a:t>
                  </a:r>
                  <a:endParaRPr lang="en-US" altLang="zh-CN" sz="16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2016</a:t>
                  </a:r>
                  <a:endParaRPr lang="en-US" altLang="zh-CN" sz="16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2023</a:t>
                  </a:r>
                  <a:endParaRPr lang="en-US" altLang="zh-CN" sz="16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South&amp;South-east Asia, 2016</a:t>
                  </a:r>
                  <a:endParaRPr lang="en-US" altLang="zh-CN" sz="16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2016</a:t>
                  </a:r>
                  <a:endParaRPr lang="en-US" altLang="zh-CN" sz="16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2023</a:t>
                  </a:r>
                  <a:endParaRPr lang="en-US" altLang="zh-CN" sz="16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2023</a:t>
                  </a:r>
                  <a:endParaRPr lang="en-US" altLang="zh-CN" sz="16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100%</a:t>
                </a:r>
                <a:endParaRPr lang="en-US" altLang="zh-CN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0.6</a:t>
                </a:r>
                <a:endParaRPr lang="en-US" altLang="zh-CN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0.3</a:t>
                </a:r>
                <a:endParaRPr lang="en-US" altLang="zh-CN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70%</a:t>
                </a:r>
                <a:endParaRPr lang="en-US" altLang="zh-CN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20%</a:t>
                </a:r>
                <a:endParaRPr lang="en-US" altLang="zh-CN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-0.2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-0.4</a:t>
                </a:r>
                <a:endParaRPr lang="en-US" altLang="zh-CN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2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24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15" name="组合 14"/>
          <p:cNvGrpSpPr/>
          <p:nvPr/>
        </p:nvGrpSpPr>
        <p:grpSpPr>
          <a:xfrm>
            <a:off x="0" y="1102360"/>
            <a:ext cx="14400530" cy="4257675"/>
            <a:chOff x="0" y="1736"/>
            <a:chExt cx="22678" cy="6705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Horizontal - Structural Zero Part</a:t>
              </a:r>
              <a:endParaRPr lang="en-US" altLang="zh-CN" sz="2000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Horizontal - Binomial (Real Construction) Part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2016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2023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2016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2023</a:t>
              </a:r>
              <a:endParaRPr lang="en-US" altLang="zh-CN"/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p:grpSp>
        <p:nvGrpSpPr>
          <p:cNvPr id="8" name="组合 7"/>
          <p:cNvGrpSpPr/>
          <p:nvPr/>
        </p:nvGrpSpPr>
        <p:grpSpPr>
          <a:xfrm>
            <a:off x="370205" y="1605915"/>
            <a:ext cx="13336905" cy="5143500"/>
            <a:chOff x="583" y="2529"/>
            <a:chExt cx="21003" cy="81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2205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2205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2645" y="2655"/>
              <a:ext cx="7452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Structural Zeros (cannot be constructed)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10880" y="2676"/>
              <a:ext cx="5239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Constructable Area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32" y="2529"/>
              <a:ext cx="813" cy="813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sp>
          <p:nvSpPr>
            <p:cNvPr id="37" name="矩形 36"/>
            <p:cNvSpPr/>
            <p:nvPr/>
          </p:nvSpPr>
          <p:spPr>
            <a:xfrm>
              <a:off x="10068" y="2551"/>
              <a:ext cx="813" cy="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583" y="3473"/>
              <a:ext cx="5083" cy="5043"/>
              <a:chOff x="493" y="2941"/>
              <a:chExt cx="4304" cy="4270"/>
            </a:xfrm>
          </p:grpSpPr>
          <p:pic>
            <p:nvPicPr>
              <p:cNvPr id="40" name="图片 39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9" name="椭圆 18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5822" y="3473"/>
              <a:ext cx="5081" cy="5043"/>
              <a:chOff x="4929" y="2941"/>
              <a:chExt cx="4302" cy="4270"/>
            </a:xfrm>
          </p:grpSpPr>
          <p:pic>
            <p:nvPicPr>
              <p:cNvPr id="44" name="图片 4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39" name="椭圆 38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11060" y="3473"/>
              <a:ext cx="5081" cy="5043"/>
              <a:chOff x="9364" y="2941"/>
              <a:chExt cx="4302" cy="4270"/>
            </a:xfrm>
          </p:grpSpPr>
          <p:pic>
            <p:nvPicPr>
              <p:cNvPr id="46" name="图片 45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5" name="椭圆 44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16298" y="3473"/>
              <a:ext cx="5081" cy="5043"/>
              <a:chOff x="13799" y="2941"/>
              <a:chExt cx="4302" cy="4270"/>
            </a:xfrm>
          </p:grpSpPr>
          <p:pic>
            <p:nvPicPr>
              <p:cNvPr id="47" name="图片 46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8" name="椭圆 47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𝜑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)=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2835" b="0" i="1" dirty="0" smtClean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933" y="9322"/>
              <a:ext cx="4928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open &amp; 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932" y="9302"/>
              <a:ext cx="4734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developable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6422" y="9322"/>
              <a:ext cx="4936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limited &amp; 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169" y="9322"/>
              <a:ext cx="4945" cy="130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constrained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 </a:t>
              </a:r>
              <a:endParaRPr lang="en-US" altLang="zh-CN" sz="240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25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25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25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  <a:blipFill rotWithShape="1">
                <a:blip r:embed="rId1"/>
                <a:stretch>
                  <a:fillRect l="-5" t="-24" r="10" b="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492125" y="1739900"/>
            <a:ext cx="13313410" cy="4996815"/>
            <a:chOff x="775" y="2740"/>
            <a:chExt cx="20966" cy="7869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0966" cy="6874"/>
              <a:chOff x="1249" y="1357"/>
              <a:chExt cx="20966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9"/>
                <a:ext cx="2022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Buildings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Constructable Area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Structural Zeros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283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283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Small core, sparse periphery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sparse construction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Dense core, sparse periphery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dense construction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95" y="8506646"/>
            <a:ext cx="4038463" cy="248607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998" y="8638637"/>
            <a:ext cx="3185774" cy="1766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1234" y="8638637"/>
            <a:ext cx="2975789" cy="1649133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485674" y="1542640"/>
            <a:ext cx="13394799" cy="4149455"/>
            <a:chOff x="647" y="2057"/>
            <a:chExt cx="17861" cy="5533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533"/>
              <a:chOff x="647" y="2057"/>
              <a:chExt cx="3551" cy="5533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094" y="5693"/>
                <a:ext cx="2657" cy="1897"/>
                <a:chOff x="3202" y="5108"/>
                <a:chExt cx="2657" cy="1897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135"/>
              <a:chOff x="7722" y="2455"/>
              <a:chExt cx="3661" cy="513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 rot="0">
                <a:off x="8233" y="5693"/>
                <a:ext cx="2657" cy="1897"/>
                <a:chOff x="5687" y="5068"/>
                <a:chExt cx="2657" cy="1897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829"/>
              <a:chOff x="14737" y="2761"/>
              <a:chExt cx="3767" cy="4829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“Pyramid”City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 rot="0">
                <a:off x="15354" y="5693"/>
                <a:ext cx="2657" cy="1897"/>
                <a:chOff x="10870" y="5054"/>
                <a:chExt cx="2657" cy="1897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 rot="0">
                  <a:off x="10870" y="5054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006"/>
              <a:chOff x="11192" y="2584"/>
              <a:chExt cx="3643" cy="5006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 rot="0">
                <a:off x="11686" y="5693"/>
                <a:ext cx="2657" cy="1897"/>
                <a:chOff x="8290" y="5068"/>
                <a:chExt cx="2657" cy="1897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1897"/>
                  <a:chOff x="3202" y="5108"/>
                  <a:chExt cx="2657" cy="1897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242"/>
              <a:chOff x="4198" y="2348"/>
              <a:chExt cx="3683" cy="5242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“Crown”City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1897"/>
                <a:chOff x="4673" y="5693"/>
                <a:chExt cx="2657" cy="1897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 rot="0">
                  <a:off x="4673" y="5693"/>
                  <a:ext cx="2657" cy="1897"/>
                  <a:chOff x="10870" y="5054"/>
                  <a:chExt cx="2657" cy="1897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 rot="0">
                    <a:off x="10870" y="5054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1626870" y="491490"/>
            <a:ext cx="11659235" cy="6403975"/>
            <a:chOff x="2562" y="774"/>
            <a:chExt cx="18361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49" name="组合 148"/>
            <p:cNvGrpSpPr/>
            <p:nvPr/>
          </p:nvGrpSpPr>
          <p:grpSpPr>
            <a:xfrm rot="0">
              <a:off x="5545" y="9577"/>
              <a:ext cx="12613" cy="1146"/>
              <a:chOff x="5545" y="9577"/>
              <a:chExt cx="12613" cy="10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9" y="9577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9" y="10068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 rot="0"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 rot="0"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50%</a:t>
                  </a:r>
                  <a:endParaRPr lang="en-US" altLang="zh-CN" sz="20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100%</a:t>
                  </a:r>
                  <a:endParaRPr lang="en-US" altLang="zh-CN" sz="2000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0.6</a:t>
                  </a:r>
                  <a:endParaRPr lang="en-US" altLang="zh-CN" sz="200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0.3</a:t>
                  </a:r>
                  <a:endParaRPr lang="en-US" altLang="zh-CN" sz="200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292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925" y="5000"/>
                  <a:ext cx="2574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- Structural Zero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199" y="6889"/>
                <a:ext cx="2265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29% Uniform developable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landscape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5" y="2112"/>
                <a:ext cx="2346" cy="679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1% Core limited, edge locked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45% Core open, edge locked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140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 rot="0">
              <a:off x="10646" y="774"/>
              <a:ext cx="10073" cy="8317"/>
              <a:chOff x="10646" y="774"/>
              <a:chExt cx="10073" cy="8317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- Binomial (Actual Construction)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 rot="0">
                <a:off x="11207" y="1844"/>
                <a:ext cx="8319" cy="7247"/>
                <a:chOff x="9406" y="1694"/>
                <a:chExt cx="8319" cy="7247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70%</a:t>
                  </a:r>
                  <a:endParaRPr lang="en-US" altLang="zh-CN" sz="2000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20%</a:t>
                  </a:r>
                  <a:endParaRPr lang="en-US" altLang="zh-CN" sz="2000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0.2</a:t>
                  </a:r>
                  <a:endParaRPr lang="en-US" altLang="zh-CN" sz="200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39" y="8428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50%</a:t>
                  </a:r>
                  <a:endParaRPr lang="en-US" altLang="zh-CN" sz="2000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0.4</a:t>
                  </a:r>
                  <a:endParaRPr lang="en-US" altLang="zh-CN" sz="2000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5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641" y="7316"/>
                <a:ext cx="2646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140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r"/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655955" y="-64516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20015" y="10464800"/>
            <a:ext cx="14569440" cy="2619375"/>
            <a:chOff x="186" y="3371"/>
            <a:chExt cx="22944" cy="4125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40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140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140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 rot="0"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 rot="0"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 rot="0"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 rot="0"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 rot="0"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 rot="0"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 rot="0"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 rot="0"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240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4" name="组合 73"/>
          <p:cNvGrpSpPr/>
          <p:nvPr/>
        </p:nvGrpSpPr>
        <p:grpSpPr>
          <a:xfrm>
            <a:off x="720725" y="692150"/>
            <a:ext cx="13426440" cy="6263005"/>
            <a:chOff x="1135" y="1090"/>
            <a:chExt cx="21144" cy="9863"/>
          </a:xfrm>
        </p:grpSpPr>
        <p:sp>
          <p:nvSpPr>
            <p:cNvPr id="73" name="矩形 72"/>
            <p:cNvSpPr/>
            <p:nvPr/>
          </p:nvSpPr>
          <p:spPr>
            <a:xfrm>
              <a:off x="1136" y="1090"/>
              <a:ext cx="21143" cy="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72" name="组合 71"/>
            <p:cNvGrpSpPr/>
            <p:nvPr/>
          </p:nvGrpSpPr>
          <p:grpSpPr>
            <a:xfrm>
              <a:off x="1135" y="1090"/>
              <a:ext cx="20407" cy="9713"/>
              <a:chOff x="1135" y="1090"/>
              <a:chExt cx="20407" cy="9713"/>
            </a:xfrm>
          </p:grpSpPr>
          <p:grpSp>
            <p:nvGrpSpPr>
              <p:cNvPr id="71" name="组合 70"/>
              <p:cNvGrpSpPr/>
              <p:nvPr/>
            </p:nvGrpSpPr>
            <p:grpSpPr>
              <a:xfrm>
                <a:off x="10877" y="1882"/>
                <a:ext cx="9580" cy="7101"/>
                <a:chOff x="11760" y="2543"/>
                <a:chExt cx="8697" cy="6447"/>
              </a:xfrm>
            </p:grpSpPr>
            <p:pic>
              <p:nvPicPr>
                <p:cNvPr id="37" name="图片 36"/>
                <p:cNvPicPr/>
                <p:nvPr/>
              </p:nvPicPr>
              <p:blipFill>
                <a:blip r:embed="rId1"/>
                <a:srcRect t="6532" r="30360" b="4873"/>
                <a:stretch>
                  <a:fillRect/>
                </a:stretch>
              </p:blipFill>
              <p:spPr>
                <a:xfrm>
                  <a:off x="11760" y="2603"/>
                  <a:ext cx="8697" cy="5527"/>
                </a:xfrm>
                <a:prstGeom prst="rect">
                  <a:avLst/>
                </a:prstGeom>
              </p:spPr>
            </p:pic>
            <p:sp>
              <p:nvSpPr>
                <p:cNvPr id="55" name="文本框 54"/>
                <p:cNvSpPr txBox="1"/>
                <p:nvPr/>
              </p:nvSpPr>
              <p:spPr>
                <a:xfrm>
                  <a:off x="13112" y="8067"/>
                  <a:ext cx="1602" cy="5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56" name="文本框 55"/>
                <p:cNvSpPr txBox="1"/>
                <p:nvPr/>
              </p:nvSpPr>
              <p:spPr>
                <a:xfrm>
                  <a:off x="15230" y="8068"/>
                  <a:ext cx="2558" cy="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South &amp; Southeast Asia</a:t>
                  </a:r>
                  <a:endParaRPr lang="en-US" altLang="zh-CN"/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18103" y="8068"/>
                  <a:ext cx="1810" cy="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Latin</a:t>
                  </a:r>
                  <a:endParaRPr lang="en-US" altLang="zh-CN"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America</a:t>
                  </a:r>
                  <a:endParaRPr lang="en-US" altLang="zh-CN"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2978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5" name="文本框 64"/>
                <p:cNvSpPr txBox="1"/>
                <p:nvPr/>
              </p:nvSpPr>
              <p:spPr>
                <a:xfrm>
                  <a:off x="13953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6" name="文本框 65"/>
                <p:cNvSpPr txBox="1"/>
                <p:nvPr/>
              </p:nvSpPr>
              <p:spPr>
                <a:xfrm>
                  <a:off x="15477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7" name="文本框 66"/>
                <p:cNvSpPr txBox="1"/>
                <p:nvPr/>
              </p:nvSpPr>
              <p:spPr>
                <a:xfrm>
                  <a:off x="16452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8" name="文本框 67"/>
                <p:cNvSpPr txBox="1"/>
                <p:nvPr/>
              </p:nvSpPr>
              <p:spPr>
                <a:xfrm>
                  <a:off x="18066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9" name="文本框 68"/>
                <p:cNvSpPr txBox="1"/>
                <p:nvPr/>
              </p:nvSpPr>
              <p:spPr>
                <a:xfrm>
                  <a:off x="19041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</p:grpSp>
          <p:sp>
            <p:nvSpPr>
              <p:cNvPr id="14" name="矩形 13"/>
              <p:cNvSpPr/>
              <p:nvPr/>
            </p:nvSpPr>
            <p:spPr>
              <a:xfrm>
                <a:off x="2194" y="9790"/>
                <a:ext cx="737" cy="442"/>
              </a:xfrm>
              <a:prstGeom prst="rect">
                <a:avLst/>
              </a:prstGeom>
              <a:solidFill>
                <a:srgbClr val="9EDAE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056" y="9725"/>
                <a:ext cx="340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Developable</a:t>
                </a:r>
                <a:endParaRPr lang="en-US" altLang="zh-CN" sz="1500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2194" y="10340"/>
                <a:ext cx="737" cy="442"/>
              </a:xfrm>
              <a:prstGeom prst="rect">
                <a:avLst/>
              </a:prstGeom>
              <a:solidFill>
                <a:srgbClr val="F7B6D2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3056" y="10275"/>
                <a:ext cx="3690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Constrianed</a:t>
                </a:r>
                <a:endParaRPr lang="en-US" altLang="zh-CN" sz="1500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6868" y="9769"/>
                <a:ext cx="737" cy="442"/>
              </a:xfrm>
              <a:prstGeom prst="rect">
                <a:avLst/>
              </a:prstGeom>
              <a:solidFill>
                <a:srgbClr val="D6272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6868" y="10319"/>
                <a:ext cx="737" cy="442"/>
              </a:xfrm>
              <a:prstGeom prst="rect">
                <a:avLst/>
              </a:prstGeom>
              <a:solidFill>
                <a:srgbClr val="1F77B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7721" y="9747"/>
                <a:ext cx="403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Core-Open, Edge-Locked</a:t>
                </a:r>
                <a:endParaRPr lang="en-US" altLang="zh-CN" sz="15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721" y="10254"/>
                <a:ext cx="403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Core-Limited, Edge-Locked</a:t>
                </a:r>
                <a:endParaRPr lang="en-US" altLang="zh-CN" sz="15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4076" y="9218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500" b="1">
                    <a:latin typeface="Arial" panose="020B0604020202020204" pitchFamily="34" charset="0"/>
                    <a:cs typeface="Arial" panose="020B0604020202020204" pitchFamily="34" charset="0"/>
                  </a:rPr>
                  <a:t>α-β Categories</a:t>
                </a:r>
                <a:endParaRPr lang="en-US" altLang="zh-CN" sz="1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136" y="1090"/>
                <a:ext cx="9268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/>
                  <a:t>(a) Horizontal - Structural Zero Part</a:t>
                </a:r>
                <a:endParaRPr lang="en-US" altLang="zh-CN" sz="2400"/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0675" y="1090"/>
                <a:ext cx="10867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/>
                  <a:t>(b) Horizontal - Binomial (Real Construction) Part</a:t>
                </a:r>
                <a:endParaRPr lang="en-US" altLang="zh-CN" sz="2400"/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12681" y="9790"/>
                <a:ext cx="737" cy="442"/>
              </a:xfrm>
              <a:prstGeom prst="rect">
                <a:avLst/>
              </a:prstGeom>
              <a:solidFill>
                <a:srgbClr val="B3B3B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3543" y="9725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Sparse</a:t>
                </a:r>
                <a:endParaRPr lang="en-US" altLang="zh-CN" sz="1500"/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12681" y="10340"/>
                <a:ext cx="737" cy="442"/>
              </a:xfrm>
              <a:prstGeom prst="rect">
                <a:avLst/>
              </a:prstGeom>
              <a:solidFill>
                <a:srgbClr val="FFD92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3543" y="10296"/>
                <a:ext cx="5626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Dense</a:t>
                </a:r>
                <a:endParaRPr lang="en-US" altLang="zh-CN" sz="1500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16233" y="9769"/>
                <a:ext cx="737" cy="442"/>
              </a:xfrm>
              <a:prstGeom prst="rect">
                <a:avLst/>
              </a:prstGeom>
              <a:solidFill>
                <a:srgbClr val="8DA0C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1" name="矩形 50"/>
              <p:cNvSpPr/>
              <p:nvPr/>
            </p:nvSpPr>
            <p:spPr>
              <a:xfrm>
                <a:off x="16233" y="10319"/>
                <a:ext cx="737" cy="442"/>
              </a:xfrm>
              <a:prstGeom prst="rect">
                <a:avLst/>
              </a:prstGeom>
              <a:solidFill>
                <a:srgbClr val="66C2A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17086" y="9747"/>
                <a:ext cx="445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Small-Core, Sparse-Periphery</a:t>
                </a:r>
                <a:endParaRPr lang="en-US" altLang="zh-CN" sz="1500"/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7086" y="10254"/>
                <a:ext cx="4456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Dense-Core, Sparse-Periphery</a:t>
                </a:r>
                <a:endParaRPr lang="en-US" altLang="zh-CN" sz="1500"/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14207" y="9154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500" b="1">
                    <a:latin typeface="Arial" panose="020B0604020202020204" pitchFamily="34" charset="0"/>
                    <a:cs typeface="Arial" panose="020B0604020202020204" pitchFamily="34" charset="0"/>
                  </a:rPr>
                  <a:t>κ-δ Categories</a:t>
                </a:r>
                <a:endParaRPr lang="en-US" altLang="zh-CN" sz="1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70" name="组合 69"/>
              <p:cNvGrpSpPr/>
              <p:nvPr/>
            </p:nvGrpSpPr>
            <p:grpSpPr>
              <a:xfrm>
                <a:off x="1135" y="1900"/>
                <a:ext cx="9268" cy="7079"/>
                <a:chOff x="2021" y="2576"/>
                <a:chExt cx="8382" cy="6401"/>
              </a:xfrm>
            </p:grpSpPr>
            <p:pic>
              <p:nvPicPr>
                <p:cNvPr id="35" name="图片 34"/>
                <p:cNvPicPr/>
                <p:nvPr/>
              </p:nvPicPr>
              <p:blipFill>
                <a:blip r:embed="rId2"/>
                <a:srcRect t="6151" r="32370" b="4661"/>
                <a:stretch>
                  <a:fillRect/>
                </a:stretch>
              </p:blipFill>
              <p:spPr>
                <a:xfrm>
                  <a:off x="2021" y="2602"/>
                  <a:ext cx="8382" cy="5528"/>
                </a:xfrm>
                <a:prstGeom prst="rect">
                  <a:avLst/>
                </a:prstGeom>
              </p:spPr>
            </p:pic>
            <p:sp>
              <p:nvSpPr>
                <p:cNvPr id="10" name="文本框 9"/>
                <p:cNvSpPr txBox="1"/>
                <p:nvPr/>
              </p:nvSpPr>
              <p:spPr>
                <a:xfrm>
                  <a:off x="3279" y="8057"/>
                  <a:ext cx="1602" cy="5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11" name="文本框 10"/>
                <p:cNvSpPr txBox="1"/>
                <p:nvPr/>
              </p:nvSpPr>
              <p:spPr>
                <a:xfrm>
                  <a:off x="5397" y="8058"/>
                  <a:ext cx="2558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South &amp; Southeast Asia</a:t>
                  </a:r>
                  <a:endParaRPr lang="en-US" altLang="zh-CN"/>
                </a:p>
              </p:txBody>
            </p:sp>
            <p:sp>
              <p:nvSpPr>
                <p:cNvPr id="12" name="文本框 11"/>
                <p:cNvSpPr txBox="1"/>
                <p:nvPr/>
              </p:nvSpPr>
              <p:spPr>
                <a:xfrm>
                  <a:off x="8099" y="8058"/>
                  <a:ext cx="1810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Latin</a:t>
                  </a:r>
                  <a:endParaRPr lang="en-US" altLang="zh-CN"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America</a:t>
                  </a:r>
                  <a:endParaRPr lang="en-US" altLang="zh-CN"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8" name="文本框 57"/>
                <p:cNvSpPr txBox="1"/>
                <p:nvPr/>
              </p:nvSpPr>
              <p:spPr>
                <a:xfrm>
                  <a:off x="3143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59" name="文本框 58"/>
                <p:cNvSpPr txBox="1"/>
                <p:nvPr/>
              </p:nvSpPr>
              <p:spPr>
                <a:xfrm>
                  <a:off x="4118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5642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1" name="文本框 60"/>
                <p:cNvSpPr txBox="1"/>
                <p:nvPr/>
              </p:nvSpPr>
              <p:spPr>
                <a:xfrm>
                  <a:off x="6617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8141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3" name="文本框 62"/>
                <p:cNvSpPr txBox="1"/>
                <p:nvPr/>
              </p:nvSpPr>
              <p:spPr>
                <a:xfrm>
                  <a:off x="9116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</p:grp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4" name="组合 73"/>
          <p:cNvGrpSpPr/>
          <p:nvPr/>
        </p:nvGrpSpPr>
        <p:grpSpPr>
          <a:xfrm>
            <a:off x="658495" y="692150"/>
            <a:ext cx="13425805" cy="6263005"/>
            <a:chOff x="1136" y="1090"/>
            <a:chExt cx="21143" cy="9863"/>
          </a:xfrm>
        </p:grpSpPr>
        <p:sp>
          <p:nvSpPr>
            <p:cNvPr id="73" name="矩形 72"/>
            <p:cNvSpPr/>
            <p:nvPr/>
          </p:nvSpPr>
          <p:spPr>
            <a:xfrm>
              <a:off x="1136" y="1090"/>
              <a:ext cx="21143" cy="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72" name="组合 71"/>
            <p:cNvGrpSpPr/>
            <p:nvPr/>
          </p:nvGrpSpPr>
          <p:grpSpPr>
            <a:xfrm>
              <a:off x="1136" y="1090"/>
              <a:ext cx="20406" cy="9713"/>
              <a:chOff x="1136" y="1090"/>
              <a:chExt cx="20406" cy="9713"/>
            </a:xfrm>
          </p:grpSpPr>
          <p:grpSp>
            <p:nvGrpSpPr>
              <p:cNvPr id="71" name="组合 70"/>
              <p:cNvGrpSpPr/>
              <p:nvPr/>
            </p:nvGrpSpPr>
            <p:grpSpPr>
              <a:xfrm>
                <a:off x="12219" y="1882"/>
                <a:ext cx="7706" cy="7101"/>
                <a:chOff x="12978" y="2543"/>
                <a:chExt cx="6996" cy="6447"/>
              </a:xfrm>
            </p:grpSpPr>
            <p:sp>
              <p:nvSpPr>
                <p:cNvPr id="55" name="文本框 54"/>
                <p:cNvSpPr txBox="1"/>
                <p:nvPr/>
              </p:nvSpPr>
              <p:spPr>
                <a:xfrm>
                  <a:off x="13112" y="8067"/>
                  <a:ext cx="1602" cy="5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56" name="文本框 55"/>
                <p:cNvSpPr txBox="1"/>
                <p:nvPr/>
              </p:nvSpPr>
              <p:spPr>
                <a:xfrm>
                  <a:off x="15230" y="8068"/>
                  <a:ext cx="2558" cy="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South &amp; Southeast Asia</a:t>
                  </a:r>
                  <a:endParaRPr lang="en-US" altLang="zh-CN"/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18103" y="8068"/>
                  <a:ext cx="1810" cy="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Latin</a:t>
                  </a:r>
                  <a:endParaRPr lang="en-US" altLang="zh-CN"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America</a:t>
                  </a:r>
                  <a:endParaRPr lang="en-US" altLang="zh-CN"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2978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5" name="文本框 64"/>
                <p:cNvSpPr txBox="1"/>
                <p:nvPr/>
              </p:nvSpPr>
              <p:spPr>
                <a:xfrm>
                  <a:off x="13953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6" name="文本框 65"/>
                <p:cNvSpPr txBox="1"/>
                <p:nvPr/>
              </p:nvSpPr>
              <p:spPr>
                <a:xfrm>
                  <a:off x="15477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7" name="文本框 66"/>
                <p:cNvSpPr txBox="1"/>
                <p:nvPr/>
              </p:nvSpPr>
              <p:spPr>
                <a:xfrm>
                  <a:off x="16452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8" name="文本框 67"/>
                <p:cNvSpPr txBox="1"/>
                <p:nvPr/>
              </p:nvSpPr>
              <p:spPr>
                <a:xfrm>
                  <a:off x="18066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9" name="文本框 68"/>
                <p:cNvSpPr txBox="1"/>
                <p:nvPr/>
              </p:nvSpPr>
              <p:spPr>
                <a:xfrm>
                  <a:off x="19041" y="2543"/>
                  <a:ext cx="933" cy="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</p:grpSp>
          <p:sp>
            <p:nvSpPr>
              <p:cNvPr id="14" name="矩形 13"/>
              <p:cNvSpPr/>
              <p:nvPr/>
            </p:nvSpPr>
            <p:spPr>
              <a:xfrm>
                <a:off x="2194" y="9790"/>
                <a:ext cx="737" cy="442"/>
              </a:xfrm>
              <a:prstGeom prst="rect">
                <a:avLst/>
              </a:prstGeom>
              <a:solidFill>
                <a:srgbClr val="9EDAE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056" y="9725"/>
                <a:ext cx="340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Developable</a:t>
                </a:r>
                <a:endParaRPr lang="en-US" altLang="zh-CN" sz="1500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2194" y="10340"/>
                <a:ext cx="737" cy="442"/>
              </a:xfrm>
              <a:prstGeom prst="rect">
                <a:avLst/>
              </a:prstGeom>
              <a:solidFill>
                <a:srgbClr val="F7B6D2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3056" y="10275"/>
                <a:ext cx="3690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Constrianed</a:t>
                </a:r>
                <a:endParaRPr lang="en-US" altLang="zh-CN" sz="1500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6868" y="9769"/>
                <a:ext cx="737" cy="442"/>
              </a:xfrm>
              <a:prstGeom prst="rect">
                <a:avLst/>
              </a:prstGeom>
              <a:solidFill>
                <a:srgbClr val="D6272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6868" y="10319"/>
                <a:ext cx="737" cy="442"/>
              </a:xfrm>
              <a:prstGeom prst="rect">
                <a:avLst/>
              </a:prstGeom>
              <a:solidFill>
                <a:srgbClr val="1F77B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7721" y="9747"/>
                <a:ext cx="403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Core-Open, Edge-Locked</a:t>
                </a:r>
                <a:endParaRPr lang="en-US" altLang="zh-CN" sz="15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721" y="10254"/>
                <a:ext cx="4039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Core-Limited, Edge-Locked</a:t>
                </a:r>
                <a:endParaRPr lang="en-US" altLang="zh-CN" sz="15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4076" y="9218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500" b="1">
                    <a:latin typeface="Arial" panose="020B0604020202020204" pitchFamily="34" charset="0"/>
                    <a:cs typeface="Arial" panose="020B0604020202020204" pitchFamily="34" charset="0"/>
                  </a:rPr>
                  <a:t>α-β Categories</a:t>
                </a:r>
                <a:endParaRPr lang="en-US" altLang="zh-CN" sz="1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136" y="1090"/>
                <a:ext cx="9268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/>
                  <a:t>(a) Horizontal - Structural Zero Part</a:t>
                </a:r>
                <a:endParaRPr lang="en-US" altLang="zh-CN" sz="2400"/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0675" y="1090"/>
                <a:ext cx="10867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/>
                  <a:t>(b) Horizontal - Binomial (Real Construction) Part</a:t>
                </a:r>
                <a:endParaRPr lang="en-US" altLang="zh-CN" sz="2400"/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12681" y="9790"/>
                <a:ext cx="737" cy="442"/>
              </a:xfrm>
              <a:prstGeom prst="rect">
                <a:avLst/>
              </a:prstGeom>
              <a:solidFill>
                <a:srgbClr val="B3B3B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3543" y="9725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Sparse</a:t>
                </a:r>
                <a:endParaRPr lang="en-US" altLang="zh-CN" sz="1500"/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12681" y="10340"/>
                <a:ext cx="737" cy="442"/>
              </a:xfrm>
              <a:prstGeom prst="rect">
                <a:avLst/>
              </a:prstGeom>
              <a:solidFill>
                <a:srgbClr val="FFD92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3543" y="10296"/>
                <a:ext cx="5626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Uniformly Dense</a:t>
                </a:r>
                <a:endParaRPr lang="en-US" altLang="zh-CN" sz="1500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16233" y="9769"/>
                <a:ext cx="737" cy="442"/>
              </a:xfrm>
              <a:prstGeom prst="rect">
                <a:avLst/>
              </a:prstGeom>
              <a:solidFill>
                <a:srgbClr val="8DA0C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1" name="矩形 50"/>
              <p:cNvSpPr/>
              <p:nvPr/>
            </p:nvSpPr>
            <p:spPr>
              <a:xfrm>
                <a:off x="16233" y="10319"/>
                <a:ext cx="737" cy="442"/>
              </a:xfrm>
              <a:prstGeom prst="rect">
                <a:avLst/>
              </a:prstGeom>
              <a:solidFill>
                <a:srgbClr val="66C2A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17086" y="9747"/>
                <a:ext cx="445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Small-Core, Sparse-Periphery</a:t>
                </a:r>
                <a:endParaRPr lang="en-US" altLang="zh-CN" sz="1500"/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7086" y="10254"/>
                <a:ext cx="4456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500"/>
                  <a:t>Dense-Core, Sparse-Periphery</a:t>
                </a:r>
                <a:endParaRPr lang="en-US" altLang="zh-CN" sz="1500"/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14207" y="9154"/>
                <a:ext cx="5625" cy="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500" b="1">
                    <a:latin typeface="Arial" panose="020B0604020202020204" pitchFamily="34" charset="0"/>
                    <a:cs typeface="Arial" panose="020B0604020202020204" pitchFamily="34" charset="0"/>
                  </a:rPr>
                  <a:t>κ-δ Categories</a:t>
                </a:r>
                <a:endParaRPr lang="en-US" altLang="zh-CN" sz="1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70" name="组合 69"/>
              <p:cNvGrpSpPr/>
              <p:nvPr/>
            </p:nvGrpSpPr>
            <p:grpSpPr>
              <a:xfrm>
                <a:off x="2376" y="1900"/>
                <a:ext cx="7636" cy="7079"/>
                <a:chOff x="3143" y="2576"/>
                <a:chExt cx="6906" cy="6401"/>
              </a:xfrm>
            </p:grpSpPr>
            <p:sp>
              <p:nvSpPr>
                <p:cNvPr id="10" name="文本框 9"/>
                <p:cNvSpPr txBox="1"/>
                <p:nvPr/>
              </p:nvSpPr>
              <p:spPr>
                <a:xfrm>
                  <a:off x="3279" y="8057"/>
                  <a:ext cx="1602" cy="5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11" name="文本框 10"/>
                <p:cNvSpPr txBox="1"/>
                <p:nvPr/>
              </p:nvSpPr>
              <p:spPr>
                <a:xfrm>
                  <a:off x="5397" y="8058"/>
                  <a:ext cx="2558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/>
                    <a:t>South &amp; Southeast Asia</a:t>
                  </a:r>
                  <a:endParaRPr lang="en-US" altLang="zh-CN"/>
                </a:p>
              </p:txBody>
            </p:sp>
            <p:sp>
              <p:nvSpPr>
                <p:cNvPr id="12" name="文本框 11"/>
                <p:cNvSpPr txBox="1"/>
                <p:nvPr/>
              </p:nvSpPr>
              <p:spPr>
                <a:xfrm>
                  <a:off x="8099" y="8058"/>
                  <a:ext cx="1810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Latin</a:t>
                  </a:r>
                  <a:endParaRPr lang="en-US" altLang="zh-CN"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>
                      <a:ea typeface="宋体" panose="02010600030101010101" pitchFamily="2" charset="-122"/>
                    </a:rPr>
                    <a:t>America</a:t>
                  </a:r>
                  <a:endParaRPr lang="en-US" altLang="zh-CN"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8" name="文本框 57"/>
                <p:cNvSpPr txBox="1"/>
                <p:nvPr/>
              </p:nvSpPr>
              <p:spPr>
                <a:xfrm>
                  <a:off x="3143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59" name="文本框 58"/>
                <p:cNvSpPr txBox="1"/>
                <p:nvPr/>
              </p:nvSpPr>
              <p:spPr>
                <a:xfrm>
                  <a:off x="4118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5642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1" name="文本框 60"/>
                <p:cNvSpPr txBox="1"/>
                <p:nvPr/>
              </p:nvSpPr>
              <p:spPr>
                <a:xfrm>
                  <a:off x="6617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8141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2016</a:t>
                  </a:r>
                  <a:endParaRPr lang="en-US" altLang="zh-CN" sz="1400"/>
                </a:p>
              </p:txBody>
            </p:sp>
            <p:sp>
              <p:nvSpPr>
                <p:cNvPr id="63" name="文本框 62"/>
                <p:cNvSpPr txBox="1"/>
                <p:nvPr/>
              </p:nvSpPr>
              <p:spPr>
                <a:xfrm>
                  <a:off x="9116" y="2576"/>
                  <a:ext cx="933" cy="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1400"/>
                    <a:t>2023</a:t>
                  </a:r>
                  <a:endParaRPr lang="en-US" altLang="zh-CN" sz="1400"/>
                </a:p>
              </p:txBody>
            </p:sp>
          </p:grpSp>
        </p:grpSp>
      </p:grpSp>
      <p:pic>
        <p:nvPicPr>
          <p:cNvPr id="2" name="图片 1"/>
          <p:cNvPicPr/>
          <p:nvPr/>
        </p:nvPicPr>
        <p:blipFill>
          <a:blip r:embed="rId1"/>
          <a:srcRect t="5669" r="23033" b="4989"/>
          <a:stretch>
            <a:fillRect/>
          </a:stretch>
        </p:blipFill>
        <p:spPr>
          <a:xfrm>
            <a:off x="3609340" y="1507490"/>
            <a:ext cx="6162675" cy="35585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0" y="549275"/>
            <a:ext cx="14399260" cy="6859270"/>
            <a:chOff x="0" y="865"/>
            <a:chExt cx="22676" cy="1080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28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grpSp>
          <p:nvGrpSpPr>
            <p:cNvPr id="82" name="组合 81"/>
            <p:cNvGrpSpPr/>
            <p:nvPr/>
          </p:nvGrpSpPr>
          <p:grpSpPr>
            <a:xfrm rot="0">
              <a:off x="3058" y="10523"/>
              <a:ext cx="16034" cy="1144"/>
              <a:chOff x="3914" y="9142"/>
              <a:chExt cx="14213" cy="1014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140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140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140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6989445" y="8413750"/>
            <a:ext cx="5774690" cy="455739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635635" y="8428990"/>
            <a:ext cx="5774690" cy="4557395"/>
          </a:xfrm>
          <a:prstGeom prst="rect">
            <a:avLst/>
          </a:prstGeom>
        </p:spPr>
      </p:pic>
      <p:grpSp>
        <p:nvGrpSpPr>
          <p:cNvPr id="65" name="组合 64"/>
          <p:cNvGrpSpPr/>
          <p:nvPr/>
        </p:nvGrpSpPr>
        <p:grpSpPr>
          <a:xfrm>
            <a:off x="310515" y="797560"/>
            <a:ext cx="12630150" cy="6781800"/>
            <a:chOff x="489" y="1256"/>
            <a:chExt cx="19890" cy="10680"/>
          </a:xfrm>
        </p:grpSpPr>
        <p:sp>
          <p:nvSpPr>
            <p:cNvPr id="66" name="矩形 65"/>
            <p:cNvSpPr/>
            <p:nvPr/>
          </p:nvSpPr>
          <p:spPr>
            <a:xfrm>
              <a:off x="489" y="1256"/>
              <a:ext cx="19890" cy="10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64" name="组合 63"/>
            <p:cNvGrpSpPr/>
            <p:nvPr/>
          </p:nvGrpSpPr>
          <p:grpSpPr>
            <a:xfrm>
              <a:off x="647" y="1461"/>
              <a:ext cx="19401" cy="10086"/>
              <a:chOff x="647" y="1461"/>
              <a:chExt cx="19401" cy="10086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0%</a:t>
                  </a:r>
                  <a:endParaRPr lang="en-US" altLang="zh-CN" sz="20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6%</a:t>
                  </a:r>
                  <a:endParaRPr lang="en-US" altLang="zh-CN" sz="2000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-6%</a:t>
                  </a:r>
                  <a:endParaRPr lang="en-US" altLang="zh-CN" sz="2000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0.04</a:t>
                  </a:r>
                  <a:endParaRPr lang="en-US" altLang="zh-CN" sz="20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-0.04</a:t>
                  </a:r>
                  <a:endParaRPr lang="en-US" altLang="zh-CN" sz="20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307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0.08</a:t>
                  </a:r>
                  <a:endParaRPr lang="en-US" altLang="zh-CN" sz="2000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</a:t>
                  </a:r>
                  <a:endParaRPr lang="en-US" altLang="zh-CN" sz="2000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-0.04</a:t>
                  </a:r>
                  <a:endParaRPr lang="en-US" altLang="zh-CN" sz="20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r"/>
                  <a:r>
                    <a:rPr lang="en-US" altLang="zh-CN" sz="2000"/>
                    <a:t>0.04</a:t>
                  </a:r>
                  <a:endParaRPr lang="en-US" altLang="zh-CN" sz="20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307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240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000"/>
                    <a:t>6%</a:t>
                  </a:r>
                  <a:endParaRPr lang="en-US" altLang="zh-CN" sz="2000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-2%</a:t>
                  </a:r>
                  <a:endParaRPr lang="en-US" altLang="zh-CN" sz="2000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pPr algn="ctr"/>
                  <a:r>
                    <a:rPr lang="en-US" altLang="zh-CN" sz="2000"/>
                    <a:t>0%</a:t>
                  </a:r>
                  <a:endParaRPr lang="en-US" altLang="zh-CN" sz="2000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p>
                  <a:r>
                    <a:rPr lang="en-US" altLang="zh-CN" sz="2000"/>
                    <a:t>2%</a:t>
                  </a:r>
                  <a:endParaRPr lang="en-US" altLang="zh-CN" sz="2000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664"/>
                <a:chOff x="6124" y="10847"/>
                <a:chExt cx="8899" cy="664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/>
                    <a:t>Latin America</a:t>
                  </a:r>
                  <a:endParaRPr lang="en-US" altLang="zh-CN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/>
                    <a:t>Africa</a:t>
                  </a:r>
                  <a:endParaRPr lang="en-US" altLang="zh-CN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/>
                    <a:t>South&amp;South-east Asia</a:t>
                  </a:r>
                  <a:endParaRPr lang="en-US" altLang="zh-CN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000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2" name="组合 61"/>
          <p:cNvGrpSpPr/>
          <p:nvPr/>
        </p:nvGrpSpPr>
        <p:grpSpPr>
          <a:xfrm>
            <a:off x="-57150" y="389255"/>
            <a:ext cx="15005050" cy="5993130"/>
            <a:chOff x="-90" y="613"/>
            <a:chExt cx="23630" cy="9438"/>
          </a:xfrm>
        </p:grpSpPr>
        <p:sp>
          <p:nvSpPr>
            <p:cNvPr id="66" name="矩形 65"/>
            <p:cNvSpPr/>
            <p:nvPr/>
          </p:nvSpPr>
          <p:spPr>
            <a:xfrm>
              <a:off x="-90" y="613"/>
              <a:ext cx="23631" cy="94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-22" y="2588"/>
              <a:ext cx="15122" cy="6309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/>
            <a:stretch>
              <a:fillRect/>
            </a:stretch>
          </p:blipFill>
          <p:spPr>
            <a:xfrm>
              <a:off x="15100" y="2617"/>
              <a:ext cx="7526" cy="628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994" y="-2399"/>
              <a:ext cx="923" cy="220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223" y="2210"/>
              <a:ext cx="924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567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559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3" y="7018"/>
              <a:ext cx="92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2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-2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701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38" y="2355"/>
              <a:ext cx="73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1" y="5535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20" y="4111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>
                  <a:ea typeface="宋体" panose="02010600030101010101" pitchFamily="2" charset="-122"/>
                </a:rPr>
                <a:t>0.04</a:t>
              </a:r>
              <a:endParaRPr lang="en-US" altLang="zh-CN" sz="2000">
                <a:ea typeface="宋体" panose="02010600030101010101" pitchFamily="2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9197" y="81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2792" y="8156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077" y="8156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7847" y="2274"/>
              <a:ext cx="96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385" y="8156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674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59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-0.005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573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0.005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2027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5100" y="2263"/>
              <a:ext cx="999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988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-1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130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1</a:t>
              </a:r>
              <a:endParaRPr lang="en-US" altLang="zh-CN" sz="200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5141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5248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4833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-0.005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5147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0.005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9716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469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-2</a:t>
              </a:r>
              <a:endParaRPr lang="en-US" altLang="zh-CN" sz="2000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8145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-1</a:t>
              </a:r>
              <a:endParaRPr lang="en-US" altLang="zh-CN" sz="200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21287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1</a:t>
              </a:r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Change of Vertical Params</a:t>
                  </a:r>
                  <a:endParaRPr lang="en-US" altLang="zh-CN" sz="28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/>
            <p:cNvSpPr txBox="1"/>
            <p:nvPr/>
          </p:nvSpPr>
          <p:spPr>
            <a:xfrm>
              <a:off x="13635" y="9199"/>
              <a:ext cx="254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7483" y="9235"/>
              <a:ext cx="131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</a:t>
              </a:r>
              <a:endParaRPr lang="en-US" altLang="zh-CN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9164" y="9222"/>
              <a:ext cx="447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South&amp;South-east Asia</a:t>
              </a:r>
              <a:endParaRPr lang="en-US" altLang="zh-CN"/>
            </a:p>
          </p:txBody>
        </p:sp>
        <p:sp>
          <p:nvSpPr>
            <p:cNvPr id="59" name="上箭头 58"/>
            <p:cNvSpPr/>
            <p:nvPr/>
          </p:nvSpPr>
          <p:spPr>
            <a:xfrm>
              <a:off x="13345" y="9154"/>
              <a:ext cx="290" cy="651"/>
            </a:xfrm>
            <a:prstGeom prst="upArrow">
              <a:avLst>
                <a:gd name="adj1" fmla="val 50000"/>
                <a:gd name="adj2" fmla="val 101034"/>
              </a:avLst>
            </a:prstGeom>
            <a:solidFill>
              <a:srgbClr val="47A2D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60" name="上箭头 59"/>
            <p:cNvSpPr/>
            <p:nvPr/>
          </p:nvSpPr>
          <p:spPr>
            <a:xfrm>
              <a:off x="7276" y="9167"/>
              <a:ext cx="290" cy="651"/>
            </a:xfrm>
            <a:prstGeom prst="upArrow">
              <a:avLst>
                <a:gd name="adj1" fmla="val 50000"/>
                <a:gd name="adj2" fmla="val 93103"/>
              </a:avLst>
            </a:prstGeom>
            <a:solidFill>
              <a:srgbClr val="E85748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>
                <a:solidFill>
                  <a:srgbClr val="9467BD"/>
                </a:solidFill>
              </a:endParaRPr>
            </a:p>
          </p:txBody>
        </p:sp>
        <p:sp>
          <p:nvSpPr>
            <p:cNvPr id="61" name="上箭头 60"/>
            <p:cNvSpPr/>
            <p:nvPr/>
          </p:nvSpPr>
          <p:spPr>
            <a:xfrm>
              <a:off x="8962" y="9154"/>
              <a:ext cx="290" cy="651"/>
            </a:xfrm>
            <a:prstGeom prst="upArrow">
              <a:avLst>
                <a:gd name="adj1" fmla="val 50000"/>
                <a:gd name="adj2" fmla="val 108620"/>
              </a:avLst>
            </a:prstGeom>
            <a:solidFill>
              <a:srgbClr val="F39F1B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175260" y="9278620"/>
            <a:ext cx="13058775" cy="4356100"/>
            <a:chOff x="992" y="61"/>
            <a:chExt cx="20565" cy="6860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b="1" i="1"/>
                <a:t>Strong Significance ***</a:t>
              </a:r>
              <a:endParaRPr lang="en-US" altLang="zh-CN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Not Significant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</a:t>
              </a:r>
              <a:r>
                <a:rPr lang="en-US" altLang="zh-CN" b="1" i="1">
                  <a:sym typeface="+mn-ea"/>
                </a:rPr>
                <a:t>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Significance *</a:t>
              </a:r>
              <a:endParaRPr lang="en-US" altLang="zh-CN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0469245" y="8209915"/>
            <a:ext cx="35204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Population growth ↑ 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Δα ↓, Δβ ↑, Δκ ↑, Δδ ↓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ΔB ↓, ΔC ↑</a:t>
            </a:r>
            <a:endParaRPr lang="en-US" altLang="zh-CN" b="1">
              <a:sym typeface="+mn-ea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09855" y="381635"/>
            <a:ext cx="13811250" cy="7388860"/>
            <a:chOff x="173" y="601"/>
            <a:chExt cx="21750" cy="11636"/>
          </a:xfrm>
        </p:grpSpPr>
        <p:pic>
          <p:nvPicPr>
            <p:cNvPr id="5" name="图片 4"/>
            <p:cNvPicPr/>
            <p:nvPr/>
          </p:nvPicPr>
          <p:blipFill>
            <a:blip r:embed="rId4"/>
            <a:srcRect l="1918" t="1292" r="75749" b="52389"/>
            <a:stretch>
              <a:fillRect/>
            </a:stretch>
          </p:blipFill>
          <p:spPr>
            <a:xfrm>
              <a:off x="173" y="641"/>
              <a:ext cx="5042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" name="图片 13"/>
            <p:cNvPicPr/>
            <p:nvPr/>
          </p:nvPicPr>
          <p:blipFill>
            <a:blip r:embed="rId4"/>
            <a:srcRect l="27028" t="1292" r="50577" b="52389"/>
            <a:stretch>
              <a:fillRect/>
            </a:stretch>
          </p:blipFill>
          <p:spPr>
            <a:xfrm>
              <a:off x="5515" y="641"/>
              <a:ext cx="5056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" name="图片 15"/>
            <p:cNvPicPr/>
            <p:nvPr/>
          </p:nvPicPr>
          <p:blipFill>
            <a:blip r:embed="rId4"/>
            <a:srcRect l="52342" t="811" r="25263" b="52513"/>
            <a:stretch>
              <a:fillRect/>
            </a:stretch>
          </p:blipFill>
          <p:spPr>
            <a:xfrm>
              <a:off x="10999" y="601"/>
              <a:ext cx="5056" cy="5237"/>
            </a:xfrm>
            <a:prstGeom prst="rect">
              <a:avLst/>
            </a:prstGeom>
          </p:spPr>
        </p:pic>
        <p:pic>
          <p:nvPicPr>
            <p:cNvPr id="17" name="图片 16"/>
            <p:cNvPicPr/>
            <p:nvPr/>
          </p:nvPicPr>
          <p:blipFill>
            <a:blip r:embed="rId4"/>
            <a:srcRect l="77426" t="935" r="237" b="52389"/>
            <a:stretch>
              <a:fillRect/>
            </a:stretch>
          </p:blipFill>
          <p:spPr>
            <a:xfrm>
              <a:off x="16399" y="601"/>
              <a:ext cx="5043" cy="523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本框 22"/>
                <p:cNvSpPr txBox="1"/>
                <p:nvPr/>
              </p:nvSpPr>
              <p:spPr>
                <a:xfrm>
                  <a:off x="16943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43" y="641"/>
                  <a:ext cx="1199" cy="100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文本框 26"/>
            <p:cNvSpPr txBox="1"/>
            <p:nvPr/>
          </p:nvSpPr>
          <p:spPr>
            <a:xfrm>
              <a:off x="550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46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1342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6945" y="5681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grpSp>
          <p:nvGrpSpPr>
            <p:cNvPr id="34" name="组合 33"/>
            <p:cNvGrpSpPr/>
            <p:nvPr/>
          </p:nvGrpSpPr>
          <p:grpSpPr>
            <a:xfrm>
              <a:off x="16432" y="10351"/>
              <a:ext cx="5061" cy="1886"/>
              <a:chOff x="16736" y="6695"/>
              <a:chExt cx="5061" cy="1886"/>
            </a:xfrm>
          </p:grpSpPr>
          <p:sp>
            <p:nvSpPr>
              <p:cNvPr id="35" name="椭圆 34"/>
              <p:cNvSpPr/>
              <p:nvPr/>
            </p:nvSpPr>
            <p:spPr>
              <a:xfrm>
                <a:off x="16736" y="8135"/>
                <a:ext cx="257" cy="255"/>
              </a:xfrm>
              <a:prstGeom prst="ellipse">
                <a:avLst/>
              </a:prstGeom>
              <a:solidFill>
                <a:srgbClr val="47A2D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7013" y="7953"/>
                <a:ext cx="3168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Latin America</a:t>
                </a:r>
                <a:endParaRPr lang="en-US" altLang="zh-CN" sz="2000"/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16736" y="6868"/>
                <a:ext cx="257" cy="255"/>
              </a:xfrm>
              <a:prstGeom prst="ellipse">
                <a:avLst/>
              </a:prstGeom>
              <a:solidFill>
                <a:srgbClr val="E85748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7013" y="6695"/>
                <a:ext cx="322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Africa</a:t>
                </a:r>
                <a:endParaRPr lang="en-US" altLang="zh-CN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6736" y="7510"/>
                <a:ext cx="257" cy="255"/>
              </a:xfrm>
              <a:prstGeom prst="ellipse">
                <a:avLst/>
              </a:prstGeom>
              <a:solidFill>
                <a:srgbClr val="F39F1B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7013" y="7324"/>
                <a:ext cx="4784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>
                    <a:sym typeface="+mn-ea"/>
                  </a:rPr>
                  <a:t>South &amp; South-east Asia</a:t>
                </a:r>
                <a:endParaRPr lang="en-US" altLang="zh-CN" sz="2000">
                  <a:sym typeface="+mn-ea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45" y="6378"/>
              <a:ext cx="15880" cy="5838"/>
              <a:chOff x="503" y="6892"/>
              <a:chExt cx="15880" cy="5838"/>
            </a:xfrm>
          </p:grpSpPr>
          <p:grpSp>
            <p:nvGrpSpPr>
              <p:cNvPr id="2" name="组合 1"/>
              <p:cNvGrpSpPr/>
              <p:nvPr/>
            </p:nvGrpSpPr>
            <p:grpSpPr>
              <a:xfrm>
                <a:off x="503" y="6892"/>
                <a:ext cx="15881" cy="5230"/>
                <a:chOff x="433" y="6578"/>
                <a:chExt cx="15881" cy="5230"/>
              </a:xfrm>
            </p:grpSpPr>
            <p:pic>
              <p:nvPicPr>
                <p:cNvPr id="18" name="图片 17"/>
                <p:cNvPicPr/>
                <p:nvPr/>
              </p:nvPicPr>
              <p:blipFill>
                <a:blip r:embed="rId4"/>
                <a:srcRect l="1917" t="50579" r="75927" b="3155"/>
                <a:stretch>
                  <a:fillRect/>
                </a:stretch>
              </p:blipFill>
              <p:spPr>
                <a:xfrm>
                  <a:off x="433" y="6597"/>
                  <a:ext cx="5002" cy="5191"/>
                </a:xfrm>
                <a:prstGeom prst="rect">
                  <a:avLst/>
                </a:prstGeom>
              </p:spPr>
            </p:pic>
            <p:pic>
              <p:nvPicPr>
                <p:cNvPr id="19" name="图片 18"/>
                <p:cNvPicPr/>
                <p:nvPr/>
              </p:nvPicPr>
              <p:blipFill>
                <a:blip r:embed="rId4"/>
                <a:srcRect l="27196" t="50579" r="50688" b="2977"/>
                <a:stretch>
                  <a:fillRect/>
                </a:stretch>
              </p:blipFill>
              <p:spPr>
                <a:xfrm>
                  <a:off x="5768" y="6598"/>
                  <a:ext cx="4993" cy="5211"/>
                </a:xfrm>
                <a:prstGeom prst="rect">
                  <a:avLst/>
                </a:prstGeom>
              </p:spPr>
            </p:pic>
            <p:pic>
              <p:nvPicPr>
                <p:cNvPr id="20" name="图片 19"/>
                <p:cNvPicPr/>
                <p:nvPr/>
              </p:nvPicPr>
              <p:blipFill>
                <a:blip r:embed="rId4"/>
                <a:srcRect l="50916" t="50579" r="25356" b="2977"/>
                <a:stretch>
                  <a:fillRect/>
                </a:stretch>
              </p:blipFill>
              <p:spPr>
                <a:xfrm>
                  <a:off x="10958" y="6578"/>
                  <a:ext cx="5357" cy="5211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文本框 24"/>
                    <p:cNvSpPr txBox="1"/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5" name="文本框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文本框 25"/>
                    <p:cNvSpPr txBox="1"/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6" name="文本框 2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4" name="文本框 3"/>
              <p:cNvSpPr txBox="1"/>
              <p:nvPr/>
            </p:nvSpPr>
            <p:spPr>
              <a:xfrm>
                <a:off x="810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6206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11602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</p:grpSp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6389" y="6417"/>
              <a:ext cx="5535" cy="38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31" name="组合 30"/>
          <p:cNvGrpSpPr/>
          <p:nvPr/>
        </p:nvGrpSpPr>
        <p:grpSpPr>
          <a:xfrm>
            <a:off x="286385" y="793750"/>
            <a:ext cx="13375640" cy="6555740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2016</a:t>
                </a:r>
                <a:endParaRPr lang="en-US" altLang="zh-CN" sz="280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2023</a:t>
                </a:r>
                <a:endParaRPr lang="en-US" altLang="zh-CN" sz="2800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886"/>
                <a:chOff x="9225" y="1246"/>
                <a:chExt cx="5334" cy="1886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Latin America</a:t>
                  </a:r>
                  <a:endParaRPr lang="en-US" altLang="zh-CN" sz="2000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Africa</a:t>
                  </a:r>
                  <a:endParaRPr lang="en-US" altLang="zh-CN" sz="2000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>
                      <a:sym typeface="+mn-ea"/>
                    </a:rPr>
                    <a:t>South &amp; South-east Asia</a:t>
                  </a:r>
                  <a:endParaRPr lang="en-US" altLang="zh-CN" sz="2000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325755" y="8511540"/>
            <a:ext cx="3649980" cy="36576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65405" y="1230630"/>
            <a:ext cx="14261465" cy="5057775"/>
            <a:chOff x="103" y="1938"/>
            <a:chExt cx="22459" cy="796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5387" y="3027"/>
              <a:ext cx="5750" cy="576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7936" y="3027"/>
              <a:ext cx="5750" cy="576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90" y="3027"/>
              <a:ext cx="5750" cy="576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103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7520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2474" y="1939"/>
              <a:ext cx="198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E85748"/>
                  </a:solidFill>
                </a:rPr>
                <a:t>Africa</a:t>
              </a:r>
              <a:endParaRPr lang="en-US" altLang="zh-CN" sz="240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466" y="1938"/>
              <a:ext cx="707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240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 rot="0">
              <a:off x="14908" y="2624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4999" y="2036"/>
              <a:ext cx="6851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400" b="1">
                  <a:solidFill>
                    <a:srgbClr val="47A2DE"/>
                  </a:solidFill>
                </a:rPr>
                <a:t>Latin America</a:t>
              </a:r>
              <a:endParaRPr lang="en-US" altLang="zh-CN" sz="240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96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2000">
                  <a:sym typeface="+mn-ea"/>
                </a:rPr>
                <a:t>2016</a:t>
              </a:r>
              <a:endParaRPr lang="en-US" altLang="zh-CN" sz="2000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 rot="0">
              <a:off x="6942" y="9400"/>
              <a:ext cx="1883" cy="377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 rot="0">
              <a:off x="11813" y="9400"/>
              <a:ext cx="1942" cy="377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398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2000">
                  <a:sym typeface="+mn-ea"/>
                </a:rPr>
                <a:t>2023</a:t>
              </a:r>
              <a:endParaRPr lang="en-US" altLang="zh-CN" sz="2000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511040" y="8391525"/>
            <a:ext cx="8133715" cy="1035050"/>
            <a:chOff x="6709" y="10473"/>
            <a:chExt cx="12809" cy="163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6005</Words>
  <Application>WPS 演示</Application>
  <PresentationFormat>宽屏</PresentationFormat>
  <Paragraphs>982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6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26</cp:revision>
  <dcterms:created xsi:type="dcterms:W3CDTF">2026-03-16T15:05:15Z</dcterms:created>
  <dcterms:modified xsi:type="dcterms:W3CDTF">2026-03-16T15:05:15Z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