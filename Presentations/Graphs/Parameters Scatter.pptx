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21"/>
  </p:handoutMasterIdLst>
  <p:sldIdLst>
    <p:sldId id="256" r:id="rId3"/>
    <p:sldId id="257" r:id="rId4"/>
    <p:sldId id="258" r:id="rId6"/>
    <p:sldId id="267" r:id="rId7"/>
    <p:sldId id="262" r:id="rId8"/>
    <p:sldId id="263" r:id="rId9"/>
    <p:sldId id="264" r:id="rId10"/>
    <p:sldId id="260" r:id="rId11"/>
    <p:sldId id="269" r:id="rId12"/>
    <p:sldId id="271" r:id="rId13"/>
    <p:sldId id="259" r:id="rId14"/>
    <p:sldId id="266" r:id="rId15"/>
    <p:sldId id="270" r:id="rId16"/>
    <p:sldId id="261" r:id="rId17"/>
    <p:sldId id="272" r:id="rId18"/>
    <p:sldId id="265" r:id="rId19"/>
    <p:sldId id="268" r:id="rId20"/>
  </p:sldIdLst>
  <p:sldSz cx="8099425" cy="14399895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ot used" id="{81244984-FFB1-4A92-8F35-FF698557D6D0}">
          <p14:sldIdLst>
            <p14:sldId id="256"/>
            <p14:sldId id="257"/>
            <p14:sldId id="258"/>
            <p14:sldId id="267"/>
          </p14:sldIdLst>
        </p14:section>
        <p14:section name="无标题节" id="{7174F263-5FF1-488A-9BA9-16647EAD2F01}">
          <p14:sldIdLst>
            <p14:sldId id="262"/>
            <p14:sldId id="263"/>
            <p14:sldId id="264"/>
            <p14:sldId id="260"/>
            <p14:sldId id="269"/>
            <p14:sldId id="271"/>
            <p14:sldId id="259"/>
            <p14:sldId id="266"/>
            <p14:sldId id="270"/>
            <p14:sldId id="261"/>
            <p14:sldId id="272"/>
            <p14:sldId id="265"/>
            <p14:sldId id="2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382" userDrawn="1">
          <p15:clr>
            <a:srgbClr val="A4A3A4"/>
          </p15:clr>
        </p15:guide>
        <p15:guide id="2" pos="2550" userDrawn="1">
          <p15:clr>
            <a:srgbClr val="A4A3A4"/>
          </p15:clr>
        </p15:guide>
        <p15:guide id="3" orient="horz" pos="4566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pril Liang" initials="AL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3B3B3"/>
    <a:srgbClr val="E5C494"/>
    <a:srgbClr val="FFD92F"/>
    <a:srgbClr val="A6D854"/>
    <a:srgbClr val="8DA0CB"/>
    <a:srgbClr val="FC8D62"/>
    <a:srgbClr val="66C2A5"/>
    <a:srgbClr val="47A2DE"/>
    <a:srgbClr val="F39F1B"/>
    <a:srgbClr val="E8574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2" d="100"/>
          <a:sy n="72" d="100"/>
        </p:scale>
        <p:origin x="730" y="43"/>
      </p:cViewPr>
      <p:guideLst>
        <p:guide orient="horz" pos="2382"/>
        <p:guide pos="2550"/>
        <p:guide orient="horz" pos="4566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90001" cy="90001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5" Type="http://schemas.openxmlformats.org/officeDocument/2006/relationships/commentAuthors" Target="commentAuthors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handoutMaster" Target="handoutMasters/handoutMaster1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oleObject" Target="/home/liang/Documents/Research/Urban_Growth/Python_Codes/Presentations/Graphs/Continental%20Average.xlsx" TargetMode="External"/></Relationships>
</file>

<file path=ppt/charts/_rels/chart2.xml.rels><?xml version="1.0" encoding="UTF-8" standalone="yes"?>
<Relationships xmlns="http://schemas.openxmlformats.org/package/2006/relationships"><Relationship Id="rId3" Type="http://schemas.microsoft.com/office/2011/relationships/chartColorStyle" Target="colors2.xml"/><Relationship Id="rId2" Type="http://schemas.microsoft.com/office/2011/relationships/chartStyle" Target="style2.xml"/><Relationship Id="rId1" Type="http://schemas.openxmlformats.org/officeDocument/2006/relationships/oleObject" Target="/home/liang/Documents/Research/Urban_Growth/Python_Codes/Presentations/Graphs/Continental%20Average.xlsx" TargetMode="External"/></Relationships>
</file>

<file path=ppt/charts/_rels/chart3.xml.rels><?xml version="1.0" encoding="UTF-8" standalone="yes"?>
<Relationships xmlns="http://schemas.openxmlformats.org/package/2006/relationships"><Relationship Id="rId3" Type="http://schemas.microsoft.com/office/2011/relationships/chartColorStyle" Target="colors3.xml"/><Relationship Id="rId2" Type="http://schemas.microsoft.com/office/2011/relationships/chartStyle" Target="style3.xml"/><Relationship Id="rId1" Type="http://schemas.openxmlformats.org/officeDocument/2006/relationships/oleObject" Target="/home/liang/Documents/Research/Urban_Growth/Python_Codes/Presentations/Graphs/Continental%20Average.xlsx" TargetMode="External"/></Relationships>
</file>

<file path=ppt/charts/_rels/chart4.xml.rels><?xml version="1.0" encoding="UTF-8" standalone="yes"?>
<Relationships xmlns="http://schemas.openxmlformats.org/package/2006/relationships"><Relationship Id="rId3" Type="http://schemas.microsoft.com/office/2011/relationships/chartColorStyle" Target="colors4.xml"/><Relationship Id="rId2" Type="http://schemas.microsoft.com/office/2011/relationships/chartStyle" Target="style4.xml"/><Relationship Id="rId1" Type="http://schemas.openxmlformats.org/officeDocument/2006/relationships/oleObject" Target="/home/liang/Documents/Research/Urban_Growth/Python_Codes/Presentations/Graphs/Continental%20Average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Average.xlsx]Sheet2'!$U$2</c:f>
              <c:strCache>
                <c:ptCount val="1"/>
                <c:pt idx="0">
                  <c:v>LC-SG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Average.xlsx]Sheet2'!$U$3:$U$5</c:f>
              <c:numCache>
                <c:formatCode>0%</c:formatCode>
                <c:ptCount val="3"/>
                <c:pt idx="0">
                  <c:v>0.363636363636364</c:v>
                </c:pt>
                <c:pt idx="1">
                  <c:v>0.5</c:v>
                </c:pt>
                <c:pt idx="2">
                  <c:v>0.533333333333333</c:v>
                </c:pt>
              </c:numCache>
            </c:numRef>
          </c:val>
        </c:ser>
        <c:ser>
          <c:idx val="1"/>
          <c:order val="1"/>
          <c:tx>
            <c:strRef>
              <c:f>'[Continental Average.xlsx]Sheet2'!$V$2</c:f>
              <c:strCache>
                <c:ptCount val="1"/>
                <c:pt idx="0">
                  <c:v>LC-FG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Average.xlsx]Sheet2'!$V$3:$V$5</c:f>
              <c:numCache>
                <c:formatCode>0%</c:formatCode>
                <c:ptCount val="3"/>
                <c:pt idx="0">
                  <c:v>0.227272727272727</c:v>
                </c:pt>
                <c:pt idx="1">
                  <c:v>0.3</c:v>
                </c:pt>
                <c:pt idx="2">
                  <c:v>0.333333333333333</c:v>
                </c:pt>
              </c:numCache>
            </c:numRef>
          </c:val>
        </c:ser>
        <c:ser>
          <c:idx val="2"/>
          <c:order val="2"/>
          <c:tx>
            <c:strRef>
              <c:f>'[Continental Average.xlsx]Sheet2'!$W$2</c:f>
              <c:strCache>
                <c:ptCount val="1"/>
                <c:pt idx="0">
                  <c:v>HC-SG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Average.xlsx]Sheet2'!$W$3:$W$5</c:f>
              <c:numCache>
                <c:formatCode>0%</c:formatCode>
                <c:ptCount val="3"/>
                <c:pt idx="0">
                  <c:v>0</c:v>
                </c:pt>
                <c:pt idx="1">
                  <c:v>0.0333333333333333</c:v>
                </c:pt>
                <c:pt idx="2">
                  <c:v>0</c:v>
                </c:pt>
              </c:numCache>
            </c:numRef>
          </c:val>
        </c:ser>
        <c:ser>
          <c:idx val="3"/>
          <c:order val="3"/>
          <c:tx>
            <c:strRef>
              <c:f>'[Continental Average.xlsx]Sheet2'!$X$2</c:f>
              <c:strCache>
                <c:ptCount val="1"/>
                <c:pt idx="0">
                  <c:v>HC-FG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Average.xlsx]Sheet2'!$X$3:$X$5</c:f>
              <c:numCache>
                <c:formatCode>0%</c:formatCode>
                <c:ptCount val="3"/>
                <c:pt idx="0">
                  <c:v>0.409090909090909</c:v>
                </c:pt>
                <c:pt idx="1">
                  <c:v>0.166666666666667</c:v>
                </c:pt>
                <c:pt idx="2">
                  <c:v>0.133333333333333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864058613"/>
        <c:axId val="414164983"/>
      </c:barChart>
      <c:catAx>
        <c:axId val="86405861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14164983"/>
        <c:crosses val="autoZero"/>
        <c:auto val="1"/>
        <c:lblAlgn val="ctr"/>
        <c:lblOffset val="100"/>
        <c:noMultiLvlLbl val="0"/>
      </c:catAx>
      <c:valAx>
        <c:axId val="41416498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86405861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bb8adb4-ffa1-4c27-94d4-ea17a12fad3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Average.xlsx]Sheet2'!$U$18</c:f>
              <c:strCache>
                <c:ptCount val="1"/>
                <c:pt idx="0">
                  <c:v>LI-SG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Average.xlsx]Sheet2'!$U$19:$U$21</c:f>
              <c:numCache>
                <c:formatCode>0%</c:formatCode>
                <c:ptCount val="3"/>
                <c:pt idx="0">
                  <c:v>0.454545454545455</c:v>
                </c:pt>
                <c:pt idx="1">
                  <c:v>0.333333333333333</c:v>
                </c:pt>
                <c:pt idx="2">
                  <c:v>0.5</c:v>
                </c:pt>
              </c:numCache>
            </c:numRef>
          </c:val>
        </c:ser>
        <c:ser>
          <c:idx val="1"/>
          <c:order val="1"/>
          <c:tx>
            <c:strRef>
              <c:f>'[Continental Average.xlsx]Sheet2'!$V$18</c:f>
              <c:strCache>
                <c:ptCount val="1"/>
                <c:pt idx="0">
                  <c:v>LI-FG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Average.xlsx]Sheet2'!$V$19:$V$21</c:f>
              <c:numCache>
                <c:formatCode>0%</c:formatCode>
                <c:ptCount val="3"/>
                <c:pt idx="0">
                  <c:v>0.454545454545455</c:v>
                </c:pt>
                <c:pt idx="1">
                  <c:v>0.2</c:v>
                </c:pt>
                <c:pt idx="2">
                  <c:v>0.233333333333333</c:v>
                </c:pt>
              </c:numCache>
            </c:numRef>
          </c:val>
        </c:ser>
        <c:ser>
          <c:idx val="2"/>
          <c:order val="2"/>
          <c:tx>
            <c:strRef>
              <c:f>'[Continental Average.xlsx]Sheet2'!$W$18</c:f>
              <c:strCache>
                <c:ptCount val="1"/>
                <c:pt idx="0">
                  <c:v>HI-SG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Average.xlsx]Sheet2'!$W$19:$W$21</c:f>
              <c:numCache>
                <c:formatCode>0%</c:formatCode>
                <c:ptCount val="3"/>
                <c:pt idx="0">
                  <c:v>0.0454545454545455</c:v>
                </c:pt>
                <c:pt idx="1">
                  <c:v>0.166666666666667</c:v>
                </c:pt>
                <c:pt idx="2">
                  <c:v>0.0666666666666667</c:v>
                </c:pt>
              </c:numCache>
            </c:numRef>
          </c:val>
        </c:ser>
        <c:ser>
          <c:idx val="3"/>
          <c:order val="3"/>
          <c:tx>
            <c:strRef>
              <c:f>'[Continental Average.xlsx]Sheet2'!$X$18</c:f>
              <c:strCache>
                <c:ptCount val="1"/>
                <c:pt idx="0">
                  <c:v>HI-FG</c:v>
                </c:pt>
              </c:strCache>
            </c:strRef>
          </c:tx>
          <c:spPr>
            <a:solidFill>
              <a:schemeClr val="bg2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Average.xlsx]Sheet2'!$X$19:$X$21</c:f>
              <c:numCache>
                <c:formatCode>0%</c:formatCode>
                <c:ptCount val="3"/>
                <c:pt idx="0">
                  <c:v>0.0454545454545455</c:v>
                </c:pt>
                <c:pt idx="1">
                  <c:v>0.3</c:v>
                </c:pt>
                <c:pt idx="2">
                  <c:v>0.2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515141581"/>
        <c:axId val="430121534"/>
      </c:barChart>
      <c:catAx>
        <c:axId val="51514158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30121534"/>
        <c:crosses val="autoZero"/>
        <c:auto val="1"/>
        <c:lblAlgn val="ctr"/>
        <c:lblOffset val="100"/>
        <c:noMultiLvlLbl val="0"/>
      </c:catAx>
      <c:valAx>
        <c:axId val="43012153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51514158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8ed8364-554b-47b0-9384-8bfc9afc102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Average.xlsx]Sheet2'!$U$33</c:f>
              <c:strCache>
                <c:ptCount val="1"/>
                <c:pt idx="0">
                  <c:v>LC-SG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Average.xlsx]Sheet2'!$U$34:$U$36</c:f>
              <c:numCache>
                <c:formatCode>0%</c:formatCode>
                <c:ptCount val="3"/>
                <c:pt idx="0">
                  <c:v>0.363636363636364</c:v>
                </c:pt>
                <c:pt idx="1">
                  <c:v>0.466666666666667</c:v>
                </c:pt>
                <c:pt idx="2">
                  <c:v>0.533333333333333</c:v>
                </c:pt>
              </c:numCache>
            </c:numRef>
          </c:val>
        </c:ser>
        <c:ser>
          <c:idx val="1"/>
          <c:order val="1"/>
          <c:tx>
            <c:strRef>
              <c:f>'[Continental Average.xlsx]Sheet2'!$V$33</c:f>
              <c:strCache>
                <c:ptCount val="1"/>
                <c:pt idx="0">
                  <c:v>LC-FG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Average.xlsx]Sheet2'!$V$34:$V$36</c:f>
              <c:numCache>
                <c:formatCode>0%</c:formatCode>
                <c:ptCount val="3"/>
                <c:pt idx="0">
                  <c:v>0.227272727272727</c:v>
                </c:pt>
                <c:pt idx="1">
                  <c:v>0.366666666666667</c:v>
                </c:pt>
                <c:pt idx="2">
                  <c:v>0.333333333333333</c:v>
                </c:pt>
              </c:numCache>
            </c:numRef>
          </c:val>
        </c:ser>
        <c:ser>
          <c:idx val="2"/>
          <c:order val="2"/>
          <c:tx>
            <c:strRef>
              <c:f>'[Continental Average.xlsx]Sheet2'!$W$33</c:f>
              <c:strCache>
                <c:ptCount val="1"/>
                <c:pt idx="0">
                  <c:v>HC-SG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Average.xlsx]Sheet2'!$W$34:$W$36</c:f>
              <c:numCache>
                <c:formatCode>0%</c:formatCode>
                <c:ptCount val="3"/>
                <c:pt idx="0">
                  <c:v>0</c:v>
                </c:pt>
                <c:pt idx="1">
                  <c:v>0.0333333333333333</c:v>
                </c:pt>
                <c:pt idx="2">
                  <c:v>0</c:v>
                </c:pt>
              </c:numCache>
            </c:numRef>
          </c:val>
        </c:ser>
        <c:ser>
          <c:idx val="3"/>
          <c:order val="3"/>
          <c:tx>
            <c:strRef>
              <c:f>'[Continental Average.xlsx]Sheet2'!$X$33</c:f>
              <c:strCache>
                <c:ptCount val="1"/>
                <c:pt idx="0">
                  <c:v>HC-FG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Average.xlsx]Sheet2'!$X$34:$X$36</c:f>
              <c:numCache>
                <c:formatCode>0%</c:formatCode>
                <c:ptCount val="3"/>
                <c:pt idx="0">
                  <c:v>0.409090909090909</c:v>
                </c:pt>
                <c:pt idx="1">
                  <c:v>0.133333333333333</c:v>
                </c:pt>
                <c:pt idx="2">
                  <c:v>0.133333333333333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864058613"/>
        <c:axId val="414164983"/>
      </c:barChart>
      <c:catAx>
        <c:axId val="86405861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14164983"/>
        <c:crosses val="autoZero"/>
        <c:auto val="1"/>
        <c:lblAlgn val="ctr"/>
        <c:lblOffset val="100"/>
        <c:noMultiLvlLbl val="0"/>
      </c:catAx>
      <c:valAx>
        <c:axId val="41416498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86405861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bab19804-f4c2-4642-9de8-99d2b0eed63c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Average.xlsx]Sheet2'!$U$48</c:f>
              <c:strCache>
                <c:ptCount val="1"/>
                <c:pt idx="0">
                  <c:v>LI-SG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Average.xlsx]Sheet2'!$U$49:$U$51</c:f>
              <c:numCache>
                <c:formatCode>0%</c:formatCode>
                <c:ptCount val="3"/>
                <c:pt idx="0">
                  <c:v>0.431818181818182</c:v>
                </c:pt>
                <c:pt idx="1">
                  <c:v>0.266666666666667</c:v>
                </c:pt>
                <c:pt idx="2">
                  <c:v>0.533333333333333</c:v>
                </c:pt>
              </c:numCache>
            </c:numRef>
          </c:val>
        </c:ser>
        <c:ser>
          <c:idx val="1"/>
          <c:order val="1"/>
          <c:tx>
            <c:strRef>
              <c:f>'[Continental Average.xlsx]Sheet2'!$V$48</c:f>
              <c:strCache>
                <c:ptCount val="1"/>
                <c:pt idx="0">
                  <c:v>LI-FG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Average.xlsx]Sheet2'!$V$49:$V$51</c:f>
              <c:numCache>
                <c:formatCode>0%</c:formatCode>
                <c:ptCount val="3"/>
                <c:pt idx="0">
                  <c:v>0.409090909090909</c:v>
                </c:pt>
                <c:pt idx="1">
                  <c:v>0.166666666666667</c:v>
                </c:pt>
                <c:pt idx="2">
                  <c:v>0.166666666666667</c:v>
                </c:pt>
              </c:numCache>
            </c:numRef>
          </c:val>
        </c:ser>
        <c:ser>
          <c:idx val="2"/>
          <c:order val="2"/>
          <c:tx>
            <c:strRef>
              <c:f>'[Continental Average.xlsx]Sheet2'!$W$48</c:f>
              <c:strCache>
                <c:ptCount val="1"/>
                <c:pt idx="0">
                  <c:v>HI-SG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Average.xlsx]Sheet2'!$W$49:$W$51</c:f>
              <c:numCache>
                <c:formatCode>0%</c:formatCode>
                <c:ptCount val="3"/>
                <c:pt idx="0">
                  <c:v>0.0454545454545455</c:v>
                </c:pt>
                <c:pt idx="1">
                  <c:v>0.3</c:v>
                </c:pt>
                <c:pt idx="2">
                  <c:v>0.0333333333333333</c:v>
                </c:pt>
              </c:numCache>
            </c:numRef>
          </c:val>
        </c:ser>
        <c:ser>
          <c:idx val="3"/>
          <c:order val="3"/>
          <c:tx>
            <c:strRef>
              <c:f>'[Continental Average.xlsx]Sheet2'!$X$48</c:f>
              <c:strCache>
                <c:ptCount val="1"/>
                <c:pt idx="0">
                  <c:v>HI-FG</c:v>
                </c:pt>
              </c:strCache>
            </c:strRef>
          </c:tx>
          <c:spPr>
            <a:solidFill>
              <a:schemeClr val="bg2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Average.xlsx]Sheet2'!$X$49:$X$51</c:f>
              <c:numCache>
                <c:formatCode>0%</c:formatCode>
                <c:ptCount val="3"/>
                <c:pt idx="0">
                  <c:v>0.113636363636364</c:v>
                </c:pt>
                <c:pt idx="1">
                  <c:v>0.266666666666667</c:v>
                </c:pt>
                <c:pt idx="2">
                  <c:v>0.266666666666667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515141581"/>
        <c:axId val="430121534"/>
      </c:barChart>
      <c:catAx>
        <c:axId val="51514158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30121534"/>
        <c:crosses val="autoZero"/>
        <c:auto val="1"/>
        <c:lblAlgn val="ctr"/>
        <c:lblOffset val="100"/>
        <c:noMultiLvlLbl val="0"/>
      </c:catAx>
      <c:valAx>
        <c:axId val="43012153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51514158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480ab477-e90b-4b03-a63e-2f8def5d979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581274" y="1279525"/>
            <a:ext cx="194310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2581275" y="1279525"/>
            <a:ext cx="1943100" cy="34544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012507" y="2778071"/>
            <a:ext cx="6075045" cy="4592454"/>
          </a:xfrm>
        </p:spPr>
        <p:txBody>
          <a:bodyPr anchor="b">
            <a:normAutofit/>
          </a:bodyPr>
          <a:lstStyle>
            <a:lvl1pPr algn="ctr">
              <a:defRPr sz="5315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012507" y="7563872"/>
            <a:ext cx="6075045" cy="3476914"/>
          </a:xfrm>
        </p:spPr>
        <p:txBody>
          <a:bodyPr>
            <a:normAutofit/>
          </a:bodyPr>
          <a:lstStyle>
            <a:lvl1pPr marL="0" indent="0" algn="ctr">
              <a:buNone/>
              <a:defRPr sz="1595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05130" indent="0" algn="ctr">
              <a:buNone/>
              <a:defRPr sz="1770"/>
            </a:lvl2pPr>
            <a:lvl3pPr marL="810260" indent="0" algn="ctr">
              <a:buNone/>
              <a:defRPr sz="1595"/>
            </a:lvl3pPr>
            <a:lvl4pPr marL="1214755" indent="0" algn="ctr">
              <a:buNone/>
              <a:defRPr sz="1420"/>
            </a:lvl4pPr>
            <a:lvl5pPr marL="1620520" indent="0" algn="ctr">
              <a:buNone/>
              <a:defRPr sz="1420"/>
            </a:lvl5pPr>
            <a:lvl6pPr marL="2025015" indent="0" algn="ctr">
              <a:buNone/>
              <a:defRPr sz="1420"/>
            </a:lvl6pPr>
            <a:lvl7pPr marL="2430145" indent="0" algn="ctr">
              <a:buNone/>
              <a:defRPr sz="1420"/>
            </a:lvl7pPr>
            <a:lvl8pPr marL="2835275" indent="0" algn="ctr">
              <a:buNone/>
              <a:defRPr sz="1420"/>
            </a:lvl8pPr>
            <a:lvl9pPr marL="3240405" indent="0" algn="ctr">
              <a:buNone/>
              <a:defRPr sz="142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30316" y="542705"/>
            <a:ext cx="6986301" cy="2783533"/>
          </a:xfrm>
        </p:spPr>
        <p:txBody>
          <a:bodyPr anchor="ctr" anchorCtr="0">
            <a:normAutofit/>
          </a:bodyPr>
          <a:lstStyle>
            <a:lvl1pPr>
              <a:defRPr sz="2125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30316" y="3833606"/>
            <a:ext cx="6986301" cy="9137317"/>
          </a:xfrm>
        </p:spPr>
        <p:txBody>
          <a:bodyPr>
            <a:normAutofit/>
          </a:bodyPr>
          <a:lstStyle>
            <a:lvl1pPr>
              <a:defRPr sz="177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59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42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42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42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52660" y="7876920"/>
            <a:ext cx="4864255" cy="1703758"/>
          </a:xfrm>
        </p:spPr>
        <p:txBody>
          <a:bodyPr anchor="b">
            <a:normAutofit/>
          </a:bodyPr>
          <a:lstStyle>
            <a:lvl1pPr>
              <a:defRPr sz="3545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552660" y="9680536"/>
            <a:ext cx="4864255" cy="1359793"/>
          </a:xfrm>
        </p:spPr>
        <p:txBody>
          <a:bodyPr>
            <a:normAutofit/>
          </a:bodyPr>
          <a:lstStyle>
            <a:lvl1pPr marL="0" indent="0">
              <a:buNone/>
              <a:defRPr sz="1595">
                <a:solidFill>
                  <a:schemeClr val="tx1"/>
                </a:solidFill>
              </a:defRPr>
            </a:lvl1pPr>
            <a:lvl2pPr marL="405130" indent="0">
              <a:buNone/>
              <a:defRPr sz="1770">
                <a:solidFill>
                  <a:schemeClr val="tx1">
                    <a:tint val="75000"/>
                  </a:schemeClr>
                </a:solidFill>
              </a:defRPr>
            </a:lvl2pPr>
            <a:lvl3pPr marL="810260" indent="0">
              <a:buNone/>
              <a:defRPr sz="1595">
                <a:solidFill>
                  <a:schemeClr val="tx1">
                    <a:tint val="75000"/>
                  </a:schemeClr>
                </a:solidFill>
              </a:defRPr>
            </a:lvl3pPr>
            <a:lvl4pPr marL="1214755" indent="0">
              <a:buNone/>
              <a:defRPr sz="1420">
                <a:solidFill>
                  <a:schemeClr val="tx1">
                    <a:tint val="75000"/>
                  </a:schemeClr>
                </a:solidFill>
              </a:defRPr>
            </a:lvl4pPr>
            <a:lvl5pPr marL="1620520" indent="0">
              <a:buNone/>
              <a:defRPr sz="1420">
                <a:solidFill>
                  <a:schemeClr val="tx1">
                    <a:tint val="75000"/>
                  </a:schemeClr>
                </a:solidFill>
              </a:defRPr>
            </a:lvl5pPr>
            <a:lvl6pPr marL="2025015" indent="0">
              <a:buNone/>
              <a:defRPr sz="1420">
                <a:solidFill>
                  <a:schemeClr val="tx1">
                    <a:tint val="75000"/>
                  </a:schemeClr>
                </a:solidFill>
              </a:defRPr>
            </a:lvl6pPr>
            <a:lvl7pPr marL="2430145" indent="0">
              <a:buNone/>
              <a:defRPr sz="1420">
                <a:solidFill>
                  <a:schemeClr val="tx1">
                    <a:tint val="75000"/>
                  </a:schemeClr>
                </a:solidFill>
              </a:defRPr>
            </a:lvl7pPr>
            <a:lvl8pPr marL="2835275" indent="0">
              <a:buNone/>
              <a:defRPr sz="1420">
                <a:solidFill>
                  <a:schemeClr val="tx1">
                    <a:tint val="75000"/>
                  </a:schemeClr>
                </a:solidFill>
              </a:defRPr>
            </a:lvl8pPr>
            <a:lvl9pPr marL="3240405" indent="0">
              <a:buNone/>
              <a:defRPr sz="14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30316" y="542705"/>
            <a:ext cx="6986301" cy="2783533"/>
          </a:xfrm>
        </p:spPr>
        <p:txBody>
          <a:bodyPr>
            <a:normAutofit/>
          </a:bodyPr>
          <a:lstStyle>
            <a:lvl1pPr>
              <a:defRPr sz="2125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30316" y="3833606"/>
            <a:ext cx="3442525" cy="913731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77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59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42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42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42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974092" y="3833606"/>
            <a:ext cx="3442525" cy="913731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77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59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42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42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42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57934" y="766721"/>
            <a:ext cx="6986301" cy="278353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557934" y="3664221"/>
            <a:ext cx="3426705" cy="1730121"/>
          </a:xfrm>
        </p:spPr>
        <p:txBody>
          <a:bodyPr anchor="b"/>
          <a:lstStyle>
            <a:lvl1pPr marL="0" indent="0">
              <a:buNone/>
              <a:defRPr sz="2125" b="1"/>
            </a:lvl1pPr>
            <a:lvl2pPr marL="405130" indent="0">
              <a:buNone/>
              <a:defRPr sz="1770" b="1"/>
            </a:lvl2pPr>
            <a:lvl3pPr marL="810260" indent="0">
              <a:buNone/>
              <a:defRPr sz="1595" b="1"/>
            </a:lvl3pPr>
            <a:lvl4pPr marL="1214755" indent="0">
              <a:buNone/>
              <a:defRPr sz="1420" b="1"/>
            </a:lvl4pPr>
            <a:lvl5pPr marL="1620520" indent="0">
              <a:buNone/>
              <a:defRPr sz="1420" b="1"/>
            </a:lvl5pPr>
            <a:lvl6pPr marL="2025015" indent="0">
              <a:buNone/>
              <a:defRPr sz="1420" b="1"/>
            </a:lvl6pPr>
            <a:lvl7pPr marL="2430145" indent="0">
              <a:buNone/>
              <a:defRPr sz="1420" b="1"/>
            </a:lvl7pPr>
            <a:lvl8pPr marL="2835275" indent="0">
              <a:buNone/>
              <a:defRPr sz="1420" b="1"/>
            </a:lvl8pPr>
            <a:lvl9pPr marL="3240405" indent="0">
              <a:buNone/>
              <a:defRPr sz="142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57934" y="5492483"/>
            <a:ext cx="3426705" cy="7505109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100655" y="3664221"/>
            <a:ext cx="3443581" cy="1730121"/>
          </a:xfrm>
        </p:spPr>
        <p:txBody>
          <a:bodyPr anchor="b"/>
          <a:lstStyle>
            <a:lvl1pPr marL="0" indent="0">
              <a:buNone/>
              <a:defRPr sz="2125" b="1"/>
            </a:lvl1pPr>
            <a:lvl2pPr marL="405130" indent="0">
              <a:buNone/>
              <a:defRPr sz="1770" b="1"/>
            </a:lvl2pPr>
            <a:lvl3pPr marL="810260" indent="0">
              <a:buNone/>
              <a:defRPr sz="1595" b="1"/>
            </a:lvl3pPr>
            <a:lvl4pPr marL="1214755" indent="0">
              <a:buNone/>
              <a:defRPr sz="1420" b="1"/>
            </a:lvl4pPr>
            <a:lvl5pPr marL="1620520" indent="0">
              <a:buNone/>
              <a:defRPr sz="1420" b="1"/>
            </a:lvl5pPr>
            <a:lvl6pPr marL="2025015" indent="0">
              <a:buNone/>
              <a:defRPr sz="1420" b="1"/>
            </a:lvl6pPr>
            <a:lvl7pPr marL="2430145" indent="0">
              <a:buNone/>
              <a:defRPr sz="1420" b="1"/>
            </a:lvl7pPr>
            <a:lvl8pPr marL="2835275" indent="0">
              <a:buNone/>
              <a:defRPr sz="1420" b="1"/>
            </a:lvl8pPr>
            <a:lvl9pPr marL="3240405" indent="0">
              <a:buNone/>
              <a:defRPr sz="142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100655" y="5492483"/>
            <a:ext cx="3443581" cy="7505109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56879" y="5808747"/>
            <a:ext cx="6986301" cy="2783533"/>
          </a:xfrm>
        </p:spPr>
        <p:txBody>
          <a:bodyPr>
            <a:normAutofit/>
          </a:bodyPr>
          <a:lstStyle>
            <a:lvl1pPr algn="ctr">
              <a:defRPr sz="4255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429682" y="266686"/>
            <a:ext cx="2767255" cy="3360239"/>
          </a:xfrm>
        </p:spPr>
        <p:txBody>
          <a:bodyPr anchor="ctr" anchorCtr="0">
            <a:normAutofit/>
          </a:bodyPr>
          <a:lstStyle>
            <a:lvl1pPr>
              <a:defRPr sz="2125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3444120" y="1609257"/>
            <a:ext cx="3864919" cy="10697761"/>
          </a:xfrm>
        </p:spPr>
        <p:txBody>
          <a:bodyPr/>
          <a:lstStyle>
            <a:lvl1pPr marL="0" indent="0">
              <a:buNone/>
              <a:defRPr sz="2835"/>
            </a:lvl1pPr>
            <a:lvl2pPr marL="405130" indent="0">
              <a:buNone/>
              <a:defRPr sz="2480"/>
            </a:lvl2pPr>
            <a:lvl3pPr marL="810260" indent="0">
              <a:buNone/>
              <a:defRPr sz="2125"/>
            </a:lvl3pPr>
            <a:lvl4pPr marL="1214755" indent="0">
              <a:buNone/>
              <a:defRPr sz="1770"/>
            </a:lvl4pPr>
            <a:lvl5pPr marL="1620520" indent="0">
              <a:buNone/>
              <a:defRPr sz="1770"/>
            </a:lvl5pPr>
            <a:lvl6pPr marL="2025015" indent="0">
              <a:buNone/>
              <a:defRPr sz="1770"/>
            </a:lvl6pPr>
            <a:lvl7pPr marL="2430145" indent="0">
              <a:buNone/>
              <a:defRPr sz="1770"/>
            </a:lvl7pPr>
            <a:lvl8pPr marL="2835275" indent="0">
              <a:buNone/>
              <a:defRPr sz="1770"/>
            </a:lvl8pPr>
            <a:lvl9pPr marL="3240405" indent="0">
              <a:buNone/>
              <a:defRPr sz="177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33057" y="4320307"/>
            <a:ext cx="2767255" cy="8003904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420"/>
            </a:lvl1pPr>
            <a:lvl2pPr marL="405130" indent="0">
              <a:buNone/>
              <a:defRPr sz="1240"/>
            </a:lvl2pPr>
            <a:lvl3pPr marL="810260" indent="0">
              <a:buNone/>
              <a:defRPr sz="1060"/>
            </a:lvl3pPr>
            <a:lvl4pPr marL="1214755" indent="0">
              <a:buNone/>
              <a:defRPr sz="885"/>
            </a:lvl4pPr>
            <a:lvl5pPr marL="1620520" indent="0">
              <a:buNone/>
              <a:defRPr sz="885"/>
            </a:lvl5pPr>
            <a:lvl6pPr marL="2025015" indent="0">
              <a:buNone/>
              <a:defRPr sz="885"/>
            </a:lvl6pPr>
            <a:lvl7pPr marL="2430145" indent="0">
              <a:buNone/>
              <a:defRPr sz="885"/>
            </a:lvl7pPr>
            <a:lvl8pPr marL="2835275" indent="0">
              <a:buNone/>
              <a:defRPr sz="885"/>
            </a:lvl8pPr>
            <a:lvl9pPr marL="3240405" indent="0">
              <a:buNone/>
              <a:defRPr sz="885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27142" y="766721"/>
            <a:ext cx="1016039" cy="12204202"/>
          </a:xfrm>
        </p:spPr>
        <p:txBody>
          <a:bodyPr vert="eaVert">
            <a:normAutofit/>
          </a:bodyPr>
          <a:lstStyle>
            <a:lvl1pPr>
              <a:defRPr sz="319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56879" y="766721"/>
            <a:ext cx="5899622" cy="12204202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556879" y="1158178"/>
            <a:ext cx="6986301" cy="11673209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556879" y="766721"/>
            <a:ext cx="6986301" cy="27835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556879" y="3833606"/>
            <a:ext cx="6986301" cy="91373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556879" y="13347615"/>
            <a:ext cx="1822513" cy="766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6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683145" y="13347615"/>
            <a:ext cx="2733770" cy="766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6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720667" y="13347615"/>
            <a:ext cx="1822513" cy="766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6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810260" rtl="0" eaLnBrk="1" latinLnBrk="0" hangingPunct="1">
        <a:lnSpc>
          <a:spcPct val="90000"/>
        </a:lnSpc>
        <a:spcBef>
          <a:spcPct val="0"/>
        </a:spcBef>
        <a:buNone/>
        <a:defRPr sz="354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j-cs"/>
        </a:defRPr>
      </a:lvl1pPr>
    </p:titleStyle>
    <p:bodyStyle>
      <a:lvl1pPr marL="202565" indent="-202565" algn="l" defTabSz="810260" rtl="0" eaLnBrk="1" latinLnBrk="0" hangingPunct="1">
        <a:lnSpc>
          <a:spcPct val="90000"/>
        </a:lnSpc>
        <a:spcBef>
          <a:spcPts val="885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1pPr>
      <a:lvl2pPr marL="607695" indent="-202565" algn="l" defTabSz="810260" rtl="0" eaLnBrk="1" latinLnBrk="0" hangingPunct="1">
        <a:lnSpc>
          <a:spcPct val="90000"/>
        </a:lnSpc>
        <a:spcBef>
          <a:spcPct val="89000"/>
        </a:spcBef>
        <a:buFont typeface="Arial" panose="020B0604020202020204" pitchFamily="34" charset="0"/>
        <a:buChar char="•"/>
        <a:defRPr sz="1770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2pPr>
      <a:lvl3pPr marL="1012825" indent="-202565" algn="l" defTabSz="810260" rtl="0" eaLnBrk="1" latinLnBrk="0" hangingPunct="1">
        <a:lnSpc>
          <a:spcPct val="90000"/>
        </a:lnSpc>
        <a:spcBef>
          <a:spcPct val="89000"/>
        </a:spcBef>
        <a:buFont typeface="Arial" panose="020B0604020202020204" pitchFamily="34" charset="0"/>
        <a:buChar char="•"/>
        <a:defRPr sz="159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3pPr>
      <a:lvl4pPr marL="1417320" indent="-202565" algn="l" defTabSz="810260" rtl="0" eaLnBrk="1" latinLnBrk="0" hangingPunct="1">
        <a:lnSpc>
          <a:spcPct val="90000"/>
        </a:lnSpc>
        <a:spcBef>
          <a:spcPct val="89000"/>
        </a:spcBef>
        <a:buFont typeface="Arial" panose="020B0604020202020204" pitchFamily="34" charset="0"/>
        <a:buChar char="•"/>
        <a:defRPr sz="159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4pPr>
      <a:lvl5pPr marL="1822450" indent="-202565" algn="l" defTabSz="810260" rtl="0" eaLnBrk="1" latinLnBrk="0" hangingPunct="1">
        <a:lnSpc>
          <a:spcPct val="90000"/>
        </a:lnSpc>
        <a:spcBef>
          <a:spcPct val="89000"/>
        </a:spcBef>
        <a:buFont typeface="Arial" panose="020B0604020202020204" pitchFamily="34" charset="0"/>
        <a:buChar char="•"/>
        <a:defRPr sz="159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5pPr>
      <a:lvl6pPr marL="2227580" indent="-202565" algn="l" defTabSz="810260" rtl="0" eaLnBrk="1" latinLnBrk="0" hangingPunct="1">
        <a:lnSpc>
          <a:spcPct val="90000"/>
        </a:lnSpc>
        <a:spcBef>
          <a:spcPct val="89000"/>
        </a:spcBef>
        <a:buFont typeface="Arial" panose="020B0604020202020204" pitchFamily="34" charset="0"/>
        <a:buChar char="•"/>
        <a:defRPr sz="1595" kern="1200">
          <a:solidFill>
            <a:schemeClr val="tx1"/>
          </a:solidFill>
          <a:latin typeface="+mn-lt"/>
          <a:ea typeface="+mn-ea"/>
          <a:cs typeface="+mn-cs"/>
        </a:defRPr>
      </a:lvl6pPr>
      <a:lvl7pPr marL="2632710" indent="-202565" algn="l" defTabSz="810260" rtl="0" eaLnBrk="1" latinLnBrk="0" hangingPunct="1">
        <a:lnSpc>
          <a:spcPct val="90000"/>
        </a:lnSpc>
        <a:spcBef>
          <a:spcPct val="89000"/>
        </a:spcBef>
        <a:buFont typeface="Arial" panose="020B0604020202020204" pitchFamily="34" charset="0"/>
        <a:buChar char="•"/>
        <a:defRPr sz="1595" kern="1200">
          <a:solidFill>
            <a:schemeClr val="tx1"/>
          </a:solidFill>
          <a:latin typeface="+mn-lt"/>
          <a:ea typeface="+mn-ea"/>
          <a:cs typeface="+mn-cs"/>
        </a:defRPr>
      </a:lvl7pPr>
      <a:lvl8pPr marL="3037840" indent="-202565" algn="l" defTabSz="810260" rtl="0" eaLnBrk="1" latinLnBrk="0" hangingPunct="1">
        <a:lnSpc>
          <a:spcPct val="90000"/>
        </a:lnSpc>
        <a:spcBef>
          <a:spcPct val="89000"/>
        </a:spcBef>
        <a:buFont typeface="Arial" panose="020B0604020202020204" pitchFamily="34" charset="0"/>
        <a:buChar char="•"/>
        <a:defRPr sz="1595" kern="1200">
          <a:solidFill>
            <a:schemeClr val="tx1"/>
          </a:solidFill>
          <a:latin typeface="+mn-lt"/>
          <a:ea typeface="+mn-ea"/>
          <a:cs typeface="+mn-cs"/>
        </a:defRPr>
      </a:lvl8pPr>
      <a:lvl9pPr marL="3442335" indent="-202565" algn="l" defTabSz="810260" rtl="0" eaLnBrk="1" latinLnBrk="0" hangingPunct="1">
        <a:lnSpc>
          <a:spcPct val="90000"/>
        </a:lnSpc>
        <a:spcBef>
          <a:spcPct val="89000"/>
        </a:spcBef>
        <a:buFont typeface="Arial" panose="020B0604020202020204" pitchFamily="34" charset="0"/>
        <a:buChar char="•"/>
        <a:defRPr sz="159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810260" rtl="0" eaLnBrk="1" latinLnBrk="0" hangingPunct="1">
        <a:defRPr sz="1595" kern="1200">
          <a:solidFill>
            <a:schemeClr val="tx1"/>
          </a:solidFill>
          <a:latin typeface="+mn-lt"/>
          <a:ea typeface="+mn-ea"/>
          <a:cs typeface="+mn-cs"/>
        </a:defRPr>
      </a:lvl1pPr>
      <a:lvl2pPr marL="405130" algn="l" defTabSz="810260" rtl="0" eaLnBrk="1" latinLnBrk="0" hangingPunct="1">
        <a:defRPr sz="1595" kern="1200">
          <a:solidFill>
            <a:schemeClr val="tx1"/>
          </a:solidFill>
          <a:latin typeface="+mn-lt"/>
          <a:ea typeface="+mn-ea"/>
          <a:cs typeface="+mn-cs"/>
        </a:defRPr>
      </a:lvl2pPr>
      <a:lvl3pPr marL="810260" algn="l" defTabSz="810260" rtl="0" eaLnBrk="1" latinLnBrk="0" hangingPunct="1">
        <a:defRPr sz="1595" kern="1200">
          <a:solidFill>
            <a:schemeClr val="tx1"/>
          </a:solidFill>
          <a:latin typeface="+mn-lt"/>
          <a:ea typeface="+mn-ea"/>
          <a:cs typeface="+mn-cs"/>
        </a:defRPr>
      </a:lvl3pPr>
      <a:lvl4pPr marL="1214755" algn="l" defTabSz="810260" rtl="0" eaLnBrk="1" latinLnBrk="0" hangingPunct="1">
        <a:defRPr sz="1595" kern="1200">
          <a:solidFill>
            <a:schemeClr val="tx1"/>
          </a:solidFill>
          <a:latin typeface="+mn-lt"/>
          <a:ea typeface="+mn-ea"/>
          <a:cs typeface="+mn-cs"/>
        </a:defRPr>
      </a:lvl4pPr>
      <a:lvl5pPr marL="1620520" algn="l" defTabSz="810260" rtl="0" eaLnBrk="1" latinLnBrk="0" hangingPunct="1">
        <a:defRPr sz="1595" kern="1200">
          <a:solidFill>
            <a:schemeClr val="tx1"/>
          </a:solidFill>
          <a:latin typeface="+mn-lt"/>
          <a:ea typeface="+mn-ea"/>
          <a:cs typeface="+mn-cs"/>
        </a:defRPr>
      </a:lvl5pPr>
      <a:lvl6pPr marL="2025015" algn="l" defTabSz="810260" rtl="0" eaLnBrk="1" latinLnBrk="0" hangingPunct="1">
        <a:defRPr sz="1595" kern="1200">
          <a:solidFill>
            <a:schemeClr val="tx1"/>
          </a:solidFill>
          <a:latin typeface="+mn-lt"/>
          <a:ea typeface="+mn-ea"/>
          <a:cs typeface="+mn-cs"/>
        </a:defRPr>
      </a:lvl6pPr>
      <a:lvl7pPr marL="2430145" algn="l" defTabSz="810260" rtl="0" eaLnBrk="1" latinLnBrk="0" hangingPunct="1">
        <a:defRPr sz="1595" kern="1200">
          <a:solidFill>
            <a:schemeClr val="tx1"/>
          </a:solidFill>
          <a:latin typeface="+mn-lt"/>
          <a:ea typeface="+mn-ea"/>
          <a:cs typeface="+mn-cs"/>
        </a:defRPr>
      </a:lvl7pPr>
      <a:lvl8pPr marL="2835275" algn="l" defTabSz="810260" rtl="0" eaLnBrk="1" latinLnBrk="0" hangingPunct="1">
        <a:defRPr sz="1595" kern="1200">
          <a:solidFill>
            <a:schemeClr val="tx1"/>
          </a:solidFill>
          <a:latin typeface="+mn-lt"/>
          <a:ea typeface="+mn-ea"/>
          <a:cs typeface="+mn-cs"/>
        </a:defRPr>
      </a:lvl8pPr>
      <a:lvl9pPr marL="3240405" algn="l" defTabSz="810260" rtl="0" eaLnBrk="1" latinLnBrk="0" hangingPunct="1">
        <a:defRPr sz="159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chart" Target="../charts/chart4.xml"/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chart" Target="../charts/chart1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.png"/><Relationship Id="rId8" Type="http://schemas.openxmlformats.org/officeDocument/2006/relationships/image" Target="../media/image16.png"/><Relationship Id="rId7" Type="http://schemas.openxmlformats.org/officeDocument/2006/relationships/image" Target="../media/image15.png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31.png"/><Relationship Id="rId7" Type="http://schemas.openxmlformats.org/officeDocument/2006/relationships/image" Target="../media/image30.png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19.png"/><Relationship Id="rId8" Type="http://schemas.openxmlformats.org/officeDocument/2006/relationships/image" Target="../media/image16.png"/><Relationship Id="rId7" Type="http://schemas.openxmlformats.org/officeDocument/2006/relationships/image" Target="../media/image15.png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35.png"/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4" Type="http://schemas.openxmlformats.org/officeDocument/2006/relationships/notesSlide" Target="../notesSlides/notesSlide2.xml"/><Relationship Id="rId13" Type="http://schemas.openxmlformats.org/officeDocument/2006/relationships/slideLayout" Target="../slideLayouts/slideLayout1.xml"/><Relationship Id="rId12" Type="http://schemas.openxmlformats.org/officeDocument/2006/relationships/image" Target="../media/image22.png"/><Relationship Id="rId11" Type="http://schemas.openxmlformats.org/officeDocument/2006/relationships/image" Target="../media/image21.png"/><Relationship Id="rId10" Type="http://schemas.openxmlformats.org/officeDocument/2006/relationships/image" Target="../media/image20.png"/><Relationship Id="rId1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1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0.png"/><Relationship Id="rId1" Type="http://schemas.openxmlformats.org/officeDocument/2006/relationships/image" Target="../media/image39.png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44.png"/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image" Target="../media/image45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image" Target="../media/image54.png"/><Relationship Id="rId8" Type="http://schemas.openxmlformats.org/officeDocument/2006/relationships/image" Target="../media/image53.png"/><Relationship Id="rId7" Type="http://schemas.openxmlformats.org/officeDocument/2006/relationships/image" Target="../media/image52.png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Relationship Id="rId3" Type="http://schemas.openxmlformats.org/officeDocument/2006/relationships/image" Target="../media/image48.png"/><Relationship Id="rId2" Type="http://schemas.openxmlformats.org/officeDocument/2006/relationships/tags" Target="../tags/tag2.xml"/><Relationship Id="rId14" Type="http://schemas.openxmlformats.org/officeDocument/2006/relationships/slideLayout" Target="../slideLayouts/slideLayout7.xml"/><Relationship Id="rId13" Type="http://schemas.openxmlformats.org/officeDocument/2006/relationships/image" Target="../media/image58.png"/><Relationship Id="rId12" Type="http://schemas.openxmlformats.org/officeDocument/2006/relationships/image" Target="../media/image57.png"/><Relationship Id="rId11" Type="http://schemas.openxmlformats.org/officeDocument/2006/relationships/image" Target="../media/image56.png"/><Relationship Id="rId10" Type="http://schemas.openxmlformats.org/officeDocument/2006/relationships/image" Target="../media/image55.png"/><Relationship Id="rId1" Type="http://schemas.openxmlformats.org/officeDocument/2006/relationships/tags" Target="../tags/tag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9.pn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image" Target="../media/image68.png"/><Relationship Id="rId8" Type="http://schemas.openxmlformats.org/officeDocument/2006/relationships/image" Target="../media/image67.png"/><Relationship Id="rId7" Type="http://schemas.openxmlformats.org/officeDocument/2006/relationships/image" Target="../media/image66.png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60.png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image" Target="../media/image77.png"/><Relationship Id="rId8" Type="http://schemas.openxmlformats.org/officeDocument/2006/relationships/image" Target="../media/image76.png"/><Relationship Id="rId7" Type="http://schemas.openxmlformats.org/officeDocument/2006/relationships/image" Target="../media/image75.png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6" Type="http://schemas.openxmlformats.org/officeDocument/2006/relationships/slideLayout" Target="../slideLayouts/slideLayout2.xml"/><Relationship Id="rId15" Type="http://schemas.openxmlformats.org/officeDocument/2006/relationships/image" Target="../media/image83.png"/><Relationship Id="rId14" Type="http://schemas.openxmlformats.org/officeDocument/2006/relationships/image" Target="../media/image82.png"/><Relationship Id="rId13" Type="http://schemas.openxmlformats.org/officeDocument/2006/relationships/image" Target="../media/image81.png"/><Relationship Id="rId12" Type="http://schemas.openxmlformats.org/officeDocument/2006/relationships/image" Target="../media/image80.png"/><Relationship Id="rId11" Type="http://schemas.openxmlformats.org/officeDocument/2006/relationships/image" Target="../media/image79.png"/><Relationship Id="rId10" Type="http://schemas.openxmlformats.org/officeDocument/2006/relationships/image" Target="../media/image78.png"/><Relationship Id="rId1" Type="http://schemas.openxmlformats.org/officeDocument/2006/relationships/image" Target="../media/image6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组合 58"/>
          <p:cNvGrpSpPr/>
          <p:nvPr/>
        </p:nvGrpSpPr>
        <p:grpSpPr>
          <a:xfrm>
            <a:off x="1085709" y="5437071"/>
            <a:ext cx="5898638" cy="3612621"/>
            <a:chOff x="1301" y="464"/>
            <a:chExt cx="16514" cy="10114"/>
          </a:xfrm>
        </p:grpSpPr>
        <p:grpSp>
          <p:nvGrpSpPr>
            <p:cNvPr id="33" name="组合 32"/>
            <p:cNvGrpSpPr/>
            <p:nvPr/>
          </p:nvGrpSpPr>
          <p:grpSpPr>
            <a:xfrm>
              <a:off x="1301" y="1635"/>
              <a:ext cx="16514" cy="6542"/>
              <a:chOff x="0" y="1154"/>
              <a:chExt cx="19116" cy="7572"/>
            </a:xfrm>
          </p:grpSpPr>
          <p:pic>
            <p:nvPicPr>
              <p:cNvPr id="6" name="图片 5"/>
              <p:cNvPicPr/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0" y="1154"/>
                <a:ext cx="19116" cy="7538"/>
              </a:xfrm>
              <a:prstGeom prst="rect">
                <a:avLst/>
              </a:prstGeom>
            </p:spPr>
          </p:pic>
          <p:sp>
            <p:nvSpPr>
              <p:cNvPr id="7" name="矩形 6"/>
              <p:cNvSpPr/>
              <p:nvPr/>
            </p:nvSpPr>
            <p:spPr>
              <a:xfrm>
                <a:off x="161" y="1193"/>
                <a:ext cx="630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8" name="矩形 7"/>
              <p:cNvSpPr/>
              <p:nvPr/>
            </p:nvSpPr>
            <p:spPr>
              <a:xfrm rot="5400000">
                <a:off x="4742" y="4127"/>
                <a:ext cx="630" cy="853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9" name="矩形 8"/>
              <p:cNvSpPr/>
              <p:nvPr/>
            </p:nvSpPr>
            <p:spPr>
              <a:xfrm>
                <a:off x="9418" y="1193"/>
                <a:ext cx="986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0" name="矩形 9"/>
              <p:cNvSpPr/>
              <p:nvPr/>
            </p:nvSpPr>
            <p:spPr>
              <a:xfrm rot="5400000">
                <a:off x="14022" y="3732"/>
                <a:ext cx="630" cy="935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1984" y="8434"/>
              <a:ext cx="15595" cy="2144"/>
              <a:chOff x="2352" y="8858"/>
              <a:chExt cx="15488" cy="2144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2016</a:t>
                </a:r>
                <a:endParaRPr lang="en-US" altLang="zh-CN" sz="900"/>
              </a:p>
            </p:txBody>
          </p:sp>
          <p:sp>
            <p:nvSpPr>
              <p:cNvPr id="4" name="文本框 3"/>
              <p:cNvSpPr txBox="1"/>
              <p:nvPr/>
            </p:nvSpPr>
            <p:spPr>
              <a:xfrm>
                <a:off x="13434" y="8858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2016</a:t>
                </a:r>
                <a:endParaRPr lang="en-US" altLang="zh-CN" sz="900"/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1F77B4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1F77B4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3434" y="9349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2023</a:t>
                </a:r>
                <a:endParaRPr lang="en-US" altLang="zh-CN" sz="900"/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2848" y="8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2016</a:t>
                </a:r>
                <a:endParaRPr lang="en-US" altLang="zh-CN" sz="900"/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9467BD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9467BD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2848" y="9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2023</a:t>
                </a:r>
                <a:endParaRPr lang="en-US" altLang="zh-CN" sz="900"/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7053" y="8858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South&amp;South-east Asia, 2016</a:t>
                </a:r>
                <a:endParaRPr lang="en-US" altLang="zh-CN" sz="900"/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2CA02C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2CA02C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7053" y="9345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Asia, 2023</a:t>
                </a:r>
                <a:endParaRPr lang="en-US" altLang="zh-CN" sz="900"/>
              </a:p>
            </p:txBody>
          </p:sp>
          <p:sp>
            <p:nvSpPr>
              <p:cNvPr id="22" name="乘号 21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9467BD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2848" y="9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2016</a:t>
                </a:r>
                <a:endParaRPr lang="en-US" altLang="zh-CN" sz="900"/>
              </a:p>
            </p:txBody>
          </p:sp>
          <p:sp>
            <p:nvSpPr>
              <p:cNvPr id="24" name="乘号 23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9467BD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2848" y="10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2023</a:t>
                </a:r>
                <a:endParaRPr lang="en-US" altLang="zh-CN" sz="900"/>
              </a:p>
            </p:txBody>
          </p:sp>
          <p:sp>
            <p:nvSpPr>
              <p:cNvPr id="26" name="乘号 25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2CA02C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7053" y="9832"/>
                <a:ext cx="5582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2016</a:t>
                </a:r>
                <a:endParaRPr lang="zh-CN" altLang="en-US" sz="9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28" name="乘号 27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2CA02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9" name="文本框 28"/>
              <p:cNvSpPr txBox="1"/>
              <p:nvPr/>
            </p:nvSpPr>
            <p:spPr>
              <a:xfrm>
                <a:off x="7053" y="10319"/>
                <a:ext cx="5581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2023</a:t>
                </a:r>
                <a:endParaRPr lang="en-US" altLang="zh-CN" sz="900"/>
              </a:p>
            </p:txBody>
          </p:sp>
          <p:sp>
            <p:nvSpPr>
              <p:cNvPr id="31" name="乘号 30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1F77B4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34" name="乘号 33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1F77B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13434" y="10331"/>
                <a:ext cx="4228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2023</a:t>
                </a:r>
                <a:endParaRPr lang="en-US" altLang="zh-CN" sz="90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1974" y="464"/>
                  <a:ext cx="7243" cy="14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rPr>
                    <a:t>Structural Zero Params</a:t>
                  </a:r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74" y="464"/>
                  <a:ext cx="7243" cy="1419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5263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50%</a:t>
              </a:r>
              <a:endParaRPr lang="en-US" altLang="zh-CN" sz="1015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8394" y="7617"/>
              <a:ext cx="10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100%</a:t>
              </a:r>
              <a:endParaRPr lang="en-US" altLang="zh-CN" sz="1015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706" y="7601"/>
              <a:ext cx="25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  <a:endParaRPr lang="en-US" altLang="zh-CN" sz="1015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424" y="165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0.6</a:t>
              </a:r>
              <a:endParaRPr lang="en-US" altLang="zh-CN" sz="1015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415" y="484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0.3</a:t>
              </a:r>
              <a:endParaRPr lang="en-US" altLang="zh-CN" sz="1015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441" y="1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6173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probability(α)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16838" y="7632"/>
              <a:ext cx="7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70%</a:t>
              </a:r>
              <a:endParaRPr lang="en-US" altLang="zh-CN" sz="1015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0288" y="7670"/>
              <a:ext cx="871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20%</a:t>
              </a:r>
              <a:endParaRPr lang="en-US" altLang="zh-CN" sz="1015"/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9666" y="2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  <a:endParaRPr lang="en-US" altLang="zh-CN" sz="1015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9483" y="4691"/>
              <a:ext cx="77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-0.2</a:t>
              </a:r>
              <a:endParaRPr lang="en-US" altLang="zh-CN" sz="1015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9746" y="140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4398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probability(κ)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文本框 51"/>
                <p:cNvSpPr txBox="1"/>
                <p:nvPr/>
              </p:nvSpPr>
              <p:spPr>
                <a:xfrm>
                  <a:off x="10288" y="464"/>
                  <a:ext cx="7293" cy="14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rPr>
                    <a:t>Actual Construction Params</a:t>
                  </a:r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52" name="文本框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88" y="464"/>
                  <a:ext cx="7293" cy="1419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3" name="文本框 52"/>
            <p:cNvSpPr txBox="1"/>
            <p:nvPr/>
          </p:nvSpPr>
          <p:spPr>
            <a:xfrm>
              <a:off x="14149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50%</a:t>
              </a:r>
              <a:endParaRPr lang="en-US" altLang="zh-CN" sz="1015"/>
            </a:p>
          </p:txBody>
        </p:sp>
        <p:sp>
          <p:nvSpPr>
            <p:cNvPr id="55" name="文本框 54"/>
            <p:cNvSpPr txBox="1"/>
            <p:nvPr/>
          </p:nvSpPr>
          <p:spPr>
            <a:xfrm>
              <a:off x="9436" y="7076"/>
              <a:ext cx="76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-0.4</a:t>
              </a:r>
              <a:endParaRPr lang="en-US" altLang="zh-CN" sz="1015"/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6781" y="4616"/>
              <a:ext cx="2574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β = 0.3</a:t>
              </a:r>
              <a:endParaRPr lang="en-US" altLang="zh-CN" sz="9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10380" y="3475"/>
              <a:ext cx="2574" cy="10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 = -0.09</a:t>
              </a:r>
              <a:endParaRPr lang="en-US" altLang="zh-CN" sz="9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1097288" y="5312072"/>
            <a:ext cx="5892208" cy="3737637"/>
            <a:chOff x="1333" y="114"/>
            <a:chExt cx="16496" cy="10464"/>
          </a:xfrm>
        </p:grpSpPr>
        <p:grpSp>
          <p:nvGrpSpPr>
            <p:cNvPr id="30" name="组合 29"/>
            <p:cNvGrpSpPr/>
            <p:nvPr/>
          </p:nvGrpSpPr>
          <p:grpSpPr>
            <a:xfrm>
              <a:off x="1333" y="114"/>
              <a:ext cx="16496" cy="10464"/>
              <a:chOff x="1333" y="114"/>
              <a:chExt cx="16496" cy="10464"/>
            </a:xfrm>
          </p:grpSpPr>
          <p:pic>
            <p:nvPicPr>
              <p:cNvPr id="3" name="图片 2"/>
              <p:cNvPicPr/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333" y="1508"/>
                <a:ext cx="16496" cy="6670"/>
              </a:xfrm>
              <a:prstGeom prst="rect">
                <a:avLst/>
              </a:prstGeom>
            </p:spPr>
          </p:pic>
          <p:grpSp>
            <p:nvGrpSpPr>
              <p:cNvPr id="33" name="组合 32"/>
              <p:cNvGrpSpPr/>
              <p:nvPr/>
            </p:nvGrpSpPr>
            <p:grpSpPr>
              <a:xfrm>
                <a:off x="1440" y="1669"/>
                <a:ext cx="16289" cy="6551"/>
                <a:chOff x="161" y="1193"/>
                <a:chExt cx="18855" cy="7582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161" y="1193"/>
                  <a:ext cx="630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4742" y="4193"/>
                  <a:ext cx="630" cy="853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9" name="矩形 8"/>
                <p:cNvSpPr/>
                <p:nvPr/>
              </p:nvSpPr>
              <p:spPr>
                <a:xfrm>
                  <a:off x="9418" y="1193"/>
                  <a:ext cx="986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0" name="矩形 9"/>
                <p:cNvSpPr/>
                <p:nvPr/>
              </p:nvSpPr>
              <p:spPr>
                <a:xfrm rot="5400000">
                  <a:off x="14022" y="3732"/>
                  <a:ext cx="630" cy="935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</p:grpSp>
          <p:grpSp>
            <p:nvGrpSpPr>
              <p:cNvPr id="56" name="组合 55"/>
              <p:cNvGrpSpPr/>
              <p:nvPr/>
            </p:nvGrpSpPr>
            <p:grpSpPr>
              <a:xfrm>
                <a:off x="1984" y="8434"/>
                <a:ext cx="15595" cy="2144"/>
                <a:chOff x="2352" y="8858"/>
                <a:chExt cx="15488" cy="2144"/>
              </a:xfrm>
            </p:grpSpPr>
            <p:sp>
              <p:nvSpPr>
                <p:cNvPr id="32" name="文本框 31"/>
                <p:cNvSpPr txBox="1"/>
                <p:nvPr/>
              </p:nvSpPr>
              <p:spPr>
                <a:xfrm>
                  <a:off x="13434" y="9840"/>
                  <a:ext cx="4406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 Mean, 2016</a:t>
                  </a:r>
                  <a:endParaRPr lang="en-US" altLang="zh-CN" sz="900"/>
                </a:p>
              </p:txBody>
            </p:sp>
            <p:sp>
              <p:nvSpPr>
                <p:cNvPr id="4" name="文本框 3"/>
                <p:cNvSpPr txBox="1"/>
                <p:nvPr/>
              </p:nvSpPr>
              <p:spPr>
                <a:xfrm>
                  <a:off x="13434" y="8858"/>
                  <a:ext cx="314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America, 2016</a:t>
                  </a:r>
                  <a:endParaRPr lang="en-US" altLang="zh-CN" sz="900"/>
                </a:p>
              </p:txBody>
            </p:sp>
            <p:sp>
              <p:nvSpPr>
                <p:cNvPr id="11" name="椭圆 10"/>
                <p:cNvSpPr/>
                <p:nvPr/>
              </p:nvSpPr>
              <p:spPr>
                <a:xfrm>
                  <a:off x="13067" y="8972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2" name="椭圆 11"/>
                <p:cNvSpPr/>
                <p:nvPr/>
              </p:nvSpPr>
              <p:spPr>
                <a:xfrm>
                  <a:off x="13067" y="9435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3" name="文本框 12"/>
                <p:cNvSpPr txBox="1"/>
                <p:nvPr/>
              </p:nvSpPr>
              <p:spPr>
                <a:xfrm>
                  <a:off x="13434" y="9349"/>
                  <a:ext cx="314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America, 2023</a:t>
                  </a:r>
                  <a:endParaRPr lang="en-US" altLang="zh-CN" sz="900"/>
                </a:p>
              </p:txBody>
            </p:sp>
            <p:sp>
              <p:nvSpPr>
                <p:cNvPr id="14" name="文本框 13"/>
                <p:cNvSpPr txBox="1"/>
                <p:nvPr/>
              </p:nvSpPr>
              <p:spPr>
                <a:xfrm>
                  <a:off x="2848" y="88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Africa, 2016</a:t>
                  </a:r>
                  <a:endParaRPr lang="en-US" altLang="zh-CN" sz="900"/>
                </a:p>
              </p:txBody>
            </p:sp>
            <p:sp>
              <p:nvSpPr>
                <p:cNvPr id="15" name="椭圆 14"/>
                <p:cNvSpPr/>
                <p:nvPr/>
              </p:nvSpPr>
              <p:spPr>
                <a:xfrm>
                  <a:off x="2465" y="8972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16" name="椭圆 15"/>
                <p:cNvSpPr/>
                <p:nvPr/>
              </p:nvSpPr>
              <p:spPr>
                <a:xfrm>
                  <a:off x="2465" y="9435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2848" y="93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Africa, 2023</a:t>
                  </a:r>
                  <a:endParaRPr lang="en-US" altLang="zh-CN" sz="900"/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7053" y="8858"/>
                  <a:ext cx="452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South&amp;South-east Asia, 2016</a:t>
                  </a:r>
                  <a:endParaRPr lang="en-US" altLang="zh-CN" sz="900"/>
                </a:p>
              </p:txBody>
            </p:sp>
            <p:sp>
              <p:nvSpPr>
                <p:cNvPr id="19" name="椭圆 18"/>
                <p:cNvSpPr/>
                <p:nvPr/>
              </p:nvSpPr>
              <p:spPr>
                <a:xfrm>
                  <a:off x="6647" y="8972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20" name="椭圆 19"/>
                <p:cNvSpPr/>
                <p:nvPr/>
              </p:nvSpPr>
              <p:spPr>
                <a:xfrm>
                  <a:off x="6647" y="9435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7053" y="9345"/>
                  <a:ext cx="452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Asia, 2023</a:t>
                  </a:r>
                  <a:endParaRPr lang="en-US" altLang="zh-CN" sz="900"/>
                </a:p>
              </p:txBody>
            </p:sp>
            <p:sp>
              <p:nvSpPr>
                <p:cNvPr id="22" name="乘号 21"/>
                <p:cNvSpPr/>
                <p:nvPr/>
              </p:nvSpPr>
              <p:spPr>
                <a:xfrm>
                  <a:off x="2352" y="9845"/>
                  <a:ext cx="480" cy="480"/>
                </a:xfrm>
                <a:prstGeom prst="mathMultiply">
                  <a:avLst/>
                </a:prstGeom>
                <a:solidFill>
                  <a:srgbClr val="E85748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3" name="文本框 22"/>
                <p:cNvSpPr txBox="1"/>
                <p:nvPr/>
              </p:nvSpPr>
              <p:spPr>
                <a:xfrm>
                  <a:off x="2848" y="98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 Mean, 2016</a:t>
                  </a:r>
                  <a:endParaRPr lang="en-US" altLang="zh-CN" sz="900"/>
                </a:p>
              </p:txBody>
            </p:sp>
            <p:sp>
              <p:nvSpPr>
                <p:cNvPr id="24" name="乘号 23"/>
                <p:cNvSpPr/>
                <p:nvPr/>
              </p:nvSpPr>
              <p:spPr>
                <a:xfrm>
                  <a:off x="2352" y="10359"/>
                  <a:ext cx="480" cy="480"/>
                </a:xfrm>
                <a:prstGeom prst="mathMultiply">
                  <a:avLst/>
                </a:prstGeom>
                <a:solidFill>
                  <a:srgbClr val="E85748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5" name="文本框 24"/>
                <p:cNvSpPr txBox="1"/>
                <p:nvPr/>
              </p:nvSpPr>
              <p:spPr>
                <a:xfrm>
                  <a:off x="2848" y="103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 Mean, 2023</a:t>
                  </a:r>
                  <a:endParaRPr lang="en-US" altLang="zh-CN" sz="900"/>
                </a:p>
              </p:txBody>
            </p:sp>
            <p:sp>
              <p:nvSpPr>
                <p:cNvPr id="26" name="乘号 25"/>
                <p:cNvSpPr/>
                <p:nvPr/>
              </p:nvSpPr>
              <p:spPr>
                <a:xfrm>
                  <a:off x="6534" y="9845"/>
                  <a:ext cx="480" cy="480"/>
                </a:xfrm>
                <a:prstGeom prst="mathMultiply">
                  <a:avLst/>
                </a:prstGeom>
                <a:solidFill>
                  <a:srgbClr val="F39F1B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7" name="文本框 26"/>
                <p:cNvSpPr txBox="1"/>
                <p:nvPr/>
              </p:nvSpPr>
              <p:spPr>
                <a:xfrm>
                  <a:off x="7053" y="9832"/>
                  <a:ext cx="5582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 Mean, 2016</a:t>
                  </a:r>
                  <a:endParaRPr lang="zh-CN" altLang="en-US" sz="900">
                    <a:ea typeface="宋体" panose="02010600030101010101" pitchFamily="2" charset="-122"/>
                    <a:sym typeface="+mn-ea"/>
                  </a:endParaRPr>
                </a:p>
              </p:txBody>
            </p:sp>
            <p:sp>
              <p:nvSpPr>
                <p:cNvPr id="28" name="乘号 27"/>
                <p:cNvSpPr/>
                <p:nvPr/>
              </p:nvSpPr>
              <p:spPr>
                <a:xfrm>
                  <a:off x="6534" y="10359"/>
                  <a:ext cx="480" cy="480"/>
                </a:xfrm>
                <a:prstGeom prst="mathMultiply">
                  <a:avLst/>
                </a:prstGeom>
                <a:solidFill>
                  <a:srgbClr val="F39F1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7053" y="10319"/>
                  <a:ext cx="5581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 Mean, 2023</a:t>
                  </a:r>
                  <a:endParaRPr lang="en-US" altLang="zh-CN" sz="900"/>
                </a:p>
              </p:txBody>
            </p:sp>
            <p:sp>
              <p:nvSpPr>
                <p:cNvPr id="31" name="乘号 30"/>
                <p:cNvSpPr/>
                <p:nvPr/>
              </p:nvSpPr>
              <p:spPr>
                <a:xfrm>
                  <a:off x="12954" y="9845"/>
                  <a:ext cx="480" cy="480"/>
                </a:xfrm>
                <a:prstGeom prst="mathMultiply">
                  <a:avLst/>
                </a:prstGeom>
                <a:solidFill>
                  <a:srgbClr val="47A2DE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4" name="乘号 33"/>
                <p:cNvSpPr/>
                <p:nvPr/>
              </p:nvSpPr>
              <p:spPr>
                <a:xfrm>
                  <a:off x="12954" y="10359"/>
                  <a:ext cx="480" cy="480"/>
                </a:xfrm>
                <a:prstGeom prst="mathMultiply">
                  <a:avLst/>
                </a:prstGeom>
                <a:solidFill>
                  <a:srgbClr val="47A2DE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5" name="文本框 34"/>
                <p:cNvSpPr txBox="1"/>
                <p:nvPr/>
              </p:nvSpPr>
              <p:spPr>
                <a:xfrm>
                  <a:off x="13434" y="10331"/>
                  <a:ext cx="4228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 Mean, 2023</a:t>
                  </a:r>
                  <a:endParaRPr lang="en-US" altLang="zh-CN" sz="900"/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974" y="658"/>
                    <a:ext cx="7243" cy="12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125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Structural Zero</a:t>
                    </a:r>
                    <a:endParaRPr lang="en-US" altLang="zh-CN" sz="1125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74" y="658"/>
                    <a:ext cx="7243" cy="1228"/>
                  </a:xfrm>
                  <a:prstGeom prst="rect">
                    <a:avLst/>
                  </a:prstGeom>
                  <a:blipFill rotWithShape="1">
                    <a:blip r:embed="rId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7" name="文本框 36"/>
              <p:cNvSpPr txBox="1"/>
              <p:nvPr/>
            </p:nvSpPr>
            <p:spPr>
              <a:xfrm>
                <a:off x="5263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50%</a:t>
                </a:r>
                <a:endParaRPr lang="en-US" altLang="zh-CN" sz="1015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8394" y="7617"/>
                <a:ext cx="10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100%</a:t>
                </a:r>
                <a:endParaRPr lang="en-US" altLang="zh-CN" sz="1015"/>
              </a:p>
            </p:txBody>
          </p:sp>
          <p:sp>
            <p:nvSpPr>
              <p:cNvPr id="39" name="文本框 38"/>
              <p:cNvSpPr txBox="1"/>
              <p:nvPr/>
            </p:nvSpPr>
            <p:spPr>
              <a:xfrm>
                <a:off x="1706" y="7601"/>
                <a:ext cx="25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</a:t>
                </a:r>
                <a:endParaRPr lang="en-US" altLang="zh-CN" sz="1015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1424" y="165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0.6</a:t>
                </a:r>
                <a:endParaRPr lang="en-US" altLang="zh-CN" sz="1015"/>
              </a:p>
            </p:txBody>
          </p:sp>
          <p:sp>
            <p:nvSpPr>
              <p:cNvPr id="41" name="文本框 40"/>
              <p:cNvSpPr txBox="1"/>
              <p:nvPr/>
            </p:nvSpPr>
            <p:spPr>
              <a:xfrm>
                <a:off x="1415" y="484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0.3</a:t>
                </a:r>
                <a:endParaRPr lang="en-US" altLang="zh-CN" sz="1015"/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441" y="1210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  <a:endParaRPr lang="en-US" altLang="zh-CN" sz="1125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" name="文本框 42"/>
              <p:cNvSpPr txBox="1"/>
              <p:nvPr/>
            </p:nvSpPr>
            <p:spPr>
              <a:xfrm>
                <a:off x="6173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probability(α)</a:t>
                </a:r>
                <a:endParaRPr lang="en-US" altLang="zh-CN" sz="1125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16838" y="7632"/>
                <a:ext cx="7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70%</a:t>
                </a:r>
                <a:endParaRPr lang="en-US" altLang="zh-CN" sz="1015"/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10288" y="7670"/>
                <a:ext cx="871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20%</a:t>
                </a:r>
                <a:endParaRPr lang="en-US" altLang="zh-CN" sz="1015"/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9666" y="2267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</a:t>
                </a:r>
                <a:endParaRPr lang="en-US" altLang="zh-CN" sz="1015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9483" y="4691"/>
                <a:ext cx="77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-0.2</a:t>
                </a:r>
                <a:endParaRPr lang="en-US" altLang="zh-CN" sz="1015"/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9746" y="140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  <a:endParaRPr lang="en-US" altLang="zh-CN" sz="1125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4398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probability(κ)</a:t>
                </a:r>
                <a:endParaRPr lang="en-US" altLang="zh-CN" sz="1125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0288" y="658"/>
                    <a:ext cx="7293" cy="12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125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Actual Construction</a:t>
                    </a:r>
                    <a:endParaRPr lang="en-US" altLang="zh-CN" sz="1125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88" y="658"/>
                    <a:ext cx="7293" cy="1228"/>
                  </a:xfrm>
                  <a:prstGeom prst="rect">
                    <a:avLst/>
                  </a:prstGeom>
                  <a:blipFill rotWithShape="1">
                    <a:blip r:embed="rId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3" name="文本框 52"/>
              <p:cNvSpPr txBox="1"/>
              <p:nvPr/>
            </p:nvSpPr>
            <p:spPr>
              <a:xfrm>
                <a:off x="14149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50%</a:t>
                </a:r>
                <a:endParaRPr lang="en-US" altLang="zh-CN" sz="1015"/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9436" y="7076"/>
                <a:ext cx="76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-0.4</a:t>
                </a:r>
                <a:endParaRPr lang="en-US" altLang="zh-CN" sz="1015"/>
              </a:p>
            </p:txBody>
          </p:sp>
          <p:sp>
            <p:nvSpPr>
              <p:cNvPr id="57" name="文本框 56"/>
              <p:cNvSpPr txBox="1"/>
              <p:nvPr/>
            </p:nvSpPr>
            <p:spPr>
              <a:xfrm>
                <a:off x="6781" y="4584"/>
                <a:ext cx="2574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β = 0.3</a:t>
                </a:r>
                <a:endPara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10380" y="3395"/>
                <a:ext cx="2574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-0.09</a:t>
                </a:r>
                <a:endPara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2" name="文本框 1"/>
              <p:cNvSpPr txBox="1"/>
              <p:nvPr/>
            </p:nvSpPr>
            <p:spPr>
              <a:xfrm>
                <a:off x="1958" y="114"/>
                <a:ext cx="15623" cy="83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en-US" altLang="zh-CN" sz="135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Horizontal Construction Params</a:t>
                </a:r>
                <a:endParaRPr lang="en-US" altLang="zh-CN" sz="135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p:grpSp>
        <p:sp>
          <p:nvSpPr>
            <p:cNvPr id="54" name="文本框 53"/>
            <p:cNvSpPr txBox="1"/>
            <p:nvPr/>
          </p:nvSpPr>
          <p:spPr>
            <a:xfrm>
              <a:off x="1984" y="6876"/>
              <a:ext cx="215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Low-Constraint, Flat-Gradient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6781" y="1716"/>
              <a:ext cx="2404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High-Constraint, Steep-Gradient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1" name="文本框 60"/>
            <p:cNvSpPr txBox="1"/>
            <p:nvPr/>
          </p:nvSpPr>
          <p:spPr>
            <a:xfrm>
              <a:off x="3396" y="1716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Low-Constraint,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Steep-Gradient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6992" y="4969"/>
              <a:ext cx="2151" cy="11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High-Constraint, Flat-Gradient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0380" y="1716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Flat-Gradient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0388" y="6840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Steep-Gradient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5264" y="1669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Flat-Gradient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5278" y="6839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Steep-Gradient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</p:grp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组合 68"/>
          <p:cNvGrpSpPr/>
          <p:nvPr/>
        </p:nvGrpSpPr>
        <p:grpSpPr>
          <a:xfrm>
            <a:off x="621005" y="5397781"/>
            <a:ext cx="6883768" cy="3555471"/>
            <a:chOff x="0" y="354"/>
            <a:chExt cx="19272" cy="9954"/>
          </a:xfrm>
        </p:grpSpPr>
        <p:pic>
          <p:nvPicPr>
            <p:cNvPr id="4" name="图片 3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0" y="1805"/>
              <a:ext cx="19192" cy="6290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9795" y="-1270"/>
              <a:ext cx="544" cy="182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7" name="矩形 6"/>
            <p:cNvSpPr/>
            <p:nvPr/>
          </p:nvSpPr>
          <p:spPr>
            <a:xfrm>
              <a:off x="0" y="1648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p:sp>
          <p:nvSpPr>
            <p:cNvPr id="5" name="矩形 4"/>
            <p:cNvSpPr/>
            <p:nvPr/>
          </p:nvSpPr>
          <p:spPr>
            <a:xfrm>
              <a:off x="6424" y="1487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p:sp>
          <p:nvSpPr>
            <p:cNvPr id="6" name="矩形 5"/>
            <p:cNvSpPr/>
            <p:nvPr/>
          </p:nvSpPr>
          <p:spPr>
            <a:xfrm>
              <a:off x="12864" y="1616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5977" y="354"/>
                  <a:ext cx="7243" cy="13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 b="1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Profile Params</a:t>
                  </a:r>
                  <a:endParaRPr lang="en-US" altLang="zh-CN" sz="1350" b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7" y="354"/>
                  <a:ext cx="7243" cy="1397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04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</a:t>
              </a:r>
              <a:endParaRPr lang="en-US" altLang="zh-CN" sz="1015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7" y="6430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-0.4</a:t>
              </a:r>
              <a:endParaRPr lang="en-US" altLang="zh-CN" sz="1015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212" y="7598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5</a:t>
              </a:r>
              <a:endParaRPr lang="en-US" altLang="zh-CN" sz="1015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5608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259" y="1616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479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15</a:t>
              </a:r>
              <a:endParaRPr lang="en-US" altLang="zh-CN" sz="1015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84" y="2751"/>
              <a:ext cx="47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  <a:endParaRPr lang="en-US" altLang="zh-CN" sz="1015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" y="4583"/>
              <a:ext cx="734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-0.2</a:t>
              </a:r>
              <a:endParaRPr lang="en-US" altLang="zh-CN" sz="1015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9600" y="7638"/>
              <a:ext cx="70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-0.2</a:t>
              </a:r>
              <a:endParaRPr lang="en-US" altLang="zh-CN" sz="1015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6228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-0.02</a:t>
              </a:r>
              <a:endParaRPr lang="en-US" altLang="zh-CN" sz="1015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7759" y="7638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-0.4</a:t>
              </a:r>
              <a:endParaRPr lang="en-US" altLang="zh-CN" sz="1015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2060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6934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1624" y="7638"/>
              <a:ext cx="23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0</a:t>
              </a:r>
              <a:endParaRPr lang="en-US" altLang="zh-CN" sz="1015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6228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  <a:endParaRPr lang="en-US" altLang="zh-CN" sz="1015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6228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0.02</a:t>
              </a:r>
              <a:endParaRPr lang="en-US" altLang="zh-CN" sz="1015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6228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0.04</a:t>
              </a:r>
              <a:endParaRPr lang="en-US" altLang="zh-CN" sz="1015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6228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0.06</a:t>
              </a:r>
              <a:endParaRPr lang="en-US" altLang="zh-CN" sz="1015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590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</a:t>
              </a:r>
              <a:endParaRPr lang="en-US" altLang="zh-CN" sz="1015"/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4074" y="7652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5</a:t>
              </a:r>
              <a:endParaRPr lang="en-US" altLang="zh-CN" sz="1015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8106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765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15</a:t>
              </a:r>
              <a:endParaRPr lang="en-US" altLang="zh-CN" sz="1015"/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2689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-0.02</a:t>
              </a:r>
              <a:endParaRPr lang="en-US" altLang="zh-CN" sz="1015"/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3395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2689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  <a:endParaRPr lang="en-US" altLang="zh-CN" sz="1015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2689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0.02</a:t>
              </a:r>
              <a:endParaRPr lang="en-US" altLang="zh-CN" sz="1015"/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2689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0.04</a:t>
              </a:r>
              <a:endParaRPr lang="en-US" altLang="zh-CN" sz="1015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2689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0.06</a:t>
              </a:r>
              <a:endParaRPr lang="en-US" altLang="zh-CN" sz="1015"/>
            </a:p>
          </p:txBody>
        </p:sp>
        <p:grpSp>
          <p:nvGrpSpPr>
            <p:cNvPr id="56" name="组合 55"/>
            <p:cNvGrpSpPr/>
            <p:nvPr/>
          </p:nvGrpSpPr>
          <p:grpSpPr>
            <a:xfrm>
              <a:off x="2061" y="8164"/>
              <a:ext cx="15595" cy="2144"/>
              <a:chOff x="2352" y="8858"/>
              <a:chExt cx="15488" cy="2144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2016</a:t>
                </a:r>
                <a:endParaRPr lang="en-US" altLang="zh-CN" sz="900"/>
              </a:p>
            </p:txBody>
          </p:sp>
          <p:sp>
            <p:nvSpPr>
              <p:cNvPr id="33" name="文本框 32"/>
              <p:cNvSpPr txBox="1"/>
              <p:nvPr/>
            </p:nvSpPr>
            <p:spPr>
              <a:xfrm>
                <a:off x="13434" y="8858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2016</a:t>
                </a:r>
                <a:endParaRPr lang="en-US" altLang="zh-CN" sz="900"/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3434" y="9349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2023</a:t>
                </a:r>
                <a:endParaRPr lang="en-US" altLang="zh-CN" sz="900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2848" y="8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2016</a:t>
                </a:r>
                <a:endParaRPr lang="en-US" altLang="zh-CN" sz="900"/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2848" y="9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2023</a:t>
                </a:r>
                <a:endParaRPr lang="en-US" altLang="zh-CN" sz="900"/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7053" y="8858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South&amp;South-east Asia, 2016</a:t>
                </a:r>
                <a:endParaRPr lang="en-US" altLang="zh-CN" sz="900"/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7053" y="9345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Asia, 2023</a:t>
                </a:r>
                <a:endParaRPr lang="en-US" altLang="zh-CN" sz="900"/>
              </a:p>
            </p:txBody>
          </p:sp>
          <p:sp>
            <p:nvSpPr>
              <p:cNvPr id="50" name="乘号 49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E85748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2848" y="9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2016</a:t>
                </a:r>
                <a:endParaRPr lang="en-US" altLang="zh-CN" sz="900"/>
              </a:p>
            </p:txBody>
          </p:sp>
          <p:sp>
            <p:nvSpPr>
              <p:cNvPr id="52" name="乘号 51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E8574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2848" y="10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2023</a:t>
                </a:r>
                <a:endParaRPr lang="en-US" altLang="zh-CN" sz="900"/>
              </a:p>
            </p:txBody>
          </p:sp>
          <p:sp>
            <p:nvSpPr>
              <p:cNvPr id="54" name="乘号 53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F39F1B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7053" y="9832"/>
                <a:ext cx="5582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2016</a:t>
                </a:r>
                <a:endParaRPr lang="zh-CN" altLang="en-US" sz="9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57" name="乘号 56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F39F1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7053" y="10319"/>
                <a:ext cx="5581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2023</a:t>
                </a:r>
                <a:endParaRPr lang="en-US" altLang="zh-CN" sz="900"/>
              </a:p>
            </p:txBody>
          </p:sp>
          <p:sp>
            <p:nvSpPr>
              <p:cNvPr id="59" name="乘号 58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47A2DE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60" name="乘号 59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47A2D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3434" y="10331"/>
                <a:ext cx="4228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2023</a:t>
                </a:r>
                <a:endParaRPr lang="en-US" altLang="zh-CN" sz="900"/>
              </a:p>
            </p:txBody>
          </p:sp>
        </p:grpSp>
        <p:sp>
          <p:nvSpPr>
            <p:cNvPr id="63" name="文本框 62"/>
            <p:cNvSpPr txBox="1"/>
            <p:nvPr/>
          </p:nvSpPr>
          <p:spPr>
            <a:xfrm>
              <a:off x="2432" y="6672"/>
              <a:ext cx="148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3917" y="3540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B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-0.08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5284" y="6672"/>
              <a:ext cx="148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7387" y="5711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6703" y="5711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  <p:sp>
        <p:nvSpPr>
          <p:cNvPr id="30" name="文本框 29"/>
          <p:cNvSpPr txBox="1"/>
          <p:nvPr/>
        </p:nvSpPr>
        <p:spPr>
          <a:xfrm>
            <a:off x="3717486" y="6026792"/>
            <a:ext cx="841183" cy="333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mean B </a:t>
            </a:r>
            <a:r>
              <a: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= -0.08</a:t>
            </a:r>
            <a:endParaRPr lang="en-US" altLang="zh-CN" sz="790" i="1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/>
          <p:cNvGrpSpPr/>
          <p:nvPr/>
        </p:nvGrpSpPr>
        <p:grpSpPr>
          <a:xfrm>
            <a:off x="0" y="5542102"/>
            <a:ext cx="8100358" cy="2395317"/>
            <a:chOff x="0" y="1736"/>
            <a:chExt cx="22678" cy="6706"/>
          </a:xfrm>
        </p:grpSpPr>
        <p:graphicFrame>
          <p:nvGraphicFramePr>
            <p:cNvPr id="3" name="图表 2"/>
            <p:cNvGraphicFramePr/>
            <p:nvPr/>
          </p:nvGraphicFramePr>
          <p:xfrm>
            <a:off x="0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"/>
            </a:graphicData>
          </a:graphic>
        </p:graphicFrame>
        <p:graphicFrame>
          <p:nvGraphicFramePr>
            <p:cNvPr id="2" name="图表 1"/>
            <p:cNvGraphicFramePr/>
            <p:nvPr/>
          </p:nvGraphicFramePr>
          <p:xfrm>
            <a:off x="11554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graphicFrame>
          <p:nvGraphicFramePr>
            <p:cNvPr id="6" name="图表 5"/>
            <p:cNvGraphicFramePr/>
            <p:nvPr/>
          </p:nvGraphicFramePr>
          <p:xfrm>
            <a:off x="5639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graphicFrame>
          <p:nvGraphicFramePr>
            <p:cNvPr id="7" name="图表 6"/>
            <p:cNvGraphicFramePr/>
            <p:nvPr/>
          </p:nvGraphicFramePr>
          <p:xfrm>
            <a:off x="17008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sp>
          <p:nvSpPr>
            <p:cNvPr id="9" name="文本框 8"/>
            <p:cNvSpPr txBox="1"/>
            <p:nvPr/>
          </p:nvSpPr>
          <p:spPr>
            <a:xfrm>
              <a:off x="0" y="1736"/>
              <a:ext cx="11307" cy="7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25"/>
                <a:t>Horizontal - Structural Zero Part</a:t>
              </a:r>
              <a:endParaRPr lang="en-US" altLang="zh-CN" sz="1125"/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11554" y="1736"/>
              <a:ext cx="11124" cy="7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25"/>
                <a:t>Horizontal - Binomial (Real Construction) Part</a:t>
              </a:r>
              <a:endParaRPr lang="en-US" altLang="zh-CN" sz="1125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265" y="2364"/>
              <a:ext cx="1968" cy="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2016</a:t>
              </a:r>
              <a:endParaRPr lang="en-US" altLang="zh-CN" sz="1015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7841" y="2364"/>
              <a:ext cx="1968" cy="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2023</a:t>
              </a:r>
              <a:endParaRPr lang="en-US" altLang="zh-CN" sz="1015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3632" y="2364"/>
              <a:ext cx="1968" cy="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2016</a:t>
              </a:r>
              <a:endParaRPr lang="en-US" altLang="zh-CN" sz="1015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19208" y="2364"/>
              <a:ext cx="1968" cy="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2023</a:t>
              </a:r>
              <a:endParaRPr lang="en-US" altLang="zh-CN" sz="1015"/>
            </a:p>
          </p:txBody>
        </p:sp>
      </p:grp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065" smtClean="0"/>
            </a:fld>
            <a:endParaRPr lang="de-AT" sz="1065" dirty="0"/>
          </a:p>
        </p:txBody>
      </p:sp>
      <p:grpSp>
        <p:nvGrpSpPr>
          <p:cNvPr id="8" name="组合 7"/>
          <p:cNvGrpSpPr/>
          <p:nvPr/>
        </p:nvGrpSpPr>
        <p:grpSpPr>
          <a:xfrm>
            <a:off x="208242" y="5825354"/>
            <a:ext cx="7578146" cy="3133629"/>
            <a:chOff x="583" y="2529"/>
            <a:chExt cx="21216" cy="877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TextBox 30"/>
                <p:cNvSpPr txBox="1"/>
                <p:nvPr/>
              </p:nvSpPr>
              <p:spPr>
                <a:xfrm>
                  <a:off x="11630" y="8665"/>
                  <a:ext cx="3967" cy="7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24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</m:oMath>
                  </a14:m>
                  <a:r>
                    <a:rPr lang="en-US" sz="1240" dirty="0">
                      <a:latin typeface="Arial" panose="020B0604020202020204" pitchFamily="34" charset="0"/>
                    </a:rPr>
                    <a:t> large, </a:t>
                  </a:r>
                  <a14:m>
                    <m:oMath xmlns:m="http://schemas.openxmlformats.org/officeDocument/2006/math">
                      <m:r>
                        <a:rPr lang="en-US" sz="124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1240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 </m:t>
                      </m:r>
                    </m:oMath>
                  </a14:m>
                  <a:r>
                    <a:rPr lang="en-US" sz="1240" dirty="0">
                      <a:latin typeface="Arial" panose="020B0604020202020204" pitchFamily="34" charset="0"/>
                    </a:rPr>
                    <a:t>small</a:t>
                  </a:r>
                  <a:endParaRPr lang="en-US" sz="1240" dirty="0">
                    <a:latin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1" name="TextBox 3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30" y="8665"/>
                  <a:ext cx="3967" cy="788"/>
                </a:xfrm>
                <a:prstGeom prst="rect">
                  <a:avLst/>
                </a:prstGeom>
                <a:blipFill rotWithShape="1">
                  <a:blip r:embed="rId1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/>
                <p:cNvSpPr txBox="1"/>
                <p:nvPr/>
              </p:nvSpPr>
              <p:spPr>
                <a:xfrm>
                  <a:off x="1098" y="8646"/>
                  <a:ext cx="4052" cy="7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24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</m:oMath>
                  </a14:m>
                  <a:r>
                    <a:rPr lang="en-US" sz="1240" dirty="0">
                      <a:latin typeface="Arial" panose="020B0604020202020204" pitchFamily="34" charset="0"/>
                    </a:rPr>
                    <a:t> small, </a:t>
                  </a:r>
                  <a14:m>
                    <m:oMath xmlns:m="http://schemas.openxmlformats.org/officeDocument/2006/math">
                      <m:r>
                        <a:rPr lang="en-US" sz="124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1240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 </m:t>
                      </m:r>
                    </m:oMath>
                  </a14:m>
                  <a:r>
                    <a:rPr lang="en-US" sz="1240" dirty="0">
                      <a:latin typeface="Arial" panose="020B0604020202020204" pitchFamily="34" charset="0"/>
                    </a:rPr>
                    <a:t>small</a:t>
                  </a:r>
                  <a:endParaRPr lang="en-US" sz="1240" dirty="0">
                    <a:latin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11" name="TextBox 1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8" y="8646"/>
                  <a:ext cx="4052" cy="788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Box 20"/>
                <p:cNvSpPr txBox="1"/>
                <p:nvPr/>
              </p:nvSpPr>
              <p:spPr>
                <a:xfrm>
                  <a:off x="16811" y="8646"/>
                  <a:ext cx="4052" cy="7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24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</m:oMath>
                  </a14:m>
                  <a:r>
                    <a:rPr lang="en-US" sz="1240" dirty="0">
                      <a:latin typeface="Arial" panose="020B0604020202020204" pitchFamily="34" charset="0"/>
                    </a:rPr>
                    <a:t> large, </a:t>
                  </a:r>
                  <a14:m>
                    <m:oMath xmlns:m="http://schemas.openxmlformats.org/officeDocument/2006/math">
                      <m:r>
                        <a:rPr lang="en-US" sz="124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1240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 </m:t>
                      </m:r>
                    </m:oMath>
                  </a14:m>
                  <a:r>
                    <a:rPr lang="en-US" sz="1240" dirty="0">
                      <a:latin typeface="Arial" panose="020B0604020202020204" pitchFamily="34" charset="0"/>
                    </a:rPr>
                    <a:t>large</a:t>
                  </a:r>
                  <a:endParaRPr lang="en-US" sz="1240" dirty="0">
                    <a:latin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21" name="TextBox 2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11" y="8646"/>
                  <a:ext cx="4052" cy="788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TextBox 57"/>
                <p:cNvSpPr txBox="1"/>
                <p:nvPr/>
              </p:nvSpPr>
              <p:spPr>
                <a:xfrm>
                  <a:off x="6364" y="8637"/>
                  <a:ext cx="4052" cy="7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24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</m:oMath>
                  </a14:m>
                  <a:r>
                    <a:rPr lang="en-US" sz="1240" dirty="0">
                      <a:latin typeface="Arial" panose="020B0604020202020204" pitchFamily="34" charset="0"/>
                    </a:rPr>
                    <a:t> </a:t>
                  </a:r>
                  <a:r>
                    <a:rPr lang="en-US" altLang="zh-CN" sz="1240" dirty="0">
                      <a:latin typeface="Arial" panose="020B0604020202020204" pitchFamily="34" charset="0"/>
                    </a:rPr>
                    <a:t>small</a:t>
                  </a:r>
                  <a:r>
                    <a:rPr lang="en-US" sz="1240" dirty="0">
                      <a:latin typeface="Arial" panose="020B0604020202020204" pitchFamily="34" charset="0"/>
                    </a:rPr>
                    <a:t>, </a:t>
                  </a:r>
                  <a14:m>
                    <m:oMath xmlns:m="http://schemas.openxmlformats.org/officeDocument/2006/math">
                      <m:r>
                        <a:rPr lang="en-US" sz="124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1240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 </m:t>
                      </m:r>
                    </m:oMath>
                  </a14:m>
                  <a:r>
                    <a:rPr lang="en-US" altLang="zh-CN" sz="1240" dirty="0">
                      <a:latin typeface="Arial" panose="020B0604020202020204" pitchFamily="34" charset="0"/>
                    </a:rPr>
                    <a:t>large</a:t>
                  </a:r>
                  <a:endParaRPr lang="en-US" sz="1240" dirty="0">
                    <a:latin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58" name="TextBox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4" y="8637"/>
                  <a:ext cx="4052" cy="788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TextBox 12"/>
            <p:cNvSpPr txBox="1"/>
            <p:nvPr/>
          </p:nvSpPr>
          <p:spPr>
            <a:xfrm>
              <a:off x="2645" y="2655"/>
              <a:ext cx="7452" cy="7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65" dirty="0">
                  <a:latin typeface="Arial" panose="020B0604020202020204" pitchFamily="34" charset="0"/>
                </a:rPr>
                <a:t>Structural Zeros (cannot be constructed)</a:t>
              </a:r>
              <a:endParaRPr lang="en-US" sz="1065" dirty="0">
                <a:latin typeface="Arial" panose="020B0604020202020204" pitchFamily="34" charset="0"/>
              </a:endParaRPr>
            </a:p>
          </p:txBody>
        </p:sp>
        <p:sp>
          <p:nvSpPr>
            <p:cNvPr id="33" name="TextBox 98"/>
            <p:cNvSpPr txBox="1"/>
            <p:nvPr/>
          </p:nvSpPr>
          <p:spPr>
            <a:xfrm>
              <a:off x="10880" y="2676"/>
              <a:ext cx="5239" cy="7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65" dirty="0">
                  <a:latin typeface="Arial" panose="020B0604020202020204" pitchFamily="34" charset="0"/>
                </a:rPr>
                <a:t>Constructable Area</a:t>
              </a:r>
              <a:endParaRPr lang="en-US" sz="1065" dirty="0">
                <a:latin typeface="Arial" panose="020B0604020202020204" pitchFamily="34" charset="0"/>
              </a:endParaRPr>
            </a:p>
          </p:txBody>
        </p:sp>
        <p:sp>
          <p:nvSpPr>
            <p:cNvPr id="34" name="矩形 33"/>
            <p:cNvSpPr/>
            <p:nvPr/>
          </p:nvSpPr>
          <p:spPr>
            <a:xfrm>
              <a:off x="1832" y="2529"/>
              <a:ext cx="813" cy="813"/>
            </a:xfrm>
            <a:prstGeom prst="rect">
              <a:avLst/>
            </a:prstGeom>
            <a:solidFill>
              <a:srgbClr val="696969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37" name="矩形 36"/>
            <p:cNvSpPr/>
            <p:nvPr/>
          </p:nvSpPr>
          <p:spPr>
            <a:xfrm>
              <a:off x="10068" y="2551"/>
              <a:ext cx="813" cy="81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696969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grpSp>
          <p:nvGrpSpPr>
            <p:cNvPr id="2" name="组合 1"/>
            <p:cNvGrpSpPr/>
            <p:nvPr/>
          </p:nvGrpSpPr>
          <p:grpSpPr>
            <a:xfrm>
              <a:off x="583" y="3473"/>
              <a:ext cx="5083" cy="5043"/>
              <a:chOff x="493" y="2941"/>
              <a:chExt cx="4304" cy="4270"/>
            </a:xfrm>
          </p:grpSpPr>
          <p:pic>
            <p:nvPicPr>
              <p:cNvPr id="40" name="图片 39"/>
              <p:cNvPicPr>
                <a:picLocks noChangeAspect="1"/>
              </p:cNvPicPr>
              <p:nvPr/>
            </p:nvPicPr>
            <p:blipFill>
              <a:blip r:embed="rId5">
                <a:grayscl/>
              </a:blip>
              <a:stretch>
                <a:fillRect/>
              </a:stretch>
            </p:blipFill>
            <p:spPr>
              <a:xfrm>
                <a:off x="493" y="2941"/>
                <a:ext cx="4304" cy="4271"/>
              </a:xfrm>
              <a:prstGeom prst="rect">
                <a:avLst/>
              </a:prstGeom>
            </p:spPr>
          </p:pic>
          <p:sp>
            <p:nvSpPr>
              <p:cNvPr id="19" name="椭圆 18"/>
              <p:cNvSpPr/>
              <p:nvPr/>
            </p:nvSpPr>
            <p:spPr>
              <a:xfrm>
                <a:off x="59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</p:grpSp>
        <p:grpSp>
          <p:nvGrpSpPr>
            <p:cNvPr id="3" name="组合 2"/>
            <p:cNvGrpSpPr/>
            <p:nvPr/>
          </p:nvGrpSpPr>
          <p:grpSpPr>
            <a:xfrm>
              <a:off x="5822" y="3473"/>
              <a:ext cx="5081" cy="5043"/>
              <a:chOff x="4929" y="2941"/>
              <a:chExt cx="4302" cy="4270"/>
            </a:xfrm>
          </p:grpSpPr>
          <p:pic>
            <p:nvPicPr>
              <p:cNvPr id="44" name="图片 43"/>
              <p:cNvPicPr>
                <a:picLocks noChangeAspect="1"/>
              </p:cNvPicPr>
              <p:nvPr/>
            </p:nvPicPr>
            <p:blipFill>
              <a:blip r:embed="rId6">
                <a:grayscl/>
              </a:blip>
              <a:stretch>
                <a:fillRect/>
              </a:stretch>
            </p:blipFill>
            <p:spPr>
              <a:xfrm>
                <a:off x="492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39" name="椭圆 38"/>
              <p:cNvSpPr/>
              <p:nvPr/>
            </p:nvSpPr>
            <p:spPr>
              <a:xfrm>
                <a:off x="502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</p:grpSp>
        <p:grpSp>
          <p:nvGrpSpPr>
            <p:cNvPr id="4" name="组合 3"/>
            <p:cNvGrpSpPr/>
            <p:nvPr/>
          </p:nvGrpSpPr>
          <p:grpSpPr>
            <a:xfrm>
              <a:off x="11060" y="3473"/>
              <a:ext cx="5081" cy="5043"/>
              <a:chOff x="9364" y="2941"/>
              <a:chExt cx="4302" cy="4270"/>
            </a:xfrm>
          </p:grpSpPr>
          <p:pic>
            <p:nvPicPr>
              <p:cNvPr id="46" name="图片 45"/>
              <p:cNvPicPr>
                <a:picLocks noChangeAspect="1"/>
              </p:cNvPicPr>
              <p:nvPr/>
            </p:nvPicPr>
            <p:blipFill>
              <a:blip r:embed="rId7">
                <a:grayscl/>
              </a:blip>
              <a:stretch>
                <a:fillRect/>
              </a:stretch>
            </p:blipFill>
            <p:spPr>
              <a:xfrm>
                <a:off x="9364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45" name="椭圆 44"/>
              <p:cNvSpPr/>
              <p:nvPr/>
            </p:nvSpPr>
            <p:spPr>
              <a:xfrm>
                <a:off x="945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</p:grpSp>
        <p:grpSp>
          <p:nvGrpSpPr>
            <p:cNvPr id="6" name="组合 5"/>
            <p:cNvGrpSpPr/>
            <p:nvPr/>
          </p:nvGrpSpPr>
          <p:grpSpPr>
            <a:xfrm>
              <a:off x="16298" y="3473"/>
              <a:ext cx="5081" cy="5043"/>
              <a:chOff x="13799" y="2941"/>
              <a:chExt cx="4302" cy="4270"/>
            </a:xfrm>
          </p:grpSpPr>
          <p:pic>
            <p:nvPicPr>
              <p:cNvPr id="47" name="图片 46"/>
              <p:cNvPicPr>
                <a:picLocks noChangeAspect="1"/>
              </p:cNvPicPr>
              <p:nvPr/>
            </p:nvPicPr>
            <p:blipFill>
              <a:blip r:embed="rId8">
                <a:grayscl/>
              </a:blip>
              <a:stretch>
                <a:fillRect/>
              </a:stretch>
            </p:blipFill>
            <p:spPr>
              <a:xfrm>
                <a:off x="1379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48" name="椭圆 47"/>
              <p:cNvSpPr/>
              <p:nvPr/>
            </p:nvSpPr>
            <p:spPr>
              <a:xfrm>
                <a:off x="1388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TextBox 8"/>
                <p:cNvSpPr txBox="1"/>
                <p:nvPr/>
              </p:nvSpPr>
              <p:spPr>
                <a:xfrm>
                  <a:off x="14972" y="2557"/>
                  <a:ext cx="6827" cy="94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𝜑</m:t>
                        </m:r>
                        <m:r>
                          <a:rPr lang="en-US" sz="159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(</m:t>
                        </m:r>
                        <m:r>
                          <a:rPr lang="en-US" sz="159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𝑟</m:t>
                        </m:r>
                        <m:r>
                          <a:rPr lang="en-US" sz="159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)=</m:t>
                        </m:r>
                        <m:r>
                          <a:rPr lang="en-US" sz="159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sz="159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(</m:t>
                        </m:r>
                        <m:r>
                          <a:rPr lang="en-US" sz="159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𝛼</m:t>
                        </m:r>
                        <m:r>
                          <a:rPr lang="en-US" sz="159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+</m:t>
                        </m:r>
                        <m:r>
                          <a:rPr lang="en-US" sz="159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𝛽</m:t>
                        </m:r>
                        <m:r>
                          <a:rPr lang="en-US" sz="159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∙</m:t>
                        </m:r>
                        <m:r>
                          <a:rPr lang="en-US" sz="159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𝑟</m:t>
                        </m:r>
                        <m:r>
                          <a:rPr lang="en-US" sz="1595" b="0" i="1" smtClean="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sz="1595" b="0" i="1" dirty="0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38" name="TextBox 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72" y="2557"/>
                  <a:ext cx="6827" cy="944"/>
                </a:xfrm>
                <a:prstGeom prst="rect">
                  <a:avLst/>
                </a:prstGeom>
                <a:blipFill rotWithShape="1">
                  <a:blip r:embed="rId9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1" name="文本框 60"/>
            <p:cNvSpPr txBox="1"/>
            <p:nvPr/>
          </p:nvSpPr>
          <p:spPr>
            <a:xfrm>
              <a:off x="5933" y="9322"/>
              <a:ext cx="4928" cy="14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5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Core open &amp; </a:t>
              </a:r>
              <a:endParaRPr lang="en-US" altLang="zh-CN" sz="135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  <a:p>
              <a:pPr lvl="0" algn="ctr">
                <a:buClrTx/>
                <a:buSzTx/>
                <a:buFontTx/>
              </a:pPr>
              <a:r>
                <a:rPr lang="en-US" altLang="zh-CN" sz="135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edge locked</a:t>
              </a:r>
              <a:endParaRPr lang="en-US" altLang="zh-CN" sz="135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932" y="9302"/>
              <a:ext cx="4734" cy="200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50" dirty="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 developable</a:t>
              </a:r>
              <a:endParaRPr lang="en-US" altLang="zh-CN" sz="1350" dirty="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  <a:p>
              <a:pPr lvl="0" algn="ctr">
                <a:buClrTx/>
                <a:buSzTx/>
                <a:buFontTx/>
              </a:pPr>
              <a:r>
                <a:rPr lang="en-US" altLang="zh-CN" sz="1350" dirty="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landscape</a:t>
              </a:r>
              <a:endParaRPr lang="en-US" altLang="zh-CN" sz="1350" dirty="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16422" y="9322"/>
              <a:ext cx="4936" cy="140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Core limited &amp; </a:t>
              </a:r>
              <a:endParaRPr lang="en-US" altLang="zh-CN" sz="133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edge locked</a:t>
              </a:r>
              <a:endParaRPr lang="en-US" altLang="zh-CN" sz="133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11169" y="9322"/>
              <a:ext cx="4945" cy="14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5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 constrained</a:t>
              </a:r>
              <a:endParaRPr lang="en-US" altLang="zh-CN" sz="135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  <a:p>
              <a:pPr lvl="0" algn="ctr">
                <a:buClrTx/>
                <a:buSzTx/>
                <a:buFontTx/>
              </a:pPr>
              <a:r>
                <a:rPr lang="en-US" altLang="zh-CN" sz="135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landscape </a:t>
              </a:r>
              <a:endParaRPr lang="en-US" altLang="zh-CN" sz="135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065" smtClean="0"/>
            </a:fld>
            <a:endParaRPr lang="de-AT" sz="1065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2" name="文本框 4"/>
              <p:cNvSpPr txBox="1"/>
              <p:nvPr/>
            </p:nvSpPr>
            <p:spPr>
              <a:xfrm>
                <a:off x="2339407" y="11274047"/>
                <a:ext cx="3511722" cy="52705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de-AT" sz="1420" dirty="0">
                        <a:solidFill>
                          <a:schemeClr val="dk1"/>
                        </a:solidFill>
                        <a:latin typeface="Cambria Math" panose="02040503050406030204" charset="0"/>
                      </a:rPr>
                      <m:t>κ</m:t>
                    </m:r>
                  </m:oMath>
                </a14:m>
                <a:r>
                  <a:rPr lang="en-US" altLang="zh-CN" sz="1420" dirty="0">
                    <a:latin typeface="Arial" panose="020B0604020202020204" pitchFamily="34" charset="0"/>
                  </a:rPr>
                  <a:t>: central building presence probability.</a:t>
                </a:r>
                <a:endParaRPr lang="en-US" altLang="zh-CN" sz="1420" dirty="0">
                  <a:latin typeface="Arial" panose="020B0604020202020204" pitchFamily="34" charset="0"/>
                </a:endParaRPr>
              </a:p>
              <a:p>
                <a:pPr algn="ctr"/>
                <a:r>
                  <a:rPr lang="en-US" altLang="zh-CN" sz="1420" dirty="0">
                    <a:latin typeface="Arial" panose="020B0604020202020204" pitchFamily="34" charset="0"/>
                  </a:rPr>
                  <a:t>δ (delta): decay rate.</a:t>
                </a:r>
                <a:endParaRPr lang="en-US" altLang="zh-CN" sz="1420" dirty="0">
                  <a:latin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182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9407" y="11274047"/>
                <a:ext cx="3511722" cy="527050"/>
              </a:xfrm>
              <a:prstGeom prst="rect">
                <a:avLst/>
              </a:prstGeom>
              <a:blipFill rotWithShape="1">
                <a:blip r:embed="rId1"/>
                <a:stretch>
                  <a:fillRect l="-2" t="-49" r="7" b="4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组合 7"/>
          <p:cNvGrpSpPr/>
          <p:nvPr/>
        </p:nvGrpSpPr>
        <p:grpSpPr>
          <a:xfrm>
            <a:off x="276822" y="5900721"/>
            <a:ext cx="7488848" cy="3055762"/>
            <a:chOff x="775" y="2740"/>
            <a:chExt cx="20966" cy="8555"/>
          </a:xfrm>
        </p:grpSpPr>
        <p:grpSp>
          <p:nvGrpSpPr>
            <p:cNvPr id="6" name="组合 5"/>
            <p:cNvGrpSpPr/>
            <p:nvPr/>
          </p:nvGrpSpPr>
          <p:grpSpPr>
            <a:xfrm>
              <a:off x="775" y="2740"/>
              <a:ext cx="20966" cy="6874"/>
              <a:chOff x="1249" y="1357"/>
              <a:chExt cx="20966" cy="6874"/>
            </a:xfrm>
          </p:grpSpPr>
          <p:sp>
            <p:nvSpPr>
              <p:cNvPr id="126" name="Google Shape;421;p29"/>
              <p:cNvSpPr txBox="1"/>
              <p:nvPr/>
            </p:nvSpPr>
            <p:spPr>
              <a:xfrm>
                <a:off x="7112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large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7" name="Google Shape;422;p29"/>
              <p:cNvSpPr txBox="1"/>
              <p:nvPr/>
            </p:nvSpPr>
            <p:spPr>
              <a:xfrm>
                <a:off x="17905" y="7170"/>
                <a:ext cx="4249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large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8" name="Google Shape;423;p29"/>
              <p:cNvSpPr txBox="1"/>
              <p:nvPr/>
            </p:nvSpPr>
            <p:spPr>
              <a:xfrm>
                <a:off x="1714" y="7170"/>
                <a:ext cx="4044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small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9" name="Google Shape;424;p29"/>
              <p:cNvSpPr txBox="1"/>
              <p:nvPr/>
            </p:nvSpPr>
            <p:spPr>
              <a:xfrm>
                <a:off x="12509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small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32" name="TextBox 12"/>
              <p:cNvSpPr txBox="1"/>
              <p:nvPr/>
            </p:nvSpPr>
            <p:spPr>
              <a:xfrm>
                <a:off x="2886" y="1379"/>
                <a:ext cx="2022" cy="11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Buildings</a:t>
                </a:r>
                <a:endParaRPr lang="en-US" sz="1065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33" name="TextBox 98"/>
              <p:cNvSpPr txBox="1"/>
              <p:nvPr/>
            </p:nvSpPr>
            <p:spPr>
              <a:xfrm>
                <a:off x="11121" y="1505"/>
                <a:ext cx="5239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Constructable Area</a:t>
                </a:r>
                <a:endParaRPr lang="en-US" sz="1065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34" name="矩形 33"/>
              <p:cNvSpPr/>
              <p:nvPr/>
            </p:nvSpPr>
            <p:spPr>
              <a:xfrm>
                <a:off x="2073" y="1357"/>
                <a:ext cx="813" cy="813"/>
              </a:xfrm>
              <a:prstGeom prst="rect">
                <a:avLst/>
              </a:prstGeom>
              <a:solidFill>
                <a:srgbClr val="69A2BC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p:sp>
            <p:nvSpPr>
              <p:cNvPr id="37" name="矩形 36"/>
              <p:cNvSpPr/>
              <p:nvPr/>
            </p:nvSpPr>
            <p:spPr>
              <a:xfrm>
                <a:off x="10309" y="1379"/>
                <a:ext cx="813" cy="813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p:grpSp>
            <p:nvGrpSpPr>
              <p:cNvPr id="2" name="组合 1"/>
              <p:cNvGrpSpPr/>
              <p:nvPr/>
            </p:nvGrpSpPr>
            <p:grpSpPr>
              <a:xfrm>
                <a:off x="1249" y="2420"/>
                <a:ext cx="4974" cy="4859"/>
                <a:chOff x="1057" y="2049"/>
                <a:chExt cx="4212" cy="4114"/>
              </a:xfrm>
            </p:grpSpPr>
            <p:pic>
              <p:nvPicPr>
                <p:cNvPr id="38" name="图片 37"/>
                <p:cNvPicPr>
                  <a:picLocks noChangeAspect="1"/>
                </p:cNvPicPr>
                <p:nvPr/>
              </p:nvPicPr>
              <p:blipFill>
                <a:blip r:embed="rId2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57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7" name="椭圆 26"/>
                <p:cNvSpPr/>
                <p:nvPr/>
              </p:nvSpPr>
              <p:spPr>
                <a:xfrm>
                  <a:off x="12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3" name="组合 2"/>
              <p:cNvGrpSpPr/>
              <p:nvPr/>
            </p:nvGrpSpPr>
            <p:grpSpPr>
              <a:xfrm>
                <a:off x="6580" y="2420"/>
                <a:ext cx="4974" cy="4859"/>
                <a:chOff x="5571" y="2049"/>
                <a:chExt cx="4212" cy="4114"/>
              </a:xfrm>
            </p:grpSpPr>
            <p:pic>
              <p:nvPicPr>
                <p:cNvPr id="44" name="图片 43"/>
                <p:cNvPicPr>
                  <a:picLocks noChangeAspect="1"/>
                </p:cNvPicPr>
                <p:nvPr/>
              </p:nvPicPr>
              <p:blipFill>
                <a:blip r:embed="rId3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5571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8" name="椭圆 27"/>
                <p:cNvSpPr/>
                <p:nvPr/>
              </p:nvSpPr>
              <p:spPr>
                <a:xfrm>
                  <a:off x="5813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4" name="组合 3"/>
              <p:cNvGrpSpPr/>
              <p:nvPr/>
            </p:nvGrpSpPr>
            <p:grpSpPr>
              <a:xfrm>
                <a:off x="11910" y="2420"/>
                <a:ext cx="4974" cy="4859"/>
                <a:chOff x="10084" y="2049"/>
                <a:chExt cx="4212" cy="4114"/>
              </a:xfrm>
            </p:grpSpPr>
            <p:pic>
              <p:nvPicPr>
                <p:cNvPr id="45" name="图片 44"/>
                <p:cNvPicPr>
                  <a:picLocks noChangeAspect="1"/>
                </p:cNvPicPr>
                <p:nvPr/>
              </p:nvPicPr>
              <p:blipFill>
                <a:blip r:embed="rId4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084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9" name="椭圆 28"/>
                <p:cNvSpPr/>
                <p:nvPr/>
              </p:nvSpPr>
              <p:spPr>
                <a:xfrm>
                  <a:off x="10347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7" name="组合 6"/>
              <p:cNvGrpSpPr/>
              <p:nvPr/>
            </p:nvGrpSpPr>
            <p:grpSpPr>
              <a:xfrm>
                <a:off x="17241" y="2420"/>
                <a:ext cx="4974" cy="4859"/>
                <a:chOff x="14598" y="2049"/>
                <a:chExt cx="4212" cy="4114"/>
              </a:xfrm>
            </p:grpSpPr>
            <p:pic>
              <p:nvPicPr>
                <p:cNvPr id="46" name="图片 45"/>
                <p:cNvPicPr>
                  <a:picLocks noChangeAspect="1"/>
                </p:cNvPicPr>
                <p:nvPr/>
              </p:nvPicPr>
              <p:blipFill>
                <a:blip r:embed="rId5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4598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30" name="椭圆 29"/>
                <p:cNvSpPr/>
                <p:nvPr/>
              </p:nvSpPr>
              <p:spPr>
                <a:xfrm>
                  <a:off x="148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sp>
            <p:nvSpPr>
              <p:cNvPr id="31" name="TextBox 12"/>
              <p:cNvSpPr txBox="1"/>
              <p:nvPr/>
            </p:nvSpPr>
            <p:spPr>
              <a:xfrm>
                <a:off x="6570" y="1378"/>
                <a:ext cx="3374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Structural Zeros</a:t>
                </a:r>
                <a:endParaRPr lang="en-US" sz="1065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39" name="矩形 38"/>
              <p:cNvSpPr/>
              <p:nvPr/>
            </p:nvSpPr>
            <p:spPr>
              <a:xfrm>
                <a:off x="5768" y="1357"/>
                <a:ext cx="813" cy="813"/>
              </a:xfrm>
              <a:prstGeom prst="rect">
                <a:avLst/>
              </a:prstGeom>
              <a:solidFill>
                <a:srgbClr val="BFBFBF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8" name="文本框 87"/>
                  <p:cNvSpPr txBox="1"/>
                  <p:nvPr/>
                </p:nvSpPr>
                <p:spPr>
                  <a:xfrm>
                    <a:off x="15323" y="1378"/>
                    <a:ext cx="6830" cy="163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t">
                    <a:spAutoFit/>
                  </a:bodyPr>
                  <a:lstStyle/>
                  <a:p>
                    <a:pPr marL="0" indent="0">
                      <a:lnSpc>
                        <a:spcPct val="100000"/>
                      </a:lnSpc>
                      <a:spcBef>
                        <a:spcPts val="1200"/>
                      </a:spcBef>
                      <a:buFont typeface="Wingdings" panose="05000000000000000000" charset="0"/>
                      <a:buNone/>
                    </a:pPr>
                    <a14:m>
                      <m:oMath xmlns:m="http://schemas.openxmlformats.org/officeDocument/2006/math"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 (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 </m:t>
                        </m:r>
                      </m:oMath>
                    </a14:m>
                    <a:r>
                      <a:rPr lang="en-US" sz="1595" dirty="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rPr>
                      <a:t> </a:t>
                    </a:r>
                    <a:endParaRPr lang="en-US" altLang="en-US" sz="1595" dirty="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endParaRPr>
                  </a:p>
                </p:txBody>
              </p:sp>
            </mc:Choice>
            <mc:Fallback>
              <p:sp>
                <p:nvSpPr>
                  <p:cNvPr id="88" name="文本框 8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23" y="1378"/>
                    <a:ext cx="6830" cy="163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1" name="文本框 60"/>
            <p:cNvSpPr txBox="1"/>
            <p:nvPr/>
          </p:nvSpPr>
          <p:spPr>
            <a:xfrm>
              <a:off x="6703" y="9322"/>
              <a:ext cx="4100" cy="140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Small core, sparse periphery</a:t>
              </a:r>
              <a:endParaRPr lang="en-US" altLang="zh-CN" sz="133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050" y="9322"/>
              <a:ext cx="4604" cy="140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 dirty="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 sparse construction</a:t>
              </a:r>
              <a:endParaRPr lang="en-US" altLang="zh-CN" sz="1330" dirty="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17634" y="9322"/>
              <a:ext cx="3810" cy="19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Dense core, sparse periphery</a:t>
              </a:r>
              <a:endParaRPr lang="en-US" altLang="zh-CN" sz="133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11759" y="9322"/>
              <a:ext cx="4599" cy="140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 dense construction</a:t>
              </a:r>
              <a:endParaRPr lang="en-US" altLang="zh-CN" sz="133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4279" y="9707044"/>
            <a:ext cx="2271652" cy="1398427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35" name="图片 3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1776" y="9781289"/>
            <a:ext cx="1792011" cy="993453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8236" y="9781289"/>
            <a:ext cx="1673894" cy="927644"/>
          </a:xfrm>
          <a:prstGeom prst="rect">
            <a:avLst/>
          </a:prstGeom>
        </p:spPr>
      </p:pic>
      <p:grpSp>
        <p:nvGrpSpPr>
          <p:cNvPr id="78" name="组合 77"/>
          <p:cNvGrpSpPr/>
          <p:nvPr/>
        </p:nvGrpSpPr>
        <p:grpSpPr>
          <a:xfrm>
            <a:off x="273194" y="5789762"/>
            <a:ext cx="7534630" cy="2387660"/>
            <a:chOff x="647" y="2057"/>
            <a:chExt cx="17861" cy="5660"/>
          </a:xfrm>
        </p:grpSpPr>
        <p:grpSp>
          <p:nvGrpSpPr>
            <p:cNvPr id="73" name="组合 72"/>
            <p:cNvGrpSpPr/>
            <p:nvPr/>
          </p:nvGrpSpPr>
          <p:grpSpPr>
            <a:xfrm>
              <a:off x="647" y="2057"/>
              <a:ext cx="3551" cy="5629"/>
              <a:chOff x="647" y="2057"/>
              <a:chExt cx="3551" cy="5629"/>
            </a:xfrm>
          </p:grpSpPr>
          <p:sp>
            <p:nvSpPr>
              <p:cNvPr id="5163" name="TextBox 264"/>
              <p:cNvSpPr txBox="1"/>
              <p:nvPr/>
            </p:nvSpPr>
            <p:spPr>
              <a:xfrm>
                <a:off x="647" y="4712"/>
                <a:ext cx="3551" cy="919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1065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C&gt;0, B&gt;0</a:t>
                </a:r>
                <a:endParaRPr lang="en-US" altLang="zh-CN" sz="1065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  <a:p>
                <a:pPr lvl="0" algn="ctr">
                  <a:buClrTx/>
                  <a:buSzTx/>
                  <a:buFontTx/>
                </a:pPr>
                <a:r>
                  <a:rPr lang="en-US" altLang="zh-CN" sz="1065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“Bowl” City</a:t>
                </a:r>
                <a:endParaRPr lang="en-US" altLang="zh-CN" sz="1065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</p:txBody>
          </p:sp>
          <p:grpSp>
            <p:nvGrpSpPr>
              <p:cNvPr id="26" name="组合 25"/>
              <p:cNvGrpSpPr/>
              <p:nvPr/>
            </p:nvGrpSpPr>
            <p:grpSpPr>
              <a:xfrm>
                <a:off x="1094" y="5693"/>
                <a:ext cx="2657" cy="1993"/>
                <a:chOff x="3202" y="5108"/>
                <a:chExt cx="2657" cy="1993"/>
              </a:xfrm>
            </p:grpSpPr>
            <p:cxnSp>
              <p:nvCxnSpPr>
                <p:cNvPr id="8" name="直接箭头连接符 7"/>
                <p:cNvCxnSpPr/>
                <p:nvPr/>
              </p:nvCxnSpPr>
              <p:spPr>
                <a:xfrm flipV="1">
                  <a:off x="3755" y="5227"/>
                  <a:ext cx="0" cy="1545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9" name="直接箭头连接符 8"/>
                <p:cNvCxnSpPr/>
                <p:nvPr/>
              </p:nvCxnSpPr>
              <p:spPr>
                <a:xfrm>
                  <a:off x="3755" y="6786"/>
                  <a:ext cx="174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sp>
              <p:nvSpPr>
                <p:cNvPr id="13" name="任意多边形 12"/>
                <p:cNvSpPr/>
                <p:nvPr/>
              </p:nvSpPr>
              <p:spPr>
                <a:xfrm>
                  <a:off x="3755" y="5568"/>
                  <a:ext cx="1606" cy="503"/>
                </a:xfrm>
                <a:custGeom>
                  <a:avLst/>
                  <a:gdLst>
                    <a:gd name="connsiteX0" fmla="*/ 0 w 7905"/>
                    <a:gd name="connsiteY0" fmla="*/ 2460 h 2476"/>
                    <a:gd name="connsiteX1" fmla="*/ 7905 w 7905"/>
                    <a:gd name="connsiteY1" fmla="*/ 0 h 24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7905" h="2477">
                      <a:moveTo>
                        <a:pt x="0" y="2460"/>
                      </a:moveTo>
                      <a:cubicBezTo>
                        <a:pt x="4710" y="2655"/>
                        <a:pt x="7095" y="1095"/>
                        <a:pt x="7905" y="0"/>
                      </a:cubicBezTo>
                    </a:path>
                  </a:pathLst>
                </a:custGeom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95"/>
                </a:p>
              </p:txBody>
            </p:sp>
            <p:grpSp>
              <p:nvGrpSpPr>
                <p:cNvPr id="18" name="组合 17"/>
                <p:cNvGrpSpPr/>
                <p:nvPr/>
              </p:nvGrpSpPr>
              <p:grpSpPr>
                <a:xfrm>
                  <a:off x="3202" y="5108"/>
                  <a:ext cx="2657" cy="1993"/>
                  <a:chOff x="3202" y="5108"/>
                  <a:chExt cx="2657" cy="1993"/>
                </a:xfrm>
              </p:grpSpPr>
              <p:sp>
                <p:nvSpPr>
                  <p:cNvPr id="41" name="TextBox 256"/>
                  <p:cNvSpPr txBox="1"/>
                  <p:nvPr/>
                </p:nvSpPr>
                <p:spPr>
                  <a:xfrm>
                    <a:off x="3320" y="6496"/>
                    <a:ext cx="613" cy="60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fontAlgn="auto"/>
                    <a:r>
                      <a:rPr lang="en-US" sz="1065" noProof="1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rPr>
                      <a:t>0</a:t>
                    </a:r>
                    <a:endParaRPr lang="en-US" sz="1065" noProof="1"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4" name="文本框 13"/>
                  <p:cNvSpPr txBox="1"/>
                  <p:nvPr/>
                </p:nvSpPr>
                <p:spPr>
                  <a:xfrm>
                    <a:off x="3202" y="5108"/>
                    <a:ext cx="446" cy="60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H</a:t>
                    </a:r>
                    <a:endParaRPr lang="en-US" altLang="zh-CN" sz="1065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5413" y="6496"/>
                    <a:ext cx="446" cy="60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</a:t>
                    </a:r>
                    <a:endParaRPr lang="en-US" altLang="zh-CN" sz="1065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  <p:pic>
            <p:nvPicPr>
              <p:cNvPr id="16" name="图片 15"/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48000"/>
              </a:blip>
              <a:stretch>
                <a:fillRect/>
              </a:stretch>
            </p:blipFill>
            <p:spPr>
              <a:xfrm>
                <a:off x="647" y="2057"/>
                <a:ext cx="3441" cy="2731"/>
              </a:xfrm>
              <a:prstGeom prst="rect">
                <a:avLst/>
              </a:prstGeom>
              <a:noFill/>
              <a:ln w="9525">
                <a:noFill/>
              </a:ln>
            </p:spPr>
          </p:pic>
        </p:grpSp>
        <p:grpSp>
          <p:nvGrpSpPr>
            <p:cNvPr id="75" name="组合 74"/>
            <p:cNvGrpSpPr/>
            <p:nvPr/>
          </p:nvGrpSpPr>
          <p:grpSpPr>
            <a:xfrm>
              <a:off x="7659" y="2455"/>
              <a:ext cx="3661" cy="5262"/>
              <a:chOff x="7722" y="2455"/>
              <a:chExt cx="3661" cy="5262"/>
            </a:xfrm>
          </p:grpSpPr>
          <p:pic>
            <p:nvPicPr>
              <p:cNvPr id="2" name="图片 1"/>
              <p:cNvPicPr>
                <a:picLocks noChangeAspect="1"/>
              </p:cNvPicPr>
              <p:nvPr/>
            </p:nvPicPr>
            <p:blipFill>
              <a:blip r:embed="rId5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36000"/>
              </a:blip>
              <a:stretch>
                <a:fillRect/>
              </a:stretch>
            </p:blipFill>
            <p:spPr>
              <a:xfrm>
                <a:off x="7722" y="2455"/>
                <a:ext cx="3470" cy="2199"/>
              </a:xfrm>
              <a:prstGeom prst="rect">
                <a:avLst/>
              </a:prstGeom>
              <a:noFill/>
              <a:ln w="9525">
                <a:noFill/>
              </a:ln>
            </p:spPr>
          </p:pic>
          <p:sp>
            <p:nvSpPr>
              <p:cNvPr id="3" name="文本框 2"/>
              <p:cNvSpPr txBox="1"/>
              <p:nvPr/>
            </p:nvSpPr>
            <p:spPr>
              <a:xfrm>
                <a:off x="7740" y="4712"/>
                <a:ext cx="3643" cy="919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algn="ctr"/>
                <a:r>
                  <a:rPr lang="en-US" altLang="zh-CN" sz="1065">
                    <a:latin typeface="Arial" panose="020B0604020202020204" pitchFamily="34" charset="0"/>
                    <a:ea typeface="Arial" panose="020B0604020202020204" pitchFamily="34" charset="0"/>
                  </a:rPr>
                  <a:t>C=0, B=0</a:t>
                </a:r>
                <a:endParaRPr lang="en-US" altLang="zh-CN" sz="1065">
                  <a:latin typeface="Arial" panose="020B0604020202020204" pitchFamily="34" charset="0"/>
                  <a:ea typeface="Arial" panose="020B0604020202020204" pitchFamily="34" charset="0"/>
                </a:endParaRPr>
              </a:p>
              <a:p>
                <a:pPr algn="ctr"/>
                <a:r>
                  <a:rPr lang="en-US" altLang="zh-CN" sz="1065">
                    <a:latin typeface="Arial" panose="020B0604020202020204" pitchFamily="34" charset="0"/>
                    <a:ea typeface="Arial" panose="020B0604020202020204" pitchFamily="34" charset="0"/>
                  </a:rPr>
                  <a:t>“Pancake” City</a:t>
                </a:r>
                <a:endParaRPr lang="en-US" altLang="zh-CN" sz="1065"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grpSp>
            <p:nvGrpSpPr>
              <p:cNvPr id="23" name="组合 22"/>
              <p:cNvGrpSpPr/>
              <p:nvPr/>
            </p:nvGrpSpPr>
            <p:grpSpPr>
              <a:xfrm>
                <a:off x="8233" y="5693"/>
                <a:ext cx="2657" cy="2024"/>
                <a:chOff x="5687" y="5068"/>
                <a:chExt cx="2657" cy="2024"/>
              </a:xfrm>
            </p:grpSpPr>
            <p:cxnSp>
              <p:nvCxnSpPr>
                <p:cNvPr id="4" name="直接箭头连接符 3"/>
                <p:cNvCxnSpPr/>
                <p:nvPr/>
              </p:nvCxnSpPr>
              <p:spPr>
                <a:xfrm flipV="1">
                  <a:off x="6221" y="5213"/>
                  <a:ext cx="0" cy="1545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5" name="直接箭头连接符 4"/>
                <p:cNvCxnSpPr/>
                <p:nvPr/>
              </p:nvCxnSpPr>
              <p:spPr>
                <a:xfrm>
                  <a:off x="6221" y="6772"/>
                  <a:ext cx="174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直接连接符 5"/>
                <p:cNvCxnSpPr/>
                <p:nvPr/>
              </p:nvCxnSpPr>
              <p:spPr>
                <a:xfrm>
                  <a:off x="6236" y="6085"/>
                  <a:ext cx="1665" cy="0"/>
                </a:xfrm>
                <a:prstGeom prst="line">
                  <a:avLst/>
                </a:prstGeom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grpSp>
              <p:nvGrpSpPr>
                <p:cNvPr id="19" name="组合 18"/>
                <p:cNvGrpSpPr/>
                <p:nvPr/>
              </p:nvGrpSpPr>
              <p:grpSpPr>
                <a:xfrm>
                  <a:off x="5687" y="5068"/>
                  <a:ext cx="2657" cy="2024"/>
                  <a:chOff x="3202" y="5108"/>
                  <a:chExt cx="2657" cy="2024"/>
                </a:xfrm>
              </p:grpSpPr>
              <p:sp>
                <p:nvSpPr>
                  <p:cNvPr id="20" name="TextBox 256"/>
                  <p:cNvSpPr txBox="1"/>
                  <p:nvPr/>
                </p:nvSpPr>
                <p:spPr>
                  <a:xfrm>
                    <a:off x="3320" y="6496"/>
                    <a:ext cx="613" cy="60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fontAlgn="auto"/>
                    <a:r>
                      <a:rPr lang="en-US" sz="1065" noProof="1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rPr>
                      <a:t>0</a:t>
                    </a:r>
                    <a:endParaRPr lang="en-US" sz="1065" noProof="1"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1" name="文本框 20"/>
                  <p:cNvSpPr txBox="1"/>
                  <p:nvPr/>
                </p:nvSpPr>
                <p:spPr>
                  <a:xfrm>
                    <a:off x="3202" y="5108"/>
                    <a:ext cx="446" cy="63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H</a:t>
                    </a:r>
                    <a:endParaRPr lang="en-US" altLang="zh-CN" sz="1065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5413" y="6496"/>
                    <a:ext cx="446" cy="63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</a:t>
                    </a:r>
                    <a:endParaRPr lang="en-US" altLang="zh-CN" sz="1065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77" name="组合 76"/>
            <p:cNvGrpSpPr/>
            <p:nvPr/>
          </p:nvGrpSpPr>
          <p:grpSpPr>
            <a:xfrm>
              <a:off x="14741" y="2761"/>
              <a:ext cx="3767" cy="4956"/>
              <a:chOff x="14737" y="2761"/>
              <a:chExt cx="3767" cy="4956"/>
            </a:xfrm>
          </p:grpSpPr>
          <p:pic>
            <p:nvPicPr>
              <p:cNvPr id="17" name="图片 16"/>
              <p:cNvPicPr>
                <a:picLocks noChangeAspect="1"/>
              </p:cNvPicPr>
              <p:nvPr/>
            </p:nvPicPr>
            <p:blipFill>
              <a:blip r:embed="rId6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36000"/>
              </a:blip>
              <a:srcRect l="8333" t="26856" r="10968" b="26289"/>
              <a:stretch>
                <a:fillRect/>
              </a:stretch>
            </p:blipFill>
            <p:spPr>
              <a:xfrm>
                <a:off x="14737" y="2761"/>
                <a:ext cx="3767" cy="1736"/>
              </a:xfrm>
              <a:prstGeom prst="rect">
                <a:avLst/>
              </a:prstGeom>
              <a:noFill/>
              <a:ln w="9525">
                <a:noFill/>
              </a:ln>
            </p:spPr>
          </p:pic>
          <p:sp>
            <p:nvSpPr>
              <p:cNvPr id="5126" name="TextBox 190"/>
              <p:cNvSpPr txBox="1"/>
              <p:nvPr/>
            </p:nvSpPr>
            <p:spPr>
              <a:xfrm>
                <a:off x="14861" y="4712"/>
                <a:ext cx="3643" cy="919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1065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C&lt;0, B&lt;0</a:t>
                </a:r>
                <a:endParaRPr lang="en-US" altLang="zh-CN" sz="1065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  <a:p>
                <a:pPr lvl="0" algn="ctr">
                  <a:buClrTx/>
                  <a:buSzTx/>
                  <a:buFontTx/>
                </a:pPr>
                <a:r>
                  <a:rPr lang="en-US" altLang="zh-CN" sz="1065">
                    <a:latin typeface="Arial" panose="020B0604020202020204" pitchFamily="34" charset="0"/>
                    <a:sym typeface="+mn-ea"/>
                  </a:rPr>
                  <a:t>“Pyramid”City</a:t>
                </a:r>
                <a:endParaRPr lang="en-US" altLang="zh-CN" sz="1065">
                  <a:latin typeface="Arial" panose="020B0604020202020204" pitchFamily="34" charset="0"/>
                  <a:sym typeface="+mn-ea"/>
                </a:endParaRPr>
              </a:p>
            </p:txBody>
          </p:sp>
          <p:grpSp>
            <p:nvGrpSpPr>
              <p:cNvPr id="49" name="组合 48"/>
              <p:cNvGrpSpPr/>
              <p:nvPr/>
            </p:nvGrpSpPr>
            <p:grpSpPr>
              <a:xfrm>
                <a:off x="15354" y="5693"/>
                <a:ext cx="2657" cy="2024"/>
                <a:chOff x="10870" y="5054"/>
                <a:chExt cx="2657" cy="2024"/>
              </a:xfrm>
            </p:grpSpPr>
            <p:sp>
              <p:nvSpPr>
                <p:cNvPr id="37" name="任意多边形 36"/>
                <p:cNvSpPr/>
                <p:nvPr/>
              </p:nvSpPr>
              <p:spPr>
                <a:xfrm>
                  <a:off x="11415" y="6023"/>
                  <a:ext cx="1395" cy="695"/>
                </a:xfrm>
                <a:custGeom>
                  <a:avLst/>
                  <a:gdLst>
                    <a:gd name="connsiteX0" fmla="*/ 0 w 6210"/>
                    <a:gd name="connsiteY0" fmla="*/ 0 h 2550"/>
                    <a:gd name="connsiteX1" fmla="*/ 6210 w 6210"/>
                    <a:gd name="connsiteY1" fmla="*/ 2550 h 25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210" h="2550">
                      <a:moveTo>
                        <a:pt x="0" y="0"/>
                      </a:moveTo>
                      <a:cubicBezTo>
                        <a:pt x="2385" y="1290"/>
                        <a:pt x="4110" y="2085"/>
                        <a:pt x="6210" y="2550"/>
                      </a:cubicBezTo>
                    </a:path>
                  </a:pathLst>
                </a:custGeom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 lang="zh-CN" altLang="en-US" sz="1195">
                    <a:sym typeface="+mn-ea"/>
                  </a:endParaRPr>
                </a:p>
              </p:txBody>
            </p:sp>
            <p:cxnSp>
              <p:nvCxnSpPr>
                <p:cNvPr id="39" name="直接箭头连接符 38"/>
                <p:cNvCxnSpPr/>
                <p:nvPr/>
              </p:nvCxnSpPr>
              <p:spPr>
                <a:xfrm flipV="1">
                  <a:off x="11423" y="5173"/>
                  <a:ext cx="0" cy="1545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直接箭头连接符 39"/>
                <p:cNvCxnSpPr/>
                <p:nvPr/>
              </p:nvCxnSpPr>
              <p:spPr>
                <a:xfrm>
                  <a:off x="11423" y="6732"/>
                  <a:ext cx="174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grpSp>
              <p:nvGrpSpPr>
                <p:cNvPr id="45" name="组合 44"/>
                <p:cNvGrpSpPr/>
                <p:nvPr/>
              </p:nvGrpSpPr>
              <p:grpSpPr>
                <a:xfrm>
                  <a:off x="10870" y="5054"/>
                  <a:ext cx="2657" cy="2024"/>
                  <a:chOff x="3202" y="5108"/>
                  <a:chExt cx="2657" cy="2024"/>
                </a:xfrm>
              </p:grpSpPr>
              <p:sp>
                <p:nvSpPr>
                  <p:cNvPr id="46" name="TextBox 256"/>
                  <p:cNvSpPr txBox="1"/>
                  <p:nvPr/>
                </p:nvSpPr>
                <p:spPr>
                  <a:xfrm>
                    <a:off x="3320" y="6496"/>
                    <a:ext cx="613" cy="60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fontAlgn="auto"/>
                    <a:r>
                      <a:rPr lang="en-US" sz="1065" noProof="1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rPr>
                      <a:t>0</a:t>
                    </a:r>
                    <a:endParaRPr lang="en-US" sz="1065" noProof="1"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7" name="文本框 46"/>
                  <p:cNvSpPr txBox="1"/>
                  <p:nvPr/>
                </p:nvSpPr>
                <p:spPr>
                  <a:xfrm>
                    <a:off x="3202" y="5108"/>
                    <a:ext cx="446" cy="63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H</a:t>
                    </a:r>
                    <a:endParaRPr lang="en-US" altLang="zh-CN" sz="1065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8" name="文本框 47"/>
                  <p:cNvSpPr txBox="1"/>
                  <p:nvPr/>
                </p:nvSpPr>
                <p:spPr>
                  <a:xfrm>
                    <a:off x="5413" y="6496"/>
                    <a:ext cx="446" cy="63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</a:t>
                    </a:r>
                    <a:endParaRPr lang="en-US" altLang="zh-CN" sz="1065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76" name="组合 75"/>
            <p:cNvGrpSpPr/>
            <p:nvPr/>
          </p:nvGrpSpPr>
          <p:grpSpPr>
            <a:xfrm>
              <a:off x="11209" y="2584"/>
              <a:ext cx="3643" cy="5133"/>
              <a:chOff x="11192" y="2584"/>
              <a:chExt cx="3643" cy="5133"/>
            </a:xfrm>
          </p:grpSpPr>
          <p:pic>
            <p:nvPicPr>
              <p:cNvPr id="4100" name="图片 6"/>
              <p:cNvPicPr>
                <a:picLocks noChangeAspect="1"/>
              </p:cNvPicPr>
              <p:nvPr/>
            </p:nvPicPr>
            <p:blipFill>
              <a:blip r:embed="rId7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36000"/>
              </a:blip>
              <a:stretch>
                <a:fillRect/>
              </a:stretch>
            </p:blipFill>
            <p:spPr>
              <a:xfrm>
                <a:off x="11510" y="2584"/>
                <a:ext cx="3007" cy="2070"/>
              </a:xfrm>
              <a:prstGeom prst="rect">
                <a:avLst/>
              </a:prstGeom>
              <a:noFill/>
              <a:ln w="9525">
                <a:noFill/>
              </a:ln>
            </p:spPr>
          </p:pic>
          <p:sp>
            <p:nvSpPr>
              <p:cNvPr id="5127" name="TextBox 191"/>
              <p:cNvSpPr txBox="1"/>
              <p:nvPr/>
            </p:nvSpPr>
            <p:spPr>
              <a:xfrm>
                <a:off x="11192" y="4712"/>
                <a:ext cx="3643" cy="919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1065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C&lt;0, B&gt;0</a:t>
                </a:r>
                <a:endParaRPr lang="en-US" altLang="zh-CN" sz="1065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  <a:p>
                <a:pPr lvl="0" algn="ctr">
                  <a:buClrTx/>
                  <a:buSzTx/>
                  <a:buFontTx/>
                </a:pPr>
                <a:r>
                  <a:rPr lang="en-US" altLang="zh-CN" sz="1065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“Volcanic Cone” City</a:t>
                </a:r>
                <a:endParaRPr lang="en-US" altLang="zh-CN" sz="1065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</p:txBody>
          </p:sp>
          <p:grpSp>
            <p:nvGrpSpPr>
              <p:cNvPr id="52" name="组合 51"/>
              <p:cNvGrpSpPr/>
              <p:nvPr/>
            </p:nvGrpSpPr>
            <p:grpSpPr>
              <a:xfrm>
                <a:off x="11686" y="5693"/>
                <a:ext cx="2657" cy="2024"/>
                <a:chOff x="8290" y="5068"/>
                <a:chExt cx="2657" cy="2024"/>
              </a:xfrm>
            </p:grpSpPr>
            <p:grpSp>
              <p:nvGrpSpPr>
                <p:cNvPr id="27" name="组合 26"/>
                <p:cNvGrpSpPr/>
                <p:nvPr/>
              </p:nvGrpSpPr>
              <p:grpSpPr>
                <a:xfrm>
                  <a:off x="8290" y="5068"/>
                  <a:ext cx="2657" cy="2024"/>
                  <a:chOff x="3202" y="5108"/>
                  <a:chExt cx="2657" cy="2024"/>
                </a:xfrm>
              </p:grpSpPr>
              <p:cxnSp>
                <p:nvCxnSpPr>
                  <p:cNvPr id="28" name="直接箭头连接符 27"/>
                  <p:cNvCxnSpPr/>
                  <p:nvPr/>
                </p:nvCxnSpPr>
                <p:spPr>
                  <a:xfrm flipV="1">
                    <a:off x="3755" y="5227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" name="直接箭头连接符 28"/>
                  <p:cNvCxnSpPr/>
                  <p:nvPr/>
                </p:nvCxnSpPr>
                <p:spPr>
                  <a:xfrm>
                    <a:off x="3755" y="6786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31" name="组合 30"/>
                  <p:cNvGrpSpPr/>
                  <p:nvPr/>
                </p:nvGrpSpPr>
                <p:grpSpPr>
                  <a:xfrm>
                    <a:off x="3202" y="5108"/>
                    <a:ext cx="2657" cy="2024"/>
                    <a:chOff x="3202" y="5108"/>
                    <a:chExt cx="2657" cy="2024"/>
                  </a:xfrm>
                </p:grpSpPr>
                <p:sp>
                  <p:nvSpPr>
                    <p:cNvPr id="32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  <a:endParaRPr lang="en-US" sz="1065" noProof="1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33" name="文本框 32"/>
                    <p:cNvSpPr txBox="1"/>
                    <p:nvPr/>
                  </p:nvSpPr>
                  <p:spPr>
                    <a:xfrm>
                      <a:off x="3202" y="5108"/>
                      <a:ext cx="446" cy="63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  <a:endPara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34" name="文本框 33"/>
                    <p:cNvSpPr txBox="1"/>
                    <p:nvPr/>
                  </p:nvSpPr>
                  <p:spPr>
                    <a:xfrm>
                      <a:off x="5413" y="6496"/>
                      <a:ext cx="446" cy="63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endPara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  <p:sp>
              <p:nvSpPr>
                <p:cNvPr id="51" name="任意多边形 50"/>
                <p:cNvSpPr/>
                <p:nvPr/>
              </p:nvSpPr>
              <p:spPr>
                <a:xfrm>
                  <a:off x="8843" y="5741"/>
                  <a:ext cx="1742" cy="701"/>
                </a:xfrm>
                <a:custGeom>
                  <a:avLst/>
                  <a:gdLst>
                    <a:gd name="connsiteX0" fmla="*/ 0 w 6165"/>
                    <a:gd name="connsiteY0" fmla="*/ 895 h 1794"/>
                    <a:gd name="connsiteX1" fmla="*/ 2745 w 6165"/>
                    <a:gd name="connsiteY1" fmla="*/ 25 h 1794"/>
                    <a:gd name="connsiteX2" fmla="*/ 6165 w 6165"/>
                    <a:gd name="connsiteY2" fmla="*/ 1795 h 17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6165" h="1795">
                      <a:moveTo>
                        <a:pt x="0" y="895"/>
                      </a:moveTo>
                      <a:cubicBezTo>
                        <a:pt x="411" y="669"/>
                        <a:pt x="1506" y="-152"/>
                        <a:pt x="2745" y="25"/>
                      </a:cubicBezTo>
                      <a:cubicBezTo>
                        <a:pt x="3984" y="202"/>
                        <a:pt x="5415" y="1432"/>
                        <a:pt x="6165" y="1795"/>
                      </a:cubicBezTo>
                    </a:path>
                  </a:pathLst>
                </a:custGeom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95"/>
                </a:p>
              </p:txBody>
            </p:sp>
          </p:grpSp>
        </p:grpSp>
        <p:grpSp>
          <p:nvGrpSpPr>
            <p:cNvPr id="74" name="组合 73"/>
            <p:cNvGrpSpPr/>
            <p:nvPr/>
          </p:nvGrpSpPr>
          <p:grpSpPr>
            <a:xfrm>
              <a:off x="4087" y="2348"/>
              <a:ext cx="3683" cy="5369"/>
              <a:chOff x="4198" y="2348"/>
              <a:chExt cx="3683" cy="5369"/>
            </a:xfrm>
          </p:grpSpPr>
          <p:sp>
            <p:nvSpPr>
              <p:cNvPr id="64" name="TextBox 190"/>
              <p:cNvSpPr txBox="1"/>
              <p:nvPr/>
            </p:nvSpPr>
            <p:spPr>
              <a:xfrm>
                <a:off x="4218" y="4712"/>
                <a:ext cx="3643" cy="919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1065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C&gt;0, B&lt;0</a:t>
                </a:r>
                <a:endParaRPr lang="en-US" altLang="zh-CN" sz="1065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  <a:p>
                <a:pPr lvl="0" algn="ctr">
                  <a:buClrTx/>
                  <a:buSzTx/>
                  <a:buFontTx/>
                </a:pPr>
                <a:r>
                  <a:rPr lang="en-US" altLang="zh-CN" sz="1065">
                    <a:latin typeface="Arial" panose="020B0604020202020204" pitchFamily="34" charset="0"/>
                    <a:sym typeface="+mn-ea"/>
                  </a:rPr>
                  <a:t>“Crown”City</a:t>
                </a:r>
                <a:endParaRPr lang="en-US" altLang="zh-CN" sz="1065">
                  <a:latin typeface="Arial" panose="020B0604020202020204" pitchFamily="34" charset="0"/>
                  <a:sym typeface="+mn-ea"/>
                </a:endParaRPr>
              </a:p>
            </p:txBody>
          </p:sp>
          <p:pic>
            <p:nvPicPr>
              <p:cNvPr id="66" name="图片 65"/>
              <p:cNvPicPr>
                <a:picLocks noChangeAspect="1"/>
              </p:cNvPicPr>
              <p:nvPr/>
            </p:nvPicPr>
            <p:blipFill>
              <a:blip r:embed="rId8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36000"/>
              </a:blip>
              <a:stretch>
                <a:fillRect/>
              </a:stretch>
            </p:blipFill>
            <p:spPr>
              <a:xfrm>
                <a:off x="4198" y="2348"/>
                <a:ext cx="3683" cy="2478"/>
              </a:xfrm>
              <a:prstGeom prst="rect">
                <a:avLst/>
              </a:prstGeom>
              <a:noFill/>
              <a:ln w="9525">
                <a:noFill/>
              </a:ln>
            </p:spPr>
          </p:pic>
          <p:grpSp>
            <p:nvGrpSpPr>
              <p:cNvPr id="72" name="组合 71"/>
              <p:cNvGrpSpPr/>
              <p:nvPr/>
            </p:nvGrpSpPr>
            <p:grpSpPr>
              <a:xfrm>
                <a:off x="4712" y="5693"/>
                <a:ext cx="2657" cy="2024"/>
                <a:chOff x="4673" y="5693"/>
                <a:chExt cx="2657" cy="2024"/>
              </a:xfrm>
            </p:grpSpPr>
            <p:grpSp>
              <p:nvGrpSpPr>
                <p:cNvPr id="56" name="组合 55"/>
                <p:cNvGrpSpPr/>
                <p:nvPr/>
              </p:nvGrpSpPr>
              <p:grpSpPr>
                <a:xfrm>
                  <a:off x="4673" y="5693"/>
                  <a:ext cx="2657" cy="2024"/>
                  <a:chOff x="10870" y="5054"/>
                  <a:chExt cx="2657" cy="2024"/>
                </a:xfrm>
              </p:grpSpPr>
              <p:cxnSp>
                <p:nvCxnSpPr>
                  <p:cNvPr id="58" name="直接箭头连接符 57"/>
                  <p:cNvCxnSpPr/>
                  <p:nvPr/>
                </p:nvCxnSpPr>
                <p:spPr>
                  <a:xfrm flipV="1">
                    <a:off x="11423" y="5173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" name="直接箭头连接符 58"/>
                  <p:cNvCxnSpPr/>
                  <p:nvPr/>
                </p:nvCxnSpPr>
                <p:spPr>
                  <a:xfrm>
                    <a:off x="11423" y="6732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60" name="组合 59"/>
                  <p:cNvGrpSpPr/>
                  <p:nvPr/>
                </p:nvGrpSpPr>
                <p:grpSpPr>
                  <a:xfrm>
                    <a:off x="10870" y="5054"/>
                    <a:ext cx="2657" cy="2024"/>
                    <a:chOff x="3202" y="5108"/>
                    <a:chExt cx="2657" cy="2024"/>
                  </a:xfrm>
                </p:grpSpPr>
                <p:sp>
                  <p:nvSpPr>
                    <p:cNvPr id="61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  <a:endParaRPr lang="en-US" sz="1065" noProof="1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62" name="文本框 61"/>
                    <p:cNvSpPr txBox="1"/>
                    <p:nvPr/>
                  </p:nvSpPr>
                  <p:spPr>
                    <a:xfrm>
                      <a:off x="3202" y="5108"/>
                      <a:ext cx="446" cy="63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  <a:endPara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63" name="文本框 62"/>
                    <p:cNvSpPr txBox="1"/>
                    <p:nvPr/>
                  </p:nvSpPr>
                  <p:spPr>
                    <a:xfrm>
                      <a:off x="5413" y="6496"/>
                      <a:ext cx="446" cy="63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endPara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  <p:sp>
              <p:nvSpPr>
                <p:cNvPr id="68" name="任意多边形 67"/>
                <p:cNvSpPr/>
                <p:nvPr/>
              </p:nvSpPr>
              <p:spPr>
                <a:xfrm>
                  <a:off x="5227" y="6643"/>
                  <a:ext cx="1770" cy="296"/>
                </a:xfrm>
                <a:custGeom>
                  <a:avLst/>
                  <a:gdLst>
                    <a:gd name="connsiteX0" fmla="*/ 0 w 6127"/>
                    <a:gd name="connsiteY0" fmla="*/ 0 h 836"/>
                    <a:gd name="connsiteX1" fmla="*/ 3080 w 6127"/>
                    <a:gd name="connsiteY1" fmla="*/ 836 h 836"/>
                    <a:gd name="connsiteX2" fmla="*/ 6127 w 6127"/>
                    <a:gd name="connsiteY2" fmla="*/ 82 h 8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6127" h="836">
                      <a:moveTo>
                        <a:pt x="0" y="0"/>
                      </a:moveTo>
                      <a:cubicBezTo>
                        <a:pt x="492" y="328"/>
                        <a:pt x="1855" y="829"/>
                        <a:pt x="3080" y="836"/>
                      </a:cubicBezTo>
                      <a:cubicBezTo>
                        <a:pt x="4305" y="843"/>
                        <a:pt x="5586" y="344"/>
                        <a:pt x="6127" y="82"/>
                      </a:cubicBezTo>
                    </a:path>
                  </a:pathLst>
                </a:custGeom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 lang="zh-CN" altLang="en-US" sz="1195">
                    <a:sym typeface="+mn-ea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组合 43"/>
          <p:cNvGrpSpPr/>
          <p:nvPr/>
        </p:nvGrpSpPr>
        <p:grpSpPr>
          <a:xfrm>
            <a:off x="915478" y="9709439"/>
            <a:ext cx="5570380" cy="417912"/>
            <a:chOff x="1984" y="9408"/>
            <a:chExt cx="15595" cy="1170"/>
          </a:xfrm>
        </p:grpSpPr>
        <p:sp>
          <p:nvSpPr>
            <p:cNvPr id="32" name="文本框 31"/>
            <p:cNvSpPr txBox="1"/>
            <p:nvPr/>
          </p:nvSpPr>
          <p:spPr>
            <a:xfrm>
              <a:off x="13143" y="9416"/>
              <a:ext cx="4436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Latin America Mean, 2016</a:t>
              </a:r>
              <a:endParaRPr lang="en-US" altLang="zh-CN" sz="900"/>
            </a:p>
          </p:txBody>
        </p:sp>
        <p:sp>
          <p:nvSpPr>
            <p:cNvPr id="22" name="乘号 21"/>
            <p:cNvSpPr/>
            <p:nvPr/>
          </p:nvSpPr>
          <p:spPr>
            <a:xfrm>
              <a:off x="1984" y="9421"/>
              <a:ext cx="483" cy="480"/>
            </a:xfrm>
            <a:prstGeom prst="mathMultiply">
              <a:avLst/>
            </a:prstGeom>
            <a:solidFill>
              <a:srgbClr val="E85748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2483" y="9434"/>
              <a:ext cx="322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Africa Mean, 2016</a:t>
              </a:r>
              <a:endParaRPr lang="en-US" altLang="zh-CN" sz="900"/>
            </a:p>
          </p:txBody>
        </p:sp>
        <p:sp>
          <p:nvSpPr>
            <p:cNvPr id="24" name="乘号 23"/>
            <p:cNvSpPr/>
            <p:nvPr/>
          </p:nvSpPr>
          <p:spPr>
            <a:xfrm>
              <a:off x="1984" y="9935"/>
              <a:ext cx="483" cy="480"/>
            </a:xfrm>
            <a:prstGeom prst="mathMultiply">
              <a:avLst/>
            </a:prstGeom>
            <a:solidFill>
              <a:srgbClr val="E8574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2483" y="9934"/>
              <a:ext cx="322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Africa Mean, 2023</a:t>
              </a:r>
              <a:endParaRPr lang="en-US" altLang="zh-CN" sz="900"/>
            </a:p>
          </p:txBody>
        </p:sp>
        <p:sp>
          <p:nvSpPr>
            <p:cNvPr id="26" name="乘号 25"/>
            <p:cNvSpPr/>
            <p:nvPr/>
          </p:nvSpPr>
          <p:spPr>
            <a:xfrm>
              <a:off x="6195" y="9421"/>
              <a:ext cx="483" cy="480"/>
            </a:xfrm>
            <a:prstGeom prst="mathMultiply">
              <a:avLst/>
            </a:prstGeom>
            <a:solidFill>
              <a:srgbClr val="F39F1B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6717" y="9408"/>
              <a:ext cx="5621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>
                  <a:sym typeface="+mn-ea"/>
                </a:rPr>
                <a:t>South&amp;South-east Asia Mean, 2016</a:t>
              </a:r>
              <a:endParaRPr lang="zh-CN" altLang="en-US" sz="900"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28" name="乘号 27"/>
            <p:cNvSpPr/>
            <p:nvPr/>
          </p:nvSpPr>
          <p:spPr>
            <a:xfrm>
              <a:off x="6195" y="9935"/>
              <a:ext cx="483" cy="480"/>
            </a:xfrm>
            <a:prstGeom prst="mathMultiply">
              <a:avLst/>
            </a:prstGeom>
            <a:solidFill>
              <a:srgbClr val="F39F1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6717" y="9895"/>
              <a:ext cx="5620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>
                  <a:sym typeface="+mn-ea"/>
                </a:rPr>
                <a:t>South&amp;South-east Asia Mean, 2023</a:t>
              </a:r>
              <a:endParaRPr lang="en-US" altLang="zh-CN" sz="900"/>
            </a:p>
          </p:txBody>
        </p:sp>
        <p:sp>
          <p:nvSpPr>
            <p:cNvPr id="31" name="乘号 30"/>
            <p:cNvSpPr/>
            <p:nvPr/>
          </p:nvSpPr>
          <p:spPr>
            <a:xfrm>
              <a:off x="12659" y="9421"/>
              <a:ext cx="483" cy="480"/>
            </a:xfrm>
            <a:prstGeom prst="mathMultiply">
              <a:avLst/>
            </a:prstGeom>
            <a:solidFill>
              <a:srgbClr val="47A2DE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34" name="乘号 33"/>
            <p:cNvSpPr/>
            <p:nvPr/>
          </p:nvSpPr>
          <p:spPr>
            <a:xfrm>
              <a:off x="12659" y="9935"/>
              <a:ext cx="483" cy="480"/>
            </a:xfrm>
            <a:prstGeom prst="mathMultiply">
              <a:avLst/>
            </a:prstGeom>
            <a:solidFill>
              <a:srgbClr val="47A2D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13143" y="9907"/>
              <a:ext cx="425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Latin America Mean, 2023</a:t>
              </a:r>
              <a:endParaRPr lang="en-US" altLang="zh-CN" sz="900"/>
            </a:p>
          </p:txBody>
        </p:sp>
      </p:grpSp>
      <p:grpSp>
        <p:nvGrpSpPr>
          <p:cNvPr id="75" name="组合 74"/>
          <p:cNvGrpSpPr/>
          <p:nvPr/>
        </p:nvGrpSpPr>
        <p:grpSpPr>
          <a:xfrm>
            <a:off x="915121" y="5192056"/>
            <a:ext cx="6587657" cy="3602262"/>
            <a:chOff x="2562" y="774"/>
            <a:chExt cx="18443" cy="10085"/>
          </a:xfrm>
        </p:grpSpPr>
        <p:sp>
          <p:nvSpPr>
            <p:cNvPr id="66" name="矩形 65"/>
            <p:cNvSpPr/>
            <p:nvPr/>
          </p:nvSpPr>
          <p:spPr>
            <a:xfrm>
              <a:off x="2562" y="775"/>
              <a:ext cx="18361" cy="100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grpSp>
          <p:nvGrpSpPr>
            <p:cNvPr id="149" name="组合 148"/>
            <p:cNvGrpSpPr/>
            <p:nvPr/>
          </p:nvGrpSpPr>
          <p:grpSpPr>
            <a:xfrm>
              <a:off x="5545" y="9577"/>
              <a:ext cx="12840" cy="1259"/>
              <a:chOff x="5545" y="9577"/>
              <a:chExt cx="12840" cy="1113"/>
            </a:xfrm>
          </p:grpSpPr>
          <p:sp>
            <p:nvSpPr>
              <p:cNvPr id="4" name="文本框 3"/>
              <p:cNvSpPr txBox="1"/>
              <p:nvPr/>
            </p:nvSpPr>
            <p:spPr>
              <a:xfrm>
                <a:off x="14588" y="9577"/>
                <a:ext cx="3797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2016</a:t>
                </a:r>
                <a:endParaRPr lang="en-US" altLang="zh-CN" sz="1015"/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4172" y="9691"/>
                <a:ext cx="290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4172" y="10154"/>
                <a:ext cx="290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4588" y="10067"/>
                <a:ext cx="3797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2023</a:t>
                </a:r>
                <a:endParaRPr lang="en-US" altLang="zh-CN" sz="1015"/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5979" y="9577"/>
                <a:ext cx="3635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2016</a:t>
                </a:r>
                <a:endParaRPr lang="en-US" altLang="zh-CN" sz="1015"/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5545" y="9691"/>
                <a:ext cx="290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5545" y="10154"/>
                <a:ext cx="290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5979" y="10077"/>
                <a:ext cx="3635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2023</a:t>
                </a:r>
                <a:endParaRPr lang="en-US" altLang="zh-CN" sz="1015"/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9106" y="9577"/>
                <a:ext cx="5356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South&amp;South-east Asia, 2016</a:t>
                </a:r>
                <a:endParaRPr lang="en-US" altLang="zh-CN" sz="1015"/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8647" y="9691"/>
                <a:ext cx="290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8647" y="10154"/>
                <a:ext cx="290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9106" y="10064"/>
                <a:ext cx="5358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>
                    <a:sym typeface="+mn-ea"/>
                  </a:rPr>
                  <a:t>South&amp;South-east Asia, 2023</a:t>
                </a:r>
                <a:endParaRPr lang="en-US" altLang="zh-CN" sz="1015">
                  <a:sym typeface="+mn-ea"/>
                </a:endParaRPr>
              </a:p>
            </p:txBody>
          </p:sp>
        </p:grpSp>
        <p:grpSp>
          <p:nvGrpSpPr>
            <p:cNvPr id="145" name="组合 144"/>
            <p:cNvGrpSpPr/>
            <p:nvPr/>
          </p:nvGrpSpPr>
          <p:grpSpPr>
            <a:xfrm>
              <a:off x="2735" y="774"/>
              <a:ext cx="8414" cy="8385"/>
              <a:chOff x="1166" y="687"/>
              <a:chExt cx="8414" cy="8385"/>
            </a:xfrm>
          </p:grpSpPr>
          <p:grpSp>
            <p:nvGrpSpPr>
              <p:cNvPr id="99" name="组合 98"/>
              <p:cNvGrpSpPr/>
              <p:nvPr/>
            </p:nvGrpSpPr>
            <p:grpSpPr>
              <a:xfrm>
                <a:off x="1166" y="1626"/>
                <a:ext cx="8414" cy="7446"/>
                <a:chOff x="1166" y="1626"/>
                <a:chExt cx="8414" cy="7446"/>
              </a:xfrm>
            </p:grpSpPr>
            <p:pic>
              <p:nvPicPr>
                <p:cNvPr id="6" name="图片 5"/>
                <p:cNvPicPr/>
                <p:nvPr/>
              </p:nvPicPr>
              <p:blipFill>
                <a:blip r:embed="rId1"/>
                <a:srcRect r="50879"/>
                <a:stretch>
                  <a:fillRect/>
                </a:stretch>
              </p:blipFill>
              <p:spPr>
                <a:xfrm>
                  <a:off x="1477" y="1942"/>
                  <a:ext cx="8103" cy="6670"/>
                </a:xfrm>
                <a:prstGeom prst="rect">
                  <a:avLst/>
                </a:prstGeom>
              </p:spPr>
            </p:pic>
            <p:sp>
              <p:nvSpPr>
                <p:cNvPr id="7" name="矩形 6"/>
                <p:cNvSpPr/>
                <p:nvPr/>
              </p:nvSpPr>
              <p:spPr>
                <a:xfrm>
                  <a:off x="1584" y="2085"/>
                  <a:ext cx="544" cy="647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5542" y="4678"/>
                  <a:ext cx="544" cy="737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37" name="文本框 36"/>
                <p:cNvSpPr txBox="1"/>
                <p:nvPr/>
              </p:nvSpPr>
              <p:spPr>
                <a:xfrm>
                  <a:off x="5407" y="819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  <a:endParaRPr lang="en-US" altLang="zh-CN" sz="1125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8502" y="8196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100%</a:t>
                  </a:r>
                  <a:endParaRPr lang="en-US" altLang="zh-CN" sz="1125"/>
                </a:p>
              </p:txBody>
            </p:sp>
            <p:sp>
              <p:nvSpPr>
                <p:cNvPr id="39" name="文本框 38"/>
                <p:cNvSpPr txBox="1"/>
                <p:nvPr/>
              </p:nvSpPr>
              <p:spPr>
                <a:xfrm>
                  <a:off x="1850" y="8017"/>
                  <a:ext cx="252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  <a:endParaRPr lang="en-US" altLang="zh-CN" sz="1125"/>
                </a:p>
              </p:txBody>
            </p:sp>
            <p:sp>
              <p:nvSpPr>
                <p:cNvPr id="40" name="文本框 39"/>
                <p:cNvSpPr txBox="1"/>
                <p:nvPr/>
              </p:nvSpPr>
              <p:spPr>
                <a:xfrm>
                  <a:off x="1368" y="2050"/>
                  <a:ext cx="72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0.6</a:t>
                  </a:r>
                  <a:endParaRPr lang="en-US" altLang="zh-CN" sz="1125"/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1166" y="5259"/>
                  <a:ext cx="936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0.3</a:t>
                  </a:r>
                  <a:endParaRPr lang="en-US" altLang="zh-CN" sz="1125"/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585" y="1626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3" name="文本框 42"/>
                <p:cNvSpPr txBox="1"/>
                <p:nvPr/>
              </p:nvSpPr>
              <p:spPr>
                <a:xfrm>
                  <a:off x="6292" y="8636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probability(α)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7" name="文本框 56"/>
                <p:cNvSpPr txBox="1"/>
                <p:nvPr/>
              </p:nvSpPr>
              <p:spPr>
                <a:xfrm>
                  <a:off x="6457" y="4932"/>
                  <a:ext cx="3042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mean </a:t>
                  </a:r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β = 0.3</a:t>
                  </a:r>
                  <a:endPara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endParaRPr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645" y="687"/>
                    <a:ext cx="7243" cy="141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(a) Horizontal - Structural Zero</a:t>
                    </a:r>
                    <a:endPara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5" y="687"/>
                    <a:ext cx="7243" cy="1419"/>
                  </a:xfrm>
                  <a:prstGeom prst="rect">
                    <a:avLst/>
                  </a:prstGeom>
                  <a:blipFill rotWithShape="1">
                    <a:blip r:embed="rId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4" name="文本框 53"/>
              <p:cNvSpPr txBox="1"/>
              <p:nvPr/>
            </p:nvSpPr>
            <p:spPr>
              <a:xfrm>
                <a:off x="2199" y="6889"/>
                <a:ext cx="2265" cy="127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altLang="zh-CN" sz="790" i="1">
                    <a:solidFill>
                      <a:schemeClr val="tx1"/>
                    </a:solidFill>
                  </a:rPr>
                  <a:t>29% Uniformly open</a:t>
                </a:r>
                <a:endParaRPr lang="en-US" altLang="zh-CN" sz="790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6924" y="2113"/>
                <a:ext cx="2347" cy="1332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algn="r"/>
                <a:r>
                  <a:rPr lang="en-US" altLang="zh-CN" sz="790" i="1">
                    <a:solidFill>
                      <a:schemeClr val="tx1"/>
                    </a:solidFill>
                  </a:rPr>
                  <a:t>1% locked</a:t>
                </a:r>
                <a:endParaRPr lang="en-US" altLang="zh-CN" sz="790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3472" y="2112"/>
                <a:ext cx="2309" cy="93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45% Edge-constrianed</a:t>
                </a:r>
                <a:endParaRPr lang="en-US" altLang="zh-CN" sz="79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6944" y="5474"/>
                <a:ext cx="2327" cy="127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:r>
                  <a:rPr lang="en-US" altLang="zh-CN" sz="790" i="1">
                    <a:solidFill>
                      <a:schemeClr val="tx1"/>
                    </a:solidFill>
                  </a:rPr>
                  <a:t>25% Uniform constrianed landscape</a:t>
                </a:r>
                <a:endParaRPr lang="en-US" altLang="zh-CN" sz="790" i="1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10646" y="774"/>
              <a:ext cx="10359" cy="8317"/>
              <a:chOff x="10646" y="774"/>
              <a:chExt cx="10359" cy="8317"/>
            </a:xfrm>
          </p:grpSpPr>
          <p:pic>
            <p:nvPicPr>
              <p:cNvPr id="129" name="图片 128"/>
              <p:cNvPicPr/>
              <p:nvPr/>
            </p:nvPicPr>
            <p:blipFill>
              <a:blip r:embed="rId3"/>
              <a:srcRect l="50483" b="-95"/>
              <a:stretch>
                <a:fillRect/>
              </a:stretch>
            </p:blipFill>
            <p:spPr>
              <a:xfrm>
                <a:off x="11571" y="2030"/>
                <a:ext cx="8033" cy="6693"/>
              </a:xfrm>
              <a:prstGeom prst="rect">
                <a:avLst/>
              </a:prstGeom>
            </p:spPr>
          </p:pic>
          <p:sp>
            <p:nvSpPr>
              <p:cNvPr id="45" name="矩形 44"/>
              <p:cNvSpPr/>
              <p:nvPr/>
            </p:nvSpPr>
            <p:spPr>
              <a:xfrm rot="5400000">
                <a:off x="15482" y="4679"/>
                <a:ext cx="544" cy="754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" name="矩形 2"/>
              <p:cNvSpPr/>
              <p:nvPr/>
            </p:nvSpPr>
            <p:spPr>
              <a:xfrm>
                <a:off x="11545" y="1757"/>
                <a:ext cx="544" cy="647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0646" y="774"/>
                    <a:ext cx="10359" cy="141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(b) Horizontal - Binomial (Actual Construction)</a:t>
                    </a:r>
                    <a:endPara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46" y="774"/>
                    <a:ext cx="10359" cy="1419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0" name="组合 29"/>
              <p:cNvGrpSpPr/>
              <p:nvPr/>
            </p:nvGrpSpPr>
            <p:grpSpPr>
              <a:xfrm>
                <a:off x="11207" y="1844"/>
                <a:ext cx="8319" cy="7247"/>
                <a:chOff x="9406" y="1694"/>
                <a:chExt cx="8319" cy="7247"/>
              </a:xfrm>
            </p:grpSpPr>
            <p:sp>
              <p:nvSpPr>
                <p:cNvPr id="46" name="文本框 45"/>
                <p:cNvSpPr txBox="1"/>
                <p:nvPr/>
              </p:nvSpPr>
              <p:spPr>
                <a:xfrm>
                  <a:off x="16838" y="8048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70%</a:t>
                  </a:r>
                  <a:endParaRPr lang="en-US" altLang="zh-CN" sz="1125"/>
                </a:p>
              </p:txBody>
            </p:sp>
            <p:sp>
              <p:nvSpPr>
                <p:cNvPr id="47" name="文本框 46"/>
                <p:cNvSpPr txBox="1"/>
                <p:nvPr/>
              </p:nvSpPr>
              <p:spPr>
                <a:xfrm>
                  <a:off x="10288" y="8086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20%</a:t>
                  </a:r>
                  <a:endParaRPr lang="en-US" altLang="zh-CN" sz="1125"/>
                </a:p>
              </p:txBody>
            </p:sp>
            <p:sp>
              <p:nvSpPr>
                <p:cNvPr id="48" name="文本框 47"/>
                <p:cNvSpPr txBox="1"/>
                <p:nvPr/>
              </p:nvSpPr>
              <p:spPr>
                <a:xfrm>
                  <a:off x="9636" y="7086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  <a:endParaRPr lang="en-US" altLang="zh-CN" sz="1125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9406" y="4656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0.2</a:t>
                  </a:r>
                  <a:endParaRPr lang="en-US" altLang="zh-CN" sz="1125"/>
                </a:p>
              </p:txBody>
            </p:sp>
            <p:sp>
              <p:nvSpPr>
                <p:cNvPr id="50" name="文本框 49"/>
                <p:cNvSpPr txBox="1"/>
                <p:nvPr/>
              </p:nvSpPr>
              <p:spPr>
                <a:xfrm>
                  <a:off x="9746" y="1694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1" name="文本框 50"/>
                <p:cNvSpPr txBox="1"/>
                <p:nvPr/>
              </p:nvSpPr>
              <p:spPr>
                <a:xfrm>
                  <a:off x="14839" y="8428"/>
                  <a:ext cx="2741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probability(κ)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3" name="文本框 52"/>
                <p:cNvSpPr txBox="1"/>
                <p:nvPr/>
              </p:nvSpPr>
              <p:spPr>
                <a:xfrm>
                  <a:off x="14149" y="8060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  <a:endParaRPr lang="en-US" altLang="zh-CN" sz="1125"/>
                </a:p>
              </p:txBody>
            </p:sp>
            <p:sp>
              <p:nvSpPr>
                <p:cNvPr id="55" name="文本框 54"/>
                <p:cNvSpPr txBox="1"/>
                <p:nvPr/>
              </p:nvSpPr>
              <p:spPr>
                <a:xfrm>
                  <a:off x="9439" y="2187"/>
                  <a:ext cx="76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0.4</a:t>
                  </a:r>
                  <a:endParaRPr lang="en-US" altLang="zh-CN" sz="1125"/>
                </a:p>
              </p:txBody>
            </p:sp>
          </p:grpSp>
          <p:sp>
            <p:nvSpPr>
              <p:cNvPr id="65" name="文本框 64"/>
              <p:cNvSpPr txBox="1"/>
              <p:nvPr/>
            </p:nvSpPr>
            <p:spPr>
              <a:xfrm>
                <a:off x="12166" y="7364"/>
                <a:ext cx="2971" cy="747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30% Uniform sparse construction</a:t>
                </a:r>
                <a:endParaRPr lang="en-US" altLang="zh-CN" sz="79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67" name="文本框 66"/>
              <p:cNvSpPr txBox="1"/>
              <p:nvPr/>
            </p:nvSpPr>
            <p:spPr>
              <a:xfrm>
                <a:off x="16296" y="7316"/>
                <a:ext cx="2990" cy="93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18% Uniform dense construction</a:t>
                </a:r>
                <a:endParaRPr lang="en-US" altLang="zh-CN" sz="79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68" name="文本框 67"/>
              <p:cNvSpPr txBox="1"/>
              <p:nvPr/>
            </p:nvSpPr>
            <p:spPr>
              <a:xfrm>
                <a:off x="17437" y="2212"/>
                <a:ext cx="1850" cy="195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10% Dense core, sparse periphery</a:t>
                </a:r>
                <a:endParaRPr lang="en-US" altLang="zh-CN" sz="79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143" name="文本框 142"/>
              <p:cNvSpPr txBox="1"/>
              <p:nvPr/>
            </p:nvSpPr>
            <p:spPr>
              <a:xfrm>
                <a:off x="12167" y="2212"/>
                <a:ext cx="2759" cy="746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43% Small Core, sparse periphery</a:t>
                </a:r>
                <a:endParaRPr lang="en-US" altLang="zh-CN" sz="79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148" name="文本框 147"/>
              <p:cNvSpPr txBox="1"/>
              <p:nvPr/>
            </p:nvSpPr>
            <p:spPr>
              <a:xfrm>
                <a:off x="17418" y="5362"/>
                <a:ext cx="1936" cy="11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0.09</a:t>
                </a:r>
                <a:endParaRPr lang="en-US" altLang="zh-CN" sz="1015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p:grpSp>
      </p:grpSp>
      <p:cxnSp>
        <p:nvCxnSpPr>
          <p:cNvPr id="33" name="直接连接符 32"/>
          <p:cNvCxnSpPr/>
          <p:nvPr/>
        </p:nvCxnSpPr>
        <p:spPr>
          <a:xfrm>
            <a:off x="368977" y="4559115"/>
            <a:ext cx="761529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97" name="组合 96"/>
          <p:cNvGrpSpPr/>
          <p:nvPr/>
        </p:nvGrpSpPr>
        <p:grpSpPr>
          <a:xfrm>
            <a:off x="8342890" y="4247645"/>
            <a:ext cx="1544847" cy="513639"/>
            <a:chOff x="2166" y="1724"/>
            <a:chExt cx="19159" cy="6372"/>
          </a:xfrm>
        </p:grpSpPr>
        <p:cxnSp>
          <p:nvCxnSpPr>
            <p:cNvPr id="70" name="直接箭头连接符 69"/>
            <p:cNvCxnSpPr/>
            <p:nvPr/>
          </p:nvCxnSpPr>
          <p:spPr>
            <a:xfrm flipV="1">
              <a:off x="2166" y="1724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2" name="直接箭头连接符 91"/>
            <p:cNvCxnSpPr/>
            <p:nvPr/>
          </p:nvCxnSpPr>
          <p:spPr>
            <a:xfrm flipV="1">
              <a:off x="2166" y="8047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5" name="直接箭头连接符 94"/>
            <p:cNvCxnSpPr/>
            <p:nvPr/>
          </p:nvCxnSpPr>
          <p:spPr>
            <a:xfrm flipV="1">
              <a:off x="13581" y="1769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6" name="直接箭头连接符 95"/>
            <p:cNvCxnSpPr/>
            <p:nvPr/>
          </p:nvCxnSpPr>
          <p:spPr>
            <a:xfrm flipV="1">
              <a:off x="13581" y="8092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124" name="组合 123"/>
          <p:cNvGrpSpPr/>
          <p:nvPr/>
        </p:nvGrpSpPr>
        <p:grpSpPr>
          <a:xfrm>
            <a:off x="67509" y="10808513"/>
            <a:ext cx="8195727" cy="1489126"/>
            <a:chOff x="186" y="3371"/>
            <a:chExt cx="22945" cy="4169"/>
          </a:xfrm>
        </p:grpSpPr>
        <p:sp>
          <p:nvSpPr>
            <p:cNvPr id="5" name="文本框 4"/>
            <p:cNvSpPr txBox="1"/>
            <p:nvPr/>
          </p:nvSpPr>
          <p:spPr>
            <a:xfrm>
              <a:off x="186" y="5928"/>
              <a:ext cx="2265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790" i="1">
                  <a:solidFill>
                    <a:schemeClr val="tx1"/>
                  </a:solidFill>
                </a:rPr>
                <a:t>Low-Constraint, Flat-Gradient</a:t>
              </a:r>
              <a:endParaRPr lang="en-US" altLang="zh-CN" sz="790" i="1">
                <a:solidFill>
                  <a:schemeClr val="tx1"/>
                </a:solidFill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9533" y="4232"/>
              <a:ext cx="2346" cy="679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algn="l"/>
              <a:r>
                <a:rPr lang="en-US" altLang="zh-CN" sz="790" i="1">
                  <a:solidFill>
                    <a:schemeClr val="tx1"/>
                  </a:solidFill>
                </a:rPr>
                <a:t>High-Constraint, Steep-Gradient</a:t>
              </a:r>
              <a:endParaRPr lang="en-US" altLang="zh-CN" sz="790" i="1">
                <a:solidFill>
                  <a:schemeClr val="tx1"/>
                </a:solidFill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200" y="4186"/>
              <a:ext cx="2211" cy="161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Low-Constraint,</a:t>
              </a:r>
              <a:endParaRPr lang="en-US" altLang="zh-CN" sz="790" i="1">
                <a:solidFill>
                  <a:schemeClr val="tx1"/>
                </a:solidFill>
                <a:sym typeface="+mn-ea"/>
              </a:endParaRPr>
            </a:p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Steep-Gradient</a:t>
              </a:r>
              <a:endParaRPr lang="en-US" altLang="zh-CN" sz="790" i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59" name="文本框 58"/>
            <p:cNvSpPr txBox="1"/>
            <p:nvPr/>
          </p:nvSpPr>
          <p:spPr>
            <a:xfrm>
              <a:off x="9552" y="5928"/>
              <a:ext cx="2327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sz="790" i="1">
                  <a:solidFill>
                    <a:schemeClr val="tx1"/>
                  </a:solidFill>
                </a:rPr>
                <a:t>High-Constraint, Flat-Gradient</a:t>
              </a:r>
              <a:endParaRPr lang="en-US" altLang="zh-CN" sz="790" i="1">
                <a:solidFill>
                  <a:schemeClr val="tx1"/>
                </a:solidFill>
              </a:endParaRPr>
            </a:p>
          </p:txBody>
        </p:sp>
        <p:sp>
          <p:nvSpPr>
            <p:cNvPr id="63" name="文本框 62"/>
            <p:cNvSpPr txBox="1"/>
            <p:nvPr/>
          </p:nvSpPr>
          <p:spPr>
            <a:xfrm>
              <a:off x="11568" y="4232"/>
              <a:ext cx="2211" cy="746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Low-Intensity, Flat-Gradient</a:t>
              </a:r>
              <a:endParaRPr lang="en-US" altLang="zh-CN" sz="790" i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1568" y="5928"/>
              <a:ext cx="2211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Low-Intensity, Steep-Gradient</a:t>
              </a:r>
              <a:endParaRPr lang="en-US" altLang="zh-CN" sz="790" i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20920" y="4182"/>
              <a:ext cx="2211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High-Intensity, Flat-Gradient</a:t>
              </a:r>
              <a:endParaRPr lang="en-US" altLang="zh-CN" sz="790" i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98" name="文本框 97"/>
            <p:cNvSpPr txBox="1"/>
            <p:nvPr/>
          </p:nvSpPr>
          <p:spPr>
            <a:xfrm>
              <a:off x="20874" y="5928"/>
              <a:ext cx="2211" cy="161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High-Intensity, Steep-Gradient</a:t>
              </a:r>
              <a:endParaRPr lang="en-US" altLang="zh-CN" sz="790" i="1">
                <a:solidFill>
                  <a:schemeClr val="tx1"/>
                </a:solidFill>
                <a:sym typeface="+mn-ea"/>
              </a:endParaRPr>
            </a:p>
          </p:txBody>
        </p:sp>
        <p:grpSp>
          <p:nvGrpSpPr>
            <p:cNvPr id="100" name="组合 99"/>
            <p:cNvGrpSpPr/>
            <p:nvPr/>
          </p:nvGrpSpPr>
          <p:grpSpPr>
            <a:xfrm>
              <a:off x="1395" y="6639"/>
              <a:ext cx="831" cy="826"/>
              <a:chOff x="493" y="2941"/>
              <a:chExt cx="4304" cy="4270"/>
            </a:xfrm>
          </p:grpSpPr>
          <p:pic>
            <p:nvPicPr>
              <p:cNvPr id="101" name="图片 100"/>
              <p:cNvPicPr>
                <a:picLocks noChangeAspect="1"/>
              </p:cNvPicPr>
              <p:nvPr/>
            </p:nvPicPr>
            <p:blipFill>
              <a:blip r:embed="rId5">
                <a:grayscl/>
              </a:blip>
              <a:stretch>
                <a:fillRect/>
              </a:stretch>
            </p:blipFill>
            <p:spPr>
              <a:xfrm>
                <a:off x="493" y="2941"/>
                <a:ext cx="4304" cy="4271"/>
              </a:xfrm>
              <a:prstGeom prst="rect">
                <a:avLst/>
              </a:prstGeom>
            </p:spPr>
          </p:pic>
          <p:sp>
            <p:nvSpPr>
              <p:cNvPr id="102" name="椭圆 101"/>
              <p:cNvSpPr/>
              <p:nvPr/>
            </p:nvSpPr>
            <p:spPr>
              <a:xfrm>
                <a:off x="59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3" name="组合 102"/>
            <p:cNvGrpSpPr/>
            <p:nvPr/>
          </p:nvGrpSpPr>
          <p:grpSpPr>
            <a:xfrm>
              <a:off x="1365" y="3374"/>
              <a:ext cx="831" cy="826"/>
              <a:chOff x="4929" y="2941"/>
              <a:chExt cx="4302" cy="4270"/>
            </a:xfrm>
          </p:grpSpPr>
          <p:pic>
            <p:nvPicPr>
              <p:cNvPr id="104" name="图片 103"/>
              <p:cNvPicPr>
                <a:picLocks noChangeAspect="1"/>
              </p:cNvPicPr>
              <p:nvPr/>
            </p:nvPicPr>
            <p:blipFill>
              <a:blip r:embed="rId6">
                <a:grayscl/>
              </a:blip>
              <a:stretch>
                <a:fillRect/>
              </a:stretch>
            </p:blipFill>
            <p:spPr>
              <a:xfrm>
                <a:off x="492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05" name="椭圆 104"/>
              <p:cNvSpPr/>
              <p:nvPr/>
            </p:nvSpPr>
            <p:spPr>
              <a:xfrm>
                <a:off x="502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6" name="组合 105"/>
            <p:cNvGrpSpPr/>
            <p:nvPr/>
          </p:nvGrpSpPr>
          <p:grpSpPr>
            <a:xfrm>
              <a:off x="9591" y="6639"/>
              <a:ext cx="831" cy="826"/>
              <a:chOff x="9364" y="2941"/>
              <a:chExt cx="4302" cy="4270"/>
            </a:xfrm>
          </p:grpSpPr>
          <p:pic>
            <p:nvPicPr>
              <p:cNvPr id="107" name="图片 106"/>
              <p:cNvPicPr>
                <a:picLocks noChangeAspect="1"/>
              </p:cNvPicPr>
              <p:nvPr/>
            </p:nvPicPr>
            <p:blipFill>
              <a:blip r:embed="rId7">
                <a:grayscl/>
              </a:blip>
              <a:stretch>
                <a:fillRect/>
              </a:stretch>
            </p:blipFill>
            <p:spPr>
              <a:xfrm>
                <a:off x="9364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08" name="椭圆 107"/>
              <p:cNvSpPr/>
              <p:nvPr/>
            </p:nvSpPr>
            <p:spPr>
              <a:xfrm>
                <a:off x="945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9" name="组合 108"/>
            <p:cNvGrpSpPr/>
            <p:nvPr/>
          </p:nvGrpSpPr>
          <p:grpSpPr>
            <a:xfrm>
              <a:off x="9594" y="3374"/>
              <a:ext cx="831" cy="826"/>
              <a:chOff x="13799" y="2941"/>
              <a:chExt cx="4302" cy="4270"/>
            </a:xfrm>
          </p:grpSpPr>
          <p:pic>
            <p:nvPicPr>
              <p:cNvPr id="110" name="图片 109"/>
              <p:cNvPicPr>
                <a:picLocks noChangeAspect="1"/>
              </p:cNvPicPr>
              <p:nvPr/>
            </p:nvPicPr>
            <p:blipFill>
              <a:blip r:embed="rId8">
                <a:grayscl/>
              </a:blip>
              <a:stretch>
                <a:fillRect/>
              </a:stretch>
            </p:blipFill>
            <p:spPr>
              <a:xfrm>
                <a:off x="1379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11" name="椭圆 110"/>
              <p:cNvSpPr/>
              <p:nvPr/>
            </p:nvSpPr>
            <p:spPr>
              <a:xfrm>
                <a:off x="1388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2" name="组合 111"/>
            <p:cNvGrpSpPr/>
            <p:nvPr/>
          </p:nvGrpSpPr>
          <p:grpSpPr>
            <a:xfrm>
              <a:off x="12704" y="3371"/>
              <a:ext cx="848" cy="829"/>
              <a:chOff x="1057" y="2049"/>
              <a:chExt cx="4212" cy="4114"/>
            </a:xfrm>
          </p:grpSpPr>
          <p:pic>
            <p:nvPicPr>
              <p:cNvPr id="113" name="图片 112"/>
              <p:cNvPicPr>
                <a:picLocks noChangeAspect="1"/>
              </p:cNvPicPr>
              <p:nvPr/>
            </p:nvPicPr>
            <p:blipFill>
              <a:blip r:embed="rId9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57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14" name="椭圆 113"/>
              <p:cNvSpPr/>
              <p:nvPr/>
            </p:nvSpPr>
            <p:spPr>
              <a:xfrm>
                <a:off x="1280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5" name="组合 114"/>
            <p:cNvGrpSpPr/>
            <p:nvPr/>
          </p:nvGrpSpPr>
          <p:grpSpPr>
            <a:xfrm>
              <a:off x="12734" y="6636"/>
              <a:ext cx="848" cy="829"/>
              <a:chOff x="5571" y="2049"/>
              <a:chExt cx="4212" cy="4114"/>
            </a:xfrm>
          </p:grpSpPr>
          <p:pic>
            <p:nvPicPr>
              <p:cNvPr id="116" name="图片 115"/>
              <p:cNvPicPr>
                <a:picLocks noChangeAspect="1"/>
              </p:cNvPicPr>
              <p:nvPr/>
            </p:nvPicPr>
            <p:blipFill>
              <a:blip r:embed="rId10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5571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17" name="椭圆 116"/>
              <p:cNvSpPr/>
              <p:nvPr/>
            </p:nvSpPr>
            <p:spPr>
              <a:xfrm>
                <a:off x="5813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8" name="组合 117"/>
            <p:cNvGrpSpPr/>
            <p:nvPr/>
          </p:nvGrpSpPr>
          <p:grpSpPr>
            <a:xfrm>
              <a:off x="21052" y="3371"/>
              <a:ext cx="848" cy="829"/>
              <a:chOff x="10084" y="2049"/>
              <a:chExt cx="4212" cy="4114"/>
            </a:xfrm>
          </p:grpSpPr>
          <p:pic>
            <p:nvPicPr>
              <p:cNvPr id="119" name="图片 118"/>
              <p:cNvPicPr>
                <a:picLocks noChangeAspect="1"/>
              </p:cNvPicPr>
              <p:nvPr/>
            </p:nvPicPr>
            <p:blipFill>
              <a:blip r:embed="rId11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084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20" name="椭圆 119"/>
              <p:cNvSpPr/>
              <p:nvPr/>
            </p:nvSpPr>
            <p:spPr>
              <a:xfrm>
                <a:off x="10347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21" name="组合 120"/>
            <p:cNvGrpSpPr/>
            <p:nvPr/>
          </p:nvGrpSpPr>
          <p:grpSpPr>
            <a:xfrm>
              <a:off x="21000" y="6668"/>
              <a:ext cx="848" cy="828"/>
              <a:chOff x="22212" y="8641"/>
              <a:chExt cx="848" cy="828"/>
            </a:xfrm>
          </p:grpSpPr>
          <p:pic>
            <p:nvPicPr>
              <p:cNvPr id="122" name="图片 121"/>
              <p:cNvPicPr>
                <a:picLocks noChangeAspect="1"/>
              </p:cNvPicPr>
              <p:nvPr/>
            </p:nvPicPr>
            <p:blipFill>
              <a:blip r:embed="rId12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22212" y="8641"/>
                <a:ext cx="848" cy="829"/>
              </a:xfrm>
              <a:prstGeom prst="rect">
                <a:avLst/>
              </a:prstGeom>
            </p:spPr>
          </p:pic>
          <p:sp>
            <p:nvSpPr>
              <p:cNvPr id="123" name="椭圆 122"/>
              <p:cNvSpPr/>
              <p:nvPr/>
            </p:nvSpPr>
            <p:spPr>
              <a:xfrm>
                <a:off x="22232" y="8657"/>
                <a:ext cx="778" cy="778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</p:grpSp>
      <p:sp>
        <p:nvSpPr>
          <p:cNvPr id="71" name="文本框 70"/>
          <p:cNvSpPr txBox="1"/>
          <p:nvPr/>
        </p:nvSpPr>
        <p:spPr>
          <a:xfrm>
            <a:off x="1394113" y="4251217"/>
            <a:ext cx="5580381" cy="2990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en-US" altLang="zh-CN" sz="1350" b="1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Horizontal Construction Params</a:t>
            </a:r>
            <a:endParaRPr lang="en-US" altLang="zh-CN" sz="1350" b="1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405411" y="5311357"/>
            <a:ext cx="7552428" cy="3625837"/>
            <a:chOff x="1135" y="1090"/>
            <a:chExt cx="21144" cy="10151"/>
          </a:xfrm>
        </p:grpSpPr>
        <p:sp>
          <p:nvSpPr>
            <p:cNvPr id="73" name="矩形 72"/>
            <p:cNvSpPr/>
            <p:nvPr/>
          </p:nvSpPr>
          <p:spPr>
            <a:xfrm>
              <a:off x="1136" y="1090"/>
              <a:ext cx="21143" cy="98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3" name="图片 2"/>
            <p:cNvPicPr/>
            <p:nvPr/>
          </p:nvPicPr>
          <p:blipFill>
            <a:blip r:embed="rId1"/>
            <a:srcRect t="6059" r="30212" b="5321"/>
            <a:stretch>
              <a:fillRect/>
            </a:stretch>
          </p:blipFill>
          <p:spPr>
            <a:xfrm>
              <a:off x="10877" y="1882"/>
              <a:ext cx="9845" cy="6245"/>
            </a:xfrm>
            <a:prstGeom prst="rect">
              <a:avLst/>
            </a:prstGeom>
          </p:spPr>
        </p:pic>
        <p:pic>
          <p:nvPicPr>
            <p:cNvPr id="2" name="图片 1"/>
            <p:cNvPicPr/>
            <p:nvPr/>
          </p:nvPicPr>
          <p:blipFill>
            <a:blip r:embed="rId2"/>
            <a:srcRect t="6058" r="32331" b="5235"/>
            <a:stretch>
              <a:fillRect/>
            </a:stretch>
          </p:blipFill>
          <p:spPr>
            <a:xfrm>
              <a:off x="1135" y="1950"/>
              <a:ext cx="9269" cy="6075"/>
            </a:xfrm>
            <a:prstGeom prst="rect">
              <a:avLst/>
            </a:prstGeom>
          </p:spPr>
        </p:pic>
        <p:sp>
          <p:nvSpPr>
            <p:cNvPr id="55" name="文本框 54"/>
            <p:cNvSpPr txBox="1"/>
            <p:nvPr/>
          </p:nvSpPr>
          <p:spPr>
            <a:xfrm>
              <a:off x="12366" y="7966"/>
              <a:ext cx="1765" cy="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Africa</a:t>
              </a:r>
              <a:endParaRPr lang="en-US" altLang="zh-CN" sz="1015"/>
            </a:p>
          </p:txBody>
        </p:sp>
        <p:sp>
          <p:nvSpPr>
            <p:cNvPr id="56" name="文本框 55"/>
            <p:cNvSpPr txBox="1"/>
            <p:nvPr/>
          </p:nvSpPr>
          <p:spPr>
            <a:xfrm>
              <a:off x="14699" y="7967"/>
              <a:ext cx="2818" cy="15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South &amp; Southeast Asia</a:t>
              </a:r>
              <a:endParaRPr lang="en-US" altLang="zh-CN" sz="1015"/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17864" y="7967"/>
              <a:ext cx="1994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>
                  <a:ea typeface="宋体" panose="02010600030101010101" pitchFamily="2" charset="-122"/>
                </a:rPr>
                <a:t>Latin</a:t>
              </a:r>
              <a:endParaRPr lang="en-US" altLang="zh-CN" sz="1015">
                <a:ea typeface="宋体" panose="02010600030101010101" pitchFamily="2" charset="-122"/>
              </a:endParaRPr>
            </a:p>
            <a:p>
              <a:pPr algn="ctr"/>
              <a:r>
                <a:rPr lang="en-US" altLang="zh-CN" sz="1015">
                  <a:ea typeface="宋体" panose="02010600030101010101" pitchFamily="2" charset="-122"/>
                </a:rPr>
                <a:t>America</a:t>
              </a:r>
              <a:endParaRPr lang="en-US" altLang="zh-CN" sz="1015">
                <a:ea typeface="宋体" panose="02010600030101010101" pitchFamily="2" charset="-122"/>
              </a:endParaRP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2219" y="1882"/>
              <a:ext cx="1028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  <a:endParaRPr lang="en-US" altLang="zh-CN" sz="790"/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3293" y="1882"/>
              <a:ext cx="1028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  <a:endParaRPr lang="en-US" altLang="zh-CN" sz="790"/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4971" y="1882"/>
              <a:ext cx="1028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  <a:endParaRPr lang="en-US" altLang="zh-CN" sz="790"/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6045" y="1882"/>
              <a:ext cx="1028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  <a:endParaRPr lang="en-US" altLang="zh-CN" sz="790"/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7823" y="1882"/>
              <a:ext cx="1028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  <a:endParaRPr lang="en-US" altLang="zh-CN" sz="790"/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8897" y="1882"/>
              <a:ext cx="1028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  <a:endParaRPr lang="en-US" altLang="zh-CN" sz="790"/>
            </a:p>
          </p:txBody>
        </p:sp>
        <p:sp>
          <p:nvSpPr>
            <p:cNvPr id="14" name="矩形 13"/>
            <p:cNvSpPr/>
            <p:nvPr/>
          </p:nvSpPr>
          <p:spPr>
            <a:xfrm>
              <a:off x="2194" y="9790"/>
              <a:ext cx="737" cy="442"/>
            </a:xfrm>
            <a:prstGeom prst="rect">
              <a:avLst/>
            </a:prstGeom>
            <a:solidFill>
              <a:srgbClr val="9EDAE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3056" y="9725"/>
              <a:ext cx="3409" cy="9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Developable</a:t>
              </a:r>
              <a:endParaRPr lang="en-US" altLang="zh-CN" sz="845"/>
            </a:p>
          </p:txBody>
        </p:sp>
        <p:sp>
          <p:nvSpPr>
            <p:cNvPr id="16" name="矩形 15"/>
            <p:cNvSpPr/>
            <p:nvPr/>
          </p:nvSpPr>
          <p:spPr>
            <a:xfrm>
              <a:off x="2194" y="10340"/>
              <a:ext cx="737" cy="442"/>
            </a:xfrm>
            <a:prstGeom prst="rect">
              <a:avLst/>
            </a:prstGeom>
            <a:solidFill>
              <a:srgbClr val="F7B6D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3056" y="10275"/>
              <a:ext cx="3690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Constrianed</a:t>
              </a:r>
              <a:endParaRPr lang="en-US" altLang="zh-CN" sz="845"/>
            </a:p>
          </p:txBody>
        </p:sp>
        <p:sp>
          <p:nvSpPr>
            <p:cNvPr id="18" name="矩形 17"/>
            <p:cNvSpPr/>
            <p:nvPr/>
          </p:nvSpPr>
          <p:spPr>
            <a:xfrm>
              <a:off x="6868" y="9769"/>
              <a:ext cx="737" cy="442"/>
            </a:xfrm>
            <a:prstGeom prst="rect">
              <a:avLst/>
            </a:prstGeom>
            <a:solidFill>
              <a:srgbClr val="D6272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9" name="矩形 18"/>
            <p:cNvSpPr/>
            <p:nvPr/>
          </p:nvSpPr>
          <p:spPr>
            <a:xfrm>
              <a:off x="6868" y="10319"/>
              <a:ext cx="737" cy="442"/>
            </a:xfrm>
            <a:prstGeom prst="rect">
              <a:avLst/>
            </a:prstGeom>
            <a:solidFill>
              <a:srgbClr val="1F77B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7721" y="9747"/>
              <a:ext cx="4039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Core-Open, Edge-Locked</a:t>
              </a:r>
              <a:endParaRPr lang="en-US" altLang="zh-CN" sz="845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721" y="10254"/>
              <a:ext cx="4039" cy="9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Core-Limited, Edge-Locked</a:t>
              </a:r>
              <a:endParaRPr lang="en-US" altLang="zh-CN" sz="845"/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4076" y="9218"/>
              <a:ext cx="56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α-β Categories</a:t>
              </a:r>
              <a:endParaRPr lang="en-US" altLang="zh-CN" sz="845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136" y="1090"/>
              <a:ext cx="9268" cy="8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/>
                <a:t>(a) Horizontal - Structural Zero Part</a:t>
              </a:r>
              <a:endParaRPr lang="en-US" altLang="zh-CN" sz="1350"/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10675" y="1090"/>
              <a:ext cx="10867" cy="14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/>
                <a:t>(b) Horizontal - Binomial (Real Construction) Part</a:t>
              </a:r>
              <a:endParaRPr lang="en-US" altLang="zh-CN" sz="1350"/>
            </a:p>
          </p:txBody>
        </p:sp>
        <p:sp>
          <p:nvSpPr>
            <p:cNvPr id="46" name="矩形 45"/>
            <p:cNvSpPr/>
            <p:nvPr/>
          </p:nvSpPr>
          <p:spPr>
            <a:xfrm>
              <a:off x="12681" y="9790"/>
              <a:ext cx="737" cy="442"/>
            </a:xfrm>
            <a:prstGeom prst="rect">
              <a:avLst/>
            </a:prstGeom>
            <a:solidFill>
              <a:srgbClr val="B3B3B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3543" y="9725"/>
              <a:ext cx="56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Sparse</a:t>
              </a:r>
              <a:endParaRPr lang="en-US" altLang="zh-CN" sz="845"/>
            </a:p>
          </p:txBody>
        </p:sp>
        <p:sp>
          <p:nvSpPr>
            <p:cNvPr id="48" name="矩形 47"/>
            <p:cNvSpPr/>
            <p:nvPr/>
          </p:nvSpPr>
          <p:spPr>
            <a:xfrm>
              <a:off x="12681" y="10340"/>
              <a:ext cx="737" cy="442"/>
            </a:xfrm>
            <a:prstGeom prst="rect">
              <a:avLst/>
            </a:prstGeom>
            <a:solidFill>
              <a:srgbClr val="FFD92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3543" y="10296"/>
              <a:ext cx="5626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Dense</a:t>
              </a:r>
              <a:endParaRPr lang="en-US" altLang="zh-CN" sz="845"/>
            </a:p>
          </p:txBody>
        </p:sp>
        <p:sp>
          <p:nvSpPr>
            <p:cNvPr id="50" name="矩形 49"/>
            <p:cNvSpPr/>
            <p:nvPr/>
          </p:nvSpPr>
          <p:spPr>
            <a:xfrm>
              <a:off x="16233" y="9769"/>
              <a:ext cx="737" cy="442"/>
            </a:xfrm>
            <a:prstGeom prst="rect">
              <a:avLst/>
            </a:prstGeom>
            <a:solidFill>
              <a:srgbClr val="8DA0C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51" name="矩形 50"/>
            <p:cNvSpPr/>
            <p:nvPr/>
          </p:nvSpPr>
          <p:spPr>
            <a:xfrm>
              <a:off x="16233" y="10319"/>
              <a:ext cx="737" cy="442"/>
            </a:xfrm>
            <a:prstGeom prst="rect">
              <a:avLst/>
            </a:prstGeom>
            <a:solidFill>
              <a:srgbClr val="66C2A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7086" y="9747"/>
              <a:ext cx="4455" cy="9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Small-Core, Sparse-Periphery</a:t>
              </a:r>
              <a:endParaRPr lang="en-US" altLang="zh-CN" sz="845"/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7086" y="10254"/>
              <a:ext cx="4456" cy="9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Dense-Core, Sparse-Periphery</a:t>
              </a:r>
              <a:endParaRPr lang="en-US" altLang="zh-CN" sz="845"/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4207" y="9154"/>
              <a:ext cx="56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κ-δ Categories</a:t>
              </a:r>
              <a:endParaRPr lang="en-US" altLang="zh-CN" sz="845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70" name="组合 69"/>
            <p:cNvGrpSpPr/>
            <p:nvPr/>
          </p:nvGrpSpPr>
          <p:grpSpPr>
            <a:xfrm>
              <a:off x="2376" y="1900"/>
              <a:ext cx="7636" cy="7632"/>
              <a:chOff x="3143" y="2576"/>
              <a:chExt cx="6906" cy="6901"/>
            </a:xfrm>
          </p:grpSpPr>
          <p:sp>
            <p:nvSpPr>
              <p:cNvPr id="10" name="文本框 9"/>
              <p:cNvSpPr txBox="1"/>
              <p:nvPr/>
            </p:nvSpPr>
            <p:spPr>
              <a:xfrm>
                <a:off x="3279" y="8057"/>
                <a:ext cx="1602" cy="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Africa</a:t>
                </a:r>
                <a:endParaRPr lang="en-US" altLang="zh-CN" sz="1015"/>
              </a:p>
            </p:txBody>
          </p:sp>
          <p:sp>
            <p:nvSpPr>
              <p:cNvPr id="11" name="文本框 10"/>
              <p:cNvSpPr txBox="1"/>
              <p:nvPr/>
            </p:nvSpPr>
            <p:spPr>
              <a:xfrm>
                <a:off x="5397" y="8058"/>
                <a:ext cx="2558" cy="14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South &amp; Southeast Asia</a:t>
                </a:r>
                <a:endParaRPr lang="en-US" altLang="zh-CN" sz="1015"/>
              </a:p>
            </p:txBody>
          </p:sp>
          <p:sp>
            <p:nvSpPr>
              <p:cNvPr id="12" name="文本框 11"/>
              <p:cNvSpPr txBox="1"/>
              <p:nvPr/>
            </p:nvSpPr>
            <p:spPr>
              <a:xfrm>
                <a:off x="8099" y="8058"/>
                <a:ext cx="1810" cy="11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Latin</a:t>
                </a:r>
                <a:endParaRPr lang="en-US" altLang="zh-CN" sz="1015">
                  <a:ea typeface="宋体" panose="02010600030101010101" pitchFamily="2" charset="-122"/>
                </a:endParaRPr>
              </a:p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America</a:t>
                </a:r>
                <a:endParaRPr lang="en-US" altLang="zh-CN" sz="1015">
                  <a:ea typeface="宋体" panose="02010600030101010101" pitchFamily="2" charset="-122"/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3143" y="2576"/>
                <a:ext cx="933" cy="9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  <a:endParaRPr lang="en-US" altLang="zh-CN" sz="790"/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4118" y="2576"/>
                <a:ext cx="933" cy="9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  <a:endParaRPr lang="en-US" altLang="zh-CN" sz="790"/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5642" y="2576"/>
                <a:ext cx="933" cy="9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  <a:endParaRPr lang="en-US" altLang="zh-CN" sz="790"/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6617" y="2576"/>
                <a:ext cx="933" cy="9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  <a:endParaRPr lang="en-US" altLang="zh-CN" sz="790"/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8141" y="2576"/>
                <a:ext cx="933" cy="9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  <a:endParaRPr lang="en-US" altLang="zh-CN" sz="790"/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9116" y="2576"/>
                <a:ext cx="933" cy="9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  <a:endParaRPr lang="en-US" altLang="zh-CN" sz="790"/>
              </a:p>
            </p:txBody>
          </p:sp>
        </p:grp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/>
          <p:cNvGrpSpPr/>
          <p:nvPr/>
        </p:nvGrpSpPr>
        <p:grpSpPr>
          <a:xfrm>
            <a:off x="1949187" y="5311357"/>
            <a:ext cx="3769427" cy="3889086"/>
            <a:chOff x="5457" y="1090"/>
            <a:chExt cx="10553" cy="10888"/>
          </a:xfrm>
        </p:grpSpPr>
        <p:sp>
          <p:nvSpPr>
            <p:cNvPr id="73" name="矩形 72"/>
            <p:cNvSpPr/>
            <p:nvPr/>
          </p:nvSpPr>
          <p:spPr>
            <a:xfrm>
              <a:off x="5457" y="1090"/>
              <a:ext cx="10553" cy="1077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8" name="图片 7"/>
            <p:cNvPicPr/>
            <p:nvPr/>
          </p:nvPicPr>
          <p:blipFill>
            <a:blip r:embed="rId1"/>
            <a:srcRect r="23787" b="5455"/>
            <a:stretch>
              <a:fillRect/>
            </a:stretch>
          </p:blipFill>
          <p:spPr>
            <a:xfrm>
              <a:off x="5683" y="2161"/>
              <a:ext cx="9394" cy="5868"/>
            </a:xfrm>
            <a:prstGeom prst="rect">
              <a:avLst/>
            </a:prstGeom>
          </p:spPr>
        </p:pic>
        <p:sp>
          <p:nvSpPr>
            <p:cNvPr id="31" name="文本框 30"/>
            <p:cNvSpPr txBox="1"/>
            <p:nvPr/>
          </p:nvSpPr>
          <p:spPr>
            <a:xfrm>
              <a:off x="6120" y="1175"/>
              <a:ext cx="9268" cy="8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dirty="0"/>
                <a:t>Vertical - Height</a:t>
              </a:r>
              <a:endParaRPr lang="en-US" altLang="zh-CN" sz="1350" dirty="0"/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8369" y="9019"/>
              <a:ext cx="56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Vertical Profile Categories</a:t>
              </a:r>
              <a:endParaRPr lang="en-US" altLang="zh-CN" sz="845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70" name="组合 69"/>
            <p:cNvGrpSpPr/>
            <p:nvPr/>
          </p:nvGrpSpPr>
          <p:grpSpPr>
            <a:xfrm>
              <a:off x="6974" y="1967"/>
              <a:ext cx="7820" cy="7632"/>
              <a:chOff x="3143" y="2576"/>
              <a:chExt cx="7072" cy="6901"/>
            </a:xfrm>
          </p:grpSpPr>
          <p:sp>
            <p:nvSpPr>
              <p:cNvPr id="10" name="文本框 9"/>
              <p:cNvSpPr txBox="1"/>
              <p:nvPr/>
            </p:nvSpPr>
            <p:spPr>
              <a:xfrm>
                <a:off x="3279" y="8057"/>
                <a:ext cx="1602" cy="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Africa</a:t>
                </a:r>
                <a:endParaRPr lang="en-US" altLang="zh-CN" sz="1015"/>
              </a:p>
            </p:txBody>
          </p:sp>
          <p:sp>
            <p:nvSpPr>
              <p:cNvPr id="11" name="文本框 10"/>
              <p:cNvSpPr txBox="1"/>
              <p:nvPr/>
            </p:nvSpPr>
            <p:spPr>
              <a:xfrm>
                <a:off x="5397" y="8058"/>
                <a:ext cx="2558" cy="14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South &amp; Southeast Asia</a:t>
                </a:r>
                <a:endParaRPr lang="en-US" altLang="zh-CN" sz="1015"/>
              </a:p>
            </p:txBody>
          </p:sp>
          <p:sp>
            <p:nvSpPr>
              <p:cNvPr id="12" name="文本框 11"/>
              <p:cNvSpPr txBox="1"/>
              <p:nvPr/>
            </p:nvSpPr>
            <p:spPr>
              <a:xfrm>
                <a:off x="8099" y="8058"/>
                <a:ext cx="2116" cy="11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Latin</a:t>
                </a:r>
                <a:endParaRPr lang="en-US" altLang="zh-CN" sz="1015">
                  <a:ea typeface="宋体" panose="02010600030101010101" pitchFamily="2" charset="-122"/>
                </a:endParaRPr>
              </a:p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America</a:t>
                </a:r>
                <a:endParaRPr lang="en-US" altLang="zh-CN" sz="1015">
                  <a:ea typeface="宋体" panose="02010600030101010101" pitchFamily="2" charset="-122"/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3143" y="2576"/>
                <a:ext cx="933" cy="9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  <a:endParaRPr lang="en-US" altLang="zh-CN" sz="790"/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4118" y="2576"/>
                <a:ext cx="933" cy="9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  <a:endParaRPr lang="en-US" altLang="zh-CN" sz="790"/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5642" y="2576"/>
                <a:ext cx="933" cy="9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  <a:endParaRPr lang="en-US" altLang="zh-CN" sz="790"/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6617" y="2576"/>
                <a:ext cx="933" cy="9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  <a:endParaRPr lang="en-US" altLang="zh-CN" sz="790"/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8141" y="2576"/>
                <a:ext cx="933" cy="9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  <a:endParaRPr lang="en-US" altLang="zh-CN" sz="790"/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9116" y="2576"/>
                <a:ext cx="933" cy="9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  <a:endParaRPr lang="en-US" altLang="zh-CN" sz="790"/>
              </a:p>
            </p:txBody>
          </p:sp>
        </p:grpSp>
        <p:sp>
          <p:nvSpPr>
            <p:cNvPr id="18" name="矩形 17"/>
            <p:cNvSpPr/>
            <p:nvPr/>
          </p:nvSpPr>
          <p:spPr>
            <a:xfrm>
              <a:off x="7005" y="9636"/>
              <a:ext cx="619" cy="442"/>
            </a:xfrm>
            <a:prstGeom prst="rect">
              <a:avLst/>
            </a:prstGeom>
            <a:solidFill>
              <a:srgbClr val="66C2A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9" name="矩形 18"/>
            <p:cNvSpPr/>
            <p:nvPr/>
          </p:nvSpPr>
          <p:spPr>
            <a:xfrm>
              <a:off x="7005" y="10214"/>
              <a:ext cx="619" cy="442"/>
            </a:xfrm>
            <a:prstGeom prst="rect">
              <a:avLst/>
            </a:prstGeom>
            <a:solidFill>
              <a:srgbClr val="FC8D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7740" y="9636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Crown</a:t>
              </a:r>
              <a:endParaRPr lang="en-US" altLang="zh-CN" sz="845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740" y="10182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Pyramid</a:t>
              </a:r>
              <a:endParaRPr lang="en-US" altLang="zh-CN" sz="845"/>
            </a:p>
          </p:txBody>
        </p:sp>
        <p:sp>
          <p:nvSpPr>
            <p:cNvPr id="46" name="矩形 45"/>
            <p:cNvSpPr/>
            <p:nvPr/>
          </p:nvSpPr>
          <p:spPr>
            <a:xfrm>
              <a:off x="7005" y="10792"/>
              <a:ext cx="619" cy="442"/>
            </a:xfrm>
            <a:prstGeom prst="rect">
              <a:avLst/>
            </a:prstGeom>
            <a:solidFill>
              <a:srgbClr val="8DA0C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7740" y="10728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Volcanic</a:t>
              </a:r>
              <a:endParaRPr lang="en-US" altLang="zh-CN" sz="845"/>
            </a:p>
          </p:txBody>
        </p:sp>
        <p:sp>
          <p:nvSpPr>
            <p:cNvPr id="48" name="矩形 47"/>
            <p:cNvSpPr/>
            <p:nvPr/>
          </p:nvSpPr>
          <p:spPr>
            <a:xfrm>
              <a:off x="11399" y="10812"/>
              <a:ext cx="653" cy="442"/>
            </a:xfrm>
            <a:prstGeom prst="rect">
              <a:avLst/>
            </a:prstGeom>
            <a:solidFill>
              <a:srgbClr val="E5C49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2163" y="10784"/>
              <a:ext cx="32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Pyramid</a:t>
              </a:r>
              <a:endParaRPr lang="en-US" altLang="zh-CN" sz="845"/>
            </a:p>
          </p:txBody>
        </p:sp>
        <p:sp>
          <p:nvSpPr>
            <p:cNvPr id="50" name="矩形 49"/>
            <p:cNvSpPr/>
            <p:nvPr/>
          </p:nvSpPr>
          <p:spPr>
            <a:xfrm>
              <a:off x="11399" y="9636"/>
              <a:ext cx="653" cy="442"/>
            </a:xfrm>
            <a:prstGeom prst="rect">
              <a:avLst/>
            </a:prstGeom>
            <a:solidFill>
              <a:srgbClr val="A6D85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51" name="矩形 50"/>
            <p:cNvSpPr/>
            <p:nvPr/>
          </p:nvSpPr>
          <p:spPr>
            <a:xfrm>
              <a:off x="11399" y="10242"/>
              <a:ext cx="653" cy="442"/>
            </a:xfrm>
            <a:prstGeom prst="rect">
              <a:avLst/>
            </a:prstGeom>
            <a:solidFill>
              <a:srgbClr val="FFD92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2163" y="9636"/>
              <a:ext cx="3224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Bowl</a:t>
              </a:r>
              <a:endParaRPr lang="en-US" altLang="zh-CN" sz="845"/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2163" y="10210"/>
              <a:ext cx="3224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Crown</a:t>
              </a:r>
              <a:endParaRPr lang="en-US" altLang="zh-CN" sz="845"/>
            </a:p>
          </p:txBody>
        </p:sp>
        <p:sp>
          <p:nvSpPr>
            <p:cNvPr id="6" name="矩形 5"/>
            <p:cNvSpPr/>
            <p:nvPr/>
          </p:nvSpPr>
          <p:spPr>
            <a:xfrm>
              <a:off x="11399" y="11403"/>
              <a:ext cx="653" cy="442"/>
            </a:xfrm>
            <a:prstGeom prst="rect">
              <a:avLst/>
            </a:prstGeom>
            <a:solidFill>
              <a:srgbClr val="B3B3B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12163" y="11358"/>
              <a:ext cx="32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Volcanic</a:t>
              </a:r>
              <a:endParaRPr lang="en-US" altLang="zh-CN" sz="845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组合 79"/>
          <p:cNvGrpSpPr/>
          <p:nvPr/>
        </p:nvGrpSpPr>
        <p:grpSpPr>
          <a:xfrm>
            <a:off x="1357322" y="9564063"/>
            <a:ext cx="5570380" cy="417912"/>
            <a:chOff x="3800" y="12996"/>
            <a:chExt cx="15595" cy="1170"/>
          </a:xfrm>
        </p:grpSpPr>
        <p:sp>
          <p:nvSpPr>
            <p:cNvPr id="62" name="文本框 61"/>
            <p:cNvSpPr txBox="1"/>
            <p:nvPr/>
          </p:nvSpPr>
          <p:spPr>
            <a:xfrm>
              <a:off x="14959" y="13004"/>
              <a:ext cx="4436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Latin America Mean, 2016</a:t>
              </a:r>
              <a:endParaRPr lang="en-US" altLang="zh-CN" sz="900"/>
            </a:p>
          </p:txBody>
        </p:sp>
        <p:sp>
          <p:nvSpPr>
            <p:cNvPr id="64" name="乘号 63"/>
            <p:cNvSpPr/>
            <p:nvPr/>
          </p:nvSpPr>
          <p:spPr>
            <a:xfrm>
              <a:off x="3800" y="13009"/>
              <a:ext cx="483" cy="480"/>
            </a:xfrm>
            <a:prstGeom prst="mathMultiply">
              <a:avLst/>
            </a:prstGeom>
            <a:solidFill>
              <a:srgbClr val="E85748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70" name="文本框 69"/>
            <p:cNvSpPr txBox="1"/>
            <p:nvPr/>
          </p:nvSpPr>
          <p:spPr>
            <a:xfrm>
              <a:off x="4299" y="13022"/>
              <a:ext cx="322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Africa Mean, 2016</a:t>
              </a:r>
              <a:endParaRPr lang="en-US" altLang="zh-CN" sz="900"/>
            </a:p>
          </p:txBody>
        </p:sp>
        <p:sp>
          <p:nvSpPr>
            <p:cNvPr id="71" name="乘号 70"/>
            <p:cNvSpPr/>
            <p:nvPr/>
          </p:nvSpPr>
          <p:spPr>
            <a:xfrm>
              <a:off x="3800" y="13523"/>
              <a:ext cx="483" cy="480"/>
            </a:xfrm>
            <a:prstGeom prst="mathMultiply">
              <a:avLst/>
            </a:prstGeom>
            <a:solidFill>
              <a:srgbClr val="E8574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72" name="文本框 71"/>
            <p:cNvSpPr txBox="1"/>
            <p:nvPr/>
          </p:nvSpPr>
          <p:spPr>
            <a:xfrm>
              <a:off x="4299" y="13522"/>
              <a:ext cx="322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Africa Mean, 2023</a:t>
              </a:r>
              <a:endParaRPr lang="en-US" altLang="zh-CN" sz="900"/>
            </a:p>
          </p:txBody>
        </p:sp>
        <p:sp>
          <p:nvSpPr>
            <p:cNvPr id="73" name="乘号 72"/>
            <p:cNvSpPr/>
            <p:nvPr/>
          </p:nvSpPr>
          <p:spPr>
            <a:xfrm>
              <a:off x="8011" y="13009"/>
              <a:ext cx="483" cy="480"/>
            </a:xfrm>
            <a:prstGeom prst="mathMultiply">
              <a:avLst/>
            </a:prstGeom>
            <a:solidFill>
              <a:srgbClr val="F39F1B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74" name="文本框 73"/>
            <p:cNvSpPr txBox="1"/>
            <p:nvPr/>
          </p:nvSpPr>
          <p:spPr>
            <a:xfrm>
              <a:off x="8533" y="12996"/>
              <a:ext cx="5621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>
                  <a:sym typeface="+mn-ea"/>
                </a:rPr>
                <a:t>South&amp;South-east Asia Mean, 2016</a:t>
              </a:r>
              <a:endParaRPr lang="zh-CN" altLang="en-US" sz="900"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75" name="乘号 74"/>
            <p:cNvSpPr/>
            <p:nvPr/>
          </p:nvSpPr>
          <p:spPr>
            <a:xfrm>
              <a:off x="8011" y="13523"/>
              <a:ext cx="483" cy="480"/>
            </a:xfrm>
            <a:prstGeom prst="mathMultiply">
              <a:avLst/>
            </a:prstGeom>
            <a:solidFill>
              <a:srgbClr val="F39F1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76" name="文本框 75"/>
            <p:cNvSpPr txBox="1"/>
            <p:nvPr/>
          </p:nvSpPr>
          <p:spPr>
            <a:xfrm>
              <a:off x="8533" y="13483"/>
              <a:ext cx="5620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>
                  <a:sym typeface="+mn-ea"/>
                </a:rPr>
                <a:t>South&amp;South-east Asia Mean, 2023</a:t>
              </a:r>
              <a:endParaRPr lang="en-US" altLang="zh-CN" sz="900"/>
            </a:p>
          </p:txBody>
        </p:sp>
        <p:sp>
          <p:nvSpPr>
            <p:cNvPr id="77" name="乘号 76"/>
            <p:cNvSpPr/>
            <p:nvPr/>
          </p:nvSpPr>
          <p:spPr>
            <a:xfrm>
              <a:off x="14475" y="13009"/>
              <a:ext cx="483" cy="480"/>
            </a:xfrm>
            <a:prstGeom prst="mathMultiply">
              <a:avLst/>
            </a:prstGeom>
            <a:solidFill>
              <a:srgbClr val="47A2DE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78" name="乘号 77"/>
            <p:cNvSpPr/>
            <p:nvPr/>
          </p:nvSpPr>
          <p:spPr>
            <a:xfrm>
              <a:off x="14475" y="13523"/>
              <a:ext cx="483" cy="480"/>
            </a:xfrm>
            <a:prstGeom prst="mathMultiply">
              <a:avLst/>
            </a:prstGeom>
            <a:solidFill>
              <a:srgbClr val="47A2D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79" name="文本框 78"/>
            <p:cNvSpPr txBox="1"/>
            <p:nvPr/>
          </p:nvSpPr>
          <p:spPr>
            <a:xfrm>
              <a:off x="14959" y="13495"/>
              <a:ext cx="425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Latin America Mean, 2023</a:t>
              </a:r>
              <a:endParaRPr lang="en-US" altLang="zh-CN" sz="900"/>
            </a:p>
          </p:txBody>
        </p:sp>
      </p:grpSp>
      <p:grpSp>
        <p:nvGrpSpPr>
          <p:cNvPr id="30" name="组合 29"/>
          <p:cNvGrpSpPr/>
          <p:nvPr/>
        </p:nvGrpSpPr>
        <p:grpSpPr>
          <a:xfrm>
            <a:off x="0" y="5230990"/>
            <a:ext cx="8100000" cy="4051397"/>
            <a:chOff x="0" y="865"/>
            <a:chExt cx="22677" cy="11342"/>
          </a:xfrm>
        </p:grpSpPr>
        <p:sp>
          <p:nvSpPr>
            <p:cNvPr id="66" name="矩形 65"/>
            <p:cNvSpPr/>
            <p:nvPr/>
          </p:nvSpPr>
          <p:spPr>
            <a:xfrm>
              <a:off x="0" y="865"/>
              <a:ext cx="22677" cy="1080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4" name="图片 3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314" y="2846"/>
              <a:ext cx="21426" cy="7022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11231" y="-696"/>
              <a:ext cx="614" cy="205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/>
            </a:p>
          </p:txBody>
        </p:sp>
        <p:sp>
          <p:nvSpPr>
            <p:cNvPr id="7" name="矩形 6"/>
            <p:cNvSpPr/>
            <p:nvPr/>
          </p:nvSpPr>
          <p:spPr>
            <a:xfrm>
              <a:off x="181" y="2595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5" name="矩形 4"/>
            <p:cNvSpPr/>
            <p:nvPr/>
          </p:nvSpPr>
          <p:spPr>
            <a:xfrm>
              <a:off x="7428" y="2414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6" name="矩形 5"/>
            <p:cNvSpPr/>
            <p:nvPr/>
          </p:nvSpPr>
          <p:spPr>
            <a:xfrm>
              <a:off x="14693" y="2559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4785" y="1036"/>
                  <a:ext cx="12486" cy="16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575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- Height</a:t>
                  </a:r>
                  <a:endParaRPr lang="en-US" altLang="zh-CN" sz="1575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57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575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5" y="1036"/>
                  <a:ext cx="12486" cy="1600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615" y="9308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10</a:t>
              </a:r>
              <a:endParaRPr lang="en-US" altLang="zh-CN" sz="1125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89" y="7990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-0.4</a:t>
              </a:r>
              <a:endParaRPr lang="en-US" altLang="zh-CN" sz="1125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548" y="9308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5</a:t>
              </a:r>
              <a:endParaRPr lang="en-US" altLang="zh-CN" sz="1125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6507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473" y="2559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35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5589" y="9308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15</a:t>
              </a:r>
              <a:endParaRPr lang="en-US" altLang="zh-CN" sz="1125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501" y="3840"/>
              <a:ext cx="530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4" y="5906"/>
              <a:ext cx="82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-0.2</a:t>
              </a:r>
              <a:endParaRPr lang="en-US" altLang="zh-CN" sz="1125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1011" y="9353"/>
              <a:ext cx="792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-0.2</a:t>
              </a:r>
              <a:endParaRPr lang="en-US" altLang="zh-CN" sz="1125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7207" y="877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-0.02</a:t>
              </a:r>
              <a:endParaRPr lang="en-US" altLang="zh-CN" sz="1125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8934" y="9353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-0.4</a:t>
              </a:r>
              <a:endParaRPr lang="en-US" altLang="zh-CN" sz="1125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3786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8003" y="2467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35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3294" y="9353"/>
              <a:ext cx="26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207" y="7309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207" y="58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0.02</a:t>
              </a:r>
              <a:endParaRPr lang="en-US" altLang="zh-CN" sz="1125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7207" y="431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0.04</a:t>
              </a:r>
              <a:endParaRPr lang="en-US" altLang="zh-CN" sz="1125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7207" y="289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0.06</a:t>
              </a:r>
              <a:endParaRPr lang="en-US" altLang="zh-CN" sz="1125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8125" y="9369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10</a:t>
              </a:r>
              <a:endParaRPr lang="en-US" altLang="zh-CN" sz="1125"/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6058" y="9369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5</a:t>
              </a:r>
              <a:endParaRPr lang="en-US" altLang="zh-CN" sz="1125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20607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20099" y="9369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15</a:t>
              </a:r>
              <a:endParaRPr lang="en-US" altLang="zh-CN" sz="1125"/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4496" y="877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-0.02</a:t>
              </a:r>
              <a:endParaRPr lang="en-US" altLang="zh-CN" sz="1125"/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5292" y="2467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35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4496" y="7309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4496" y="58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0.02</a:t>
              </a:r>
              <a:endParaRPr lang="en-US" altLang="zh-CN" sz="1125"/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4496" y="431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0.04</a:t>
              </a:r>
              <a:endParaRPr lang="en-US" altLang="zh-CN" sz="1125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4496" y="289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0.06</a:t>
              </a:r>
              <a:endParaRPr lang="en-US" altLang="zh-CN" sz="1125"/>
            </a:p>
          </p:txBody>
        </p:sp>
        <p:grpSp>
          <p:nvGrpSpPr>
            <p:cNvPr id="82" name="组合 81"/>
            <p:cNvGrpSpPr/>
            <p:nvPr/>
          </p:nvGrpSpPr>
          <p:grpSpPr>
            <a:xfrm>
              <a:off x="3058" y="10523"/>
              <a:ext cx="16034" cy="1684"/>
              <a:chOff x="3914" y="9142"/>
              <a:chExt cx="14213" cy="1493"/>
            </a:xfrm>
          </p:grpSpPr>
          <p:sp>
            <p:nvSpPr>
              <p:cNvPr id="33" name="文本框 32"/>
              <p:cNvSpPr txBox="1"/>
              <p:nvPr/>
            </p:nvSpPr>
            <p:spPr>
              <a:xfrm>
                <a:off x="14959" y="9142"/>
                <a:ext cx="3168" cy="10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2016</a:t>
                </a:r>
                <a:endParaRPr lang="en-US" altLang="zh-CN" sz="1015"/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4589" y="9256"/>
                <a:ext cx="257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4589" y="9719"/>
                <a:ext cx="257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4959" y="9633"/>
                <a:ext cx="3168" cy="10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2023</a:t>
                </a:r>
                <a:endParaRPr lang="en-US" altLang="zh-CN" sz="1015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4299" y="9142"/>
                <a:ext cx="322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2016</a:t>
                </a:r>
                <a:endParaRPr lang="en-US" altLang="zh-CN" sz="1015"/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3914" y="9256"/>
                <a:ext cx="257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3914" y="9719"/>
                <a:ext cx="257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4299" y="9642"/>
                <a:ext cx="322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2023</a:t>
                </a:r>
                <a:endParaRPr lang="en-US" altLang="zh-CN" sz="1015"/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8533" y="9142"/>
                <a:ext cx="4557" cy="10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South&amp;South-east Asia, 2016</a:t>
                </a:r>
                <a:endParaRPr lang="en-US" altLang="zh-CN" sz="1015"/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8125" y="9256"/>
                <a:ext cx="257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8125" y="9719"/>
                <a:ext cx="257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8533" y="9629"/>
                <a:ext cx="4557" cy="10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>
                    <a:sym typeface="+mn-ea"/>
                  </a:rPr>
                  <a:t>South&amp;South-east Asia, 2023</a:t>
                </a:r>
                <a:endParaRPr lang="en-US" altLang="zh-CN" sz="1015">
                  <a:sym typeface="+mn-ea"/>
                </a:endParaRPr>
              </a:p>
            </p:txBody>
          </p:sp>
        </p:grpSp>
        <p:cxnSp>
          <p:nvCxnSpPr>
            <p:cNvPr id="32" name="直接连接符 31"/>
            <p:cNvCxnSpPr/>
            <p:nvPr/>
          </p:nvCxnSpPr>
          <p:spPr>
            <a:xfrm>
              <a:off x="8440" y="7532"/>
              <a:ext cx="5925" cy="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0" name="直接连接符 49"/>
            <p:cNvCxnSpPr/>
            <p:nvPr/>
          </p:nvCxnSpPr>
          <p:spPr>
            <a:xfrm flipH="1">
              <a:off x="13410" y="3068"/>
              <a:ext cx="27" cy="6191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" name="TextBox 190"/>
            <p:cNvSpPr txBox="1"/>
            <p:nvPr/>
          </p:nvSpPr>
          <p:spPr>
            <a:xfrm>
              <a:off x="8494" y="6734"/>
              <a:ext cx="1830" cy="798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B&lt;0</a:t>
              </a:r>
              <a:endParaRPr lang="en-US" altLang="zh-CN" sz="79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sym typeface="+mn-ea"/>
                </a:rPr>
                <a:t>“Crown”City</a:t>
              </a:r>
              <a:endParaRPr lang="en-US" altLang="zh-CN" sz="790">
                <a:latin typeface="Arial" panose="020B0604020202020204" pitchFamily="34" charset="0"/>
                <a:sym typeface="+mn-ea"/>
              </a:endParaRPr>
            </a:p>
          </p:txBody>
        </p:sp>
        <p:sp>
          <p:nvSpPr>
            <p:cNvPr id="5126" name="TextBox 190"/>
            <p:cNvSpPr txBox="1"/>
            <p:nvPr/>
          </p:nvSpPr>
          <p:spPr>
            <a:xfrm>
              <a:off x="8494" y="7532"/>
              <a:ext cx="2140" cy="872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B&lt;0</a:t>
              </a:r>
              <a:endParaRPr lang="en-US" altLang="zh-CN" sz="79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sym typeface="+mn-ea"/>
                </a:rPr>
                <a:t>“Pyramid”City</a:t>
              </a:r>
              <a:endParaRPr lang="en-US" altLang="zh-CN" sz="790">
                <a:latin typeface="Arial" panose="020B0604020202020204" pitchFamily="34" charset="0"/>
                <a:sym typeface="+mn-ea"/>
              </a:endParaRPr>
            </a:p>
          </p:txBody>
        </p:sp>
        <p:cxnSp>
          <p:nvCxnSpPr>
            <p:cNvPr id="52" name="曲线连接符 51"/>
            <p:cNvCxnSpPr/>
            <p:nvPr/>
          </p:nvCxnSpPr>
          <p:spPr>
            <a:xfrm rot="5400000" flipV="1">
              <a:off x="13512" y="9267"/>
              <a:ext cx="958" cy="171"/>
            </a:xfrm>
            <a:prstGeom prst="curvedConnector3">
              <a:avLst>
                <a:gd name="adj1" fmla="val 50052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27" name="TextBox 191"/>
            <p:cNvSpPr txBox="1"/>
            <p:nvPr/>
          </p:nvSpPr>
          <p:spPr>
            <a:xfrm>
              <a:off x="13163" y="9839"/>
              <a:ext cx="2894" cy="81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B&gt;0</a:t>
              </a:r>
              <a:endParaRPr lang="en-US" altLang="zh-CN" sz="79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“Volcanic Cone” City</a:t>
              </a:r>
              <a:endParaRPr lang="en-US" altLang="zh-CN" sz="79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</p:txBody>
        </p:sp>
        <p:cxnSp>
          <p:nvCxnSpPr>
            <p:cNvPr id="53" name="曲线连接符 52"/>
            <p:cNvCxnSpPr/>
            <p:nvPr/>
          </p:nvCxnSpPr>
          <p:spPr>
            <a:xfrm rot="16200000">
              <a:off x="13764" y="2715"/>
              <a:ext cx="663" cy="622"/>
            </a:xfrm>
            <a:prstGeom prst="curved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63" name="TextBox 264"/>
            <p:cNvSpPr txBox="1"/>
            <p:nvPr/>
          </p:nvSpPr>
          <p:spPr>
            <a:xfrm>
              <a:off x="14044" y="1892"/>
              <a:ext cx="1805" cy="80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B&gt;0</a:t>
              </a:r>
              <a:endParaRPr lang="en-US" altLang="zh-CN" sz="79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“Bowl” City</a:t>
              </a:r>
              <a:endParaRPr lang="en-US" altLang="zh-CN" sz="79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/>
          <p:nvPr/>
        </p:nvPicPr>
        <p:blipFill>
          <a:blip r:embed="rId1"/>
          <a:srcRect l="50166" t="71" r="-5" b="-71"/>
          <a:stretch>
            <a:fillRect/>
          </a:stretch>
        </p:blipFill>
        <p:spPr>
          <a:xfrm>
            <a:off x="3931592" y="9654789"/>
            <a:ext cx="3248287" cy="2563554"/>
          </a:xfrm>
          <a:prstGeom prst="rect">
            <a:avLst/>
          </a:prstGeom>
        </p:spPr>
      </p:pic>
      <p:pic>
        <p:nvPicPr>
          <p:cNvPr id="6" name="图片 5"/>
          <p:cNvPicPr/>
          <p:nvPr/>
        </p:nvPicPr>
        <p:blipFill>
          <a:blip r:embed="rId1"/>
          <a:srcRect r="50161"/>
          <a:stretch>
            <a:fillRect/>
          </a:stretch>
        </p:blipFill>
        <p:spPr>
          <a:xfrm>
            <a:off x="357547" y="9663362"/>
            <a:ext cx="3248287" cy="2563554"/>
          </a:xfrm>
          <a:prstGeom prst="rect">
            <a:avLst/>
          </a:prstGeom>
        </p:spPr>
      </p:pic>
      <p:sp>
        <p:nvSpPr>
          <p:cNvPr id="66" name="矩形 65"/>
          <p:cNvSpPr/>
          <p:nvPr/>
        </p:nvSpPr>
        <p:spPr>
          <a:xfrm>
            <a:off x="174666" y="5370651"/>
            <a:ext cx="7104512" cy="38147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 dirty="0"/>
          </a:p>
        </p:txBody>
      </p:sp>
      <p:grpSp>
        <p:nvGrpSpPr>
          <p:cNvPr id="30" name="Group 29"/>
          <p:cNvGrpSpPr/>
          <p:nvPr/>
        </p:nvGrpSpPr>
        <p:grpSpPr>
          <a:xfrm>
            <a:off x="231102" y="5443875"/>
            <a:ext cx="6929846" cy="3798360"/>
            <a:chOff x="410845" y="927735"/>
            <a:chExt cx="12319635" cy="6752590"/>
          </a:xfrm>
        </p:grpSpPr>
        <p:grpSp>
          <p:nvGrpSpPr>
            <p:cNvPr id="64" name="组合 63"/>
            <p:cNvGrpSpPr/>
            <p:nvPr/>
          </p:nvGrpSpPr>
          <p:grpSpPr>
            <a:xfrm>
              <a:off x="410845" y="927735"/>
              <a:ext cx="12319635" cy="6752590"/>
              <a:chOff x="647" y="1461"/>
              <a:chExt cx="19401" cy="10634"/>
            </a:xfrm>
          </p:grpSpPr>
          <p:pic>
            <p:nvPicPr>
              <p:cNvPr id="11" name="图片 10"/>
              <p:cNvPicPr>
                <a:picLocks noChangeAspect="1"/>
              </p:cNvPicPr>
              <p:nvPr/>
            </p:nvPicPr>
            <p:blipFill>
              <a:blip r:embed="rId2"/>
              <a:srcRect t="1124"/>
              <a:stretch>
                <a:fillRect/>
              </a:stretch>
            </p:blipFill>
            <p:spPr>
              <a:xfrm>
                <a:off x="647" y="2767"/>
                <a:ext cx="19200" cy="7920"/>
              </a:xfrm>
              <a:prstGeom prst="rect">
                <a:avLst/>
              </a:prstGeom>
            </p:spPr>
          </p:pic>
          <p:grpSp>
            <p:nvGrpSpPr>
              <p:cNvPr id="12" name="组合 11"/>
              <p:cNvGrpSpPr/>
              <p:nvPr/>
            </p:nvGrpSpPr>
            <p:grpSpPr>
              <a:xfrm>
                <a:off x="1609" y="9777"/>
                <a:ext cx="8717" cy="993"/>
                <a:chOff x="1420" y="9835"/>
                <a:chExt cx="8717" cy="993"/>
              </a:xfrm>
            </p:grpSpPr>
            <p:sp>
              <p:nvSpPr>
                <p:cNvPr id="8" name="矩形 7"/>
                <p:cNvSpPr/>
                <p:nvPr/>
              </p:nvSpPr>
              <p:spPr>
                <a:xfrm rot="5400000">
                  <a:off x="5245" y="6010"/>
                  <a:ext cx="993" cy="86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37" name="文本框 36"/>
                <p:cNvSpPr txBox="1"/>
                <p:nvPr/>
              </p:nvSpPr>
              <p:spPr>
                <a:xfrm>
                  <a:off x="5669" y="992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0%</a:t>
                  </a:r>
                  <a:endParaRPr lang="en-US" altLang="zh-CN" sz="1125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9094" y="9937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6%</a:t>
                  </a:r>
                  <a:endParaRPr lang="en-US" altLang="zh-CN" sz="1125"/>
                </a:p>
              </p:txBody>
            </p:sp>
            <p:sp>
              <p:nvSpPr>
                <p:cNvPr id="39" name="文本框 38"/>
                <p:cNvSpPr txBox="1"/>
                <p:nvPr/>
              </p:nvSpPr>
              <p:spPr>
                <a:xfrm>
                  <a:off x="2056" y="9861"/>
                  <a:ext cx="1073" cy="58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-6%</a:t>
                  </a:r>
                  <a:endParaRPr lang="en-US" altLang="zh-CN" sz="1125"/>
                </a:p>
              </p:txBody>
            </p:sp>
            <p:sp>
              <p:nvSpPr>
                <p:cNvPr id="43" name="文本框 42"/>
                <p:cNvSpPr txBox="1"/>
                <p:nvPr/>
              </p:nvSpPr>
              <p:spPr>
                <a:xfrm>
                  <a:off x="6996" y="10251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</a:t>
                  </a:r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α)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10507" y="2632"/>
                <a:ext cx="1252" cy="7156"/>
                <a:chOff x="10399" y="3051"/>
                <a:chExt cx="1252" cy="7054"/>
              </a:xfrm>
            </p:grpSpPr>
            <p:sp>
              <p:nvSpPr>
                <p:cNvPr id="14" name="矩形 13"/>
                <p:cNvSpPr/>
                <p:nvPr/>
              </p:nvSpPr>
              <p:spPr>
                <a:xfrm>
                  <a:off x="10399" y="3051"/>
                  <a:ext cx="1252" cy="705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 useBgFill="1">
              <p:nvSpPr>
                <p:cNvPr id="48" name="文本框 47"/>
                <p:cNvSpPr txBox="1"/>
                <p:nvPr/>
              </p:nvSpPr>
              <p:spPr>
                <a:xfrm>
                  <a:off x="10485" y="3678"/>
                  <a:ext cx="1069" cy="442"/>
                </a:xfrm>
                <a:prstGeom prst="rect">
                  <a:avLst/>
                </a:prstGeom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0.04</a:t>
                  </a:r>
                  <a:endParaRPr lang="en-US" altLang="zh-CN" sz="1125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10740" y="6129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  <a:endParaRPr lang="en-US" altLang="zh-CN" sz="1125"/>
                </a:p>
              </p:txBody>
            </p:sp>
            <p:sp>
              <p:nvSpPr>
                <p:cNvPr id="50" name="文本框 49"/>
                <p:cNvSpPr txBox="1"/>
                <p:nvPr/>
              </p:nvSpPr>
              <p:spPr>
                <a:xfrm>
                  <a:off x="10798" y="3051"/>
                  <a:ext cx="853" cy="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5" name="文本框 54"/>
                <p:cNvSpPr txBox="1"/>
                <p:nvPr/>
              </p:nvSpPr>
              <p:spPr>
                <a:xfrm>
                  <a:off x="10400" y="8553"/>
                  <a:ext cx="115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-0.04</a:t>
                  </a:r>
                  <a:endParaRPr lang="en-US" altLang="zh-CN" sz="1125"/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838" y="1461"/>
                    <a:ext cx="8139" cy="141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Change of Structural Zero Params</a:t>
                    </a:r>
                    <a:endPara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38" y="1461"/>
                    <a:ext cx="8139" cy="1419"/>
                  </a:xfrm>
                  <a:prstGeom prst="rect">
                    <a:avLst/>
                  </a:prstGeom>
                  <a:blipFill rotWithShape="1">
                    <a:blip r:embed="rId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4" name="组合 23"/>
              <p:cNvGrpSpPr/>
              <p:nvPr/>
            </p:nvGrpSpPr>
            <p:grpSpPr>
              <a:xfrm>
                <a:off x="647" y="2767"/>
                <a:ext cx="1442" cy="6919"/>
                <a:chOff x="647" y="3188"/>
                <a:chExt cx="1442" cy="6919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647" y="3189"/>
                  <a:ext cx="1442" cy="6918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40" name="文本框 39"/>
                <p:cNvSpPr txBox="1"/>
                <p:nvPr/>
              </p:nvSpPr>
              <p:spPr>
                <a:xfrm>
                  <a:off x="902" y="4069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0.08</a:t>
                  </a:r>
                  <a:endParaRPr lang="en-US" altLang="zh-CN" sz="1125"/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735" y="7457"/>
                  <a:ext cx="1103" cy="40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  <a:endParaRPr lang="en-US" altLang="zh-CN" sz="1125"/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001" y="3188"/>
                  <a:ext cx="993" cy="42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902" y="9157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-0.04</a:t>
                  </a:r>
                  <a:endParaRPr lang="en-US" altLang="zh-CN" sz="1125"/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902" y="5743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0.04</a:t>
                  </a:r>
                  <a:endParaRPr lang="en-US" altLang="zh-CN" sz="1125"/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" name="文本框 18"/>
                  <p:cNvSpPr txBox="1"/>
                  <p:nvPr/>
                </p:nvSpPr>
                <p:spPr>
                  <a:xfrm>
                    <a:off x="11204" y="1621"/>
                    <a:ext cx="8844" cy="141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Change of Actual Construction Params</a:t>
                    </a:r>
                    <a:endPara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9" name="文本框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04" y="1621"/>
                    <a:ext cx="8844" cy="1419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0" name="组合 19"/>
              <p:cNvGrpSpPr/>
              <p:nvPr/>
            </p:nvGrpSpPr>
            <p:grpSpPr>
              <a:xfrm>
                <a:off x="11204" y="9686"/>
                <a:ext cx="8643" cy="1009"/>
                <a:chOff x="11000" y="9740"/>
                <a:chExt cx="8643" cy="1009"/>
              </a:xfrm>
            </p:grpSpPr>
            <p:sp>
              <p:nvSpPr>
                <p:cNvPr id="15" name="矩形 14"/>
                <p:cNvSpPr/>
                <p:nvPr/>
              </p:nvSpPr>
              <p:spPr>
                <a:xfrm rot="5400000">
                  <a:off x="14817" y="5923"/>
                  <a:ext cx="1009" cy="86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51" name="文本框 50"/>
                <p:cNvSpPr txBox="1"/>
                <p:nvPr/>
              </p:nvSpPr>
              <p:spPr>
                <a:xfrm>
                  <a:off x="16551" y="10182"/>
                  <a:ext cx="3092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</a:t>
                  </a:r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κ)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" name="文本框 45"/>
                <p:cNvSpPr txBox="1"/>
                <p:nvPr/>
              </p:nvSpPr>
              <p:spPr>
                <a:xfrm>
                  <a:off x="18460" y="9832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125"/>
                    <a:t>6%</a:t>
                  </a:r>
                  <a:endParaRPr lang="en-US" altLang="zh-CN" sz="1125"/>
                </a:p>
              </p:txBody>
            </p:sp>
            <p:sp>
              <p:nvSpPr>
                <p:cNvPr id="47" name="文本框 46"/>
                <p:cNvSpPr txBox="1"/>
                <p:nvPr/>
              </p:nvSpPr>
              <p:spPr>
                <a:xfrm>
                  <a:off x="12824" y="9832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-2%</a:t>
                  </a:r>
                  <a:endParaRPr lang="en-US" altLang="zh-CN" sz="1125"/>
                </a:p>
              </p:txBody>
            </p:sp>
            <p:sp>
              <p:nvSpPr>
                <p:cNvPr id="53" name="文本框 52"/>
                <p:cNvSpPr txBox="1"/>
                <p:nvPr/>
              </p:nvSpPr>
              <p:spPr>
                <a:xfrm>
                  <a:off x="14303" y="9832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125"/>
                    <a:t>0%</a:t>
                  </a:r>
                  <a:endParaRPr lang="en-US" altLang="zh-CN" sz="1125"/>
                </a:p>
              </p:txBody>
            </p:sp>
            <p:sp>
              <p:nvSpPr>
                <p:cNvPr id="10" name="文本框 9"/>
                <p:cNvSpPr txBox="1"/>
                <p:nvPr/>
              </p:nvSpPr>
              <p:spPr>
                <a:xfrm>
                  <a:off x="15796" y="9844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2%</a:t>
                  </a:r>
                  <a:endParaRPr lang="en-US" altLang="zh-CN" sz="1125"/>
                </a:p>
              </p:txBody>
            </p:sp>
          </p:grpSp>
          <p:grpSp>
            <p:nvGrpSpPr>
              <p:cNvPr id="59" name="组合 58"/>
              <p:cNvGrpSpPr/>
              <p:nvPr/>
            </p:nvGrpSpPr>
            <p:grpSpPr>
              <a:xfrm>
                <a:off x="6986" y="10883"/>
                <a:ext cx="8899" cy="1212"/>
                <a:chOff x="6124" y="10847"/>
                <a:chExt cx="8899" cy="1212"/>
              </a:xfrm>
            </p:grpSpPr>
            <p:sp>
              <p:nvSpPr>
                <p:cNvPr id="33" name="文本框 32"/>
                <p:cNvSpPr txBox="1"/>
                <p:nvPr/>
              </p:nvSpPr>
              <p:spPr>
                <a:xfrm>
                  <a:off x="12483" y="10892"/>
                  <a:ext cx="2540" cy="11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/>
                    <a:t>Latin America</a:t>
                  </a:r>
                  <a:endParaRPr lang="en-US" altLang="zh-CN" sz="1015"/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6331" y="10928"/>
                  <a:ext cx="1310" cy="11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/>
                    <a:t>Africa</a:t>
                  </a:r>
                  <a:endParaRPr lang="en-US" altLang="zh-CN" sz="1015"/>
                </a:p>
              </p:txBody>
            </p:sp>
            <p:sp>
              <p:nvSpPr>
                <p:cNvPr id="31" name="文本框 30"/>
                <p:cNvSpPr txBox="1"/>
                <p:nvPr/>
              </p:nvSpPr>
              <p:spPr>
                <a:xfrm>
                  <a:off x="8012" y="10915"/>
                  <a:ext cx="4471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/>
                    <a:t>South&amp;South-east Asia</a:t>
                  </a:r>
                  <a:endParaRPr lang="en-US" altLang="zh-CN" sz="1015"/>
                </a:p>
              </p:txBody>
            </p:sp>
            <p:sp>
              <p:nvSpPr>
                <p:cNvPr id="56" name="上箭头 55"/>
                <p:cNvSpPr/>
                <p:nvPr/>
              </p:nvSpPr>
              <p:spPr>
                <a:xfrm>
                  <a:off x="12193" y="10847"/>
                  <a:ext cx="290" cy="651"/>
                </a:xfrm>
                <a:prstGeom prst="upArrow">
                  <a:avLst>
                    <a:gd name="adj1" fmla="val 50000"/>
                    <a:gd name="adj2" fmla="val 101034"/>
                  </a:avLst>
                </a:prstGeom>
                <a:solidFill>
                  <a:srgbClr val="47A2DE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57" name="上箭头 56"/>
                <p:cNvSpPr/>
                <p:nvPr/>
              </p:nvSpPr>
              <p:spPr>
                <a:xfrm>
                  <a:off x="6124" y="10860"/>
                  <a:ext cx="290" cy="651"/>
                </a:xfrm>
                <a:prstGeom prst="upArrow">
                  <a:avLst>
                    <a:gd name="adj1" fmla="val 50000"/>
                    <a:gd name="adj2" fmla="val 93103"/>
                  </a:avLst>
                </a:prstGeom>
                <a:solidFill>
                  <a:srgbClr val="E85748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58" name="上箭头 57"/>
                <p:cNvSpPr/>
                <p:nvPr/>
              </p:nvSpPr>
              <p:spPr>
                <a:xfrm>
                  <a:off x="7810" y="10847"/>
                  <a:ext cx="290" cy="651"/>
                </a:xfrm>
                <a:prstGeom prst="upArrow">
                  <a:avLst>
                    <a:gd name="adj1" fmla="val 50000"/>
                    <a:gd name="adj2" fmla="val 108620"/>
                  </a:avLst>
                </a:prstGeom>
                <a:solidFill>
                  <a:srgbClr val="F39F1B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cxnSp>
            <p:nvCxnSpPr>
              <p:cNvPr id="60" name="直接连接符 59"/>
              <p:cNvCxnSpPr/>
              <p:nvPr/>
            </p:nvCxnSpPr>
            <p:spPr>
              <a:xfrm>
                <a:off x="2172" y="7254"/>
                <a:ext cx="7944" cy="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1" name="直接连接符 60"/>
              <p:cNvCxnSpPr/>
              <p:nvPr/>
            </p:nvCxnSpPr>
            <p:spPr>
              <a:xfrm>
                <a:off x="11827" y="5929"/>
                <a:ext cx="7944" cy="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2" name="直接连接符 61"/>
              <p:cNvCxnSpPr/>
              <p:nvPr/>
            </p:nvCxnSpPr>
            <p:spPr>
              <a:xfrm>
                <a:off x="6161" y="2821"/>
                <a:ext cx="0" cy="683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3" name="直接连接符 62"/>
              <p:cNvCxnSpPr/>
              <p:nvPr/>
            </p:nvCxnSpPr>
            <p:spPr>
              <a:xfrm>
                <a:off x="14719" y="2780"/>
                <a:ext cx="0" cy="683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sp>
          <p:nvSpPr>
            <p:cNvPr id="2" name="文本框 1"/>
            <p:cNvSpPr txBox="1"/>
            <p:nvPr/>
          </p:nvSpPr>
          <p:spPr>
            <a:xfrm>
              <a:off x="2385695" y="1859280"/>
              <a:ext cx="1438275" cy="99680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36%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4068445" y="1859280"/>
              <a:ext cx="1438275" cy="99680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12%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4" name="文本框 3"/>
            <p:cNvSpPr txBox="1"/>
            <p:nvPr/>
          </p:nvSpPr>
          <p:spPr>
            <a:xfrm>
              <a:off x="1639570" y="5347970"/>
              <a:ext cx="1438275" cy="99680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22%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4897120" y="5347970"/>
              <a:ext cx="1438275" cy="99680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30%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7593965" y="1859280"/>
              <a:ext cx="1438275" cy="7179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8%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593965" y="5347970"/>
              <a:ext cx="1438275" cy="7179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21%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10901680" y="5347970"/>
              <a:ext cx="1438275" cy="7179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27%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0901680" y="1859280"/>
              <a:ext cx="1438275" cy="7179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44%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组合 61"/>
          <p:cNvGrpSpPr/>
          <p:nvPr/>
        </p:nvGrpSpPr>
        <p:grpSpPr>
          <a:xfrm>
            <a:off x="-32147" y="5140978"/>
            <a:ext cx="8440760" cy="3483675"/>
            <a:chOff x="-90" y="613"/>
            <a:chExt cx="23631" cy="9753"/>
          </a:xfrm>
        </p:grpSpPr>
        <p:sp>
          <p:nvSpPr>
            <p:cNvPr id="66" name="矩形 65"/>
            <p:cNvSpPr/>
            <p:nvPr/>
          </p:nvSpPr>
          <p:spPr>
            <a:xfrm>
              <a:off x="-90" y="613"/>
              <a:ext cx="23631" cy="943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2" name="图片 1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-22" y="2588"/>
              <a:ext cx="15122" cy="6309"/>
            </a:xfrm>
            <a:prstGeom prst="rect">
              <a:avLst/>
            </a:prstGeom>
          </p:spPr>
        </p:pic>
        <p:pic>
          <p:nvPicPr>
            <p:cNvPr id="3" name="图片 2"/>
            <p:cNvPicPr>
              <a:picLocks noChangeAspect="1"/>
            </p:cNvPicPr>
            <p:nvPr/>
          </p:nvPicPr>
          <p:blipFill>
            <a:blip r:embed="rId2"/>
            <a:srcRect r="49995"/>
            <a:stretch>
              <a:fillRect/>
            </a:stretch>
          </p:blipFill>
          <p:spPr>
            <a:xfrm>
              <a:off x="15100" y="2617"/>
              <a:ext cx="7526" cy="6280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11994" y="-2399"/>
              <a:ext cx="923" cy="2203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/>
            </a:p>
          </p:txBody>
        </p:sp>
        <p:sp>
          <p:nvSpPr>
            <p:cNvPr id="7" name="矩形 6"/>
            <p:cNvSpPr/>
            <p:nvPr/>
          </p:nvSpPr>
          <p:spPr>
            <a:xfrm>
              <a:off x="223" y="2210"/>
              <a:ext cx="924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5" name="矩形 4"/>
            <p:cNvSpPr/>
            <p:nvPr/>
          </p:nvSpPr>
          <p:spPr>
            <a:xfrm>
              <a:off x="7567" y="2103"/>
              <a:ext cx="1157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4559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223" y="7018"/>
              <a:ext cx="92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-0.04</a:t>
              </a:r>
              <a:endParaRPr lang="en-US" altLang="zh-CN" sz="1125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312" y="8234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-2</a:t>
              </a:r>
              <a:endParaRPr lang="en-US" altLang="zh-CN" sz="1125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6701" y="8234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438" y="2355"/>
              <a:ext cx="73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35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551" y="5535"/>
              <a:ext cx="530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320" y="4111"/>
              <a:ext cx="82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>
                  <a:ea typeface="宋体" panose="02010600030101010101" pitchFamily="2" charset="-122"/>
                </a:rPr>
                <a:t>0.04</a:t>
              </a:r>
              <a:endParaRPr lang="en-US" altLang="zh-CN" sz="1125">
                <a:ea typeface="宋体" panose="02010600030101010101" pitchFamily="2" charset="-122"/>
              </a:endParaRP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9197" y="81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-0.04</a:t>
              </a:r>
              <a:endParaRPr lang="en-US" altLang="zh-CN" sz="1125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12792" y="8156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0.04</a:t>
              </a:r>
              <a:endParaRPr lang="en-US" altLang="zh-CN" sz="1125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4077" y="8156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7847" y="2274"/>
              <a:ext cx="96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35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1385" y="8156"/>
              <a:ext cx="26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674" y="512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259" y="6437"/>
              <a:ext cx="1416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-0.005</a:t>
              </a:r>
              <a:endParaRPr lang="en-US" altLang="zh-CN" sz="1015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7573" y="369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0.005</a:t>
              </a:r>
              <a:endParaRPr lang="en-US" altLang="zh-CN" sz="1015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22027" y="8234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5100" y="2263"/>
              <a:ext cx="999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35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2988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-1</a:t>
              </a:r>
              <a:endParaRPr lang="en-US" altLang="zh-CN" sz="1125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6130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1</a:t>
              </a:r>
              <a:endParaRPr lang="en-US" altLang="zh-CN" sz="1125"/>
            </a:p>
          </p:txBody>
        </p:sp>
        <p:sp>
          <p:nvSpPr>
            <p:cNvPr id="46" name="矩形 45"/>
            <p:cNvSpPr/>
            <p:nvPr/>
          </p:nvSpPr>
          <p:spPr>
            <a:xfrm>
              <a:off x="15141" y="2103"/>
              <a:ext cx="1157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5248" y="512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14833" y="6437"/>
              <a:ext cx="1416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-0.005</a:t>
              </a:r>
              <a:endParaRPr lang="en-US" altLang="zh-CN" sz="1015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5147" y="369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0.005</a:t>
              </a:r>
              <a:endParaRPr lang="en-US" altLang="zh-CN" sz="1015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19716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6469" y="8234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-2</a:t>
              </a:r>
              <a:endParaRPr lang="en-US" altLang="zh-CN" sz="1125"/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8145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-1</a:t>
              </a:r>
              <a:endParaRPr lang="en-US" altLang="zh-CN" sz="1125"/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21287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1</a:t>
              </a:r>
              <a:endParaRPr lang="en-US" altLang="zh-CN" sz="1125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文本框 54"/>
                <p:cNvSpPr txBox="1"/>
                <p:nvPr/>
              </p:nvSpPr>
              <p:spPr>
                <a:xfrm>
                  <a:off x="4785" y="784"/>
                  <a:ext cx="12486" cy="16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575">
                      <a:latin typeface="Arial" panose="020B0604020202020204" pitchFamily="34" charset="0"/>
                      <a:cs typeface="Arial" panose="020B0604020202020204" pitchFamily="34" charset="0"/>
                    </a:rPr>
                    <a:t>Change of Vertical Params</a:t>
                  </a:r>
                  <a:endParaRPr lang="en-US" altLang="zh-CN" sz="1575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57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575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5" name="文本框 5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5" y="784"/>
                  <a:ext cx="12486" cy="1600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文本框 55"/>
            <p:cNvSpPr txBox="1"/>
            <p:nvPr/>
          </p:nvSpPr>
          <p:spPr>
            <a:xfrm>
              <a:off x="13635" y="9199"/>
              <a:ext cx="2540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15"/>
                <a:t>Latin America</a:t>
              </a:r>
              <a:endParaRPr lang="en-US" altLang="zh-CN" sz="1015"/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7483" y="9235"/>
              <a:ext cx="1310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15"/>
                <a:t>Africa</a:t>
              </a:r>
              <a:endParaRPr lang="en-US" altLang="zh-CN" sz="1015"/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9164" y="9222"/>
              <a:ext cx="4471" cy="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15"/>
                <a:t>South&amp;South-east Asia</a:t>
              </a:r>
              <a:endParaRPr lang="en-US" altLang="zh-CN" sz="1015"/>
            </a:p>
          </p:txBody>
        </p:sp>
        <p:sp>
          <p:nvSpPr>
            <p:cNvPr id="59" name="上箭头 58"/>
            <p:cNvSpPr/>
            <p:nvPr/>
          </p:nvSpPr>
          <p:spPr>
            <a:xfrm>
              <a:off x="13345" y="9154"/>
              <a:ext cx="290" cy="651"/>
            </a:xfrm>
            <a:prstGeom prst="upArrow">
              <a:avLst>
                <a:gd name="adj1" fmla="val 50000"/>
                <a:gd name="adj2" fmla="val 101034"/>
              </a:avLst>
            </a:prstGeom>
            <a:solidFill>
              <a:srgbClr val="47A2DE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/>
            </a:p>
          </p:txBody>
        </p:sp>
        <p:sp>
          <p:nvSpPr>
            <p:cNvPr id="60" name="上箭头 59"/>
            <p:cNvSpPr/>
            <p:nvPr/>
          </p:nvSpPr>
          <p:spPr>
            <a:xfrm>
              <a:off x="7276" y="9167"/>
              <a:ext cx="290" cy="651"/>
            </a:xfrm>
            <a:prstGeom prst="upArrow">
              <a:avLst>
                <a:gd name="adj1" fmla="val 50000"/>
                <a:gd name="adj2" fmla="val 93103"/>
              </a:avLst>
            </a:prstGeom>
            <a:solidFill>
              <a:srgbClr val="E85748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>
                <a:solidFill>
                  <a:srgbClr val="9467BD"/>
                </a:solidFill>
              </a:endParaRPr>
            </a:p>
          </p:txBody>
        </p:sp>
        <p:sp>
          <p:nvSpPr>
            <p:cNvPr id="61" name="上箭头 60"/>
            <p:cNvSpPr/>
            <p:nvPr/>
          </p:nvSpPr>
          <p:spPr>
            <a:xfrm>
              <a:off x="8962" y="9154"/>
              <a:ext cx="290" cy="651"/>
            </a:xfrm>
            <a:prstGeom prst="upArrow">
              <a:avLst>
                <a:gd name="adj1" fmla="val 50000"/>
                <a:gd name="adj2" fmla="val 108620"/>
              </a:avLst>
            </a:prstGeom>
            <a:solidFill>
              <a:srgbClr val="F39F1B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/>
            </a:p>
          </p:txBody>
        </p:sp>
      </p:grpSp>
      <p:sp>
        <p:nvSpPr>
          <p:cNvPr id="4" name="文本框 3"/>
          <p:cNvSpPr txBox="1"/>
          <p:nvPr/>
        </p:nvSpPr>
        <p:spPr>
          <a:xfrm>
            <a:off x="3340442" y="5911437"/>
            <a:ext cx="709380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>
                <a:latin typeface="Arial" panose="020B0604020202020204" pitchFamily="34" charset="0"/>
                <a:cs typeface="Arial" panose="020B0604020202020204" pitchFamily="34" charset="0"/>
              </a:rPr>
              <a:t>52% B</a:t>
            </a:r>
            <a:r>
              <a:rPr lang="en-US" altLang="zh-CN" sz="1015">
                <a:latin typeface="Arial" panose="020B0604020202020204" pitchFamily="34" charset="0"/>
                <a:ea typeface="东文宋体" charset="0"/>
                <a:cs typeface="Arial" panose="020B0604020202020204" pitchFamily="34" charset="0"/>
              </a:rPr>
              <a:t>↓C↑</a:t>
            </a:r>
            <a:endParaRPr lang="en-US" altLang="zh-CN" sz="1015">
              <a:latin typeface="Arial" panose="020B0604020202020204" pitchFamily="34" charset="0"/>
              <a:ea typeface="东文宋体" charset="0"/>
              <a:cs typeface="Arial" panose="020B0604020202020204" pitchFamily="34" charset="0"/>
            </a:endParaRPr>
          </a:p>
        </p:txBody>
      </p:sp>
      <p:cxnSp>
        <p:nvCxnSpPr>
          <p:cNvPr id="6" name="直接连接符 5"/>
          <p:cNvCxnSpPr/>
          <p:nvPr/>
        </p:nvCxnSpPr>
        <p:spPr>
          <a:xfrm>
            <a:off x="435772" y="6978721"/>
            <a:ext cx="2202434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/>
        </p:nvCxnSpPr>
        <p:spPr>
          <a:xfrm>
            <a:off x="1726300" y="5849286"/>
            <a:ext cx="0" cy="198562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2" name="直接连接符 21"/>
          <p:cNvCxnSpPr/>
          <p:nvPr/>
        </p:nvCxnSpPr>
        <p:spPr>
          <a:xfrm>
            <a:off x="3121842" y="6812270"/>
            <a:ext cx="2202434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5" name="直接连接符 24"/>
          <p:cNvCxnSpPr/>
          <p:nvPr/>
        </p:nvCxnSpPr>
        <p:spPr>
          <a:xfrm>
            <a:off x="4113759" y="5854644"/>
            <a:ext cx="0" cy="198562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直接连接符 25"/>
          <p:cNvCxnSpPr/>
          <p:nvPr/>
        </p:nvCxnSpPr>
        <p:spPr>
          <a:xfrm>
            <a:off x="5833986" y="6830487"/>
            <a:ext cx="2202434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7" name="直接连接符 26"/>
          <p:cNvCxnSpPr/>
          <p:nvPr/>
        </p:nvCxnSpPr>
        <p:spPr>
          <a:xfrm>
            <a:off x="7133087" y="5882504"/>
            <a:ext cx="0" cy="198562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9" name="文本框 28"/>
          <p:cNvSpPr txBox="1"/>
          <p:nvPr/>
        </p:nvSpPr>
        <p:spPr>
          <a:xfrm>
            <a:off x="4614896" y="6840131"/>
            <a:ext cx="709380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>
                <a:latin typeface="Arial" panose="020B0604020202020204" pitchFamily="34" charset="0"/>
                <a:cs typeface="Arial" panose="020B0604020202020204" pitchFamily="34" charset="0"/>
              </a:rPr>
              <a:t>52% B</a:t>
            </a:r>
            <a:r>
              <a:rPr lang="en-US" altLang="zh-CN" sz="1015">
                <a:latin typeface="Arial" panose="020B0604020202020204" pitchFamily="34" charset="0"/>
                <a:ea typeface="东文宋体" charset="0"/>
                <a:cs typeface="Arial" panose="020B0604020202020204" pitchFamily="34" charset="0"/>
              </a:rPr>
              <a:t>↓C↑</a:t>
            </a:r>
            <a:endParaRPr lang="en-US" altLang="zh-CN" sz="1015">
              <a:latin typeface="Arial" panose="020B0604020202020204" pitchFamily="34" charset="0"/>
              <a:ea typeface="东文宋体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2" name="表格 31"/>
              <p:cNvGraphicFramePr/>
              <p:nvPr>
                <p:custDataLst>
                  <p:tags r:id="rId1"/>
                </p:custDataLst>
              </p:nvPr>
            </p:nvGraphicFramePr>
            <p:xfrm>
              <a:off x="5468224" y="10530620"/>
              <a:ext cx="1976120" cy="1359535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542925"/>
                    <a:gridCol w="784860"/>
                    <a:gridCol w="648335"/>
                  </a:tblGrid>
                  <a:tr h="1549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ΔParam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Significance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𝛼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𝛽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𝜅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𝛿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𝐴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/>
                            <a:t>not significant</a:t>
                          </a:r>
                          <a:endParaRPr lang="en-US" altLang="zh-CN" sz="79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>
                              <a:sym typeface="+mn-ea"/>
                            </a:rPr>
                            <a:t>not significant</a:t>
                          </a:r>
                          <a:endParaRPr lang="en-US" altLang="zh-CN" sz="790">
                            <a:sym typeface="+mn-ea"/>
                          </a:endParaRPr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32" name="表格 31"/>
              <p:cNvGraphicFramePr/>
              <p:nvPr>
                <p:custDataLst>
                  <p:tags r:id="rId2"/>
                </p:custDataLst>
              </p:nvPr>
            </p:nvGraphicFramePr>
            <p:xfrm>
              <a:off x="5468224" y="10530620"/>
              <a:ext cx="1976120" cy="1359535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542925"/>
                    <a:gridCol w="784860"/>
                    <a:gridCol w="648335"/>
                  </a:tblGrid>
                  <a:tr h="1549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ΔParam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Significance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/>
                            <a:t>not significant</a:t>
                          </a:r>
                          <a:endParaRPr lang="en-US" altLang="zh-CN" sz="79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>
                              <a:sym typeface="+mn-ea"/>
                            </a:rPr>
                            <a:t>not significant</a:t>
                          </a:r>
                          <a:endParaRPr lang="en-US" altLang="zh-CN" sz="790">
                            <a:sym typeface="+mn-ea"/>
                          </a:endParaRPr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</a:tbl>
              </a:graphicData>
            </a:graphic>
          </p:graphicFrame>
        </mc:Fallback>
      </mc:AlternateContent>
      <p:grpSp>
        <p:nvGrpSpPr>
          <p:cNvPr id="33" name="组合 32"/>
          <p:cNvGrpSpPr/>
          <p:nvPr/>
        </p:nvGrpSpPr>
        <p:grpSpPr>
          <a:xfrm>
            <a:off x="98584" y="10141282"/>
            <a:ext cx="7345972" cy="2647136"/>
            <a:chOff x="992" y="61"/>
            <a:chExt cx="20566" cy="7411"/>
          </a:xfrm>
        </p:grpSpPr>
        <p:sp>
          <p:nvSpPr>
            <p:cNvPr id="6" name="文本框 5"/>
            <p:cNvSpPr txBox="1"/>
            <p:nvPr/>
          </p:nvSpPr>
          <p:spPr>
            <a:xfrm>
              <a:off x="992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15" b="1" i="1"/>
                <a:t>Strong Significance ***</a:t>
              </a:r>
              <a:endParaRPr lang="en-US" altLang="zh-CN" sz="1015" b="1" i="1"/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6285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  <a:endParaRPr lang="en-US" altLang="zh-CN" sz="1015" b="1" i="1">
                <a:sym typeface="+mn-ea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11744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  <a:endParaRPr lang="en-US" altLang="zh-CN" sz="1015" b="1" i="1">
                <a:sym typeface="+mn-ea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7203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  <a:endParaRPr lang="en-US" altLang="zh-CN" sz="1015" b="1" i="1">
                <a:sym typeface="+mn-ea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992" y="6333"/>
              <a:ext cx="4355" cy="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Not Significant</a:t>
              </a:r>
              <a:endParaRPr lang="en-US" altLang="zh-CN" sz="1015" b="1" i="1">
                <a:sym typeface="+mn-ea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6264" y="634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  <a:endParaRPr lang="en-US" altLang="zh-CN" sz="1015" b="1" i="1">
                <a:sym typeface="+mn-ea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1744" y="6333"/>
              <a:ext cx="4355" cy="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Significance *</a:t>
              </a:r>
              <a:endParaRPr lang="en-US" altLang="zh-CN" sz="1015" b="1" i="1">
                <a:sym typeface="+mn-ea"/>
              </a:endParaRPr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5888994" y="9540131"/>
            <a:ext cx="1980262" cy="560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Population growth ↑ </a:t>
            </a:r>
            <a:endParaRPr lang="en-US" altLang="zh-CN" sz="1015" b="1">
              <a:sym typeface="+mn-ea"/>
            </a:endParaRP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→ Δα ↓, Δβ ↑, Δκ ↑, Δδ ↓</a:t>
            </a:r>
            <a:endParaRPr lang="en-US" altLang="zh-CN" sz="1015" b="1">
              <a:sym typeface="+mn-ea"/>
            </a:endParaRP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→ ΔB ↓, ΔC ↑</a:t>
            </a:r>
            <a:endParaRPr lang="en-US" altLang="zh-CN" sz="1015" b="1">
              <a:sym typeface="+mn-ea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61794" y="5136691"/>
            <a:ext cx="7769242" cy="4196627"/>
            <a:chOff x="109855" y="381635"/>
            <a:chExt cx="13811885" cy="7460615"/>
          </a:xfrm>
        </p:grpSpPr>
        <p:pic>
          <p:nvPicPr>
            <p:cNvPr id="42" name="图片 41"/>
            <p:cNvPicPr>
              <a:picLocks noChangeAspect="1"/>
            </p:cNvPicPr>
            <p:nvPr/>
          </p:nvPicPr>
          <p:blipFill>
            <a:blip r:embed="rId4"/>
            <a:srcRect l="8417" t="1057" b="7890"/>
            <a:stretch>
              <a:fillRect/>
            </a:stretch>
          </p:blipFill>
          <p:spPr>
            <a:xfrm>
              <a:off x="10466705" y="381635"/>
              <a:ext cx="3247390" cy="3282950"/>
            </a:xfrm>
            <a:prstGeom prst="rect">
              <a:avLst/>
            </a:prstGeom>
          </p:spPr>
        </p:pic>
        <p:grpSp>
          <p:nvGrpSpPr>
            <p:cNvPr id="39" name="组合 38"/>
            <p:cNvGrpSpPr/>
            <p:nvPr/>
          </p:nvGrpSpPr>
          <p:grpSpPr>
            <a:xfrm>
              <a:off x="109855" y="381635"/>
              <a:ext cx="13811885" cy="7460615"/>
              <a:chOff x="173" y="601"/>
              <a:chExt cx="21751" cy="11749"/>
            </a:xfrm>
          </p:grpSpPr>
          <p:pic>
            <p:nvPicPr>
              <p:cNvPr id="5" name="图片 4"/>
              <p:cNvPicPr/>
              <p:nvPr/>
            </p:nvPicPr>
            <p:blipFill>
              <a:blip r:embed="rId5"/>
              <a:srcRect l="1918" t="1292" r="75749" b="52389"/>
              <a:stretch>
                <a:fillRect/>
              </a:stretch>
            </p:blipFill>
            <p:spPr>
              <a:xfrm>
                <a:off x="173" y="641"/>
                <a:ext cx="5042" cy="5197"/>
              </a:xfrm>
              <a:prstGeom prst="rect">
                <a:avLst/>
              </a:prstGeom>
            </p:spPr>
          </p:pic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" name="文本框 12"/>
                  <p:cNvSpPr txBox="1"/>
                  <p:nvPr/>
                </p:nvSpPr>
                <p:spPr>
                  <a:xfrm>
                    <a:off x="732" y="70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2" y="701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4" name="图片 13"/>
              <p:cNvPicPr/>
              <p:nvPr/>
            </p:nvPicPr>
            <p:blipFill>
              <a:blip r:embed="rId5"/>
              <a:srcRect l="27028" t="1292" r="50577" b="52389"/>
              <a:stretch>
                <a:fillRect/>
              </a:stretch>
            </p:blipFill>
            <p:spPr>
              <a:xfrm>
                <a:off x="5515" y="641"/>
                <a:ext cx="5056" cy="5197"/>
              </a:xfrm>
              <a:prstGeom prst="rect">
                <a:avLst/>
              </a:prstGeom>
            </p:spPr>
          </p:pic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6025" y="64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25" y="641"/>
                    <a:ext cx="1199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6" name="图片 15"/>
              <p:cNvPicPr/>
              <p:nvPr/>
            </p:nvPicPr>
            <p:blipFill>
              <a:blip r:embed="rId5"/>
              <a:srcRect l="52342" t="811" r="25263" b="52513"/>
              <a:stretch>
                <a:fillRect/>
              </a:stretch>
            </p:blipFill>
            <p:spPr>
              <a:xfrm>
                <a:off x="10999" y="601"/>
                <a:ext cx="5056" cy="5237"/>
              </a:xfrm>
              <a:prstGeom prst="rect">
                <a:avLst/>
              </a:prstGeom>
            </p:spPr>
          </p:pic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11484" y="64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2" name="文本框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84" y="64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3" name="文本框 22"/>
                  <p:cNvSpPr txBox="1"/>
                  <p:nvPr/>
                </p:nvSpPr>
                <p:spPr>
                  <a:xfrm>
                    <a:off x="17039" y="635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3" name="文本框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039" y="635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文本框 26"/>
              <p:cNvSpPr txBox="1"/>
              <p:nvPr/>
            </p:nvSpPr>
            <p:spPr>
              <a:xfrm>
                <a:off x="550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  <a:endParaRPr lang="en-US" altLang="zh-CN" sz="1125"/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5946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  <a:endParaRPr lang="en-US" altLang="zh-CN" sz="1125"/>
              </a:p>
            </p:txBody>
          </p:sp>
          <p:sp>
            <p:nvSpPr>
              <p:cNvPr id="30" name="文本框 29"/>
              <p:cNvSpPr txBox="1"/>
              <p:nvPr/>
            </p:nvSpPr>
            <p:spPr>
              <a:xfrm>
                <a:off x="11342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  <a:endParaRPr lang="en-US" altLang="zh-CN" sz="1125"/>
              </a:p>
            </p:txBody>
          </p:sp>
          <p:sp>
            <p:nvSpPr>
              <p:cNvPr id="31" name="文本框 30"/>
              <p:cNvSpPr txBox="1"/>
              <p:nvPr/>
            </p:nvSpPr>
            <p:spPr>
              <a:xfrm>
                <a:off x="16945" y="5681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  <a:endParaRPr lang="en-US" altLang="zh-CN" sz="1125"/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6432" y="10351"/>
                <a:ext cx="5061" cy="1999"/>
                <a:chOff x="16736" y="6695"/>
                <a:chExt cx="5061" cy="1999"/>
              </a:xfrm>
            </p:grpSpPr>
            <p:sp>
              <p:nvSpPr>
                <p:cNvPr id="35" name="椭圆 34"/>
                <p:cNvSpPr/>
                <p:nvPr/>
              </p:nvSpPr>
              <p:spPr>
                <a:xfrm>
                  <a:off x="16736" y="8135"/>
                  <a:ext cx="257" cy="255"/>
                </a:xfrm>
                <a:prstGeom prst="ellipse">
                  <a:avLst/>
                </a:prstGeom>
                <a:solidFill>
                  <a:srgbClr val="47A2DE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17013" y="7953"/>
                  <a:ext cx="3168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Latin America</a:t>
                  </a:r>
                  <a:endParaRPr lang="en-US" altLang="zh-CN" sz="1125"/>
                </a:p>
              </p:txBody>
            </p:sp>
            <p:sp>
              <p:nvSpPr>
                <p:cNvPr id="44" name="椭圆 43"/>
                <p:cNvSpPr/>
                <p:nvPr/>
              </p:nvSpPr>
              <p:spPr>
                <a:xfrm>
                  <a:off x="16736" y="6868"/>
                  <a:ext cx="257" cy="255"/>
                </a:xfrm>
                <a:prstGeom prst="ellipse">
                  <a:avLst/>
                </a:prstGeom>
                <a:solidFill>
                  <a:srgbClr val="E85748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17013" y="6695"/>
                  <a:ext cx="322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Africa</a:t>
                  </a:r>
                  <a:endParaRPr lang="en-US" altLang="zh-CN" sz="1125"/>
                </a:p>
              </p:txBody>
            </p:sp>
            <p:sp>
              <p:nvSpPr>
                <p:cNvPr id="48" name="椭圆 47"/>
                <p:cNvSpPr/>
                <p:nvPr/>
              </p:nvSpPr>
              <p:spPr>
                <a:xfrm>
                  <a:off x="16736" y="7510"/>
                  <a:ext cx="257" cy="255"/>
                </a:xfrm>
                <a:prstGeom prst="ellipse">
                  <a:avLst/>
                </a:prstGeom>
                <a:solidFill>
                  <a:srgbClr val="F39F1B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17013" y="7324"/>
                  <a:ext cx="4784" cy="12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>
                      <a:sym typeface="+mn-ea"/>
                    </a:rPr>
                    <a:t>South &amp; South-east Asia</a:t>
                  </a:r>
                  <a:endParaRPr lang="en-US" altLang="zh-CN" sz="1125">
                    <a:sym typeface="+mn-ea"/>
                  </a:endParaRPr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245" y="6378"/>
                <a:ext cx="15881" cy="5968"/>
                <a:chOff x="503" y="6892"/>
                <a:chExt cx="15881" cy="5968"/>
              </a:xfrm>
            </p:grpSpPr>
            <p:grpSp>
              <p:nvGrpSpPr>
                <p:cNvPr id="2" name="组合 1"/>
                <p:cNvGrpSpPr/>
                <p:nvPr/>
              </p:nvGrpSpPr>
              <p:grpSpPr>
                <a:xfrm>
                  <a:off x="503" y="6892"/>
                  <a:ext cx="15881" cy="5230"/>
                  <a:chOff x="433" y="6578"/>
                  <a:chExt cx="15881" cy="5230"/>
                </a:xfrm>
              </p:grpSpPr>
              <p:pic>
                <p:nvPicPr>
                  <p:cNvPr id="18" name="图片 17"/>
                  <p:cNvPicPr/>
                  <p:nvPr/>
                </p:nvPicPr>
                <p:blipFill>
                  <a:blip r:embed="rId5"/>
                  <a:srcRect l="1917" t="50579" r="75927" b="3155"/>
                  <a:stretch>
                    <a:fillRect/>
                  </a:stretch>
                </p:blipFill>
                <p:spPr>
                  <a:xfrm>
                    <a:off x="433" y="6597"/>
                    <a:ext cx="5002" cy="5191"/>
                  </a:xfrm>
                  <a:prstGeom prst="rect">
                    <a:avLst/>
                  </a:prstGeom>
                </p:spPr>
              </p:pic>
              <p:pic>
                <p:nvPicPr>
                  <p:cNvPr id="19" name="图片 18"/>
                  <p:cNvPicPr/>
                  <p:nvPr/>
                </p:nvPicPr>
                <p:blipFill>
                  <a:blip r:embed="rId5"/>
                  <a:srcRect l="27196" t="50579" r="50688" b="2977"/>
                  <a:stretch>
                    <a:fillRect/>
                  </a:stretch>
                </p:blipFill>
                <p:spPr>
                  <a:xfrm>
                    <a:off x="5768" y="6598"/>
                    <a:ext cx="4993" cy="5211"/>
                  </a:xfrm>
                  <a:prstGeom prst="rect">
                    <a:avLst/>
                  </a:prstGeom>
                </p:spPr>
              </p:pic>
              <p:pic>
                <p:nvPicPr>
                  <p:cNvPr id="20" name="图片 19"/>
                  <p:cNvPicPr/>
                  <p:nvPr/>
                </p:nvPicPr>
                <p:blipFill>
                  <a:blip r:embed="rId5"/>
                  <a:srcRect l="50916" t="50579" r="25356" b="2977"/>
                  <a:stretch>
                    <a:fillRect/>
                  </a:stretch>
                </p:blipFill>
                <p:spPr>
                  <a:xfrm>
                    <a:off x="10958" y="6578"/>
                    <a:ext cx="5357" cy="5211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4" name="文本框 23"/>
                      <p:cNvSpPr txBox="1"/>
                      <p:nvPr/>
                    </p:nvSpPr>
                    <p:spPr>
                      <a:xfrm>
                        <a:off x="810" y="659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𝐴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4" name="文本框 23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0" y="659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0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5" name="文本框 24"/>
                      <p:cNvSpPr txBox="1"/>
                      <p:nvPr/>
                    </p:nvSpPr>
                    <p:spPr>
                      <a:xfrm>
                        <a:off x="6109" y="662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𝐵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5" name="文本框 24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109" y="662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1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6" name="文本框 25"/>
                      <p:cNvSpPr txBox="1"/>
                      <p:nvPr/>
                    </p:nvSpPr>
                    <p:spPr>
                      <a:xfrm>
                        <a:off x="11744" y="662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𝐶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6" name="文本框 25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1744" y="662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2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4" name="文本框 3"/>
                <p:cNvSpPr txBox="1"/>
                <p:nvPr/>
              </p:nvSpPr>
              <p:spPr>
                <a:xfrm>
                  <a:off x="810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  <a:endParaRPr lang="en-US" altLang="zh-CN" sz="1125"/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6206" y="12102"/>
                  <a:ext cx="4497" cy="75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  <a:endParaRPr lang="en-US" altLang="zh-CN" sz="1125"/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11602" y="12102"/>
                  <a:ext cx="4497" cy="75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  <a:endParaRPr lang="en-US" altLang="zh-CN" sz="1125"/>
                </a:p>
              </p:txBody>
            </p:sp>
          </p:grpSp>
          <p:pic>
            <p:nvPicPr>
              <p:cNvPr id="37" name="图片 36"/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6389" y="6417"/>
                <a:ext cx="5535" cy="3825"/>
              </a:xfrm>
              <a:prstGeom prst="rect">
                <a:avLst/>
              </a:prstGeom>
            </p:spPr>
          </p:pic>
        </p:grp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表格 1"/>
              <p:cNvGraphicFramePr/>
              <p:nvPr/>
            </p:nvGraphicFramePr>
            <p:xfrm>
              <a:off x="1215161" y="6664036"/>
              <a:ext cx="5669280" cy="1869440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1889760"/>
                    <a:gridCol w="1889760"/>
                    <a:gridCol w="1889760"/>
                  </a:tblGrid>
                  <a:tr h="2336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altLang="en-US" sz="1195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Δ</a:t>
                          </a:r>
                          <a:r>
                            <a:rPr lang="en-US" altLang="zh-CN" sz="1195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Param</a:t>
                          </a:r>
                          <a:endParaRPr lang="en-US" altLang="zh-CN" sz="1195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195"/>
                            <a:t>Significance</a:t>
                          </a:r>
                          <a:endParaRPr lang="en-US" altLang="zh-CN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195"/>
                            <a:t>Sign</a:t>
                          </a:r>
                          <a:endParaRPr lang="en-US" altLang="zh-CN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1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𝛥𝛼</m:t>
                                </m:r>
                              </m:oMath>
                            </m:oMathPara>
                          </a14:m>
                          <a:endParaRPr lang="zh-CN" altLang="en-US" sz="1195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1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𝛥𝛽</m:t>
                                </m:r>
                              </m:oMath>
                            </m:oMathPara>
                          </a14:m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1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𝛥𝜅</m:t>
                                </m:r>
                              </m:oMath>
                            </m:oMathPara>
                          </a14:m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1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𝛥𝛿</m:t>
                                </m:r>
                              </m:oMath>
                            </m:oMathPara>
                          </a14:m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1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</m:t>
                                </m:r>
                                <m:r>
                                  <a:rPr lang="en-US" altLang="zh-CN" sz="11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𝐴</m:t>
                                </m:r>
                              </m:oMath>
                            </m:oMathPara>
                          </a14:m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1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</m:t>
                                </m:r>
                                <m:r>
                                  <a:rPr lang="en-US" altLang="zh-CN" sz="11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1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</m:t>
                                </m:r>
                                <m:r>
                                  <a:rPr lang="en-US" altLang="zh-CN" sz="11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表格 1"/>
              <p:cNvGraphicFramePr/>
              <p:nvPr/>
            </p:nvGraphicFramePr>
            <p:xfrm>
              <a:off x="1215161" y="6664036"/>
              <a:ext cx="5669280" cy="1869440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1889760"/>
                    <a:gridCol w="1889760"/>
                    <a:gridCol w="1889760"/>
                  </a:tblGrid>
                  <a:tr h="2336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altLang="en-US" sz="1195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Δ</a:t>
                          </a:r>
                          <a:r>
                            <a:rPr lang="en-US" altLang="zh-CN" sz="1195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Param</a:t>
                          </a:r>
                          <a:endParaRPr lang="en-US" altLang="zh-CN" sz="1195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195"/>
                            <a:t>Significance</a:t>
                          </a:r>
                          <a:endParaRPr lang="en-US" altLang="zh-CN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195"/>
                            <a:t>Sign</a:t>
                          </a:r>
                          <a:endParaRPr lang="en-US" altLang="zh-CN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51435" marR="51435" marT="25717" marB="25717"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51435" marR="51435" marT="25717" marB="25717"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51435" marR="51435" marT="25717" marB="25717"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51435" marR="51435" marT="25717" marB="25717"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51435" marR="51435" marT="25717" marB="25717"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51435" marR="51435" marT="25717" marB="25717"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51435" marR="51435" marT="25717" marB="25717"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</a:tbl>
              </a:graphicData>
            </a:graphic>
          </p:graphicFrame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组合 30"/>
          <p:cNvGrpSpPr/>
          <p:nvPr/>
        </p:nvGrpSpPr>
        <p:grpSpPr>
          <a:xfrm>
            <a:off x="161093" y="5368508"/>
            <a:ext cx="7523853" cy="3687631"/>
            <a:chOff x="451" y="1250"/>
            <a:chExt cx="21064" cy="10324"/>
          </a:xfrm>
        </p:grpSpPr>
        <p:pic>
          <p:nvPicPr>
            <p:cNvPr id="30" name="图片 29"/>
            <p:cNvPicPr/>
            <p:nvPr/>
          </p:nvPicPr>
          <p:blipFill>
            <a:blip r:embed="rId1"/>
            <a:srcRect t="4937"/>
            <a:stretch>
              <a:fillRect/>
            </a:stretch>
          </p:blipFill>
          <p:spPr>
            <a:xfrm>
              <a:off x="11468" y="2755"/>
              <a:ext cx="8035" cy="7953"/>
            </a:xfrm>
            <a:prstGeom prst="rect">
              <a:avLst/>
            </a:prstGeom>
          </p:spPr>
        </p:pic>
        <p:pic>
          <p:nvPicPr>
            <p:cNvPr id="29" name="图片 28"/>
            <p:cNvPicPr/>
            <p:nvPr/>
          </p:nvPicPr>
          <p:blipFill>
            <a:blip r:embed="rId2"/>
            <a:srcRect t="4937"/>
            <a:stretch>
              <a:fillRect/>
            </a:stretch>
          </p:blipFill>
          <p:spPr>
            <a:xfrm>
              <a:off x="1160" y="2755"/>
              <a:ext cx="8035" cy="7953"/>
            </a:xfrm>
            <a:prstGeom prst="rect">
              <a:avLst/>
            </a:prstGeom>
          </p:spPr>
        </p:pic>
        <p:grpSp>
          <p:nvGrpSpPr>
            <p:cNvPr id="28" name="组合 27"/>
            <p:cNvGrpSpPr/>
            <p:nvPr/>
          </p:nvGrpSpPr>
          <p:grpSpPr>
            <a:xfrm>
              <a:off x="451" y="1250"/>
              <a:ext cx="21065" cy="10324"/>
              <a:chOff x="655" y="941"/>
              <a:chExt cx="21065" cy="10324"/>
            </a:xfrm>
          </p:grpSpPr>
          <p:grpSp>
            <p:nvGrpSpPr>
              <p:cNvPr id="11" name="组合 10"/>
              <p:cNvGrpSpPr/>
              <p:nvPr/>
            </p:nvGrpSpPr>
            <p:grpSpPr>
              <a:xfrm>
                <a:off x="655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3" name="文本框 12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3" name="文本框 1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3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5" name="文本框 14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5" name="文本框 14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2" name="文本框 21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2" name="文本框 2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3" name="文本框 22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3" name="文本框 2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" name="文本框 6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7" name="文本框 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8" name="文本框 7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8" name="文本框 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9" name="文本框 8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9" name="文本框 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组合 13"/>
              <p:cNvGrpSpPr/>
              <p:nvPr/>
            </p:nvGrpSpPr>
            <p:grpSpPr>
              <a:xfrm>
                <a:off x="11022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6" name="文本框 15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6" name="文本框 1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3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7" name="文本框 16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7" name="文本框 1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8" name="文本框 17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8" name="文本框 1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9" name="文本框 18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9" name="文本框 1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0" name="文本框 19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0" name="文本框 1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1" name="文本框 20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1" name="文本框 2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4" name="文本框 23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4" name="文本框 23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文本框 24"/>
              <p:cNvSpPr txBox="1"/>
              <p:nvPr/>
            </p:nvSpPr>
            <p:spPr>
              <a:xfrm>
                <a:off x="3948" y="941"/>
                <a:ext cx="1606" cy="16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575"/>
                  <a:t>2016</a:t>
                </a:r>
                <a:endParaRPr lang="en-US" altLang="zh-CN" sz="1575"/>
              </a:p>
            </p:txBody>
          </p:sp>
          <p:sp>
            <p:nvSpPr>
              <p:cNvPr id="26" name="文本框 25"/>
              <p:cNvSpPr txBox="1"/>
              <p:nvPr/>
            </p:nvSpPr>
            <p:spPr>
              <a:xfrm>
                <a:off x="15261" y="963"/>
                <a:ext cx="1606" cy="16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575"/>
                  <a:t>2023</a:t>
                </a:r>
                <a:endParaRPr lang="en-US" altLang="zh-CN" sz="1575"/>
              </a:p>
            </p:txBody>
          </p:sp>
          <p:grpSp>
            <p:nvGrpSpPr>
              <p:cNvPr id="27" name="组合 26"/>
              <p:cNvGrpSpPr/>
              <p:nvPr/>
            </p:nvGrpSpPr>
            <p:grpSpPr>
              <a:xfrm>
                <a:off x="8849" y="9109"/>
                <a:ext cx="5334" cy="1999"/>
                <a:chOff x="9225" y="1246"/>
                <a:chExt cx="5334" cy="1999"/>
              </a:xfrm>
            </p:grpSpPr>
            <p:sp>
              <p:nvSpPr>
                <p:cNvPr id="35" name="圆角矩形 34"/>
                <p:cNvSpPr/>
                <p:nvPr/>
              </p:nvSpPr>
              <p:spPr>
                <a:xfrm>
                  <a:off x="9225" y="2686"/>
                  <a:ext cx="530" cy="338"/>
                </a:xfrm>
                <a:prstGeom prst="roundRect">
                  <a:avLst/>
                </a:prstGeom>
                <a:solidFill>
                  <a:srgbClr val="47A2DE">
                    <a:alpha val="20000"/>
                  </a:srgbClr>
                </a:solidFill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9775" y="2504"/>
                  <a:ext cx="3168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Latin America</a:t>
                  </a:r>
                  <a:endParaRPr lang="en-US" altLang="zh-CN" sz="1125"/>
                </a:p>
              </p:txBody>
            </p:sp>
            <p:sp>
              <p:nvSpPr>
                <p:cNvPr id="44" name="圆角矩形 43"/>
                <p:cNvSpPr/>
                <p:nvPr/>
              </p:nvSpPr>
              <p:spPr>
                <a:xfrm>
                  <a:off x="9225" y="1419"/>
                  <a:ext cx="530" cy="338"/>
                </a:xfrm>
                <a:prstGeom prst="roundRect">
                  <a:avLst/>
                </a:prstGeom>
                <a:solidFill>
                  <a:srgbClr val="E85748">
                    <a:alpha val="20000"/>
                  </a:srgbClr>
                </a:solidFill>
                <a:ln w="38100"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9775" y="1246"/>
                  <a:ext cx="3227" cy="7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Africa</a:t>
                  </a:r>
                  <a:endParaRPr lang="en-US" altLang="zh-CN" sz="1125"/>
                </a:p>
              </p:txBody>
            </p:sp>
            <p:sp>
              <p:nvSpPr>
                <p:cNvPr id="48" name="圆角矩形 47"/>
                <p:cNvSpPr/>
                <p:nvPr/>
              </p:nvSpPr>
              <p:spPr>
                <a:xfrm>
                  <a:off x="9225" y="2061"/>
                  <a:ext cx="530" cy="338"/>
                </a:xfrm>
                <a:prstGeom prst="roundRect">
                  <a:avLst/>
                </a:prstGeom>
                <a:solidFill>
                  <a:srgbClr val="F39F1B">
                    <a:alpha val="20000"/>
                  </a:srgbClr>
                </a:solidFill>
                <a:ln w="38100"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9775" y="1875"/>
                  <a:ext cx="4784" cy="13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>
                      <a:sym typeface="+mn-ea"/>
                    </a:rPr>
                    <a:t>South &amp; South-east Asia</a:t>
                  </a:r>
                  <a:endParaRPr lang="en-US" altLang="zh-CN" sz="1125">
                    <a:sym typeface="+mn-ea"/>
                  </a:endParaRPr>
                </a:p>
              </p:txBody>
            </p:sp>
          </p:grpSp>
        </p:grpSp>
      </p:grpSp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/>
          <p:nvPr/>
        </p:nvPicPr>
        <p:blipFill>
          <a:blip r:embed="rId1"/>
          <a:stretch>
            <a:fillRect/>
          </a:stretch>
        </p:blipFill>
        <p:spPr>
          <a:xfrm>
            <a:off x="183239" y="9709797"/>
            <a:ext cx="2053129" cy="2057415"/>
          </a:xfrm>
          <a:prstGeom prst="rect">
            <a:avLst/>
          </a:prstGeom>
        </p:spPr>
      </p:pic>
      <p:grpSp>
        <p:nvGrpSpPr>
          <p:cNvPr id="6" name="组合 5"/>
          <p:cNvGrpSpPr/>
          <p:nvPr/>
        </p:nvGrpSpPr>
        <p:grpSpPr>
          <a:xfrm>
            <a:off x="36791" y="5614255"/>
            <a:ext cx="8022133" cy="3059333"/>
            <a:chOff x="103" y="1938"/>
            <a:chExt cx="22459" cy="8565"/>
          </a:xfrm>
        </p:grpSpPr>
        <p:pic>
          <p:nvPicPr>
            <p:cNvPr id="56" name="图片 55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15387" y="3027"/>
              <a:ext cx="5750" cy="5761"/>
            </a:xfrm>
            <a:prstGeom prst="rect">
              <a:avLst/>
            </a:prstGeom>
          </p:spPr>
        </p:pic>
        <p:pic>
          <p:nvPicPr>
            <p:cNvPr id="54" name="图片 53"/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7936" y="3027"/>
              <a:ext cx="5750" cy="5761"/>
            </a:xfrm>
            <a:prstGeom prst="rect">
              <a:avLst/>
            </a:prstGeom>
          </p:spPr>
        </p:pic>
        <p:pic>
          <p:nvPicPr>
            <p:cNvPr id="51" name="图片 50"/>
            <p:cNvPicPr/>
            <p:nvPr/>
          </p:nvPicPr>
          <p:blipFill>
            <a:blip r:embed="rId4"/>
            <a:stretch>
              <a:fillRect/>
            </a:stretch>
          </p:blipFill>
          <p:spPr>
            <a:xfrm>
              <a:off x="590" y="3027"/>
              <a:ext cx="5750" cy="5761"/>
            </a:xfrm>
            <a:prstGeom prst="rect">
              <a:avLst/>
            </a:prstGeom>
          </p:spPr>
        </p:pic>
        <p:grpSp>
          <p:nvGrpSpPr>
            <p:cNvPr id="11" name="组合 10"/>
            <p:cNvGrpSpPr/>
            <p:nvPr/>
          </p:nvGrpSpPr>
          <p:grpSpPr>
            <a:xfrm>
              <a:off x="103" y="2608"/>
              <a:ext cx="7654" cy="6799"/>
              <a:chOff x="655" y="1763"/>
              <a:chExt cx="10698" cy="950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" name="文本框 12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2" name="文本框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3" name="文本框 22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3" name="文本框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" name="文本框 6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7" name="文本框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" name="文本框 7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8" name="文本框 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" name="文本框 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9" name="文本框 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4" name="组合 13"/>
            <p:cNvGrpSpPr/>
            <p:nvPr/>
          </p:nvGrpSpPr>
          <p:grpSpPr>
            <a:xfrm>
              <a:off x="7520" y="2608"/>
              <a:ext cx="7654" cy="6799"/>
              <a:chOff x="655" y="1763"/>
              <a:chExt cx="10698" cy="950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6" name="文本框 15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6" name="文本框 1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" name="文本框 16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7" name="文本框 1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" name="文本框 17"/>
                  <p:cNvSpPr txBox="1"/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8" name="文本框 1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" name="文本框 18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9" name="文本框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" name="文本框 19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0" name="文本框 1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" name="文本框 20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1" name="文本框 2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4" name="文本框 23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4" name="文本框 2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" name="文本框 24"/>
            <p:cNvSpPr txBox="1"/>
            <p:nvPr/>
          </p:nvSpPr>
          <p:spPr>
            <a:xfrm>
              <a:off x="2474" y="1939"/>
              <a:ext cx="1983" cy="8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E85748"/>
                  </a:solidFill>
                </a:rPr>
                <a:t>Africa</a:t>
              </a:r>
              <a:endParaRPr lang="en-US" altLang="zh-CN" sz="1350" b="1">
                <a:solidFill>
                  <a:srgbClr val="E85748"/>
                </a:solidFill>
              </a:endParaRP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7466" y="1938"/>
              <a:ext cx="7073" cy="8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F39F1B"/>
                  </a:solidFill>
                </a:rPr>
                <a:t>South &amp; Southeast Asia</a:t>
              </a:r>
              <a:endParaRPr lang="en-US" altLang="zh-CN" sz="1350" b="1">
                <a:solidFill>
                  <a:srgbClr val="F39F1B"/>
                </a:solidFill>
              </a:endParaRPr>
            </a:p>
          </p:txBody>
        </p:sp>
        <p:grpSp>
          <p:nvGrpSpPr>
            <p:cNvPr id="10" name="组合 9"/>
            <p:cNvGrpSpPr/>
            <p:nvPr/>
          </p:nvGrpSpPr>
          <p:grpSpPr>
            <a:xfrm>
              <a:off x="14908" y="2624"/>
              <a:ext cx="7654" cy="6799"/>
              <a:chOff x="655" y="1763"/>
              <a:chExt cx="10698" cy="950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" name="文本框 11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2" name="文本框 1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2" name="文本框 31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2" name="文本框 3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3" name="文本框 32"/>
                  <p:cNvSpPr txBox="1"/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3" name="文本框 3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blipFill rotWithShape="1">
                    <a:blip r:embed="rId1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4" name="文本框 33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4" name="文本框 3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" name="文本框 36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7" name="文本框 3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" name="文本框 3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9" name="文本框 3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2" name="文本框 51"/>
            <p:cNvSpPr txBox="1"/>
            <p:nvPr/>
          </p:nvSpPr>
          <p:spPr>
            <a:xfrm>
              <a:off x="14999" y="2036"/>
              <a:ext cx="6851" cy="8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47A2DE"/>
                  </a:solidFill>
                </a:rPr>
                <a:t>Latin America</a:t>
              </a:r>
              <a:endParaRPr lang="en-US" altLang="zh-CN" sz="1350" b="1">
                <a:solidFill>
                  <a:srgbClr val="47A2DE"/>
                </a:solidFill>
              </a:endParaRP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8962" y="9275"/>
              <a:ext cx="1262" cy="1228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zh-CN" sz="1125">
                  <a:sym typeface="+mn-ea"/>
                </a:rPr>
                <a:t>2016</a:t>
              </a:r>
              <a:endParaRPr lang="en-US" altLang="zh-CN" sz="1125">
                <a:sym typeface="+mn-ea"/>
              </a:endParaRPr>
            </a:p>
          </p:txBody>
        </p:sp>
        <p:grpSp>
          <p:nvGrpSpPr>
            <p:cNvPr id="31" name="组合 30"/>
            <p:cNvGrpSpPr/>
            <p:nvPr/>
          </p:nvGrpSpPr>
          <p:grpSpPr>
            <a:xfrm>
              <a:off x="6942" y="9400"/>
              <a:ext cx="1883" cy="377"/>
              <a:chOff x="6153" y="11442"/>
              <a:chExt cx="1740" cy="348"/>
            </a:xfrm>
          </p:grpSpPr>
          <p:sp>
            <p:nvSpPr>
              <p:cNvPr id="4" name="圆角矩形 3"/>
              <p:cNvSpPr/>
              <p:nvPr/>
            </p:nvSpPr>
            <p:spPr>
              <a:xfrm>
                <a:off x="6153" y="11442"/>
                <a:ext cx="536" cy="348"/>
              </a:xfrm>
              <a:prstGeom prst="roundRect">
                <a:avLst/>
              </a:prstGeom>
              <a:solidFill>
                <a:srgbClr val="E85748">
                  <a:alpha val="20000"/>
                </a:srgbClr>
              </a:solidFill>
              <a:ln w="38100"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29" name="圆角矩形 28"/>
              <p:cNvSpPr/>
              <p:nvPr/>
            </p:nvSpPr>
            <p:spPr>
              <a:xfrm>
                <a:off x="6761" y="11442"/>
                <a:ext cx="530" cy="338"/>
              </a:xfrm>
              <a:prstGeom prst="roundRect">
                <a:avLst/>
              </a:prstGeom>
              <a:solidFill>
                <a:srgbClr val="F39F1B">
                  <a:alpha val="20000"/>
                </a:srgbClr>
              </a:solidFill>
              <a:ln w="38100">
                <a:solidFill>
                  <a:srgbClr val="F39F1B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30" name="圆角矩形 29"/>
              <p:cNvSpPr/>
              <p:nvPr/>
            </p:nvSpPr>
            <p:spPr>
              <a:xfrm>
                <a:off x="7363" y="11442"/>
                <a:ext cx="530" cy="338"/>
              </a:xfrm>
              <a:prstGeom prst="roundRect">
                <a:avLst/>
              </a:prstGeom>
              <a:solidFill>
                <a:srgbClr val="47A2DE">
                  <a:alpha val="20000"/>
                </a:srgbClr>
              </a:solidFill>
              <a:ln w="38100">
                <a:solidFill>
                  <a:srgbClr val="47A2DE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  <p:grpSp>
          <p:nvGrpSpPr>
            <p:cNvPr id="40" name="组合 39"/>
            <p:cNvGrpSpPr/>
            <p:nvPr/>
          </p:nvGrpSpPr>
          <p:grpSpPr>
            <a:xfrm>
              <a:off x="11813" y="9400"/>
              <a:ext cx="1942" cy="377"/>
              <a:chOff x="5151" y="11234"/>
              <a:chExt cx="1795" cy="348"/>
            </a:xfrm>
          </p:grpSpPr>
          <p:sp>
            <p:nvSpPr>
              <p:cNvPr id="41" name="圆角矩形 40"/>
              <p:cNvSpPr/>
              <p:nvPr/>
            </p:nvSpPr>
            <p:spPr>
              <a:xfrm>
                <a:off x="5151" y="11234"/>
                <a:ext cx="536" cy="348"/>
              </a:xfrm>
              <a:prstGeom prst="roundRect">
                <a:avLst/>
              </a:prstGeom>
              <a:solidFill>
                <a:srgbClr val="E85748">
                  <a:alpha val="20000"/>
                </a:srgbClr>
              </a:solidFill>
              <a:ln w="38100">
                <a:solidFill>
                  <a:srgbClr val="E85748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42" name="圆角矩形 41"/>
              <p:cNvSpPr/>
              <p:nvPr/>
            </p:nvSpPr>
            <p:spPr>
              <a:xfrm>
                <a:off x="5787" y="11234"/>
                <a:ext cx="530" cy="338"/>
              </a:xfrm>
              <a:prstGeom prst="roundRect">
                <a:avLst/>
              </a:prstGeom>
              <a:solidFill>
                <a:srgbClr val="F39F1B">
                  <a:alpha val="20000"/>
                </a:srgbClr>
              </a:solidFill>
              <a:ln w="38100">
                <a:solidFill>
                  <a:srgbClr val="F39F1B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43" name="圆角矩形 42"/>
              <p:cNvSpPr/>
              <p:nvPr/>
            </p:nvSpPr>
            <p:spPr>
              <a:xfrm>
                <a:off x="6416" y="11234"/>
                <a:ext cx="530" cy="338"/>
              </a:xfrm>
              <a:prstGeom prst="roundRect">
                <a:avLst/>
              </a:prstGeom>
              <a:solidFill>
                <a:srgbClr val="47A2DE">
                  <a:alpha val="20000"/>
                </a:srgbClr>
              </a:solidFill>
              <a:ln w="38100">
                <a:solidFill>
                  <a:srgbClr val="47A2DE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  <p:sp>
          <p:nvSpPr>
            <p:cNvPr id="46" name="文本框 45"/>
            <p:cNvSpPr txBox="1"/>
            <p:nvPr/>
          </p:nvSpPr>
          <p:spPr>
            <a:xfrm>
              <a:off x="13982" y="9275"/>
              <a:ext cx="1262" cy="1228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zh-CN" sz="1125">
                  <a:sym typeface="+mn-ea"/>
                </a:rPr>
                <a:t>2023</a:t>
              </a:r>
              <a:endParaRPr lang="en-US" altLang="zh-CN" sz="1125">
                <a:sym typeface="+mn-ea"/>
              </a:endParaRPr>
            </a:p>
          </p:txBody>
        </p:sp>
      </p:grpSp>
      <p:grpSp>
        <p:nvGrpSpPr>
          <p:cNvPr id="60" name="组合 59"/>
          <p:cNvGrpSpPr/>
          <p:nvPr/>
        </p:nvGrpSpPr>
        <p:grpSpPr>
          <a:xfrm>
            <a:off x="2537479" y="9642288"/>
            <a:ext cx="4575606" cy="622582"/>
            <a:chOff x="6709" y="10473"/>
            <a:chExt cx="12810" cy="174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文本框 56"/>
                <p:cNvSpPr txBox="1"/>
                <p:nvPr/>
              </p:nvSpPr>
              <p:spPr>
                <a:xfrm>
                  <a:off x="11348" y="10643"/>
                  <a:ext cx="8171" cy="8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7" name="文本框 5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48" y="10643"/>
                  <a:ext cx="8171" cy="816"/>
                </a:xfrm>
                <a:prstGeom prst="rect">
                  <a:avLst/>
                </a:prstGeom>
                <a:blipFill rotWithShape="1">
                  <a:blip r:embed="rId1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文本框 57"/>
                <p:cNvSpPr txBox="1"/>
                <p:nvPr/>
              </p:nvSpPr>
              <p:spPr>
                <a:xfrm>
                  <a:off x="6711" y="10473"/>
                  <a:ext cx="5790" cy="837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8" name="文本框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1" y="10473"/>
                  <a:ext cx="5790" cy="837"/>
                </a:xfrm>
                <a:prstGeom prst="rect">
                  <a:avLst/>
                </a:prstGeom>
                <a:blipFill rotWithShape="1">
                  <a:blip r:embed="rId1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文本框 58"/>
                <p:cNvSpPr txBox="1"/>
                <p:nvPr/>
              </p:nvSpPr>
              <p:spPr>
                <a:xfrm>
                  <a:off x="6709" y="11379"/>
                  <a:ext cx="5792" cy="837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9" name="文本框 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09" y="11379"/>
                  <a:ext cx="5792" cy="837"/>
                </a:xfrm>
                <a:prstGeom prst="rect">
                  <a:avLst/>
                </a:prstGeom>
                <a:blipFill rotWithShape="1">
                  <a:blip r:embed="rId1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276*166"/>
  <p:tag name="TABLE_ENDDRAG_RECT" val="820*321*276*166"/>
</p:tagLst>
</file>

<file path=ppt/tags/tag2.xml><?xml version="1.0" encoding="utf-8"?>
<p:tagLst xmlns:p="http://schemas.openxmlformats.org/presentationml/2006/main">
  <p:tag name="TABLE_ENDDRAG_ORIGIN_RECT" val="276*166"/>
  <p:tag name="TABLE_ENDDRAG_RECT" val="820*321*276*166"/>
</p:tagLst>
</file>

<file path=ppt/theme/theme1.xml><?xml version="1.0" encoding="utf-8"?>
<a:theme xmlns:a="http://schemas.openxmlformats.org/drawingml/2006/main" name="WPS">
  <a:themeElements>
    <a:clrScheme name="Custom 1">
      <a:dk1>
        <a:srgbClr val="000000"/>
      </a:dk1>
      <a:lt1>
        <a:srgbClr val="FFFFFF"/>
      </a:lt1>
      <a:dk2>
        <a:srgbClr val="B6E1FF"/>
      </a:dk2>
      <a:lt2>
        <a:srgbClr val="4488FF"/>
      </a:lt2>
      <a:accent1>
        <a:srgbClr val="D3B137"/>
      </a:accent1>
      <a:accent2>
        <a:srgbClr val="FEF436"/>
      </a:accent2>
      <a:accent3>
        <a:srgbClr val="C577E2"/>
      </a:accent3>
      <a:accent4>
        <a:srgbClr val="DAC7FF"/>
      </a:accent4>
      <a:accent5>
        <a:srgbClr val="6EDC8B"/>
      </a:accent5>
      <a:accent6>
        <a:srgbClr val="2AB320"/>
      </a:accent6>
      <a:hlink>
        <a:srgbClr val="B6E1FF"/>
      </a:hlink>
      <a:folHlink>
        <a:srgbClr val="B6E1FF"/>
      </a:folHlink>
    </a:clrScheme>
    <a:fontScheme name="WPS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5940</Words>
  <Application>WPS 演示</Application>
  <PresentationFormat>Custom</PresentationFormat>
  <Paragraphs>996</Paragraphs>
  <Slides>17</Slides>
  <Notes>4</Notes>
  <HiddenSlides>5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8" baseType="lpstr">
      <vt:lpstr>Arial</vt:lpstr>
      <vt:lpstr>宋体</vt:lpstr>
      <vt:lpstr>Wingdings</vt:lpstr>
      <vt:lpstr>Cambria Math</vt:lpstr>
      <vt:lpstr>MS Mincho</vt:lpstr>
      <vt:lpstr>Wingdings</vt:lpstr>
      <vt:lpstr>微软雅黑</vt:lpstr>
      <vt:lpstr>Arial Unicode MS</vt:lpstr>
      <vt:lpstr>东文宋体</vt:lpstr>
      <vt:lpstr>MS Gothic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April Liang</cp:lastModifiedBy>
  <cp:revision>33</cp:revision>
  <dcterms:created xsi:type="dcterms:W3CDTF">2026-05-13T15:03:07Z</dcterms:created>
  <dcterms:modified xsi:type="dcterms:W3CDTF">2026-05-13T15:03:07Z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2052-12.1.2.25882</vt:lpwstr>
  </property>
  <property fmtid="{D5CDD505-2E9C-101B-9397-08002B2CF9AE}" pid="3" name="ICV">
    <vt:lpwstr>0364E104D99840A39D3DA0694DD01CB9_41</vt:lpwstr>
  </property>
</Properties>
</file>