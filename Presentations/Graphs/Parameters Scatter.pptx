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1.xml" ContentType="application/vnd.openxmlformats-officedocument.presentationml.tags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tags/tag2.xml" ContentType="application/vnd.openxmlformats-officedocument.presentationml.tag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62" r:id="rId2"/>
    <p:sldId id="264" r:id="rId3"/>
    <p:sldId id="260" r:id="rId4"/>
    <p:sldId id="273" r:id="rId5"/>
    <p:sldId id="259" r:id="rId6"/>
    <p:sldId id="266" r:id="rId7"/>
    <p:sldId id="270" r:id="rId8"/>
    <p:sldId id="261" r:id="rId9"/>
    <p:sldId id="265" r:id="rId10"/>
    <p:sldId id="268" r:id="rId11"/>
    <p:sldId id="274" r:id="rId12"/>
    <p:sldId id="275" r:id="rId13"/>
    <p:sldId id="256" r:id="rId14"/>
    <p:sldId id="257" r:id="rId15"/>
    <p:sldId id="258" r:id="rId16"/>
    <p:sldId id="267" r:id="rId17"/>
    <p:sldId id="263" r:id="rId18"/>
    <p:sldId id="269" r:id="rId19"/>
  </p:sldIdLst>
  <p:sldSz cx="14400213" cy="14400213"/>
  <p:notesSz cx="7104063" cy="10234613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无标题节" id="{7174F263-5FF1-488A-9BA9-16647EAD2F01}">
          <p14:sldIdLst>
            <p14:sldId id="262"/>
            <p14:sldId id="264"/>
            <p14:sldId id="260"/>
            <p14:sldId id="273"/>
            <p14:sldId id="259"/>
            <p14:sldId id="266"/>
            <p14:sldId id="270"/>
            <p14:sldId id="261"/>
            <p14:sldId id="265"/>
            <p14:sldId id="268"/>
            <p14:sldId id="274"/>
            <p14:sldId id="275"/>
          </p14:sldIdLst>
        </p14:section>
        <p14:section name="Not used" id="{81244984-FFB1-4A92-8F35-FF698557D6D0}">
          <p14:sldIdLst>
            <p14:sldId id="256"/>
            <p14:sldId id="257"/>
            <p14:sldId id="258"/>
            <p14:sldId id="267"/>
            <p14:sldId id="263"/>
            <p14:sldId id="26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382" userDrawn="1">
          <p15:clr>
            <a:srgbClr val="A4A3A4"/>
          </p15:clr>
        </p15:guide>
        <p15:guide id="2" pos="4537" userDrawn="1">
          <p15:clr>
            <a:srgbClr val="A4A3A4"/>
          </p15:clr>
        </p15:guide>
        <p15:guide id="3" orient="horz" pos="4536" userDrawn="1">
          <p15:clr>
            <a:srgbClr val="A4A3A4"/>
          </p15:clr>
        </p15:guide>
        <p15:guide id="4" orient="horz" pos="3515" userDrawn="1">
          <p15:clr>
            <a:srgbClr val="A4A3A4"/>
          </p15:clr>
        </p15:guide>
        <p15:guide id="5" orient="horz" pos="1814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pril Liang" initials="AL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7A2DE"/>
    <a:srgbClr val="F39F1B"/>
    <a:srgbClr val="E85748"/>
    <a:srgbClr val="F8C474"/>
    <a:srgbClr val="FEEDDE"/>
    <a:srgbClr val="FDAE6B"/>
    <a:srgbClr val="E6550D"/>
    <a:srgbClr val="A63603"/>
    <a:srgbClr val="7F2704"/>
    <a:srgbClr val="0044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-542" y="-2534"/>
      </p:cViewPr>
      <p:guideLst>
        <p:guide orient="horz" pos="2382"/>
        <p:guide pos="4537"/>
        <p:guide orient="horz" pos="4536"/>
        <p:guide orient="horz" pos="3515"/>
        <p:guide orient="horz" pos="1814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90001" cy="90001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Average.xlsx]Sheet2'!$U$2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Average.xlsx]Sheet2'!$U$3:$U$5</c:f>
              <c:numCache>
                <c:formatCode>0%</c:formatCode>
                <c:ptCount val="3"/>
                <c:pt idx="0">
                  <c:v>0.36363636363636398</c:v>
                </c:pt>
                <c:pt idx="1">
                  <c:v>0.5</c:v>
                </c:pt>
                <c:pt idx="2">
                  <c:v>0.53333333333333299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6AC-4587-BEB0-655409F68864}"/>
            </c:ext>
          </c:extLst>
        </c:ser>
        <c:ser>
          <c:idx val="1"/>
          <c:order val="1"/>
          <c:tx>
            <c:strRef>
              <c:f>'[Continental Average.xlsx]Sheet2'!$V$2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Average.xlsx]Sheet2'!$V$3:$V$5</c:f>
              <c:numCache>
                <c:formatCode>0%</c:formatCode>
                <c:ptCount val="3"/>
                <c:pt idx="0">
                  <c:v>0.22727272727272699</c:v>
                </c:pt>
                <c:pt idx="1">
                  <c:v>0.3</c:v>
                </c:pt>
                <c:pt idx="2">
                  <c:v>0.33333333333333298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6AC-4587-BEB0-655409F68864}"/>
            </c:ext>
          </c:extLst>
        </c:ser>
        <c:ser>
          <c:idx val="2"/>
          <c:order val="2"/>
          <c:tx>
            <c:strRef>
              <c:f>'[Continental Average.xlsx]Sheet2'!$W$2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Average.xlsx]Sheet2'!$W$3:$W$5</c:f>
              <c:numCache>
                <c:formatCode>0%</c:formatCode>
                <c:ptCount val="3"/>
                <c:pt idx="0">
                  <c:v>0</c:v>
                </c:pt>
                <c:pt idx="1">
                  <c:v>3.3333333333333298E-2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6AC-4587-BEB0-655409F68864}"/>
            </c:ext>
          </c:extLst>
        </c:ser>
        <c:ser>
          <c:idx val="3"/>
          <c:order val="3"/>
          <c:tx>
            <c:strRef>
              <c:f>'[Continental Average.xlsx]Sheet2'!$X$2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Average.xlsx]Sheet2'!$X$3:$X$5</c:f>
              <c:numCache>
                <c:formatCode>0%</c:formatCode>
                <c:ptCount val="3"/>
                <c:pt idx="0">
                  <c:v>0.40909090909090901</c:v>
                </c:pt>
                <c:pt idx="1">
                  <c:v>0.16666666666666699</c:v>
                </c:pt>
                <c:pt idx="2">
                  <c:v>0.133333333333333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6AC-4587-BEB0-655409F6886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bb8adb4-ffa1-4c27-94d4-ea17a12fad3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Average.xlsx]Sheet2'!$U$18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Average.xlsx]Sheet2'!$U$19:$U$21</c:f>
              <c:numCache>
                <c:formatCode>0%</c:formatCode>
                <c:ptCount val="3"/>
                <c:pt idx="0">
                  <c:v>0.45454545454545497</c:v>
                </c:pt>
                <c:pt idx="1">
                  <c:v>0.33333333333333298</c:v>
                </c:pt>
                <c:pt idx="2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B8A-4E40-844E-4F595A473CA5}"/>
            </c:ext>
          </c:extLst>
        </c:ser>
        <c:ser>
          <c:idx val="1"/>
          <c:order val="1"/>
          <c:tx>
            <c:strRef>
              <c:f>'[Continental Average.xlsx]Sheet2'!$V$18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Average.xlsx]Sheet2'!$V$19:$V$21</c:f>
              <c:numCache>
                <c:formatCode>0%</c:formatCode>
                <c:ptCount val="3"/>
                <c:pt idx="0">
                  <c:v>0.45454545454545497</c:v>
                </c:pt>
                <c:pt idx="1">
                  <c:v>0.2</c:v>
                </c:pt>
                <c:pt idx="2">
                  <c:v>0.233333333333333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B8A-4E40-844E-4F595A473CA5}"/>
            </c:ext>
          </c:extLst>
        </c:ser>
        <c:ser>
          <c:idx val="2"/>
          <c:order val="2"/>
          <c:tx>
            <c:strRef>
              <c:f>'[Continental Average.xlsx]Sheet2'!$W$18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Average.xlsx]Sheet2'!$W$19:$W$21</c:f>
              <c:numCache>
                <c:formatCode>0%</c:formatCode>
                <c:ptCount val="3"/>
                <c:pt idx="0">
                  <c:v>4.5454545454545497E-2</c:v>
                </c:pt>
                <c:pt idx="1">
                  <c:v>0.16666666666666699</c:v>
                </c:pt>
                <c:pt idx="2">
                  <c:v>6.6666666666666693E-2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B8A-4E40-844E-4F595A473CA5}"/>
            </c:ext>
          </c:extLst>
        </c:ser>
        <c:ser>
          <c:idx val="3"/>
          <c:order val="3"/>
          <c:tx>
            <c:strRef>
              <c:f>'[Continental Average.xlsx]Sheet2'!$X$18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Average.xlsx]Sheet2'!$X$19:$X$21</c:f>
              <c:numCache>
                <c:formatCode>0%</c:formatCode>
                <c:ptCount val="3"/>
                <c:pt idx="0">
                  <c:v>4.5454545454545497E-2</c:v>
                </c:pt>
                <c:pt idx="1">
                  <c:v>0.3</c:v>
                </c:pt>
                <c:pt idx="2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B8A-4E40-844E-4F595A473CA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8ed8364-554b-47b0-9384-8bfc9afc102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Average.xlsx]Sheet2'!$U$33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Average.xlsx]Sheet2'!$U$34:$U$36</c:f>
              <c:numCache>
                <c:formatCode>0%</c:formatCode>
                <c:ptCount val="3"/>
                <c:pt idx="0">
                  <c:v>0.36363636363636398</c:v>
                </c:pt>
                <c:pt idx="1">
                  <c:v>0.46666666666666701</c:v>
                </c:pt>
                <c:pt idx="2">
                  <c:v>0.53333333333333299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F32-48A0-B938-866CE2330457}"/>
            </c:ext>
          </c:extLst>
        </c:ser>
        <c:ser>
          <c:idx val="1"/>
          <c:order val="1"/>
          <c:tx>
            <c:strRef>
              <c:f>'[Continental Average.xlsx]Sheet2'!$V$33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Average.xlsx]Sheet2'!$V$34:$V$36</c:f>
              <c:numCache>
                <c:formatCode>0%</c:formatCode>
                <c:ptCount val="3"/>
                <c:pt idx="0">
                  <c:v>0.22727272727272699</c:v>
                </c:pt>
                <c:pt idx="1">
                  <c:v>0.36666666666666697</c:v>
                </c:pt>
                <c:pt idx="2">
                  <c:v>0.33333333333333298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F32-48A0-B938-866CE2330457}"/>
            </c:ext>
          </c:extLst>
        </c:ser>
        <c:ser>
          <c:idx val="2"/>
          <c:order val="2"/>
          <c:tx>
            <c:strRef>
              <c:f>'[Continental Average.xlsx]Sheet2'!$W$33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Average.xlsx]Sheet2'!$W$34:$W$36</c:f>
              <c:numCache>
                <c:formatCode>0%</c:formatCode>
                <c:ptCount val="3"/>
                <c:pt idx="0">
                  <c:v>0</c:v>
                </c:pt>
                <c:pt idx="1">
                  <c:v>3.3333333333333298E-2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F32-48A0-B938-866CE2330457}"/>
            </c:ext>
          </c:extLst>
        </c:ser>
        <c:ser>
          <c:idx val="3"/>
          <c:order val="3"/>
          <c:tx>
            <c:strRef>
              <c:f>'[Continental Average.xlsx]Sheet2'!$X$33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Average.xlsx]Sheet2'!$X$34:$X$36</c:f>
              <c:numCache>
                <c:formatCode>0%</c:formatCode>
                <c:ptCount val="3"/>
                <c:pt idx="0">
                  <c:v>0.40909090909090901</c:v>
                </c:pt>
                <c:pt idx="1">
                  <c:v>0.133333333333333</c:v>
                </c:pt>
                <c:pt idx="2">
                  <c:v>0.133333333333333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F32-48A0-B938-866CE233045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bab19804-f4c2-4642-9de8-99d2b0eed63c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Average.xlsx]Sheet2'!$U$48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Average.xlsx]Sheet2'!$U$49:$U$51</c:f>
              <c:numCache>
                <c:formatCode>0%</c:formatCode>
                <c:ptCount val="3"/>
                <c:pt idx="0">
                  <c:v>0.43181818181818199</c:v>
                </c:pt>
                <c:pt idx="1">
                  <c:v>0.266666666666667</c:v>
                </c:pt>
                <c:pt idx="2">
                  <c:v>0.53333333333333299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CE0-42C5-937C-2597333F3305}"/>
            </c:ext>
          </c:extLst>
        </c:ser>
        <c:ser>
          <c:idx val="1"/>
          <c:order val="1"/>
          <c:tx>
            <c:strRef>
              <c:f>'[Continental Average.xlsx]Sheet2'!$V$48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Average.xlsx]Sheet2'!$V$49:$V$51</c:f>
              <c:numCache>
                <c:formatCode>0%</c:formatCode>
                <c:ptCount val="3"/>
                <c:pt idx="0">
                  <c:v>0.40909090909090901</c:v>
                </c:pt>
                <c:pt idx="1">
                  <c:v>0.16666666666666699</c:v>
                </c:pt>
                <c:pt idx="2">
                  <c:v>0.16666666666666699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CE0-42C5-937C-2597333F3305}"/>
            </c:ext>
          </c:extLst>
        </c:ser>
        <c:ser>
          <c:idx val="2"/>
          <c:order val="2"/>
          <c:tx>
            <c:strRef>
              <c:f>'[Continental Average.xlsx]Sheet2'!$W$48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Average.xlsx]Sheet2'!$W$49:$W$51</c:f>
              <c:numCache>
                <c:formatCode>0%</c:formatCode>
                <c:ptCount val="3"/>
                <c:pt idx="0">
                  <c:v>4.5454545454545497E-2</c:v>
                </c:pt>
                <c:pt idx="1">
                  <c:v>0.3</c:v>
                </c:pt>
                <c:pt idx="2">
                  <c:v>3.3333333333333298E-2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CE0-42C5-937C-2597333F3305}"/>
            </c:ext>
          </c:extLst>
        </c:ser>
        <c:ser>
          <c:idx val="3"/>
          <c:order val="3"/>
          <c:tx>
            <c:strRef>
              <c:f>'[Continental Average.xlsx]Sheet2'!$X$48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Average.xlsx]Sheet2'!$X$49:$X$51</c:f>
              <c:numCache>
                <c:formatCode>0%</c:formatCode>
                <c:ptCount val="3"/>
                <c:pt idx="0">
                  <c:v>0.11363636363636399</c:v>
                </c:pt>
                <c:pt idx="1">
                  <c:v>0.266666666666667</c:v>
                </c:pt>
                <c:pt idx="2">
                  <c:v>0.266666666666667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CE0-42C5-937C-2597333F330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480ab477-e90b-4b03-a63e-2f8def5d979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  <a:t>2026/6/12</a:t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  <a:t>‹#›</a:t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D6C8D182-E4C8-4120-9249-FC9774456FFA}" type="datetimeFigureOut">
              <a:rPr lang="zh-CN" altLang="en-US" smtClean="0"/>
              <a:t>2026/6/12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825624" y="1279525"/>
            <a:ext cx="345440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85D0DACE-38E0-42D2-9336-2B707D34BC6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1825625" y="1279525"/>
            <a:ext cx="3454400" cy="34544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1825625" y="1279525"/>
            <a:ext cx="3454400" cy="34544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800140" y="2778091"/>
            <a:ext cx="10800847" cy="4592488"/>
          </a:xfrm>
        </p:spPr>
        <p:txBody>
          <a:bodyPr anchor="b">
            <a:normAutofit/>
          </a:bodyPr>
          <a:lstStyle>
            <a:lvl1pPr algn="ctr">
              <a:defRPr sz="945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800140" y="7563927"/>
            <a:ext cx="10800847" cy="3476939"/>
          </a:xfrm>
        </p:spPr>
        <p:txBody>
          <a:bodyPr>
            <a:normAutofit/>
          </a:bodyPr>
          <a:lstStyle>
            <a:lvl1pPr marL="0" indent="0" algn="ctr">
              <a:buNone/>
              <a:defRPr sz="2835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720090" indent="0" algn="ctr">
              <a:buNone/>
              <a:defRPr sz="3145"/>
            </a:lvl2pPr>
            <a:lvl3pPr marL="1440815" indent="0" algn="ctr">
              <a:buNone/>
              <a:defRPr sz="2835"/>
            </a:lvl3pPr>
            <a:lvl4pPr marL="2159635" indent="0" algn="ctr">
              <a:buNone/>
              <a:defRPr sz="2525"/>
            </a:lvl4pPr>
            <a:lvl5pPr marL="2880995" indent="0" algn="ctr">
              <a:buNone/>
              <a:defRPr sz="2525"/>
            </a:lvl5pPr>
            <a:lvl6pPr marL="3600450" indent="0" algn="ctr">
              <a:buNone/>
              <a:defRPr sz="2525"/>
            </a:lvl6pPr>
            <a:lvl7pPr marL="4320540" indent="0" algn="ctr">
              <a:buNone/>
              <a:defRPr sz="2525"/>
            </a:lvl7pPr>
            <a:lvl8pPr marL="5040630" indent="0" algn="ctr">
              <a:buNone/>
              <a:defRPr sz="2525"/>
            </a:lvl8pPr>
            <a:lvl9pPr marL="5761355" indent="0" algn="ctr">
              <a:buNone/>
              <a:defRPr sz="2525"/>
            </a:lvl9pPr>
          </a:lstStyle>
          <a:p>
            <a:r>
              <a:rPr lang="zh-CN" altLang="en-US" dirty="0"/>
              <a:t>单击此处添加副标题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61" y="542709"/>
            <a:ext cx="12420973" cy="2783553"/>
          </a:xfrm>
        </p:spPr>
        <p:txBody>
          <a:bodyPr anchor="ctr" anchorCtr="0">
            <a:normAutofit/>
          </a:bodyPr>
          <a:lstStyle>
            <a:lvl1pPr>
              <a:defRPr sz="378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65061" y="3833634"/>
            <a:ext cx="12420973" cy="9137384"/>
          </a:xfrm>
        </p:spPr>
        <p:txBody>
          <a:bodyPr>
            <a:normAutofit/>
          </a:bodyPr>
          <a:lstStyle>
            <a:lvl1pPr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82576" y="7876978"/>
            <a:ext cx="8648179" cy="1703770"/>
          </a:xfrm>
        </p:spPr>
        <p:txBody>
          <a:bodyPr anchor="b">
            <a:normAutofit/>
          </a:bodyPr>
          <a:lstStyle>
            <a:lvl1pPr>
              <a:defRPr sz="630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82576" y="9680607"/>
            <a:ext cx="8648179" cy="1359803"/>
          </a:xfrm>
        </p:spPr>
        <p:txBody>
          <a:bodyPr>
            <a:normAutofit/>
          </a:bodyPr>
          <a:lstStyle>
            <a:lvl1pPr marL="0" indent="0">
              <a:buNone/>
              <a:defRPr sz="2835">
                <a:solidFill>
                  <a:schemeClr val="tx1"/>
                </a:solidFill>
              </a:defRPr>
            </a:lvl1pPr>
            <a:lvl2pPr marL="720090" indent="0">
              <a:buNone/>
              <a:defRPr sz="3145">
                <a:solidFill>
                  <a:schemeClr val="tx1">
                    <a:tint val="75000"/>
                  </a:schemeClr>
                </a:solidFill>
              </a:defRPr>
            </a:lvl2pPr>
            <a:lvl3pPr marL="1440815" indent="0">
              <a:buNone/>
              <a:defRPr sz="2835">
                <a:solidFill>
                  <a:schemeClr val="tx1">
                    <a:tint val="75000"/>
                  </a:schemeClr>
                </a:solidFill>
              </a:defRPr>
            </a:lvl3pPr>
            <a:lvl4pPr marL="215963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4pPr>
            <a:lvl5pPr marL="288099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5pPr>
            <a:lvl6pPr marL="360045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6pPr>
            <a:lvl7pPr marL="432054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7pPr>
            <a:lvl8pPr marL="504063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8pPr>
            <a:lvl9pPr marL="576135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61" y="542709"/>
            <a:ext cx="12420973" cy="2783553"/>
          </a:xfrm>
        </p:spPr>
        <p:txBody>
          <a:bodyPr>
            <a:normAutofit/>
          </a:bodyPr>
          <a:lstStyle>
            <a:lvl1pPr>
              <a:defRPr sz="378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65061" y="3833634"/>
            <a:ext cx="6120479" cy="913738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065554" y="3833634"/>
            <a:ext cx="6120479" cy="913738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1953" y="766727"/>
            <a:ext cx="12420973" cy="278355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1953" y="3664248"/>
            <a:ext cx="6092353" cy="1730134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20090" indent="0">
              <a:buNone/>
              <a:defRPr sz="3145" b="1"/>
            </a:lvl2pPr>
            <a:lvl3pPr marL="1440815" indent="0">
              <a:buNone/>
              <a:defRPr sz="2835" b="1"/>
            </a:lvl3pPr>
            <a:lvl4pPr marL="2159635" indent="0">
              <a:buNone/>
              <a:defRPr sz="2525" b="1"/>
            </a:lvl4pPr>
            <a:lvl5pPr marL="2880995" indent="0">
              <a:buNone/>
              <a:defRPr sz="2525" b="1"/>
            </a:lvl5pPr>
            <a:lvl6pPr marL="3600450" indent="0">
              <a:buNone/>
              <a:defRPr sz="2525" b="1"/>
            </a:lvl6pPr>
            <a:lvl7pPr marL="4320540" indent="0">
              <a:buNone/>
              <a:defRPr sz="2525" b="1"/>
            </a:lvl7pPr>
            <a:lvl8pPr marL="5040630" indent="0">
              <a:buNone/>
              <a:defRPr sz="2525" b="1"/>
            </a:lvl8pPr>
            <a:lvl9pPr marL="5761355" indent="0">
              <a:buNone/>
              <a:defRPr sz="2525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991953" y="5492523"/>
            <a:ext cx="6092353" cy="750516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7290571" y="3664248"/>
            <a:ext cx="6122357" cy="1730134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20090" indent="0">
              <a:buNone/>
              <a:defRPr sz="3145" b="1"/>
            </a:lvl2pPr>
            <a:lvl3pPr marL="1440815" indent="0">
              <a:buNone/>
              <a:defRPr sz="2835" b="1"/>
            </a:lvl3pPr>
            <a:lvl4pPr marL="2159635" indent="0">
              <a:buNone/>
              <a:defRPr sz="2525" b="1"/>
            </a:lvl4pPr>
            <a:lvl5pPr marL="2880995" indent="0">
              <a:buNone/>
              <a:defRPr sz="2525" b="1"/>
            </a:lvl5pPr>
            <a:lvl6pPr marL="3600450" indent="0">
              <a:buNone/>
              <a:defRPr sz="2525" b="1"/>
            </a:lvl6pPr>
            <a:lvl7pPr marL="4320540" indent="0">
              <a:buNone/>
              <a:defRPr sz="2525" b="1"/>
            </a:lvl7pPr>
            <a:lvl8pPr marL="5040630" indent="0">
              <a:buNone/>
              <a:defRPr sz="2525" b="1"/>
            </a:lvl8pPr>
            <a:lvl9pPr marL="5761355" indent="0">
              <a:buNone/>
              <a:defRPr sz="2525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7290571" y="5492523"/>
            <a:ext cx="6122357" cy="750516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2026/6/12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0077" y="5808790"/>
            <a:ext cx="12420973" cy="2783553"/>
          </a:xfrm>
        </p:spPr>
        <p:txBody>
          <a:bodyPr>
            <a:normAutofit/>
          </a:bodyPr>
          <a:lstStyle>
            <a:lvl1pPr algn="ctr">
              <a:defRPr sz="7565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763933" y="266688"/>
            <a:ext cx="4919914" cy="3360264"/>
          </a:xfrm>
        </p:spPr>
        <p:txBody>
          <a:bodyPr anchor="ctr" anchorCtr="0">
            <a:normAutofit/>
          </a:bodyPr>
          <a:lstStyle>
            <a:lvl1pPr>
              <a:defRPr sz="378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6123315" y="1609269"/>
            <a:ext cx="6871455" cy="10697839"/>
          </a:xfrm>
        </p:spPr>
        <p:txBody>
          <a:bodyPr/>
          <a:lstStyle>
            <a:lvl1pPr marL="0" indent="0">
              <a:buNone/>
              <a:defRPr sz="5040"/>
            </a:lvl1pPr>
            <a:lvl2pPr marL="720090" indent="0">
              <a:buNone/>
              <a:defRPr sz="4410"/>
            </a:lvl2pPr>
            <a:lvl3pPr marL="1440815" indent="0">
              <a:buNone/>
              <a:defRPr sz="3780"/>
            </a:lvl3pPr>
            <a:lvl4pPr marL="2159635" indent="0">
              <a:buNone/>
              <a:defRPr sz="3145"/>
            </a:lvl4pPr>
            <a:lvl5pPr marL="2880995" indent="0">
              <a:buNone/>
              <a:defRPr sz="3145"/>
            </a:lvl5pPr>
            <a:lvl6pPr marL="3600450" indent="0">
              <a:buNone/>
              <a:defRPr sz="3145"/>
            </a:lvl6pPr>
            <a:lvl7pPr marL="4320540" indent="0">
              <a:buNone/>
              <a:defRPr sz="3145"/>
            </a:lvl7pPr>
            <a:lvl8pPr marL="5040630" indent="0">
              <a:buNone/>
              <a:defRPr sz="3145"/>
            </a:lvl8pPr>
            <a:lvl9pPr marL="5761355" indent="0">
              <a:buNone/>
              <a:defRPr sz="3145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69934" y="4320339"/>
            <a:ext cx="4919914" cy="8003963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525"/>
            </a:lvl1pPr>
            <a:lvl2pPr marL="720090" indent="0">
              <a:buNone/>
              <a:defRPr sz="2205"/>
            </a:lvl2pPr>
            <a:lvl3pPr marL="1440815" indent="0">
              <a:buNone/>
              <a:defRPr sz="1885"/>
            </a:lvl3pPr>
            <a:lvl4pPr marL="2159635" indent="0">
              <a:buNone/>
              <a:defRPr sz="1575"/>
            </a:lvl4pPr>
            <a:lvl5pPr marL="2880995" indent="0">
              <a:buNone/>
              <a:defRPr sz="1575"/>
            </a:lvl5pPr>
            <a:lvl6pPr marL="3600450" indent="0">
              <a:buNone/>
              <a:defRPr sz="1575"/>
            </a:lvl6pPr>
            <a:lvl7pPr marL="4320540" indent="0">
              <a:buNone/>
              <a:defRPr sz="1575"/>
            </a:lvl7pPr>
            <a:lvl8pPr marL="5040630" indent="0">
              <a:buNone/>
              <a:defRPr sz="1575"/>
            </a:lvl8pPr>
            <a:lvl9pPr marL="5761355" indent="0">
              <a:buNone/>
              <a:defRPr sz="1575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2026/6/12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11604632" y="766727"/>
            <a:ext cx="1806420" cy="12204291"/>
          </a:xfrm>
        </p:spPr>
        <p:txBody>
          <a:bodyPr vert="eaVert">
            <a:normAutofit/>
          </a:bodyPr>
          <a:lstStyle>
            <a:lvl1pPr>
              <a:defRPr sz="567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990077" y="766727"/>
            <a:ext cx="10488962" cy="12204291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990077" y="1158186"/>
            <a:ext cx="12420973" cy="1167329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990077" y="766727"/>
            <a:ext cx="12420973" cy="27835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0077" y="3833634"/>
            <a:ext cx="12420973" cy="91373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990077" y="13347713"/>
            <a:ext cx="3240253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760FBDFE-C587-4B4C-A407-44438C67B59E}" type="datetimeFigureOut">
              <a:rPr lang="zh-CN" altLang="en-US" smtClean="0"/>
              <a:t>2026/6/12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770374" y="13347713"/>
            <a:ext cx="4860381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0170797" y="13347713"/>
            <a:ext cx="3240253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1440815" rtl="0" eaLnBrk="1" latinLnBrk="0" hangingPunct="1">
        <a:lnSpc>
          <a:spcPct val="90000"/>
        </a:lnSpc>
        <a:spcBef>
          <a:spcPct val="0"/>
        </a:spcBef>
        <a:buNone/>
        <a:defRPr sz="630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j-cs"/>
        </a:defRPr>
      </a:lvl1pPr>
    </p:titleStyle>
    <p:bodyStyle>
      <a:lvl1pPr marL="360045" indent="-360045" algn="l" defTabSz="1440815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1pPr>
      <a:lvl2pPr marL="108013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314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2pPr>
      <a:lvl3pPr marL="180086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3pPr>
      <a:lvl4pPr marL="251968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4pPr>
      <a:lvl5pPr marL="324040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5pPr>
      <a:lvl6pPr marL="396049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68058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40067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612013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1pPr>
      <a:lvl2pPr marL="72009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44081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3pPr>
      <a:lvl4pPr marL="215963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288099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60045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32054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04063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576135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2.png"/><Relationship Id="rId18" Type="http://schemas.openxmlformats.org/officeDocument/2006/relationships/image" Target="../media/image31.png"/><Relationship Id="rId3" Type="http://schemas.openxmlformats.org/officeDocument/2006/relationships/image" Target="../media/image24.png"/><Relationship Id="rId7" Type="http://schemas.openxmlformats.org/officeDocument/2006/relationships/image" Target="../media/image5.png"/><Relationship Id="rId12" Type="http://schemas.openxmlformats.org/officeDocument/2006/relationships/image" Target="../media/image11.png"/><Relationship Id="rId17" Type="http://schemas.openxmlformats.org/officeDocument/2006/relationships/image" Target="../media/image3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10.png"/><Relationship Id="rId5" Type="http://schemas.openxmlformats.org/officeDocument/2006/relationships/image" Target="../media/image26.png"/><Relationship Id="rId15" Type="http://schemas.openxmlformats.org/officeDocument/2006/relationships/image" Target="../media/image27.svg"/><Relationship Id="rId10" Type="http://schemas.openxmlformats.org/officeDocument/2006/relationships/image" Target="../media/image8.png"/><Relationship Id="rId4" Type="http://schemas.openxmlformats.org/officeDocument/2006/relationships/image" Target="../media/image25.png"/><Relationship Id="rId9" Type="http://schemas.openxmlformats.org/officeDocument/2006/relationships/image" Target="../media/image7.png"/><Relationship Id="rId1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8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2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svg"/><Relationship Id="rId4" Type="http://schemas.openxmlformats.org/officeDocument/2006/relationships/image" Target="../media/image37.svg"/><Relationship Id="rId9" Type="http://schemas.openxmlformats.org/officeDocument/2006/relationships/image" Target="../media/image4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62.png"/><Relationship Id="rId3" Type="http://schemas.openxmlformats.org/officeDocument/2006/relationships/tags" Target="../tags/tag2.xml"/><Relationship Id="rId7" Type="http://schemas.openxmlformats.org/officeDocument/2006/relationships/image" Target="../media/image56.png"/><Relationship Id="rId12" Type="http://schemas.openxmlformats.org/officeDocument/2006/relationships/image" Target="../media/image6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Relationship Id="rId6" Type="http://schemas.openxmlformats.org/officeDocument/2006/relationships/image" Target="../media/image52.png"/><Relationship Id="rId11" Type="http://schemas.openxmlformats.org/officeDocument/2006/relationships/image" Target="../media/image60.png"/><Relationship Id="rId5" Type="http://schemas.openxmlformats.org/officeDocument/2006/relationships/image" Target="../media/image51.png"/><Relationship Id="rId10" Type="http://schemas.openxmlformats.org/officeDocument/2006/relationships/image" Target="../media/image59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Relationship Id="rId14" Type="http://schemas.openxmlformats.org/officeDocument/2006/relationships/image" Target="../media/image5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63.png"/><Relationship Id="rId7" Type="http://schemas.openxmlformats.org/officeDocument/2006/relationships/image" Target="../media/image69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11" Type="http://schemas.openxmlformats.org/officeDocument/2006/relationships/image" Target="../media/image73.png"/><Relationship Id="rId5" Type="http://schemas.openxmlformats.org/officeDocument/2006/relationships/image" Target="../media/image67.png"/><Relationship Id="rId10" Type="http://schemas.openxmlformats.org/officeDocument/2006/relationships/image" Target="../media/image72.png"/><Relationship Id="rId4" Type="http://schemas.openxmlformats.org/officeDocument/2006/relationships/image" Target="../media/image66.png"/><Relationship Id="rId9" Type="http://schemas.openxmlformats.org/officeDocument/2006/relationships/image" Target="../media/image7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85.png"/><Relationship Id="rId3" Type="http://schemas.openxmlformats.org/officeDocument/2006/relationships/image" Target="../media/image65.png"/><Relationship Id="rId7" Type="http://schemas.openxmlformats.org/officeDocument/2006/relationships/image" Target="../media/image79.png"/><Relationship Id="rId12" Type="http://schemas.openxmlformats.org/officeDocument/2006/relationships/image" Target="../media/image84.png"/><Relationship Id="rId17" Type="http://schemas.openxmlformats.org/officeDocument/2006/relationships/image" Target="../media/image89.png"/><Relationship Id="rId2" Type="http://schemas.openxmlformats.org/officeDocument/2006/relationships/image" Target="../media/image64.png"/><Relationship Id="rId16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11" Type="http://schemas.openxmlformats.org/officeDocument/2006/relationships/image" Target="../media/image83.png"/><Relationship Id="rId5" Type="http://schemas.openxmlformats.org/officeDocument/2006/relationships/image" Target="../media/image77.png"/><Relationship Id="rId15" Type="http://schemas.openxmlformats.org/officeDocument/2006/relationships/image" Target="../media/image87.png"/><Relationship Id="rId10" Type="http://schemas.openxmlformats.org/officeDocument/2006/relationships/image" Target="../media/image82.png"/><Relationship Id="rId4" Type="http://schemas.openxmlformats.org/officeDocument/2006/relationships/image" Target="../media/image74.png"/><Relationship Id="rId9" Type="http://schemas.openxmlformats.org/officeDocument/2006/relationships/image" Target="../media/image81.png"/><Relationship Id="rId14" Type="http://schemas.openxmlformats.org/officeDocument/2006/relationships/image" Target="../media/image8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0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50.png"/><Relationship Id="rId4" Type="http://schemas.openxmlformats.org/officeDocument/2006/relationships/image" Target="../media/image94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0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8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1.png"/><Relationship Id="rId4" Type="http://schemas.openxmlformats.org/officeDocument/2006/relationships/image" Target="../media/image10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065" smtClean="0"/>
              <a:t>1</a:t>
            </a:fld>
            <a:endParaRPr lang="de-AT" sz="1065" dirty="0"/>
          </a:p>
        </p:txBody>
      </p:sp>
      <p:grpSp>
        <p:nvGrpSpPr>
          <p:cNvPr id="43" name="组合 42"/>
          <p:cNvGrpSpPr/>
          <p:nvPr/>
        </p:nvGrpSpPr>
        <p:grpSpPr>
          <a:xfrm>
            <a:off x="3087370" y="3930650"/>
            <a:ext cx="7763510" cy="6623050"/>
            <a:chOff x="4862" y="6190"/>
            <a:chExt cx="12226" cy="10430"/>
          </a:xfrm>
        </p:grpSpPr>
        <p:sp>
          <p:nvSpPr>
            <p:cNvPr id="66" name="矩形 65"/>
            <p:cNvSpPr/>
            <p:nvPr/>
          </p:nvSpPr>
          <p:spPr>
            <a:xfrm>
              <a:off x="4862" y="6190"/>
              <a:ext cx="12226" cy="1043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grpSp>
          <p:nvGrpSpPr>
            <p:cNvPr id="51" name="组合 50"/>
            <p:cNvGrpSpPr/>
            <p:nvPr/>
          </p:nvGrpSpPr>
          <p:grpSpPr>
            <a:xfrm>
              <a:off x="5096" y="6382"/>
              <a:ext cx="11992" cy="10119"/>
              <a:chOff x="135" y="6382"/>
              <a:chExt cx="11992" cy="10119"/>
            </a:xfrm>
          </p:grpSpPr>
          <p:grpSp>
            <p:nvGrpSpPr>
              <p:cNvPr id="8" name="组合 7"/>
              <p:cNvGrpSpPr/>
              <p:nvPr/>
            </p:nvGrpSpPr>
            <p:grpSpPr>
              <a:xfrm>
                <a:off x="193" y="7052"/>
                <a:ext cx="11934" cy="4292"/>
                <a:chOff x="583" y="2529"/>
                <a:chExt cx="21216" cy="763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1" name="TextBox 30"/>
                    <p:cNvSpPr txBox="1"/>
                    <p:nvPr/>
                  </p:nvSpPr>
                  <p:spPr>
                    <a:xfrm>
                      <a:off x="11630" y="8665"/>
                      <a:ext cx="3967" cy="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𝛼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 large, </a:t>
                      </a:r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𝛽</m:t>
                          </m:r>
                          <m:r>
                            <a:rPr lang="en-US" sz="1240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 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small</a:t>
                      </a:r>
                    </a:p>
                  </p:txBody>
                </p:sp>
              </mc:Choice>
              <mc:Fallback xmlns="">
                <p:sp>
                  <p:nvSpPr>
                    <p:cNvPr id="31" name="TextBox 3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630" y="8665"/>
                      <a:ext cx="3967" cy="788"/>
                    </a:xfrm>
                    <a:prstGeom prst="rect">
                      <a:avLst/>
                    </a:prstGeom>
                    <a:blipFill rotWithShape="1">
                      <a:blip r:embed="rId2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/>
                    <p:cNvSpPr txBox="1"/>
                    <p:nvPr/>
                  </p:nvSpPr>
                  <p:spPr>
                    <a:xfrm>
                      <a:off x="1098" y="8646"/>
                      <a:ext cx="4052" cy="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𝛼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 small, </a:t>
                      </a:r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𝛽</m:t>
                          </m:r>
                          <m:r>
                            <a:rPr lang="en-US" sz="1240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 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small</a:t>
                      </a:r>
                    </a:p>
                  </p:txBody>
                </p:sp>
              </mc:Choice>
              <mc:Fallback xmlns="">
                <p:sp>
                  <p:nvSpPr>
                    <p:cNvPr id="11" name="TextBox 1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98" y="8646"/>
                      <a:ext cx="4052" cy="788"/>
                    </a:xfrm>
                    <a:prstGeom prst="rect">
                      <a:avLst/>
                    </a:prstGeom>
                    <a:blipFill rotWithShape="1">
                      <a:blip r:embed="rId3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Box 20"/>
                    <p:cNvSpPr txBox="1"/>
                    <p:nvPr/>
                  </p:nvSpPr>
                  <p:spPr>
                    <a:xfrm>
                      <a:off x="16811" y="8646"/>
                      <a:ext cx="4052" cy="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𝛼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 large, </a:t>
                      </a:r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𝛽</m:t>
                          </m:r>
                          <m:r>
                            <a:rPr lang="en-US" sz="1240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 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large</a:t>
                      </a:r>
                    </a:p>
                  </p:txBody>
                </p:sp>
              </mc:Choice>
              <mc:Fallback xmlns="">
                <p:sp>
                  <p:nvSpPr>
                    <p:cNvPr id="21" name="TextBox 2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811" y="8646"/>
                      <a:ext cx="4052" cy="788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8" name="TextBox 57"/>
                    <p:cNvSpPr txBox="1"/>
                    <p:nvPr/>
                  </p:nvSpPr>
                  <p:spPr>
                    <a:xfrm>
                      <a:off x="6364" y="8637"/>
                      <a:ext cx="4052" cy="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𝛼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 </a:t>
                      </a:r>
                      <a:r>
                        <a:rPr lang="en-US" altLang="zh-CN" sz="1240" dirty="0">
                          <a:latin typeface="Arial" panose="020B0604020202020204" pitchFamily="34" charset="0"/>
                        </a:rPr>
                        <a:t>small</a:t>
                      </a:r>
                      <a:r>
                        <a:rPr lang="en-US" sz="1240" dirty="0">
                          <a:latin typeface="Arial" panose="020B0604020202020204" pitchFamily="34" charset="0"/>
                        </a:rPr>
                        <a:t>, </a:t>
                      </a:r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𝛽</m:t>
                          </m:r>
                          <m:r>
                            <a:rPr lang="en-US" sz="1240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 </m:t>
                          </m:r>
                        </m:oMath>
                      </a14:m>
                      <a:r>
                        <a:rPr lang="en-US" altLang="zh-CN" sz="1240" dirty="0">
                          <a:latin typeface="Arial" panose="020B0604020202020204" pitchFamily="34" charset="0"/>
                        </a:rPr>
                        <a:t>large</a:t>
                      </a:r>
                      <a:endParaRPr lang="en-US" sz="1240" dirty="0">
                        <a:latin typeface="Arial" panose="020B06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58" name="TextBox 5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364" y="8637"/>
                      <a:ext cx="4052" cy="788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9" name="TextBox 12"/>
                <p:cNvSpPr txBox="1"/>
                <p:nvPr/>
              </p:nvSpPr>
              <p:spPr>
                <a:xfrm>
                  <a:off x="2645" y="2655"/>
                  <a:ext cx="7452" cy="7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65" dirty="0">
                      <a:latin typeface="Arial" panose="020B0604020202020204" pitchFamily="34" charset="0"/>
                    </a:rPr>
                    <a:t>Structural Zeros (cannot be constructed)</a:t>
                  </a:r>
                </a:p>
              </p:txBody>
            </p:sp>
            <p:sp>
              <p:nvSpPr>
                <p:cNvPr id="33" name="TextBox 98"/>
                <p:cNvSpPr txBox="1"/>
                <p:nvPr/>
              </p:nvSpPr>
              <p:spPr>
                <a:xfrm>
                  <a:off x="10880" y="2676"/>
                  <a:ext cx="5239" cy="7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65" dirty="0">
                      <a:latin typeface="Arial" panose="020B0604020202020204" pitchFamily="34" charset="0"/>
                    </a:rPr>
                    <a:t>Constructable Area</a:t>
                  </a:r>
                </a:p>
              </p:txBody>
            </p:sp>
            <p:sp>
              <p:nvSpPr>
                <p:cNvPr id="34" name="矩形 33"/>
                <p:cNvSpPr/>
                <p:nvPr/>
              </p:nvSpPr>
              <p:spPr>
                <a:xfrm>
                  <a:off x="1832" y="2529"/>
                  <a:ext cx="813" cy="813"/>
                </a:xfrm>
                <a:prstGeom prst="rect">
                  <a:avLst/>
                </a:prstGeom>
                <a:solidFill>
                  <a:srgbClr val="696969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  <p:sp>
              <p:nvSpPr>
                <p:cNvPr id="37" name="矩形 36"/>
                <p:cNvSpPr/>
                <p:nvPr/>
              </p:nvSpPr>
              <p:spPr>
                <a:xfrm>
                  <a:off x="10068" y="2551"/>
                  <a:ext cx="813" cy="813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solidFill>
                    <a:srgbClr val="696969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  <p:grpSp>
              <p:nvGrpSpPr>
                <p:cNvPr id="2" name="组合 1"/>
                <p:cNvGrpSpPr/>
                <p:nvPr/>
              </p:nvGrpSpPr>
              <p:grpSpPr>
                <a:xfrm>
                  <a:off x="583" y="3473"/>
                  <a:ext cx="5083" cy="5043"/>
                  <a:chOff x="493" y="2941"/>
                  <a:chExt cx="4304" cy="4270"/>
                </a:xfrm>
              </p:grpSpPr>
              <p:pic>
                <p:nvPicPr>
                  <p:cNvPr id="40" name="图片 39"/>
                  <p:cNvPicPr>
                    <a:picLocks noChangeAspect="1"/>
                  </p:cNvPicPr>
                  <p:nvPr/>
                </p:nvPicPr>
                <p:blipFill>
                  <a:blip r:embed="rId6">
                    <a:grayscl/>
                  </a:blip>
                  <a:stretch>
                    <a:fillRect/>
                  </a:stretch>
                </p:blipFill>
                <p:spPr>
                  <a:xfrm>
                    <a:off x="493" y="2941"/>
                    <a:ext cx="4304" cy="4271"/>
                  </a:xfrm>
                  <a:prstGeom prst="rect">
                    <a:avLst/>
                  </a:prstGeom>
                </p:spPr>
              </p:pic>
              <p:sp>
                <p:nvSpPr>
                  <p:cNvPr id="19" name="椭圆 18"/>
                  <p:cNvSpPr/>
                  <p:nvPr/>
                </p:nvSpPr>
                <p:spPr>
                  <a:xfrm>
                    <a:off x="598" y="3013"/>
                    <a:ext cx="4199" cy="4199"/>
                  </a:xfrm>
                  <a:prstGeom prst="ellipse">
                    <a:avLst/>
                  </a:prstGeom>
                  <a:noFill/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</p:grpSp>
            <p:grpSp>
              <p:nvGrpSpPr>
                <p:cNvPr id="3" name="组合 2"/>
                <p:cNvGrpSpPr/>
                <p:nvPr/>
              </p:nvGrpSpPr>
              <p:grpSpPr>
                <a:xfrm>
                  <a:off x="5822" y="3473"/>
                  <a:ext cx="5081" cy="5043"/>
                  <a:chOff x="4929" y="2941"/>
                  <a:chExt cx="4302" cy="4270"/>
                </a:xfrm>
              </p:grpSpPr>
              <p:pic>
                <p:nvPicPr>
                  <p:cNvPr id="44" name="图片 43"/>
                  <p:cNvPicPr>
                    <a:picLocks noChangeAspect="1"/>
                  </p:cNvPicPr>
                  <p:nvPr/>
                </p:nvPicPr>
                <p:blipFill>
                  <a:blip r:embed="rId7">
                    <a:grayscl/>
                  </a:blip>
                  <a:stretch>
                    <a:fillRect/>
                  </a:stretch>
                </p:blipFill>
                <p:spPr>
                  <a:xfrm>
                    <a:off x="4929" y="2941"/>
                    <a:ext cx="4303" cy="4271"/>
                  </a:xfrm>
                  <a:prstGeom prst="rect">
                    <a:avLst/>
                  </a:prstGeom>
                </p:spPr>
              </p:pic>
              <p:sp>
                <p:nvSpPr>
                  <p:cNvPr id="39" name="椭圆 38"/>
                  <p:cNvSpPr/>
                  <p:nvPr/>
                </p:nvSpPr>
                <p:spPr>
                  <a:xfrm>
                    <a:off x="5028" y="3013"/>
                    <a:ext cx="4199" cy="4199"/>
                  </a:xfrm>
                  <a:prstGeom prst="ellipse">
                    <a:avLst/>
                  </a:prstGeom>
                  <a:noFill/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</p:grpSp>
            <p:grpSp>
              <p:nvGrpSpPr>
                <p:cNvPr id="4" name="组合 3"/>
                <p:cNvGrpSpPr/>
                <p:nvPr/>
              </p:nvGrpSpPr>
              <p:grpSpPr>
                <a:xfrm>
                  <a:off x="11060" y="3473"/>
                  <a:ext cx="5081" cy="5043"/>
                  <a:chOff x="9364" y="2941"/>
                  <a:chExt cx="4302" cy="4270"/>
                </a:xfrm>
              </p:grpSpPr>
              <p:pic>
                <p:nvPicPr>
                  <p:cNvPr id="46" name="图片 45"/>
                  <p:cNvPicPr>
                    <a:picLocks noChangeAspect="1"/>
                  </p:cNvPicPr>
                  <p:nvPr/>
                </p:nvPicPr>
                <p:blipFill>
                  <a:blip r:embed="rId8">
                    <a:grayscl/>
                  </a:blip>
                  <a:stretch>
                    <a:fillRect/>
                  </a:stretch>
                </p:blipFill>
                <p:spPr>
                  <a:xfrm>
                    <a:off x="9364" y="2941"/>
                    <a:ext cx="4303" cy="4271"/>
                  </a:xfrm>
                  <a:prstGeom prst="rect">
                    <a:avLst/>
                  </a:prstGeom>
                </p:spPr>
              </p:pic>
              <p:sp>
                <p:nvSpPr>
                  <p:cNvPr id="45" name="椭圆 44"/>
                  <p:cNvSpPr/>
                  <p:nvPr/>
                </p:nvSpPr>
                <p:spPr>
                  <a:xfrm>
                    <a:off x="9457" y="3013"/>
                    <a:ext cx="4199" cy="4199"/>
                  </a:xfrm>
                  <a:prstGeom prst="ellipse">
                    <a:avLst/>
                  </a:prstGeom>
                  <a:noFill/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</p:grpSp>
            <p:grpSp>
              <p:nvGrpSpPr>
                <p:cNvPr id="6" name="组合 5"/>
                <p:cNvGrpSpPr/>
                <p:nvPr/>
              </p:nvGrpSpPr>
              <p:grpSpPr>
                <a:xfrm>
                  <a:off x="16298" y="3473"/>
                  <a:ext cx="5081" cy="5043"/>
                  <a:chOff x="13799" y="2941"/>
                  <a:chExt cx="4302" cy="4270"/>
                </a:xfrm>
              </p:grpSpPr>
              <p:pic>
                <p:nvPicPr>
                  <p:cNvPr id="47" name="图片 46"/>
                  <p:cNvPicPr>
                    <a:picLocks noChangeAspect="1"/>
                  </p:cNvPicPr>
                  <p:nvPr/>
                </p:nvPicPr>
                <p:blipFill>
                  <a:blip r:embed="rId9">
                    <a:grayscl/>
                  </a:blip>
                  <a:stretch>
                    <a:fillRect/>
                  </a:stretch>
                </p:blipFill>
                <p:spPr>
                  <a:xfrm>
                    <a:off x="13799" y="2941"/>
                    <a:ext cx="4303" cy="4271"/>
                  </a:xfrm>
                  <a:prstGeom prst="rect">
                    <a:avLst/>
                  </a:prstGeom>
                </p:spPr>
              </p:pic>
              <p:sp>
                <p:nvSpPr>
                  <p:cNvPr id="48" name="椭圆 47"/>
                  <p:cNvSpPr/>
                  <p:nvPr/>
                </p:nvSpPr>
                <p:spPr>
                  <a:xfrm>
                    <a:off x="13887" y="3013"/>
                    <a:ext cx="4199" cy="4199"/>
                  </a:xfrm>
                  <a:prstGeom prst="ellipse">
                    <a:avLst/>
                  </a:prstGeom>
                  <a:noFill/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8" name="TextBox 8"/>
                    <p:cNvSpPr txBox="1"/>
                    <p:nvPr/>
                  </p:nvSpPr>
                  <p:spPr>
                    <a:xfrm>
                      <a:off x="14972" y="2557"/>
                      <a:ext cx="6827" cy="94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595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𝜑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(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𝑟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)=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𝑙𝑜𝑔𝑖𝑠𝑡𝑖𝑐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(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𝛼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+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𝛽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∙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𝑟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sz="1595" b="0" i="1" dirty="0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38" name="TextBox 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972" y="2557"/>
                      <a:ext cx="6827" cy="944"/>
                    </a:xfrm>
                    <a:prstGeom prst="rect">
                      <a:avLst/>
                    </a:prstGeom>
                    <a:blipFill rotWithShape="1">
                      <a:blip r:embed="rId10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61" name="文本框 60"/>
                <p:cNvSpPr txBox="1"/>
                <p:nvPr/>
              </p:nvSpPr>
              <p:spPr>
                <a:xfrm>
                  <a:off x="5933" y="9322"/>
                  <a:ext cx="4928" cy="83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5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Edge constrained</a:t>
                  </a:r>
                </a:p>
              </p:txBody>
            </p:sp>
            <p:sp>
              <p:nvSpPr>
                <p:cNvPr id="54" name="文本框 53"/>
                <p:cNvSpPr txBox="1"/>
                <p:nvPr/>
              </p:nvSpPr>
              <p:spPr>
                <a:xfrm>
                  <a:off x="932" y="9302"/>
                  <a:ext cx="4734" cy="83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50" dirty="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Uniformly Open</a:t>
                  </a:r>
                </a:p>
              </p:txBody>
            </p:sp>
            <p:sp>
              <p:nvSpPr>
                <p:cNvPr id="60" name="文本框 59"/>
                <p:cNvSpPr txBox="1"/>
                <p:nvPr/>
              </p:nvSpPr>
              <p:spPr>
                <a:xfrm>
                  <a:off x="16422" y="9322"/>
                  <a:ext cx="4936" cy="82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3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Locked</a:t>
                  </a:r>
                </a:p>
              </p:txBody>
            </p:sp>
            <p:sp>
              <p:nvSpPr>
                <p:cNvPr id="62" name="文本框 61"/>
                <p:cNvSpPr txBox="1"/>
                <p:nvPr/>
              </p:nvSpPr>
              <p:spPr>
                <a:xfrm>
                  <a:off x="11095" y="9322"/>
                  <a:ext cx="5252" cy="83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5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Uniformly constrained</a:t>
                  </a:r>
                </a:p>
              </p:txBody>
            </p:sp>
          </p:grpSp>
          <p:grpSp>
            <p:nvGrpSpPr>
              <p:cNvPr id="7" name="组合 6"/>
              <p:cNvGrpSpPr/>
              <p:nvPr/>
            </p:nvGrpSpPr>
            <p:grpSpPr>
              <a:xfrm>
                <a:off x="135" y="12332"/>
                <a:ext cx="11992" cy="4169"/>
                <a:chOff x="775" y="2738"/>
                <a:chExt cx="21319" cy="7412"/>
              </a:xfrm>
            </p:grpSpPr>
            <p:grpSp>
              <p:nvGrpSpPr>
                <p:cNvPr id="9" name="组合 8"/>
                <p:cNvGrpSpPr/>
                <p:nvPr/>
              </p:nvGrpSpPr>
              <p:grpSpPr>
                <a:xfrm>
                  <a:off x="775" y="2738"/>
                  <a:ext cx="21319" cy="6876"/>
                  <a:chOff x="1249" y="1355"/>
                  <a:chExt cx="21319" cy="6876"/>
                </a:xfrm>
              </p:grpSpPr>
              <p:sp>
                <p:nvSpPr>
                  <p:cNvPr id="126" name="Google Shape;421;p29"/>
                  <p:cNvSpPr txBox="1"/>
                  <p:nvPr/>
                </p:nvSpPr>
                <p:spPr>
                  <a:xfrm>
                    <a:off x="7112" y="7170"/>
                    <a:ext cx="4043" cy="106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80960" tIns="80960" rIns="80960" bIns="80960" anchor="t" anchorCtr="0">
                    <a:spAutoFit/>
                  </a:bodyPr>
                  <a:lstStyle/>
                  <a:p>
                    <a:pPr lvl="0" algn="ctr"/>
                    <a:r>
                      <a:rPr lang="de-AT" sz="1420" dirty="0">
                        <a:solidFill>
                          <a:schemeClr val="dk1"/>
                        </a:solidFill>
                        <a:latin typeface="Arial" panose="020B0604020202020204" pitchFamily="34" charset="0"/>
                      </a:rPr>
                      <a:t>κ small δ large </a:t>
                    </a:r>
                    <a:endParaRPr sz="1420" dirty="0">
                      <a:solidFill>
                        <a:schemeClr val="dk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127" name="Google Shape;422;p29"/>
                  <p:cNvSpPr txBox="1"/>
                  <p:nvPr/>
                </p:nvSpPr>
                <p:spPr>
                  <a:xfrm>
                    <a:off x="17905" y="7170"/>
                    <a:ext cx="4249" cy="106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80960" tIns="80960" rIns="80960" bIns="80960" anchor="t" anchorCtr="0">
                    <a:spAutoFit/>
                  </a:bodyPr>
                  <a:lstStyle/>
                  <a:p>
                    <a:pPr lvl="0" algn="ctr"/>
                    <a:r>
                      <a:rPr lang="de-AT" sz="1420" dirty="0">
                        <a:solidFill>
                          <a:schemeClr val="dk1"/>
                        </a:solidFill>
                        <a:latin typeface="Arial" panose="020B0604020202020204" pitchFamily="34" charset="0"/>
                      </a:rPr>
                      <a:t>κ large δ large </a:t>
                    </a:r>
                    <a:endParaRPr sz="1420" dirty="0">
                      <a:solidFill>
                        <a:schemeClr val="dk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128" name="Google Shape;423;p29"/>
                  <p:cNvSpPr txBox="1"/>
                  <p:nvPr/>
                </p:nvSpPr>
                <p:spPr>
                  <a:xfrm>
                    <a:off x="1714" y="7170"/>
                    <a:ext cx="4044" cy="106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80960" tIns="80960" rIns="80960" bIns="80960" anchor="t" anchorCtr="0">
                    <a:spAutoFit/>
                  </a:bodyPr>
                  <a:lstStyle/>
                  <a:p>
                    <a:pPr lvl="0" algn="ctr"/>
                    <a:r>
                      <a:rPr lang="de-AT" sz="1420" dirty="0">
                        <a:solidFill>
                          <a:schemeClr val="dk1"/>
                        </a:solidFill>
                        <a:latin typeface="Arial" panose="020B0604020202020204" pitchFamily="34" charset="0"/>
                      </a:rPr>
                      <a:t>κ small δ small </a:t>
                    </a:r>
                    <a:endParaRPr sz="1420" dirty="0">
                      <a:solidFill>
                        <a:schemeClr val="dk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129" name="Google Shape;424;p29"/>
                  <p:cNvSpPr txBox="1"/>
                  <p:nvPr/>
                </p:nvSpPr>
                <p:spPr>
                  <a:xfrm>
                    <a:off x="12509" y="7170"/>
                    <a:ext cx="4043" cy="106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80960" tIns="80960" rIns="80960" bIns="80960" anchor="t" anchorCtr="0">
                    <a:spAutoFit/>
                  </a:bodyPr>
                  <a:lstStyle/>
                  <a:p>
                    <a:pPr lvl="0" algn="ctr"/>
                    <a:r>
                      <a:rPr lang="de-AT" sz="1420" dirty="0">
                        <a:solidFill>
                          <a:schemeClr val="dk1"/>
                        </a:solidFill>
                        <a:latin typeface="Arial" panose="020B0604020202020204" pitchFamily="34" charset="0"/>
                      </a:rPr>
                      <a:t>κ large δ small </a:t>
                    </a:r>
                    <a:endParaRPr sz="1420" dirty="0">
                      <a:solidFill>
                        <a:schemeClr val="dk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32" name="TextBox 12"/>
                  <p:cNvSpPr txBox="1"/>
                  <p:nvPr/>
                </p:nvSpPr>
                <p:spPr>
                  <a:xfrm>
                    <a:off x="2886" y="1378"/>
                    <a:ext cx="2508" cy="7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065" dirty="0">
                        <a:latin typeface="Arial" panose="020B0604020202020204" pitchFamily="34" charset="0"/>
                      </a:rPr>
                      <a:t>Buildings</a:t>
                    </a:r>
                  </a:p>
                </p:txBody>
              </p:sp>
              <p:sp>
                <p:nvSpPr>
                  <p:cNvPr id="10" name="TextBox 98"/>
                  <p:cNvSpPr txBox="1"/>
                  <p:nvPr/>
                </p:nvSpPr>
                <p:spPr>
                  <a:xfrm>
                    <a:off x="11123" y="1379"/>
                    <a:ext cx="5239" cy="7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065" dirty="0">
                        <a:latin typeface="Arial" panose="020B0604020202020204" pitchFamily="34" charset="0"/>
                      </a:rPr>
                      <a:t>Constructable Area</a:t>
                    </a:r>
                  </a:p>
                </p:txBody>
              </p:sp>
              <p:sp>
                <p:nvSpPr>
                  <p:cNvPr id="12" name="矩形 11"/>
                  <p:cNvSpPr/>
                  <p:nvPr/>
                </p:nvSpPr>
                <p:spPr>
                  <a:xfrm>
                    <a:off x="2073" y="1357"/>
                    <a:ext cx="813" cy="813"/>
                  </a:xfrm>
                  <a:prstGeom prst="rect">
                    <a:avLst/>
                  </a:prstGeom>
                  <a:solidFill>
                    <a:srgbClr val="69A2BC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  <p:sp>
                <p:nvSpPr>
                  <p:cNvPr id="13" name="矩形 12"/>
                  <p:cNvSpPr/>
                  <p:nvPr/>
                </p:nvSpPr>
                <p:spPr>
                  <a:xfrm>
                    <a:off x="10309" y="1355"/>
                    <a:ext cx="813" cy="813"/>
                  </a:xfrm>
                  <a:prstGeom prst="rect">
                    <a:avLst/>
                  </a:prstGeom>
                  <a:solidFill>
                    <a:schemeClr val="bg1"/>
                  </a:solidFill>
                  <a:ln w="31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  <p:grpSp>
                <p:nvGrpSpPr>
                  <p:cNvPr id="14" name="组合 13"/>
                  <p:cNvGrpSpPr/>
                  <p:nvPr/>
                </p:nvGrpSpPr>
                <p:grpSpPr>
                  <a:xfrm>
                    <a:off x="1249" y="2420"/>
                    <a:ext cx="4974" cy="4859"/>
                    <a:chOff x="1057" y="2049"/>
                    <a:chExt cx="4212" cy="4114"/>
                  </a:xfrm>
                </p:grpSpPr>
                <p:pic>
                  <p:nvPicPr>
                    <p:cNvPr id="15" name="图片 14"/>
                    <p:cNvPicPr>
                      <a:picLocks noChangeAspect="1"/>
                    </p:cNvPicPr>
                    <p:nvPr/>
                  </p:nvPicPr>
                  <p:blipFill>
                    <a:blip r:embed="rId11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</a:blip>
                    <a:stretch>
                      <a:fillRect/>
                    </a:stretch>
                  </p:blipFill>
                  <p:spPr>
                    <a:xfrm>
                      <a:off x="1057" y="2049"/>
                      <a:ext cx="4212" cy="4115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27" name="椭圆 26"/>
                    <p:cNvSpPr/>
                    <p:nvPr/>
                  </p:nvSpPr>
                  <p:spPr>
                    <a:xfrm>
                      <a:off x="1280" y="2210"/>
                      <a:ext cx="3862" cy="3862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</a:extLst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"/>
                    </a:p>
                  </p:txBody>
                </p:sp>
              </p:grpSp>
              <p:grpSp>
                <p:nvGrpSpPr>
                  <p:cNvPr id="16" name="组合 15"/>
                  <p:cNvGrpSpPr/>
                  <p:nvPr/>
                </p:nvGrpSpPr>
                <p:grpSpPr>
                  <a:xfrm>
                    <a:off x="6580" y="2420"/>
                    <a:ext cx="4974" cy="4859"/>
                    <a:chOff x="5571" y="2049"/>
                    <a:chExt cx="4212" cy="4114"/>
                  </a:xfrm>
                </p:grpSpPr>
                <p:pic>
                  <p:nvPicPr>
                    <p:cNvPr id="17" name="图片 16"/>
                    <p:cNvPicPr>
                      <a:picLocks noChangeAspect="1"/>
                    </p:cNvPicPr>
                    <p:nvPr/>
                  </p:nvPicPr>
                  <p:blipFill>
                    <a:blip r:embed="rId12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</a:blip>
                    <a:stretch>
                      <a:fillRect/>
                    </a:stretch>
                  </p:blipFill>
                  <p:spPr>
                    <a:xfrm>
                      <a:off x="5571" y="2049"/>
                      <a:ext cx="4212" cy="4115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28" name="椭圆 27"/>
                    <p:cNvSpPr/>
                    <p:nvPr/>
                  </p:nvSpPr>
                  <p:spPr>
                    <a:xfrm>
                      <a:off x="5813" y="2210"/>
                      <a:ext cx="3862" cy="3862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</a:extLst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"/>
                    </a:p>
                  </p:txBody>
                </p:sp>
              </p:grpSp>
              <p:grpSp>
                <p:nvGrpSpPr>
                  <p:cNvPr id="18" name="组合 17"/>
                  <p:cNvGrpSpPr/>
                  <p:nvPr/>
                </p:nvGrpSpPr>
                <p:grpSpPr>
                  <a:xfrm>
                    <a:off x="11910" y="2420"/>
                    <a:ext cx="4974" cy="4859"/>
                    <a:chOff x="10084" y="2049"/>
                    <a:chExt cx="4212" cy="4114"/>
                  </a:xfrm>
                </p:grpSpPr>
                <p:pic>
                  <p:nvPicPr>
                    <p:cNvPr id="20" name="图片 19"/>
                    <p:cNvPicPr>
                      <a:picLocks noChangeAspect="1"/>
                    </p:cNvPicPr>
                    <p:nvPr/>
                  </p:nvPicPr>
                  <p:blipFill>
                    <a:blip r:embed="rId13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</a:blip>
                    <a:stretch>
                      <a:fillRect/>
                    </a:stretch>
                  </p:blipFill>
                  <p:spPr>
                    <a:xfrm>
                      <a:off x="10084" y="2049"/>
                      <a:ext cx="4212" cy="4115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22" name="椭圆 21"/>
                    <p:cNvSpPr/>
                    <p:nvPr/>
                  </p:nvSpPr>
                  <p:spPr>
                    <a:xfrm>
                      <a:off x="10347" y="2210"/>
                      <a:ext cx="3862" cy="3862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</a:extLst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"/>
                    </a:p>
                  </p:txBody>
                </p:sp>
              </p:grpSp>
              <p:grpSp>
                <p:nvGrpSpPr>
                  <p:cNvPr id="23" name="组合 22"/>
                  <p:cNvGrpSpPr/>
                  <p:nvPr/>
                </p:nvGrpSpPr>
                <p:grpSpPr>
                  <a:xfrm>
                    <a:off x="17241" y="2420"/>
                    <a:ext cx="4974" cy="4859"/>
                    <a:chOff x="14598" y="2049"/>
                    <a:chExt cx="4212" cy="4114"/>
                  </a:xfrm>
                </p:grpSpPr>
                <p:pic>
                  <p:nvPicPr>
                    <p:cNvPr id="24" name="图片 23"/>
                    <p:cNvPicPr>
                      <a:picLocks noChangeAspect="1"/>
                    </p:cNvPicPr>
                    <p:nvPr/>
                  </p:nvPicPr>
                  <p:blipFill>
                    <a:blip r:embed="rId14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</a:blip>
                    <a:stretch>
                      <a:fillRect/>
                    </a:stretch>
                  </p:blipFill>
                  <p:spPr>
                    <a:xfrm>
                      <a:off x="14598" y="2049"/>
                      <a:ext cx="4212" cy="4115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30" name="椭圆 29"/>
                    <p:cNvSpPr/>
                    <p:nvPr/>
                  </p:nvSpPr>
                  <p:spPr>
                    <a:xfrm>
                      <a:off x="14880" y="2210"/>
                      <a:ext cx="3862" cy="3862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</a:extLst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"/>
                    </a:p>
                  </p:txBody>
                </p:sp>
              </p:grpSp>
              <p:sp>
                <p:nvSpPr>
                  <p:cNvPr id="25" name="TextBox 12"/>
                  <p:cNvSpPr txBox="1"/>
                  <p:nvPr/>
                </p:nvSpPr>
                <p:spPr>
                  <a:xfrm>
                    <a:off x="6570" y="1378"/>
                    <a:ext cx="3374" cy="7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065" dirty="0">
                        <a:latin typeface="Arial" panose="020B0604020202020204" pitchFamily="34" charset="0"/>
                      </a:rPr>
                      <a:t>Structural Zeros</a:t>
                    </a:r>
                  </a:p>
                </p:txBody>
              </p:sp>
              <p:sp>
                <p:nvSpPr>
                  <p:cNvPr id="26" name="矩形 25"/>
                  <p:cNvSpPr/>
                  <p:nvPr/>
                </p:nvSpPr>
                <p:spPr>
                  <a:xfrm>
                    <a:off x="5768" y="1357"/>
                    <a:ext cx="813" cy="813"/>
                  </a:xfrm>
                  <a:prstGeom prst="rect">
                    <a:avLst/>
                  </a:prstGeom>
                  <a:solidFill>
                    <a:srgbClr val="BFBFBF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88" name="文本框 87"/>
                      <p:cNvSpPr txBox="1"/>
                      <p:nvPr/>
                    </p:nvSpPr>
                    <p:spPr>
                      <a:xfrm>
                        <a:off x="15324" y="1378"/>
                        <a:ext cx="7244" cy="9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 anchor="t">
                        <a:spAutoFit/>
                      </a:bodyPr>
                      <a:lstStyle/>
                      <a:p>
                        <a:pPr marL="0" indent="0">
                          <a:lnSpc>
                            <a:spcPct val="100000"/>
                          </a:lnSpc>
                          <a:spcBef>
                            <a:spcPts val="1200"/>
                          </a:spcBef>
                          <a:buFont typeface="Wingdings" panose="05000000000000000000" charset="0"/>
                          <a:buNone/>
                        </a:pPr>
                        <a14:m>
                          <m:oMath xmlns:m="http://schemas.openxmlformats.org/officeDocument/2006/math">
                            <m:r>
                              <a:rPr lang="en-US" sz="1595" i="1" smtClean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𝜋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 (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)=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𝑙𝑜𝑔𝑖𝑠𝑡𝑖𝑐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ea typeface="Cambria Math" panose="02040503050406030204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ea typeface="Cambria Math" panose="02040503050406030204" charset="0"/>
                                <a:cs typeface="Cambria Math" panose="02040503050406030204" charset="0"/>
                              </a:rPr>
                              <m:t>−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ea typeface="Cambria Math" panose="02040503050406030204" charset="0"/>
                                <a:cs typeface="Cambria Math" panose="02040503050406030204" charset="0"/>
                              </a:rPr>
                              <m:t>𝛿</m:t>
                            </m:r>
                            <m:r>
                              <a:rPr lang="en-US" sz="159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∙</m:t>
                            </m:r>
                            <m:r>
                              <a:rPr lang="en-US" sz="159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  <m:r>
                              <a:rPr lang="en-US" sz="159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) </m:t>
                            </m:r>
                          </m:oMath>
                        </a14:m>
                        <a:r>
                          <a:rPr lang="en-US" sz="1595" dirty="0">
                            <a:latin typeface="Arial" panose="020B0604020202020204" pitchFamily="34" charset="0"/>
                            <a:cs typeface="Arial" panose="020B0604020202020204" pitchFamily="34" charset="0"/>
                            <a:sym typeface="+mn-ea"/>
                          </a:rPr>
                          <a:t> </a:t>
                        </a:r>
                        <a:endParaRPr lang="en-US" altLang="en-US" sz="1595" dirty="0">
                          <a:latin typeface="Arial" panose="020B0604020202020204" pitchFamily="34" charset="0"/>
                          <a:cs typeface="Arial" panose="020B0604020202020204" pitchFamily="34" charset="0"/>
                          <a:sym typeface="+mn-ea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88" name="文本框 87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5324" y="1378"/>
                        <a:ext cx="7244" cy="944"/>
                      </a:xfrm>
                      <a:prstGeom prst="rect">
                        <a:avLst/>
                      </a:prstGeom>
                      <a:blipFill rotWithShape="1">
                        <a:blip r:embed="rId15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35" name="文本框 34"/>
                <p:cNvSpPr txBox="1"/>
                <p:nvPr/>
              </p:nvSpPr>
              <p:spPr>
                <a:xfrm>
                  <a:off x="6703" y="9322"/>
                  <a:ext cx="4100" cy="82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3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Thinly built</a:t>
                  </a:r>
                </a:p>
              </p:txBody>
            </p:sp>
            <p:sp>
              <p:nvSpPr>
                <p:cNvPr id="36" name="文本框 35"/>
                <p:cNvSpPr txBox="1"/>
                <p:nvPr/>
              </p:nvSpPr>
              <p:spPr>
                <a:xfrm>
                  <a:off x="1050" y="9322"/>
                  <a:ext cx="4604" cy="82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30" dirty="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Uniformly sparse</a:t>
                  </a:r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17634" y="9322"/>
                  <a:ext cx="3810" cy="82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3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Core-dense</a:t>
                  </a:r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1759" y="9322"/>
                  <a:ext cx="4599" cy="82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3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Uniformly dense</a:t>
                  </a:r>
                </a:p>
              </p:txBody>
            </p:sp>
          </p:grpSp>
          <p:sp>
            <p:nvSpPr>
              <p:cNvPr id="49" name="文本框 48"/>
              <p:cNvSpPr txBox="1"/>
              <p:nvPr/>
            </p:nvSpPr>
            <p:spPr>
              <a:xfrm>
                <a:off x="448" y="6382"/>
                <a:ext cx="6795" cy="5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/>
                  <a:t>Horizontal Constraints Types</a:t>
                </a:r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528" y="11577"/>
                <a:ext cx="6795" cy="5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/>
                  <a:t>Horizontal Construction Types</a:t>
                </a:r>
              </a:p>
            </p:txBody>
          </p:sp>
        </p:grp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4544" y="9707115"/>
            <a:ext cx="2271669" cy="1398437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35" name="图片 3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61" y="9781361"/>
            <a:ext cx="1792024" cy="993460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88536" y="9781361"/>
            <a:ext cx="1673906" cy="927651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3195345" y="2879131"/>
            <a:ext cx="7555285" cy="2620287"/>
            <a:chOff x="398" y="8731"/>
            <a:chExt cx="11898" cy="4126"/>
          </a:xfrm>
        </p:grpSpPr>
        <p:grpSp>
          <p:nvGrpSpPr>
            <p:cNvPr id="78" name="组合 77"/>
            <p:cNvGrpSpPr/>
            <p:nvPr/>
          </p:nvGrpSpPr>
          <p:grpSpPr>
            <a:xfrm>
              <a:off x="430" y="9118"/>
              <a:ext cx="11866" cy="3739"/>
              <a:chOff x="647" y="2057"/>
              <a:chExt cx="17861" cy="5629"/>
            </a:xfrm>
          </p:grpSpPr>
          <p:grpSp>
            <p:nvGrpSpPr>
              <p:cNvPr id="73" name="组合 72"/>
              <p:cNvGrpSpPr/>
              <p:nvPr/>
            </p:nvGrpSpPr>
            <p:grpSpPr>
              <a:xfrm>
                <a:off x="647" y="2057"/>
                <a:ext cx="3551" cy="5629"/>
                <a:chOff x="647" y="2057"/>
                <a:chExt cx="3551" cy="5629"/>
              </a:xfrm>
            </p:grpSpPr>
            <p:sp>
              <p:nvSpPr>
                <p:cNvPr id="5163" name="TextBox 264"/>
                <p:cNvSpPr txBox="1"/>
                <p:nvPr/>
              </p:nvSpPr>
              <p:spPr>
                <a:xfrm>
                  <a:off x="647" y="4712"/>
                  <a:ext cx="3551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C&gt;0, B&gt;0</a:t>
                  </a: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“Bowl” City</a:t>
                  </a:r>
                </a:p>
              </p:txBody>
            </p:sp>
            <p:grpSp>
              <p:nvGrpSpPr>
                <p:cNvPr id="26" name="组合 25"/>
                <p:cNvGrpSpPr/>
                <p:nvPr/>
              </p:nvGrpSpPr>
              <p:grpSpPr>
                <a:xfrm>
                  <a:off x="1094" y="5693"/>
                  <a:ext cx="2657" cy="1993"/>
                  <a:chOff x="3202" y="5108"/>
                  <a:chExt cx="2657" cy="1993"/>
                </a:xfrm>
              </p:grpSpPr>
              <p:cxnSp>
                <p:nvCxnSpPr>
                  <p:cNvPr id="8" name="直接箭头连接符 7"/>
                  <p:cNvCxnSpPr/>
                  <p:nvPr/>
                </p:nvCxnSpPr>
                <p:spPr>
                  <a:xfrm flipV="1">
                    <a:off x="3755" y="5227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" name="直接箭头连接符 8"/>
                  <p:cNvCxnSpPr/>
                  <p:nvPr/>
                </p:nvCxnSpPr>
                <p:spPr>
                  <a:xfrm>
                    <a:off x="3755" y="6786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3" name="任意多边形 12"/>
                  <p:cNvSpPr/>
                  <p:nvPr/>
                </p:nvSpPr>
                <p:spPr>
                  <a:xfrm>
                    <a:off x="3755" y="5568"/>
                    <a:ext cx="1606" cy="503"/>
                  </a:xfrm>
                  <a:custGeom>
                    <a:avLst/>
                    <a:gdLst>
                      <a:gd name="connsiteX0" fmla="*/ 0 w 7905"/>
                      <a:gd name="connsiteY0" fmla="*/ 2460 h 2476"/>
                      <a:gd name="connsiteX1" fmla="*/ 7905 w 7905"/>
                      <a:gd name="connsiteY1" fmla="*/ 0 h 247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7905" h="2477">
                        <a:moveTo>
                          <a:pt x="0" y="2460"/>
                        </a:moveTo>
                        <a:cubicBezTo>
                          <a:pt x="4710" y="2655"/>
                          <a:pt x="7095" y="1095"/>
                          <a:pt x="7905" y="0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95"/>
                  </a:p>
                </p:txBody>
              </p:sp>
              <p:grpSp>
                <p:nvGrpSpPr>
                  <p:cNvPr id="18" name="组合 17"/>
                  <p:cNvGrpSpPr/>
                  <p:nvPr/>
                </p:nvGrpSpPr>
                <p:grpSpPr>
                  <a:xfrm>
                    <a:off x="3202" y="5108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41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</a:p>
                  </p:txBody>
                </p:sp>
                <p:sp>
                  <p:nvSpPr>
                    <p:cNvPr id="14" name="文本框 13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</a:p>
                  </p:txBody>
                </p:sp>
                <p:sp>
                  <p:nvSpPr>
                    <p:cNvPr id="15" name="文本框 14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p:txBody>
                </p:sp>
              </p:grpSp>
            </p:grpSp>
            <p:pic>
              <p:nvPicPr>
                <p:cNvPr id="16" name="图片 15"/>
                <p:cNvPicPr>
                  <a:picLocks noChangeAspect="1"/>
                </p:cNvPicPr>
                <p:nvPr/>
              </p:nvPicPr>
              <p:blipFill>
                <a:blip r:embed="rId6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48000"/>
                </a:blip>
                <a:stretch>
                  <a:fillRect/>
                </a:stretch>
              </p:blipFill>
              <p:spPr>
                <a:xfrm>
                  <a:off x="647" y="2057"/>
                  <a:ext cx="3441" cy="273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</p:grpSp>
          <p:grpSp>
            <p:nvGrpSpPr>
              <p:cNvPr id="75" name="组合 74"/>
              <p:cNvGrpSpPr/>
              <p:nvPr/>
            </p:nvGrpSpPr>
            <p:grpSpPr>
              <a:xfrm>
                <a:off x="7659" y="2455"/>
                <a:ext cx="3661" cy="5231"/>
                <a:chOff x="7722" y="2455"/>
                <a:chExt cx="3661" cy="5231"/>
              </a:xfrm>
            </p:grpSpPr>
            <p:pic>
              <p:nvPicPr>
                <p:cNvPr id="2" name="图片 1"/>
                <p:cNvPicPr>
                  <a:picLocks noChangeAspect="1"/>
                </p:cNvPicPr>
                <p:nvPr/>
              </p:nvPicPr>
              <p:blipFill>
                <a:blip r:embed="rId7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7722" y="2455"/>
                  <a:ext cx="3470" cy="2199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3" name="文本框 2"/>
                <p:cNvSpPr txBox="1"/>
                <p:nvPr/>
              </p:nvSpPr>
              <p:spPr>
                <a:xfrm>
                  <a:off x="7740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algn="ctr"/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</a:rPr>
                    <a:t>C=0, B=0</a:t>
                  </a:r>
                </a:p>
                <a:p>
                  <a:pPr algn="ctr"/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</a:rPr>
                    <a:t>“Pancake” City</a:t>
                  </a:r>
                </a:p>
              </p:txBody>
            </p:sp>
            <p:grpSp>
              <p:nvGrpSpPr>
                <p:cNvPr id="23" name="组合 22"/>
                <p:cNvGrpSpPr/>
                <p:nvPr/>
              </p:nvGrpSpPr>
              <p:grpSpPr>
                <a:xfrm>
                  <a:off x="8233" y="5693"/>
                  <a:ext cx="2657" cy="1993"/>
                  <a:chOff x="5687" y="5068"/>
                  <a:chExt cx="2657" cy="1993"/>
                </a:xfrm>
              </p:grpSpPr>
              <p:cxnSp>
                <p:nvCxnSpPr>
                  <p:cNvPr id="4" name="直接箭头连接符 3"/>
                  <p:cNvCxnSpPr/>
                  <p:nvPr/>
                </p:nvCxnSpPr>
                <p:spPr>
                  <a:xfrm flipV="1">
                    <a:off x="6221" y="5213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" name="直接箭头连接符 4"/>
                  <p:cNvCxnSpPr/>
                  <p:nvPr/>
                </p:nvCxnSpPr>
                <p:spPr>
                  <a:xfrm>
                    <a:off x="6221" y="6772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" name="直接连接符 5"/>
                  <p:cNvCxnSpPr/>
                  <p:nvPr/>
                </p:nvCxnSpPr>
                <p:spPr>
                  <a:xfrm>
                    <a:off x="6236" y="6085"/>
                    <a:ext cx="1665" cy="0"/>
                  </a:xfrm>
                  <a:prstGeom prst="line">
                    <a:avLst/>
                  </a:pr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9" name="组合 18"/>
                  <p:cNvGrpSpPr/>
                  <p:nvPr/>
                </p:nvGrpSpPr>
                <p:grpSpPr>
                  <a:xfrm>
                    <a:off x="5687" y="5068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20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</a:p>
                  </p:txBody>
                </p:sp>
                <p:sp>
                  <p:nvSpPr>
                    <p:cNvPr id="21" name="文本框 20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</a:p>
                  </p:txBody>
                </p:sp>
                <p:sp>
                  <p:nvSpPr>
                    <p:cNvPr id="22" name="文本框 21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p:txBody>
                </p:sp>
              </p:grpSp>
            </p:grpSp>
          </p:grpSp>
          <p:grpSp>
            <p:nvGrpSpPr>
              <p:cNvPr id="77" name="组合 76"/>
              <p:cNvGrpSpPr/>
              <p:nvPr/>
            </p:nvGrpSpPr>
            <p:grpSpPr>
              <a:xfrm>
                <a:off x="14741" y="2761"/>
                <a:ext cx="3767" cy="4925"/>
                <a:chOff x="14737" y="2761"/>
                <a:chExt cx="3767" cy="4925"/>
              </a:xfrm>
            </p:grpSpPr>
            <p:pic>
              <p:nvPicPr>
                <p:cNvPr id="17" name="图片 16"/>
                <p:cNvPicPr>
                  <a:picLocks noChangeAspect="1"/>
                </p:cNvPicPr>
                <p:nvPr/>
              </p:nvPicPr>
              <p:blipFill>
                <a:blip r:embed="rId8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rcRect l="8333" t="26856" r="10968" b="26289"/>
                <a:stretch>
                  <a:fillRect/>
                </a:stretch>
              </p:blipFill>
              <p:spPr>
                <a:xfrm>
                  <a:off x="14737" y="2761"/>
                  <a:ext cx="3767" cy="1736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5126" name="TextBox 190"/>
                <p:cNvSpPr txBox="1"/>
                <p:nvPr/>
              </p:nvSpPr>
              <p:spPr>
                <a:xfrm>
                  <a:off x="14861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C&lt;0, B&lt;0</a:t>
                  </a: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sym typeface="+mn-ea"/>
                    </a:rPr>
                    <a:t>“Pyramid”City</a:t>
                  </a:r>
                </a:p>
              </p:txBody>
            </p:sp>
            <p:grpSp>
              <p:nvGrpSpPr>
                <p:cNvPr id="49" name="组合 48"/>
                <p:cNvGrpSpPr/>
                <p:nvPr/>
              </p:nvGrpSpPr>
              <p:grpSpPr>
                <a:xfrm>
                  <a:off x="15354" y="5693"/>
                  <a:ext cx="2657" cy="1993"/>
                  <a:chOff x="10870" y="5054"/>
                  <a:chExt cx="2657" cy="1993"/>
                </a:xfrm>
              </p:grpSpPr>
              <p:sp>
                <p:nvSpPr>
                  <p:cNvPr id="37" name="任意多边形 36"/>
                  <p:cNvSpPr/>
                  <p:nvPr/>
                </p:nvSpPr>
                <p:spPr>
                  <a:xfrm>
                    <a:off x="11415" y="6023"/>
                    <a:ext cx="1395" cy="695"/>
                  </a:xfrm>
                  <a:custGeom>
                    <a:avLst/>
                    <a:gdLst>
                      <a:gd name="connsiteX0" fmla="*/ 0 w 6210"/>
                      <a:gd name="connsiteY0" fmla="*/ 0 h 2550"/>
                      <a:gd name="connsiteX1" fmla="*/ 6210 w 6210"/>
                      <a:gd name="connsiteY1" fmla="*/ 2550 h 2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6210" h="2550">
                        <a:moveTo>
                          <a:pt x="0" y="0"/>
                        </a:moveTo>
                        <a:cubicBezTo>
                          <a:pt x="2385" y="1290"/>
                          <a:pt x="4110" y="2085"/>
                          <a:pt x="6210" y="2550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vertOverflow="overflow" horzOverflow="overflow" vert="horz" wrap="square" numCol="1" spcCol="0" rtlCol="0" fromWordArt="0" anchor="ctr" anchorCtr="0" forceAA="0" compatLnSpc="1">
                    <a:noAutofit/>
                  </a:bodyPr>
                  <a:lstStyle/>
                  <a:p>
                    <a:pPr lvl="0" algn="ctr">
                      <a:buClrTx/>
                      <a:buSzTx/>
                      <a:buFontTx/>
                    </a:pPr>
                    <a:endParaRPr lang="zh-CN" altLang="en-US" sz="1195">
                      <a:sym typeface="+mn-ea"/>
                    </a:endParaRPr>
                  </a:p>
                </p:txBody>
              </p:sp>
              <p:cxnSp>
                <p:nvCxnSpPr>
                  <p:cNvPr id="39" name="直接箭头连接符 38"/>
                  <p:cNvCxnSpPr/>
                  <p:nvPr/>
                </p:nvCxnSpPr>
                <p:spPr>
                  <a:xfrm flipV="1">
                    <a:off x="11423" y="5173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" name="直接箭头连接符 39"/>
                  <p:cNvCxnSpPr/>
                  <p:nvPr/>
                </p:nvCxnSpPr>
                <p:spPr>
                  <a:xfrm>
                    <a:off x="11423" y="6732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45" name="组合 44"/>
                  <p:cNvGrpSpPr/>
                  <p:nvPr/>
                </p:nvGrpSpPr>
                <p:grpSpPr>
                  <a:xfrm>
                    <a:off x="10870" y="5054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46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</a:p>
                  </p:txBody>
                </p:sp>
                <p:sp>
                  <p:nvSpPr>
                    <p:cNvPr id="47" name="文本框 46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</a:p>
                  </p:txBody>
                </p:sp>
                <p:sp>
                  <p:nvSpPr>
                    <p:cNvPr id="48" name="文本框 47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p:txBody>
                </p:sp>
              </p:grpSp>
            </p:grpSp>
          </p:grpSp>
          <p:grpSp>
            <p:nvGrpSpPr>
              <p:cNvPr id="76" name="组合 75"/>
              <p:cNvGrpSpPr/>
              <p:nvPr/>
            </p:nvGrpSpPr>
            <p:grpSpPr>
              <a:xfrm>
                <a:off x="11209" y="2584"/>
                <a:ext cx="3643" cy="5102"/>
                <a:chOff x="11192" y="2584"/>
                <a:chExt cx="3643" cy="5102"/>
              </a:xfrm>
            </p:grpSpPr>
            <p:pic>
              <p:nvPicPr>
                <p:cNvPr id="4100" name="图片 6"/>
                <p:cNvPicPr>
                  <a:picLocks noChangeAspect="1"/>
                </p:cNvPicPr>
                <p:nvPr/>
              </p:nvPicPr>
              <p:blipFill>
                <a:blip r:embed="rId9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11510" y="2584"/>
                  <a:ext cx="3007" cy="2070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5127" name="TextBox 191"/>
                <p:cNvSpPr txBox="1"/>
                <p:nvPr/>
              </p:nvSpPr>
              <p:spPr>
                <a:xfrm>
                  <a:off x="11192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C&lt;0, B&gt;0</a:t>
                  </a: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“Volcanic Cone” City</a:t>
                  </a:r>
                </a:p>
              </p:txBody>
            </p:sp>
            <p:grpSp>
              <p:nvGrpSpPr>
                <p:cNvPr id="52" name="组合 51"/>
                <p:cNvGrpSpPr/>
                <p:nvPr/>
              </p:nvGrpSpPr>
              <p:grpSpPr>
                <a:xfrm>
                  <a:off x="11686" y="5693"/>
                  <a:ext cx="2657" cy="1993"/>
                  <a:chOff x="8290" y="5068"/>
                  <a:chExt cx="2657" cy="1993"/>
                </a:xfrm>
              </p:grpSpPr>
              <p:grpSp>
                <p:nvGrpSpPr>
                  <p:cNvPr id="27" name="组合 26"/>
                  <p:cNvGrpSpPr/>
                  <p:nvPr/>
                </p:nvGrpSpPr>
                <p:grpSpPr>
                  <a:xfrm>
                    <a:off x="8290" y="5068"/>
                    <a:ext cx="2657" cy="1993"/>
                    <a:chOff x="3202" y="5108"/>
                    <a:chExt cx="2657" cy="1993"/>
                  </a:xfrm>
                </p:grpSpPr>
                <p:cxnSp>
                  <p:nvCxnSpPr>
                    <p:cNvPr id="28" name="直接箭头连接符 27"/>
                    <p:cNvCxnSpPr/>
                    <p:nvPr/>
                  </p:nvCxnSpPr>
                  <p:spPr>
                    <a:xfrm flipV="1">
                      <a:off x="3755" y="5227"/>
                      <a:ext cx="0" cy="1545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9" name="直接箭头连接符 28"/>
                    <p:cNvCxnSpPr/>
                    <p:nvPr/>
                  </p:nvCxnSpPr>
                  <p:spPr>
                    <a:xfrm>
                      <a:off x="3755" y="6786"/>
                      <a:ext cx="174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31" name="组合 30"/>
                    <p:cNvGrpSpPr/>
                    <p:nvPr/>
                  </p:nvGrpSpPr>
                  <p:grpSpPr>
                    <a:xfrm>
                      <a:off x="3202" y="5108"/>
                      <a:ext cx="2657" cy="1993"/>
                      <a:chOff x="3202" y="5108"/>
                      <a:chExt cx="2657" cy="1993"/>
                    </a:xfrm>
                  </p:grpSpPr>
                  <p:sp>
                    <p:nvSpPr>
                      <p:cNvPr id="32" name="TextBox 256"/>
                      <p:cNvSpPr txBox="1"/>
                      <p:nvPr/>
                    </p:nvSpPr>
                    <p:spPr>
                      <a:xfrm>
                        <a:off x="3320" y="6496"/>
                        <a:ext cx="613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 fontAlgn="auto"/>
                        <a:r>
                          <a:rPr lang="en-US" sz="1065" noProof="1">
                            <a:latin typeface="Arial" panose="020B0604020202020204" pitchFamily="34" charset="0"/>
                            <a:ea typeface="+mn-ea"/>
                            <a:cs typeface="Arial" panose="020B0604020202020204" pitchFamily="34" charset="0"/>
                          </a:rPr>
                          <a:t>0</a:t>
                        </a:r>
                      </a:p>
                    </p:txBody>
                  </p:sp>
                  <p:sp>
                    <p:nvSpPr>
                      <p:cNvPr id="33" name="文本框 32"/>
                      <p:cNvSpPr txBox="1"/>
                      <p:nvPr/>
                    </p:nvSpPr>
                    <p:spPr>
                      <a:xfrm>
                        <a:off x="3202" y="5108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H</a:t>
                        </a:r>
                      </a:p>
                    </p:txBody>
                  </p:sp>
                  <p:sp>
                    <p:nvSpPr>
                      <p:cNvPr id="34" name="文本框 33"/>
                      <p:cNvSpPr txBox="1"/>
                      <p:nvPr/>
                    </p:nvSpPr>
                    <p:spPr>
                      <a:xfrm>
                        <a:off x="5413" y="6496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r</a:t>
                        </a:r>
                      </a:p>
                    </p:txBody>
                  </p:sp>
                </p:grpSp>
              </p:grpSp>
              <p:sp>
                <p:nvSpPr>
                  <p:cNvPr id="51" name="任意多边形 50"/>
                  <p:cNvSpPr/>
                  <p:nvPr/>
                </p:nvSpPr>
                <p:spPr>
                  <a:xfrm>
                    <a:off x="8843" y="5741"/>
                    <a:ext cx="1742" cy="701"/>
                  </a:xfrm>
                  <a:custGeom>
                    <a:avLst/>
                    <a:gdLst>
                      <a:gd name="connsiteX0" fmla="*/ 0 w 6165"/>
                      <a:gd name="connsiteY0" fmla="*/ 895 h 1794"/>
                      <a:gd name="connsiteX1" fmla="*/ 2745 w 6165"/>
                      <a:gd name="connsiteY1" fmla="*/ 25 h 1794"/>
                      <a:gd name="connsiteX2" fmla="*/ 6165 w 6165"/>
                      <a:gd name="connsiteY2" fmla="*/ 1795 h 179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6165" h="1795">
                        <a:moveTo>
                          <a:pt x="0" y="895"/>
                        </a:moveTo>
                        <a:cubicBezTo>
                          <a:pt x="411" y="669"/>
                          <a:pt x="1506" y="-152"/>
                          <a:pt x="2745" y="25"/>
                        </a:cubicBezTo>
                        <a:cubicBezTo>
                          <a:pt x="3984" y="202"/>
                          <a:pt x="5415" y="1432"/>
                          <a:pt x="6165" y="1795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95"/>
                  </a:p>
                </p:txBody>
              </p:sp>
            </p:grpSp>
          </p:grpSp>
          <p:grpSp>
            <p:nvGrpSpPr>
              <p:cNvPr id="74" name="组合 73"/>
              <p:cNvGrpSpPr/>
              <p:nvPr/>
            </p:nvGrpSpPr>
            <p:grpSpPr>
              <a:xfrm>
                <a:off x="4087" y="2348"/>
                <a:ext cx="3683" cy="5338"/>
                <a:chOff x="4198" y="2348"/>
                <a:chExt cx="3683" cy="5338"/>
              </a:xfrm>
            </p:grpSpPr>
            <p:sp>
              <p:nvSpPr>
                <p:cNvPr id="64" name="TextBox 190"/>
                <p:cNvSpPr txBox="1"/>
                <p:nvPr/>
              </p:nvSpPr>
              <p:spPr>
                <a:xfrm>
                  <a:off x="4218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C&gt;0, B&lt;0</a:t>
                  </a: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sym typeface="+mn-ea"/>
                    </a:rPr>
                    <a:t>“Crown”City</a:t>
                  </a:r>
                </a:p>
              </p:txBody>
            </p:sp>
            <p:pic>
              <p:nvPicPr>
                <p:cNvPr id="66" name="图片 65"/>
                <p:cNvPicPr>
                  <a:picLocks noChangeAspect="1"/>
                </p:cNvPicPr>
                <p:nvPr/>
              </p:nvPicPr>
              <p:blipFill>
                <a:blip r:embed="rId10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4198" y="2348"/>
                  <a:ext cx="3683" cy="2478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grpSp>
              <p:nvGrpSpPr>
                <p:cNvPr id="72" name="组合 71"/>
                <p:cNvGrpSpPr/>
                <p:nvPr/>
              </p:nvGrpSpPr>
              <p:grpSpPr>
                <a:xfrm>
                  <a:off x="4712" y="5693"/>
                  <a:ext cx="2657" cy="1993"/>
                  <a:chOff x="4673" y="5693"/>
                  <a:chExt cx="2657" cy="1993"/>
                </a:xfrm>
              </p:grpSpPr>
              <p:grpSp>
                <p:nvGrpSpPr>
                  <p:cNvPr id="56" name="组合 55"/>
                  <p:cNvGrpSpPr/>
                  <p:nvPr/>
                </p:nvGrpSpPr>
                <p:grpSpPr>
                  <a:xfrm>
                    <a:off x="4673" y="5693"/>
                    <a:ext cx="2657" cy="1993"/>
                    <a:chOff x="10870" y="5054"/>
                    <a:chExt cx="2657" cy="1993"/>
                  </a:xfrm>
                </p:grpSpPr>
                <p:cxnSp>
                  <p:nvCxnSpPr>
                    <p:cNvPr id="58" name="直接箭头连接符 57"/>
                    <p:cNvCxnSpPr/>
                    <p:nvPr/>
                  </p:nvCxnSpPr>
                  <p:spPr>
                    <a:xfrm flipV="1">
                      <a:off x="11423" y="5173"/>
                      <a:ext cx="0" cy="1545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9" name="直接箭头连接符 58"/>
                    <p:cNvCxnSpPr/>
                    <p:nvPr/>
                  </p:nvCxnSpPr>
                  <p:spPr>
                    <a:xfrm>
                      <a:off x="11423" y="6732"/>
                      <a:ext cx="174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0" name="组合 59"/>
                    <p:cNvGrpSpPr/>
                    <p:nvPr/>
                  </p:nvGrpSpPr>
                  <p:grpSpPr>
                    <a:xfrm>
                      <a:off x="10870" y="5054"/>
                      <a:ext cx="2657" cy="1993"/>
                      <a:chOff x="3202" y="5108"/>
                      <a:chExt cx="2657" cy="1993"/>
                    </a:xfrm>
                  </p:grpSpPr>
                  <p:sp>
                    <p:nvSpPr>
                      <p:cNvPr id="61" name="TextBox 256"/>
                      <p:cNvSpPr txBox="1"/>
                      <p:nvPr/>
                    </p:nvSpPr>
                    <p:spPr>
                      <a:xfrm>
                        <a:off x="3320" y="6496"/>
                        <a:ext cx="613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 fontAlgn="auto"/>
                        <a:r>
                          <a:rPr lang="en-US" sz="1065" noProof="1">
                            <a:latin typeface="Arial" panose="020B0604020202020204" pitchFamily="34" charset="0"/>
                            <a:ea typeface="+mn-ea"/>
                            <a:cs typeface="Arial" panose="020B0604020202020204" pitchFamily="34" charset="0"/>
                          </a:rPr>
                          <a:t>0</a:t>
                        </a:r>
                      </a:p>
                    </p:txBody>
                  </p:sp>
                  <p:sp>
                    <p:nvSpPr>
                      <p:cNvPr id="62" name="文本框 61"/>
                      <p:cNvSpPr txBox="1"/>
                      <p:nvPr/>
                    </p:nvSpPr>
                    <p:spPr>
                      <a:xfrm>
                        <a:off x="3202" y="5108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H</a:t>
                        </a:r>
                      </a:p>
                    </p:txBody>
                  </p:sp>
                  <p:sp>
                    <p:nvSpPr>
                      <p:cNvPr id="63" name="文本框 62"/>
                      <p:cNvSpPr txBox="1"/>
                      <p:nvPr/>
                    </p:nvSpPr>
                    <p:spPr>
                      <a:xfrm>
                        <a:off x="5413" y="6496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r</a:t>
                        </a:r>
                      </a:p>
                    </p:txBody>
                  </p:sp>
                </p:grpSp>
              </p:grpSp>
              <p:sp>
                <p:nvSpPr>
                  <p:cNvPr id="68" name="任意多边形 67"/>
                  <p:cNvSpPr/>
                  <p:nvPr/>
                </p:nvSpPr>
                <p:spPr>
                  <a:xfrm>
                    <a:off x="5227" y="6643"/>
                    <a:ext cx="1770" cy="296"/>
                  </a:xfrm>
                  <a:custGeom>
                    <a:avLst/>
                    <a:gdLst>
                      <a:gd name="connsiteX0" fmla="*/ 0 w 6127"/>
                      <a:gd name="connsiteY0" fmla="*/ 0 h 836"/>
                      <a:gd name="connsiteX1" fmla="*/ 3080 w 6127"/>
                      <a:gd name="connsiteY1" fmla="*/ 836 h 836"/>
                      <a:gd name="connsiteX2" fmla="*/ 6127 w 6127"/>
                      <a:gd name="connsiteY2" fmla="*/ 82 h 83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6127" h="836">
                        <a:moveTo>
                          <a:pt x="0" y="0"/>
                        </a:moveTo>
                        <a:cubicBezTo>
                          <a:pt x="492" y="328"/>
                          <a:pt x="1855" y="829"/>
                          <a:pt x="3080" y="836"/>
                        </a:cubicBezTo>
                        <a:cubicBezTo>
                          <a:pt x="4305" y="843"/>
                          <a:pt x="5586" y="344"/>
                          <a:pt x="6127" y="82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vertOverflow="overflow" horzOverflow="overflow" vert="horz" wrap="square" numCol="1" spcCol="0" rtlCol="0" fromWordArt="0" anchor="ctr" anchorCtr="0" forceAA="0" compatLnSpc="1">
                    <a:noAutofit/>
                  </a:bodyPr>
                  <a:lstStyle/>
                  <a:p>
                    <a:pPr lvl="0" algn="ctr">
                      <a:buClrTx/>
                      <a:buSzTx/>
                      <a:buFontTx/>
                    </a:pPr>
                    <a:endParaRPr lang="zh-CN" altLang="en-US" sz="1195">
                      <a:sym typeface="+mn-ea"/>
                    </a:endParaRPr>
                  </a:p>
                </p:txBody>
              </p:sp>
            </p:grpSp>
          </p:grpSp>
        </p:grpSp>
        <p:sp>
          <p:nvSpPr>
            <p:cNvPr id="7" name="文本框 6"/>
            <p:cNvSpPr txBox="1"/>
            <p:nvPr/>
          </p:nvSpPr>
          <p:spPr>
            <a:xfrm>
              <a:off x="398" y="8731"/>
              <a:ext cx="679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Vertical Profile Types</a:t>
              </a:r>
            </a:p>
          </p:txBody>
        </p:sp>
      </p:grpSp>
      <p:pic>
        <p:nvPicPr>
          <p:cNvPr id="42" name="图片 4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7610" y="11002010"/>
            <a:ext cx="9753600" cy="15144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组合 43"/>
          <p:cNvGrpSpPr/>
          <p:nvPr/>
        </p:nvGrpSpPr>
        <p:grpSpPr>
          <a:xfrm>
            <a:off x="2834543" y="11244273"/>
            <a:ext cx="5570421" cy="417915"/>
            <a:chOff x="1984" y="9408"/>
            <a:chExt cx="15595" cy="1170"/>
          </a:xfrm>
        </p:grpSpPr>
        <p:sp>
          <p:nvSpPr>
            <p:cNvPr id="32" name="文本框 31"/>
            <p:cNvSpPr txBox="1"/>
            <p:nvPr/>
          </p:nvSpPr>
          <p:spPr>
            <a:xfrm>
              <a:off x="13143" y="9416"/>
              <a:ext cx="4436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2016</a:t>
              </a:r>
            </a:p>
          </p:txBody>
        </p:sp>
        <p:sp>
          <p:nvSpPr>
            <p:cNvPr id="22" name="乘号 21"/>
            <p:cNvSpPr/>
            <p:nvPr/>
          </p:nvSpPr>
          <p:spPr>
            <a:xfrm>
              <a:off x="1984" y="9421"/>
              <a:ext cx="483" cy="480"/>
            </a:xfrm>
            <a:prstGeom prst="mathMultiply">
              <a:avLst/>
            </a:prstGeom>
            <a:solidFill>
              <a:srgbClr val="E85748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2483" y="9434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2016</a:t>
              </a:r>
            </a:p>
          </p:txBody>
        </p:sp>
        <p:sp>
          <p:nvSpPr>
            <p:cNvPr id="24" name="乘号 23"/>
            <p:cNvSpPr/>
            <p:nvPr/>
          </p:nvSpPr>
          <p:spPr>
            <a:xfrm>
              <a:off x="1984" y="9935"/>
              <a:ext cx="483" cy="480"/>
            </a:xfrm>
            <a:prstGeom prst="mathMultiply">
              <a:avLst/>
            </a:prstGeom>
            <a:solidFill>
              <a:srgbClr val="E8574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2483" y="9934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2023</a:t>
              </a:r>
            </a:p>
          </p:txBody>
        </p:sp>
        <p:sp>
          <p:nvSpPr>
            <p:cNvPr id="26" name="乘号 25"/>
            <p:cNvSpPr/>
            <p:nvPr/>
          </p:nvSpPr>
          <p:spPr>
            <a:xfrm>
              <a:off x="6195" y="9421"/>
              <a:ext cx="483" cy="480"/>
            </a:xfrm>
            <a:prstGeom prst="mathMultiply">
              <a:avLst/>
            </a:prstGeom>
            <a:solidFill>
              <a:srgbClr val="F39F1B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6717" y="9408"/>
              <a:ext cx="5621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2016</a:t>
              </a:r>
              <a:endParaRPr lang="zh-CN" altLang="en-US" sz="900"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28" name="乘号 27"/>
            <p:cNvSpPr/>
            <p:nvPr/>
          </p:nvSpPr>
          <p:spPr>
            <a:xfrm>
              <a:off x="6195" y="9935"/>
              <a:ext cx="483" cy="480"/>
            </a:xfrm>
            <a:prstGeom prst="mathMultiply">
              <a:avLst/>
            </a:prstGeom>
            <a:solidFill>
              <a:srgbClr val="F39F1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6717" y="9895"/>
              <a:ext cx="5620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2023</a:t>
              </a:r>
              <a:endParaRPr lang="en-US" altLang="zh-CN" sz="900"/>
            </a:p>
          </p:txBody>
        </p:sp>
        <p:sp>
          <p:nvSpPr>
            <p:cNvPr id="31" name="乘号 30"/>
            <p:cNvSpPr/>
            <p:nvPr/>
          </p:nvSpPr>
          <p:spPr>
            <a:xfrm>
              <a:off x="12659" y="9421"/>
              <a:ext cx="483" cy="480"/>
            </a:xfrm>
            <a:prstGeom prst="mathMultiply">
              <a:avLst/>
            </a:prstGeom>
            <a:solidFill>
              <a:srgbClr val="47A2DE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34" name="乘号 33"/>
            <p:cNvSpPr/>
            <p:nvPr/>
          </p:nvSpPr>
          <p:spPr>
            <a:xfrm>
              <a:off x="12659" y="9935"/>
              <a:ext cx="483" cy="480"/>
            </a:xfrm>
            <a:prstGeom prst="mathMultiply">
              <a:avLst/>
            </a:prstGeom>
            <a:solidFill>
              <a:srgbClr val="47A2D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13143" y="9907"/>
              <a:ext cx="425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2023</a:t>
              </a:r>
            </a:p>
          </p:txBody>
        </p:sp>
      </p:grpSp>
      <p:grpSp>
        <p:nvGrpSpPr>
          <p:cNvPr id="199" name="组合 198"/>
          <p:cNvGrpSpPr/>
          <p:nvPr/>
        </p:nvGrpSpPr>
        <p:grpSpPr>
          <a:xfrm>
            <a:off x="6955790" y="433070"/>
            <a:ext cx="6586855" cy="3601720"/>
            <a:chOff x="695" y="1519"/>
            <a:chExt cx="10373" cy="5672"/>
          </a:xfrm>
        </p:grpSpPr>
        <p:sp>
          <p:nvSpPr>
            <p:cNvPr id="66" name="矩形 65"/>
            <p:cNvSpPr/>
            <p:nvPr/>
          </p:nvSpPr>
          <p:spPr>
            <a:xfrm>
              <a:off x="695" y="1519"/>
              <a:ext cx="10328" cy="567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grpSp>
          <p:nvGrpSpPr>
            <p:cNvPr id="149" name="组合 148"/>
            <p:cNvGrpSpPr/>
            <p:nvPr/>
          </p:nvGrpSpPr>
          <p:grpSpPr>
            <a:xfrm>
              <a:off x="2373" y="6470"/>
              <a:ext cx="7223" cy="708"/>
              <a:chOff x="5545" y="9577"/>
              <a:chExt cx="12840" cy="1113"/>
            </a:xfrm>
          </p:grpSpPr>
          <p:sp>
            <p:nvSpPr>
              <p:cNvPr id="4" name="文本框 3"/>
              <p:cNvSpPr txBox="1"/>
              <p:nvPr/>
            </p:nvSpPr>
            <p:spPr>
              <a:xfrm>
                <a:off x="14588" y="9577"/>
                <a:ext cx="3797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2016</a:t>
                </a:r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4172" y="9691"/>
                <a:ext cx="290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4172" y="10154"/>
                <a:ext cx="290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4588" y="10067"/>
                <a:ext cx="3797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2023</a:t>
                </a:r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5979" y="9577"/>
                <a:ext cx="3635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2016</a:t>
                </a:r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5545" y="9691"/>
                <a:ext cx="290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5545" y="10154"/>
                <a:ext cx="290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5979" y="10077"/>
                <a:ext cx="3635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2023</a:t>
                </a:r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9106" y="9577"/>
                <a:ext cx="5356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South&amp;South-east Asia, 2016</a:t>
                </a:r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8647" y="9691"/>
                <a:ext cx="290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8647" y="10154"/>
                <a:ext cx="290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9106" y="10064"/>
                <a:ext cx="5358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>
                    <a:sym typeface="+mn-ea"/>
                  </a:rPr>
                  <a:t>South&amp;South-east Asia, 2023</a:t>
                </a:r>
              </a:p>
            </p:txBody>
          </p:sp>
        </p:grpSp>
        <p:grpSp>
          <p:nvGrpSpPr>
            <p:cNvPr id="145" name="组合 144"/>
            <p:cNvGrpSpPr/>
            <p:nvPr/>
          </p:nvGrpSpPr>
          <p:grpSpPr>
            <a:xfrm>
              <a:off x="792" y="1519"/>
              <a:ext cx="4733" cy="4717"/>
              <a:chOff x="1166" y="687"/>
              <a:chExt cx="8414" cy="8385"/>
            </a:xfrm>
          </p:grpSpPr>
          <p:grpSp>
            <p:nvGrpSpPr>
              <p:cNvPr id="99" name="组合 98"/>
              <p:cNvGrpSpPr/>
              <p:nvPr/>
            </p:nvGrpSpPr>
            <p:grpSpPr>
              <a:xfrm>
                <a:off x="1166" y="1626"/>
                <a:ext cx="8414" cy="7446"/>
                <a:chOff x="1166" y="1626"/>
                <a:chExt cx="8414" cy="7446"/>
              </a:xfrm>
            </p:grpSpPr>
            <p:pic>
              <p:nvPicPr>
                <p:cNvPr id="6" name="图片 5"/>
                <p:cNvPicPr/>
                <p:nvPr/>
              </p:nvPicPr>
              <p:blipFill>
                <a:blip r:embed="rId3"/>
                <a:srcRect r="50879"/>
                <a:stretch>
                  <a:fillRect/>
                </a:stretch>
              </p:blipFill>
              <p:spPr>
                <a:xfrm>
                  <a:off x="1477" y="1942"/>
                  <a:ext cx="8103" cy="6670"/>
                </a:xfrm>
                <a:prstGeom prst="rect">
                  <a:avLst/>
                </a:prstGeom>
              </p:spPr>
            </p:pic>
            <p:sp>
              <p:nvSpPr>
                <p:cNvPr id="7" name="矩形 6"/>
                <p:cNvSpPr/>
                <p:nvPr/>
              </p:nvSpPr>
              <p:spPr>
                <a:xfrm>
                  <a:off x="1584" y="2085"/>
                  <a:ext cx="544" cy="647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5542" y="4678"/>
                  <a:ext cx="544" cy="737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37" name="文本框 36"/>
                <p:cNvSpPr txBox="1"/>
                <p:nvPr/>
              </p:nvSpPr>
              <p:spPr>
                <a:xfrm>
                  <a:off x="5407" y="819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8502" y="8196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100%</a:t>
                  </a:r>
                </a:p>
              </p:txBody>
            </p:sp>
            <p:sp>
              <p:nvSpPr>
                <p:cNvPr id="39" name="文本框 38"/>
                <p:cNvSpPr txBox="1"/>
                <p:nvPr/>
              </p:nvSpPr>
              <p:spPr>
                <a:xfrm>
                  <a:off x="1850" y="8017"/>
                  <a:ext cx="252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</a:p>
              </p:txBody>
            </p:sp>
            <p:sp>
              <p:nvSpPr>
                <p:cNvPr id="40" name="文本框 39"/>
                <p:cNvSpPr txBox="1"/>
                <p:nvPr/>
              </p:nvSpPr>
              <p:spPr>
                <a:xfrm>
                  <a:off x="1368" y="2050"/>
                  <a:ext cx="72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0.6</a:t>
                  </a:r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1166" y="5259"/>
                  <a:ext cx="936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0.3</a:t>
                  </a:r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585" y="1626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</a:p>
              </p:txBody>
            </p:sp>
            <p:sp>
              <p:nvSpPr>
                <p:cNvPr id="43" name="文本框 42"/>
                <p:cNvSpPr txBox="1"/>
                <p:nvPr/>
              </p:nvSpPr>
              <p:spPr>
                <a:xfrm>
                  <a:off x="6400" y="8636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probability(α)</a:t>
                  </a:r>
                </a:p>
              </p:txBody>
            </p:sp>
            <p:sp>
              <p:nvSpPr>
                <p:cNvPr id="57" name="文本框 56"/>
                <p:cNvSpPr txBox="1"/>
                <p:nvPr/>
              </p:nvSpPr>
              <p:spPr>
                <a:xfrm>
                  <a:off x="6457" y="4932"/>
                  <a:ext cx="3042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mean </a:t>
                  </a:r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β = 0.3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645" y="687"/>
                    <a:ext cx="7243" cy="14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Horizontal Constraints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5" y="687"/>
                    <a:ext cx="7243" cy="1419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4" name="文本框 53"/>
              <p:cNvSpPr txBox="1"/>
              <p:nvPr/>
            </p:nvSpPr>
            <p:spPr>
              <a:xfrm>
                <a:off x="2279" y="6961"/>
                <a:ext cx="2441" cy="93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altLang="zh-CN" sz="790" i="1">
                    <a:solidFill>
                      <a:schemeClr val="tx1"/>
                    </a:solidFill>
                  </a:rPr>
                  <a:t>29% Uniformly open</a:t>
                </a: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6924" y="2113"/>
                <a:ext cx="2347" cy="1332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algn="r"/>
                <a:r>
                  <a:rPr lang="en-US" altLang="zh-CN" sz="790" i="1">
                    <a:solidFill>
                      <a:schemeClr val="tx1"/>
                    </a:solidFill>
                  </a:rPr>
                  <a:t>1% Locked</a:t>
                </a: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3472" y="2112"/>
                <a:ext cx="2309" cy="93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45% Edge-constrianed</a:t>
                </a: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6944" y="5474"/>
                <a:ext cx="2327" cy="127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:r>
                  <a:rPr lang="en-US" altLang="zh-CN" sz="790" i="1">
                    <a:solidFill>
                      <a:schemeClr val="tx1"/>
                    </a:solidFill>
                  </a:rPr>
                  <a:t>25% Uniform constrianed landscape</a:t>
                </a:r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5242" y="1519"/>
              <a:ext cx="5827" cy="4761"/>
              <a:chOff x="10646" y="774"/>
              <a:chExt cx="10359" cy="8463"/>
            </a:xfrm>
          </p:grpSpPr>
          <p:pic>
            <p:nvPicPr>
              <p:cNvPr id="129" name="图片 128"/>
              <p:cNvPicPr/>
              <p:nvPr/>
            </p:nvPicPr>
            <p:blipFill>
              <a:blip r:embed="rId5"/>
              <a:srcRect l="50483" b="-95"/>
              <a:stretch>
                <a:fillRect/>
              </a:stretch>
            </p:blipFill>
            <p:spPr>
              <a:xfrm>
                <a:off x="11571" y="2030"/>
                <a:ext cx="8033" cy="6693"/>
              </a:xfrm>
              <a:prstGeom prst="rect">
                <a:avLst/>
              </a:prstGeom>
            </p:spPr>
          </p:pic>
          <p:sp>
            <p:nvSpPr>
              <p:cNvPr id="45" name="矩形 44"/>
              <p:cNvSpPr/>
              <p:nvPr/>
            </p:nvSpPr>
            <p:spPr>
              <a:xfrm rot="5400000">
                <a:off x="15482" y="4679"/>
                <a:ext cx="544" cy="754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" name="矩形 2"/>
              <p:cNvSpPr/>
              <p:nvPr/>
            </p:nvSpPr>
            <p:spPr>
              <a:xfrm>
                <a:off x="11545" y="1757"/>
                <a:ext cx="544" cy="647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646" y="774"/>
                    <a:ext cx="10359" cy="14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Horizontal Construction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46" y="774"/>
                    <a:ext cx="10359" cy="1419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0" name="组合 29"/>
              <p:cNvGrpSpPr/>
              <p:nvPr/>
            </p:nvGrpSpPr>
            <p:grpSpPr>
              <a:xfrm>
                <a:off x="11207" y="1844"/>
                <a:ext cx="8319" cy="7393"/>
                <a:chOff x="9406" y="1694"/>
                <a:chExt cx="8319" cy="7393"/>
              </a:xfrm>
            </p:grpSpPr>
            <p:sp>
              <p:nvSpPr>
                <p:cNvPr id="46" name="文本框 45"/>
                <p:cNvSpPr txBox="1"/>
                <p:nvPr/>
              </p:nvSpPr>
              <p:spPr>
                <a:xfrm>
                  <a:off x="16838" y="8048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70%</a:t>
                  </a:r>
                </a:p>
              </p:txBody>
            </p:sp>
            <p:sp>
              <p:nvSpPr>
                <p:cNvPr id="47" name="文本框 46"/>
                <p:cNvSpPr txBox="1"/>
                <p:nvPr/>
              </p:nvSpPr>
              <p:spPr>
                <a:xfrm>
                  <a:off x="10288" y="8086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20%</a:t>
                  </a:r>
                </a:p>
              </p:txBody>
            </p:sp>
            <p:sp>
              <p:nvSpPr>
                <p:cNvPr id="48" name="文本框 47"/>
                <p:cNvSpPr txBox="1"/>
                <p:nvPr/>
              </p:nvSpPr>
              <p:spPr>
                <a:xfrm>
                  <a:off x="9636" y="7086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9406" y="4656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0.2</a:t>
                  </a:r>
                </a:p>
              </p:txBody>
            </p:sp>
            <p:sp>
              <p:nvSpPr>
                <p:cNvPr id="50" name="文本框 49"/>
                <p:cNvSpPr txBox="1"/>
                <p:nvPr/>
              </p:nvSpPr>
              <p:spPr>
                <a:xfrm>
                  <a:off x="9746" y="1694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</a:p>
              </p:txBody>
            </p:sp>
            <p:sp>
              <p:nvSpPr>
                <p:cNvPr id="51" name="文本框 50"/>
                <p:cNvSpPr txBox="1"/>
                <p:nvPr/>
              </p:nvSpPr>
              <p:spPr>
                <a:xfrm>
                  <a:off x="14812" y="8574"/>
                  <a:ext cx="2741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probability(κ)</a:t>
                  </a:r>
                </a:p>
              </p:txBody>
            </p:sp>
            <p:sp>
              <p:nvSpPr>
                <p:cNvPr id="53" name="文本框 52"/>
                <p:cNvSpPr txBox="1"/>
                <p:nvPr/>
              </p:nvSpPr>
              <p:spPr>
                <a:xfrm>
                  <a:off x="14149" y="8060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</a:p>
              </p:txBody>
            </p:sp>
            <p:sp>
              <p:nvSpPr>
                <p:cNvPr id="55" name="文本框 54"/>
                <p:cNvSpPr txBox="1"/>
                <p:nvPr/>
              </p:nvSpPr>
              <p:spPr>
                <a:xfrm>
                  <a:off x="9439" y="2187"/>
                  <a:ext cx="76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0.4</a:t>
                  </a:r>
                </a:p>
              </p:txBody>
            </p:sp>
          </p:grpSp>
          <p:sp>
            <p:nvSpPr>
              <p:cNvPr id="65" name="文本框 64"/>
              <p:cNvSpPr txBox="1"/>
              <p:nvPr/>
            </p:nvSpPr>
            <p:spPr>
              <a:xfrm>
                <a:off x="12166" y="7364"/>
                <a:ext cx="2971" cy="747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30% Uniform sparse construction</a:t>
                </a:r>
              </a:p>
            </p:txBody>
          </p:sp>
          <p:sp>
            <p:nvSpPr>
              <p:cNvPr id="67" name="文本框 66"/>
              <p:cNvSpPr txBox="1"/>
              <p:nvPr/>
            </p:nvSpPr>
            <p:spPr>
              <a:xfrm>
                <a:off x="16296" y="7316"/>
                <a:ext cx="2990" cy="93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18% Uniform dense construction</a:t>
                </a:r>
              </a:p>
            </p:txBody>
          </p:sp>
          <p:sp>
            <p:nvSpPr>
              <p:cNvPr id="68" name="文本框 67"/>
              <p:cNvSpPr txBox="1"/>
              <p:nvPr/>
            </p:nvSpPr>
            <p:spPr>
              <a:xfrm>
                <a:off x="17437" y="2212"/>
                <a:ext cx="1850" cy="195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10% Dense core, sparse periphery</a:t>
                </a:r>
              </a:p>
            </p:txBody>
          </p:sp>
          <p:sp>
            <p:nvSpPr>
              <p:cNvPr id="143" name="文本框 142"/>
              <p:cNvSpPr txBox="1"/>
              <p:nvPr/>
            </p:nvSpPr>
            <p:spPr>
              <a:xfrm>
                <a:off x="12167" y="2212"/>
                <a:ext cx="2759" cy="746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43% Small Core, sparse periphery</a:t>
                </a:r>
              </a:p>
            </p:txBody>
          </p:sp>
          <p:sp>
            <p:nvSpPr>
              <p:cNvPr id="148" name="文本框 147"/>
              <p:cNvSpPr txBox="1"/>
              <p:nvPr/>
            </p:nvSpPr>
            <p:spPr>
              <a:xfrm>
                <a:off x="17418" y="5362"/>
                <a:ext cx="1936" cy="11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0.09</a:t>
                </a:r>
              </a:p>
            </p:txBody>
          </p:sp>
        </p:grpSp>
      </p:grpSp>
      <p:cxnSp>
        <p:nvCxnSpPr>
          <p:cNvPr id="33" name="直接连接符 32"/>
          <p:cNvCxnSpPr/>
          <p:nvPr/>
        </p:nvCxnSpPr>
        <p:spPr>
          <a:xfrm>
            <a:off x="2557848" y="12153748"/>
            <a:ext cx="761534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97" name="组合 96"/>
          <p:cNvGrpSpPr/>
          <p:nvPr/>
        </p:nvGrpSpPr>
        <p:grpSpPr>
          <a:xfrm>
            <a:off x="10531819" y="11842276"/>
            <a:ext cx="1544858" cy="513643"/>
            <a:chOff x="2166" y="1724"/>
            <a:chExt cx="19159" cy="6372"/>
          </a:xfrm>
        </p:grpSpPr>
        <p:cxnSp>
          <p:nvCxnSpPr>
            <p:cNvPr id="70" name="直接箭头连接符 69"/>
            <p:cNvCxnSpPr/>
            <p:nvPr/>
          </p:nvCxnSpPr>
          <p:spPr>
            <a:xfrm flipV="1">
              <a:off x="2166" y="1724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2" name="直接箭头连接符 91"/>
            <p:cNvCxnSpPr/>
            <p:nvPr/>
          </p:nvCxnSpPr>
          <p:spPr>
            <a:xfrm flipV="1">
              <a:off x="2166" y="8047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5" name="直接箭头连接符 94"/>
            <p:cNvCxnSpPr/>
            <p:nvPr/>
          </p:nvCxnSpPr>
          <p:spPr>
            <a:xfrm flipV="1">
              <a:off x="13581" y="1769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6" name="直接箭头连接符 95"/>
            <p:cNvCxnSpPr/>
            <p:nvPr/>
          </p:nvCxnSpPr>
          <p:spPr>
            <a:xfrm flipV="1">
              <a:off x="13581" y="8092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124" name="组合 123"/>
          <p:cNvGrpSpPr/>
          <p:nvPr/>
        </p:nvGrpSpPr>
        <p:grpSpPr>
          <a:xfrm>
            <a:off x="1352837" y="9523955"/>
            <a:ext cx="8195787" cy="1489137"/>
            <a:chOff x="186" y="3371"/>
            <a:chExt cx="22945" cy="4169"/>
          </a:xfrm>
        </p:grpSpPr>
        <p:sp>
          <p:nvSpPr>
            <p:cNvPr id="5" name="文本框 4"/>
            <p:cNvSpPr txBox="1"/>
            <p:nvPr/>
          </p:nvSpPr>
          <p:spPr>
            <a:xfrm>
              <a:off x="186" y="5928"/>
              <a:ext cx="2265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790" i="1">
                  <a:solidFill>
                    <a:schemeClr val="tx1"/>
                  </a:solidFill>
                </a:rPr>
                <a:t>Low-Constraint, Flat-Gradient</a:t>
              </a: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9533" y="4232"/>
              <a:ext cx="2346" cy="679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algn="l"/>
              <a:r>
                <a:rPr lang="en-US" altLang="zh-CN" sz="790" i="1">
                  <a:solidFill>
                    <a:schemeClr val="tx1"/>
                  </a:solidFill>
                </a:rPr>
                <a:t>High-Constraint, Steep-Gradient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200" y="4186"/>
              <a:ext cx="2211" cy="161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Low-Constraint,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Steep-Gradient</a:t>
              </a:r>
            </a:p>
          </p:txBody>
        </p:sp>
        <p:sp>
          <p:nvSpPr>
            <p:cNvPr id="59" name="文本框 58"/>
            <p:cNvSpPr txBox="1"/>
            <p:nvPr/>
          </p:nvSpPr>
          <p:spPr>
            <a:xfrm>
              <a:off x="9552" y="5928"/>
              <a:ext cx="2327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790" i="1">
                  <a:solidFill>
                    <a:schemeClr val="tx1"/>
                  </a:solidFill>
                </a:rPr>
                <a:t>High-Constraint, Flat-Gradient</a:t>
              </a:r>
            </a:p>
          </p:txBody>
        </p:sp>
        <p:sp>
          <p:nvSpPr>
            <p:cNvPr id="63" name="文本框 62"/>
            <p:cNvSpPr txBox="1"/>
            <p:nvPr/>
          </p:nvSpPr>
          <p:spPr>
            <a:xfrm>
              <a:off x="11568" y="4232"/>
              <a:ext cx="2211" cy="746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Low-Intensity, Flat-Gradient</a:t>
              </a: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1568" y="5928"/>
              <a:ext cx="2211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Low-Intensity, Steep-Gradient</a:t>
              </a: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20920" y="4182"/>
              <a:ext cx="2211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High-Intensity, Flat-Gradient</a:t>
              </a:r>
            </a:p>
          </p:txBody>
        </p:sp>
        <p:sp>
          <p:nvSpPr>
            <p:cNvPr id="98" name="文本框 97"/>
            <p:cNvSpPr txBox="1"/>
            <p:nvPr/>
          </p:nvSpPr>
          <p:spPr>
            <a:xfrm>
              <a:off x="20874" y="5928"/>
              <a:ext cx="2211" cy="161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High-Intensity, Steep-Gradient</a:t>
              </a:r>
            </a:p>
          </p:txBody>
        </p:sp>
        <p:grpSp>
          <p:nvGrpSpPr>
            <p:cNvPr id="100" name="组合 99"/>
            <p:cNvGrpSpPr/>
            <p:nvPr/>
          </p:nvGrpSpPr>
          <p:grpSpPr>
            <a:xfrm>
              <a:off x="1395" y="6639"/>
              <a:ext cx="831" cy="826"/>
              <a:chOff x="493" y="2941"/>
              <a:chExt cx="4304" cy="4270"/>
            </a:xfrm>
          </p:grpSpPr>
          <p:pic>
            <p:nvPicPr>
              <p:cNvPr id="101" name="图片 100"/>
              <p:cNvPicPr>
                <a:picLocks noChangeAspect="1"/>
              </p:cNvPicPr>
              <p:nvPr/>
            </p:nvPicPr>
            <p:blipFill>
              <a:blip r:embed="rId7">
                <a:grayscl/>
              </a:blip>
              <a:stretch>
                <a:fillRect/>
              </a:stretch>
            </p:blipFill>
            <p:spPr>
              <a:xfrm>
                <a:off x="493" y="2941"/>
                <a:ext cx="4304" cy="4271"/>
              </a:xfrm>
              <a:prstGeom prst="rect">
                <a:avLst/>
              </a:prstGeom>
            </p:spPr>
          </p:pic>
          <p:sp>
            <p:nvSpPr>
              <p:cNvPr id="102" name="椭圆 101"/>
              <p:cNvSpPr/>
              <p:nvPr/>
            </p:nvSpPr>
            <p:spPr>
              <a:xfrm>
                <a:off x="59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3" name="组合 102"/>
            <p:cNvGrpSpPr/>
            <p:nvPr/>
          </p:nvGrpSpPr>
          <p:grpSpPr>
            <a:xfrm>
              <a:off x="1365" y="3374"/>
              <a:ext cx="831" cy="826"/>
              <a:chOff x="4929" y="2941"/>
              <a:chExt cx="4302" cy="4270"/>
            </a:xfrm>
          </p:grpSpPr>
          <p:pic>
            <p:nvPicPr>
              <p:cNvPr id="104" name="图片 103"/>
              <p:cNvPicPr>
                <a:picLocks noChangeAspect="1"/>
              </p:cNvPicPr>
              <p:nvPr/>
            </p:nvPicPr>
            <p:blipFill>
              <a:blip r:embed="rId8">
                <a:grayscl/>
              </a:blip>
              <a:stretch>
                <a:fillRect/>
              </a:stretch>
            </p:blipFill>
            <p:spPr>
              <a:xfrm>
                <a:off x="492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5" name="椭圆 104"/>
              <p:cNvSpPr/>
              <p:nvPr/>
            </p:nvSpPr>
            <p:spPr>
              <a:xfrm>
                <a:off x="502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6" name="组合 105"/>
            <p:cNvGrpSpPr/>
            <p:nvPr/>
          </p:nvGrpSpPr>
          <p:grpSpPr>
            <a:xfrm>
              <a:off x="9591" y="6639"/>
              <a:ext cx="831" cy="826"/>
              <a:chOff x="9364" y="2941"/>
              <a:chExt cx="4302" cy="4270"/>
            </a:xfrm>
          </p:grpSpPr>
          <p:pic>
            <p:nvPicPr>
              <p:cNvPr id="107" name="图片 106"/>
              <p:cNvPicPr>
                <a:picLocks noChangeAspect="1"/>
              </p:cNvPicPr>
              <p:nvPr/>
            </p:nvPicPr>
            <p:blipFill>
              <a:blip r:embed="rId9">
                <a:grayscl/>
              </a:blip>
              <a:stretch>
                <a:fillRect/>
              </a:stretch>
            </p:blipFill>
            <p:spPr>
              <a:xfrm>
                <a:off x="9364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8" name="椭圆 107"/>
              <p:cNvSpPr/>
              <p:nvPr/>
            </p:nvSpPr>
            <p:spPr>
              <a:xfrm>
                <a:off x="945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9" name="组合 108"/>
            <p:cNvGrpSpPr/>
            <p:nvPr/>
          </p:nvGrpSpPr>
          <p:grpSpPr>
            <a:xfrm>
              <a:off x="9594" y="3374"/>
              <a:ext cx="831" cy="826"/>
              <a:chOff x="13799" y="2941"/>
              <a:chExt cx="4302" cy="4270"/>
            </a:xfrm>
          </p:grpSpPr>
          <p:pic>
            <p:nvPicPr>
              <p:cNvPr id="110" name="图片 109"/>
              <p:cNvPicPr>
                <a:picLocks noChangeAspect="1"/>
              </p:cNvPicPr>
              <p:nvPr/>
            </p:nvPicPr>
            <p:blipFill>
              <a:blip r:embed="rId10">
                <a:grayscl/>
              </a:blip>
              <a:stretch>
                <a:fillRect/>
              </a:stretch>
            </p:blipFill>
            <p:spPr>
              <a:xfrm>
                <a:off x="1379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11" name="椭圆 110"/>
              <p:cNvSpPr/>
              <p:nvPr/>
            </p:nvSpPr>
            <p:spPr>
              <a:xfrm>
                <a:off x="1388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2" name="组合 111"/>
            <p:cNvGrpSpPr/>
            <p:nvPr/>
          </p:nvGrpSpPr>
          <p:grpSpPr>
            <a:xfrm>
              <a:off x="12704" y="3371"/>
              <a:ext cx="848" cy="829"/>
              <a:chOff x="1057" y="2049"/>
              <a:chExt cx="4212" cy="4114"/>
            </a:xfrm>
          </p:grpSpPr>
          <p:pic>
            <p:nvPicPr>
              <p:cNvPr id="113" name="图片 112"/>
              <p:cNvPicPr>
                <a:picLocks noChangeAspect="1"/>
              </p:cNvPicPr>
              <p:nvPr/>
            </p:nvPicPr>
            <p:blipFill>
              <a:blip r:embed="rId11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57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4" name="椭圆 113"/>
              <p:cNvSpPr/>
              <p:nvPr/>
            </p:nvSpPr>
            <p:spPr>
              <a:xfrm>
                <a:off x="1280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5" name="组合 114"/>
            <p:cNvGrpSpPr/>
            <p:nvPr/>
          </p:nvGrpSpPr>
          <p:grpSpPr>
            <a:xfrm>
              <a:off x="12734" y="6636"/>
              <a:ext cx="848" cy="829"/>
              <a:chOff x="5571" y="2049"/>
              <a:chExt cx="4212" cy="4114"/>
            </a:xfrm>
          </p:grpSpPr>
          <p:pic>
            <p:nvPicPr>
              <p:cNvPr id="116" name="图片 115"/>
              <p:cNvPicPr>
                <a:picLocks noChangeAspect="1"/>
              </p:cNvPicPr>
              <p:nvPr/>
            </p:nvPicPr>
            <p:blipFill>
              <a:blip r:embed="rId12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5571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7" name="椭圆 116"/>
              <p:cNvSpPr/>
              <p:nvPr/>
            </p:nvSpPr>
            <p:spPr>
              <a:xfrm>
                <a:off x="5813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8" name="组合 117"/>
            <p:cNvGrpSpPr/>
            <p:nvPr/>
          </p:nvGrpSpPr>
          <p:grpSpPr>
            <a:xfrm>
              <a:off x="21052" y="3371"/>
              <a:ext cx="848" cy="829"/>
              <a:chOff x="10084" y="2049"/>
              <a:chExt cx="4212" cy="4114"/>
            </a:xfrm>
          </p:grpSpPr>
          <p:pic>
            <p:nvPicPr>
              <p:cNvPr id="119" name="图片 118"/>
              <p:cNvPicPr>
                <a:picLocks noChangeAspect="1"/>
              </p:cNvPicPr>
              <p:nvPr/>
            </p:nvPicPr>
            <p:blipFill>
              <a:blip r:embed="rId13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084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20" name="椭圆 119"/>
              <p:cNvSpPr/>
              <p:nvPr/>
            </p:nvSpPr>
            <p:spPr>
              <a:xfrm>
                <a:off x="10347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21" name="组合 120"/>
            <p:cNvGrpSpPr/>
            <p:nvPr/>
          </p:nvGrpSpPr>
          <p:grpSpPr>
            <a:xfrm>
              <a:off x="21000" y="6668"/>
              <a:ext cx="848" cy="828"/>
              <a:chOff x="22212" y="8641"/>
              <a:chExt cx="848" cy="828"/>
            </a:xfrm>
          </p:grpSpPr>
          <p:pic>
            <p:nvPicPr>
              <p:cNvPr id="122" name="图片 121"/>
              <p:cNvPicPr>
                <a:picLocks noChangeAspect="1"/>
              </p:cNvPicPr>
              <p:nvPr/>
            </p:nvPicPr>
            <p:blipFill>
              <a:blip r:embed="rId14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22212" y="8641"/>
                <a:ext cx="848" cy="829"/>
              </a:xfrm>
              <a:prstGeom prst="rect">
                <a:avLst/>
              </a:prstGeom>
            </p:spPr>
          </p:pic>
          <p:sp>
            <p:nvSpPr>
              <p:cNvPr id="123" name="椭圆 122"/>
              <p:cNvSpPr/>
              <p:nvPr/>
            </p:nvSpPr>
            <p:spPr>
              <a:xfrm>
                <a:off x="22232" y="8657"/>
                <a:ext cx="778" cy="778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</p:grpSp>
      <p:sp>
        <p:nvSpPr>
          <p:cNvPr id="71" name="文本框 70"/>
          <p:cNvSpPr txBox="1"/>
          <p:nvPr/>
        </p:nvSpPr>
        <p:spPr>
          <a:xfrm>
            <a:off x="3582991" y="11845848"/>
            <a:ext cx="5580422" cy="2990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en-US" altLang="zh-CN" sz="1350" b="1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Horizontal Construction Params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9711C53-F9CC-6ED4-42EE-7C3B7F092C76}"/>
              </a:ext>
            </a:extLst>
          </p:cNvPr>
          <p:cNvGrpSpPr/>
          <p:nvPr/>
        </p:nvGrpSpPr>
        <p:grpSpPr>
          <a:xfrm>
            <a:off x="3314700" y="4378960"/>
            <a:ext cx="7044055" cy="4353560"/>
            <a:chOff x="3314700" y="4378960"/>
            <a:chExt cx="7044055" cy="4353560"/>
          </a:xfrm>
        </p:grpSpPr>
        <p:sp>
          <p:nvSpPr>
            <p:cNvPr id="170" name="矩形 169"/>
            <p:cNvSpPr/>
            <p:nvPr/>
          </p:nvSpPr>
          <p:spPr>
            <a:xfrm>
              <a:off x="3314700" y="4378960"/>
              <a:ext cx="7044055" cy="43535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125" name="图片 124" descr="horizontal_scatter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480435" y="5157470"/>
              <a:ext cx="6781800" cy="2667000"/>
            </a:xfrm>
            <a:prstGeom prst="rect">
              <a:avLst/>
            </a:prstGeom>
          </p:spPr>
        </p:pic>
        <p:grpSp>
          <p:nvGrpSpPr>
            <p:cNvPr id="73" name="组合 72"/>
            <p:cNvGrpSpPr/>
            <p:nvPr/>
          </p:nvGrpSpPr>
          <p:grpSpPr>
            <a:xfrm>
              <a:off x="3382645" y="4492625"/>
              <a:ext cx="3509010" cy="3488055"/>
              <a:chOff x="1155" y="-568"/>
              <a:chExt cx="9823" cy="9764"/>
            </a:xfrm>
          </p:grpSpPr>
          <p:grpSp>
            <p:nvGrpSpPr>
              <p:cNvPr id="74" name="组合 73"/>
              <p:cNvGrpSpPr/>
              <p:nvPr/>
            </p:nvGrpSpPr>
            <p:grpSpPr>
              <a:xfrm>
                <a:off x="1155" y="1258"/>
                <a:ext cx="9823" cy="7938"/>
                <a:chOff x="1155" y="1258"/>
                <a:chExt cx="9823" cy="7938"/>
              </a:xfrm>
            </p:grpSpPr>
            <p:sp>
              <p:nvSpPr>
                <p:cNvPr id="77" name="矩形 76"/>
                <p:cNvSpPr/>
                <p:nvPr/>
              </p:nvSpPr>
              <p:spPr>
                <a:xfrm>
                  <a:off x="1584" y="2085"/>
                  <a:ext cx="544" cy="647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8" name="矩形 77"/>
                <p:cNvSpPr/>
                <p:nvPr/>
              </p:nvSpPr>
              <p:spPr>
                <a:xfrm rot="5400000">
                  <a:off x="6142" y="4180"/>
                  <a:ext cx="750" cy="878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9" name="文本框 78"/>
                <p:cNvSpPr txBox="1"/>
                <p:nvPr/>
              </p:nvSpPr>
              <p:spPr>
                <a:xfrm>
                  <a:off x="5929" y="819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</a:p>
              </p:txBody>
            </p:sp>
            <p:sp>
              <p:nvSpPr>
                <p:cNvPr id="80" name="文本框 79"/>
                <p:cNvSpPr txBox="1"/>
                <p:nvPr/>
              </p:nvSpPr>
              <p:spPr>
                <a:xfrm>
                  <a:off x="9935" y="8196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100%</a:t>
                  </a:r>
                </a:p>
              </p:txBody>
            </p:sp>
            <p:sp>
              <p:nvSpPr>
                <p:cNvPr id="81" name="文本框 80"/>
                <p:cNvSpPr txBox="1"/>
                <p:nvPr/>
              </p:nvSpPr>
              <p:spPr>
                <a:xfrm>
                  <a:off x="1946" y="8194"/>
                  <a:ext cx="71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0%</a:t>
                  </a:r>
                </a:p>
              </p:txBody>
            </p:sp>
            <p:sp>
              <p:nvSpPr>
                <p:cNvPr id="82" name="文本框 81"/>
                <p:cNvSpPr txBox="1"/>
                <p:nvPr/>
              </p:nvSpPr>
              <p:spPr>
                <a:xfrm>
                  <a:off x="1368" y="2050"/>
                  <a:ext cx="72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0.6</a:t>
                  </a:r>
                </a:p>
              </p:txBody>
            </p:sp>
            <p:sp>
              <p:nvSpPr>
                <p:cNvPr id="83" name="文本框 82"/>
                <p:cNvSpPr txBox="1"/>
                <p:nvPr/>
              </p:nvSpPr>
              <p:spPr>
                <a:xfrm>
                  <a:off x="1155" y="4932"/>
                  <a:ext cx="936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0.3</a:t>
                  </a:r>
                </a:p>
              </p:txBody>
            </p:sp>
            <p:sp>
              <p:nvSpPr>
                <p:cNvPr id="84" name="文本框 83"/>
                <p:cNvSpPr txBox="1"/>
                <p:nvPr/>
              </p:nvSpPr>
              <p:spPr>
                <a:xfrm>
                  <a:off x="1608" y="1258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</a:p>
              </p:txBody>
            </p:sp>
            <p:sp>
              <p:nvSpPr>
                <p:cNvPr id="85" name="文本框 84"/>
                <p:cNvSpPr txBox="1"/>
                <p:nvPr/>
              </p:nvSpPr>
              <p:spPr>
                <a:xfrm>
                  <a:off x="7700" y="8760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35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probability(α)</a:t>
                  </a:r>
                </a:p>
              </p:txBody>
            </p:sp>
            <p:sp>
              <p:nvSpPr>
                <p:cNvPr id="86" name="文本框 85"/>
                <p:cNvSpPr txBox="1"/>
                <p:nvPr/>
              </p:nvSpPr>
              <p:spPr>
                <a:xfrm>
                  <a:off x="7886" y="4932"/>
                  <a:ext cx="3042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mean </a:t>
                  </a:r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β = 0.3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7" name="文本框 86"/>
                  <p:cNvSpPr txBox="1"/>
                  <p:nvPr/>
                </p:nvSpPr>
                <p:spPr>
                  <a:xfrm>
                    <a:off x="2895" y="-568"/>
                    <a:ext cx="7243" cy="14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Horizontal Constraints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4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87" name="文本框 8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5" y="-568"/>
                    <a:ext cx="7243" cy="146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t="-2326" b="-465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8" name="文本框 87"/>
              <p:cNvSpPr txBox="1"/>
              <p:nvPr/>
            </p:nvSpPr>
            <p:spPr>
              <a:xfrm>
                <a:off x="2364" y="7446"/>
                <a:ext cx="3436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open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28% / 30% (2016 / 2023)</a:t>
                </a:r>
              </a:p>
            </p:txBody>
          </p:sp>
          <p:sp>
            <p:nvSpPr>
              <p:cNvPr id="89" name="文本框 88"/>
              <p:cNvSpPr txBox="1"/>
              <p:nvPr/>
            </p:nvSpPr>
            <p:spPr>
              <a:xfrm>
                <a:off x="7972" y="894"/>
                <a:ext cx="282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Locked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1% / 1% (2016 / 2023)</a:t>
                </a:r>
              </a:p>
            </p:txBody>
          </p:sp>
          <p:sp>
            <p:nvSpPr>
              <p:cNvPr id="90" name="文本框 89"/>
              <p:cNvSpPr txBox="1"/>
              <p:nvPr/>
            </p:nvSpPr>
            <p:spPr>
              <a:xfrm>
                <a:off x="2273" y="894"/>
                <a:ext cx="3529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>
                    <a:solidFill>
                      <a:schemeClr val="tx1"/>
                    </a:solidFill>
                    <a:sym typeface="+mn-ea"/>
                  </a:rPr>
                  <a:t>Edge-constrianed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>
                    <a:solidFill>
                      <a:schemeClr val="tx1"/>
                    </a:solidFill>
                    <a:sym typeface="+mn-ea"/>
                  </a:rPr>
                  <a:t>45% / 44% (2016 / 2023)</a:t>
                </a:r>
                <a:endParaRPr lang="en-US" altLang="zh-CN" sz="800" i="1">
                  <a:solidFill>
                    <a:schemeClr val="tx1"/>
                  </a:solidFill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91" name="文本框 90"/>
              <p:cNvSpPr txBox="1"/>
              <p:nvPr/>
            </p:nvSpPr>
            <p:spPr>
              <a:xfrm>
                <a:off x="7570" y="7446"/>
                <a:ext cx="3227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constrianed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26% / 25% (2016/2023)</a:t>
                </a:r>
              </a:p>
            </p:txBody>
          </p:sp>
        </p:grpSp>
        <p:sp>
          <p:nvSpPr>
            <p:cNvPr id="126" name="文本框 125"/>
            <p:cNvSpPr txBox="1"/>
            <p:nvPr/>
          </p:nvSpPr>
          <p:spPr>
            <a:xfrm>
              <a:off x="3454400" y="7355205"/>
              <a:ext cx="254635" cy="13144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grpSp>
          <p:nvGrpSpPr>
            <p:cNvPr id="127" name="组合 126"/>
            <p:cNvGrpSpPr/>
            <p:nvPr/>
          </p:nvGrpSpPr>
          <p:grpSpPr>
            <a:xfrm>
              <a:off x="6813550" y="4507865"/>
              <a:ext cx="3489960" cy="3499485"/>
              <a:chOff x="11191" y="149"/>
              <a:chExt cx="9770" cy="9797"/>
            </a:xfrm>
          </p:grpSpPr>
          <p:sp>
            <p:nvSpPr>
              <p:cNvPr id="130" name="矩形 129"/>
              <p:cNvSpPr/>
              <p:nvPr/>
            </p:nvSpPr>
            <p:spPr>
              <a:xfrm rot="5400000">
                <a:off x="15794" y="4768"/>
                <a:ext cx="731" cy="897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31" name="矩形 130"/>
              <p:cNvSpPr/>
              <p:nvPr/>
            </p:nvSpPr>
            <p:spPr>
              <a:xfrm>
                <a:off x="11358" y="1930"/>
                <a:ext cx="644" cy="630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2" name="文本框 131"/>
                  <p:cNvSpPr txBox="1"/>
                  <p:nvPr/>
                </p:nvSpPr>
                <p:spPr>
                  <a:xfrm>
                    <a:off x="11408" y="149"/>
                    <a:ext cx="9438" cy="14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Horizontal Construction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4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32" name="文本框 13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08" y="149"/>
                    <a:ext cx="9438" cy="1465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t="-1163" b="-465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33" name="组合 132"/>
              <p:cNvGrpSpPr/>
              <p:nvPr/>
            </p:nvGrpSpPr>
            <p:grpSpPr>
              <a:xfrm>
                <a:off x="11191" y="1844"/>
                <a:ext cx="9656" cy="8102"/>
                <a:chOff x="9390" y="1694"/>
                <a:chExt cx="9656" cy="8102"/>
              </a:xfrm>
            </p:grpSpPr>
            <p:sp>
              <p:nvSpPr>
                <p:cNvPr id="134" name="文本框 133"/>
                <p:cNvSpPr txBox="1"/>
                <p:nvPr/>
              </p:nvSpPr>
              <p:spPr>
                <a:xfrm>
                  <a:off x="17956" y="8712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70%</a:t>
                  </a:r>
                </a:p>
              </p:txBody>
            </p:sp>
            <p:sp>
              <p:nvSpPr>
                <p:cNvPr id="135" name="文本框 134"/>
                <p:cNvSpPr txBox="1"/>
                <p:nvPr/>
              </p:nvSpPr>
              <p:spPr>
                <a:xfrm>
                  <a:off x="9969" y="8712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20%</a:t>
                  </a:r>
                </a:p>
              </p:txBody>
            </p:sp>
            <p:sp>
              <p:nvSpPr>
                <p:cNvPr id="136" name="文本框 135"/>
                <p:cNvSpPr txBox="1"/>
                <p:nvPr/>
              </p:nvSpPr>
              <p:spPr>
                <a:xfrm>
                  <a:off x="9583" y="7683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</a:p>
              </p:txBody>
            </p:sp>
            <p:sp>
              <p:nvSpPr>
                <p:cNvPr id="137" name="文本框 136"/>
                <p:cNvSpPr txBox="1"/>
                <p:nvPr/>
              </p:nvSpPr>
              <p:spPr>
                <a:xfrm>
                  <a:off x="9390" y="4928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0.2</a:t>
                  </a:r>
                </a:p>
              </p:txBody>
            </p:sp>
            <p:sp>
              <p:nvSpPr>
                <p:cNvPr id="138" name="文本框 137"/>
                <p:cNvSpPr txBox="1"/>
                <p:nvPr/>
              </p:nvSpPr>
              <p:spPr>
                <a:xfrm>
                  <a:off x="9746" y="1694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</a:p>
              </p:txBody>
            </p:sp>
            <p:sp>
              <p:nvSpPr>
                <p:cNvPr id="139" name="文本框 138"/>
                <p:cNvSpPr txBox="1"/>
                <p:nvPr/>
              </p:nvSpPr>
              <p:spPr>
                <a:xfrm>
                  <a:off x="16305" y="9283"/>
                  <a:ext cx="2741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probability(κ)</a:t>
                  </a:r>
                </a:p>
              </p:txBody>
            </p:sp>
            <p:sp>
              <p:nvSpPr>
                <p:cNvPr id="140" name="文本框 139"/>
                <p:cNvSpPr txBox="1"/>
                <p:nvPr/>
              </p:nvSpPr>
              <p:spPr>
                <a:xfrm>
                  <a:off x="14751" y="8712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</a:p>
              </p:txBody>
            </p:sp>
            <p:sp>
              <p:nvSpPr>
                <p:cNvPr id="141" name="文本框 140"/>
                <p:cNvSpPr txBox="1"/>
                <p:nvPr/>
              </p:nvSpPr>
              <p:spPr>
                <a:xfrm>
                  <a:off x="9439" y="2187"/>
                  <a:ext cx="76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0.4</a:t>
                  </a:r>
                </a:p>
              </p:txBody>
            </p:sp>
          </p:grpSp>
          <p:sp>
            <p:nvSpPr>
              <p:cNvPr id="142" name="文本框 141"/>
              <p:cNvSpPr txBox="1"/>
              <p:nvPr/>
            </p:nvSpPr>
            <p:spPr>
              <a:xfrm>
                <a:off x="12139" y="8119"/>
                <a:ext cx="336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sparse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43% / 41% (2016 / 2023)</a:t>
                </a:r>
              </a:p>
            </p:txBody>
          </p:sp>
          <p:sp>
            <p:nvSpPr>
              <p:cNvPr id="144" name="文本框 143"/>
              <p:cNvSpPr txBox="1"/>
              <p:nvPr/>
            </p:nvSpPr>
            <p:spPr>
              <a:xfrm>
                <a:off x="17856" y="8119"/>
                <a:ext cx="2990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dense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9% / 12% (2016 / 2023)</a:t>
                </a:r>
              </a:p>
            </p:txBody>
          </p:sp>
          <p:sp>
            <p:nvSpPr>
              <p:cNvPr id="146" name="文本框 145"/>
              <p:cNvSpPr txBox="1"/>
              <p:nvPr/>
            </p:nvSpPr>
            <p:spPr>
              <a:xfrm>
                <a:off x="17571" y="1524"/>
                <a:ext cx="327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Core-dense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16% / 20% (2016 / 2023)</a:t>
                </a:r>
              </a:p>
            </p:txBody>
          </p:sp>
          <p:sp>
            <p:nvSpPr>
              <p:cNvPr id="147" name="文本框 146"/>
              <p:cNvSpPr txBox="1"/>
              <p:nvPr/>
            </p:nvSpPr>
            <p:spPr>
              <a:xfrm>
                <a:off x="12165" y="1553"/>
                <a:ext cx="3291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 dirty="0">
                    <a:sym typeface="+mn-ea"/>
                  </a:rPr>
                  <a:t>Thinly built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 dirty="0">
                    <a:sym typeface="+mn-ea"/>
                  </a:rPr>
                  <a:t>32% / 27% (2016 / 2023)</a:t>
                </a:r>
              </a:p>
            </p:txBody>
          </p:sp>
          <p:sp>
            <p:nvSpPr>
              <p:cNvPr id="150" name="文本框 149"/>
              <p:cNvSpPr txBox="1"/>
              <p:nvPr/>
            </p:nvSpPr>
            <p:spPr>
              <a:xfrm>
                <a:off x="18266" y="5773"/>
                <a:ext cx="2695" cy="11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0.086</a:t>
                </a:r>
              </a:p>
            </p:txBody>
          </p:sp>
        </p:grpSp>
        <p:grpSp>
          <p:nvGrpSpPr>
            <p:cNvPr id="197" name="组合 196"/>
            <p:cNvGrpSpPr/>
            <p:nvPr/>
          </p:nvGrpSpPr>
          <p:grpSpPr>
            <a:xfrm>
              <a:off x="4607560" y="8121650"/>
              <a:ext cx="4500880" cy="353060"/>
              <a:chOff x="3905" y="13468"/>
              <a:chExt cx="7088" cy="556"/>
            </a:xfrm>
          </p:grpSpPr>
          <p:grpSp>
            <p:nvGrpSpPr>
              <p:cNvPr id="195" name="组合 194"/>
              <p:cNvGrpSpPr/>
              <p:nvPr/>
            </p:nvGrpSpPr>
            <p:grpSpPr>
              <a:xfrm>
                <a:off x="8921" y="13468"/>
                <a:ext cx="2073" cy="246"/>
                <a:chOff x="8921" y="13468"/>
                <a:chExt cx="2073" cy="246"/>
              </a:xfrm>
            </p:grpSpPr>
            <p:sp>
              <p:nvSpPr>
                <p:cNvPr id="172" name="文本框 171"/>
                <p:cNvSpPr txBox="1"/>
                <p:nvPr/>
              </p:nvSpPr>
              <p:spPr>
                <a:xfrm>
                  <a:off x="9172" y="1346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Latin America, 2016</a:t>
                  </a:r>
                </a:p>
              </p:txBody>
            </p:sp>
            <p:sp>
              <p:nvSpPr>
                <p:cNvPr id="173" name="椭圆 172"/>
                <p:cNvSpPr/>
                <p:nvPr/>
              </p:nvSpPr>
              <p:spPr>
                <a:xfrm>
                  <a:off x="8921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196" name="组合 195"/>
              <p:cNvGrpSpPr/>
              <p:nvPr/>
            </p:nvGrpSpPr>
            <p:grpSpPr>
              <a:xfrm>
                <a:off x="8921" y="13778"/>
                <a:ext cx="2073" cy="246"/>
                <a:chOff x="8921" y="13778"/>
                <a:chExt cx="2073" cy="246"/>
              </a:xfrm>
            </p:grpSpPr>
            <p:sp>
              <p:nvSpPr>
                <p:cNvPr id="174" name="椭圆 173"/>
                <p:cNvSpPr/>
                <p:nvPr/>
              </p:nvSpPr>
              <p:spPr>
                <a:xfrm>
                  <a:off x="8921" y="13820"/>
                  <a:ext cx="163" cy="162"/>
                </a:xfrm>
                <a:prstGeom prst="ellipse">
                  <a:avLst/>
                </a:prstGeom>
                <a:solidFill>
                  <a:srgbClr val="47A2DE">
                    <a:alpha val="70000"/>
                  </a:srgbClr>
                </a:solidFill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175" name="文本框 174"/>
                <p:cNvSpPr txBox="1"/>
                <p:nvPr/>
              </p:nvSpPr>
              <p:spPr>
                <a:xfrm>
                  <a:off x="9172" y="1377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Latin America, 2023</a:t>
                  </a:r>
                </a:p>
              </p:txBody>
            </p:sp>
          </p:grpSp>
          <p:sp>
            <p:nvSpPr>
              <p:cNvPr id="177" name="椭圆 176"/>
              <p:cNvSpPr/>
              <p:nvPr/>
            </p:nvSpPr>
            <p:spPr>
              <a:xfrm>
                <a:off x="3905" y="13510"/>
                <a:ext cx="163" cy="162"/>
              </a:xfrm>
              <a:prstGeom prst="ellipse">
                <a:avLst/>
              </a:prstGeom>
              <a:noFill/>
              <a:ln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grpSp>
            <p:nvGrpSpPr>
              <p:cNvPr id="190" name="组合 189"/>
              <p:cNvGrpSpPr/>
              <p:nvPr/>
            </p:nvGrpSpPr>
            <p:grpSpPr>
              <a:xfrm>
                <a:off x="3905" y="13778"/>
                <a:ext cx="1336" cy="246"/>
                <a:chOff x="3905" y="13786"/>
                <a:chExt cx="1336" cy="246"/>
              </a:xfrm>
            </p:grpSpPr>
            <p:sp>
              <p:nvSpPr>
                <p:cNvPr id="178" name="椭圆 177"/>
                <p:cNvSpPr/>
                <p:nvPr/>
              </p:nvSpPr>
              <p:spPr>
                <a:xfrm>
                  <a:off x="3905" y="13828"/>
                  <a:ext cx="163" cy="162"/>
                </a:xfrm>
                <a:prstGeom prst="ellipse">
                  <a:avLst/>
                </a:prstGeom>
                <a:solidFill>
                  <a:srgbClr val="E85748">
                    <a:alpha val="70000"/>
                  </a:srgbClr>
                </a:solidFill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179" name="文本框 178"/>
                <p:cNvSpPr txBox="1"/>
                <p:nvPr/>
              </p:nvSpPr>
              <p:spPr>
                <a:xfrm>
                  <a:off x="4149" y="13786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/>
                    <a:t>Africa, 2023</a:t>
                  </a:r>
                </a:p>
              </p:txBody>
            </p:sp>
          </p:grpSp>
          <p:grpSp>
            <p:nvGrpSpPr>
              <p:cNvPr id="191" name="组合 190"/>
              <p:cNvGrpSpPr/>
              <p:nvPr/>
            </p:nvGrpSpPr>
            <p:grpSpPr>
              <a:xfrm>
                <a:off x="5650" y="13468"/>
                <a:ext cx="2918" cy="246"/>
                <a:chOff x="5650" y="13468"/>
                <a:chExt cx="2918" cy="246"/>
              </a:xfrm>
            </p:grpSpPr>
            <p:sp>
              <p:nvSpPr>
                <p:cNvPr id="180" name="文本框 179"/>
                <p:cNvSpPr txBox="1"/>
                <p:nvPr/>
              </p:nvSpPr>
              <p:spPr>
                <a:xfrm>
                  <a:off x="5884" y="13468"/>
                  <a:ext cx="2684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South&amp;Southeast Asia, 2016</a:t>
                  </a:r>
                </a:p>
              </p:txBody>
            </p:sp>
            <p:sp>
              <p:nvSpPr>
                <p:cNvPr id="181" name="椭圆 180"/>
                <p:cNvSpPr/>
                <p:nvPr/>
              </p:nvSpPr>
              <p:spPr>
                <a:xfrm>
                  <a:off x="5650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193" name="组合 192"/>
              <p:cNvGrpSpPr/>
              <p:nvPr/>
            </p:nvGrpSpPr>
            <p:grpSpPr>
              <a:xfrm>
                <a:off x="5650" y="13778"/>
                <a:ext cx="2918" cy="246"/>
                <a:chOff x="5650" y="13778"/>
                <a:chExt cx="2918" cy="246"/>
              </a:xfrm>
            </p:grpSpPr>
            <p:sp>
              <p:nvSpPr>
                <p:cNvPr id="182" name="椭圆 181"/>
                <p:cNvSpPr/>
                <p:nvPr/>
              </p:nvSpPr>
              <p:spPr>
                <a:xfrm>
                  <a:off x="5650" y="13820"/>
                  <a:ext cx="163" cy="162"/>
                </a:xfrm>
                <a:prstGeom prst="ellipse">
                  <a:avLst/>
                </a:prstGeom>
                <a:solidFill>
                  <a:srgbClr val="F39F1B">
                    <a:alpha val="70000"/>
                  </a:srgbClr>
                </a:solidFill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183" name="文本框 182"/>
                <p:cNvSpPr txBox="1"/>
                <p:nvPr/>
              </p:nvSpPr>
              <p:spPr>
                <a:xfrm>
                  <a:off x="5884" y="13778"/>
                  <a:ext cx="2684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South&amp;Southeast Asia, 2023</a:t>
                  </a:r>
                </a:p>
              </p:txBody>
            </p:sp>
          </p:grpSp>
          <p:grpSp>
            <p:nvGrpSpPr>
              <p:cNvPr id="194" name="组合 193"/>
              <p:cNvGrpSpPr/>
              <p:nvPr/>
            </p:nvGrpSpPr>
            <p:grpSpPr>
              <a:xfrm>
                <a:off x="3905" y="13468"/>
                <a:ext cx="1336" cy="246"/>
                <a:chOff x="3905" y="13468"/>
                <a:chExt cx="1336" cy="246"/>
              </a:xfrm>
            </p:grpSpPr>
            <p:sp>
              <p:nvSpPr>
                <p:cNvPr id="176" name="文本框 175"/>
                <p:cNvSpPr txBox="1"/>
                <p:nvPr/>
              </p:nvSpPr>
              <p:spPr>
                <a:xfrm>
                  <a:off x="4149" y="13468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 dirty="0"/>
                    <a:t>Africa, 2016</a:t>
                  </a:r>
                </a:p>
              </p:txBody>
            </p:sp>
            <p:sp>
              <p:nvSpPr>
                <p:cNvPr id="188" name="椭圆 187"/>
                <p:cNvSpPr/>
                <p:nvPr/>
              </p:nvSpPr>
              <p:spPr>
                <a:xfrm>
                  <a:off x="3905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205" y="8985250"/>
            <a:ext cx="1471295" cy="724535"/>
          </a:xfrm>
          <a:prstGeom prst="rect">
            <a:avLst/>
          </a:prstGeom>
        </p:spPr>
      </p:pic>
      <p:pic>
        <p:nvPicPr>
          <p:cNvPr id="33" name="图片 3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" y="7903845"/>
            <a:ext cx="1419860" cy="699135"/>
          </a:xfrm>
          <a:prstGeom prst="rect">
            <a:avLst/>
          </a:prstGeom>
        </p:spPr>
      </p:pic>
      <p:pic>
        <p:nvPicPr>
          <p:cNvPr id="104" name="图片 10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0060" y="9973310"/>
            <a:ext cx="947420" cy="782320"/>
          </a:xfrm>
          <a:prstGeom prst="rect">
            <a:avLst/>
          </a:prstGeom>
        </p:spPr>
      </p:pic>
      <p:grpSp>
        <p:nvGrpSpPr>
          <p:cNvPr id="2" name="组合 120">
            <a:extLst>
              <a:ext uri="{FF2B5EF4-FFF2-40B4-BE49-F238E27FC236}">
                <a16:creationId xmlns:a16="http://schemas.microsoft.com/office/drawing/2014/main" id="{4EF6E7A0-3BE3-DE17-27AE-A27A6439F771}"/>
              </a:ext>
            </a:extLst>
          </p:cNvPr>
          <p:cNvGrpSpPr/>
          <p:nvPr/>
        </p:nvGrpSpPr>
        <p:grpSpPr>
          <a:xfrm>
            <a:off x="5490845" y="6934835"/>
            <a:ext cx="5536565" cy="3533775"/>
            <a:chOff x="7148" y="11055"/>
            <a:chExt cx="8719" cy="5565"/>
          </a:xfrm>
        </p:grpSpPr>
        <p:sp>
          <p:nvSpPr>
            <p:cNvPr id="3" name="矩形 74">
              <a:extLst>
                <a:ext uri="{FF2B5EF4-FFF2-40B4-BE49-F238E27FC236}">
                  <a16:creationId xmlns:a16="http://schemas.microsoft.com/office/drawing/2014/main" id="{4880BA93-E135-BAE7-CF62-A3AD16164747}"/>
                </a:ext>
              </a:extLst>
            </p:cNvPr>
            <p:cNvSpPr/>
            <p:nvPr/>
          </p:nvSpPr>
          <p:spPr>
            <a:xfrm>
              <a:off x="7148" y="11055"/>
              <a:ext cx="8719" cy="55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" name="文本框 76">
              <a:extLst>
                <a:ext uri="{FF2B5EF4-FFF2-40B4-BE49-F238E27FC236}">
                  <a16:creationId xmlns:a16="http://schemas.microsoft.com/office/drawing/2014/main" id="{7BA4DA73-3D7C-FC6B-0FB4-F1AE15B409B6}"/>
                </a:ext>
              </a:extLst>
            </p:cNvPr>
            <p:cNvSpPr txBox="1"/>
            <p:nvPr/>
          </p:nvSpPr>
          <p:spPr>
            <a:xfrm>
              <a:off x="7398" y="11103"/>
              <a:ext cx="846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Vertical Profile Types</a:t>
              </a:r>
            </a:p>
          </p:txBody>
        </p:sp>
        <p:grpSp>
          <p:nvGrpSpPr>
            <p:cNvPr id="5" name="组合 112">
              <a:extLst>
                <a:ext uri="{FF2B5EF4-FFF2-40B4-BE49-F238E27FC236}">
                  <a16:creationId xmlns:a16="http://schemas.microsoft.com/office/drawing/2014/main" id="{7D042596-710A-1132-C2E2-E68E947B14A2}"/>
                </a:ext>
              </a:extLst>
            </p:cNvPr>
            <p:cNvGrpSpPr/>
            <p:nvPr/>
          </p:nvGrpSpPr>
          <p:grpSpPr>
            <a:xfrm>
              <a:off x="14017" y="13395"/>
              <a:ext cx="1849" cy="348"/>
              <a:chOff x="14132" y="12117"/>
              <a:chExt cx="1849" cy="348"/>
            </a:xfrm>
          </p:grpSpPr>
          <p:sp>
            <p:nvSpPr>
              <p:cNvPr id="30" name="矩形 96">
                <a:extLst>
                  <a:ext uri="{FF2B5EF4-FFF2-40B4-BE49-F238E27FC236}">
                    <a16:creationId xmlns:a16="http://schemas.microsoft.com/office/drawing/2014/main" id="{96AECF25-3588-2D70-489A-9456B52A36FC}"/>
                  </a:ext>
                </a:extLst>
              </p:cNvPr>
              <p:cNvSpPr/>
              <p:nvPr/>
            </p:nvSpPr>
            <p:spPr>
              <a:xfrm>
                <a:off x="14132" y="12167"/>
                <a:ext cx="415" cy="249"/>
              </a:xfrm>
              <a:prstGeom prst="rect">
                <a:avLst/>
              </a:prstGeom>
              <a:solidFill>
                <a:srgbClr val="7F2704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2" name="文本框 98">
                <a:extLst>
                  <a:ext uri="{FF2B5EF4-FFF2-40B4-BE49-F238E27FC236}">
                    <a16:creationId xmlns:a16="http://schemas.microsoft.com/office/drawing/2014/main" id="{EFE41136-F009-7F81-38D8-AA6AD544D4CC}"/>
                  </a:ext>
                </a:extLst>
              </p:cNvPr>
              <p:cNvSpPr txBox="1"/>
              <p:nvPr/>
            </p:nvSpPr>
            <p:spPr>
              <a:xfrm>
                <a:off x="14547" y="12117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Bowl</a:t>
                </a:r>
              </a:p>
            </p:txBody>
          </p:sp>
        </p:grpSp>
        <p:grpSp>
          <p:nvGrpSpPr>
            <p:cNvPr id="7" name="组合 113">
              <a:extLst>
                <a:ext uri="{FF2B5EF4-FFF2-40B4-BE49-F238E27FC236}">
                  <a16:creationId xmlns:a16="http://schemas.microsoft.com/office/drawing/2014/main" id="{D01B572C-3858-8410-BA79-1DF3CD34E171}"/>
                </a:ext>
              </a:extLst>
            </p:cNvPr>
            <p:cNvGrpSpPr/>
            <p:nvPr/>
          </p:nvGrpSpPr>
          <p:grpSpPr>
            <a:xfrm>
              <a:off x="14017" y="13086"/>
              <a:ext cx="1849" cy="348"/>
              <a:chOff x="14132" y="12436"/>
              <a:chExt cx="1849" cy="348"/>
            </a:xfrm>
          </p:grpSpPr>
          <p:sp>
            <p:nvSpPr>
              <p:cNvPr id="28" name="矩形 97">
                <a:extLst>
                  <a:ext uri="{FF2B5EF4-FFF2-40B4-BE49-F238E27FC236}">
                    <a16:creationId xmlns:a16="http://schemas.microsoft.com/office/drawing/2014/main" id="{32EF2F8D-B598-D866-16FE-5AED29E67AB8}"/>
                  </a:ext>
                </a:extLst>
              </p:cNvPr>
              <p:cNvSpPr/>
              <p:nvPr/>
            </p:nvSpPr>
            <p:spPr>
              <a:xfrm>
                <a:off x="14132" y="12486"/>
                <a:ext cx="415" cy="249"/>
              </a:xfrm>
              <a:prstGeom prst="rect">
                <a:avLst/>
              </a:prstGeom>
              <a:solidFill>
                <a:srgbClr val="A63603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9" name="文本框 99">
                <a:extLst>
                  <a:ext uri="{FF2B5EF4-FFF2-40B4-BE49-F238E27FC236}">
                    <a16:creationId xmlns:a16="http://schemas.microsoft.com/office/drawing/2014/main" id="{BD728E36-3F85-5DBB-4D41-5DEB4998E141}"/>
                  </a:ext>
                </a:extLst>
              </p:cNvPr>
              <p:cNvSpPr txBox="1"/>
              <p:nvPr/>
            </p:nvSpPr>
            <p:spPr>
              <a:xfrm>
                <a:off x="14547" y="12436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Crown</a:t>
                </a:r>
              </a:p>
            </p:txBody>
          </p:sp>
        </p:grpSp>
        <p:grpSp>
          <p:nvGrpSpPr>
            <p:cNvPr id="10" name="组合 117">
              <a:extLst>
                <a:ext uri="{FF2B5EF4-FFF2-40B4-BE49-F238E27FC236}">
                  <a16:creationId xmlns:a16="http://schemas.microsoft.com/office/drawing/2014/main" id="{9390624E-2D43-0630-873E-B6EDD6B3A2FB}"/>
                </a:ext>
              </a:extLst>
            </p:cNvPr>
            <p:cNvGrpSpPr/>
            <p:nvPr/>
          </p:nvGrpSpPr>
          <p:grpSpPr>
            <a:xfrm>
              <a:off x="14017" y="12159"/>
              <a:ext cx="1850" cy="349"/>
              <a:chOff x="14132" y="13393"/>
              <a:chExt cx="1850" cy="349"/>
            </a:xfrm>
          </p:grpSpPr>
          <p:sp>
            <p:nvSpPr>
              <p:cNvPr id="26" name="文本框 95">
                <a:extLst>
                  <a:ext uri="{FF2B5EF4-FFF2-40B4-BE49-F238E27FC236}">
                    <a16:creationId xmlns:a16="http://schemas.microsoft.com/office/drawing/2014/main" id="{E3F59847-6ABE-B166-079F-CF4605D598D7}"/>
                  </a:ext>
                </a:extLst>
              </p:cNvPr>
              <p:cNvSpPr txBox="1"/>
              <p:nvPr/>
            </p:nvSpPr>
            <p:spPr>
              <a:xfrm>
                <a:off x="14547" y="13393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 dirty="0"/>
                  <a:t>Pyramid</a:t>
                </a:r>
              </a:p>
            </p:txBody>
          </p:sp>
          <p:sp>
            <p:nvSpPr>
              <p:cNvPr id="27" name="矩形 100">
                <a:extLst>
                  <a:ext uri="{FF2B5EF4-FFF2-40B4-BE49-F238E27FC236}">
                    <a16:creationId xmlns:a16="http://schemas.microsoft.com/office/drawing/2014/main" id="{BEB7F040-9D15-B8A2-A4E1-B657F1AA2F9B}"/>
                  </a:ext>
                </a:extLst>
              </p:cNvPr>
              <p:cNvSpPr/>
              <p:nvPr/>
            </p:nvSpPr>
            <p:spPr>
              <a:xfrm>
                <a:off x="14132" y="13443"/>
                <a:ext cx="415" cy="249"/>
              </a:xfrm>
              <a:prstGeom prst="rect">
                <a:avLst/>
              </a:prstGeom>
              <a:solidFill>
                <a:srgbClr val="FEEDDE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</p:grpSp>
        <p:grpSp>
          <p:nvGrpSpPr>
            <p:cNvPr id="11" name="组合 115">
              <a:extLst>
                <a:ext uri="{FF2B5EF4-FFF2-40B4-BE49-F238E27FC236}">
                  <a16:creationId xmlns:a16="http://schemas.microsoft.com/office/drawing/2014/main" id="{31E711DA-681D-F14A-7700-F678DA0DBABF}"/>
                </a:ext>
              </a:extLst>
            </p:cNvPr>
            <p:cNvGrpSpPr/>
            <p:nvPr/>
          </p:nvGrpSpPr>
          <p:grpSpPr>
            <a:xfrm>
              <a:off x="14017" y="12468"/>
              <a:ext cx="1850" cy="349"/>
              <a:chOff x="14132" y="13074"/>
              <a:chExt cx="1850" cy="349"/>
            </a:xfrm>
          </p:grpSpPr>
          <p:sp>
            <p:nvSpPr>
              <p:cNvPr id="24" name="矩形 94">
                <a:extLst>
                  <a:ext uri="{FF2B5EF4-FFF2-40B4-BE49-F238E27FC236}">
                    <a16:creationId xmlns:a16="http://schemas.microsoft.com/office/drawing/2014/main" id="{47760322-12F7-6EDB-7772-4ABDCF066411}"/>
                  </a:ext>
                </a:extLst>
              </p:cNvPr>
              <p:cNvSpPr/>
              <p:nvPr/>
            </p:nvSpPr>
            <p:spPr>
              <a:xfrm>
                <a:off x="14132" y="13124"/>
                <a:ext cx="415" cy="249"/>
              </a:xfrm>
              <a:prstGeom prst="rect">
                <a:avLst/>
              </a:prstGeom>
              <a:solidFill>
                <a:srgbClr val="FDAE6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5" name="文本框 101">
                <a:extLst>
                  <a:ext uri="{FF2B5EF4-FFF2-40B4-BE49-F238E27FC236}">
                    <a16:creationId xmlns:a16="http://schemas.microsoft.com/office/drawing/2014/main" id="{1330F874-A2D9-7C40-C3CA-EDDB4D873CE6}"/>
                  </a:ext>
                </a:extLst>
              </p:cNvPr>
              <p:cNvSpPr txBox="1"/>
              <p:nvPr/>
            </p:nvSpPr>
            <p:spPr>
              <a:xfrm>
                <a:off x="14547" y="13074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Volcanic Cone</a:t>
                </a:r>
              </a:p>
            </p:txBody>
          </p:sp>
        </p:grpSp>
        <p:grpSp>
          <p:nvGrpSpPr>
            <p:cNvPr id="12" name="组合 114">
              <a:extLst>
                <a:ext uri="{FF2B5EF4-FFF2-40B4-BE49-F238E27FC236}">
                  <a16:creationId xmlns:a16="http://schemas.microsoft.com/office/drawing/2014/main" id="{6C07E41A-049D-573E-C99C-95D0E2C699FA}"/>
                </a:ext>
              </a:extLst>
            </p:cNvPr>
            <p:cNvGrpSpPr/>
            <p:nvPr/>
          </p:nvGrpSpPr>
          <p:grpSpPr>
            <a:xfrm>
              <a:off x="14017" y="12777"/>
              <a:ext cx="1850" cy="349"/>
              <a:chOff x="14132" y="12755"/>
              <a:chExt cx="1850" cy="349"/>
            </a:xfrm>
          </p:grpSpPr>
          <p:sp>
            <p:nvSpPr>
              <p:cNvPr id="22" name="矩形 108">
                <a:extLst>
                  <a:ext uri="{FF2B5EF4-FFF2-40B4-BE49-F238E27FC236}">
                    <a16:creationId xmlns:a16="http://schemas.microsoft.com/office/drawing/2014/main" id="{566A2C99-4213-028B-7B1F-411499B382FC}"/>
                  </a:ext>
                </a:extLst>
              </p:cNvPr>
              <p:cNvSpPr/>
              <p:nvPr/>
            </p:nvSpPr>
            <p:spPr>
              <a:xfrm>
                <a:off x="14132" y="12805"/>
                <a:ext cx="415" cy="249"/>
              </a:xfrm>
              <a:prstGeom prst="rect">
                <a:avLst/>
              </a:prstGeom>
              <a:solidFill>
                <a:srgbClr val="E6550D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3" name="文本框 109">
                <a:extLst>
                  <a:ext uri="{FF2B5EF4-FFF2-40B4-BE49-F238E27FC236}">
                    <a16:creationId xmlns:a16="http://schemas.microsoft.com/office/drawing/2014/main" id="{CC032939-5414-D933-9442-E01EB1018B24}"/>
                  </a:ext>
                </a:extLst>
              </p:cNvPr>
              <p:cNvSpPr txBox="1"/>
              <p:nvPr/>
            </p:nvSpPr>
            <p:spPr>
              <a:xfrm>
                <a:off x="14547" y="12755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 dirty="0"/>
                  <a:t>Pancake</a:t>
                </a:r>
              </a:p>
            </p:txBody>
          </p:sp>
        </p:grpSp>
        <p:pic>
          <p:nvPicPr>
            <p:cNvPr id="13" name="图片 111">
              <a:extLst>
                <a:ext uri="{FF2B5EF4-FFF2-40B4-BE49-F238E27FC236}">
                  <a16:creationId xmlns:a16="http://schemas.microsoft.com/office/drawing/2014/main" id="{0A108956-D49A-A5F8-9970-AAE5BB07663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b="2438"/>
            <a:stretch>
              <a:fillRect/>
            </a:stretch>
          </p:blipFill>
          <p:spPr>
            <a:xfrm>
              <a:off x="7359" y="11586"/>
              <a:ext cx="6557" cy="4923"/>
            </a:xfrm>
            <a:prstGeom prst="rect">
              <a:avLst/>
            </a:prstGeom>
          </p:spPr>
        </p:pic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682409F-778A-0D83-8D2F-F2C3AA9BB2FC}"/>
              </a:ext>
            </a:extLst>
          </p:cNvPr>
          <p:cNvGrpSpPr/>
          <p:nvPr/>
        </p:nvGrpSpPr>
        <p:grpSpPr>
          <a:xfrm>
            <a:off x="1336217" y="1877695"/>
            <a:ext cx="12396470" cy="4269105"/>
            <a:chOff x="1336217" y="1877695"/>
            <a:chExt cx="12396470" cy="4269105"/>
          </a:xfrm>
        </p:grpSpPr>
        <p:sp>
          <p:nvSpPr>
            <p:cNvPr id="73" name="矩形 72"/>
            <p:cNvSpPr/>
            <p:nvPr/>
          </p:nvSpPr>
          <p:spPr>
            <a:xfrm>
              <a:off x="1336217" y="1877695"/>
              <a:ext cx="12396470" cy="426910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8" name="图片 7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40527" y="2402205"/>
              <a:ext cx="4073525" cy="3122295"/>
            </a:xfrm>
            <a:prstGeom prst="rect">
              <a:avLst/>
            </a:prstGeom>
          </p:spPr>
        </p:pic>
        <p:grpSp>
          <p:nvGrpSpPr>
            <p:cNvPr id="37" name="组合 36"/>
            <p:cNvGrpSpPr/>
            <p:nvPr/>
          </p:nvGrpSpPr>
          <p:grpSpPr>
            <a:xfrm>
              <a:off x="1893747" y="5448935"/>
              <a:ext cx="3571875" cy="488315"/>
              <a:chOff x="5468" y="13333"/>
              <a:chExt cx="5625" cy="769"/>
            </a:xfrm>
          </p:grpSpPr>
          <p:sp>
            <p:nvSpPr>
              <p:cNvPr id="14" name="矩形 13"/>
              <p:cNvSpPr/>
              <p:nvPr/>
            </p:nvSpPr>
            <p:spPr>
              <a:xfrm>
                <a:off x="5468" y="13449"/>
                <a:ext cx="415" cy="249"/>
              </a:xfrm>
              <a:prstGeom prst="rect">
                <a:avLst/>
              </a:prstGeom>
              <a:solidFill>
                <a:srgbClr val="DADAE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5" name="文本框 14"/>
              <p:cNvSpPr txBox="1"/>
              <p:nvPr/>
            </p:nvSpPr>
            <p:spPr>
              <a:xfrm>
                <a:off x="5880" y="13358"/>
                <a:ext cx="2254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Uniformly open</a:t>
                </a:r>
              </a:p>
            </p:txBody>
          </p:sp>
          <p:sp>
            <p:nvSpPr>
              <p:cNvPr id="16" name="矩形 15"/>
              <p:cNvSpPr/>
              <p:nvPr/>
            </p:nvSpPr>
            <p:spPr>
              <a:xfrm>
                <a:off x="5468" y="13772"/>
                <a:ext cx="415" cy="249"/>
              </a:xfrm>
              <a:prstGeom prst="rect">
                <a:avLst/>
              </a:prstGeom>
              <a:solidFill>
                <a:srgbClr val="9E9AC8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5883" y="13668"/>
                <a:ext cx="2250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Edge constrained</a:t>
                </a:r>
              </a:p>
            </p:txBody>
          </p:sp>
          <p:sp>
            <p:nvSpPr>
              <p:cNvPr id="18" name="矩形 17"/>
              <p:cNvSpPr/>
              <p:nvPr/>
            </p:nvSpPr>
            <p:spPr>
              <a:xfrm>
                <a:off x="8020" y="13449"/>
                <a:ext cx="415" cy="249"/>
              </a:xfrm>
              <a:prstGeom prst="rect">
                <a:avLst/>
              </a:prstGeom>
              <a:solidFill>
                <a:srgbClr val="6A51A3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9" name="矩形 18"/>
              <p:cNvSpPr/>
              <p:nvPr/>
            </p:nvSpPr>
            <p:spPr>
              <a:xfrm>
                <a:off x="8020" y="13772"/>
                <a:ext cx="415" cy="249"/>
              </a:xfrm>
              <a:prstGeom prst="rect">
                <a:avLst/>
              </a:prstGeom>
              <a:solidFill>
                <a:srgbClr val="3F007D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0" name="文本框 19"/>
              <p:cNvSpPr txBox="1"/>
              <p:nvPr/>
            </p:nvSpPr>
            <p:spPr>
              <a:xfrm>
                <a:off x="8435" y="13333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Uniformly constrianed</a:t>
                </a:r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8435" y="13668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Locked</a:t>
                </a:r>
              </a:p>
            </p:txBody>
          </p:sp>
        </p:grpSp>
        <p:sp>
          <p:nvSpPr>
            <p:cNvPr id="31" name="文本框 30"/>
            <p:cNvSpPr txBox="1"/>
            <p:nvPr/>
          </p:nvSpPr>
          <p:spPr>
            <a:xfrm>
              <a:off x="1844217" y="2017395"/>
              <a:ext cx="3310255" cy="3067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(a) Horizontal Constraint Types</a:t>
              </a: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5532297" y="2017395"/>
              <a:ext cx="3881755" cy="3067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(b) Horizontal Construction Types</a:t>
              </a:r>
            </a:p>
          </p:txBody>
        </p:sp>
        <p:pic>
          <p:nvPicPr>
            <p:cNvPr id="6" name="图片 5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470202" y="2391410"/>
              <a:ext cx="3870325" cy="3073400"/>
            </a:xfrm>
            <a:prstGeom prst="rect">
              <a:avLst/>
            </a:prstGeom>
          </p:spPr>
        </p:pic>
        <p:grpSp>
          <p:nvGrpSpPr>
            <p:cNvPr id="119" name="组合 118"/>
            <p:cNvGrpSpPr/>
            <p:nvPr/>
          </p:nvGrpSpPr>
          <p:grpSpPr>
            <a:xfrm>
              <a:off x="5746927" y="5448935"/>
              <a:ext cx="3571875" cy="488315"/>
              <a:chOff x="11808" y="9013"/>
              <a:chExt cx="5625" cy="769"/>
            </a:xfrm>
          </p:grpSpPr>
          <p:sp>
            <p:nvSpPr>
              <p:cNvPr id="39" name="矩形 38"/>
              <p:cNvSpPr/>
              <p:nvPr/>
            </p:nvSpPr>
            <p:spPr>
              <a:xfrm>
                <a:off x="11808" y="9129"/>
                <a:ext cx="415" cy="249"/>
              </a:xfrm>
              <a:prstGeom prst="rect">
                <a:avLst/>
              </a:prstGeom>
              <a:solidFill>
                <a:srgbClr val="C7E9C0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12220" y="9038"/>
                <a:ext cx="2254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>
                    <a:sym typeface="+mn-ea"/>
                  </a:rPr>
                  <a:t>Uniformly sparse</a:t>
                </a:r>
                <a:endParaRPr lang="en-US" altLang="zh-CN" sz="1200"/>
              </a:p>
            </p:txBody>
          </p:sp>
          <p:sp>
            <p:nvSpPr>
              <p:cNvPr id="41" name="矩形 40"/>
              <p:cNvSpPr/>
              <p:nvPr/>
            </p:nvSpPr>
            <p:spPr>
              <a:xfrm>
                <a:off x="11808" y="9452"/>
                <a:ext cx="415" cy="249"/>
              </a:xfrm>
              <a:prstGeom prst="rect">
                <a:avLst/>
              </a:prstGeom>
              <a:solidFill>
                <a:srgbClr val="74C476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2223" y="9348"/>
                <a:ext cx="2250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>
                    <a:sym typeface="+mn-ea"/>
                  </a:rPr>
                  <a:t>Thinly built</a:t>
                </a:r>
                <a:endParaRPr lang="en-US" altLang="zh-CN" sz="1200"/>
              </a:p>
            </p:txBody>
          </p:sp>
          <p:sp>
            <p:nvSpPr>
              <p:cNvPr id="43" name="矩形 42"/>
              <p:cNvSpPr/>
              <p:nvPr/>
            </p:nvSpPr>
            <p:spPr>
              <a:xfrm>
                <a:off x="14360" y="9129"/>
                <a:ext cx="415" cy="249"/>
              </a:xfrm>
              <a:prstGeom prst="rect">
                <a:avLst/>
              </a:prstGeom>
              <a:solidFill>
                <a:srgbClr val="238B45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4" name="矩形 43"/>
              <p:cNvSpPr/>
              <p:nvPr/>
            </p:nvSpPr>
            <p:spPr>
              <a:xfrm>
                <a:off x="14360" y="9452"/>
                <a:ext cx="415" cy="249"/>
              </a:xfrm>
              <a:prstGeom prst="rect">
                <a:avLst/>
              </a:prstGeom>
              <a:solidFill>
                <a:srgbClr val="00441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14775" y="9013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Uniformly dense</a:t>
                </a:r>
              </a:p>
            </p:txBody>
          </p:sp>
          <p:sp>
            <p:nvSpPr>
              <p:cNvPr id="71" name="文本框 70"/>
              <p:cNvSpPr txBox="1"/>
              <p:nvPr/>
            </p:nvSpPr>
            <p:spPr>
              <a:xfrm>
                <a:off x="14775" y="9348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Core-dense</a:t>
                </a:r>
              </a:p>
            </p:txBody>
          </p:sp>
        </p:grpSp>
        <p:sp>
          <p:nvSpPr>
            <p:cNvPr id="77" name="文本框 76"/>
            <p:cNvSpPr txBox="1"/>
            <p:nvPr/>
          </p:nvSpPr>
          <p:spPr>
            <a:xfrm>
              <a:off x="9791877" y="2017395"/>
              <a:ext cx="3785870" cy="3067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dirty="0"/>
                <a:t>（</a:t>
              </a:r>
              <a:r>
                <a:rPr lang="en-US" altLang="zh-CN" sz="1400" dirty="0"/>
                <a:t>c) Vertical Profile Types</a:t>
              </a:r>
            </a:p>
          </p:txBody>
        </p:sp>
        <p:grpSp>
          <p:nvGrpSpPr>
            <p:cNvPr id="113" name="组合 112"/>
            <p:cNvGrpSpPr/>
            <p:nvPr/>
          </p:nvGrpSpPr>
          <p:grpSpPr>
            <a:xfrm>
              <a:off x="12418237" y="5416869"/>
              <a:ext cx="1139825" cy="276860"/>
              <a:chOff x="14196" y="11967"/>
              <a:chExt cx="1795" cy="436"/>
            </a:xfrm>
          </p:grpSpPr>
          <p:sp>
            <p:nvSpPr>
              <p:cNvPr id="97" name="矩形 96"/>
              <p:cNvSpPr/>
              <p:nvPr/>
            </p:nvSpPr>
            <p:spPr>
              <a:xfrm>
                <a:off x="14196" y="12061"/>
                <a:ext cx="415" cy="249"/>
              </a:xfrm>
              <a:prstGeom prst="rect">
                <a:avLst/>
              </a:prstGeom>
              <a:solidFill>
                <a:srgbClr val="7F2704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0"/>
              </a:p>
            </p:txBody>
          </p:sp>
          <p:sp>
            <p:nvSpPr>
              <p:cNvPr id="99" name="文本框 98"/>
              <p:cNvSpPr txBox="1"/>
              <p:nvPr/>
            </p:nvSpPr>
            <p:spPr>
              <a:xfrm>
                <a:off x="14556" y="11967"/>
                <a:ext cx="1435" cy="4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Bowl</a:t>
                </a:r>
              </a:p>
            </p:txBody>
          </p:sp>
        </p:grpSp>
        <p:grpSp>
          <p:nvGrpSpPr>
            <p:cNvPr id="114" name="组合 113"/>
            <p:cNvGrpSpPr/>
            <p:nvPr/>
          </p:nvGrpSpPr>
          <p:grpSpPr>
            <a:xfrm>
              <a:off x="11168557" y="5679440"/>
              <a:ext cx="1155065" cy="276860"/>
              <a:chOff x="14084" y="12365"/>
              <a:chExt cx="1819" cy="436"/>
            </a:xfrm>
          </p:grpSpPr>
          <p:sp>
            <p:nvSpPr>
              <p:cNvPr id="98" name="矩形 97"/>
              <p:cNvSpPr/>
              <p:nvPr/>
            </p:nvSpPr>
            <p:spPr>
              <a:xfrm>
                <a:off x="14084" y="12467"/>
                <a:ext cx="415" cy="249"/>
              </a:xfrm>
              <a:prstGeom prst="rect">
                <a:avLst/>
              </a:prstGeom>
              <a:solidFill>
                <a:srgbClr val="A63603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0"/>
              </a:p>
            </p:txBody>
          </p:sp>
          <p:sp>
            <p:nvSpPr>
              <p:cNvPr id="100" name="文本框 99"/>
              <p:cNvSpPr txBox="1"/>
              <p:nvPr/>
            </p:nvSpPr>
            <p:spPr>
              <a:xfrm>
                <a:off x="14468" y="12365"/>
                <a:ext cx="1435" cy="4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Crown</a:t>
                </a:r>
              </a:p>
            </p:txBody>
          </p:sp>
        </p:grpSp>
        <p:grpSp>
          <p:nvGrpSpPr>
            <p:cNvPr id="118" name="组合 117"/>
            <p:cNvGrpSpPr/>
            <p:nvPr/>
          </p:nvGrpSpPr>
          <p:grpSpPr>
            <a:xfrm>
              <a:off x="9735997" y="5435917"/>
              <a:ext cx="1135380" cy="276860"/>
              <a:chOff x="6824" y="17593"/>
              <a:chExt cx="1788" cy="436"/>
            </a:xfrm>
          </p:grpSpPr>
          <p:sp>
            <p:nvSpPr>
              <p:cNvPr id="96" name="文本框 95"/>
              <p:cNvSpPr txBox="1"/>
              <p:nvPr/>
            </p:nvSpPr>
            <p:spPr>
              <a:xfrm>
                <a:off x="7177" y="17593"/>
                <a:ext cx="1435" cy="4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Pyramid</a:t>
                </a:r>
              </a:p>
            </p:txBody>
          </p:sp>
          <p:sp>
            <p:nvSpPr>
              <p:cNvPr id="101" name="矩形 100"/>
              <p:cNvSpPr/>
              <p:nvPr/>
            </p:nvSpPr>
            <p:spPr>
              <a:xfrm>
                <a:off x="6824" y="17706"/>
                <a:ext cx="415" cy="249"/>
              </a:xfrm>
              <a:prstGeom prst="rect">
                <a:avLst/>
              </a:prstGeom>
              <a:solidFill>
                <a:srgbClr val="FEEDDE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0"/>
              </a:p>
            </p:txBody>
          </p:sp>
        </p:grpSp>
        <p:grpSp>
          <p:nvGrpSpPr>
            <p:cNvPr id="116" name="组合 115"/>
            <p:cNvGrpSpPr/>
            <p:nvPr/>
          </p:nvGrpSpPr>
          <p:grpSpPr>
            <a:xfrm>
              <a:off x="9735997" y="5699760"/>
              <a:ext cx="1491615" cy="276860"/>
              <a:chOff x="14132" y="13030"/>
              <a:chExt cx="2349" cy="436"/>
            </a:xfrm>
          </p:grpSpPr>
          <p:sp>
            <p:nvSpPr>
              <p:cNvPr id="95" name="矩形 94"/>
              <p:cNvSpPr/>
              <p:nvPr/>
            </p:nvSpPr>
            <p:spPr>
              <a:xfrm>
                <a:off x="14132" y="13124"/>
                <a:ext cx="415" cy="249"/>
              </a:xfrm>
              <a:prstGeom prst="rect">
                <a:avLst/>
              </a:prstGeom>
              <a:solidFill>
                <a:srgbClr val="FDAE6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0"/>
              </a:p>
            </p:txBody>
          </p:sp>
          <p:sp>
            <p:nvSpPr>
              <p:cNvPr id="102" name="文本框 101"/>
              <p:cNvSpPr txBox="1"/>
              <p:nvPr/>
            </p:nvSpPr>
            <p:spPr>
              <a:xfrm>
                <a:off x="14485" y="13030"/>
                <a:ext cx="1996" cy="4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Volcanic Cone</a:t>
                </a:r>
              </a:p>
            </p:txBody>
          </p:sp>
        </p:grpSp>
        <p:grpSp>
          <p:nvGrpSpPr>
            <p:cNvPr id="115" name="组合 114"/>
            <p:cNvGrpSpPr/>
            <p:nvPr/>
          </p:nvGrpSpPr>
          <p:grpSpPr>
            <a:xfrm>
              <a:off x="11168874" y="5417185"/>
              <a:ext cx="1155065" cy="276860"/>
              <a:chOff x="14132" y="12707"/>
              <a:chExt cx="1819" cy="436"/>
            </a:xfrm>
          </p:grpSpPr>
          <p:sp>
            <p:nvSpPr>
              <p:cNvPr id="109" name="矩形 108"/>
              <p:cNvSpPr/>
              <p:nvPr/>
            </p:nvSpPr>
            <p:spPr>
              <a:xfrm>
                <a:off x="14132" y="12805"/>
                <a:ext cx="415" cy="249"/>
              </a:xfrm>
              <a:prstGeom prst="rect">
                <a:avLst/>
              </a:prstGeom>
              <a:solidFill>
                <a:srgbClr val="E6550D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0"/>
              </a:p>
            </p:txBody>
          </p:sp>
          <p:sp>
            <p:nvSpPr>
              <p:cNvPr id="110" name="文本框 109"/>
              <p:cNvSpPr txBox="1"/>
              <p:nvPr/>
            </p:nvSpPr>
            <p:spPr>
              <a:xfrm>
                <a:off x="14516" y="12707"/>
                <a:ext cx="1435" cy="4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Pancake</a:t>
                </a:r>
              </a:p>
            </p:txBody>
          </p:sp>
        </p:grpSp>
        <p:pic>
          <p:nvPicPr>
            <p:cNvPr id="112" name="图片 111"/>
            <p:cNvPicPr>
              <a:picLocks noChangeAspect="1"/>
            </p:cNvPicPr>
            <p:nvPr/>
          </p:nvPicPr>
          <p:blipFill>
            <a:blip r:embed="rId6"/>
            <a:srcRect b="2438"/>
            <a:stretch>
              <a:fillRect/>
            </a:stretch>
          </p:blipFill>
          <p:spPr>
            <a:xfrm>
              <a:off x="9414052" y="2359342"/>
              <a:ext cx="4163695" cy="312610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组合 29"/>
          <p:cNvGrpSpPr/>
          <p:nvPr/>
        </p:nvGrpSpPr>
        <p:grpSpPr>
          <a:xfrm>
            <a:off x="2074082" y="2290729"/>
            <a:ext cx="8100059" cy="3899130"/>
            <a:chOff x="0" y="865"/>
            <a:chExt cx="22677" cy="10916"/>
          </a:xfrm>
        </p:grpSpPr>
        <p:sp>
          <p:nvSpPr>
            <p:cNvPr id="66" name="矩形 65"/>
            <p:cNvSpPr/>
            <p:nvPr/>
          </p:nvSpPr>
          <p:spPr>
            <a:xfrm>
              <a:off x="0" y="865"/>
              <a:ext cx="22677" cy="1080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4" name="图片 3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314" y="2846"/>
              <a:ext cx="21426" cy="7022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11231" y="-696"/>
              <a:ext cx="614" cy="205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/>
            </a:p>
          </p:txBody>
        </p:sp>
        <p:sp>
          <p:nvSpPr>
            <p:cNvPr id="7" name="矩形 6"/>
            <p:cNvSpPr/>
            <p:nvPr/>
          </p:nvSpPr>
          <p:spPr>
            <a:xfrm>
              <a:off x="181" y="2595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5" name="矩形 4"/>
            <p:cNvSpPr/>
            <p:nvPr/>
          </p:nvSpPr>
          <p:spPr>
            <a:xfrm>
              <a:off x="7428" y="2414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6" name="矩形 5"/>
            <p:cNvSpPr/>
            <p:nvPr/>
          </p:nvSpPr>
          <p:spPr>
            <a:xfrm>
              <a:off x="14693" y="2559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4785" y="1036"/>
                  <a:ext cx="12486" cy="16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575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- Height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575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57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575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5" y="1036"/>
                  <a:ext cx="12486" cy="1600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615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10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89" y="7990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-0.4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548" y="9308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5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65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473" y="255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5589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15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501" y="3840"/>
              <a:ext cx="530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4" y="5906"/>
              <a:ext cx="82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-0.2</a:t>
              </a: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1011" y="9353"/>
              <a:ext cx="792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-0.2</a:t>
              </a: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7207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-0.02</a:t>
              </a: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8934" y="9353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-0.4</a:t>
              </a:r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3786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8003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3294" y="9353"/>
              <a:ext cx="26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0</a:t>
              </a: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207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207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0.02</a:t>
              </a:r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7207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0.04</a:t>
              </a: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7207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0.06</a:t>
              </a: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8125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10</a:t>
              </a: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6058" y="936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5</a:t>
              </a: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206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20099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15</a:t>
              </a:r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4496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-0.02</a:t>
              </a: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5292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4496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4496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0.02</a:t>
              </a: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4496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0.04</a:t>
              </a: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4496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0.06</a:t>
              </a:r>
            </a:p>
          </p:txBody>
        </p:sp>
        <p:grpSp>
          <p:nvGrpSpPr>
            <p:cNvPr id="82" name="组合 81"/>
            <p:cNvGrpSpPr/>
            <p:nvPr/>
          </p:nvGrpSpPr>
          <p:grpSpPr>
            <a:xfrm>
              <a:off x="3058" y="10523"/>
              <a:ext cx="17548" cy="1258"/>
              <a:chOff x="3914" y="9142"/>
              <a:chExt cx="15555" cy="1115"/>
            </a:xfrm>
          </p:grpSpPr>
          <p:sp>
            <p:nvSpPr>
              <p:cNvPr id="33" name="文本框 32"/>
              <p:cNvSpPr txBox="1"/>
              <p:nvPr/>
            </p:nvSpPr>
            <p:spPr>
              <a:xfrm>
                <a:off x="14959" y="9142"/>
                <a:ext cx="4510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2016</a:t>
                </a:r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4589" y="9256"/>
                <a:ext cx="257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4589" y="9719"/>
                <a:ext cx="257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4959" y="9634"/>
                <a:ext cx="4510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2023</a:t>
                </a: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4299" y="9142"/>
                <a:ext cx="322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2016</a:t>
                </a:r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3914" y="9256"/>
                <a:ext cx="257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3914" y="9719"/>
                <a:ext cx="257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4299" y="9642"/>
                <a:ext cx="322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2023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8533" y="9142"/>
                <a:ext cx="5404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South&amp;South-east Asia, 2016</a:t>
                </a:r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8125" y="9256"/>
                <a:ext cx="257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8125" y="9719"/>
                <a:ext cx="257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8533" y="9629"/>
                <a:ext cx="569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>
                    <a:sym typeface="+mn-ea"/>
                  </a:rPr>
                  <a:t>South&amp;South-east Asia, 2023</a:t>
                </a:r>
              </a:p>
            </p:txBody>
          </p:sp>
        </p:grpSp>
        <p:cxnSp>
          <p:nvCxnSpPr>
            <p:cNvPr id="32" name="直接连接符 31"/>
            <p:cNvCxnSpPr/>
            <p:nvPr/>
          </p:nvCxnSpPr>
          <p:spPr>
            <a:xfrm>
              <a:off x="8440" y="7532"/>
              <a:ext cx="5925" cy="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0" name="直接连接符 49"/>
            <p:cNvCxnSpPr/>
            <p:nvPr/>
          </p:nvCxnSpPr>
          <p:spPr>
            <a:xfrm flipH="1">
              <a:off x="13410" y="3068"/>
              <a:ext cx="27" cy="6191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" name="TextBox 190"/>
            <p:cNvSpPr txBox="1"/>
            <p:nvPr/>
          </p:nvSpPr>
          <p:spPr>
            <a:xfrm>
              <a:off x="8494" y="6733"/>
              <a:ext cx="2309" cy="798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B&lt;0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sym typeface="+mn-ea"/>
                </a:rPr>
                <a:t>“Crown”City</a:t>
              </a:r>
            </a:p>
          </p:txBody>
        </p:sp>
        <p:sp>
          <p:nvSpPr>
            <p:cNvPr id="5126" name="TextBox 190"/>
            <p:cNvSpPr txBox="1"/>
            <p:nvPr/>
          </p:nvSpPr>
          <p:spPr>
            <a:xfrm>
              <a:off x="8494" y="7531"/>
              <a:ext cx="2859" cy="87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B&lt;0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sym typeface="+mn-ea"/>
                </a:rPr>
                <a:t>“Pyramid”City</a:t>
              </a:r>
            </a:p>
          </p:txBody>
        </p:sp>
        <p:cxnSp>
          <p:nvCxnSpPr>
            <p:cNvPr id="52" name="曲线连接符 51"/>
            <p:cNvCxnSpPr/>
            <p:nvPr/>
          </p:nvCxnSpPr>
          <p:spPr>
            <a:xfrm rot="5400000" flipV="1">
              <a:off x="13512" y="9267"/>
              <a:ext cx="958" cy="171"/>
            </a:xfrm>
            <a:prstGeom prst="curvedConnector3">
              <a:avLst>
                <a:gd name="adj1" fmla="val 50052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27" name="TextBox 191"/>
            <p:cNvSpPr txBox="1"/>
            <p:nvPr/>
          </p:nvSpPr>
          <p:spPr>
            <a:xfrm>
              <a:off x="13163" y="9839"/>
              <a:ext cx="2894" cy="81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B&gt;0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“Volcanic Cone” City</a:t>
              </a:r>
            </a:p>
          </p:txBody>
        </p:sp>
        <p:cxnSp>
          <p:nvCxnSpPr>
            <p:cNvPr id="53" name="曲线连接符 52"/>
            <p:cNvCxnSpPr/>
            <p:nvPr/>
          </p:nvCxnSpPr>
          <p:spPr>
            <a:xfrm rot="16200000">
              <a:off x="13764" y="2715"/>
              <a:ext cx="663" cy="622"/>
            </a:xfrm>
            <a:prstGeom prst="curved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63" name="TextBox 264"/>
            <p:cNvSpPr txBox="1"/>
            <p:nvPr/>
          </p:nvSpPr>
          <p:spPr>
            <a:xfrm>
              <a:off x="14044" y="1892"/>
              <a:ext cx="1805" cy="80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B&gt;0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“Bowl” City</a:t>
              </a:r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445605D-761A-B263-55CA-827B6E2B2490}"/>
              </a:ext>
            </a:extLst>
          </p:cNvPr>
          <p:cNvGrpSpPr/>
          <p:nvPr/>
        </p:nvGrpSpPr>
        <p:grpSpPr>
          <a:xfrm>
            <a:off x="1454120" y="7254987"/>
            <a:ext cx="8874078" cy="4445104"/>
            <a:chOff x="1589405" y="6532880"/>
            <a:chExt cx="8874078" cy="4445104"/>
          </a:xfrm>
        </p:grpSpPr>
        <p:sp>
          <p:nvSpPr>
            <p:cNvPr id="57" name="矩形 56"/>
            <p:cNvSpPr/>
            <p:nvPr/>
          </p:nvSpPr>
          <p:spPr>
            <a:xfrm>
              <a:off x="1589405" y="6532880"/>
              <a:ext cx="8705215" cy="44451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55" name="图片 54" descr="vertical_scatter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r="49890"/>
            <a:stretch>
              <a:fillRect/>
            </a:stretch>
          </p:blipFill>
          <p:spPr>
            <a:xfrm>
              <a:off x="1875097" y="7109154"/>
              <a:ext cx="3880234" cy="3045206"/>
            </a:xfrm>
            <a:prstGeom prst="rect">
              <a:avLst/>
            </a:prstGeom>
          </p:spPr>
        </p:pic>
        <p:pic>
          <p:nvPicPr>
            <p:cNvPr id="56" name="图片 55" descr="/home/liang/Documents/Research/Urban_Growth/Python_Codes/Presentations/Graphs/vertical_scatter.svgvertical_scatter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l="50134" t="35" r="-64" b="-35"/>
            <a:stretch>
              <a:fillRect/>
            </a:stretch>
          </p:blipFill>
          <p:spPr>
            <a:xfrm>
              <a:off x="6341399" y="7110222"/>
              <a:ext cx="3880234" cy="304520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本框 57"/>
                <p:cNvSpPr txBox="1"/>
                <p:nvPr/>
              </p:nvSpPr>
              <p:spPr>
                <a:xfrm>
                  <a:off x="2002782" y="6598753"/>
                  <a:ext cx="4163385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(a) Vertical Profile: Gradient B - Curvature C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400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4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400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8" name="文本框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2782" y="6598753"/>
                  <a:ext cx="4163385" cy="523220"/>
                </a:xfrm>
                <a:prstGeom prst="rect">
                  <a:avLst/>
                </a:prstGeom>
                <a:blipFill>
                  <a:blip r:embed="rId8"/>
                  <a:stretch>
                    <a:fillRect t="-2326" b="-465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本框 58"/>
                <p:cNvSpPr txBox="1"/>
                <p:nvPr/>
              </p:nvSpPr>
              <p:spPr>
                <a:xfrm>
                  <a:off x="6399468" y="6598753"/>
                  <a:ext cx="4064015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(b) Vertical Profile: Verticality A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400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4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400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9" name="文本框 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99468" y="6598753"/>
                  <a:ext cx="4064015" cy="523220"/>
                </a:xfrm>
                <a:prstGeom prst="rect">
                  <a:avLst/>
                </a:prstGeom>
                <a:blipFill>
                  <a:blip r:embed="rId9"/>
                  <a:stretch>
                    <a:fillRect t="-2326" b="-465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TextBox 190"/>
            <p:cNvSpPr txBox="1"/>
            <p:nvPr/>
          </p:nvSpPr>
          <p:spPr>
            <a:xfrm>
              <a:off x="2414152" y="7110222"/>
              <a:ext cx="1604128" cy="356877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100" b="1" dirty="0">
                  <a:latin typeface="Arial" panose="020B0604020202020204" pitchFamily="34" charset="0"/>
                  <a:sym typeface="+mn-ea"/>
                </a:rPr>
                <a:t>Crown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82 % / 86% (2016 / 2023)</a:t>
              </a:r>
            </a:p>
            <a:p>
              <a:pPr lvl="0" algn="l">
                <a:buClrTx/>
                <a:buSzTx/>
                <a:buFontTx/>
              </a:pPr>
              <a:endParaRPr lang="en-US" altLang="zh-CN" sz="1100" dirty="0">
                <a:latin typeface="Arial" panose="020B0604020202020204" pitchFamily="34" charset="0"/>
                <a:sym typeface="+mn-ea"/>
              </a:endParaRPr>
            </a:p>
          </p:txBody>
        </p:sp>
        <p:sp>
          <p:nvSpPr>
            <p:cNvPr id="81" name="矩形 80"/>
            <p:cNvSpPr/>
            <p:nvPr/>
          </p:nvSpPr>
          <p:spPr>
            <a:xfrm>
              <a:off x="1773775" y="7413245"/>
              <a:ext cx="277378" cy="21965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83" name="矩形 82"/>
            <p:cNvSpPr/>
            <p:nvPr/>
          </p:nvSpPr>
          <p:spPr>
            <a:xfrm>
              <a:off x="1774124" y="7413140"/>
              <a:ext cx="518219" cy="234908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84" name="文本框 83"/>
            <p:cNvSpPr txBox="1"/>
            <p:nvPr/>
          </p:nvSpPr>
          <p:spPr>
            <a:xfrm>
              <a:off x="1875097" y="9561880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 dirty="0"/>
                <a:t>-0.02</a:t>
              </a:r>
            </a:p>
          </p:txBody>
        </p:sp>
        <p:sp>
          <p:nvSpPr>
            <p:cNvPr id="85" name="文本框 84"/>
            <p:cNvSpPr txBox="1"/>
            <p:nvPr/>
          </p:nvSpPr>
          <p:spPr>
            <a:xfrm>
              <a:off x="1875097" y="8530784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0</a:t>
              </a:r>
            </a:p>
          </p:txBody>
        </p:sp>
        <p:sp>
          <p:nvSpPr>
            <p:cNvPr id="86" name="文本框 85"/>
            <p:cNvSpPr txBox="1"/>
            <p:nvPr/>
          </p:nvSpPr>
          <p:spPr>
            <a:xfrm>
              <a:off x="1875097" y="7529606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0.02</a:t>
              </a:r>
            </a:p>
          </p:txBody>
        </p:sp>
        <p:sp>
          <p:nvSpPr>
            <p:cNvPr id="88" name="TextBox 190"/>
            <p:cNvSpPr txBox="1"/>
            <p:nvPr/>
          </p:nvSpPr>
          <p:spPr>
            <a:xfrm>
              <a:off x="5095451" y="7109154"/>
              <a:ext cx="963866" cy="511808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1100" b="1" dirty="0">
                  <a:latin typeface="Arial" panose="020B0604020202020204" pitchFamily="34" charset="0"/>
                  <a:sym typeface="+mn-ea"/>
                </a:rPr>
                <a:t>Bowl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1 % / 1% 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(2016 / 2023)</a:t>
              </a:r>
            </a:p>
            <a:p>
              <a:pPr lvl="0" algn="r">
                <a:buClrTx/>
                <a:buSzTx/>
                <a:buFontTx/>
              </a:pPr>
              <a:endParaRPr lang="en-US" altLang="zh-CN" sz="1100" dirty="0">
                <a:latin typeface="Arial" panose="020B0604020202020204" pitchFamily="34" charset="0"/>
                <a:sym typeface="+mn-ea"/>
              </a:endParaRPr>
            </a:p>
          </p:txBody>
        </p:sp>
        <p:sp>
          <p:nvSpPr>
            <p:cNvPr id="89" name="TextBox 190"/>
            <p:cNvSpPr txBox="1"/>
            <p:nvPr/>
          </p:nvSpPr>
          <p:spPr>
            <a:xfrm>
              <a:off x="5059680" y="9383976"/>
              <a:ext cx="1106487" cy="511808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1100" b="1" dirty="0">
                  <a:latin typeface="Arial" panose="020B0604020202020204" pitchFamily="34" charset="0"/>
                  <a:sym typeface="+mn-ea"/>
                </a:rPr>
                <a:t>Volcanic Cone</a:t>
              </a:r>
            </a:p>
            <a:p>
              <a:pPr lvl="0" indent="457200" algn="r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6 % / 6% 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(2016 / 2023)</a:t>
              </a:r>
            </a:p>
            <a:p>
              <a:pPr lvl="0" algn="r">
                <a:buClrTx/>
                <a:buSzTx/>
                <a:buFontTx/>
              </a:pPr>
              <a:endParaRPr lang="en-US" altLang="zh-CN" sz="1100" dirty="0">
                <a:latin typeface="Arial" panose="020B0604020202020204" pitchFamily="34" charset="0"/>
                <a:sym typeface="+mn-ea"/>
              </a:endParaRPr>
            </a:p>
          </p:txBody>
        </p:sp>
        <p:sp>
          <p:nvSpPr>
            <p:cNvPr id="90" name="TextBox 190"/>
            <p:cNvSpPr txBox="1"/>
            <p:nvPr/>
          </p:nvSpPr>
          <p:spPr>
            <a:xfrm>
              <a:off x="2414152" y="9461442"/>
              <a:ext cx="1547178" cy="356877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100" b="1" dirty="0">
                  <a:latin typeface="Arial" panose="020B0604020202020204" pitchFamily="34" charset="0"/>
                  <a:sym typeface="+mn-ea"/>
                </a:rPr>
                <a:t>Pyramid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12 % / 8% (2016 / 2023)</a:t>
              </a:r>
            </a:p>
          </p:txBody>
        </p:sp>
        <p:sp>
          <p:nvSpPr>
            <p:cNvPr id="91" name="矩形 90"/>
            <p:cNvSpPr/>
            <p:nvPr/>
          </p:nvSpPr>
          <p:spPr>
            <a:xfrm>
              <a:off x="6357427" y="7109154"/>
              <a:ext cx="312000" cy="28480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92" name="矩形 91"/>
            <p:cNvSpPr/>
            <p:nvPr/>
          </p:nvSpPr>
          <p:spPr>
            <a:xfrm rot="5400000">
              <a:off x="3794645" y="8008825"/>
              <a:ext cx="184315" cy="40239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/>
            </a:p>
          </p:txBody>
        </p:sp>
        <p:sp>
          <p:nvSpPr>
            <p:cNvPr id="93" name="文本框 92"/>
            <p:cNvSpPr txBox="1"/>
            <p:nvPr/>
          </p:nvSpPr>
          <p:spPr>
            <a:xfrm>
              <a:off x="3097453" y="9960428"/>
              <a:ext cx="333904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400"/>
                <a:t>-0.2</a:t>
              </a:r>
            </a:p>
          </p:txBody>
        </p:sp>
        <p:sp>
          <p:nvSpPr>
            <p:cNvPr id="94" name="文本框 93"/>
            <p:cNvSpPr txBox="1"/>
            <p:nvPr/>
          </p:nvSpPr>
          <p:spPr>
            <a:xfrm>
              <a:off x="2181754" y="9960428"/>
              <a:ext cx="333904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/>
                <a:t>-0.3</a:t>
              </a:r>
            </a:p>
          </p:txBody>
        </p:sp>
        <p:sp>
          <p:nvSpPr>
            <p:cNvPr id="95" name="文本框 94"/>
            <p:cNvSpPr txBox="1"/>
            <p:nvPr/>
          </p:nvSpPr>
          <p:spPr>
            <a:xfrm>
              <a:off x="4968919" y="9960428"/>
              <a:ext cx="333904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400"/>
                <a:t>0</a:t>
              </a:r>
            </a:p>
          </p:txBody>
        </p:sp>
        <p:sp>
          <p:nvSpPr>
            <p:cNvPr id="96" name="文本框 95"/>
            <p:cNvSpPr txBox="1"/>
            <p:nvPr/>
          </p:nvSpPr>
          <p:spPr>
            <a:xfrm>
              <a:off x="3961330" y="9960428"/>
              <a:ext cx="333904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400" dirty="0"/>
                <a:t>-0.1</a:t>
              </a:r>
            </a:p>
          </p:txBody>
        </p:sp>
        <p:sp>
          <p:nvSpPr>
            <p:cNvPr id="97" name="文本框 96"/>
            <p:cNvSpPr txBox="1"/>
            <p:nvPr/>
          </p:nvSpPr>
          <p:spPr>
            <a:xfrm>
              <a:off x="6235618" y="7480455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16</a:t>
              </a:r>
            </a:p>
          </p:txBody>
        </p:sp>
        <p:sp>
          <p:nvSpPr>
            <p:cNvPr id="98" name="文本框 97"/>
            <p:cNvSpPr txBox="1"/>
            <p:nvPr/>
          </p:nvSpPr>
          <p:spPr>
            <a:xfrm>
              <a:off x="6212111" y="8220387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12</a:t>
              </a:r>
            </a:p>
          </p:txBody>
        </p:sp>
        <p:sp>
          <p:nvSpPr>
            <p:cNvPr id="99" name="文本框 98"/>
            <p:cNvSpPr txBox="1"/>
            <p:nvPr/>
          </p:nvSpPr>
          <p:spPr>
            <a:xfrm>
              <a:off x="6212111" y="8949633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8</a:t>
              </a:r>
            </a:p>
          </p:txBody>
        </p:sp>
        <p:sp>
          <p:nvSpPr>
            <p:cNvPr id="100" name="文本框 99"/>
            <p:cNvSpPr txBox="1"/>
            <p:nvPr/>
          </p:nvSpPr>
          <p:spPr>
            <a:xfrm>
              <a:off x="6212111" y="9662318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4</a:t>
              </a:r>
            </a:p>
          </p:txBody>
        </p:sp>
        <p:sp>
          <p:nvSpPr>
            <p:cNvPr id="101" name="文本框 100"/>
            <p:cNvSpPr txBox="1"/>
            <p:nvPr/>
          </p:nvSpPr>
          <p:spPr>
            <a:xfrm>
              <a:off x="6274232" y="7108931"/>
              <a:ext cx="395181" cy="12471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400" b="1" i="1" dirty="0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5567690" y="9988520"/>
              <a:ext cx="395181" cy="12471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 b="1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400" b="1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03" name="文本框 102"/>
            <p:cNvSpPr txBox="1"/>
            <p:nvPr/>
          </p:nvSpPr>
          <p:spPr>
            <a:xfrm>
              <a:off x="1952976" y="7108931"/>
              <a:ext cx="395181" cy="12471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 b="1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400" b="1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grpSp>
          <p:nvGrpSpPr>
            <p:cNvPr id="126" name="组合 125"/>
            <p:cNvGrpSpPr/>
            <p:nvPr/>
          </p:nvGrpSpPr>
          <p:grpSpPr>
            <a:xfrm>
              <a:off x="7025906" y="7135847"/>
              <a:ext cx="667185" cy="147210"/>
              <a:chOff x="12739" y="16304"/>
              <a:chExt cx="1142" cy="218"/>
            </a:xfrm>
          </p:grpSpPr>
          <p:sp>
            <p:nvSpPr>
              <p:cNvPr id="124" name="文本框 123"/>
              <p:cNvSpPr txBox="1"/>
              <p:nvPr/>
            </p:nvSpPr>
            <p:spPr>
              <a:xfrm>
                <a:off x="12739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2016</a:t>
                </a:r>
              </a:p>
            </p:txBody>
          </p:sp>
          <p:sp>
            <p:nvSpPr>
              <p:cNvPr id="125" name="文本框 124"/>
              <p:cNvSpPr txBox="1"/>
              <p:nvPr/>
            </p:nvSpPr>
            <p:spPr>
              <a:xfrm>
                <a:off x="13437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2023</a:t>
                </a:r>
              </a:p>
            </p:txBody>
          </p:sp>
        </p:grpSp>
        <p:grpSp>
          <p:nvGrpSpPr>
            <p:cNvPr id="127" name="组合 126"/>
            <p:cNvGrpSpPr/>
            <p:nvPr/>
          </p:nvGrpSpPr>
          <p:grpSpPr>
            <a:xfrm>
              <a:off x="8049598" y="7135847"/>
              <a:ext cx="737709" cy="147210"/>
              <a:chOff x="12739" y="16304"/>
              <a:chExt cx="1142" cy="218"/>
            </a:xfrm>
          </p:grpSpPr>
          <p:sp>
            <p:nvSpPr>
              <p:cNvPr id="128" name="文本框 127"/>
              <p:cNvSpPr txBox="1"/>
              <p:nvPr/>
            </p:nvSpPr>
            <p:spPr>
              <a:xfrm>
                <a:off x="12739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2016</a:t>
                </a:r>
              </a:p>
            </p:txBody>
          </p:sp>
          <p:sp>
            <p:nvSpPr>
              <p:cNvPr id="129" name="文本框 128"/>
              <p:cNvSpPr txBox="1"/>
              <p:nvPr/>
            </p:nvSpPr>
            <p:spPr>
              <a:xfrm>
                <a:off x="13437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2023</a:t>
                </a:r>
              </a:p>
            </p:txBody>
          </p:sp>
        </p:grpSp>
        <p:grpSp>
          <p:nvGrpSpPr>
            <p:cNvPr id="130" name="组合 129"/>
            <p:cNvGrpSpPr/>
            <p:nvPr/>
          </p:nvGrpSpPr>
          <p:grpSpPr>
            <a:xfrm>
              <a:off x="9082514" y="7135847"/>
              <a:ext cx="706334" cy="147210"/>
              <a:chOff x="12739" y="16304"/>
              <a:chExt cx="1142" cy="218"/>
            </a:xfrm>
          </p:grpSpPr>
          <p:sp>
            <p:nvSpPr>
              <p:cNvPr id="131" name="文本框 130"/>
              <p:cNvSpPr txBox="1"/>
              <p:nvPr/>
            </p:nvSpPr>
            <p:spPr>
              <a:xfrm>
                <a:off x="12739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2016</a:t>
                </a:r>
              </a:p>
            </p:txBody>
          </p:sp>
          <p:sp>
            <p:nvSpPr>
              <p:cNvPr id="132" name="文本框 131"/>
              <p:cNvSpPr txBox="1"/>
              <p:nvPr/>
            </p:nvSpPr>
            <p:spPr>
              <a:xfrm>
                <a:off x="13437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2023</a:t>
                </a:r>
              </a:p>
            </p:txBody>
          </p:sp>
        </p:grpSp>
        <p:grpSp>
          <p:nvGrpSpPr>
            <p:cNvPr id="61" name="组合 196">
              <a:extLst>
                <a:ext uri="{FF2B5EF4-FFF2-40B4-BE49-F238E27FC236}">
                  <a16:creationId xmlns:a16="http://schemas.microsoft.com/office/drawing/2014/main" id="{3B2282B5-C147-C190-6EA5-8A9C149F5FC3}"/>
                </a:ext>
              </a:extLst>
            </p:cNvPr>
            <p:cNvGrpSpPr/>
            <p:nvPr/>
          </p:nvGrpSpPr>
          <p:grpSpPr>
            <a:xfrm>
              <a:off x="1850787" y="10400419"/>
              <a:ext cx="4500880" cy="353060"/>
              <a:chOff x="3905" y="13468"/>
              <a:chExt cx="7088" cy="556"/>
            </a:xfrm>
          </p:grpSpPr>
          <p:grpSp>
            <p:nvGrpSpPr>
              <p:cNvPr id="62" name="组合 194">
                <a:extLst>
                  <a:ext uri="{FF2B5EF4-FFF2-40B4-BE49-F238E27FC236}">
                    <a16:creationId xmlns:a16="http://schemas.microsoft.com/office/drawing/2014/main" id="{BBFDA101-1B1C-2A37-426B-9B7E9C8ADBB5}"/>
                  </a:ext>
                </a:extLst>
              </p:cNvPr>
              <p:cNvGrpSpPr/>
              <p:nvPr/>
            </p:nvGrpSpPr>
            <p:grpSpPr>
              <a:xfrm>
                <a:off x="8921" y="13468"/>
                <a:ext cx="2073" cy="246"/>
                <a:chOff x="8921" y="13468"/>
                <a:chExt cx="2073" cy="246"/>
              </a:xfrm>
            </p:grpSpPr>
            <p:sp>
              <p:nvSpPr>
                <p:cNvPr id="80" name="文本框 171">
                  <a:extLst>
                    <a:ext uri="{FF2B5EF4-FFF2-40B4-BE49-F238E27FC236}">
                      <a16:creationId xmlns:a16="http://schemas.microsoft.com/office/drawing/2014/main" id="{776FE342-E14D-E993-BCF9-A1E667307AA3}"/>
                    </a:ext>
                  </a:extLst>
                </p:cNvPr>
                <p:cNvSpPr txBox="1"/>
                <p:nvPr/>
              </p:nvSpPr>
              <p:spPr>
                <a:xfrm>
                  <a:off x="9172" y="1346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Latin America, 2016</a:t>
                  </a:r>
                </a:p>
              </p:txBody>
            </p:sp>
            <p:sp>
              <p:nvSpPr>
                <p:cNvPr id="87" name="椭圆 172">
                  <a:extLst>
                    <a:ext uri="{FF2B5EF4-FFF2-40B4-BE49-F238E27FC236}">
                      <a16:creationId xmlns:a16="http://schemas.microsoft.com/office/drawing/2014/main" id="{B8333978-7EFE-08F1-6D31-ED641EAFFE09}"/>
                    </a:ext>
                  </a:extLst>
                </p:cNvPr>
                <p:cNvSpPr/>
                <p:nvPr/>
              </p:nvSpPr>
              <p:spPr>
                <a:xfrm>
                  <a:off x="8921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63" name="组合 195">
                <a:extLst>
                  <a:ext uri="{FF2B5EF4-FFF2-40B4-BE49-F238E27FC236}">
                    <a16:creationId xmlns:a16="http://schemas.microsoft.com/office/drawing/2014/main" id="{90F82127-F0B9-8498-67A8-55219F2E0BAE}"/>
                  </a:ext>
                </a:extLst>
              </p:cNvPr>
              <p:cNvGrpSpPr/>
              <p:nvPr/>
            </p:nvGrpSpPr>
            <p:grpSpPr>
              <a:xfrm>
                <a:off x="8921" y="13778"/>
                <a:ext cx="2073" cy="246"/>
                <a:chOff x="8921" y="13778"/>
                <a:chExt cx="2073" cy="246"/>
              </a:xfrm>
            </p:grpSpPr>
            <p:sp>
              <p:nvSpPr>
                <p:cNvPr id="78" name="椭圆 173">
                  <a:extLst>
                    <a:ext uri="{FF2B5EF4-FFF2-40B4-BE49-F238E27FC236}">
                      <a16:creationId xmlns:a16="http://schemas.microsoft.com/office/drawing/2014/main" id="{61D5434F-2825-3517-D09F-51B1FE9B6327}"/>
                    </a:ext>
                  </a:extLst>
                </p:cNvPr>
                <p:cNvSpPr/>
                <p:nvPr/>
              </p:nvSpPr>
              <p:spPr>
                <a:xfrm>
                  <a:off x="8921" y="13820"/>
                  <a:ext cx="163" cy="162"/>
                </a:xfrm>
                <a:prstGeom prst="ellipse">
                  <a:avLst/>
                </a:prstGeom>
                <a:solidFill>
                  <a:srgbClr val="47A2DE">
                    <a:alpha val="70000"/>
                  </a:srgbClr>
                </a:solidFill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9" name="文本框 174">
                  <a:extLst>
                    <a:ext uri="{FF2B5EF4-FFF2-40B4-BE49-F238E27FC236}">
                      <a16:creationId xmlns:a16="http://schemas.microsoft.com/office/drawing/2014/main" id="{F836FBE0-7925-2273-E474-6A5B98FF56FC}"/>
                    </a:ext>
                  </a:extLst>
                </p:cNvPr>
                <p:cNvSpPr txBox="1"/>
                <p:nvPr/>
              </p:nvSpPr>
              <p:spPr>
                <a:xfrm>
                  <a:off x="9172" y="1377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Latin America, 2023</a:t>
                  </a:r>
                </a:p>
              </p:txBody>
            </p:sp>
          </p:grpSp>
          <p:sp>
            <p:nvSpPr>
              <p:cNvPr id="64" name="椭圆 176">
                <a:extLst>
                  <a:ext uri="{FF2B5EF4-FFF2-40B4-BE49-F238E27FC236}">
                    <a16:creationId xmlns:a16="http://schemas.microsoft.com/office/drawing/2014/main" id="{F0367C5A-19AE-3B81-BB05-DC3D213ACA86}"/>
                  </a:ext>
                </a:extLst>
              </p:cNvPr>
              <p:cNvSpPr/>
              <p:nvPr/>
            </p:nvSpPr>
            <p:spPr>
              <a:xfrm>
                <a:off x="3905" y="13510"/>
                <a:ext cx="163" cy="162"/>
              </a:xfrm>
              <a:prstGeom prst="ellipse">
                <a:avLst/>
              </a:prstGeom>
              <a:noFill/>
              <a:ln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grpSp>
            <p:nvGrpSpPr>
              <p:cNvPr id="65" name="组合 189">
                <a:extLst>
                  <a:ext uri="{FF2B5EF4-FFF2-40B4-BE49-F238E27FC236}">
                    <a16:creationId xmlns:a16="http://schemas.microsoft.com/office/drawing/2014/main" id="{BEDFE38C-5CF7-BC81-F8A4-6C525C037693}"/>
                  </a:ext>
                </a:extLst>
              </p:cNvPr>
              <p:cNvGrpSpPr/>
              <p:nvPr/>
            </p:nvGrpSpPr>
            <p:grpSpPr>
              <a:xfrm>
                <a:off x="3905" y="13778"/>
                <a:ext cx="1336" cy="246"/>
                <a:chOff x="3905" y="13786"/>
                <a:chExt cx="1336" cy="246"/>
              </a:xfrm>
            </p:grpSpPr>
            <p:sp>
              <p:nvSpPr>
                <p:cNvPr id="76" name="椭圆 177">
                  <a:extLst>
                    <a:ext uri="{FF2B5EF4-FFF2-40B4-BE49-F238E27FC236}">
                      <a16:creationId xmlns:a16="http://schemas.microsoft.com/office/drawing/2014/main" id="{CC8D8228-6A34-5D4D-62C9-975688F71E95}"/>
                    </a:ext>
                  </a:extLst>
                </p:cNvPr>
                <p:cNvSpPr/>
                <p:nvPr/>
              </p:nvSpPr>
              <p:spPr>
                <a:xfrm>
                  <a:off x="3905" y="13828"/>
                  <a:ext cx="163" cy="162"/>
                </a:xfrm>
                <a:prstGeom prst="ellipse">
                  <a:avLst/>
                </a:prstGeom>
                <a:solidFill>
                  <a:srgbClr val="E85748">
                    <a:alpha val="70000"/>
                  </a:srgbClr>
                </a:solidFill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7" name="文本框 178">
                  <a:extLst>
                    <a:ext uri="{FF2B5EF4-FFF2-40B4-BE49-F238E27FC236}">
                      <a16:creationId xmlns:a16="http://schemas.microsoft.com/office/drawing/2014/main" id="{1C832476-83DE-AF5A-FA9F-65EC19E317F6}"/>
                    </a:ext>
                  </a:extLst>
                </p:cNvPr>
                <p:cNvSpPr txBox="1"/>
                <p:nvPr/>
              </p:nvSpPr>
              <p:spPr>
                <a:xfrm>
                  <a:off x="4149" y="13786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/>
                    <a:t>Africa, 2023</a:t>
                  </a:r>
                </a:p>
              </p:txBody>
            </p:sp>
          </p:grpSp>
          <p:grpSp>
            <p:nvGrpSpPr>
              <p:cNvPr id="67" name="组合 190">
                <a:extLst>
                  <a:ext uri="{FF2B5EF4-FFF2-40B4-BE49-F238E27FC236}">
                    <a16:creationId xmlns:a16="http://schemas.microsoft.com/office/drawing/2014/main" id="{F3A856AC-ADB9-5C8B-550B-9986D4522F48}"/>
                  </a:ext>
                </a:extLst>
              </p:cNvPr>
              <p:cNvGrpSpPr/>
              <p:nvPr/>
            </p:nvGrpSpPr>
            <p:grpSpPr>
              <a:xfrm>
                <a:off x="5650" y="13468"/>
                <a:ext cx="2918" cy="246"/>
                <a:chOff x="5650" y="13468"/>
                <a:chExt cx="2918" cy="246"/>
              </a:xfrm>
            </p:grpSpPr>
            <p:sp>
              <p:nvSpPr>
                <p:cNvPr id="74" name="文本框 179">
                  <a:extLst>
                    <a:ext uri="{FF2B5EF4-FFF2-40B4-BE49-F238E27FC236}">
                      <a16:creationId xmlns:a16="http://schemas.microsoft.com/office/drawing/2014/main" id="{4A0D40FD-92F4-BB6C-6643-2B3A984F01B1}"/>
                    </a:ext>
                  </a:extLst>
                </p:cNvPr>
                <p:cNvSpPr txBox="1"/>
                <p:nvPr/>
              </p:nvSpPr>
              <p:spPr>
                <a:xfrm>
                  <a:off x="5884" y="13468"/>
                  <a:ext cx="2684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 err="1">
                      <a:sym typeface="+mn-ea"/>
                    </a:rPr>
                    <a:t>South&amp;Southeast</a:t>
                  </a:r>
                  <a:r>
                    <a:rPr lang="en-US" altLang="zh-CN" sz="1015" dirty="0">
                      <a:sym typeface="+mn-ea"/>
                    </a:rPr>
                    <a:t> Asia, 2016</a:t>
                  </a:r>
                </a:p>
              </p:txBody>
            </p:sp>
            <p:sp>
              <p:nvSpPr>
                <p:cNvPr id="75" name="椭圆 180">
                  <a:extLst>
                    <a:ext uri="{FF2B5EF4-FFF2-40B4-BE49-F238E27FC236}">
                      <a16:creationId xmlns:a16="http://schemas.microsoft.com/office/drawing/2014/main" id="{F236C450-E8E5-036C-F75A-50EE0BA19F06}"/>
                    </a:ext>
                  </a:extLst>
                </p:cNvPr>
                <p:cNvSpPr/>
                <p:nvPr/>
              </p:nvSpPr>
              <p:spPr>
                <a:xfrm>
                  <a:off x="5650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68" name="组合 192">
                <a:extLst>
                  <a:ext uri="{FF2B5EF4-FFF2-40B4-BE49-F238E27FC236}">
                    <a16:creationId xmlns:a16="http://schemas.microsoft.com/office/drawing/2014/main" id="{7250680B-6746-0274-2EB9-8FCF489958A3}"/>
                  </a:ext>
                </a:extLst>
              </p:cNvPr>
              <p:cNvGrpSpPr/>
              <p:nvPr/>
            </p:nvGrpSpPr>
            <p:grpSpPr>
              <a:xfrm>
                <a:off x="5650" y="13778"/>
                <a:ext cx="2918" cy="246"/>
                <a:chOff x="5650" y="13778"/>
                <a:chExt cx="2918" cy="246"/>
              </a:xfrm>
            </p:grpSpPr>
            <p:sp>
              <p:nvSpPr>
                <p:cNvPr id="72" name="椭圆 181">
                  <a:extLst>
                    <a:ext uri="{FF2B5EF4-FFF2-40B4-BE49-F238E27FC236}">
                      <a16:creationId xmlns:a16="http://schemas.microsoft.com/office/drawing/2014/main" id="{FF9BF557-2DE3-9DD8-26FD-CF9A023AD402}"/>
                    </a:ext>
                  </a:extLst>
                </p:cNvPr>
                <p:cNvSpPr/>
                <p:nvPr/>
              </p:nvSpPr>
              <p:spPr>
                <a:xfrm>
                  <a:off x="5650" y="13820"/>
                  <a:ext cx="163" cy="162"/>
                </a:xfrm>
                <a:prstGeom prst="ellipse">
                  <a:avLst/>
                </a:prstGeom>
                <a:solidFill>
                  <a:srgbClr val="F39F1B">
                    <a:alpha val="70000"/>
                  </a:srgbClr>
                </a:solidFill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3" name="文本框 182">
                  <a:extLst>
                    <a:ext uri="{FF2B5EF4-FFF2-40B4-BE49-F238E27FC236}">
                      <a16:creationId xmlns:a16="http://schemas.microsoft.com/office/drawing/2014/main" id="{C9D407AC-6BA1-52FB-0364-E5E11D8A7FAE}"/>
                    </a:ext>
                  </a:extLst>
                </p:cNvPr>
                <p:cNvSpPr txBox="1"/>
                <p:nvPr/>
              </p:nvSpPr>
              <p:spPr>
                <a:xfrm>
                  <a:off x="5884" y="13778"/>
                  <a:ext cx="2684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South&amp;Southeast Asia, 2023</a:t>
                  </a:r>
                </a:p>
              </p:txBody>
            </p:sp>
          </p:grpSp>
          <p:grpSp>
            <p:nvGrpSpPr>
              <p:cNvPr id="69" name="组合 193">
                <a:extLst>
                  <a:ext uri="{FF2B5EF4-FFF2-40B4-BE49-F238E27FC236}">
                    <a16:creationId xmlns:a16="http://schemas.microsoft.com/office/drawing/2014/main" id="{35B4AA36-CDCB-99C0-DA50-D8F53882BE83}"/>
                  </a:ext>
                </a:extLst>
              </p:cNvPr>
              <p:cNvGrpSpPr/>
              <p:nvPr/>
            </p:nvGrpSpPr>
            <p:grpSpPr>
              <a:xfrm>
                <a:off x="3905" y="13468"/>
                <a:ext cx="1336" cy="246"/>
                <a:chOff x="3905" y="13468"/>
                <a:chExt cx="1336" cy="246"/>
              </a:xfrm>
            </p:grpSpPr>
            <p:sp>
              <p:nvSpPr>
                <p:cNvPr id="70" name="文本框 175">
                  <a:extLst>
                    <a:ext uri="{FF2B5EF4-FFF2-40B4-BE49-F238E27FC236}">
                      <a16:creationId xmlns:a16="http://schemas.microsoft.com/office/drawing/2014/main" id="{A0710928-809E-7578-8B1D-B0F9D0B8894E}"/>
                    </a:ext>
                  </a:extLst>
                </p:cNvPr>
                <p:cNvSpPr txBox="1"/>
                <p:nvPr/>
              </p:nvSpPr>
              <p:spPr>
                <a:xfrm>
                  <a:off x="4149" y="13468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 dirty="0"/>
                    <a:t>Africa, 2016</a:t>
                  </a:r>
                </a:p>
              </p:txBody>
            </p:sp>
            <p:sp>
              <p:nvSpPr>
                <p:cNvPr id="71" name="椭圆 187">
                  <a:extLst>
                    <a:ext uri="{FF2B5EF4-FFF2-40B4-BE49-F238E27FC236}">
                      <a16:creationId xmlns:a16="http://schemas.microsoft.com/office/drawing/2014/main" id="{ADE9957E-D1F2-DA12-C6D1-F5EE993D72CA}"/>
                    </a:ext>
                  </a:extLst>
                </p:cNvPr>
                <p:cNvSpPr/>
                <p:nvPr/>
              </p:nvSpPr>
              <p:spPr>
                <a:xfrm>
                  <a:off x="3905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</p:grpSp>
        </p:grpSp>
        <p:sp>
          <p:nvSpPr>
            <p:cNvPr id="105" name="矩形 90">
              <a:extLst>
                <a:ext uri="{FF2B5EF4-FFF2-40B4-BE49-F238E27FC236}">
                  <a16:creationId xmlns:a16="http://schemas.microsoft.com/office/drawing/2014/main" id="{4BDC5E15-0ED1-5C00-0A8D-A917B1AC5B07}"/>
                </a:ext>
              </a:extLst>
            </p:cNvPr>
            <p:cNvSpPr/>
            <p:nvPr/>
          </p:nvSpPr>
          <p:spPr>
            <a:xfrm rot="5400000">
              <a:off x="8317149" y="8579122"/>
              <a:ext cx="473301" cy="32289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104" name="文本框 95">
              <a:extLst>
                <a:ext uri="{FF2B5EF4-FFF2-40B4-BE49-F238E27FC236}">
                  <a16:creationId xmlns:a16="http://schemas.microsoft.com/office/drawing/2014/main" id="{46C2990C-DF11-FA5C-9124-BD4990486A68}"/>
                </a:ext>
              </a:extLst>
            </p:cNvPr>
            <p:cNvSpPr txBox="1"/>
            <p:nvPr/>
          </p:nvSpPr>
          <p:spPr>
            <a:xfrm>
              <a:off x="7147744" y="9956956"/>
              <a:ext cx="474770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200" dirty="0"/>
                <a:t>Africa</a:t>
              </a:r>
            </a:p>
          </p:txBody>
        </p:sp>
        <p:sp>
          <p:nvSpPr>
            <p:cNvPr id="106" name="文本框 95">
              <a:extLst>
                <a:ext uri="{FF2B5EF4-FFF2-40B4-BE49-F238E27FC236}">
                  <a16:creationId xmlns:a16="http://schemas.microsoft.com/office/drawing/2014/main" id="{B71C1990-D57B-430A-64FD-1A865DE13C95}"/>
                </a:ext>
              </a:extLst>
            </p:cNvPr>
            <p:cNvSpPr txBox="1"/>
            <p:nvPr/>
          </p:nvSpPr>
          <p:spPr>
            <a:xfrm>
              <a:off x="7797746" y="9956956"/>
              <a:ext cx="1221510" cy="4733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200" dirty="0"/>
                <a:t>South &amp; Southeast Asia</a:t>
              </a:r>
            </a:p>
          </p:txBody>
        </p:sp>
        <p:sp>
          <p:nvSpPr>
            <p:cNvPr id="107" name="文本框 95">
              <a:extLst>
                <a:ext uri="{FF2B5EF4-FFF2-40B4-BE49-F238E27FC236}">
                  <a16:creationId xmlns:a16="http://schemas.microsoft.com/office/drawing/2014/main" id="{65767339-EAB3-2FA9-5AE0-B72666528B62}"/>
                </a:ext>
              </a:extLst>
            </p:cNvPr>
            <p:cNvSpPr txBox="1"/>
            <p:nvPr/>
          </p:nvSpPr>
          <p:spPr>
            <a:xfrm>
              <a:off x="8960626" y="9956956"/>
              <a:ext cx="1035187" cy="4733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200" dirty="0"/>
                <a:t>Latin America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/>
          <p:nvPr/>
        </p:nvPicPr>
        <p:blipFill>
          <a:blip r:embed="rId2"/>
          <a:srcRect l="50166" t="71" r="-5" b="-71"/>
          <a:stretch>
            <a:fillRect/>
          </a:stretch>
        </p:blipFill>
        <p:spPr>
          <a:xfrm>
            <a:off x="7909284" y="10594660"/>
            <a:ext cx="3248311" cy="2563573"/>
          </a:xfrm>
          <a:prstGeom prst="rect">
            <a:avLst/>
          </a:prstGeom>
        </p:spPr>
      </p:pic>
      <p:pic>
        <p:nvPicPr>
          <p:cNvPr id="6" name="图片 5"/>
          <p:cNvPicPr/>
          <p:nvPr/>
        </p:nvPicPr>
        <p:blipFill>
          <a:blip r:embed="rId2"/>
          <a:srcRect r="50161"/>
          <a:stretch>
            <a:fillRect/>
          </a:stretch>
        </p:blipFill>
        <p:spPr>
          <a:xfrm>
            <a:off x="4335213" y="10603233"/>
            <a:ext cx="3248311" cy="2563573"/>
          </a:xfrm>
          <a:prstGeom prst="rect">
            <a:avLst/>
          </a:prstGeom>
        </p:spPr>
      </p:pic>
      <p:sp>
        <p:nvSpPr>
          <p:cNvPr id="66" name="矩形 65"/>
          <p:cNvSpPr/>
          <p:nvPr/>
        </p:nvSpPr>
        <p:spPr>
          <a:xfrm>
            <a:off x="3324925" y="5370690"/>
            <a:ext cx="7104564" cy="38148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 dirty="0"/>
          </a:p>
        </p:txBody>
      </p:sp>
      <p:grpSp>
        <p:nvGrpSpPr>
          <p:cNvPr id="30" name="Group 29"/>
          <p:cNvGrpSpPr/>
          <p:nvPr/>
        </p:nvGrpSpPr>
        <p:grpSpPr>
          <a:xfrm>
            <a:off x="3381362" y="5434628"/>
            <a:ext cx="7028125" cy="3652296"/>
            <a:chOff x="410845" y="911225"/>
            <a:chExt cx="12494260" cy="6492875"/>
          </a:xfrm>
        </p:grpSpPr>
        <p:grpSp>
          <p:nvGrpSpPr>
            <p:cNvPr id="64" name="组合 63"/>
            <p:cNvGrpSpPr/>
            <p:nvPr/>
          </p:nvGrpSpPr>
          <p:grpSpPr>
            <a:xfrm>
              <a:off x="410845" y="911225"/>
              <a:ext cx="12494260" cy="6492875"/>
              <a:chOff x="647" y="1435"/>
              <a:chExt cx="19676" cy="10225"/>
            </a:xfrm>
          </p:grpSpPr>
          <p:pic>
            <p:nvPicPr>
              <p:cNvPr id="11" name="图片 10"/>
              <p:cNvPicPr>
                <a:picLocks noChangeAspect="1"/>
              </p:cNvPicPr>
              <p:nvPr/>
            </p:nvPicPr>
            <p:blipFill>
              <a:blip r:embed="rId3"/>
              <a:srcRect t="1124"/>
              <a:stretch>
                <a:fillRect/>
              </a:stretch>
            </p:blipFill>
            <p:spPr>
              <a:xfrm>
                <a:off x="647" y="2767"/>
                <a:ext cx="19200" cy="7920"/>
              </a:xfrm>
              <a:prstGeom prst="rect">
                <a:avLst/>
              </a:prstGeom>
            </p:spPr>
          </p:pic>
          <p:grpSp>
            <p:nvGrpSpPr>
              <p:cNvPr id="12" name="组合 11"/>
              <p:cNvGrpSpPr/>
              <p:nvPr/>
            </p:nvGrpSpPr>
            <p:grpSpPr>
              <a:xfrm>
                <a:off x="1609" y="9777"/>
                <a:ext cx="8717" cy="993"/>
                <a:chOff x="1420" y="9835"/>
                <a:chExt cx="8717" cy="993"/>
              </a:xfrm>
            </p:grpSpPr>
            <p:sp>
              <p:nvSpPr>
                <p:cNvPr id="8" name="矩形 7"/>
                <p:cNvSpPr/>
                <p:nvPr/>
              </p:nvSpPr>
              <p:spPr>
                <a:xfrm rot="5400000">
                  <a:off x="5245" y="6010"/>
                  <a:ext cx="993" cy="86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37" name="文本框 36"/>
                <p:cNvSpPr txBox="1"/>
                <p:nvPr/>
              </p:nvSpPr>
              <p:spPr>
                <a:xfrm>
                  <a:off x="5669" y="992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0%</a:t>
                  </a:r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9094" y="9937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6%</a:t>
                  </a:r>
                </a:p>
              </p:txBody>
            </p:sp>
            <p:sp>
              <p:nvSpPr>
                <p:cNvPr id="39" name="文本框 38"/>
                <p:cNvSpPr txBox="1"/>
                <p:nvPr/>
              </p:nvSpPr>
              <p:spPr>
                <a:xfrm>
                  <a:off x="2056" y="9861"/>
                  <a:ext cx="1073" cy="58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-6%</a:t>
                  </a:r>
                </a:p>
              </p:txBody>
            </p:sp>
            <p:sp>
              <p:nvSpPr>
                <p:cNvPr id="43" name="文本框 42"/>
                <p:cNvSpPr txBox="1"/>
                <p:nvPr/>
              </p:nvSpPr>
              <p:spPr>
                <a:xfrm>
                  <a:off x="6996" y="10251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</a:t>
                  </a:r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α)</a:t>
                  </a:r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10507" y="2632"/>
                <a:ext cx="1252" cy="7156"/>
                <a:chOff x="10399" y="3051"/>
                <a:chExt cx="1252" cy="7054"/>
              </a:xfrm>
            </p:grpSpPr>
            <p:sp>
              <p:nvSpPr>
                <p:cNvPr id="14" name="矩形 13"/>
                <p:cNvSpPr/>
                <p:nvPr/>
              </p:nvSpPr>
              <p:spPr>
                <a:xfrm>
                  <a:off x="10399" y="3051"/>
                  <a:ext cx="1252" cy="705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48" name="文本框 47"/>
                <p:cNvSpPr txBox="1"/>
                <p:nvPr/>
              </p:nvSpPr>
              <p:spPr>
                <a:xfrm>
                  <a:off x="10485" y="3678"/>
                  <a:ext cx="1069" cy="44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 dirty="0"/>
                    <a:t>0.04</a:t>
                  </a:r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10740" y="6129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</a:p>
              </p:txBody>
            </p:sp>
            <p:sp>
              <p:nvSpPr>
                <p:cNvPr id="50" name="文本框 49"/>
                <p:cNvSpPr txBox="1"/>
                <p:nvPr/>
              </p:nvSpPr>
              <p:spPr>
                <a:xfrm>
                  <a:off x="10798" y="3051"/>
                  <a:ext cx="853" cy="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</a:p>
              </p:txBody>
            </p:sp>
            <p:sp>
              <p:nvSpPr>
                <p:cNvPr id="55" name="文本框 54"/>
                <p:cNvSpPr txBox="1"/>
                <p:nvPr/>
              </p:nvSpPr>
              <p:spPr>
                <a:xfrm>
                  <a:off x="10400" y="8553"/>
                  <a:ext cx="115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-0.04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933" y="1461"/>
                    <a:ext cx="9393" cy="142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Change of Horizontal Constraints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3" y="1461"/>
                    <a:ext cx="9393" cy="142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1205" b="-602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4" name="组合 23"/>
              <p:cNvGrpSpPr/>
              <p:nvPr/>
            </p:nvGrpSpPr>
            <p:grpSpPr>
              <a:xfrm>
                <a:off x="647" y="2767"/>
                <a:ext cx="1442" cy="6919"/>
                <a:chOff x="647" y="3188"/>
                <a:chExt cx="1442" cy="6919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647" y="3189"/>
                  <a:ext cx="1442" cy="6918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40" name="文本框 39"/>
                <p:cNvSpPr txBox="1"/>
                <p:nvPr/>
              </p:nvSpPr>
              <p:spPr>
                <a:xfrm>
                  <a:off x="902" y="4069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0.08</a:t>
                  </a:r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735" y="7457"/>
                  <a:ext cx="1103" cy="40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001" y="3188"/>
                  <a:ext cx="993" cy="42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902" y="9157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-0.04</a:t>
                  </a:r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902" y="5743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0.04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文本框 18"/>
                  <p:cNvSpPr txBox="1"/>
                  <p:nvPr/>
                </p:nvSpPr>
                <p:spPr>
                  <a:xfrm>
                    <a:off x="10740" y="1435"/>
                    <a:ext cx="9583" cy="142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Change of Horizontal Construction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9" name="文本框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740" y="1435"/>
                    <a:ext cx="9583" cy="14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2410" b="-602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0" name="组合 19"/>
              <p:cNvGrpSpPr/>
              <p:nvPr/>
            </p:nvGrpSpPr>
            <p:grpSpPr>
              <a:xfrm>
                <a:off x="11204" y="9686"/>
                <a:ext cx="8643" cy="1009"/>
                <a:chOff x="11000" y="9740"/>
                <a:chExt cx="8643" cy="1009"/>
              </a:xfrm>
            </p:grpSpPr>
            <p:sp>
              <p:nvSpPr>
                <p:cNvPr id="15" name="矩形 14"/>
                <p:cNvSpPr/>
                <p:nvPr/>
              </p:nvSpPr>
              <p:spPr>
                <a:xfrm rot="5400000">
                  <a:off x="14817" y="5923"/>
                  <a:ext cx="1009" cy="86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51" name="文本框 50"/>
                <p:cNvSpPr txBox="1"/>
                <p:nvPr/>
              </p:nvSpPr>
              <p:spPr>
                <a:xfrm>
                  <a:off x="16551" y="10182"/>
                  <a:ext cx="3092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</a:t>
                  </a:r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κ)</a:t>
                  </a:r>
                </a:p>
              </p:txBody>
            </p:sp>
            <p:sp>
              <p:nvSpPr>
                <p:cNvPr id="46" name="文本框 45"/>
                <p:cNvSpPr txBox="1"/>
                <p:nvPr/>
              </p:nvSpPr>
              <p:spPr>
                <a:xfrm>
                  <a:off x="18460" y="9832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125"/>
                    <a:t>6%</a:t>
                  </a:r>
                </a:p>
              </p:txBody>
            </p:sp>
            <p:sp>
              <p:nvSpPr>
                <p:cNvPr id="47" name="文本框 46"/>
                <p:cNvSpPr txBox="1"/>
                <p:nvPr/>
              </p:nvSpPr>
              <p:spPr>
                <a:xfrm>
                  <a:off x="12824" y="9832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-2%</a:t>
                  </a:r>
                </a:p>
              </p:txBody>
            </p:sp>
            <p:sp>
              <p:nvSpPr>
                <p:cNvPr id="53" name="文本框 52"/>
                <p:cNvSpPr txBox="1"/>
                <p:nvPr/>
              </p:nvSpPr>
              <p:spPr>
                <a:xfrm>
                  <a:off x="14303" y="9832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125"/>
                    <a:t>0%</a:t>
                  </a:r>
                </a:p>
              </p:txBody>
            </p:sp>
            <p:sp>
              <p:nvSpPr>
                <p:cNvPr id="10" name="文本框 9"/>
                <p:cNvSpPr txBox="1"/>
                <p:nvPr/>
              </p:nvSpPr>
              <p:spPr>
                <a:xfrm>
                  <a:off x="15796" y="9844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2%</a:t>
                  </a:r>
                </a:p>
              </p:txBody>
            </p:sp>
          </p:grpSp>
          <p:grpSp>
            <p:nvGrpSpPr>
              <p:cNvPr id="59" name="组合 58"/>
              <p:cNvGrpSpPr/>
              <p:nvPr/>
            </p:nvGrpSpPr>
            <p:grpSpPr>
              <a:xfrm>
                <a:off x="6986" y="10883"/>
                <a:ext cx="9559" cy="777"/>
                <a:chOff x="6124" y="10847"/>
                <a:chExt cx="9559" cy="777"/>
              </a:xfrm>
            </p:grpSpPr>
            <p:sp>
              <p:nvSpPr>
                <p:cNvPr id="33" name="文本框 32"/>
                <p:cNvSpPr txBox="1"/>
                <p:nvPr/>
              </p:nvSpPr>
              <p:spPr>
                <a:xfrm>
                  <a:off x="12483" y="10892"/>
                  <a:ext cx="3200" cy="6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dirty="0"/>
                    <a:t>Latin America</a:t>
                  </a: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6331" y="10928"/>
                  <a:ext cx="1658" cy="6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dirty="0"/>
                    <a:t>Africa</a:t>
                  </a:r>
                </a:p>
              </p:txBody>
            </p:sp>
            <p:sp>
              <p:nvSpPr>
                <p:cNvPr id="31" name="文本框 30"/>
                <p:cNvSpPr txBox="1"/>
                <p:nvPr/>
              </p:nvSpPr>
              <p:spPr>
                <a:xfrm>
                  <a:off x="8012" y="10915"/>
                  <a:ext cx="4471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dirty="0"/>
                    <a:t>South &amp; Southeast Asia</a:t>
                  </a:r>
                </a:p>
              </p:txBody>
            </p:sp>
            <p:sp>
              <p:nvSpPr>
                <p:cNvPr id="56" name="上箭头 55"/>
                <p:cNvSpPr/>
                <p:nvPr/>
              </p:nvSpPr>
              <p:spPr>
                <a:xfrm>
                  <a:off x="12193" y="10847"/>
                  <a:ext cx="290" cy="651"/>
                </a:xfrm>
                <a:prstGeom prst="upArrow">
                  <a:avLst>
                    <a:gd name="adj1" fmla="val 50000"/>
                    <a:gd name="adj2" fmla="val 101034"/>
                  </a:avLst>
                </a:prstGeom>
                <a:solidFill>
                  <a:srgbClr val="47A2DE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57" name="上箭头 56"/>
                <p:cNvSpPr/>
                <p:nvPr/>
              </p:nvSpPr>
              <p:spPr>
                <a:xfrm>
                  <a:off x="6124" y="10860"/>
                  <a:ext cx="290" cy="651"/>
                </a:xfrm>
                <a:prstGeom prst="upArrow">
                  <a:avLst>
                    <a:gd name="adj1" fmla="val 50000"/>
                    <a:gd name="adj2" fmla="val 93103"/>
                  </a:avLst>
                </a:prstGeom>
                <a:solidFill>
                  <a:srgbClr val="E85748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58" name="上箭头 57"/>
                <p:cNvSpPr/>
                <p:nvPr/>
              </p:nvSpPr>
              <p:spPr>
                <a:xfrm>
                  <a:off x="7810" y="10847"/>
                  <a:ext cx="290" cy="651"/>
                </a:xfrm>
                <a:prstGeom prst="upArrow">
                  <a:avLst>
                    <a:gd name="adj1" fmla="val 50000"/>
                    <a:gd name="adj2" fmla="val 108620"/>
                  </a:avLst>
                </a:prstGeom>
                <a:solidFill>
                  <a:srgbClr val="F39F1B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cxnSp>
            <p:nvCxnSpPr>
              <p:cNvPr id="60" name="直接连接符 59"/>
              <p:cNvCxnSpPr/>
              <p:nvPr/>
            </p:nvCxnSpPr>
            <p:spPr>
              <a:xfrm>
                <a:off x="2172" y="7254"/>
                <a:ext cx="7944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1" name="直接连接符 60"/>
              <p:cNvCxnSpPr/>
              <p:nvPr/>
            </p:nvCxnSpPr>
            <p:spPr>
              <a:xfrm>
                <a:off x="11827" y="5929"/>
                <a:ext cx="7944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2" name="直接连接符 61"/>
              <p:cNvCxnSpPr/>
              <p:nvPr/>
            </p:nvCxnSpPr>
            <p:spPr>
              <a:xfrm>
                <a:off x="6161" y="2821"/>
                <a:ext cx="0" cy="683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3" name="直接连接符 62"/>
              <p:cNvCxnSpPr/>
              <p:nvPr/>
            </p:nvCxnSpPr>
            <p:spPr>
              <a:xfrm>
                <a:off x="14719" y="2780"/>
                <a:ext cx="0" cy="683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sp>
          <p:nvSpPr>
            <p:cNvPr id="2" name="文本框 1"/>
            <p:cNvSpPr txBox="1"/>
            <p:nvPr/>
          </p:nvSpPr>
          <p:spPr>
            <a:xfrm>
              <a:off x="2385695" y="1859280"/>
              <a:ext cx="1438275" cy="9967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 dirty="0"/>
                <a:t>36% p(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 dirty="0"/>
                <a:t>)</a:t>
              </a:r>
              <a:r>
                <a:rPr lang="en-US" altLang="zh-CN" sz="1015" dirty="0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 dirty="0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 dirty="0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4068445" y="1859280"/>
              <a:ext cx="1438275" cy="9967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 dirty="0"/>
                <a:t>12% p(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 dirty="0"/>
                <a:t>)</a:t>
              </a:r>
              <a:r>
                <a:rPr lang="en-US" altLang="zh-CN" sz="1015" dirty="0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 dirty="0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 dirty="0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 dirty="0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4" name="文本框 3"/>
            <p:cNvSpPr txBox="1"/>
            <p:nvPr/>
          </p:nvSpPr>
          <p:spPr>
            <a:xfrm>
              <a:off x="1639570" y="5347970"/>
              <a:ext cx="1438275" cy="9967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22%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4897120" y="5347970"/>
              <a:ext cx="1438275" cy="9967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 dirty="0"/>
                <a:t>30% p(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 dirty="0"/>
                <a:t>)</a:t>
              </a:r>
              <a:r>
                <a:rPr lang="en-US" altLang="zh-CN" sz="1015" dirty="0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 dirty="0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 dirty="0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 dirty="0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7593965" y="1859280"/>
              <a:ext cx="1438275" cy="7179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 dirty="0"/>
                <a:t>8% p(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 dirty="0"/>
                <a:t>)</a:t>
              </a:r>
              <a:r>
                <a:rPr lang="en-US" altLang="zh-CN" sz="1015" dirty="0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 dirty="0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 dirty="0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593965" y="5347970"/>
              <a:ext cx="1438275" cy="7179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 dirty="0"/>
                <a:t>21% p(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 dirty="0"/>
                <a:t>)</a:t>
              </a:r>
              <a:r>
                <a:rPr lang="en-US" altLang="zh-CN" sz="1015" dirty="0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 dirty="0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 dirty="0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10901680" y="5347970"/>
              <a:ext cx="1438275" cy="7179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 dirty="0"/>
                <a:t>27% p(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 dirty="0"/>
                <a:t>)</a:t>
              </a:r>
              <a:r>
                <a:rPr lang="en-US" altLang="zh-CN" sz="1015" dirty="0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 dirty="0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 dirty="0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 dirty="0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0901680" y="1859280"/>
              <a:ext cx="1438275" cy="7179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 dirty="0"/>
                <a:t>44% p(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 dirty="0"/>
                <a:t>)</a:t>
              </a:r>
              <a:r>
                <a:rPr lang="en-US" altLang="zh-CN" sz="1015" dirty="0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 dirty="0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 dirty="0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 dirty="0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0019531" y="6341584"/>
            <a:ext cx="709385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 dirty="0">
                <a:latin typeface="Arial" panose="020B0604020202020204" pitchFamily="34" charset="0"/>
                <a:cs typeface="Arial" panose="020B0604020202020204" pitchFamily="34" charset="0"/>
              </a:rPr>
              <a:t>52% B</a:t>
            </a:r>
            <a:r>
              <a:rPr lang="en-US" altLang="zh-CN" sz="1015" dirty="0">
                <a:latin typeface="Arial" panose="020B0604020202020204" pitchFamily="34" charset="0"/>
                <a:ea typeface="东文宋体" charset="0"/>
                <a:cs typeface="Arial" panose="020B0604020202020204" pitchFamily="34" charset="0"/>
              </a:rPr>
              <a:t>↓C↑</a:t>
            </a:r>
          </a:p>
        </p:txBody>
      </p:sp>
      <p:sp>
        <p:nvSpPr>
          <p:cNvPr id="29" name="文本框 28"/>
          <p:cNvSpPr txBox="1"/>
          <p:nvPr/>
        </p:nvSpPr>
        <p:spPr>
          <a:xfrm>
            <a:off x="10208170" y="8495030"/>
            <a:ext cx="709385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 dirty="0">
                <a:latin typeface="Arial" panose="020B0604020202020204" pitchFamily="34" charset="0"/>
                <a:cs typeface="Arial" panose="020B0604020202020204" pitchFamily="34" charset="0"/>
              </a:rPr>
              <a:t>52% B</a:t>
            </a:r>
            <a:r>
              <a:rPr lang="en-US" altLang="zh-CN" sz="1015" dirty="0">
                <a:latin typeface="Arial" panose="020B0604020202020204" pitchFamily="34" charset="0"/>
                <a:ea typeface="东文宋体" charset="0"/>
                <a:cs typeface="Arial" panose="020B0604020202020204" pitchFamily="34" charset="0"/>
              </a:rPr>
              <a:t>↓C↑</a:t>
            </a:r>
          </a:p>
        </p:txBody>
      </p:sp>
      <p:grpSp>
        <p:nvGrpSpPr>
          <p:cNvPr id="30" name="组合 29"/>
          <p:cNvGrpSpPr/>
          <p:nvPr/>
        </p:nvGrpSpPr>
        <p:grpSpPr>
          <a:xfrm>
            <a:off x="10684510" y="2934970"/>
            <a:ext cx="3039110" cy="2609850"/>
            <a:chOff x="16056" y="8978"/>
            <a:chExt cx="4786" cy="4110"/>
          </a:xfrm>
        </p:grpSpPr>
        <p:pic>
          <p:nvPicPr>
            <p:cNvPr id="3" name="图片 2"/>
            <p:cNvPicPr>
              <a:picLocks noChangeAspect="1"/>
            </p:cNvPicPr>
            <p:nvPr/>
          </p:nvPicPr>
          <p:blipFill>
            <a:blip r:embed="rId2"/>
            <a:srcRect r="49995" b="10558"/>
            <a:stretch>
              <a:fillRect/>
            </a:stretch>
          </p:blipFill>
          <p:spPr>
            <a:xfrm>
              <a:off x="16206" y="9267"/>
              <a:ext cx="4233" cy="3160"/>
            </a:xfrm>
            <a:prstGeom prst="rect">
              <a:avLst/>
            </a:prstGeom>
          </p:spPr>
        </p:pic>
        <p:sp>
          <p:nvSpPr>
            <p:cNvPr id="28" name="文本框 27"/>
            <p:cNvSpPr txBox="1"/>
            <p:nvPr/>
          </p:nvSpPr>
          <p:spPr>
            <a:xfrm>
              <a:off x="20102" y="12427"/>
              <a:ext cx="74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46" name="矩形 45"/>
            <p:cNvSpPr/>
            <p:nvPr/>
          </p:nvSpPr>
          <p:spPr>
            <a:xfrm>
              <a:off x="16229" y="8978"/>
              <a:ext cx="651" cy="41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6289" y="10677"/>
              <a:ext cx="62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16056" y="11416"/>
              <a:ext cx="797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-0.005</a:t>
              </a:r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6232" y="9874"/>
              <a:ext cx="62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0.005</a:t>
              </a: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18802" y="12427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0</a:t>
              </a: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6976" y="12427"/>
              <a:ext cx="345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-2</a:t>
              </a:r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7919" y="12427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-1</a:t>
              </a:r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9686" y="12427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1</a:t>
              </a: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6318" y="9207"/>
              <a:ext cx="562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</p:grpSp>
      <p:grpSp>
        <p:nvGrpSpPr>
          <p:cNvPr id="32" name="组合 31"/>
          <p:cNvGrpSpPr/>
          <p:nvPr/>
        </p:nvGrpSpPr>
        <p:grpSpPr>
          <a:xfrm>
            <a:off x="10917555" y="5725795"/>
            <a:ext cx="2783840" cy="2247900"/>
            <a:chOff x="10016" y="12259"/>
            <a:chExt cx="4384" cy="3540"/>
          </a:xfrm>
        </p:grpSpPr>
        <p:pic>
          <p:nvPicPr>
            <p:cNvPr id="31" name="图片 30"/>
            <p:cNvPicPr>
              <a:picLocks noChangeAspect="1"/>
            </p:cNvPicPr>
            <p:nvPr/>
          </p:nvPicPr>
          <p:blipFill>
            <a:blip r:embed="rId3"/>
            <a:srcRect l="7501" r="49976" b="10904"/>
            <a:stretch>
              <a:fillRect/>
            </a:stretch>
          </p:blipFill>
          <p:spPr>
            <a:xfrm>
              <a:off x="10549" y="12339"/>
              <a:ext cx="3617" cy="3162"/>
            </a:xfrm>
            <a:prstGeom prst="rect">
              <a:avLst/>
            </a:prstGeom>
          </p:spPr>
        </p:pic>
        <p:sp>
          <p:nvSpPr>
            <p:cNvPr id="37" name="文本框 36"/>
            <p:cNvSpPr txBox="1"/>
            <p:nvPr/>
          </p:nvSpPr>
          <p:spPr>
            <a:xfrm>
              <a:off x="12455" y="15566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0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0016" y="14882"/>
              <a:ext cx="52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-0.04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0629" y="15566"/>
              <a:ext cx="345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-2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3660" y="15566"/>
              <a:ext cx="74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0137" y="12259"/>
              <a:ext cx="412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10201" y="14048"/>
              <a:ext cx="298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0071" y="13247"/>
              <a:ext cx="46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>
                  <a:ea typeface="宋体" panose="02010600030101010101" pitchFamily="2" charset="-122"/>
                </a:rPr>
                <a:t>0.04</a:t>
              </a: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11572" y="15566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-1</a:t>
              </a: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13339" y="15566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1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3735353-7EC8-8838-76D2-BB10359223F5}"/>
              </a:ext>
            </a:extLst>
          </p:cNvPr>
          <p:cNvGrpSpPr/>
          <p:nvPr/>
        </p:nvGrpSpPr>
        <p:grpSpPr>
          <a:xfrm>
            <a:off x="633095" y="5314315"/>
            <a:ext cx="7836662" cy="3791585"/>
            <a:chOff x="633095" y="5314315"/>
            <a:chExt cx="7836662" cy="3791585"/>
          </a:xfrm>
        </p:grpSpPr>
        <p:sp>
          <p:nvSpPr>
            <p:cNvPr id="66" name="矩形 65"/>
            <p:cNvSpPr/>
            <p:nvPr/>
          </p:nvSpPr>
          <p:spPr>
            <a:xfrm>
              <a:off x="651511" y="5314315"/>
              <a:ext cx="7818246" cy="3791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5C5D82E7-4A6F-8F44-126B-CBDAE6DC5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74915" y="6067302"/>
              <a:ext cx="3180716" cy="2578394"/>
            </a:xfrm>
            <a:prstGeom prst="rect">
              <a:avLst/>
            </a:prstGeom>
          </p:spPr>
        </p:pic>
        <p:sp>
          <p:nvSpPr>
            <p:cNvPr id="67" name="矩形 90">
              <a:extLst>
                <a:ext uri="{FF2B5EF4-FFF2-40B4-BE49-F238E27FC236}">
                  <a16:creationId xmlns:a16="http://schemas.microsoft.com/office/drawing/2014/main" id="{85E55FCA-3904-517E-20F1-188B53E4A164}"/>
                </a:ext>
              </a:extLst>
            </p:cNvPr>
            <p:cNvSpPr/>
            <p:nvPr/>
          </p:nvSpPr>
          <p:spPr>
            <a:xfrm rot="5400000">
              <a:off x="6618622" y="7093896"/>
              <a:ext cx="473301" cy="32289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文本框 54"/>
                <p:cNvSpPr txBox="1"/>
                <p:nvPr/>
              </p:nvSpPr>
              <p:spPr>
                <a:xfrm>
                  <a:off x="633095" y="5421327"/>
                  <a:ext cx="4459605" cy="5715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575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(a) Change of Vertical Params (B-C)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575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57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575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5" name="文本框 5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3095" y="5421327"/>
                  <a:ext cx="4459605" cy="571500"/>
                </a:xfrm>
                <a:prstGeom prst="rect">
                  <a:avLst/>
                </a:prstGeom>
                <a:blipFill>
                  <a:blip r:embed="rId5"/>
                  <a:stretch>
                    <a:fillRect t="-3191" b="-7447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AE18A5AC-554D-E23A-5539-FCF025A89B61}"/>
                </a:ext>
              </a:extLst>
            </p:cNvPr>
            <p:cNvGrpSpPr/>
            <p:nvPr/>
          </p:nvGrpSpPr>
          <p:grpSpPr>
            <a:xfrm>
              <a:off x="1136866" y="6067302"/>
              <a:ext cx="3551302" cy="2796150"/>
              <a:chOff x="1173098" y="5773420"/>
              <a:chExt cx="3551302" cy="2796150"/>
            </a:xfrm>
          </p:grpSpPr>
          <p:pic>
            <p:nvPicPr>
              <p:cNvPr id="2" name="图片 1"/>
              <p:cNvPicPr>
                <a:picLocks noChangeAspect="1"/>
              </p:cNvPicPr>
              <p:nvPr/>
            </p:nvPicPr>
            <p:blipFill>
              <a:blip r:embed="rId3"/>
              <a:srcRect l="49624"/>
              <a:stretch>
                <a:fillRect/>
              </a:stretch>
            </p:blipFill>
            <p:spPr>
              <a:xfrm>
                <a:off x="1199592" y="5809713"/>
                <a:ext cx="3127732" cy="2590507"/>
              </a:xfrm>
              <a:prstGeom prst="rect">
                <a:avLst/>
              </a:prstGeom>
            </p:spPr>
          </p:pic>
          <p:sp>
            <p:nvSpPr>
              <p:cNvPr id="8" name="矩形 7"/>
              <p:cNvSpPr/>
              <p:nvPr/>
            </p:nvSpPr>
            <p:spPr>
              <a:xfrm rot="5400000">
                <a:off x="2537141" y="6747571"/>
                <a:ext cx="452630" cy="318071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5" name="矩形 4"/>
              <p:cNvSpPr/>
              <p:nvPr/>
            </p:nvSpPr>
            <p:spPr>
              <a:xfrm>
                <a:off x="1253213" y="5773420"/>
                <a:ext cx="469900" cy="261048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sz="1125" dirty="0"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1935524" y="8103871"/>
                <a:ext cx="393700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dirty="0"/>
                  <a:t>-0.04</a:t>
                </a:r>
              </a:p>
            </p:txBody>
          </p:sp>
          <p:sp>
            <p:nvSpPr>
              <p:cNvPr id="15" name="文本框 14"/>
              <p:cNvSpPr txBox="1"/>
              <p:nvPr/>
            </p:nvSpPr>
            <p:spPr>
              <a:xfrm>
                <a:off x="3373975" y="8105141"/>
                <a:ext cx="300990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125" dirty="0"/>
                  <a:t>0.04</a:t>
                </a: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3997817" y="8103871"/>
                <a:ext cx="469900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zh-CN" altLang="en-US" sz="1350" b="1" dirty="0">
                    <a:latin typeface="+mj-lt"/>
                    <a:cs typeface="Arial" panose="020B0604020202020204" pitchFamily="34" charset="0"/>
                    <a:sym typeface="+mn-ea"/>
                  </a:rPr>
                  <a:t>Δ</a:t>
                </a:r>
                <a:r>
                  <a:rPr lang="en-US" altLang="zh-CN" sz="1350" b="1" i="1" dirty="0">
                    <a:latin typeface="+mj-lt"/>
                    <a:cs typeface="Arial" panose="020B0604020202020204" pitchFamily="34" charset="0"/>
                  </a:rPr>
                  <a:t>B</a:t>
                </a:r>
                <a:endParaRPr lang="en-US" altLang="zh-CN" sz="1350" b="1" i="1" dirty="0">
                  <a:latin typeface="+mj-lt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1377080" y="5776983"/>
                <a:ext cx="344170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zh-CN" altLang="en-US" sz="1350" b="1" dirty="0">
                    <a:latin typeface="+mj-lt"/>
                    <a:cs typeface="Arial" panose="020B0604020202020204" pitchFamily="34" charset="0"/>
                    <a:sym typeface="+mn-ea"/>
                  </a:rPr>
                  <a:t>Δ</a:t>
                </a:r>
                <a:r>
                  <a:rPr lang="en-US" altLang="zh-CN" sz="1350" b="1" i="1" dirty="0">
                    <a:latin typeface="+mj-lt"/>
                    <a:cs typeface="Arial" panose="020B0604020202020204" pitchFamily="34" charset="0"/>
                  </a:rPr>
                  <a:t>C</a:t>
                </a:r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2829961" y="8105141"/>
                <a:ext cx="94615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125" dirty="0"/>
                  <a:t>0</a:t>
                </a:r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1319252" y="6840219"/>
                <a:ext cx="393700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dirty="0"/>
                  <a:t>0</a:t>
                </a: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1206857" y="7402928"/>
                <a:ext cx="506095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 dirty="0"/>
                  <a:t>-0.005</a:t>
                </a:r>
              </a:p>
            </p:txBody>
          </p:sp>
          <p:sp>
            <p:nvSpPr>
              <p:cNvPr id="24" name="文本框 23"/>
              <p:cNvSpPr txBox="1"/>
              <p:nvPr/>
            </p:nvSpPr>
            <p:spPr>
              <a:xfrm>
                <a:off x="1319252" y="6281050"/>
                <a:ext cx="393700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 dirty="0"/>
                  <a:t>0.005</a:t>
                </a:r>
              </a:p>
            </p:txBody>
          </p:sp>
          <p:sp>
            <p:nvSpPr>
              <p:cNvPr id="56" name="文本框 55"/>
              <p:cNvSpPr txBox="1"/>
              <p:nvPr/>
            </p:nvSpPr>
            <p:spPr>
              <a:xfrm>
                <a:off x="3677007" y="8308340"/>
                <a:ext cx="1047393" cy="2485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 dirty="0"/>
                  <a:t>Latin America</a:t>
                </a:r>
              </a:p>
            </p:txBody>
          </p:sp>
          <p:sp>
            <p:nvSpPr>
              <p:cNvPr id="57" name="文本框 56"/>
              <p:cNvSpPr txBox="1"/>
              <p:nvPr/>
            </p:nvSpPr>
            <p:spPr>
              <a:xfrm>
                <a:off x="1410692" y="8321040"/>
                <a:ext cx="528003" cy="2485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 dirty="0"/>
                  <a:t>Africa</a:t>
                </a: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2011402" y="8316595"/>
                <a:ext cx="1597025" cy="2476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 dirty="0"/>
                  <a:t>South &amp; Southeast Asia</a:t>
                </a:r>
              </a:p>
            </p:txBody>
          </p:sp>
          <p:sp>
            <p:nvSpPr>
              <p:cNvPr id="59" name="上箭头 58"/>
              <p:cNvSpPr/>
              <p:nvPr/>
            </p:nvSpPr>
            <p:spPr>
              <a:xfrm>
                <a:off x="3573502" y="8291830"/>
                <a:ext cx="103505" cy="232410"/>
              </a:xfrm>
              <a:prstGeom prst="upArrow">
                <a:avLst>
                  <a:gd name="adj1" fmla="val 50000"/>
                  <a:gd name="adj2" fmla="val 101034"/>
                </a:avLst>
              </a:prstGeom>
              <a:solidFill>
                <a:srgbClr val="47A2DE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60" name="上箭头 59"/>
              <p:cNvSpPr/>
              <p:nvPr/>
            </p:nvSpPr>
            <p:spPr>
              <a:xfrm>
                <a:off x="1337032" y="8296910"/>
                <a:ext cx="103505" cy="232410"/>
              </a:xfrm>
              <a:prstGeom prst="upArrow">
                <a:avLst>
                  <a:gd name="adj1" fmla="val 50000"/>
                  <a:gd name="adj2" fmla="val 93103"/>
                </a:avLst>
              </a:prstGeom>
              <a:solidFill>
                <a:srgbClr val="E85748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sp>
            <p:nvSpPr>
              <p:cNvPr id="61" name="上箭头 60"/>
              <p:cNvSpPr/>
              <p:nvPr/>
            </p:nvSpPr>
            <p:spPr>
              <a:xfrm>
                <a:off x="1939012" y="8291830"/>
                <a:ext cx="103505" cy="232410"/>
              </a:xfrm>
              <a:prstGeom prst="upArrow">
                <a:avLst>
                  <a:gd name="adj1" fmla="val 50000"/>
                  <a:gd name="adj2" fmla="val 108620"/>
                </a:avLst>
              </a:prstGeom>
              <a:solidFill>
                <a:srgbClr val="F39F1B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cxnSp>
            <p:nvCxnSpPr>
              <p:cNvPr id="6" name="直接连接符 5"/>
              <p:cNvCxnSpPr>
                <a:cxnSpLocks/>
              </p:cNvCxnSpPr>
              <p:nvPr/>
            </p:nvCxnSpPr>
            <p:spPr>
              <a:xfrm>
                <a:off x="1755812" y="6917812"/>
                <a:ext cx="2571512" cy="0"/>
              </a:xfrm>
              <a:prstGeom prst="line">
                <a:avLst/>
              </a:prstGeom>
              <a:ln w="9525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0" name="直接连接符 9"/>
              <p:cNvCxnSpPr>
                <a:cxnSpLocks/>
              </p:cNvCxnSpPr>
              <p:nvPr/>
            </p:nvCxnSpPr>
            <p:spPr>
              <a:xfrm>
                <a:off x="2859533" y="5914734"/>
                <a:ext cx="0" cy="2189137"/>
              </a:xfrm>
              <a:prstGeom prst="line">
                <a:avLst/>
              </a:prstGeom>
              <a:ln w="9525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文本框 54">
                  <a:extLst>
                    <a:ext uri="{FF2B5EF4-FFF2-40B4-BE49-F238E27FC236}">
                      <a16:creationId xmlns:a16="http://schemas.microsoft.com/office/drawing/2014/main" id="{F92D8B7C-D249-25CF-8C22-D4867E022FE4}"/>
                    </a:ext>
                  </a:extLst>
                </p:cNvPr>
                <p:cNvSpPr txBox="1"/>
                <p:nvPr/>
              </p:nvSpPr>
              <p:spPr>
                <a:xfrm>
                  <a:off x="4572000" y="5421327"/>
                  <a:ext cx="3840480" cy="5715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575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(b) Change of Vertical Param (A)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575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57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575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35" name="文本框 54">
                  <a:extLst>
                    <a:ext uri="{FF2B5EF4-FFF2-40B4-BE49-F238E27FC236}">
                      <a16:creationId xmlns:a16="http://schemas.microsoft.com/office/drawing/2014/main" id="{F92D8B7C-D249-25CF-8C22-D4867E022F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2000" y="5421327"/>
                  <a:ext cx="3840480" cy="571500"/>
                </a:xfrm>
                <a:prstGeom prst="rect">
                  <a:avLst/>
                </a:prstGeom>
                <a:blipFill>
                  <a:blip r:embed="rId6"/>
                  <a:stretch>
                    <a:fillRect t="-3191" b="-7447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矩形 90">
              <a:extLst>
                <a:ext uri="{FF2B5EF4-FFF2-40B4-BE49-F238E27FC236}">
                  <a16:creationId xmlns:a16="http://schemas.microsoft.com/office/drawing/2014/main" id="{8EF17E9F-9CFF-9E34-260C-AD9F865A8384}"/>
                </a:ext>
              </a:extLst>
            </p:cNvPr>
            <p:cNvSpPr/>
            <p:nvPr/>
          </p:nvSpPr>
          <p:spPr>
            <a:xfrm>
              <a:off x="4873052" y="5846033"/>
              <a:ext cx="365399" cy="28480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43" name="文本框 96">
              <a:extLst>
                <a:ext uri="{FF2B5EF4-FFF2-40B4-BE49-F238E27FC236}">
                  <a16:creationId xmlns:a16="http://schemas.microsoft.com/office/drawing/2014/main" id="{B71210F4-02C1-1FA4-84C1-197DD6D35324}"/>
                </a:ext>
              </a:extLst>
            </p:cNvPr>
            <p:cNvSpPr txBox="1"/>
            <p:nvPr/>
          </p:nvSpPr>
          <p:spPr>
            <a:xfrm>
              <a:off x="4772344" y="6401962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 dirty="0"/>
                <a:t>1</a:t>
              </a:r>
            </a:p>
          </p:txBody>
        </p:sp>
        <p:sp>
          <p:nvSpPr>
            <p:cNvPr id="44" name="文本框 97">
              <a:extLst>
                <a:ext uri="{FF2B5EF4-FFF2-40B4-BE49-F238E27FC236}">
                  <a16:creationId xmlns:a16="http://schemas.microsoft.com/office/drawing/2014/main" id="{F3383067-CEE5-ABF0-2404-9F10459B31A2}"/>
                </a:ext>
              </a:extLst>
            </p:cNvPr>
            <p:cNvSpPr txBox="1"/>
            <p:nvPr/>
          </p:nvSpPr>
          <p:spPr>
            <a:xfrm>
              <a:off x="4765767" y="7009765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 dirty="0"/>
                <a:t>0</a:t>
              </a:r>
            </a:p>
          </p:txBody>
        </p:sp>
        <p:sp>
          <p:nvSpPr>
            <p:cNvPr id="45" name="文本框 98">
              <a:extLst>
                <a:ext uri="{FF2B5EF4-FFF2-40B4-BE49-F238E27FC236}">
                  <a16:creationId xmlns:a16="http://schemas.microsoft.com/office/drawing/2014/main" id="{0CA25434-D3FE-D066-110C-35170CA49DC8}"/>
                </a:ext>
              </a:extLst>
            </p:cNvPr>
            <p:cNvSpPr txBox="1"/>
            <p:nvPr/>
          </p:nvSpPr>
          <p:spPr>
            <a:xfrm>
              <a:off x="4765947" y="7595072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 dirty="0"/>
                <a:t>-1</a:t>
              </a:r>
            </a:p>
          </p:txBody>
        </p:sp>
        <p:sp>
          <p:nvSpPr>
            <p:cNvPr id="54" name="文本框 99">
              <a:extLst>
                <a:ext uri="{FF2B5EF4-FFF2-40B4-BE49-F238E27FC236}">
                  <a16:creationId xmlns:a16="http://schemas.microsoft.com/office/drawing/2014/main" id="{71F36682-AACD-3CA6-9CC3-5361B2BF0EEC}"/>
                </a:ext>
              </a:extLst>
            </p:cNvPr>
            <p:cNvSpPr txBox="1"/>
            <p:nvPr/>
          </p:nvSpPr>
          <p:spPr>
            <a:xfrm>
              <a:off x="4765947" y="8155357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 dirty="0"/>
                <a:t>-2</a:t>
              </a:r>
            </a:p>
          </p:txBody>
        </p:sp>
        <p:sp>
          <p:nvSpPr>
            <p:cNvPr id="62" name="文本框 100">
              <a:extLst>
                <a:ext uri="{FF2B5EF4-FFF2-40B4-BE49-F238E27FC236}">
                  <a16:creationId xmlns:a16="http://schemas.microsoft.com/office/drawing/2014/main" id="{478BBA7A-D828-E78C-FC0B-E942851E0E7F}"/>
                </a:ext>
              </a:extLst>
            </p:cNvPr>
            <p:cNvSpPr txBox="1"/>
            <p:nvPr/>
          </p:nvSpPr>
          <p:spPr>
            <a:xfrm>
              <a:off x="4688168" y="5845811"/>
              <a:ext cx="535081" cy="11637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ΔA(m)</a:t>
              </a:r>
              <a:endParaRPr lang="en-US" altLang="zh-CN" sz="1400" b="1" i="1" dirty="0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63" name="文本框 95">
              <a:extLst>
                <a:ext uri="{FF2B5EF4-FFF2-40B4-BE49-F238E27FC236}">
                  <a16:creationId xmlns:a16="http://schemas.microsoft.com/office/drawing/2014/main" id="{066F502D-6591-25BD-D3CE-5D8CC0E1E31B}"/>
                </a:ext>
              </a:extLst>
            </p:cNvPr>
            <p:cNvSpPr txBox="1"/>
            <p:nvPr/>
          </p:nvSpPr>
          <p:spPr>
            <a:xfrm>
              <a:off x="5485484" y="8535388"/>
              <a:ext cx="474770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200" dirty="0"/>
                <a:t>Africa</a:t>
              </a:r>
            </a:p>
          </p:txBody>
        </p:sp>
        <p:sp>
          <p:nvSpPr>
            <p:cNvPr id="64" name="文本框 95">
              <a:extLst>
                <a:ext uri="{FF2B5EF4-FFF2-40B4-BE49-F238E27FC236}">
                  <a16:creationId xmlns:a16="http://schemas.microsoft.com/office/drawing/2014/main" id="{F9A5B2B5-EA42-92FC-2C9C-42FE12849247}"/>
                </a:ext>
              </a:extLst>
            </p:cNvPr>
            <p:cNvSpPr txBox="1"/>
            <p:nvPr/>
          </p:nvSpPr>
          <p:spPr>
            <a:xfrm>
              <a:off x="6074515" y="8508675"/>
              <a:ext cx="1086611" cy="4733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200" dirty="0"/>
                <a:t>South &amp; Southeast Asia</a:t>
              </a:r>
            </a:p>
          </p:txBody>
        </p:sp>
        <p:sp>
          <p:nvSpPr>
            <p:cNvPr id="65" name="文本框 95">
              <a:extLst>
                <a:ext uri="{FF2B5EF4-FFF2-40B4-BE49-F238E27FC236}">
                  <a16:creationId xmlns:a16="http://schemas.microsoft.com/office/drawing/2014/main" id="{18EDECF9-B40F-C189-EDDB-6DA89B58ED8B}"/>
                </a:ext>
              </a:extLst>
            </p:cNvPr>
            <p:cNvSpPr txBox="1"/>
            <p:nvPr/>
          </p:nvSpPr>
          <p:spPr>
            <a:xfrm>
              <a:off x="7150065" y="8545618"/>
              <a:ext cx="981836" cy="4733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200" dirty="0"/>
                <a:t>Latin America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1F2E5F66-3A58-A8FA-D3F5-1E4FF7CBDE1A}"/>
                </a:ext>
              </a:extLst>
            </p:cNvPr>
            <p:cNvSpPr txBox="1"/>
            <p:nvPr/>
          </p:nvSpPr>
          <p:spPr>
            <a:xfrm>
              <a:off x="1659871" y="6030310"/>
              <a:ext cx="129427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" sz="1000" dirty="0"/>
                <a:t>ΔB&lt;0, ΔC&gt;0 52%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0009DF42-ADE1-E46C-898A-62DF344434C1}"/>
                </a:ext>
              </a:extLst>
            </p:cNvPr>
            <p:cNvSpPr txBox="1"/>
            <p:nvPr/>
          </p:nvSpPr>
          <p:spPr>
            <a:xfrm>
              <a:off x="2902265" y="6031561"/>
              <a:ext cx="129427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" sz="1000" dirty="0"/>
                <a:t>ΔB&gt;0, ΔC&gt;0 8%</a:t>
              </a:r>
              <a:endParaRPr lang="LID4096" sz="1000" dirty="0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3F38E65B-0BCF-5B93-7D71-38F4F2593745}"/>
                </a:ext>
              </a:extLst>
            </p:cNvPr>
            <p:cNvSpPr txBox="1"/>
            <p:nvPr/>
          </p:nvSpPr>
          <p:spPr>
            <a:xfrm>
              <a:off x="1705296" y="8088913"/>
              <a:ext cx="1375002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" sz="1000" dirty="0"/>
                <a:t>ΔB&lt;0, ΔC&lt;0 8%</a:t>
              </a:r>
              <a:endParaRPr lang="LID4096" sz="1000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E4821E9A-2DAC-6EE1-3D70-45EE512A9B80}"/>
                </a:ext>
              </a:extLst>
            </p:cNvPr>
            <p:cNvSpPr txBox="1"/>
            <p:nvPr/>
          </p:nvSpPr>
          <p:spPr>
            <a:xfrm>
              <a:off x="2808054" y="8084605"/>
              <a:ext cx="129427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" sz="1000" dirty="0"/>
                <a:t>ΔB&gt;0, ΔC&lt;0 33%</a:t>
              </a:r>
              <a:endParaRPr lang="LID4096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2" name="表格 31"/>
              <p:cNvGraphicFramePr/>
              <p:nvPr>
                <p:custDataLst>
                  <p:tags r:id="rId1"/>
                </p:custDataLst>
              </p:nvPr>
            </p:nvGraphicFramePr>
            <p:xfrm>
              <a:off x="9367822" y="3254867"/>
              <a:ext cx="1976120" cy="1372235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54292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78486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4833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1676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ΔParam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Significance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𝛼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𝛽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𝜅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𝛿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𝐴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/>
                            <a:t>not significant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>
                              <a:sym typeface="+mn-ea"/>
                            </a:rPr>
                            <a:t>not significant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2" name="表格 31"/>
              <p:cNvGraphicFramePr/>
              <p:nvPr>
                <p:custDataLst>
                  <p:tags r:id="rId3"/>
                </p:custDataLst>
              </p:nvPr>
            </p:nvGraphicFramePr>
            <p:xfrm>
              <a:off x="9367822" y="3254867"/>
              <a:ext cx="1976120" cy="1372235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542925"/>
                    <a:gridCol w="784860"/>
                    <a:gridCol w="648335"/>
                  </a:tblGrid>
                  <a:tr h="1676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ΔParam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Significance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/>
                            <a:t>not significant</a:t>
                          </a:r>
                          <a:endParaRPr lang="en-US" altLang="zh-CN" sz="79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>
                              <a:sym typeface="+mn-ea"/>
                            </a:rPr>
                            <a:t>not significant</a:t>
                          </a:r>
                          <a:endParaRPr lang="en-US" altLang="zh-CN" sz="790">
                            <a:sym typeface="+mn-ea"/>
                          </a:endParaRPr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</a:tbl>
              </a:graphicData>
            </a:graphic>
          </p:graphicFrame>
        </mc:Fallback>
      </mc:AlternateContent>
      <p:sp>
        <p:nvSpPr>
          <p:cNvPr id="3" name="文本框 2"/>
          <p:cNvSpPr txBox="1"/>
          <p:nvPr/>
        </p:nvSpPr>
        <p:spPr>
          <a:xfrm>
            <a:off x="9236780" y="2110701"/>
            <a:ext cx="1980276" cy="560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Population growth ↑ </a:t>
            </a: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→ Δα ↓, Δβ ↑, Δκ ↑, Δδ ↓</a:t>
            </a: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→ ΔB ↓, ΔC ↑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3212053" y="5136729"/>
            <a:ext cx="7917534" cy="4196658"/>
            <a:chOff x="109855" y="381635"/>
            <a:chExt cx="14075410" cy="7460615"/>
          </a:xfrm>
        </p:grpSpPr>
        <p:pic>
          <p:nvPicPr>
            <p:cNvPr id="42" name="图片 41"/>
            <p:cNvPicPr>
              <a:picLocks noChangeAspect="1"/>
            </p:cNvPicPr>
            <p:nvPr/>
          </p:nvPicPr>
          <p:blipFill>
            <a:blip r:embed="rId5"/>
            <a:srcRect l="8417" t="1057" b="7890"/>
            <a:stretch>
              <a:fillRect/>
            </a:stretch>
          </p:blipFill>
          <p:spPr>
            <a:xfrm>
              <a:off x="10466705" y="381635"/>
              <a:ext cx="3247390" cy="3282950"/>
            </a:xfrm>
            <a:prstGeom prst="rect">
              <a:avLst/>
            </a:prstGeom>
          </p:spPr>
        </p:pic>
        <p:grpSp>
          <p:nvGrpSpPr>
            <p:cNvPr id="39" name="组合 38"/>
            <p:cNvGrpSpPr/>
            <p:nvPr/>
          </p:nvGrpSpPr>
          <p:grpSpPr>
            <a:xfrm>
              <a:off x="109855" y="381635"/>
              <a:ext cx="14075410" cy="7460615"/>
              <a:chOff x="173" y="601"/>
              <a:chExt cx="22166" cy="11749"/>
            </a:xfrm>
          </p:grpSpPr>
          <p:pic>
            <p:nvPicPr>
              <p:cNvPr id="5" name="图片 4"/>
              <p:cNvPicPr/>
              <p:nvPr/>
            </p:nvPicPr>
            <p:blipFill>
              <a:blip r:embed="rId6"/>
              <a:srcRect l="1918" t="1292" r="75749" b="52389"/>
              <a:stretch>
                <a:fillRect/>
              </a:stretch>
            </p:blipFill>
            <p:spPr>
              <a:xfrm>
                <a:off x="173" y="641"/>
                <a:ext cx="5042" cy="5197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732" y="70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2" y="701"/>
                    <a:ext cx="1199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4" name="图片 13"/>
              <p:cNvPicPr/>
              <p:nvPr/>
            </p:nvPicPr>
            <p:blipFill>
              <a:blip r:embed="rId6"/>
              <a:srcRect l="27028" t="1292" r="50577" b="52389"/>
              <a:stretch>
                <a:fillRect/>
              </a:stretch>
            </p:blipFill>
            <p:spPr>
              <a:xfrm>
                <a:off x="5515" y="641"/>
                <a:ext cx="5056" cy="5197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6025" y="64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25" y="64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6" name="图片 15"/>
              <p:cNvPicPr/>
              <p:nvPr/>
            </p:nvPicPr>
            <p:blipFill>
              <a:blip r:embed="rId6"/>
              <a:srcRect l="52342" t="811" r="25263" b="52513"/>
              <a:stretch>
                <a:fillRect/>
              </a:stretch>
            </p:blipFill>
            <p:spPr>
              <a:xfrm>
                <a:off x="10999" y="601"/>
                <a:ext cx="5056" cy="5237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11484" y="64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2" name="文本框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84" y="641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本框 22"/>
                  <p:cNvSpPr txBox="1"/>
                  <p:nvPr/>
                </p:nvSpPr>
                <p:spPr>
                  <a:xfrm>
                    <a:off x="17039" y="635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3" name="文本框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039" y="635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文本框 26"/>
              <p:cNvSpPr txBox="1"/>
              <p:nvPr/>
            </p:nvSpPr>
            <p:spPr>
              <a:xfrm>
                <a:off x="550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5946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11342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</a:p>
            </p:txBody>
          </p:sp>
          <p:sp>
            <p:nvSpPr>
              <p:cNvPr id="31" name="文本框 30"/>
              <p:cNvSpPr txBox="1"/>
              <p:nvPr/>
            </p:nvSpPr>
            <p:spPr>
              <a:xfrm>
                <a:off x="16945" y="5681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6432" y="10351"/>
                <a:ext cx="5907" cy="1999"/>
                <a:chOff x="16736" y="6695"/>
                <a:chExt cx="5907" cy="1999"/>
              </a:xfrm>
            </p:grpSpPr>
            <p:sp>
              <p:nvSpPr>
                <p:cNvPr id="35" name="椭圆 34"/>
                <p:cNvSpPr/>
                <p:nvPr/>
              </p:nvSpPr>
              <p:spPr>
                <a:xfrm>
                  <a:off x="16736" y="8135"/>
                  <a:ext cx="257" cy="255"/>
                </a:xfrm>
                <a:prstGeom prst="ellipse">
                  <a:avLst/>
                </a:prstGeom>
                <a:solidFill>
                  <a:srgbClr val="47A2DE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17013" y="7953"/>
                  <a:ext cx="3168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Latin America</a:t>
                  </a:r>
                </a:p>
              </p:txBody>
            </p:sp>
            <p:sp>
              <p:nvSpPr>
                <p:cNvPr id="44" name="椭圆 43"/>
                <p:cNvSpPr/>
                <p:nvPr/>
              </p:nvSpPr>
              <p:spPr>
                <a:xfrm>
                  <a:off x="16736" y="6868"/>
                  <a:ext cx="257" cy="255"/>
                </a:xfrm>
                <a:prstGeom prst="ellipse">
                  <a:avLst/>
                </a:prstGeom>
                <a:solidFill>
                  <a:srgbClr val="E85748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17013" y="6695"/>
                  <a:ext cx="322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Africa</a:t>
                  </a:r>
                </a:p>
              </p:txBody>
            </p:sp>
            <p:sp>
              <p:nvSpPr>
                <p:cNvPr id="48" name="椭圆 47"/>
                <p:cNvSpPr/>
                <p:nvPr/>
              </p:nvSpPr>
              <p:spPr>
                <a:xfrm>
                  <a:off x="16736" y="7510"/>
                  <a:ext cx="257" cy="255"/>
                </a:xfrm>
                <a:prstGeom prst="ellipse">
                  <a:avLst/>
                </a:prstGeom>
                <a:solidFill>
                  <a:srgbClr val="F39F1B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17013" y="7324"/>
                  <a:ext cx="5630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>
                      <a:sym typeface="+mn-ea"/>
                    </a:rPr>
                    <a:t>South &amp; South-east Asia</a:t>
                  </a:r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245" y="6378"/>
                <a:ext cx="15881" cy="5951"/>
                <a:chOff x="503" y="6892"/>
                <a:chExt cx="15881" cy="5951"/>
              </a:xfrm>
            </p:grpSpPr>
            <p:grpSp>
              <p:nvGrpSpPr>
                <p:cNvPr id="2" name="组合 1"/>
                <p:cNvGrpSpPr/>
                <p:nvPr/>
              </p:nvGrpSpPr>
              <p:grpSpPr>
                <a:xfrm>
                  <a:off x="503" y="6892"/>
                  <a:ext cx="15881" cy="5230"/>
                  <a:chOff x="433" y="6578"/>
                  <a:chExt cx="15881" cy="5230"/>
                </a:xfrm>
              </p:grpSpPr>
              <p:pic>
                <p:nvPicPr>
                  <p:cNvPr id="18" name="图片 17"/>
                  <p:cNvPicPr/>
                  <p:nvPr/>
                </p:nvPicPr>
                <p:blipFill>
                  <a:blip r:embed="rId6"/>
                  <a:srcRect l="1917" t="50579" r="75927" b="3155"/>
                  <a:stretch>
                    <a:fillRect/>
                  </a:stretch>
                </p:blipFill>
                <p:spPr>
                  <a:xfrm>
                    <a:off x="433" y="6597"/>
                    <a:ext cx="5002" cy="5191"/>
                  </a:xfrm>
                  <a:prstGeom prst="rect">
                    <a:avLst/>
                  </a:prstGeom>
                </p:spPr>
              </p:pic>
              <p:pic>
                <p:nvPicPr>
                  <p:cNvPr id="19" name="图片 18"/>
                  <p:cNvPicPr/>
                  <p:nvPr/>
                </p:nvPicPr>
                <p:blipFill>
                  <a:blip r:embed="rId6"/>
                  <a:srcRect l="27196" t="50579" r="50688" b="2977"/>
                  <a:stretch>
                    <a:fillRect/>
                  </a:stretch>
                </p:blipFill>
                <p:spPr>
                  <a:xfrm>
                    <a:off x="5768" y="6598"/>
                    <a:ext cx="4993" cy="5211"/>
                  </a:xfrm>
                  <a:prstGeom prst="rect">
                    <a:avLst/>
                  </a:prstGeom>
                </p:spPr>
              </p:pic>
              <p:pic>
                <p:nvPicPr>
                  <p:cNvPr id="20" name="图片 19"/>
                  <p:cNvPicPr/>
                  <p:nvPr/>
                </p:nvPicPr>
                <p:blipFill>
                  <a:blip r:embed="rId6"/>
                  <a:srcRect l="50916" t="50579" r="25356" b="2977"/>
                  <a:stretch>
                    <a:fillRect/>
                  </a:stretch>
                </p:blipFill>
                <p:spPr>
                  <a:xfrm>
                    <a:off x="10958" y="6578"/>
                    <a:ext cx="5357" cy="5211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4" name="文本框 23"/>
                      <p:cNvSpPr txBox="1"/>
                      <p:nvPr/>
                    </p:nvSpPr>
                    <p:spPr>
                      <a:xfrm>
                        <a:off x="810" y="659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𝐴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4" name="文本框 23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0" y="659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1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5" name="文本框 24"/>
                      <p:cNvSpPr txBox="1"/>
                      <p:nvPr/>
                    </p:nvSpPr>
                    <p:spPr>
                      <a:xfrm>
                        <a:off x="6109" y="662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𝐵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5" name="文本框 24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109" y="662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2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6" name="文本框 25"/>
                      <p:cNvSpPr txBox="1"/>
                      <p:nvPr/>
                    </p:nvSpPr>
                    <p:spPr>
                      <a:xfrm>
                        <a:off x="11744" y="662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𝐶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6" name="文本框 25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1744" y="662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3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4" name="文本框 3"/>
                <p:cNvSpPr txBox="1"/>
                <p:nvPr/>
              </p:nvSpPr>
              <p:spPr>
                <a:xfrm>
                  <a:off x="810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6206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11602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</a:p>
              </p:txBody>
            </p:sp>
          </p:grpSp>
          <p:pic>
            <p:nvPicPr>
              <p:cNvPr id="37" name="图片 36"/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6389" y="6417"/>
                <a:ext cx="5535" cy="3825"/>
              </a:xfrm>
              <a:prstGeom prst="rect">
                <a:avLst/>
              </a:prstGeom>
            </p:spPr>
          </p:pic>
        </p:grpSp>
      </p:grpSp>
      <p:grpSp>
        <p:nvGrpSpPr>
          <p:cNvPr id="33" name="组合 32"/>
          <p:cNvGrpSpPr/>
          <p:nvPr/>
        </p:nvGrpSpPr>
        <p:grpSpPr>
          <a:xfrm>
            <a:off x="1189538" y="1749196"/>
            <a:ext cx="7346026" cy="2647155"/>
            <a:chOff x="992" y="61"/>
            <a:chExt cx="20566" cy="7411"/>
          </a:xfrm>
        </p:grpSpPr>
        <p:sp>
          <p:nvSpPr>
            <p:cNvPr id="6" name="文本框 5"/>
            <p:cNvSpPr txBox="1"/>
            <p:nvPr/>
          </p:nvSpPr>
          <p:spPr>
            <a:xfrm>
              <a:off x="992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15" b="1" i="1"/>
                <a:t>Strong Significance ***</a:t>
              </a: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6285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11744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7203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992" y="6333"/>
              <a:ext cx="4355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Not Significant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6264" y="634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1744" y="6333"/>
              <a:ext cx="4355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Significance *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组合 30"/>
          <p:cNvGrpSpPr/>
          <p:nvPr/>
        </p:nvGrpSpPr>
        <p:grpSpPr>
          <a:xfrm>
            <a:off x="3311352" y="5368547"/>
            <a:ext cx="7523908" cy="3687658"/>
            <a:chOff x="451" y="1250"/>
            <a:chExt cx="21064" cy="10324"/>
          </a:xfrm>
        </p:grpSpPr>
        <p:pic>
          <p:nvPicPr>
            <p:cNvPr id="30" name="图片 29"/>
            <p:cNvPicPr/>
            <p:nvPr/>
          </p:nvPicPr>
          <p:blipFill>
            <a:blip r:embed="rId2"/>
            <a:srcRect t="4937"/>
            <a:stretch>
              <a:fillRect/>
            </a:stretch>
          </p:blipFill>
          <p:spPr>
            <a:xfrm>
              <a:off x="11468" y="2755"/>
              <a:ext cx="8035" cy="7953"/>
            </a:xfrm>
            <a:prstGeom prst="rect">
              <a:avLst/>
            </a:prstGeom>
          </p:spPr>
        </p:pic>
        <p:pic>
          <p:nvPicPr>
            <p:cNvPr id="29" name="图片 28"/>
            <p:cNvPicPr/>
            <p:nvPr/>
          </p:nvPicPr>
          <p:blipFill>
            <a:blip r:embed="rId3"/>
            <a:srcRect t="4937"/>
            <a:stretch>
              <a:fillRect/>
            </a:stretch>
          </p:blipFill>
          <p:spPr>
            <a:xfrm>
              <a:off x="1160" y="2755"/>
              <a:ext cx="8035" cy="7953"/>
            </a:xfrm>
            <a:prstGeom prst="rect">
              <a:avLst/>
            </a:prstGeom>
          </p:spPr>
        </p:pic>
        <p:grpSp>
          <p:nvGrpSpPr>
            <p:cNvPr id="28" name="组合 27"/>
            <p:cNvGrpSpPr/>
            <p:nvPr/>
          </p:nvGrpSpPr>
          <p:grpSpPr>
            <a:xfrm>
              <a:off x="451" y="1250"/>
              <a:ext cx="21065" cy="10324"/>
              <a:chOff x="655" y="941"/>
              <a:chExt cx="21065" cy="10324"/>
            </a:xfrm>
          </p:grpSpPr>
          <p:grpSp>
            <p:nvGrpSpPr>
              <p:cNvPr id="11" name="组合 10"/>
              <p:cNvGrpSpPr/>
              <p:nvPr/>
            </p:nvGrpSpPr>
            <p:grpSpPr>
              <a:xfrm>
                <a:off x="655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文本框 12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文本框 1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文本框 14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5" name="文本框 14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文本框 21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2" name="文本框 2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文本框 22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3" name="文本框 2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" name="文本框 6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7" name="文本框 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" name="文本框 7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8" name="文本框 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文本框 8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9" name="文本框 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10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组合 13"/>
              <p:cNvGrpSpPr/>
              <p:nvPr/>
            </p:nvGrpSpPr>
            <p:grpSpPr>
              <a:xfrm>
                <a:off x="11022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文本框 15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6" name="文本框 1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11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文本框 16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7" name="文本框 1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文本框 17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8" name="文本框 1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文本框 18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9" name="文本框 1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0" name="文本框 19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0" name="文本框 1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文本框 20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1" name="文本框 2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文本框 23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4" name="文本框 2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10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文本框 24"/>
              <p:cNvSpPr txBox="1"/>
              <p:nvPr/>
            </p:nvSpPr>
            <p:spPr>
              <a:xfrm>
                <a:off x="3947" y="941"/>
                <a:ext cx="2060" cy="9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575"/>
                  <a:t>2016</a:t>
                </a:r>
              </a:p>
            </p:txBody>
          </p:sp>
          <p:sp>
            <p:nvSpPr>
              <p:cNvPr id="26" name="文本框 25"/>
              <p:cNvSpPr txBox="1"/>
              <p:nvPr/>
            </p:nvSpPr>
            <p:spPr>
              <a:xfrm>
                <a:off x="15261" y="962"/>
                <a:ext cx="2583" cy="9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575"/>
                  <a:t>2023</a:t>
                </a:r>
              </a:p>
            </p:txBody>
          </p:sp>
          <p:grpSp>
            <p:nvGrpSpPr>
              <p:cNvPr id="27" name="组合 26"/>
              <p:cNvGrpSpPr/>
              <p:nvPr/>
            </p:nvGrpSpPr>
            <p:grpSpPr>
              <a:xfrm>
                <a:off x="8849" y="9109"/>
                <a:ext cx="5633" cy="1999"/>
                <a:chOff x="9225" y="1246"/>
                <a:chExt cx="5633" cy="1999"/>
              </a:xfrm>
            </p:grpSpPr>
            <p:sp>
              <p:nvSpPr>
                <p:cNvPr id="35" name="圆角矩形 34"/>
                <p:cNvSpPr/>
                <p:nvPr/>
              </p:nvSpPr>
              <p:spPr>
                <a:xfrm>
                  <a:off x="9225" y="2686"/>
                  <a:ext cx="530" cy="338"/>
                </a:xfrm>
                <a:prstGeom prst="roundRect">
                  <a:avLst/>
                </a:prstGeom>
                <a:solidFill>
                  <a:srgbClr val="47A2DE">
                    <a:alpha val="20000"/>
                  </a:srgbClr>
                </a:solidFill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9775" y="2504"/>
                  <a:ext cx="3168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Latin America</a:t>
                  </a:r>
                </a:p>
              </p:txBody>
            </p:sp>
            <p:sp>
              <p:nvSpPr>
                <p:cNvPr id="44" name="圆角矩形 43"/>
                <p:cNvSpPr/>
                <p:nvPr/>
              </p:nvSpPr>
              <p:spPr>
                <a:xfrm>
                  <a:off x="9225" y="1419"/>
                  <a:ext cx="530" cy="338"/>
                </a:xfrm>
                <a:prstGeom prst="roundRect">
                  <a:avLst/>
                </a:prstGeom>
                <a:solidFill>
                  <a:srgbClr val="E85748">
                    <a:alpha val="20000"/>
                  </a:srgbClr>
                </a:solidFill>
                <a:ln w="38100"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9775" y="1246"/>
                  <a:ext cx="322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Africa</a:t>
                  </a:r>
                </a:p>
              </p:txBody>
            </p:sp>
            <p:sp>
              <p:nvSpPr>
                <p:cNvPr id="48" name="圆角矩形 47"/>
                <p:cNvSpPr/>
                <p:nvPr/>
              </p:nvSpPr>
              <p:spPr>
                <a:xfrm>
                  <a:off x="9225" y="2061"/>
                  <a:ext cx="530" cy="338"/>
                </a:xfrm>
                <a:prstGeom prst="roundRect">
                  <a:avLst/>
                </a:prstGeom>
                <a:solidFill>
                  <a:srgbClr val="F39F1B">
                    <a:alpha val="20000"/>
                  </a:srgbClr>
                </a:solidFill>
                <a:ln w="38100"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9774" y="1875"/>
                  <a:ext cx="5084" cy="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1125">
                      <a:sym typeface="+mn-ea"/>
                    </a:rPr>
                    <a:t>South &amp; South-east Asia</a:t>
                  </a:r>
                </a:p>
              </p:txBody>
            </p:sp>
          </p:grpSp>
        </p:grpSp>
      </p:grp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65">
            <a:extLst>
              <a:ext uri="{FF2B5EF4-FFF2-40B4-BE49-F238E27FC236}">
                <a16:creationId xmlns:a16="http://schemas.microsoft.com/office/drawing/2014/main" id="{FC6C2096-2BCF-1450-0878-6CF17EA9FF1D}"/>
              </a:ext>
            </a:extLst>
          </p:cNvPr>
          <p:cNvSpPr/>
          <p:nvPr/>
        </p:nvSpPr>
        <p:spPr>
          <a:xfrm>
            <a:off x="3101341" y="5580063"/>
            <a:ext cx="8168640" cy="30126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grpSp>
        <p:nvGrpSpPr>
          <p:cNvPr id="5" name="组合 4"/>
          <p:cNvGrpSpPr/>
          <p:nvPr/>
        </p:nvGrpSpPr>
        <p:grpSpPr>
          <a:xfrm>
            <a:off x="3187065" y="5614035"/>
            <a:ext cx="8021955" cy="2886075"/>
            <a:chOff x="5019" y="8841"/>
            <a:chExt cx="12633" cy="4545"/>
          </a:xfrm>
        </p:grpSpPr>
        <p:pic>
          <p:nvPicPr>
            <p:cNvPr id="56" name="图片 55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13616" y="9454"/>
              <a:ext cx="3234" cy="3241"/>
            </a:xfrm>
            <a:prstGeom prst="rect">
              <a:avLst/>
            </a:prstGeom>
          </p:spPr>
        </p:pic>
        <p:pic>
          <p:nvPicPr>
            <p:cNvPr id="54" name="图片 53"/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9425" y="9454"/>
              <a:ext cx="3234" cy="3241"/>
            </a:xfrm>
            <a:prstGeom prst="rect">
              <a:avLst/>
            </a:prstGeom>
          </p:spPr>
        </p:pic>
        <p:pic>
          <p:nvPicPr>
            <p:cNvPr id="51" name="图片 50"/>
            <p:cNvPicPr/>
            <p:nvPr/>
          </p:nvPicPr>
          <p:blipFill>
            <a:blip r:embed="rId4"/>
            <a:stretch>
              <a:fillRect/>
            </a:stretch>
          </p:blipFill>
          <p:spPr>
            <a:xfrm>
              <a:off x="5293" y="9454"/>
              <a:ext cx="3234" cy="3241"/>
            </a:xfrm>
            <a:prstGeom prst="rect">
              <a:avLst/>
            </a:prstGeom>
          </p:spPr>
        </p:pic>
        <p:grpSp>
          <p:nvGrpSpPr>
            <p:cNvPr id="11" name="组合 10"/>
            <p:cNvGrpSpPr/>
            <p:nvPr/>
          </p:nvGrpSpPr>
          <p:grpSpPr>
            <a:xfrm>
              <a:off x="5019" y="9179"/>
              <a:ext cx="4305" cy="3863"/>
              <a:chOff x="655" y="1665"/>
              <a:chExt cx="10698" cy="96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3496" y="1665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2" name="文本框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665"/>
                    <a:ext cx="2510" cy="100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1905"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本框 22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3" name="文本框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文本框 6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7" name="文本框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文本框 7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8" name="文本框 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文本框 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9" name="文本框 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4" name="组合 13"/>
            <p:cNvGrpSpPr/>
            <p:nvPr/>
          </p:nvGrpSpPr>
          <p:grpSpPr>
            <a:xfrm>
              <a:off x="9191" y="9179"/>
              <a:ext cx="4305" cy="3863"/>
              <a:chOff x="655" y="1665"/>
              <a:chExt cx="10698" cy="96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文本框 15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6" name="文本框 1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文本框 16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7" name="文本框 1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文本框 17"/>
                  <p:cNvSpPr txBox="1"/>
                  <p:nvPr/>
                </p:nvSpPr>
                <p:spPr>
                  <a:xfrm>
                    <a:off x="3496" y="1665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8" name="文本框 1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665"/>
                    <a:ext cx="2510" cy="100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1887"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文本框 18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9" name="文本框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1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文本框 19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0" name="文本框 1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文本框 20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1" name="文本框 2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文本框 23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4" name="文本框 2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" name="文本框 24"/>
            <p:cNvSpPr txBox="1"/>
            <p:nvPr/>
          </p:nvSpPr>
          <p:spPr>
            <a:xfrm>
              <a:off x="6353" y="8841"/>
              <a:ext cx="1115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E85748"/>
                  </a:solidFill>
                </a:rPr>
                <a:t>Africa</a:t>
              </a: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9161" y="8841"/>
              <a:ext cx="3979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F39F1B"/>
                  </a:solidFill>
                </a:rPr>
                <a:t>South &amp; Southeast Asia</a:t>
              </a:r>
            </a:p>
          </p:txBody>
        </p:sp>
        <p:grpSp>
          <p:nvGrpSpPr>
            <p:cNvPr id="10" name="组合 9"/>
            <p:cNvGrpSpPr/>
            <p:nvPr/>
          </p:nvGrpSpPr>
          <p:grpSpPr>
            <a:xfrm>
              <a:off x="13347" y="9179"/>
              <a:ext cx="4305" cy="3872"/>
              <a:chOff x="655" y="1643"/>
              <a:chExt cx="10698" cy="962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文本框 11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2" name="文本框 1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1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文本框 31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2" name="文本框 3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文本框 32"/>
                  <p:cNvSpPr txBox="1"/>
                  <p:nvPr/>
                </p:nvSpPr>
                <p:spPr>
                  <a:xfrm>
                    <a:off x="3496" y="164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3" name="文本框 3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643"/>
                    <a:ext cx="2510" cy="100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1887"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文本框 33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4" name="文本框 3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文本框 36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7" name="文本框 3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文本框 3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9" name="文本框 3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2" name="文本框 51"/>
            <p:cNvSpPr txBox="1"/>
            <p:nvPr/>
          </p:nvSpPr>
          <p:spPr>
            <a:xfrm>
              <a:off x="13398" y="8841"/>
              <a:ext cx="3854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47A2DE"/>
                  </a:solidFill>
                </a:rPr>
                <a:t>Latin America</a:t>
              </a: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9955" y="12969"/>
              <a:ext cx="888" cy="41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sz="1125">
                  <a:sym typeface="+mn-ea"/>
                </a:rPr>
                <a:t>2016</a:t>
              </a:r>
            </a:p>
          </p:txBody>
        </p:sp>
        <p:grpSp>
          <p:nvGrpSpPr>
            <p:cNvPr id="31" name="组合 30"/>
            <p:cNvGrpSpPr/>
            <p:nvPr/>
          </p:nvGrpSpPr>
          <p:grpSpPr>
            <a:xfrm>
              <a:off x="8866" y="13072"/>
              <a:ext cx="1059" cy="212"/>
              <a:chOff x="6153" y="11442"/>
              <a:chExt cx="1740" cy="348"/>
            </a:xfrm>
          </p:grpSpPr>
          <p:sp>
            <p:nvSpPr>
              <p:cNvPr id="4" name="圆角矩形 3"/>
              <p:cNvSpPr/>
              <p:nvPr/>
            </p:nvSpPr>
            <p:spPr>
              <a:xfrm>
                <a:off x="6153" y="11442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19050"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29" name="圆角矩形 28"/>
              <p:cNvSpPr/>
              <p:nvPr/>
            </p:nvSpPr>
            <p:spPr>
              <a:xfrm>
                <a:off x="6761" y="11442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19050">
                <a:solidFill>
                  <a:srgbClr val="F39F1B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30" name="圆角矩形 29"/>
              <p:cNvSpPr/>
              <p:nvPr/>
            </p:nvSpPr>
            <p:spPr>
              <a:xfrm>
                <a:off x="7363" y="11442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19050">
                <a:solidFill>
                  <a:srgbClr val="47A2DE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  <p:grpSp>
          <p:nvGrpSpPr>
            <p:cNvPr id="40" name="组合 39"/>
            <p:cNvGrpSpPr/>
            <p:nvPr/>
          </p:nvGrpSpPr>
          <p:grpSpPr>
            <a:xfrm>
              <a:off x="11606" y="13072"/>
              <a:ext cx="1092" cy="212"/>
              <a:chOff x="5151" y="11234"/>
              <a:chExt cx="1795" cy="348"/>
            </a:xfrm>
          </p:grpSpPr>
          <p:sp>
            <p:nvSpPr>
              <p:cNvPr id="41" name="圆角矩形 40"/>
              <p:cNvSpPr/>
              <p:nvPr/>
            </p:nvSpPr>
            <p:spPr>
              <a:xfrm>
                <a:off x="5151" y="11234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19050">
                <a:solidFill>
                  <a:srgbClr val="E85748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>
                  <a:solidFill>
                    <a:srgbClr val="47A2DE"/>
                  </a:solidFill>
                </a:endParaRPr>
              </a:p>
            </p:txBody>
          </p:sp>
          <p:sp>
            <p:nvSpPr>
              <p:cNvPr id="42" name="圆角矩形 41"/>
              <p:cNvSpPr/>
              <p:nvPr/>
            </p:nvSpPr>
            <p:spPr>
              <a:xfrm>
                <a:off x="5787" y="11234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19050">
                <a:solidFill>
                  <a:srgbClr val="F39F1B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43" name="圆角矩形 42"/>
              <p:cNvSpPr/>
              <p:nvPr/>
            </p:nvSpPr>
            <p:spPr>
              <a:xfrm>
                <a:off x="6416" y="11234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19050">
                <a:solidFill>
                  <a:srgbClr val="47A2DE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  <p:sp>
          <p:nvSpPr>
            <p:cNvPr id="46" name="文本框 45"/>
            <p:cNvSpPr txBox="1"/>
            <p:nvPr/>
          </p:nvSpPr>
          <p:spPr>
            <a:xfrm>
              <a:off x="12759" y="12969"/>
              <a:ext cx="888" cy="41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sz="1125">
                  <a:sym typeface="+mn-ea"/>
                </a:rPr>
                <a:t>2023</a:t>
              </a:r>
            </a:p>
          </p:txBody>
        </p:sp>
      </p:grpSp>
      <p:grpSp>
        <p:nvGrpSpPr>
          <p:cNvPr id="60" name="组合 59"/>
          <p:cNvGrpSpPr/>
          <p:nvPr/>
        </p:nvGrpSpPr>
        <p:grpSpPr>
          <a:xfrm>
            <a:off x="4914961" y="11522594"/>
            <a:ext cx="4575639" cy="622587"/>
            <a:chOff x="6709" y="10473"/>
            <a:chExt cx="12810" cy="17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文本框 56"/>
                <p:cNvSpPr txBox="1"/>
                <p:nvPr/>
              </p:nvSpPr>
              <p:spPr>
                <a:xfrm>
                  <a:off x="11348" y="10643"/>
                  <a:ext cx="8171" cy="8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350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7" name="文本框 5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48" y="10643"/>
                  <a:ext cx="8171" cy="816"/>
                </a:xfrm>
                <a:prstGeom prst="rect">
                  <a:avLst/>
                </a:prstGeom>
                <a:blipFill rotWithShape="1">
                  <a:blip r:embed="rId1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本框 57"/>
                <p:cNvSpPr txBox="1"/>
                <p:nvPr/>
              </p:nvSpPr>
              <p:spPr>
                <a:xfrm>
                  <a:off x="6711" y="10473"/>
                  <a:ext cx="5790" cy="837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8" name="文本框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1" y="10473"/>
                  <a:ext cx="5790" cy="837"/>
                </a:xfrm>
                <a:prstGeom prst="rect">
                  <a:avLst/>
                </a:prstGeom>
                <a:blipFill rotWithShape="1">
                  <a:blip r:embed="rId1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本框 58"/>
                <p:cNvSpPr txBox="1"/>
                <p:nvPr/>
              </p:nvSpPr>
              <p:spPr>
                <a:xfrm>
                  <a:off x="6709" y="11379"/>
                  <a:ext cx="5792" cy="837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9" name="文本框 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09" y="11379"/>
                  <a:ext cx="5792" cy="837"/>
                </a:xfrm>
                <a:prstGeom prst="rect">
                  <a:avLst/>
                </a:prstGeom>
                <a:blipFill rotWithShape="1">
                  <a:blip r:embed="rId17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B7400A26-E240-556A-34B7-4DB3459DA89F}"/>
              </a:ext>
            </a:extLst>
          </p:cNvPr>
          <p:cNvGrpSpPr/>
          <p:nvPr/>
        </p:nvGrpSpPr>
        <p:grpSpPr>
          <a:xfrm>
            <a:off x="304800" y="3028950"/>
            <a:ext cx="13658850" cy="7429500"/>
            <a:chOff x="304800" y="3028950"/>
            <a:chExt cx="13658850" cy="74295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F537375-AF2E-5A8D-C842-6D93D2163B79}"/>
                </a:ext>
              </a:extLst>
            </p:cNvPr>
            <p:cNvSpPr/>
            <p:nvPr/>
          </p:nvSpPr>
          <p:spPr>
            <a:xfrm>
              <a:off x="304800" y="3028950"/>
              <a:ext cx="13658850" cy="74295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90BEA7B-7FED-8CE6-9AE0-D9391D4EE732}"/>
                </a:ext>
              </a:extLst>
            </p:cNvPr>
            <p:cNvGrpSpPr/>
            <p:nvPr/>
          </p:nvGrpSpPr>
          <p:grpSpPr>
            <a:xfrm>
              <a:off x="780152" y="3218069"/>
              <a:ext cx="12839908" cy="6999357"/>
              <a:chOff x="634896" y="415234"/>
              <a:chExt cx="15306710" cy="8344073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2300E0D1-031A-E5AA-2946-6B5D3F4A71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426381" y="1068905"/>
                <a:ext cx="7515225" cy="3714750"/>
              </a:xfrm>
              <a:prstGeom prst="rect">
                <a:avLst/>
              </a:prstGeom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CAAB1438-B65B-4A08-B1A6-A7FDE080A6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416856" y="5044557"/>
                <a:ext cx="7524750" cy="3714750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C9BF385A-541D-88D4-6BB2-F69E905F4D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39659" y="1068905"/>
                <a:ext cx="7515225" cy="3714750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0C08E515-B285-444C-1B75-2B0CE1F408E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34896" y="5044557"/>
                <a:ext cx="7524750" cy="3714750"/>
              </a:xfrm>
              <a:prstGeom prst="rect">
                <a:avLst/>
              </a:prstGeom>
            </p:spPr>
          </p:pic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04821A-775A-4983-81D5-FC1A4B892548}"/>
                  </a:ext>
                </a:extLst>
              </p:cNvPr>
              <p:cNvSpPr txBox="1"/>
              <p:nvPr/>
            </p:nvSpPr>
            <p:spPr>
              <a:xfrm>
                <a:off x="634896" y="415234"/>
                <a:ext cx="305583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800" dirty="0"/>
                  <a:t>Permutation Tests</a:t>
                </a:r>
                <a:endParaRPr lang="en-US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86303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Screenshot from 2025-05-14 13-41-46">
            <a:extLst>
              <a:ext uri="{FF2B5EF4-FFF2-40B4-BE49-F238E27FC236}">
                <a16:creationId xmlns:a16="http://schemas.microsoft.com/office/drawing/2014/main" id="{540E81D7-A862-C3C6-A148-CFA39289BD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851" y="11503378"/>
            <a:ext cx="2254504" cy="2073222"/>
          </a:xfrm>
          <a:prstGeom prst="rect">
            <a:avLst/>
          </a:prstGeom>
        </p:spPr>
      </p:pic>
      <p:pic>
        <p:nvPicPr>
          <p:cNvPr id="4" name="Picture 3" descr="Screenshot from 2025-05-14 13-41-39">
            <a:extLst>
              <a:ext uri="{FF2B5EF4-FFF2-40B4-BE49-F238E27FC236}">
                <a16:creationId xmlns:a16="http://schemas.microsoft.com/office/drawing/2014/main" id="{2A6A0C6E-7BDD-AFA8-42F2-A2602277E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9278" y="11502763"/>
            <a:ext cx="2255734" cy="2073837"/>
          </a:xfrm>
          <a:prstGeom prst="rect">
            <a:avLst/>
          </a:prstGeom>
        </p:spPr>
      </p:pic>
      <p:sp>
        <p:nvSpPr>
          <p:cNvPr id="9" name="Text Box 10">
            <a:extLst>
              <a:ext uri="{FF2B5EF4-FFF2-40B4-BE49-F238E27FC236}">
                <a16:creationId xmlns:a16="http://schemas.microsoft.com/office/drawing/2014/main" id="{21BA8384-8C73-E612-303F-90C148E7C4C1}"/>
              </a:ext>
            </a:extLst>
          </p:cNvPr>
          <p:cNvSpPr txBox="1"/>
          <p:nvPr/>
        </p:nvSpPr>
        <p:spPr>
          <a:xfrm>
            <a:off x="5367626" y="11205621"/>
            <a:ext cx="2685105" cy="306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ctr"/>
            <a:r>
              <a:rPr lang="en-US" dirty="0"/>
              <a:t>Abidjan (2016–2023)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74E6FAC-D73D-CB39-7A84-37175CA8510A}"/>
              </a:ext>
            </a:extLst>
          </p:cNvPr>
          <p:cNvGrpSpPr/>
          <p:nvPr/>
        </p:nvGrpSpPr>
        <p:grpSpPr>
          <a:xfrm>
            <a:off x="4331237" y="4876125"/>
            <a:ext cx="4579620" cy="3175197"/>
            <a:chOff x="4331237" y="4876125"/>
            <a:chExt cx="4579620" cy="317519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43E8DA7-1ADA-8EA4-5DEB-CA5D2D5742CC}"/>
                </a:ext>
              </a:extLst>
            </p:cNvPr>
            <p:cNvGrpSpPr/>
            <p:nvPr/>
          </p:nvGrpSpPr>
          <p:grpSpPr>
            <a:xfrm>
              <a:off x="4331237" y="4876125"/>
              <a:ext cx="4579620" cy="3175197"/>
              <a:chOff x="4331237" y="4876125"/>
              <a:chExt cx="4579620" cy="3175197"/>
            </a:xfrm>
          </p:grpSpPr>
          <p:pic>
            <p:nvPicPr>
              <p:cNvPr id="5" name="Picture 4" descr="Screenshot from 2025-05-14 13-41-03">
                <a:extLst>
                  <a:ext uri="{FF2B5EF4-FFF2-40B4-BE49-F238E27FC236}">
                    <a16:creationId xmlns:a16="http://schemas.microsoft.com/office/drawing/2014/main" id="{8F61D98F-94F4-7C26-45A5-7920C65E11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655738" y="5438570"/>
                <a:ext cx="2255119" cy="2073837"/>
              </a:xfrm>
              <a:prstGeom prst="rect">
                <a:avLst/>
              </a:prstGeom>
            </p:spPr>
          </p:pic>
          <p:pic>
            <p:nvPicPr>
              <p:cNvPr id="6" name="Picture 5" descr="Screenshot from 2025-05-14 13-40-46">
                <a:extLst>
                  <a:ext uri="{FF2B5EF4-FFF2-40B4-BE49-F238E27FC236}">
                    <a16:creationId xmlns:a16="http://schemas.microsoft.com/office/drawing/2014/main" id="{6B6D4404-2EC0-88B5-1254-5E25D75E10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386471" y="5438570"/>
                <a:ext cx="2255119" cy="2073837"/>
              </a:xfrm>
              <a:prstGeom prst="rect">
                <a:avLst/>
              </a:prstGeom>
            </p:spPr>
          </p:pic>
          <p:grpSp>
            <p:nvGrpSpPr>
              <p:cNvPr id="7" name="Google Shape;156;p16">
                <a:extLst>
                  <a:ext uri="{FF2B5EF4-FFF2-40B4-BE49-F238E27FC236}">
                    <a16:creationId xmlns:a16="http://schemas.microsoft.com/office/drawing/2014/main" id="{F7FAB4F4-1AD0-A463-A35D-4B3D25A3E4B2}"/>
                  </a:ext>
                </a:extLst>
              </p:cNvPr>
              <p:cNvGrpSpPr/>
              <p:nvPr/>
            </p:nvGrpSpPr>
            <p:grpSpPr>
              <a:xfrm>
                <a:off x="5130180" y="7512407"/>
                <a:ext cx="2609442" cy="538915"/>
                <a:chOff x="4807925" y="4484375"/>
                <a:chExt cx="2693250" cy="555510"/>
              </a:xfrm>
            </p:grpSpPr>
            <p:sp>
              <p:nvSpPr>
                <p:cNvPr id="15" name="Google Shape;157;p16">
                  <a:extLst>
                    <a:ext uri="{FF2B5EF4-FFF2-40B4-BE49-F238E27FC236}">
                      <a16:creationId xmlns:a16="http://schemas.microsoft.com/office/drawing/2014/main" id="{CE2C030D-FA55-ED01-83A5-E427F322E3D5}"/>
                    </a:ext>
                  </a:extLst>
                </p:cNvPr>
                <p:cNvSpPr/>
                <p:nvPr/>
              </p:nvSpPr>
              <p:spPr>
                <a:xfrm>
                  <a:off x="4913433" y="4758200"/>
                  <a:ext cx="432300" cy="23460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" name="Google Shape;158;p16">
                  <a:extLst>
                    <a:ext uri="{FF2B5EF4-FFF2-40B4-BE49-F238E27FC236}">
                      <a16:creationId xmlns:a16="http://schemas.microsoft.com/office/drawing/2014/main" id="{96614342-B1FD-770D-0BDB-348787A8278B}"/>
                    </a:ext>
                  </a:extLst>
                </p:cNvPr>
                <p:cNvSpPr txBox="1"/>
                <p:nvPr/>
              </p:nvSpPr>
              <p:spPr>
                <a:xfrm>
                  <a:off x="4807925" y="4484375"/>
                  <a:ext cx="800100" cy="3172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de-AT" sz="800" b="1" dirty="0">
                      <a:solidFill>
                        <a:schemeClr val="dk1"/>
                      </a:solidFill>
                    </a:rPr>
                    <a:t>No Building</a:t>
                  </a:r>
                  <a:endParaRPr sz="800" b="1" dirty="0">
                    <a:solidFill>
                      <a:schemeClr val="dk1"/>
                    </a:solidFill>
                  </a:endParaRPr>
                </a:p>
              </p:txBody>
            </p:sp>
            <p:sp>
              <p:nvSpPr>
                <p:cNvPr id="17" name="Google Shape;159;p16">
                  <a:extLst>
                    <a:ext uri="{FF2B5EF4-FFF2-40B4-BE49-F238E27FC236}">
                      <a16:creationId xmlns:a16="http://schemas.microsoft.com/office/drawing/2014/main" id="{728BFD29-04FC-3F2F-DA6A-273BAE01C350}"/>
                    </a:ext>
                  </a:extLst>
                </p:cNvPr>
                <p:cNvSpPr/>
                <p:nvPr/>
              </p:nvSpPr>
              <p:spPr>
                <a:xfrm>
                  <a:off x="5890875" y="4753925"/>
                  <a:ext cx="1009200" cy="234600"/>
                </a:xfrm>
                <a:prstGeom prst="rect">
                  <a:avLst/>
                </a:prstGeom>
                <a:gradFill>
                  <a:gsLst>
                    <a:gs pos="0">
                      <a:srgbClr val="1D4877"/>
                    </a:gs>
                    <a:gs pos="24000">
                      <a:srgbClr val="1B8A5A"/>
                    </a:gs>
                    <a:gs pos="50000">
                      <a:srgbClr val="FBB021"/>
                    </a:gs>
                    <a:gs pos="75000">
                      <a:srgbClr val="F68838"/>
                    </a:gs>
                    <a:gs pos="100000">
                      <a:srgbClr val="EE3E32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" name="Google Shape;160;p16">
                  <a:extLst>
                    <a:ext uri="{FF2B5EF4-FFF2-40B4-BE49-F238E27FC236}">
                      <a16:creationId xmlns:a16="http://schemas.microsoft.com/office/drawing/2014/main" id="{D9EE729B-FD1A-DCC4-7944-6509FE297A1E}"/>
                    </a:ext>
                  </a:extLst>
                </p:cNvPr>
                <p:cNvSpPr txBox="1"/>
                <p:nvPr/>
              </p:nvSpPr>
              <p:spPr>
                <a:xfrm>
                  <a:off x="5647975" y="4709675"/>
                  <a:ext cx="233100" cy="3302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de-AT" sz="900">
                      <a:solidFill>
                        <a:schemeClr val="dk1"/>
                      </a:solidFill>
                    </a:rPr>
                    <a:t>0</a:t>
                  </a:r>
                  <a:endParaRPr sz="900">
                    <a:solidFill>
                      <a:schemeClr val="dk1"/>
                    </a:solidFill>
                  </a:endParaRPr>
                </a:p>
              </p:txBody>
            </p:sp>
            <p:sp>
              <p:nvSpPr>
                <p:cNvPr id="19" name="Google Shape;161;p16">
                  <a:extLst>
                    <a:ext uri="{FF2B5EF4-FFF2-40B4-BE49-F238E27FC236}">
                      <a16:creationId xmlns:a16="http://schemas.microsoft.com/office/drawing/2014/main" id="{68CC7BDE-3EA3-04DD-7EBE-13C558CA8040}"/>
                    </a:ext>
                  </a:extLst>
                </p:cNvPr>
                <p:cNvSpPr txBox="1"/>
                <p:nvPr/>
              </p:nvSpPr>
              <p:spPr>
                <a:xfrm>
                  <a:off x="6909875" y="4709675"/>
                  <a:ext cx="591300" cy="3302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de-AT" sz="900">
                      <a:solidFill>
                        <a:schemeClr val="dk1"/>
                      </a:solidFill>
                    </a:rPr>
                    <a:t>100m</a:t>
                  </a:r>
                  <a:endParaRPr sz="900">
                    <a:solidFill>
                      <a:schemeClr val="dk1"/>
                    </a:solidFill>
                  </a:endParaRPr>
                </a:p>
              </p:txBody>
            </p:sp>
            <p:sp>
              <p:nvSpPr>
                <p:cNvPr id="20" name="Google Shape;162;p16">
                  <a:extLst>
                    <a:ext uri="{FF2B5EF4-FFF2-40B4-BE49-F238E27FC236}">
                      <a16:creationId xmlns:a16="http://schemas.microsoft.com/office/drawing/2014/main" id="{DE6DF54B-EE9F-2D9C-5C0E-79123FB4D51C}"/>
                    </a:ext>
                  </a:extLst>
                </p:cNvPr>
                <p:cNvSpPr txBox="1"/>
                <p:nvPr/>
              </p:nvSpPr>
              <p:spPr>
                <a:xfrm>
                  <a:off x="5819375" y="4484375"/>
                  <a:ext cx="1681800" cy="313831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de-AT" sz="800" b="1">
                      <a:solidFill>
                        <a:schemeClr val="dk1"/>
                      </a:solidFill>
                    </a:rPr>
                    <a:t>Building Height (pixel)</a:t>
                  </a:r>
                  <a:endParaRPr sz="800" b="1">
                    <a:solidFill>
                      <a:schemeClr val="dk1"/>
                    </a:solidFill>
                  </a:endParaRPr>
                </a:p>
              </p:txBody>
            </p:sp>
          </p:grpSp>
          <p:sp>
            <p:nvSpPr>
              <p:cNvPr id="8" name="Text Box 9">
                <a:extLst>
                  <a:ext uri="{FF2B5EF4-FFF2-40B4-BE49-F238E27FC236}">
                    <a16:creationId xmlns:a16="http://schemas.microsoft.com/office/drawing/2014/main" id="{F9A5AB32-0084-07B4-A8B4-34B2750D8F72}"/>
                  </a:ext>
                </a:extLst>
              </p:cNvPr>
              <p:cNvSpPr txBox="1"/>
              <p:nvPr/>
            </p:nvSpPr>
            <p:spPr>
              <a:xfrm>
                <a:off x="4331237" y="4876125"/>
                <a:ext cx="457962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9pPr>
              </a:lstStyle>
              <a:p>
                <a:pPr algn="ctr"/>
                <a:r>
                  <a:rPr lang="en-US" altLang="zh-CN" dirty="0"/>
                  <a:t>Sample Data: </a:t>
                </a:r>
                <a:r>
                  <a:rPr lang="en-US" dirty="0"/>
                  <a:t>Antananarivo,</a:t>
                </a:r>
                <a:r>
                  <a:rPr lang="zh-CN" altLang="en-US" dirty="0"/>
                  <a:t> </a:t>
                </a:r>
                <a:r>
                  <a:rPr lang="en-US" altLang="zh-CN" dirty="0"/>
                  <a:t>Madagascar</a:t>
                </a:r>
                <a:endParaRPr lang="en-US" dirty="0"/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2D372EA2-0F01-ECCC-AF30-DDEAEA365ECE}"/>
                  </a:ext>
                </a:extLst>
              </p:cNvPr>
              <p:cNvGrpSpPr/>
              <p:nvPr/>
            </p:nvGrpSpPr>
            <p:grpSpPr>
              <a:xfrm>
                <a:off x="7771610" y="7589923"/>
                <a:ext cx="729561" cy="319904"/>
                <a:chOff x="9532" y="3515"/>
                <a:chExt cx="1186" cy="520"/>
              </a:xfrm>
            </p:grpSpPr>
            <p:cxnSp>
              <p:nvCxnSpPr>
                <p:cNvPr id="11" name="Straight Arrow Connector 10">
                  <a:extLst>
                    <a:ext uri="{FF2B5EF4-FFF2-40B4-BE49-F238E27FC236}">
                      <a16:creationId xmlns:a16="http://schemas.microsoft.com/office/drawing/2014/main" id="{F51E5B86-7501-6ED1-283D-7D49CBDDA8AF}"/>
                    </a:ext>
                  </a:extLst>
                </p:cNvPr>
                <p:cNvCxnSpPr/>
                <p:nvPr/>
              </p:nvCxnSpPr>
              <p:spPr>
                <a:xfrm>
                  <a:off x="9532" y="4006"/>
                  <a:ext cx="1186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headEnd type="none"/>
                  <a:tailEnd type="non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Arrow Connector 11">
                  <a:extLst>
                    <a:ext uri="{FF2B5EF4-FFF2-40B4-BE49-F238E27FC236}">
                      <a16:creationId xmlns:a16="http://schemas.microsoft.com/office/drawing/2014/main" id="{F474C72B-6B23-9ED5-5C49-5C1122514613}"/>
                    </a:ext>
                  </a:extLst>
                </p:cNvPr>
                <p:cNvCxnSpPr/>
                <p:nvPr/>
              </p:nvCxnSpPr>
              <p:spPr>
                <a:xfrm flipV="1">
                  <a:off x="9551" y="3894"/>
                  <a:ext cx="3" cy="13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headEnd type="none"/>
                  <a:tailEnd type="non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Arrow Connector 12">
                  <a:extLst>
                    <a:ext uri="{FF2B5EF4-FFF2-40B4-BE49-F238E27FC236}">
                      <a16:creationId xmlns:a16="http://schemas.microsoft.com/office/drawing/2014/main" id="{C52C1364-11BD-8CBD-3B43-D9B52D61FAF0}"/>
                    </a:ext>
                  </a:extLst>
                </p:cNvPr>
                <p:cNvCxnSpPr/>
                <p:nvPr/>
              </p:nvCxnSpPr>
              <p:spPr>
                <a:xfrm flipV="1">
                  <a:off x="10706" y="3894"/>
                  <a:ext cx="3" cy="13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headEnd type="none"/>
                  <a:tailEnd type="non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sp>
              <p:nvSpPr>
                <p:cNvPr id="14" name="Google Shape;161;p16">
                  <a:extLst>
                    <a:ext uri="{FF2B5EF4-FFF2-40B4-BE49-F238E27FC236}">
                      <a16:creationId xmlns:a16="http://schemas.microsoft.com/office/drawing/2014/main" id="{838D57E2-84FC-E38F-E249-126CA7E0C18F}"/>
                    </a:ext>
                  </a:extLst>
                </p:cNvPr>
                <p:cNvSpPr txBox="1"/>
                <p:nvPr/>
              </p:nvSpPr>
              <p:spPr>
                <a:xfrm>
                  <a:off x="9677" y="3515"/>
                  <a:ext cx="931" cy="5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altLang="de-AT" sz="900">
                      <a:solidFill>
                        <a:schemeClr val="dk1"/>
                      </a:solidFill>
                    </a:rPr>
                    <a:t>10 km</a:t>
                  </a:r>
                </a:p>
              </p:txBody>
            </p:sp>
          </p:grp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A161376-C606-9ECD-A4E1-6346214EE5BB}"/>
                </a:ext>
              </a:extLst>
            </p:cNvPr>
            <p:cNvSpPr txBox="1"/>
            <p:nvPr/>
          </p:nvSpPr>
          <p:spPr>
            <a:xfrm>
              <a:off x="5093597" y="5186802"/>
              <a:ext cx="69646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/>
                <a:t>2016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6286242-B70A-E3B8-904F-5A4952EB270F}"/>
                </a:ext>
              </a:extLst>
            </p:cNvPr>
            <p:cNvSpPr txBox="1"/>
            <p:nvPr/>
          </p:nvSpPr>
          <p:spPr>
            <a:xfrm>
              <a:off x="7391390" y="5162907"/>
              <a:ext cx="69646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/>
                <a:t>2023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337323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组合 58"/>
          <p:cNvGrpSpPr/>
          <p:nvPr/>
        </p:nvGrpSpPr>
        <p:grpSpPr>
          <a:xfrm>
            <a:off x="4235975" y="5437111"/>
            <a:ext cx="5898681" cy="3612647"/>
            <a:chOff x="1301" y="464"/>
            <a:chExt cx="16514" cy="10114"/>
          </a:xfrm>
        </p:grpSpPr>
        <p:grpSp>
          <p:nvGrpSpPr>
            <p:cNvPr id="33" name="组合 32"/>
            <p:cNvGrpSpPr/>
            <p:nvPr/>
          </p:nvGrpSpPr>
          <p:grpSpPr>
            <a:xfrm>
              <a:off x="1301" y="1635"/>
              <a:ext cx="16514" cy="6542"/>
              <a:chOff x="0" y="1154"/>
              <a:chExt cx="19116" cy="7572"/>
            </a:xfrm>
          </p:grpSpPr>
          <p:pic>
            <p:nvPicPr>
              <p:cNvPr id="6" name="图片 5"/>
              <p:cNvPicPr/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0" y="1154"/>
                <a:ext cx="19116" cy="7538"/>
              </a:xfrm>
              <a:prstGeom prst="rect">
                <a:avLst/>
              </a:prstGeom>
            </p:spPr>
          </p:pic>
          <p:sp>
            <p:nvSpPr>
              <p:cNvPr id="7" name="矩形 6"/>
              <p:cNvSpPr/>
              <p:nvPr/>
            </p:nvSpPr>
            <p:spPr>
              <a:xfrm>
                <a:off x="161" y="1193"/>
                <a:ext cx="630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8" name="矩形 7"/>
              <p:cNvSpPr/>
              <p:nvPr/>
            </p:nvSpPr>
            <p:spPr>
              <a:xfrm rot="5400000">
                <a:off x="4742" y="4127"/>
                <a:ext cx="630" cy="853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9" name="矩形 8"/>
              <p:cNvSpPr/>
              <p:nvPr/>
            </p:nvSpPr>
            <p:spPr>
              <a:xfrm>
                <a:off x="9418" y="1193"/>
                <a:ext cx="986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0" name="矩形 9"/>
              <p:cNvSpPr/>
              <p:nvPr/>
            </p:nvSpPr>
            <p:spPr>
              <a:xfrm rot="5400000">
                <a:off x="14022" y="3732"/>
                <a:ext cx="630" cy="935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1984" y="8434"/>
              <a:ext cx="15595" cy="2144"/>
              <a:chOff x="2352" y="8858"/>
              <a:chExt cx="15488" cy="2144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2016</a:t>
                </a:r>
              </a:p>
            </p:txBody>
          </p:sp>
          <p:sp>
            <p:nvSpPr>
              <p:cNvPr id="4" name="文本框 3"/>
              <p:cNvSpPr txBox="1"/>
              <p:nvPr/>
            </p:nvSpPr>
            <p:spPr>
              <a:xfrm>
                <a:off x="13434" y="8858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2016</a:t>
                </a:r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1F77B4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1F77B4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3434" y="9349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2023</a:t>
                </a:r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2848" y="8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2016</a:t>
                </a:r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9467BD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9467BD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2848" y="9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2023</a:t>
                </a:r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7053" y="8858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South&amp;South-east Asia, 2016</a:t>
                </a:r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2CA02C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2CA02C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7053" y="9345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Asia, 2023</a:t>
                </a:r>
                <a:endParaRPr lang="en-US" altLang="zh-CN" sz="900"/>
              </a:p>
            </p:txBody>
          </p:sp>
          <p:sp>
            <p:nvSpPr>
              <p:cNvPr id="22" name="乘号 21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9467BD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2848" y="9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2016</a:t>
                </a:r>
              </a:p>
            </p:txBody>
          </p:sp>
          <p:sp>
            <p:nvSpPr>
              <p:cNvPr id="24" name="乘号 23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9467BD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2848" y="10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2023</a:t>
                </a:r>
              </a:p>
            </p:txBody>
          </p:sp>
          <p:sp>
            <p:nvSpPr>
              <p:cNvPr id="26" name="乘号 25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2CA02C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7053" y="9832"/>
                <a:ext cx="5582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2016</a:t>
                </a:r>
                <a:endParaRPr lang="zh-CN" altLang="en-US" sz="9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28" name="乘号 27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2CA02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9" name="文本框 28"/>
              <p:cNvSpPr txBox="1"/>
              <p:nvPr/>
            </p:nvSpPr>
            <p:spPr>
              <a:xfrm>
                <a:off x="7053" y="10319"/>
                <a:ext cx="5581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2023</a:t>
                </a:r>
                <a:endParaRPr lang="en-US" altLang="zh-CN" sz="900"/>
              </a:p>
            </p:txBody>
          </p:sp>
          <p:sp>
            <p:nvSpPr>
              <p:cNvPr id="31" name="乘号 30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1F77B4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34" name="乘号 33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1F77B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13434" y="10331"/>
                <a:ext cx="4228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2023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1974" y="464"/>
                  <a:ext cx="7243" cy="14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rPr>
                    <a:t>Structural Zero Params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74" y="464"/>
                  <a:ext cx="7243" cy="1419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5263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50%</a:t>
              </a: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8394" y="7617"/>
              <a:ext cx="10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100%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706" y="7601"/>
              <a:ext cx="25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424" y="165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0.6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415" y="484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0.3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441" y="1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6173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probability(α)</a:t>
              </a: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16838" y="7632"/>
              <a:ext cx="7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70%</a:t>
              </a: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0288" y="7670"/>
              <a:ext cx="871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20%</a:t>
              </a:r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9666" y="2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9483" y="4691"/>
              <a:ext cx="77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-0.2</a:t>
              </a: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9746" y="140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4398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probability(κ)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文本框 51"/>
                <p:cNvSpPr txBox="1"/>
                <p:nvPr/>
              </p:nvSpPr>
              <p:spPr>
                <a:xfrm>
                  <a:off x="10288" y="464"/>
                  <a:ext cx="7293" cy="14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rPr>
                    <a:t>Actual Construction Params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52" name="文本框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88" y="464"/>
                  <a:ext cx="7293" cy="1419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" name="文本框 52"/>
            <p:cNvSpPr txBox="1"/>
            <p:nvPr/>
          </p:nvSpPr>
          <p:spPr>
            <a:xfrm>
              <a:off x="14149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50%</a:t>
              </a:r>
            </a:p>
          </p:txBody>
        </p:sp>
        <p:sp>
          <p:nvSpPr>
            <p:cNvPr id="55" name="文本框 54"/>
            <p:cNvSpPr txBox="1"/>
            <p:nvPr/>
          </p:nvSpPr>
          <p:spPr>
            <a:xfrm>
              <a:off x="9436" y="7076"/>
              <a:ext cx="76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-0.4</a:t>
              </a:r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6781" y="4616"/>
              <a:ext cx="2574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β = 0.3</a:t>
              </a:r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10380" y="3475"/>
              <a:ext cx="2574" cy="10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 = -0.09</a:t>
              </a:r>
            </a:p>
          </p:txBody>
        </p:sp>
      </p:grpSp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4247554" y="5312111"/>
            <a:ext cx="5892251" cy="3737664"/>
            <a:chOff x="1333" y="114"/>
            <a:chExt cx="16496" cy="10464"/>
          </a:xfrm>
        </p:grpSpPr>
        <p:grpSp>
          <p:nvGrpSpPr>
            <p:cNvPr id="30" name="组合 29"/>
            <p:cNvGrpSpPr/>
            <p:nvPr/>
          </p:nvGrpSpPr>
          <p:grpSpPr>
            <a:xfrm>
              <a:off x="1333" y="114"/>
              <a:ext cx="16496" cy="10464"/>
              <a:chOff x="1333" y="114"/>
              <a:chExt cx="16496" cy="10464"/>
            </a:xfrm>
          </p:grpSpPr>
          <p:pic>
            <p:nvPicPr>
              <p:cNvPr id="3" name="图片 2"/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33" y="1508"/>
                <a:ext cx="16496" cy="6670"/>
              </a:xfrm>
              <a:prstGeom prst="rect">
                <a:avLst/>
              </a:prstGeom>
            </p:spPr>
          </p:pic>
          <p:grpSp>
            <p:nvGrpSpPr>
              <p:cNvPr id="33" name="组合 32"/>
              <p:cNvGrpSpPr/>
              <p:nvPr/>
            </p:nvGrpSpPr>
            <p:grpSpPr>
              <a:xfrm>
                <a:off x="1440" y="1669"/>
                <a:ext cx="16289" cy="6551"/>
                <a:chOff x="161" y="1193"/>
                <a:chExt cx="18855" cy="7582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161" y="1193"/>
                  <a:ext cx="630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4742" y="4193"/>
                  <a:ext cx="630" cy="853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9" name="矩形 8"/>
                <p:cNvSpPr/>
                <p:nvPr/>
              </p:nvSpPr>
              <p:spPr>
                <a:xfrm>
                  <a:off x="9418" y="1193"/>
                  <a:ext cx="986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0" name="矩形 9"/>
                <p:cNvSpPr/>
                <p:nvPr/>
              </p:nvSpPr>
              <p:spPr>
                <a:xfrm rot="5400000">
                  <a:off x="14022" y="3732"/>
                  <a:ext cx="630" cy="935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</p:grpSp>
          <p:grpSp>
            <p:nvGrpSpPr>
              <p:cNvPr id="56" name="组合 55"/>
              <p:cNvGrpSpPr/>
              <p:nvPr/>
            </p:nvGrpSpPr>
            <p:grpSpPr>
              <a:xfrm>
                <a:off x="1984" y="8434"/>
                <a:ext cx="15595" cy="2144"/>
                <a:chOff x="2352" y="8858"/>
                <a:chExt cx="15488" cy="2144"/>
              </a:xfrm>
            </p:grpSpPr>
            <p:sp>
              <p:nvSpPr>
                <p:cNvPr id="32" name="文本框 31"/>
                <p:cNvSpPr txBox="1"/>
                <p:nvPr/>
              </p:nvSpPr>
              <p:spPr>
                <a:xfrm>
                  <a:off x="13434" y="9840"/>
                  <a:ext cx="4406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 Mean, 2016</a:t>
                  </a:r>
                </a:p>
              </p:txBody>
            </p:sp>
            <p:sp>
              <p:nvSpPr>
                <p:cNvPr id="4" name="文本框 3"/>
                <p:cNvSpPr txBox="1"/>
                <p:nvPr/>
              </p:nvSpPr>
              <p:spPr>
                <a:xfrm>
                  <a:off x="13434" y="8858"/>
                  <a:ext cx="314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America, 2016</a:t>
                  </a:r>
                </a:p>
              </p:txBody>
            </p:sp>
            <p:sp>
              <p:nvSpPr>
                <p:cNvPr id="11" name="椭圆 10"/>
                <p:cNvSpPr/>
                <p:nvPr/>
              </p:nvSpPr>
              <p:spPr>
                <a:xfrm>
                  <a:off x="13067" y="8972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3067" y="9435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3" name="文本框 12"/>
                <p:cNvSpPr txBox="1"/>
                <p:nvPr/>
              </p:nvSpPr>
              <p:spPr>
                <a:xfrm>
                  <a:off x="13434" y="9349"/>
                  <a:ext cx="314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America, 2023</a:t>
                  </a:r>
                </a:p>
              </p:txBody>
            </p:sp>
            <p:sp>
              <p:nvSpPr>
                <p:cNvPr id="14" name="文本框 13"/>
                <p:cNvSpPr txBox="1"/>
                <p:nvPr/>
              </p:nvSpPr>
              <p:spPr>
                <a:xfrm>
                  <a:off x="2848" y="88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Africa, 2016</a:t>
                  </a:r>
                </a:p>
              </p:txBody>
            </p:sp>
            <p:sp>
              <p:nvSpPr>
                <p:cNvPr id="15" name="椭圆 14"/>
                <p:cNvSpPr/>
                <p:nvPr/>
              </p:nvSpPr>
              <p:spPr>
                <a:xfrm>
                  <a:off x="2465" y="8972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16" name="椭圆 15"/>
                <p:cNvSpPr/>
                <p:nvPr/>
              </p:nvSpPr>
              <p:spPr>
                <a:xfrm>
                  <a:off x="2465" y="9435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2848" y="93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Africa, 2023</a:t>
                  </a:r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7053" y="8858"/>
                  <a:ext cx="452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South&amp;South-east Asia, 2016</a:t>
                  </a:r>
                </a:p>
              </p:txBody>
            </p:sp>
            <p:sp>
              <p:nvSpPr>
                <p:cNvPr id="19" name="椭圆 18"/>
                <p:cNvSpPr/>
                <p:nvPr/>
              </p:nvSpPr>
              <p:spPr>
                <a:xfrm>
                  <a:off x="6647" y="8972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20" name="椭圆 19"/>
                <p:cNvSpPr/>
                <p:nvPr/>
              </p:nvSpPr>
              <p:spPr>
                <a:xfrm>
                  <a:off x="6647" y="9435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7053" y="9345"/>
                  <a:ext cx="452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Asia, 2023</a:t>
                  </a:r>
                  <a:endParaRPr lang="en-US" altLang="zh-CN" sz="900"/>
                </a:p>
              </p:txBody>
            </p:sp>
            <p:sp>
              <p:nvSpPr>
                <p:cNvPr id="22" name="乘号 21"/>
                <p:cNvSpPr/>
                <p:nvPr/>
              </p:nvSpPr>
              <p:spPr>
                <a:xfrm>
                  <a:off x="2352" y="9845"/>
                  <a:ext cx="480" cy="480"/>
                </a:xfrm>
                <a:prstGeom prst="mathMultiply">
                  <a:avLst/>
                </a:prstGeom>
                <a:solidFill>
                  <a:srgbClr val="E85748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3" name="文本框 22"/>
                <p:cNvSpPr txBox="1"/>
                <p:nvPr/>
              </p:nvSpPr>
              <p:spPr>
                <a:xfrm>
                  <a:off x="2848" y="98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 Mean, 2016</a:t>
                  </a:r>
                </a:p>
              </p:txBody>
            </p:sp>
            <p:sp>
              <p:nvSpPr>
                <p:cNvPr id="24" name="乘号 23"/>
                <p:cNvSpPr/>
                <p:nvPr/>
              </p:nvSpPr>
              <p:spPr>
                <a:xfrm>
                  <a:off x="2352" y="10359"/>
                  <a:ext cx="480" cy="480"/>
                </a:xfrm>
                <a:prstGeom prst="mathMultiply">
                  <a:avLst/>
                </a:prstGeom>
                <a:solidFill>
                  <a:srgbClr val="E85748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5" name="文本框 24"/>
                <p:cNvSpPr txBox="1"/>
                <p:nvPr/>
              </p:nvSpPr>
              <p:spPr>
                <a:xfrm>
                  <a:off x="2848" y="103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 Mean, 2023</a:t>
                  </a:r>
                </a:p>
              </p:txBody>
            </p:sp>
            <p:sp>
              <p:nvSpPr>
                <p:cNvPr id="26" name="乘号 25"/>
                <p:cNvSpPr/>
                <p:nvPr/>
              </p:nvSpPr>
              <p:spPr>
                <a:xfrm>
                  <a:off x="6534" y="9845"/>
                  <a:ext cx="480" cy="480"/>
                </a:xfrm>
                <a:prstGeom prst="mathMultiply">
                  <a:avLst/>
                </a:prstGeom>
                <a:solidFill>
                  <a:srgbClr val="F39F1B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7" name="文本框 26"/>
                <p:cNvSpPr txBox="1"/>
                <p:nvPr/>
              </p:nvSpPr>
              <p:spPr>
                <a:xfrm>
                  <a:off x="7053" y="9832"/>
                  <a:ext cx="5582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 Mean, 2016</a:t>
                  </a:r>
                  <a:endParaRPr lang="zh-CN" altLang="en-US" sz="900">
                    <a:ea typeface="宋体" panose="02010600030101010101" pitchFamily="2" charset="-122"/>
                    <a:sym typeface="+mn-ea"/>
                  </a:endParaRPr>
                </a:p>
              </p:txBody>
            </p:sp>
            <p:sp>
              <p:nvSpPr>
                <p:cNvPr id="28" name="乘号 27"/>
                <p:cNvSpPr/>
                <p:nvPr/>
              </p:nvSpPr>
              <p:spPr>
                <a:xfrm>
                  <a:off x="6534" y="10359"/>
                  <a:ext cx="480" cy="480"/>
                </a:xfrm>
                <a:prstGeom prst="mathMultiply">
                  <a:avLst/>
                </a:prstGeom>
                <a:solidFill>
                  <a:srgbClr val="F39F1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7053" y="10319"/>
                  <a:ext cx="5581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 Mean, 2023</a:t>
                  </a:r>
                  <a:endParaRPr lang="en-US" altLang="zh-CN" sz="900"/>
                </a:p>
              </p:txBody>
            </p:sp>
            <p:sp>
              <p:nvSpPr>
                <p:cNvPr id="31" name="乘号 30"/>
                <p:cNvSpPr/>
                <p:nvPr/>
              </p:nvSpPr>
              <p:spPr>
                <a:xfrm>
                  <a:off x="12954" y="9845"/>
                  <a:ext cx="480" cy="480"/>
                </a:xfrm>
                <a:prstGeom prst="mathMultiply">
                  <a:avLst/>
                </a:prstGeom>
                <a:solidFill>
                  <a:srgbClr val="47A2DE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4" name="乘号 33"/>
                <p:cNvSpPr/>
                <p:nvPr/>
              </p:nvSpPr>
              <p:spPr>
                <a:xfrm>
                  <a:off x="12954" y="10359"/>
                  <a:ext cx="480" cy="480"/>
                </a:xfrm>
                <a:prstGeom prst="mathMultiply">
                  <a:avLst/>
                </a:prstGeom>
                <a:solidFill>
                  <a:srgbClr val="47A2DE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5" name="文本框 34"/>
                <p:cNvSpPr txBox="1"/>
                <p:nvPr/>
              </p:nvSpPr>
              <p:spPr>
                <a:xfrm>
                  <a:off x="13434" y="10331"/>
                  <a:ext cx="4228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 Mean, 2023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974" y="658"/>
                    <a:ext cx="7243" cy="12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125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Structural Zero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74" y="658"/>
                    <a:ext cx="7243" cy="1228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7" name="文本框 36"/>
              <p:cNvSpPr txBox="1"/>
              <p:nvPr/>
            </p:nvSpPr>
            <p:spPr>
              <a:xfrm>
                <a:off x="5263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50%</a:t>
                </a: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8394" y="7617"/>
                <a:ext cx="10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100%</a:t>
                </a:r>
              </a:p>
            </p:txBody>
          </p:sp>
          <p:sp>
            <p:nvSpPr>
              <p:cNvPr id="39" name="文本框 38"/>
              <p:cNvSpPr txBox="1"/>
              <p:nvPr/>
            </p:nvSpPr>
            <p:spPr>
              <a:xfrm>
                <a:off x="1706" y="7601"/>
                <a:ext cx="25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</a:t>
                </a: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1424" y="165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0.6</a:t>
                </a:r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1415" y="484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0.3</a:t>
                </a:r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441" y="1210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</a:p>
            </p:txBody>
          </p:sp>
          <p:sp>
            <p:nvSpPr>
              <p:cNvPr id="43" name="文本框 42"/>
              <p:cNvSpPr txBox="1"/>
              <p:nvPr/>
            </p:nvSpPr>
            <p:spPr>
              <a:xfrm>
                <a:off x="6173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probability(α)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16838" y="7632"/>
                <a:ext cx="7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70%</a:t>
                </a:r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10288" y="7670"/>
                <a:ext cx="871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20%</a:t>
                </a:r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9666" y="2267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</a:t>
                </a:r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9483" y="4691"/>
                <a:ext cx="77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-0.2</a:t>
                </a:r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9746" y="140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4398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probability(κ)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288" y="658"/>
                    <a:ext cx="7293" cy="12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125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Actual Construction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88" y="658"/>
                    <a:ext cx="7293" cy="1228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3" name="文本框 52"/>
              <p:cNvSpPr txBox="1"/>
              <p:nvPr/>
            </p:nvSpPr>
            <p:spPr>
              <a:xfrm>
                <a:off x="14149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50%</a:t>
                </a:r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9436" y="7076"/>
                <a:ext cx="76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-0.4</a:t>
                </a:r>
              </a:p>
            </p:txBody>
          </p:sp>
          <p:sp>
            <p:nvSpPr>
              <p:cNvPr id="57" name="文本框 56"/>
              <p:cNvSpPr txBox="1"/>
              <p:nvPr/>
            </p:nvSpPr>
            <p:spPr>
              <a:xfrm>
                <a:off x="6781" y="4584"/>
                <a:ext cx="2574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β = 0.3</a:t>
                </a: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10380" y="3395"/>
                <a:ext cx="2574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-0.09</a:t>
                </a:r>
              </a:p>
            </p:txBody>
          </p:sp>
          <p:sp>
            <p:nvSpPr>
              <p:cNvPr id="2" name="文本框 1"/>
              <p:cNvSpPr txBox="1"/>
              <p:nvPr/>
            </p:nvSpPr>
            <p:spPr>
              <a:xfrm>
                <a:off x="1958" y="114"/>
                <a:ext cx="15623" cy="83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en-US" altLang="zh-CN" sz="135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Horizontal Construction Params</a:t>
                </a:r>
              </a:p>
            </p:txBody>
          </p:sp>
        </p:grpSp>
        <p:sp>
          <p:nvSpPr>
            <p:cNvPr id="54" name="文本框 53"/>
            <p:cNvSpPr txBox="1"/>
            <p:nvPr/>
          </p:nvSpPr>
          <p:spPr>
            <a:xfrm>
              <a:off x="1984" y="6876"/>
              <a:ext cx="215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Low-Constraint, Flat-Gradient</a:t>
              </a: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6781" y="1716"/>
              <a:ext cx="2404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High-Constraint, Steep-Gradient</a:t>
              </a:r>
            </a:p>
          </p:txBody>
        </p:sp>
        <p:sp>
          <p:nvSpPr>
            <p:cNvPr id="61" name="文本框 60"/>
            <p:cNvSpPr txBox="1"/>
            <p:nvPr/>
          </p:nvSpPr>
          <p:spPr>
            <a:xfrm>
              <a:off x="3396" y="1716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Low-Constraint,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Steep-Gradient</a:t>
              </a: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6992" y="4969"/>
              <a:ext cx="2151" cy="11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High-Constraint, Flat-Gradient</a:t>
              </a: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0380" y="1716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Flat-Gradient</a:t>
              </a: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0388" y="6840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Steep-Gradient</a:t>
              </a: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5264" y="1669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Flat-Gradient</a:t>
              </a: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5278" y="6839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Steep-Gradient</a:t>
              </a:r>
            </a:p>
          </p:txBody>
        </p:sp>
      </p:grpSp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组合 68"/>
          <p:cNvGrpSpPr/>
          <p:nvPr/>
        </p:nvGrpSpPr>
        <p:grpSpPr>
          <a:xfrm>
            <a:off x="3771268" y="5397821"/>
            <a:ext cx="6883818" cy="3555497"/>
            <a:chOff x="0" y="354"/>
            <a:chExt cx="19272" cy="9954"/>
          </a:xfrm>
        </p:grpSpPr>
        <p:pic>
          <p:nvPicPr>
            <p:cNvPr id="4" name="图片 3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0" y="1805"/>
              <a:ext cx="19192" cy="6290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9795" y="-1270"/>
              <a:ext cx="544" cy="182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7" name="矩形 6"/>
            <p:cNvSpPr/>
            <p:nvPr/>
          </p:nvSpPr>
          <p:spPr>
            <a:xfrm>
              <a:off x="0" y="1648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p:sp>
          <p:nvSpPr>
            <p:cNvPr id="5" name="矩形 4"/>
            <p:cNvSpPr/>
            <p:nvPr/>
          </p:nvSpPr>
          <p:spPr>
            <a:xfrm>
              <a:off x="6424" y="1487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p:sp>
          <p:nvSpPr>
            <p:cNvPr id="6" name="矩形 5"/>
            <p:cNvSpPr/>
            <p:nvPr/>
          </p:nvSpPr>
          <p:spPr>
            <a:xfrm>
              <a:off x="12864" y="1616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5977" y="354"/>
                  <a:ext cx="7243" cy="13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 b="1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Profile Params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350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7" y="354"/>
                  <a:ext cx="7243" cy="1397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04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7" y="6430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-0.4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212" y="7598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5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5608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259" y="1616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479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15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84" y="2751"/>
              <a:ext cx="47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" y="4583"/>
              <a:ext cx="734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-0.2</a:t>
              </a: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9600" y="7638"/>
              <a:ext cx="70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-0.2</a:t>
              </a: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6228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-0.02</a:t>
              </a: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7759" y="7638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-0.4</a:t>
              </a:r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2060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6934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1624" y="7638"/>
              <a:ext cx="23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0</a:t>
              </a: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6228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6228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0.02</a:t>
              </a:r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6228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0.04</a:t>
              </a: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6228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0.06</a:t>
              </a: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590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</a:t>
              </a: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4074" y="7652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5</a:t>
              </a: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8106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765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15</a:t>
              </a:r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2689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-0.02</a:t>
              </a: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3395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2689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2689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0.02</a:t>
              </a: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2689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0.04</a:t>
              </a: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2689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0.06</a:t>
              </a:r>
            </a:p>
          </p:txBody>
        </p:sp>
        <p:grpSp>
          <p:nvGrpSpPr>
            <p:cNvPr id="56" name="组合 55"/>
            <p:cNvGrpSpPr/>
            <p:nvPr/>
          </p:nvGrpSpPr>
          <p:grpSpPr>
            <a:xfrm>
              <a:off x="2061" y="8164"/>
              <a:ext cx="15595" cy="2144"/>
              <a:chOff x="2352" y="8858"/>
              <a:chExt cx="15488" cy="2144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2016</a:t>
                </a:r>
              </a:p>
            </p:txBody>
          </p:sp>
          <p:sp>
            <p:nvSpPr>
              <p:cNvPr id="33" name="文本框 32"/>
              <p:cNvSpPr txBox="1"/>
              <p:nvPr/>
            </p:nvSpPr>
            <p:spPr>
              <a:xfrm>
                <a:off x="13434" y="8858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2016</a:t>
                </a:r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3434" y="9349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2023</a:t>
                </a: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2848" y="8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2016</a:t>
                </a:r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2848" y="9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2023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7053" y="8858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South&amp;South-east Asia, 2016</a:t>
                </a:r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7053" y="9345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Asia, 2023</a:t>
                </a:r>
                <a:endParaRPr lang="en-US" altLang="zh-CN" sz="900"/>
              </a:p>
            </p:txBody>
          </p:sp>
          <p:sp>
            <p:nvSpPr>
              <p:cNvPr id="50" name="乘号 49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E85748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2848" y="9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2016</a:t>
                </a:r>
              </a:p>
            </p:txBody>
          </p:sp>
          <p:sp>
            <p:nvSpPr>
              <p:cNvPr id="52" name="乘号 51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E8574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2848" y="10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2023</a:t>
                </a:r>
              </a:p>
            </p:txBody>
          </p:sp>
          <p:sp>
            <p:nvSpPr>
              <p:cNvPr id="54" name="乘号 53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F39F1B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7053" y="9832"/>
                <a:ext cx="5582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2016</a:t>
                </a:r>
                <a:endParaRPr lang="zh-CN" altLang="en-US" sz="9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57" name="乘号 56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F39F1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7053" y="10319"/>
                <a:ext cx="5581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2023</a:t>
                </a:r>
                <a:endParaRPr lang="en-US" altLang="zh-CN" sz="900"/>
              </a:p>
            </p:txBody>
          </p:sp>
          <p:sp>
            <p:nvSpPr>
              <p:cNvPr id="59" name="乘号 58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47A2DE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60" name="乘号 59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47A2D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3434" y="10331"/>
                <a:ext cx="4228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2023</a:t>
                </a:r>
              </a:p>
            </p:txBody>
          </p:sp>
        </p:grpSp>
        <p:sp>
          <p:nvSpPr>
            <p:cNvPr id="63" name="文本框 62"/>
            <p:cNvSpPr txBox="1"/>
            <p:nvPr/>
          </p:nvSpPr>
          <p:spPr>
            <a:xfrm>
              <a:off x="2432" y="6672"/>
              <a:ext cx="148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</a:p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3917" y="3540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B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-0.08</a:t>
              </a: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5284" y="6672"/>
              <a:ext cx="148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</a:p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7387" y="5711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6703" y="5711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</a:p>
          </p:txBody>
        </p:sp>
      </p:grpSp>
      <p:sp>
        <p:nvSpPr>
          <p:cNvPr id="30" name="文本框 29"/>
          <p:cNvSpPr txBox="1"/>
          <p:nvPr/>
        </p:nvSpPr>
        <p:spPr>
          <a:xfrm>
            <a:off x="6867771" y="6026836"/>
            <a:ext cx="841189" cy="333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mean B </a:t>
            </a:r>
            <a:r>
              <a: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= -0.08</a:t>
            </a:r>
          </a:p>
        </p:txBody>
      </p:sp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/>
          <p:cNvGrpSpPr/>
          <p:nvPr/>
        </p:nvGrpSpPr>
        <p:grpSpPr>
          <a:xfrm>
            <a:off x="3150258" y="4383437"/>
            <a:ext cx="8100119" cy="3554121"/>
            <a:chOff x="0" y="1736"/>
            <a:chExt cx="22678" cy="6706"/>
          </a:xfrm>
        </p:grpSpPr>
        <p:graphicFrame>
          <p:nvGraphicFramePr>
            <p:cNvPr id="3" name="图表 2"/>
            <p:cNvGraphicFramePr/>
            <p:nvPr/>
          </p:nvGraphicFramePr>
          <p:xfrm>
            <a:off x="0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graphicFrame>
          <p:nvGraphicFramePr>
            <p:cNvPr id="2" name="图表 1"/>
            <p:cNvGraphicFramePr/>
            <p:nvPr/>
          </p:nvGraphicFramePr>
          <p:xfrm>
            <a:off x="11554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graphicFrame>
          <p:nvGraphicFramePr>
            <p:cNvPr id="6" name="图表 5"/>
            <p:cNvGraphicFramePr/>
            <p:nvPr/>
          </p:nvGraphicFramePr>
          <p:xfrm>
            <a:off x="5639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graphicFrame>
          <p:nvGraphicFramePr>
            <p:cNvPr id="7" name="图表 6"/>
            <p:cNvGraphicFramePr/>
            <p:nvPr/>
          </p:nvGraphicFramePr>
          <p:xfrm>
            <a:off x="17008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5"/>
            </a:graphicData>
          </a:graphic>
        </p:graphicFrame>
        <p:sp>
          <p:nvSpPr>
            <p:cNvPr id="9" name="文本框 8"/>
            <p:cNvSpPr txBox="1"/>
            <p:nvPr/>
          </p:nvSpPr>
          <p:spPr>
            <a:xfrm>
              <a:off x="0" y="1736"/>
              <a:ext cx="11307" cy="5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25"/>
                <a:t>Horizontal - Structural Zero Part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11554" y="1736"/>
              <a:ext cx="11124" cy="5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25"/>
                <a:t>Horizontal - Binomial (Real Construction) Part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265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2016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7841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2023</a:t>
              </a: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3632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2016</a:t>
              </a: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19208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2023</a:t>
              </a:r>
            </a:p>
          </p:txBody>
        </p:sp>
      </p:grpSp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065" smtClean="0"/>
              <a:t>17</a:t>
            </a:fld>
            <a:endParaRPr lang="de-AT" sz="106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文本框 4"/>
              <p:cNvSpPr txBox="1"/>
              <p:nvPr/>
            </p:nvSpPr>
            <p:spPr>
              <a:xfrm>
                <a:off x="5489682" y="11274130"/>
                <a:ext cx="3511748" cy="52705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de-AT" sz="1420" dirty="0">
                        <a:solidFill>
                          <a:schemeClr val="dk1"/>
                        </a:solidFill>
                        <a:latin typeface="Cambria Math" panose="02040503050406030204" charset="0"/>
                      </a:rPr>
                      <m:t>κ</m:t>
                    </m:r>
                  </m:oMath>
                </a14:m>
                <a:r>
                  <a:rPr lang="en-US" altLang="zh-CN" sz="1420" dirty="0">
                    <a:latin typeface="Arial" panose="020B0604020202020204" pitchFamily="34" charset="0"/>
                  </a:rPr>
                  <a:t>: central building presence probability.</a:t>
                </a:r>
              </a:p>
              <a:p>
                <a:pPr algn="ctr"/>
                <a:r>
                  <a:rPr lang="en-US" altLang="zh-CN" sz="1420" dirty="0">
                    <a:latin typeface="Arial" panose="020B0604020202020204" pitchFamily="34" charset="0"/>
                  </a:rPr>
                  <a:t>δ (delta): decay rate.</a:t>
                </a:r>
              </a:p>
            </p:txBody>
          </p:sp>
        </mc:Choice>
        <mc:Fallback xmlns="">
          <p:sp>
            <p:nvSpPr>
              <p:cNvPr id="182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9682" y="11274130"/>
                <a:ext cx="3511748" cy="527050"/>
              </a:xfrm>
              <a:prstGeom prst="rect">
                <a:avLst/>
              </a:prstGeom>
              <a:blipFill rotWithShape="1">
                <a:blip r:embed="rId2"/>
                <a:stretch>
                  <a:fillRect l="-3" t="-65" r="9" b="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组合 7"/>
          <p:cNvGrpSpPr/>
          <p:nvPr/>
        </p:nvGrpSpPr>
        <p:grpSpPr>
          <a:xfrm>
            <a:off x="3427717" y="5909019"/>
            <a:ext cx="7614992" cy="2646798"/>
            <a:chOff x="775" y="2740"/>
            <a:chExt cx="21319" cy="7410"/>
          </a:xfrm>
        </p:grpSpPr>
        <p:grpSp>
          <p:nvGrpSpPr>
            <p:cNvPr id="6" name="组合 5"/>
            <p:cNvGrpSpPr/>
            <p:nvPr/>
          </p:nvGrpSpPr>
          <p:grpSpPr>
            <a:xfrm>
              <a:off x="775" y="2740"/>
              <a:ext cx="21319" cy="6874"/>
              <a:chOff x="1249" y="1357"/>
              <a:chExt cx="21319" cy="6874"/>
            </a:xfrm>
          </p:grpSpPr>
          <p:sp>
            <p:nvSpPr>
              <p:cNvPr id="126" name="Google Shape;421;p29"/>
              <p:cNvSpPr txBox="1"/>
              <p:nvPr/>
            </p:nvSpPr>
            <p:spPr>
              <a:xfrm>
                <a:off x="7112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large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7" name="Google Shape;422;p29"/>
              <p:cNvSpPr txBox="1"/>
              <p:nvPr/>
            </p:nvSpPr>
            <p:spPr>
              <a:xfrm>
                <a:off x="17905" y="7170"/>
                <a:ext cx="4249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large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8" name="Google Shape;423;p29"/>
              <p:cNvSpPr txBox="1"/>
              <p:nvPr/>
            </p:nvSpPr>
            <p:spPr>
              <a:xfrm>
                <a:off x="1714" y="7170"/>
                <a:ext cx="4044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small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9" name="Google Shape;424;p29"/>
              <p:cNvSpPr txBox="1"/>
              <p:nvPr/>
            </p:nvSpPr>
            <p:spPr>
              <a:xfrm>
                <a:off x="12509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small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32" name="TextBox 12"/>
              <p:cNvSpPr txBox="1"/>
              <p:nvPr/>
            </p:nvSpPr>
            <p:spPr>
              <a:xfrm>
                <a:off x="2886" y="1378"/>
                <a:ext cx="2508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Buildings</a:t>
                </a:r>
              </a:p>
            </p:txBody>
          </p:sp>
          <p:sp>
            <p:nvSpPr>
              <p:cNvPr id="33" name="TextBox 98"/>
              <p:cNvSpPr txBox="1"/>
              <p:nvPr/>
            </p:nvSpPr>
            <p:spPr>
              <a:xfrm>
                <a:off x="11121" y="1505"/>
                <a:ext cx="5239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Constructable Area</a:t>
                </a:r>
              </a:p>
            </p:txBody>
          </p:sp>
          <p:sp>
            <p:nvSpPr>
              <p:cNvPr id="34" name="矩形 33"/>
              <p:cNvSpPr/>
              <p:nvPr/>
            </p:nvSpPr>
            <p:spPr>
              <a:xfrm>
                <a:off x="2073" y="1357"/>
                <a:ext cx="813" cy="813"/>
              </a:xfrm>
              <a:prstGeom prst="rect">
                <a:avLst/>
              </a:prstGeom>
              <a:solidFill>
                <a:srgbClr val="69A2BC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p:sp>
            <p:nvSpPr>
              <p:cNvPr id="37" name="矩形 36"/>
              <p:cNvSpPr/>
              <p:nvPr/>
            </p:nvSpPr>
            <p:spPr>
              <a:xfrm>
                <a:off x="10309" y="1379"/>
                <a:ext cx="813" cy="813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p:grpSp>
            <p:nvGrpSpPr>
              <p:cNvPr id="2" name="组合 1"/>
              <p:cNvGrpSpPr/>
              <p:nvPr/>
            </p:nvGrpSpPr>
            <p:grpSpPr>
              <a:xfrm>
                <a:off x="1249" y="2420"/>
                <a:ext cx="4974" cy="4859"/>
                <a:chOff x="1057" y="2049"/>
                <a:chExt cx="4212" cy="4114"/>
              </a:xfrm>
            </p:grpSpPr>
            <p:pic>
              <p:nvPicPr>
                <p:cNvPr id="38" name="图片 37"/>
                <p:cNvPicPr>
                  <a:picLocks noChangeAspect="1"/>
                </p:cNvPicPr>
                <p:nvPr/>
              </p:nvPicPr>
              <p:blipFill>
                <a:blip r:embed="rId3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57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7" name="椭圆 26"/>
                <p:cNvSpPr/>
                <p:nvPr/>
              </p:nvSpPr>
              <p:spPr>
                <a:xfrm>
                  <a:off x="12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3" name="组合 2"/>
              <p:cNvGrpSpPr/>
              <p:nvPr/>
            </p:nvGrpSpPr>
            <p:grpSpPr>
              <a:xfrm>
                <a:off x="6580" y="2420"/>
                <a:ext cx="4974" cy="4859"/>
                <a:chOff x="5571" y="2049"/>
                <a:chExt cx="4212" cy="4114"/>
              </a:xfrm>
            </p:grpSpPr>
            <p:pic>
              <p:nvPicPr>
                <p:cNvPr id="44" name="图片 43"/>
                <p:cNvPicPr>
                  <a:picLocks noChangeAspect="1"/>
                </p:cNvPicPr>
                <p:nvPr/>
              </p:nvPicPr>
              <p:blipFill>
                <a:blip r:embed="rId4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5571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8" name="椭圆 27"/>
                <p:cNvSpPr/>
                <p:nvPr/>
              </p:nvSpPr>
              <p:spPr>
                <a:xfrm>
                  <a:off x="5813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4" name="组合 3"/>
              <p:cNvGrpSpPr/>
              <p:nvPr/>
            </p:nvGrpSpPr>
            <p:grpSpPr>
              <a:xfrm>
                <a:off x="11910" y="2420"/>
                <a:ext cx="4974" cy="4859"/>
                <a:chOff x="10084" y="2049"/>
                <a:chExt cx="4212" cy="4114"/>
              </a:xfrm>
            </p:grpSpPr>
            <p:pic>
              <p:nvPicPr>
                <p:cNvPr id="45" name="图片 44"/>
                <p:cNvPicPr>
                  <a:picLocks noChangeAspect="1"/>
                </p:cNvPicPr>
                <p:nvPr/>
              </p:nvPicPr>
              <p:blipFill>
                <a:blip r:embed="rId5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084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9" name="椭圆 28"/>
                <p:cNvSpPr/>
                <p:nvPr/>
              </p:nvSpPr>
              <p:spPr>
                <a:xfrm>
                  <a:off x="10347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7" name="组合 6"/>
              <p:cNvGrpSpPr/>
              <p:nvPr/>
            </p:nvGrpSpPr>
            <p:grpSpPr>
              <a:xfrm>
                <a:off x="17241" y="2420"/>
                <a:ext cx="4974" cy="4859"/>
                <a:chOff x="14598" y="2049"/>
                <a:chExt cx="4212" cy="4114"/>
              </a:xfrm>
            </p:grpSpPr>
            <p:pic>
              <p:nvPicPr>
                <p:cNvPr id="46" name="图片 45"/>
                <p:cNvPicPr>
                  <a:picLocks noChangeAspect="1"/>
                </p:cNvPicPr>
                <p:nvPr/>
              </p:nvPicPr>
              <p:blipFill>
                <a:blip r:embed="rId6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4598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30" name="椭圆 29"/>
                <p:cNvSpPr/>
                <p:nvPr/>
              </p:nvSpPr>
              <p:spPr>
                <a:xfrm>
                  <a:off x="148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sp>
            <p:nvSpPr>
              <p:cNvPr id="31" name="TextBox 12"/>
              <p:cNvSpPr txBox="1"/>
              <p:nvPr/>
            </p:nvSpPr>
            <p:spPr>
              <a:xfrm>
                <a:off x="6570" y="1378"/>
                <a:ext cx="3374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Structural Zeros</a:t>
                </a:r>
              </a:p>
            </p:txBody>
          </p:sp>
          <p:sp>
            <p:nvSpPr>
              <p:cNvPr id="39" name="矩形 38"/>
              <p:cNvSpPr/>
              <p:nvPr/>
            </p:nvSpPr>
            <p:spPr>
              <a:xfrm>
                <a:off x="5768" y="1357"/>
                <a:ext cx="813" cy="813"/>
              </a:xfrm>
              <a:prstGeom prst="rect">
                <a:avLst/>
              </a:prstGeom>
              <a:solidFill>
                <a:srgbClr val="BFBFBF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8" name="文本框 87"/>
                  <p:cNvSpPr txBox="1"/>
                  <p:nvPr/>
                </p:nvSpPr>
                <p:spPr>
                  <a:xfrm>
                    <a:off x="15324" y="1378"/>
                    <a:ext cx="7244" cy="94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t">
                    <a:spAutoFit/>
                  </a:bodyPr>
                  <a:lstStyle/>
                  <a:p>
                    <a:pPr marL="0" indent="0">
                      <a:lnSpc>
                        <a:spcPct val="100000"/>
                      </a:lnSpc>
                      <a:spcBef>
                        <a:spcPts val="1200"/>
                      </a:spcBef>
                      <a:buFont typeface="Wingdings" panose="05000000000000000000" charset="0"/>
                      <a:buNone/>
                    </a:pPr>
                    <a14:m>
                      <m:oMath xmlns:m="http://schemas.openxmlformats.org/officeDocument/2006/math"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 (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 </m:t>
                        </m:r>
                      </m:oMath>
                    </a14:m>
                    <a:r>
                      <a:rPr lang="en-US" sz="1595" dirty="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rPr>
                      <a:t> </a:t>
                    </a:r>
                    <a:endParaRPr lang="en-US" altLang="en-US" sz="1595" dirty="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endParaRPr>
                  </a:p>
                </p:txBody>
              </p:sp>
            </mc:Choice>
            <mc:Fallback xmlns="">
              <p:sp>
                <p:nvSpPr>
                  <p:cNvPr id="88" name="文本框 8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24" y="1378"/>
                    <a:ext cx="7244" cy="94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1" name="文本框 60"/>
            <p:cNvSpPr txBox="1"/>
            <p:nvPr/>
          </p:nvSpPr>
          <p:spPr>
            <a:xfrm>
              <a:off x="6703" y="9322"/>
              <a:ext cx="4100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Thinly built</a:t>
              </a: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050" y="9322"/>
              <a:ext cx="4604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 dirty="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sparse</a:t>
              </a: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17634" y="9322"/>
              <a:ext cx="3810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Core-dense</a:t>
              </a: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11759" y="9322"/>
              <a:ext cx="4599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dense</a:t>
              </a:r>
            </a:p>
          </p:txBody>
        </p:sp>
      </p:grpSp>
    </p:spTree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组合 71"/>
          <p:cNvGrpSpPr/>
          <p:nvPr/>
        </p:nvGrpSpPr>
        <p:grpSpPr>
          <a:xfrm>
            <a:off x="3554730" y="2071370"/>
            <a:ext cx="7552055" cy="3625215"/>
            <a:chOff x="5599" y="8364"/>
            <a:chExt cx="11893" cy="5709"/>
          </a:xfrm>
        </p:grpSpPr>
        <p:sp>
          <p:nvSpPr>
            <p:cNvPr id="73" name="矩形 72"/>
            <p:cNvSpPr/>
            <p:nvPr/>
          </p:nvSpPr>
          <p:spPr>
            <a:xfrm>
              <a:off x="5600" y="8364"/>
              <a:ext cx="11893" cy="554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3" name="图片 2"/>
            <p:cNvPicPr/>
            <p:nvPr/>
          </p:nvPicPr>
          <p:blipFill>
            <a:blip r:embed="rId3"/>
            <a:srcRect t="6059" r="30212" b="5321"/>
            <a:stretch>
              <a:fillRect/>
            </a:stretch>
          </p:blipFill>
          <p:spPr>
            <a:xfrm>
              <a:off x="11079" y="8810"/>
              <a:ext cx="5538" cy="3513"/>
            </a:xfrm>
            <a:prstGeom prst="rect">
              <a:avLst/>
            </a:prstGeom>
          </p:spPr>
        </p:pic>
        <p:pic>
          <p:nvPicPr>
            <p:cNvPr id="2" name="图片 1"/>
            <p:cNvPicPr/>
            <p:nvPr/>
          </p:nvPicPr>
          <p:blipFill>
            <a:blip r:embed="rId4"/>
            <a:srcRect t="6058" r="32331" b="5235"/>
            <a:stretch>
              <a:fillRect/>
            </a:stretch>
          </p:blipFill>
          <p:spPr>
            <a:xfrm>
              <a:off x="5599" y="8848"/>
              <a:ext cx="5214" cy="3417"/>
            </a:xfrm>
            <a:prstGeom prst="rect">
              <a:avLst/>
            </a:prstGeom>
          </p:spPr>
        </p:pic>
        <p:sp>
          <p:nvSpPr>
            <p:cNvPr id="55" name="文本框 54"/>
            <p:cNvSpPr txBox="1"/>
            <p:nvPr/>
          </p:nvSpPr>
          <p:spPr>
            <a:xfrm>
              <a:off x="11917" y="12232"/>
              <a:ext cx="993" cy="3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Africa</a:t>
              </a:r>
            </a:p>
          </p:txBody>
        </p:sp>
        <p:sp>
          <p:nvSpPr>
            <p:cNvPr id="56" name="文本框 55"/>
            <p:cNvSpPr txBox="1"/>
            <p:nvPr/>
          </p:nvSpPr>
          <p:spPr>
            <a:xfrm>
              <a:off x="13193" y="12230"/>
              <a:ext cx="1758" cy="6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South &amp; Southeast Asia</a:t>
              </a:r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15010" y="12233"/>
              <a:ext cx="1122" cy="6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>
                  <a:ea typeface="宋体" panose="02010600030101010101" pitchFamily="2" charset="-122"/>
                </a:rPr>
                <a:t>Latin</a:t>
              </a:r>
            </a:p>
            <a:p>
              <a:pPr algn="ctr"/>
              <a:r>
                <a:rPr lang="en-US" altLang="zh-CN" sz="1015">
                  <a:ea typeface="宋体" panose="02010600030101010101" pitchFamily="2" charset="-122"/>
                </a:rPr>
                <a:t>America</a:t>
              </a: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1834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2438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3382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3986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4987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5591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6195" y="13258"/>
              <a:ext cx="415" cy="249"/>
            </a:xfrm>
            <a:prstGeom prst="rect">
              <a:avLst/>
            </a:prstGeom>
            <a:solidFill>
              <a:srgbClr val="9EDAE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6680" y="13222"/>
              <a:ext cx="1918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Developable</a:t>
              </a:r>
            </a:p>
          </p:txBody>
        </p:sp>
        <p:sp>
          <p:nvSpPr>
            <p:cNvPr id="16" name="矩形 15"/>
            <p:cNvSpPr/>
            <p:nvPr/>
          </p:nvSpPr>
          <p:spPr>
            <a:xfrm>
              <a:off x="6195" y="13568"/>
              <a:ext cx="415" cy="249"/>
            </a:xfrm>
            <a:prstGeom prst="rect">
              <a:avLst/>
            </a:prstGeom>
            <a:solidFill>
              <a:srgbClr val="F7B6D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6680" y="13531"/>
              <a:ext cx="2076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Constrianed</a:t>
              </a:r>
            </a:p>
          </p:txBody>
        </p:sp>
        <p:sp>
          <p:nvSpPr>
            <p:cNvPr id="18" name="矩形 17"/>
            <p:cNvSpPr/>
            <p:nvPr/>
          </p:nvSpPr>
          <p:spPr>
            <a:xfrm>
              <a:off x="8824" y="13246"/>
              <a:ext cx="415" cy="249"/>
            </a:xfrm>
            <a:prstGeom prst="rect">
              <a:avLst/>
            </a:prstGeom>
            <a:solidFill>
              <a:srgbClr val="D6272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9" name="矩形 18"/>
            <p:cNvSpPr/>
            <p:nvPr/>
          </p:nvSpPr>
          <p:spPr>
            <a:xfrm>
              <a:off x="8824" y="13556"/>
              <a:ext cx="415" cy="249"/>
            </a:xfrm>
            <a:prstGeom prst="rect">
              <a:avLst/>
            </a:prstGeom>
            <a:solidFill>
              <a:srgbClr val="1F77B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9304" y="13234"/>
              <a:ext cx="2272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Core-Open, Edge-Locked</a:t>
              </a: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9304" y="13519"/>
              <a:ext cx="2272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Core-Limited, Edge-Locked</a:t>
              </a: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7254" y="12936"/>
              <a:ext cx="3164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α-β Categories</a:t>
              </a: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5600" y="8364"/>
              <a:ext cx="5213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/>
                <a:t>(a) Horizontal Constraint Types</a:t>
              </a: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10966" y="8364"/>
              <a:ext cx="6113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/>
                <a:t>(b) Horizontal Construction Types</a:t>
              </a:r>
            </a:p>
          </p:txBody>
        </p:sp>
        <p:sp>
          <p:nvSpPr>
            <p:cNvPr id="46" name="矩形 45"/>
            <p:cNvSpPr/>
            <p:nvPr/>
          </p:nvSpPr>
          <p:spPr>
            <a:xfrm>
              <a:off x="12094" y="13258"/>
              <a:ext cx="415" cy="249"/>
            </a:xfrm>
            <a:prstGeom prst="rect">
              <a:avLst/>
            </a:prstGeom>
            <a:solidFill>
              <a:srgbClr val="B3B3B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2579" y="13222"/>
              <a:ext cx="3164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Sparse</a:t>
              </a:r>
            </a:p>
          </p:txBody>
        </p:sp>
        <p:sp>
          <p:nvSpPr>
            <p:cNvPr id="48" name="矩形 47"/>
            <p:cNvSpPr/>
            <p:nvPr/>
          </p:nvSpPr>
          <p:spPr>
            <a:xfrm>
              <a:off x="12094" y="13568"/>
              <a:ext cx="415" cy="249"/>
            </a:xfrm>
            <a:prstGeom prst="rect">
              <a:avLst/>
            </a:prstGeom>
            <a:solidFill>
              <a:srgbClr val="FFD92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2579" y="13543"/>
              <a:ext cx="3165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Dense</a:t>
              </a:r>
            </a:p>
          </p:txBody>
        </p:sp>
        <p:sp>
          <p:nvSpPr>
            <p:cNvPr id="50" name="矩形 49"/>
            <p:cNvSpPr/>
            <p:nvPr/>
          </p:nvSpPr>
          <p:spPr>
            <a:xfrm>
              <a:off x="14092" y="13246"/>
              <a:ext cx="415" cy="249"/>
            </a:xfrm>
            <a:prstGeom prst="rect">
              <a:avLst/>
            </a:prstGeom>
            <a:solidFill>
              <a:srgbClr val="8DA0C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51" name="矩形 50"/>
            <p:cNvSpPr/>
            <p:nvPr/>
          </p:nvSpPr>
          <p:spPr>
            <a:xfrm>
              <a:off x="14092" y="13556"/>
              <a:ext cx="415" cy="249"/>
            </a:xfrm>
            <a:prstGeom prst="rect">
              <a:avLst/>
            </a:prstGeom>
            <a:solidFill>
              <a:srgbClr val="66C2A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4572" y="13234"/>
              <a:ext cx="2506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Small-Core, Sparse-Periphery</a:t>
              </a:r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4572" y="13519"/>
              <a:ext cx="2507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Dense-Core, Sparse-Periphery</a:t>
              </a: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2952" y="12900"/>
              <a:ext cx="3164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κ-δ Categories</a:t>
              </a:r>
            </a:p>
          </p:txBody>
        </p:sp>
        <p:grpSp>
          <p:nvGrpSpPr>
            <p:cNvPr id="70" name="组合 69"/>
            <p:cNvGrpSpPr/>
            <p:nvPr/>
          </p:nvGrpSpPr>
          <p:grpSpPr>
            <a:xfrm>
              <a:off x="6298" y="8820"/>
              <a:ext cx="4295" cy="4046"/>
              <a:chOff x="3143" y="2576"/>
              <a:chExt cx="6906" cy="6504"/>
            </a:xfrm>
          </p:grpSpPr>
          <p:sp>
            <p:nvSpPr>
              <p:cNvPr id="10" name="文本框 9"/>
              <p:cNvSpPr txBox="1"/>
              <p:nvPr/>
            </p:nvSpPr>
            <p:spPr>
              <a:xfrm>
                <a:off x="3279" y="8057"/>
                <a:ext cx="1602" cy="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Africa</a:t>
                </a:r>
              </a:p>
            </p:txBody>
          </p:sp>
          <p:sp>
            <p:nvSpPr>
              <p:cNvPr id="11" name="文本框 10"/>
              <p:cNvSpPr txBox="1"/>
              <p:nvPr/>
            </p:nvSpPr>
            <p:spPr>
              <a:xfrm>
                <a:off x="5187" y="8058"/>
                <a:ext cx="2769" cy="1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South &amp; Southeast Asia</a:t>
                </a:r>
              </a:p>
            </p:txBody>
          </p:sp>
          <p:sp>
            <p:nvSpPr>
              <p:cNvPr id="12" name="文本框 11"/>
              <p:cNvSpPr txBox="1"/>
              <p:nvPr/>
            </p:nvSpPr>
            <p:spPr>
              <a:xfrm>
                <a:off x="8099" y="8058"/>
                <a:ext cx="1810" cy="1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Latin</a:t>
                </a:r>
              </a:p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America</a:t>
                </a: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3143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4118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5642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6617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8141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9116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</p:grpSp>
      </p:grpSp>
      <p:grpSp>
        <p:nvGrpSpPr>
          <p:cNvPr id="9" name="组合 8"/>
          <p:cNvGrpSpPr/>
          <p:nvPr/>
        </p:nvGrpSpPr>
        <p:grpSpPr>
          <a:xfrm>
            <a:off x="5178425" y="7110730"/>
            <a:ext cx="4069715" cy="3889375"/>
            <a:chOff x="5457" y="1090"/>
            <a:chExt cx="10553" cy="10888"/>
          </a:xfrm>
        </p:grpSpPr>
        <p:sp>
          <p:nvSpPr>
            <p:cNvPr id="4" name="矩形 3"/>
            <p:cNvSpPr/>
            <p:nvPr/>
          </p:nvSpPr>
          <p:spPr>
            <a:xfrm>
              <a:off x="5457" y="1090"/>
              <a:ext cx="10553" cy="1077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8" name="图片 7"/>
            <p:cNvPicPr/>
            <p:nvPr/>
          </p:nvPicPr>
          <p:blipFill>
            <a:blip r:embed="rId5"/>
            <a:srcRect r="23787" b="5455"/>
            <a:stretch>
              <a:fillRect/>
            </a:stretch>
          </p:blipFill>
          <p:spPr>
            <a:xfrm>
              <a:off x="5683" y="2161"/>
              <a:ext cx="9394" cy="5868"/>
            </a:xfrm>
            <a:prstGeom prst="rect">
              <a:avLst/>
            </a:prstGeom>
          </p:spPr>
        </p:pic>
        <p:sp>
          <p:nvSpPr>
            <p:cNvPr id="5" name="文本框 4"/>
            <p:cNvSpPr txBox="1"/>
            <p:nvPr/>
          </p:nvSpPr>
          <p:spPr>
            <a:xfrm>
              <a:off x="6120" y="1175"/>
              <a:ext cx="9268" cy="8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dirty="0"/>
                <a:t>Vertical - Height</a:t>
              </a:r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8369" y="9019"/>
              <a:ext cx="56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Vertical Profile Categories</a:t>
              </a:r>
            </a:p>
          </p:txBody>
        </p:sp>
        <p:grpSp>
          <p:nvGrpSpPr>
            <p:cNvPr id="7" name="组合 6"/>
            <p:cNvGrpSpPr/>
            <p:nvPr/>
          </p:nvGrpSpPr>
          <p:grpSpPr>
            <a:xfrm>
              <a:off x="6974" y="1967"/>
              <a:ext cx="7820" cy="7193"/>
              <a:chOff x="3143" y="2576"/>
              <a:chExt cx="7072" cy="6504"/>
            </a:xfrm>
          </p:grpSpPr>
          <p:sp>
            <p:nvSpPr>
              <p:cNvPr id="13" name="文本框 12"/>
              <p:cNvSpPr txBox="1"/>
              <p:nvPr/>
            </p:nvSpPr>
            <p:spPr>
              <a:xfrm>
                <a:off x="3279" y="8057"/>
                <a:ext cx="1602" cy="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Africa</a:t>
                </a:r>
              </a:p>
            </p:txBody>
          </p:sp>
          <p:sp>
            <p:nvSpPr>
              <p:cNvPr id="22" name="文本框 21"/>
              <p:cNvSpPr txBox="1"/>
              <p:nvPr/>
            </p:nvSpPr>
            <p:spPr>
              <a:xfrm>
                <a:off x="5397" y="8058"/>
                <a:ext cx="2558" cy="1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South &amp; Southeast Asia</a:t>
                </a: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8099" y="7743"/>
                <a:ext cx="2116" cy="9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Latin</a:t>
                </a:r>
              </a:p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America</a:t>
                </a:r>
              </a:p>
            </p:txBody>
          </p:sp>
          <p:sp>
            <p:nvSpPr>
              <p:cNvPr id="24" name="文本框 23"/>
              <p:cNvSpPr txBox="1"/>
              <p:nvPr/>
            </p:nvSpPr>
            <p:spPr>
              <a:xfrm>
                <a:off x="3143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4118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  <p:sp>
            <p:nvSpPr>
              <p:cNvPr id="26" name="文本框 25"/>
              <p:cNvSpPr txBox="1"/>
              <p:nvPr/>
            </p:nvSpPr>
            <p:spPr>
              <a:xfrm>
                <a:off x="5642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6617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8141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9116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</p:grpSp>
        <p:sp>
          <p:nvSpPr>
            <p:cNvPr id="32" name="矩形 31"/>
            <p:cNvSpPr/>
            <p:nvPr/>
          </p:nvSpPr>
          <p:spPr>
            <a:xfrm>
              <a:off x="7005" y="9636"/>
              <a:ext cx="619" cy="442"/>
            </a:xfrm>
            <a:prstGeom prst="rect">
              <a:avLst/>
            </a:prstGeom>
            <a:solidFill>
              <a:srgbClr val="66C2A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33" name="矩形 32"/>
            <p:cNvSpPr/>
            <p:nvPr/>
          </p:nvSpPr>
          <p:spPr>
            <a:xfrm>
              <a:off x="7005" y="10214"/>
              <a:ext cx="619" cy="442"/>
            </a:xfrm>
            <a:prstGeom prst="rect">
              <a:avLst/>
            </a:prstGeom>
            <a:solidFill>
              <a:srgbClr val="FC8D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34" name="文本框 33"/>
            <p:cNvSpPr txBox="1"/>
            <p:nvPr/>
          </p:nvSpPr>
          <p:spPr>
            <a:xfrm>
              <a:off x="7740" y="9636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Crown</a:t>
              </a: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7740" y="10182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Pyramid</a:t>
              </a:r>
            </a:p>
          </p:txBody>
        </p:sp>
        <p:sp>
          <p:nvSpPr>
            <p:cNvPr id="37" name="矩形 36"/>
            <p:cNvSpPr/>
            <p:nvPr/>
          </p:nvSpPr>
          <p:spPr>
            <a:xfrm>
              <a:off x="7005" y="10792"/>
              <a:ext cx="619" cy="442"/>
            </a:xfrm>
            <a:prstGeom prst="rect">
              <a:avLst/>
            </a:prstGeom>
            <a:solidFill>
              <a:srgbClr val="8DA0C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7740" y="10728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Volcanic</a:t>
              </a:r>
            </a:p>
          </p:txBody>
        </p:sp>
        <p:sp>
          <p:nvSpPr>
            <p:cNvPr id="39" name="矩形 38"/>
            <p:cNvSpPr/>
            <p:nvPr/>
          </p:nvSpPr>
          <p:spPr>
            <a:xfrm>
              <a:off x="11399" y="10812"/>
              <a:ext cx="653" cy="442"/>
            </a:xfrm>
            <a:prstGeom prst="rect">
              <a:avLst/>
            </a:prstGeom>
            <a:solidFill>
              <a:srgbClr val="E5C49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2163" y="10784"/>
              <a:ext cx="32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Pyramid</a:t>
              </a:r>
            </a:p>
          </p:txBody>
        </p:sp>
        <p:sp>
          <p:nvSpPr>
            <p:cNvPr id="41" name="矩形 40"/>
            <p:cNvSpPr/>
            <p:nvPr/>
          </p:nvSpPr>
          <p:spPr>
            <a:xfrm>
              <a:off x="11399" y="9636"/>
              <a:ext cx="653" cy="442"/>
            </a:xfrm>
            <a:prstGeom prst="rect">
              <a:avLst/>
            </a:prstGeom>
            <a:solidFill>
              <a:srgbClr val="A6D85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2" name="矩形 41"/>
            <p:cNvSpPr/>
            <p:nvPr/>
          </p:nvSpPr>
          <p:spPr>
            <a:xfrm>
              <a:off x="11399" y="10242"/>
              <a:ext cx="653" cy="442"/>
            </a:xfrm>
            <a:prstGeom prst="rect">
              <a:avLst/>
            </a:prstGeom>
            <a:solidFill>
              <a:srgbClr val="FFD92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12163" y="9636"/>
              <a:ext cx="3224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Bowl</a:t>
              </a:r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12163" y="10210"/>
              <a:ext cx="3224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Crown</a:t>
              </a:r>
            </a:p>
          </p:txBody>
        </p:sp>
        <p:sp>
          <p:nvSpPr>
            <p:cNvPr id="45" name="矩形 44"/>
            <p:cNvSpPr/>
            <p:nvPr/>
          </p:nvSpPr>
          <p:spPr>
            <a:xfrm>
              <a:off x="11399" y="11403"/>
              <a:ext cx="653" cy="442"/>
            </a:xfrm>
            <a:prstGeom prst="rect">
              <a:avLst/>
            </a:prstGeom>
            <a:solidFill>
              <a:srgbClr val="B3B3B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71" name="文本框 70"/>
            <p:cNvSpPr txBox="1"/>
            <p:nvPr/>
          </p:nvSpPr>
          <p:spPr>
            <a:xfrm>
              <a:off x="12163" y="11358"/>
              <a:ext cx="32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Volcanic</a:t>
              </a:r>
            </a:p>
          </p:txBody>
        </p:sp>
      </p:grpSp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276*166"/>
  <p:tag name="TABLE_ENDDRAG_RECT" val="820*321*276*166"/>
</p:tagLst>
</file>

<file path=ppt/tags/tag2.xml><?xml version="1.0" encoding="utf-8"?>
<p:tagLst xmlns:p="http://schemas.openxmlformats.org/presentationml/2006/main">
  <p:tag name="TABLE_ENDDRAG_ORIGIN_RECT" val="276*166"/>
  <p:tag name="TABLE_ENDDRAG_RECT" val="820*321*276*166"/>
</p:tagLst>
</file>

<file path=ppt/theme/theme1.xml><?xml version="1.0" encoding="utf-8"?>
<a:theme xmlns:a="http://schemas.openxmlformats.org/drawingml/2006/main" name="WPS">
  <a:themeElements>
    <a:clrScheme name="Custom 1">
      <a:dk1>
        <a:srgbClr val="000000"/>
      </a:dk1>
      <a:lt1>
        <a:srgbClr val="FFFFFF"/>
      </a:lt1>
      <a:dk2>
        <a:srgbClr val="B6E1FF"/>
      </a:dk2>
      <a:lt2>
        <a:srgbClr val="4488FF"/>
      </a:lt2>
      <a:accent1>
        <a:srgbClr val="D3B137"/>
      </a:accent1>
      <a:accent2>
        <a:srgbClr val="FEF436"/>
      </a:accent2>
      <a:accent3>
        <a:srgbClr val="C577E2"/>
      </a:accent3>
      <a:accent4>
        <a:srgbClr val="DAC7FF"/>
      </a:accent4>
      <a:accent5>
        <a:srgbClr val="6EDC8B"/>
      </a:accent5>
      <a:accent6>
        <a:srgbClr val="2AB320"/>
      </a:accent6>
      <a:hlink>
        <a:srgbClr val="B6E1FF"/>
      </a:hlink>
      <a:folHlink>
        <a:srgbClr val="B6E1FF"/>
      </a:folHlink>
    </a:clrScheme>
    <a:fontScheme name="WPS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2025</Words>
  <Application>Microsoft Office PowerPoint</Application>
  <PresentationFormat>Custom</PresentationFormat>
  <Paragraphs>643</Paragraphs>
  <Slides>18</Slides>
  <Notes>5</Notes>
  <HiddenSlides>7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宋体</vt:lpstr>
      <vt:lpstr>东文宋体</vt:lpstr>
      <vt:lpstr>Arial</vt:lpstr>
      <vt:lpstr>Cambria Math</vt:lpstr>
      <vt:lpstr>Wingdings</vt:lpstr>
      <vt:lpstr>WPS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April Liang</dc:creator>
  <cp:lastModifiedBy>Jiaqi Liang</cp:lastModifiedBy>
  <cp:revision>45</cp:revision>
  <dcterms:created xsi:type="dcterms:W3CDTF">2026-05-22T16:15:56Z</dcterms:created>
  <dcterms:modified xsi:type="dcterms:W3CDTF">2026-06-12T14:48:30Z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2052-12.1.2.25882</vt:lpwstr>
  </property>
  <property fmtid="{D5CDD505-2E9C-101B-9397-08002B2CF9AE}" pid="3" name="ICV">
    <vt:lpwstr>0364E104D99840A39D3DA0694DD01CB9_41</vt:lpwstr>
  </property>
</Properties>
</file>