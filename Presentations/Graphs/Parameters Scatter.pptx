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7"/>
  </p:handoutMasterIdLst>
  <p:sldIdLst>
    <p:sldId id="256" r:id="rId3"/>
    <p:sldId id="257" r:id="rId4"/>
    <p:sldId id="258" r:id="rId6"/>
    <p:sldId id="262" r:id="rId7"/>
    <p:sldId id="263" r:id="rId8"/>
    <p:sldId id="264" r:id="rId9"/>
    <p:sldId id="260" r:id="rId10"/>
    <p:sldId id="267" r:id="rId11"/>
    <p:sldId id="259" r:id="rId12"/>
    <p:sldId id="266" r:id="rId13"/>
    <p:sldId id="261" r:id="rId14"/>
    <p:sldId id="265" r:id="rId15"/>
    <p:sldId id="268" r:id="rId16"/>
  </p:sldIdLst>
  <p:sldSz cx="14399895" cy="809942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81244984-ffb1-4a92-8f35-ff698557d6d0}">
          <p14:sldIdLst>
            <p14:sldId id="256"/>
            <p14:sldId id="257"/>
            <p14:sldId id="258"/>
          </p14:sldIdLst>
        </p14:section>
        <p14:section name="无标题节" id="{7174f263-5ff1-488a-9ba9-16647ead2f01}">
          <p14:sldIdLst>
            <p14:sldId id="260"/>
            <p14:sldId id="267"/>
            <p14:sldId id="259"/>
            <p14:sldId id="266"/>
            <p14:sldId id="261"/>
            <p14:sldId id="265"/>
            <p14:sldId id="268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551" userDrawn="1">
          <p15:clr>
            <a:srgbClr val="A4A3A4"/>
          </p15:clr>
        </p15:guide>
        <p15:guide id="2" pos="444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9467BD"/>
    <a:srgbClr val="2CA02C"/>
    <a:srgbClr val="1F77B4"/>
    <a:srgbClr val="3C9749"/>
    <a:srgbClr val="A884C9"/>
    <a:srgbClr val="A985CA"/>
    <a:srgbClr val="7FC6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551"/>
        <p:guide pos="444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000" y="1562554"/>
            <a:ext cx="10800000" cy="2583072"/>
          </a:xfrm>
        </p:spPr>
        <p:txBody>
          <a:bodyPr anchor="b">
            <a:normAutofit/>
          </a:bodyPr>
          <a:lstStyle>
            <a:lvl1pPr algn="ctr">
              <a:defRPr sz="708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000" y="4254376"/>
            <a:ext cx="10800000" cy="1955625"/>
          </a:xfrm>
        </p:spPr>
        <p:txBody>
          <a:bodyPr>
            <a:normAutofit/>
          </a:bodyPr>
          <a:lstStyle>
            <a:lvl1pPr marL="0" indent="0" algn="ctr">
              <a:buNone/>
              <a:defRPr sz="212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539750" indent="0" algn="ctr">
              <a:buNone/>
              <a:defRPr sz="2360"/>
            </a:lvl2pPr>
            <a:lvl3pPr marL="1080135" indent="0" algn="ctr">
              <a:buNone/>
              <a:defRPr sz="2125"/>
            </a:lvl3pPr>
            <a:lvl4pPr marL="1619885" indent="0" algn="ctr">
              <a:buNone/>
              <a:defRPr sz="1890"/>
            </a:lvl4pPr>
            <a:lvl5pPr marL="2160270" indent="0" algn="ctr">
              <a:buNone/>
              <a:defRPr sz="1890"/>
            </a:lvl5pPr>
            <a:lvl6pPr marL="2700020" indent="0" algn="ctr">
              <a:buNone/>
              <a:defRPr sz="1890"/>
            </a:lvl6pPr>
            <a:lvl7pPr marL="3239770" indent="0" algn="ctr">
              <a:buNone/>
              <a:defRPr sz="1890"/>
            </a:lvl7pPr>
            <a:lvl8pPr marL="3780155" indent="0" algn="ctr">
              <a:buNone/>
              <a:defRPr sz="1890"/>
            </a:lvl8pPr>
            <a:lvl9pPr marL="4319905" indent="0" algn="ctr">
              <a:buNone/>
              <a:defRPr sz="189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00" y="2156250"/>
            <a:ext cx="12420000" cy="5139376"/>
          </a:xfrm>
        </p:spPr>
        <p:txBody>
          <a:bodyPr>
            <a:normAutofit/>
          </a:bodyPr>
          <a:lstStyle>
            <a:lvl1pPr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00" y="4430453"/>
            <a:ext cx="8647500" cy="958296"/>
          </a:xfrm>
        </p:spPr>
        <p:txBody>
          <a:bodyPr anchor="b">
            <a:normAutofit/>
          </a:bodyPr>
          <a:lstStyle>
            <a:lvl1pPr>
              <a:defRPr sz="472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00" y="5444915"/>
            <a:ext cx="8647500" cy="764829"/>
          </a:xfrm>
        </p:spPr>
        <p:txBody>
          <a:bodyPr>
            <a:normAutofit/>
          </a:bodyPr>
          <a:lstStyle>
            <a:lvl1pPr marL="0" indent="0">
              <a:buNone/>
              <a:defRPr sz="2125">
                <a:solidFill>
                  <a:schemeClr val="tx1"/>
                </a:solidFill>
              </a:defRPr>
            </a:lvl1pPr>
            <a:lvl2pPr marL="5397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2pPr>
            <a:lvl3pPr marL="1080135" indent="0">
              <a:buNone/>
              <a:defRPr sz="2125">
                <a:solidFill>
                  <a:schemeClr val="tx1">
                    <a:tint val="75000"/>
                  </a:schemeClr>
                </a:solidFill>
              </a:defRPr>
            </a:lvl3pPr>
            <a:lvl4pPr marL="161988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602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7000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8015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0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>
            <a:normAutofit/>
          </a:bodyPr>
          <a:lstStyle>
            <a:lvl1pPr>
              <a:defRPr sz="283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876" y="431250"/>
            <a:ext cx="12420000" cy="156562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876" y="2060978"/>
            <a:ext cx="6091875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876" y="3089302"/>
            <a:ext cx="6091875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000" y="2060978"/>
            <a:ext cx="6121876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000" y="3089302"/>
            <a:ext cx="6121876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00" y="3267188"/>
            <a:ext cx="12420000" cy="1565626"/>
          </a:xfrm>
        </p:spPr>
        <p:txBody>
          <a:bodyPr>
            <a:normAutofit/>
          </a:bodyPr>
          <a:lstStyle>
            <a:lvl1pPr algn="ctr">
              <a:defRPr sz="567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874" y="150000"/>
            <a:ext cx="4919528" cy="1890000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2835" y="905143"/>
            <a:ext cx="6870916" cy="6017063"/>
          </a:xfrm>
        </p:spPr>
        <p:txBody>
          <a:bodyPr/>
          <a:lstStyle>
            <a:lvl1pPr marL="0" indent="0">
              <a:buNone/>
              <a:defRPr sz="3780"/>
            </a:lvl1pPr>
            <a:lvl2pPr marL="539750" indent="0">
              <a:buNone/>
              <a:defRPr sz="3305"/>
            </a:lvl2pPr>
            <a:lvl3pPr marL="1080135" indent="0">
              <a:buNone/>
              <a:defRPr sz="2835"/>
            </a:lvl3pPr>
            <a:lvl4pPr marL="1619885" indent="0">
              <a:buNone/>
              <a:defRPr sz="2360"/>
            </a:lvl4pPr>
            <a:lvl5pPr marL="2160270" indent="0">
              <a:buNone/>
              <a:defRPr sz="2360"/>
            </a:lvl5pPr>
            <a:lvl6pPr marL="2700020" indent="0">
              <a:buNone/>
              <a:defRPr sz="2360"/>
            </a:lvl6pPr>
            <a:lvl7pPr marL="3239770" indent="0">
              <a:buNone/>
              <a:defRPr sz="2360"/>
            </a:lvl7pPr>
            <a:lvl8pPr marL="3780155" indent="0">
              <a:buNone/>
              <a:defRPr sz="2360"/>
            </a:lvl8pPr>
            <a:lvl9pPr marL="4319905" indent="0">
              <a:buNone/>
              <a:defRPr sz="236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874" y="2430000"/>
            <a:ext cx="4919528" cy="450187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90"/>
            </a:lvl1pPr>
            <a:lvl2pPr marL="539750" indent="0">
              <a:buNone/>
              <a:defRPr sz="1655"/>
            </a:lvl2pPr>
            <a:lvl3pPr marL="1080135" indent="0">
              <a:buNone/>
              <a:defRPr sz="1415"/>
            </a:lvl3pPr>
            <a:lvl4pPr marL="1619885" indent="0">
              <a:buNone/>
              <a:defRPr sz="1180"/>
            </a:lvl4pPr>
            <a:lvl5pPr marL="2160270" indent="0">
              <a:buNone/>
              <a:defRPr sz="1180"/>
            </a:lvl5pPr>
            <a:lvl6pPr marL="2700020" indent="0">
              <a:buNone/>
              <a:defRPr sz="1180"/>
            </a:lvl6pPr>
            <a:lvl7pPr marL="3239770" indent="0">
              <a:buNone/>
              <a:defRPr sz="1180"/>
            </a:lvl7pPr>
            <a:lvl8pPr marL="3780155" indent="0">
              <a:buNone/>
              <a:defRPr sz="1180"/>
            </a:lvl8pPr>
            <a:lvl9pPr marL="4319905" indent="0">
              <a:buNone/>
              <a:defRPr sz="118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3722" y="431250"/>
            <a:ext cx="1806279" cy="6864376"/>
          </a:xfrm>
        </p:spPr>
        <p:txBody>
          <a:bodyPr vert="eaVert">
            <a:normAutofit/>
          </a:bodyPr>
          <a:lstStyle>
            <a:lvl1pPr>
              <a:defRPr sz="42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00" y="431250"/>
            <a:ext cx="10488140" cy="6864376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00" y="651429"/>
            <a:ext cx="12420000" cy="656571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00" y="431250"/>
            <a:ext cx="12420000" cy="1565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00" y="2156250"/>
            <a:ext cx="12420000" cy="5139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000" y="7507500"/>
            <a:ext cx="486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080135" rtl="0" eaLnBrk="1" latinLnBrk="0" hangingPunct="1">
        <a:lnSpc>
          <a:spcPct val="90000"/>
        </a:lnSpc>
        <a:spcBef>
          <a:spcPct val="0"/>
        </a:spcBef>
        <a:buNone/>
        <a:defRPr sz="47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69875" indent="-269875" algn="l" defTabSz="1080135" rtl="0" eaLnBrk="1" latinLnBrk="0" hangingPunct="1">
        <a:lnSpc>
          <a:spcPct val="90000"/>
        </a:lnSpc>
        <a:spcBef>
          <a:spcPts val="118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8102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35001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8897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243014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96989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5102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405003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5897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3pPr>
      <a:lvl4pPr marL="161988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5pPr>
      <a:lvl6pPr marL="270002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2397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31990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1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48.png"/><Relationship Id="rId8" Type="http://schemas.openxmlformats.org/officeDocument/2006/relationships/image" Target="../media/image47.png"/><Relationship Id="rId7" Type="http://schemas.openxmlformats.org/officeDocument/2006/relationships/image" Target="../media/image46.png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3" Type="http://schemas.openxmlformats.org/officeDocument/2006/relationships/image" Target="../media/image42.png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51.png"/><Relationship Id="rId11" Type="http://schemas.openxmlformats.org/officeDocument/2006/relationships/image" Target="../media/image50.png"/><Relationship Id="rId10" Type="http://schemas.openxmlformats.org/officeDocument/2006/relationships/image" Target="../media/image49.png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0.png"/><Relationship Id="rId8" Type="http://schemas.openxmlformats.org/officeDocument/2006/relationships/image" Target="../media/image59.png"/><Relationship Id="rId7" Type="http://schemas.openxmlformats.org/officeDocument/2006/relationships/image" Target="../media/image58.png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2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69.png"/><Relationship Id="rId8" Type="http://schemas.openxmlformats.org/officeDocument/2006/relationships/image" Target="../media/image68.png"/><Relationship Id="rId7" Type="http://schemas.openxmlformats.org/officeDocument/2006/relationships/image" Target="../media/image67.png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72.png"/><Relationship Id="rId11" Type="http://schemas.openxmlformats.org/officeDocument/2006/relationships/image" Target="../media/image71.png"/><Relationship Id="rId10" Type="http://schemas.openxmlformats.org/officeDocument/2006/relationships/image" Target="../media/image70.png"/><Relationship Id="rId1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930135" y="915640"/>
            <a:ext cx="10486390" cy="6350635"/>
            <a:chOff x="1301" y="464"/>
            <a:chExt cx="16514" cy="10001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100%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0.6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0.3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70%</a:t>
              </a:r>
              <a:endParaRPr lang="en-US" altLang="zh-CN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20%</a:t>
              </a:r>
              <a:endParaRPr lang="en-US" altLang="zh-CN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 rot="0">
            <a:off x="1950720" y="693420"/>
            <a:ext cx="10474960" cy="6572885"/>
            <a:chOff x="1333" y="114"/>
            <a:chExt cx="16496" cy="10351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351"/>
              <a:chOff x="1333" y="114"/>
              <a:chExt cx="16496" cy="10351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 rot="0"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 rot="0">
                <a:off x="1984" y="8434"/>
                <a:ext cx="15595" cy="2031"/>
                <a:chOff x="2352" y="8858"/>
                <a:chExt cx="15488" cy="2031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2016</a:t>
                  </a:r>
                  <a:endParaRPr lang="en-US" altLang="zh-CN" sz="16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2016</a:t>
                  </a:r>
                  <a:endParaRPr lang="en-US" altLang="zh-CN" sz="16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2023</a:t>
                  </a:r>
                  <a:endParaRPr lang="en-US" altLang="zh-CN" sz="16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2016</a:t>
                  </a:r>
                  <a:endParaRPr lang="en-US" altLang="zh-CN" sz="16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2023</a:t>
                  </a:r>
                  <a:endParaRPr lang="en-US" altLang="zh-CN" sz="16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South&amp;South-east Asia, 2016</a:t>
                  </a:r>
                  <a:endParaRPr lang="en-US" altLang="zh-CN" sz="16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Asia, 2023</a:t>
                  </a:r>
                  <a:endParaRPr lang="en-US" altLang="zh-CN" sz="16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2016</a:t>
                  </a:r>
                  <a:endParaRPr lang="en-US" altLang="zh-CN" sz="16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2023</a:t>
                  </a:r>
                  <a:endParaRPr lang="en-US" altLang="zh-CN" sz="16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2016</a:t>
                  </a:r>
                  <a:endParaRPr lang="zh-CN" altLang="en-US" sz="16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2023</a:t>
                  </a:r>
                  <a:endParaRPr lang="en-US" altLang="zh-CN" sz="16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2023</a:t>
                  </a:r>
                  <a:endParaRPr lang="en-US" altLang="zh-CN" sz="16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100%</a:t>
                </a:r>
                <a:endParaRPr lang="en-US" altLang="zh-CN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0.6</a:t>
                </a:r>
                <a:endParaRPr lang="en-US" altLang="zh-CN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0.3</a:t>
                </a:r>
                <a:endParaRPr lang="en-US" altLang="zh-CN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70%</a:t>
                </a:r>
                <a:endParaRPr lang="en-US" altLang="zh-CN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20%</a:t>
                </a:r>
                <a:endParaRPr lang="en-US" altLang="zh-CN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-0.2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-0.4</a:t>
                </a:r>
                <a:endParaRPr lang="en-US" altLang="zh-CN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ctr"/>
                <a:r>
                  <a:rPr lang="en-US" altLang="zh-CN" sz="2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2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69" name="组合 68"/>
          <p:cNvGrpSpPr/>
          <p:nvPr/>
        </p:nvGrpSpPr>
        <p:grpSpPr>
          <a:xfrm>
            <a:off x="1104000" y="845790"/>
            <a:ext cx="12237720" cy="6249035"/>
            <a:chOff x="0" y="354"/>
            <a:chExt cx="19272" cy="9841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24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grpSp>
          <p:nvGrpSpPr>
            <p:cNvPr id="56" name="组合 55"/>
            <p:cNvGrpSpPr/>
            <p:nvPr/>
          </p:nvGrpSpPr>
          <p:grpSpPr>
            <a:xfrm rot="0">
              <a:off x="2061" y="816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608815" y="1964025"/>
            <a:ext cx="14954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7385184" y="5502359"/>
                <a:ext cx="2519071" cy="43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 large, </a:t>
                </a:r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2205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small</a:t>
                </a:r>
                <a:endParaRPr lang="en-US" sz="2205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184" y="5502359"/>
                <a:ext cx="2519071" cy="431165"/>
              </a:xfrm>
              <a:prstGeom prst="rect">
                <a:avLst/>
              </a:prstGeom>
              <a:blipFill rotWithShape="1">
                <a:blip r:embed="rId1"/>
                <a:stretch>
                  <a:fillRect l="-5" t="-19" r="6" b="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97159" y="5490360"/>
                <a:ext cx="2573067" cy="43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 small, </a:t>
                </a:r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2205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small</a:t>
                </a:r>
                <a:endParaRPr lang="en-US" sz="2205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159" y="5490360"/>
                <a:ext cx="2573067" cy="431165"/>
              </a:xfrm>
              <a:prstGeom prst="rect">
                <a:avLst/>
              </a:prstGeom>
              <a:blipFill rotWithShape="1">
                <a:blip r:embed="rId2"/>
                <a:stretch>
                  <a:fillRect l="-22" t="-35" r="24" b="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10675201" y="5490360"/>
                <a:ext cx="2573067" cy="43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 large, </a:t>
                </a:r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2205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large</a:t>
                </a:r>
                <a:endParaRPr lang="en-US" sz="2205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01" y="5490360"/>
                <a:ext cx="2573067" cy="431165"/>
              </a:xfrm>
              <a:prstGeom prst="rect">
                <a:avLst/>
              </a:prstGeom>
              <a:blipFill rotWithShape="1">
                <a:blip r:embed="rId3"/>
                <a:stretch>
                  <a:fillRect l="-8" t="-35" r="10" b="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/>
              <p:cNvSpPr txBox="1"/>
              <p:nvPr/>
            </p:nvSpPr>
            <p:spPr>
              <a:xfrm>
                <a:off x="4041172" y="5484361"/>
                <a:ext cx="2573067" cy="43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 </a:t>
                </a:r>
                <a:r>
                  <a:rPr lang="en-US" altLang="zh-CN" sz="2205" dirty="0">
                    <a:latin typeface="Arial" panose="020B0604020202020204" pitchFamily="34" charset="0"/>
                  </a:rPr>
                  <a:t>small</a:t>
                </a:r>
                <a:r>
                  <a:rPr lang="en-US" sz="2205" dirty="0">
                    <a:latin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2205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altLang="zh-CN" sz="2205" dirty="0">
                    <a:latin typeface="Arial" panose="020B0604020202020204" pitchFamily="34" charset="0"/>
                  </a:rPr>
                  <a:t>large</a:t>
                </a:r>
                <a:endParaRPr lang="en-US" sz="2205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172" y="5484361"/>
                <a:ext cx="2573067" cy="431165"/>
              </a:xfrm>
              <a:prstGeom prst="rect">
                <a:avLst/>
              </a:prstGeom>
              <a:blipFill rotWithShape="1">
                <a:blip r:embed="rId4"/>
                <a:stretch>
                  <a:fillRect l="-1" t="-116" r="3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12"/>
          <p:cNvSpPr txBox="1"/>
          <p:nvPr/>
        </p:nvSpPr>
        <p:spPr>
          <a:xfrm>
            <a:off x="1679589" y="1685880"/>
            <a:ext cx="4732164" cy="38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90" dirty="0">
                <a:latin typeface="Arial" panose="020B0604020202020204" pitchFamily="34" charset="0"/>
              </a:rPr>
              <a:t>Structural Zeros (cannot be constructed)</a:t>
            </a:r>
            <a:endParaRPr lang="en-US" sz="1890" dirty="0">
              <a:latin typeface="Arial" panose="020B0604020202020204" pitchFamily="34" charset="0"/>
            </a:endParaRPr>
          </a:p>
        </p:txBody>
      </p:sp>
      <p:sp>
        <p:nvSpPr>
          <p:cNvPr id="33" name="TextBox 98"/>
          <p:cNvSpPr txBox="1"/>
          <p:nvPr/>
        </p:nvSpPr>
        <p:spPr>
          <a:xfrm>
            <a:off x="6908968" y="1699379"/>
            <a:ext cx="3326764" cy="38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90" dirty="0">
                <a:latin typeface="Arial" panose="020B0604020202020204" pitchFamily="34" charset="0"/>
              </a:rPr>
              <a:t>Constructable Area</a:t>
            </a:r>
            <a:endParaRPr lang="en-US" sz="1890" dirty="0">
              <a:latin typeface="Arial" panose="020B0604020202020204" pitchFamily="34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1163626" y="1605636"/>
            <a:ext cx="515963" cy="515963"/>
          </a:xfrm>
          <a:prstGeom prst="rect">
            <a:avLst/>
          </a:prstGeom>
          <a:solidFill>
            <a:srgbClr val="69696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"/>
          </a:p>
        </p:txBody>
      </p:sp>
      <p:sp>
        <p:nvSpPr>
          <p:cNvPr id="37" name="矩形 36"/>
          <p:cNvSpPr/>
          <p:nvPr/>
        </p:nvSpPr>
        <p:spPr>
          <a:xfrm>
            <a:off x="6393005" y="1619885"/>
            <a:ext cx="515963" cy="515963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"/>
          </a:p>
        </p:txBody>
      </p:sp>
      <p:grpSp>
        <p:nvGrpSpPr>
          <p:cNvPr id="2" name="组合 1"/>
          <p:cNvGrpSpPr/>
          <p:nvPr/>
        </p:nvGrpSpPr>
        <p:grpSpPr>
          <a:xfrm>
            <a:off x="370182" y="2205593"/>
            <a:ext cx="3227771" cy="3202273"/>
            <a:chOff x="493" y="2941"/>
            <a:chExt cx="4304" cy="4270"/>
          </a:xfrm>
        </p:grpSpPr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5">
              <a:grayscl/>
            </a:blip>
            <a:stretch>
              <a:fillRect/>
            </a:stretch>
          </p:blipFill>
          <p:spPr>
            <a:xfrm>
              <a:off x="493" y="2941"/>
              <a:ext cx="4304" cy="4271"/>
            </a:xfrm>
            <a:prstGeom prst="rect">
              <a:avLst/>
            </a:prstGeom>
          </p:spPr>
        </p:pic>
        <p:sp>
          <p:nvSpPr>
            <p:cNvPr id="19" name="椭圆 18"/>
            <p:cNvSpPr/>
            <p:nvPr/>
          </p:nvSpPr>
          <p:spPr>
            <a:xfrm>
              <a:off x="59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3696946" y="2205593"/>
            <a:ext cx="3226271" cy="3202273"/>
            <a:chOff x="4929" y="2941"/>
            <a:chExt cx="4302" cy="4270"/>
          </a:xfrm>
        </p:grpSpPr>
        <p:pic>
          <p:nvPicPr>
            <p:cNvPr id="44" name="图片 43"/>
            <p:cNvPicPr>
              <a:picLocks noChangeAspect="1"/>
            </p:cNvPicPr>
            <p:nvPr/>
          </p:nvPicPr>
          <p:blipFill>
            <a:blip r:embed="rId6">
              <a:grayscl/>
            </a:blip>
            <a:stretch>
              <a:fillRect/>
            </a:stretch>
          </p:blipFill>
          <p:spPr>
            <a:xfrm>
              <a:off x="4929" y="2941"/>
              <a:ext cx="4303" cy="4271"/>
            </a:xfrm>
            <a:prstGeom prst="rect">
              <a:avLst/>
            </a:prstGeom>
          </p:spPr>
        </p:pic>
        <p:sp>
          <p:nvSpPr>
            <p:cNvPr id="39" name="椭圆 38"/>
            <p:cNvSpPr/>
            <p:nvPr/>
          </p:nvSpPr>
          <p:spPr>
            <a:xfrm>
              <a:off x="502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7022960" y="2205593"/>
            <a:ext cx="3226271" cy="3202273"/>
            <a:chOff x="9364" y="2941"/>
            <a:chExt cx="4302" cy="4270"/>
          </a:xfrm>
        </p:grpSpPr>
        <p:pic>
          <p:nvPicPr>
            <p:cNvPr id="46" name="图片 45"/>
            <p:cNvPicPr>
              <a:picLocks noChangeAspect="1"/>
            </p:cNvPicPr>
            <p:nvPr/>
          </p:nvPicPr>
          <p:blipFill>
            <a:blip r:embed="rId7">
              <a:grayscl/>
            </a:blip>
            <a:stretch>
              <a:fillRect/>
            </a:stretch>
          </p:blipFill>
          <p:spPr>
            <a:xfrm>
              <a:off x="9364" y="2941"/>
              <a:ext cx="4303" cy="4271"/>
            </a:xfrm>
            <a:prstGeom prst="rect">
              <a:avLst/>
            </a:prstGeom>
          </p:spPr>
        </p:pic>
        <p:sp>
          <p:nvSpPr>
            <p:cNvPr id="45" name="椭圆 44"/>
            <p:cNvSpPr/>
            <p:nvPr/>
          </p:nvSpPr>
          <p:spPr>
            <a:xfrm>
              <a:off x="945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348974" y="2205593"/>
            <a:ext cx="3226271" cy="3202273"/>
            <a:chOff x="13799" y="2941"/>
            <a:chExt cx="4302" cy="4270"/>
          </a:xfrm>
        </p:grpSpPr>
        <p:pic>
          <p:nvPicPr>
            <p:cNvPr id="47" name="图片 46"/>
            <p:cNvPicPr>
              <a:picLocks noChangeAspect="1"/>
            </p:cNvPicPr>
            <p:nvPr/>
          </p:nvPicPr>
          <p:blipFill>
            <a:blip r:embed="rId8">
              <a:grayscl/>
            </a:blip>
            <a:stretch>
              <a:fillRect/>
            </a:stretch>
          </p:blipFill>
          <p:spPr>
            <a:xfrm>
              <a:off x="13799" y="2941"/>
              <a:ext cx="4303" cy="4271"/>
            </a:xfrm>
            <a:prstGeom prst="rect">
              <a:avLst/>
            </a:prstGeom>
          </p:spPr>
        </p:pic>
        <p:sp>
          <p:nvSpPr>
            <p:cNvPr id="48" name="椭圆 47"/>
            <p:cNvSpPr/>
            <p:nvPr/>
          </p:nvSpPr>
          <p:spPr>
            <a:xfrm>
              <a:off x="1388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8"/>
              <p:cNvSpPr txBox="1"/>
              <p:nvPr/>
            </p:nvSpPr>
            <p:spPr>
              <a:xfrm>
                <a:off x="9507534" y="1623635"/>
                <a:ext cx="4199890" cy="5276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3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𝜑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(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𝑟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)=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𝑙𝑜𝑔𝑖𝑠𝑡𝑖𝑐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(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+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∙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𝑟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sz="2835" b="0" i="1" dirty="0" smtClean="0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8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7534" y="1623635"/>
                <a:ext cx="4199890" cy="527685"/>
              </a:xfrm>
              <a:prstGeom prst="rect">
                <a:avLst/>
              </a:prstGeom>
              <a:blipFill rotWithShape="1">
                <a:blip r:embed="rId9"/>
                <a:stretch>
                  <a:fillRect l="-7" t="-109" r="-38" b="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本框 60"/>
          <p:cNvSpPr txBox="1"/>
          <p:nvPr/>
        </p:nvSpPr>
        <p:spPr>
          <a:xfrm>
            <a:off x="4085419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Low-Constraint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Steep-Gradient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97159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Low-Constraint, Flat-Gradient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10751695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High-Constraint, Steep-Gradient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7473678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High-Constraint, Flat-Gradient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25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25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25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  <a:blipFill rotWithShape="1">
                <a:blip r:embed="rId1"/>
                <a:stretch>
                  <a:fillRect l="-5" t="-24" r="10" b="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组合 5"/>
          <p:cNvGrpSpPr/>
          <p:nvPr/>
        </p:nvGrpSpPr>
        <p:grpSpPr>
          <a:xfrm>
            <a:off x="492125" y="1739900"/>
            <a:ext cx="13313410" cy="4364355"/>
            <a:chOff x="1249" y="1357"/>
            <a:chExt cx="20966" cy="6873"/>
          </a:xfrm>
        </p:grpSpPr>
        <p:sp>
          <p:nvSpPr>
            <p:cNvPr id="126" name="Google Shape;421;p29"/>
            <p:cNvSpPr txBox="1"/>
            <p:nvPr/>
          </p:nvSpPr>
          <p:spPr>
            <a:xfrm>
              <a:off x="7112" y="7170"/>
              <a:ext cx="4043" cy="10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3929" tIns="143929" rIns="143929" bIns="143929" anchor="t" anchorCtr="0">
              <a:spAutoFit/>
            </a:bodyPr>
            <a:lstStyle/>
            <a:p>
              <a:pPr lvl="0" algn="ctr"/>
              <a:r>
                <a:rPr lang="de-AT" sz="2520" dirty="0">
                  <a:solidFill>
                    <a:schemeClr val="dk1"/>
                  </a:solidFill>
                  <a:latin typeface="Arial" panose="020B0604020202020204" pitchFamily="34" charset="0"/>
                </a:rPr>
                <a:t>κ small δ large </a:t>
              </a:r>
              <a:endParaRPr sz="25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7" name="Google Shape;422;p29"/>
            <p:cNvSpPr txBox="1"/>
            <p:nvPr/>
          </p:nvSpPr>
          <p:spPr>
            <a:xfrm>
              <a:off x="17905" y="7170"/>
              <a:ext cx="4249" cy="10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3929" tIns="143929" rIns="143929" bIns="143929" anchor="t" anchorCtr="0">
              <a:spAutoFit/>
            </a:bodyPr>
            <a:lstStyle/>
            <a:p>
              <a:pPr lvl="0" algn="ctr"/>
              <a:r>
                <a:rPr lang="de-AT" sz="2520" dirty="0">
                  <a:solidFill>
                    <a:schemeClr val="dk1"/>
                  </a:solidFill>
                  <a:latin typeface="Arial" panose="020B0604020202020204" pitchFamily="34" charset="0"/>
                </a:rPr>
                <a:t>κ large δ large </a:t>
              </a:r>
              <a:endParaRPr sz="25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8" name="Google Shape;423;p29"/>
            <p:cNvSpPr txBox="1"/>
            <p:nvPr/>
          </p:nvSpPr>
          <p:spPr>
            <a:xfrm>
              <a:off x="1714" y="7170"/>
              <a:ext cx="4044" cy="10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3929" tIns="143929" rIns="143929" bIns="143929" anchor="t" anchorCtr="0">
              <a:spAutoFit/>
            </a:bodyPr>
            <a:lstStyle/>
            <a:p>
              <a:pPr lvl="0" algn="ctr"/>
              <a:r>
                <a:rPr lang="de-AT" sz="2520" dirty="0">
                  <a:solidFill>
                    <a:schemeClr val="dk1"/>
                  </a:solidFill>
                  <a:latin typeface="Arial" panose="020B0604020202020204" pitchFamily="34" charset="0"/>
                </a:rPr>
                <a:t>κ small δ small </a:t>
              </a:r>
              <a:endParaRPr sz="25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9" name="Google Shape;424;p29"/>
            <p:cNvSpPr txBox="1"/>
            <p:nvPr/>
          </p:nvSpPr>
          <p:spPr>
            <a:xfrm>
              <a:off x="12509" y="7170"/>
              <a:ext cx="4043" cy="10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3929" tIns="143929" rIns="143929" bIns="143929" anchor="t" anchorCtr="0">
              <a:spAutoFit/>
            </a:bodyPr>
            <a:lstStyle/>
            <a:p>
              <a:pPr lvl="0" algn="ctr"/>
              <a:r>
                <a:rPr lang="de-AT" sz="2520" dirty="0">
                  <a:solidFill>
                    <a:schemeClr val="dk1"/>
                  </a:solidFill>
                  <a:latin typeface="Arial" panose="020B0604020202020204" pitchFamily="34" charset="0"/>
                </a:rPr>
                <a:t>κ large δ small </a:t>
              </a:r>
              <a:endParaRPr sz="25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2" name="TextBox 12"/>
            <p:cNvSpPr txBox="1"/>
            <p:nvPr/>
          </p:nvSpPr>
          <p:spPr>
            <a:xfrm>
              <a:off x="2886" y="1379"/>
              <a:ext cx="2022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Buildings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11121" y="1505"/>
              <a:ext cx="5239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Constructable Area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2073" y="1357"/>
              <a:ext cx="813" cy="813"/>
            </a:xfrm>
            <a:prstGeom prst="rect">
              <a:avLst/>
            </a:prstGeom>
            <a:solidFill>
              <a:srgbClr val="69A2BC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sp>
          <p:nvSpPr>
            <p:cNvPr id="37" name="矩形 36"/>
            <p:cNvSpPr/>
            <p:nvPr/>
          </p:nvSpPr>
          <p:spPr>
            <a:xfrm>
              <a:off x="10309" y="1379"/>
              <a:ext cx="813" cy="81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grpSp>
          <p:nvGrpSpPr>
            <p:cNvPr id="2" name="组合 1"/>
            <p:cNvGrpSpPr/>
            <p:nvPr/>
          </p:nvGrpSpPr>
          <p:grpSpPr>
            <a:xfrm>
              <a:off x="1249" y="2420"/>
              <a:ext cx="4974" cy="4859"/>
              <a:chOff x="1057" y="2049"/>
              <a:chExt cx="4212" cy="4114"/>
            </a:xfrm>
          </p:grpSpPr>
          <p:pic>
            <p:nvPicPr>
              <p:cNvPr id="38" name="图片 37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27" name="椭圆 26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6580" y="2420"/>
              <a:ext cx="4974" cy="4859"/>
              <a:chOff x="5571" y="2049"/>
              <a:chExt cx="4212" cy="4114"/>
            </a:xfrm>
          </p:grpSpPr>
          <p:pic>
            <p:nvPicPr>
              <p:cNvPr id="44" name="图片 43"/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28" name="椭圆 27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11910" y="2420"/>
              <a:ext cx="4974" cy="4859"/>
              <a:chOff x="10084" y="2049"/>
              <a:chExt cx="4212" cy="4114"/>
            </a:xfrm>
          </p:grpSpPr>
          <p:pic>
            <p:nvPicPr>
              <p:cNvPr id="45" name="图片 44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29" name="椭圆 28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17241" y="2420"/>
              <a:ext cx="4974" cy="4859"/>
              <a:chOff x="14598" y="2049"/>
              <a:chExt cx="4212" cy="4114"/>
            </a:xfrm>
          </p:grpSpPr>
          <p:pic>
            <p:nvPicPr>
              <p:cNvPr id="46" name="图片 45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4598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30" name="椭圆 29"/>
              <p:cNvSpPr/>
              <p:nvPr/>
            </p:nvSpPr>
            <p:spPr>
              <a:xfrm>
                <a:off x="148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sp>
          <p:nvSpPr>
            <p:cNvPr id="31" name="TextBox 12"/>
            <p:cNvSpPr txBox="1"/>
            <p:nvPr/>
          </p:nvSpPr>
          <p:spPr>
            <a:xfrm>
              <a:off x="6570" y="1378"/>
              <a:ext cx="3374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Structural Zeros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5768" y="1357"/>
              <a:ext cx="813" cy="813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文本框 87"/>
                <p:cNvSpPr txBox="1"/>
                <p:nvPr/>
              </p:nvSpPr>
              <p:spPr>
                <a:xfrm>
                  <a:off x="15323" y="1378"/>
                  <a:ext cx="6830" cy="83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marL="0" indent="0">
                    <a:lnSpc>
                      <a:spcPct val="100000"/>
                    </a:lnSpc>
                    <a:spcBef>
                      <a:spcPts val="1200"/>
                    </a:spcBef>
                    <a:buFont typeface="Wingdings" panose="05000000000000000000" charset="0"/>
                    <a:buNone/>
                  </a:pPr>
                  <a14:m>
                    <m:oMath xmlns:m="http://schemas.openxmlformats.org/officeDocument/2006/math">
                      <m:r>
                        <a:rPr lang="en-US" sz="283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sz="283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 (</m:t>
                      </m:r>
                      <m:r>
                        <a:rPr lang="en-US" sz="283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sz="283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sz="283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sz="283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sz="283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sz="283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sz="283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sz="283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sz="283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sz="2835" i="1">
                          <a:latin typeface="Cambria Math" panose="02040503050406030204" charset="0"/>
                          <a:cs typeface="Cambria Math" panose="02040503050406030204" charset="0"/>
                        </a:rPr>
                        <m:t>) </m:t>
                      </m:r>
                    </m:oMath>
                  </a14:m>
                  <a:r>
                    <a:rPr lang="en-US" sz="283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 </a:t>
                  </a:r>
                  <a:endParaRPr lang="en-US" altLang="en-US" sz="2835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mc:Choice>
          <mc:Fallback>
            <p:sp>
              <p:nvSpPr>
                <p:cNvPr id="88" name="文本框 8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23" y="1378"/>
                  <a:ext cx="6830" cy="831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1" name="文本框 60"/>
          <p:cNvSpPr txBox="1"/>
          <p:nvPr/>
        </p:nvSpPr>
        <p:spPr>
          <a:xfrm>
            <a:off x="4085419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Low-Intensity, Steep-Gradient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97159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Low-Intensity, Flat-Gradient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11197465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High-Intensity, Steep-Gradient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7641318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High-Intensity, Flat-Gradient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95" y="8506646"/>
            <a:ext cx="4038463" cy="248607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998" y="8638637"/>
            <a:ext cx="3185774" cy="1766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1234" y="8638637"/>
            <a:ext cx="2975789" cy="1649133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485674" y="1542640"/>
            <a:ext cx="13394799" cy="4149455"/>
            <a:chOff x="647" y="2057"/>
            <a:chExt cx="17861" cy="5533"/>
          </a:xfrm>
        </p:grpSpPr>
        <p:grpSp>
          <p:nvGrpSpPr>
            <p:cNvPr id="73" name="组合 72"/>
            <p:cNvGrpSpPr/>
            <p:nvPr/>
          </p:nvGrpSpPr>
          <p:grpSpPr>
            <a:xfrm>
              <a:off x="647" y="2057"/>
              <a:ext cx="3551" cy="5533"/>
              <a:chOff x="647" y="2057"/>
              <a:chExt cx="3551" cy="5533"/>
            </a:xfrm>
          </p:grpSpPr>
          <p:sp>
            <p:nvSpPr>
              <p:cNvPr id="5163" name="TextBox 264"/>
              <p:cNvSpPr txBox="1"/>
              <p:nvPr/>
            </p:nvSpPr>
            <p:spPr>
              <a:xfrm>
                <a:off x="647" y="4712"/>
                <a:ext cx="3551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“Bowl”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 rot="0">
                <a:off x="1094" y="5693"/>
                <a:ext cx="2657" cy="1897"/>
                <a:chOff x="3202" y="5108"/>
                <a:chExt cx="2657" cy="1897"/>
              </a:xfrm>
            </p:grpSpPr>
            <p:cxnSp>
              <p:nvCxnSpPr>
                <p:cNvPr id="8" name="直接箭头连接符 7"/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直接箭头连接符 8"/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3" name="任意多边形 12"/>
                <p:cNvSpPr/>
                <p:nvPr/>
              </p:nvSpPr>
              <p:spPr>
                <a:xfrm>
                  <a:off x="3755" y="5568"/>
                  <a:ext cx="1606" cy="503"/>
                </a:xfrm>
                <a:custGeom>
                  <a:avLst/>
                  <a:gdLst>
                    <a:gd name="connsiteX0" fmla="*/ 0 w 7905"/>
                    <a:gd name="connsiteY0" fmla="*/ 2460 h 2476"/>
                    <a:gd name="connsiteX1" fmla="*/ 7905 w 7905"/>
                    <a:gd name="connsiteY1" fmla="*/ 0 h 2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905" h="2477">
                      <a:moveTo>
                        <a:pt x="0" y="2460"/>
                      </a:moveTo>
                      <a:cubicBezTo>
                        <a:pt x="4710" y="2655"/>
                        <a:pt x="7095" y="1095"/>
                        <a:pt x="7905" y="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  <p:grpSp>
              <p:nvGrpSpPr>
                <p:cNvPr id="18" name="组合 17"/>
                <p:cNvGrpSpPr/>
                <p:nvPr/>
              </p:nvGrpSpPr>
              <p:grpSpPr>
                <a:xfrm>
                  <a:off x="3202" y="510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1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48000"/>
              </a:blip>
              <a:stretch>
                <a:fillRect/>
              </a:stretch>
            </p:blipFill>
            <p:spPr>
              <a:xfrm>
                <a:off x="647" y="2057"/>
                <a:ext cx="3441" cy="2731"/>
              </a:xfrm>
              <a:prstGeom prst="rect">
                <a:avLst/>
              </a:prstGeom>
              <a:noFill/>
              <a:ln w="9525">
                <a:noFill/>
              </a:ln>
            </p:spPr>
          </p:pic>
        </p:grpSp>
        <p:grpSp>
          <p:nvGrpSpPr>
            <p:cNvPr id="75" name="组合 74"/>
            <p:cNvGrpSpPr/>
            <p:nvPr/>
          </p:nvGrpSpPr>
          <p:grpSpPr>
            <a:xfrm>
              <a:off x="7659" y="2455"/>
              <a:ext cx="3661" cy="5135"/>
              <a:chOff x="7722" y="2455"/>
              <a:chExt cx="3661" cy="5135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7722" y="2455"/>
                <a:ext cx="3470" cy="2199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3" name="文本框 2"/>
              <p:cNvSpPr txBox="1"/>
              <p:nvPr/>
            </p:nvSpPr>
            <p:spPr>
              <a:xfrm>
                <a:off x="7740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C=0, B=0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“Pancake”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grpSp>
            <p:nvGrpSpPr>
              <p:cNvPr id="23" name="组合 22"/>
              <p:cNvGrpSpPr/>
              <p:nvPr/>
            </p:nvGrpSpPr>
            <p:grpSpPr>
              <a:xfrm rot="0">
                <a:off x="8233" y="5693"/>
                <a:ext cx="2657" cy="1897"/>
                <a:chOff x="5687" y="5068"/>
                <a:chExt cx="2657" cy="1897"/>
              </a:xfrm>
            </p:grpSpPr>
            <p:cxnSp>
              <p:nvCxnSpPr>
                <p:cNvPr id="4" name="直接箭头连接符 3"/>
                <p:cNvCxnSpPr/>
                <p:nvPr/>
              </p:nvCxnSpPr>
              <p:spPr>
                <a:xfrm flipV="1">
                  <a:off x="6221" y="521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接箭头连接符 4"/>
                <p:cNvCxnSpPr/>
                <p:nvPr/>
              </p:nvCxnSpPr>
              <p:spPr>
                <a:xfrm>
                  <a:off x="6221" y="677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接连接符 5"/>
                <p:cNvCxnSpPr/>
                <p:nvPr/>
              </p:nvCxnSpPr>
              <p:spPr>
                <a:xfrm>
                  <a:off x="6236" y="6085"/>
                  <a:ext cx="1665" cy="0"/>
                </a:xfrm>
                <a:prstGeom prst="line">
                  <a:avLst/>
                </a:pr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19" name="组合 18"/>
                <p:cNvGrpSpPr/>
                <p:nvPr/>
              </p:nvGrpSpPr>
              <p:grpSpPr>
                <a:xfrm>
                  <a:off x="5687" y="506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20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7" name="组合 76"/>
            <p:cNvGrpSpPr/>
            <p:nvPr/>
          </p:nvGrpSpPr>
          <p:grpSpPr>
            <a:xfrm>
              <a:off x="14741" y="2761"/>
              <a:ext cx="3767" cy="4829"/>
              <a:chOff x="14737" y="2761"/>
              <a:chExt cx="3767" cy="4829"/>
            </a:xfrm>
          </p:grpSpPr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rcRect l="8333" t="26856" r="10968" b="26289"/>
              <a:stretch>
                <a:fillRect/>
              </a:stretch>
            </p:blipFill>
            <p:spPr>
              <a:xfrm>
                <a:off x="14737" y="2761"/>
                <a:ext cx="3767" cy="1736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6" name="TextBox 190"/>
              <p:cNvSpPr txBox="1"/>
              <p:nvPr/>
            </p:nvSpPr>
            <p:spPr>
              <a:xfrm>
                <a:off x="14861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“Pyramid”City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 rot="0">
                <a:off x="15354" y="5693"/>
                <a:ext cx="2657" cy="1897"/>
                <a:chOff x="10870" y="5054"/>
                <a:chExt cx="2657" cy="1897"/>
              </a:xfrm>
            </p:grpSpPr>
            <p:sp>
              <p:nvSpPr>
                <p:cNvPr id="37" name="任意多边形 36"/>
                <p:cNvSpPr/>
                <p:nvPr/>
              </p:nvSpPr>
              <p:spPr>
                <a:xfrm>
                  <a:off x="11415" y="6023"/>
                  <a:ext cx="1395" cy="695"/>
                </a:xfrm>
                <a:custGeom>
                  <a:avLst/>
                  <a:gdLst>
                    <a:gd name="connsiteX0" fmla="*/ 0 w 6210"/>
                    <a:gd name="connsiteY0" fmla="*/ 0 h 2550"/>
                    <a:gd name="connsiteX1" fmla="*/ 6210 w 6210"/>
                    <a:gd name="connsiteY1" fmla="*/ 2550 h 25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10" h="2550">
                      <a:moveTo>
                        <a:pt x="0" y="0"/>
                      </a:moveTo>
                      <a:cubicBezTo>
                        <a:pt x="2385" y="1290"/>
                        <a:pt x="4110" y="2085"/>
                        <a:pt x="6210" y="255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  <p:cxnSp>
              <p:nvCxnSpPr>
                <p:cNvPr id="39" name="直接箭头连接符 38"/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箭头连接符 39"/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/>
                <p:cNvGrpSpPr/>
                <p:nvPr/>
              </p:nvGrpSpPr>
              <p:grpSpPr>
                <a:xfrm rot="0">
                  <a:off x="10870" y="5054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6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6" name="组合 75"/>
            <p:cNvGrpSpPr/>
            <p:nvPr/>
          </p:nvGrpSpPr>
          <p:grpSpPr>
            <a:xfrm>
              <a:off x="11209" y="2584"/>
              <a:ext cx="3643" cy="5006"/>
              <a:chOff x="11192" y="2584"/>
              <a:chExt cx="3643" cy="5006"/>
            </a:xfrm>
          </p:grpSpPr>
          <p:pic>
            <p:nvPicPr>
              <p:cNvPr id="4100" name="图片 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11510" y="2584"/>
                <a:ext cx="3007" cy="2070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7" name="TextBox 191"/>
              <p:cNvSpPr txBox="1"/>
              <p:nvPr/>
            </p:nvSpPr>
            <p:spPr>
              <a:xfrm>
                <a:off x="11192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“Volcanic Cone”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 rot="0">
                <a:off x="11686" y="5693"/>
                <a:ext cx="2657" cy="1897"/>
                <a:chOff x="8290" y="5068"/>
                <a:chExt cx="2657" cy="1897"/>
              </a:xfrm>
            </p:grpSpPr>
            <p:grpSp>
              <p:nvGrpSpPr>
                <p:cNvPr id="27" name="组合 26"/>
                <p:cNvGrpSpPr/>
                <p:nvPr/>
              </p:nvGrpSpPr>
              <p:grpSpPr>
                <a:xfrm>
                  <a:off x="8290" y="5068"/>
                  <a:ext cx="2657" cy="1897"/>
                  <a:chOff x="3202" y="5108"/>
                  <a:chExt cx="2657" cy="1897"/>
                </a:xfrm>
              </p:grpSpPr>
              <p:cxnSp>
                <p:nvCxnSpPr>
                  <p:cNvPr id="28" name="直接箭头连接符 2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箭头连接符 2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1" name="组合 30"/>
                  <p:cNvGrpSpPr/>
                  <p:nvPr/>
                </p:nvGrpSpPr>
                <p:grpSpPr>
                  <a:xfrm>
                    <a:off x="3202" y="5108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32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3" name="文本框 32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4" name="文本框 33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51" name="任意多边形 50"/>
                <p:cNvSpPr/>
                <p:nvPr/>
              </p:nvSpPr>
              <p:spPr>
                <a:xfrm>
                  <a:off x="8843" y="5741"/>
                  <a:ext cx="1742" cy="701"/>
                </a:xfrm>
                <a:custGeom>
                  <a:avLst/>
                  <a:gdLst>
                    <a:gd name="connsiteX0" fmla="*/ 0 w 6165"/>
                    <a:gd name="connsiteY0" fmla="*/ 895 h 1794"/>
                    <a:gd name="connsiteX1" fmla="*/ 2745 w 6165"/>
                    <a:gd name="connsiteY1" fmla="*/ 25 h 1794"/>
                    <a:gd name="connsiteX2" fmla="*/ 6165 w 6165"/>
                    <a:gd name="connsiteY2" fmla="*/ 1795 h 1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65" h="1795">
                      <a:moveTo>
                        <a:pt x="0" y="895"/>
                      </a:moveTo>
                      <a:cubicBezTo>
                        <a:pt x="411" y="669"/>
                        <a:pt x="1506" y="-152"/>
                        <a:pt x="2745" y="25"/>
                      </a:cubicBezTo>
                      <a:cubicBezTo>
                        <a:pt x="3984" y="202"/>
                        <a:pt x="5415" y="1432"/>
                        <a:pt x="6165" y="1795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4087" y="2348"/>
              <a:ext cx="3683" cy="5242"/>
              <a:chOff x="4198" y="2348"/>
              <a:chExt cx="3683" cy="5242"/>
            </a:xfrm>
          </p:grpSpPr>
          <p:sp>
            <p:nvSpPr>
              <p:cNvPr id="64" name="TextBox 190"/>
              <p:cNvSpPr txBox="1"/>
              <p:nvPr/>
            </p:nvSpPr>
            <p:spPr>
              <a:xfrm>
                <a:off x="4218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“Crown”City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pic>
            <p:nvPicPr>
              <p:cNvPr id="66" name="图片 6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4198" y="2348"/>
                <a:ext cx="3683" cy="2478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4712" y="5693"/>
                <a:ext cx="2657" cy="1897"/>
                <a:chOff x="4673" y="5693"/>
                <a:chExt cx="2657" cy="1897"/>
              </a:xfrm>
            </p:grpSpPr>
            <p:grpSp>
              <p:nvGrpSpPr>
                <p:cNvPr id="56" name="组合 55"/>
                <p:cNvGrpSpPr/>
                <p:nvPr/>
              </p:nvGrpSpPr>
              <p:grpSpPr>
                <a:xfrm rot="0">
                  <a:off x="4673" y="5693"/>
                  <a:ext cx="2657" cy="1897"/>
                  <a:chOff x="10870" y="5054"/>
                  <a:chExt cx="2657" cy="1897"/>
                </a:xfrm>
              </p:grpSpPr>
              <p:cxnSp>
                <p:nvCxnSpPr>
                  <p:cNvPr id="58" name="直接箭头连接符 57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接箭头连接符 58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" name="组合 59"/>
                  <p:cNvGrpSpPr/>
                  <p:nvPr/>
                </p:nvGrpSpPr>
                <p:grpSpPr>
                  <a:xfrm rot="0">
                    <a:off x="10870" y="5054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61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3" name="文本框 62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68" name="任意多边形 67"/>
                <p:cNvSpPr/>
                <p:nvPr/>
              </p:nvSpPr>
              <p:spPr>
                <a:xfrm>
                  <a:off x="5227" y="6643"/>
                  <a:ext cx="1770" cy="296"/>
                </a:xfrm>
                <a:custGeom>
                  <a:avLst/>
                  <a:gdLst>
                    <a:gd name="connsiteX0" fmla="*/ 0 w 6127"/>
                    <a:gd name="connsiteY0" fmla="*/ 0 h 836"/>
                    <a:gd name="connsiteX1" fmla="*/ 3080 w 6127"/>
                    <a:gd name="connsiteY1" fmla="*/ 836 h 836"/>
                    <a:gd name="connsiteX2" fmla="*/ 6127 w 6127"/>
                    <a:gd name="connsiteY2" fmla="*/ 82 h 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27" h="836">
                      <a:moveTo>
                        <a:pt x="0" y="0"/>
                      </a:moveTo>
                      <a:cubicBezTo>
                        <a:pt x="492" y="328"/>
                        <a:pt x="1855" y="829"/>
                        <a:pt x="3080" y="836"/>
                      </a:cubicBezTo>
                      <a:cubicBezTo>
                        <a:pt x="4305" y="843"/>
                        <a:pt x="5586" y="344"/>
                        <a:pt x="6127" y="82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627505" y="8510905"/>
            <a:ext cx="9902825" cy="671195"/>
            <a:chOff x="1984" y="9408"/>
            <a:chExt cx="15595" cy="1057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2478405" y="-1192530"/>
            <a:ext cx="992060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240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grpSp>
        <p:nvGrpSpPr>
          <p:cNvPr id="45" name="组合 44"/>
          <p:cNvGrpSpPr/>
          <p:nvPr/>
        </p:nvGrpSpPr>
        <p:grpSpPr>
          <a:xfrm rot="0">
            <a:off x="2478405" y="6081395"/>
            <a:ext cx="10166985" cy="685800"/>
            <a:chOff x="2098" y="8434"/>
            <a:chExt cx="14213" cy="1080"/>
          </a:xfrm>
        </p:grpSpPr>
        <p:sp>
          <p:nvSpPr>
            <p:cNvPr id="4" name="文本框 3"/>
            <p:cNvSpPr txBox="1"/>
            <p:nvPr/>
          </p:nvSpPr>
          <p:spPr>
            <a:xfrm>
              <a:off x="13143" y="8434"/>
              <a:ext cx="31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America, 2016</a:t>
              </a:r>
              <a:endParaRPr lang="en-US" altLang="zh-CN"/>
            </a:p>
          </p:txBody>
        </p:sp>
        <p:sp>
          <p:nvSpPr>
            <p:cNvPr id="11" name="椭圆 10"/>
            <p:cNvSpPr/>
            <p:nvPr/>
          </p:nvSpPr>
          <p:spPr>
            <a:xfrm>
              <a:off x="12773" y="8548"/>
              <a:ext cx="257" cy="255"/>
            </a:xfrm>
            <a:prstGeom prst="ellipse">
              <a:avLst/>
            </a:prstGeom>
            <a:solidFill>
              <a:srgbClr val="47A2DE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2" name="椭圆 11"/>
            <p:cNvSpPr/>
            <p:nvPr/>
          </p:nvSpPr>
          <p:spPr>
            <a:xfrm>
              <a:off x="12773" y="9011"/>
              <a:ext cx="257" cy="255"/>
            </a:xfrm>
            <a:prstGeom prst="ellipse">
              <a:avLst/>
            </a:prstGeom>
            <a:solidFill>
              <a:srgbClr val="47A2D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143" y="8925"/>
              <a:ext cx="31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America, 2023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483" y="8434"/>
              <a:ext cx="322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Africa, 2016</a:t>
              </a:r>
              <a:endParaRPr lang="en-US" altLang="zh-CN"/>
            </a:p>
          </p:txBody>
        </p:sp>
        <p:sp>
          <p:nvSpPr>
            <p:cNvPr id="15" name="椭圆 14"/>
            <p:cNvSpPr/>
            <p:nvPr/>
          </p:nvSpPr>
          <p:spPr>
            <a:xfrm>
              <a:off x="2098" y="8548"/>
              <a:ext cx="257" cy="255"/>
            </a:xfrm>
            <a:prstGeom prst="ellipse">
              <a:avLst/>
            </a:prstGeom>
            <a:solidFill>
              <a:srgbClr val="E85748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>
                <a:solidFill>
                  <a:srgbClr val="9467BD"/>
                </a:solidFill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2098" y="9011"/>
              <a:ext cx="257" cy="255"/>
            </a:xfrm>
            <a:prstGeom prst="ellipse">
              <a:avLst/>
            </a:prstGeom>
            <a:solidFill>
              <a:srgbClr val="E85748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2483" y="8934"/>
              <a:ext cx="322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Africa, 2023</a:t>
              </a:r>
              <a:endParaRPr lang="en-US" altLang="zh-CN"/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6717" y="8434"/>
              <a:ext cx="455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South&amp;South-east Asia, 2016</a:t>
              </a:r>
              <a:endParaRPr lang="en-US" altLang="zh-CN"/>
            </a:p>
          </p:txBody>
        </p:sp>
        <p:sp>
          <p:nvSpPr>
            <p:cNvPr id="19" name="椭圆 18"/>
            <p:cNvSpPr/>
            <p:nvPr/>
          </p:nvSpPr>
          <p:spPr>
            <a:xfrm>
              <a:off x="6309" y="8548"/>
              <a:ext cx="257" cy="255"/>
            </a:xfrm>
            <a:prstGeom prst="ellipse">
              <a:avLst/>
            </a:prstGeom>
            <a:solidFill>
              <a:srgbClr val="F39F1B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20" name="椭圆 19"/>
            <p:cNvSpPr/>
            <p:nvPr/>
          </p:nvSpPr>
          <p:spPr>
            <a:xfrm>
              <a:off x="6309" y="9011"/>
              <a:ext cx="257" cy="255"/>
            </a:xfrm>
            <a:prstGeom prst="ellipse">
              <a:avLst/>
            </a:prstGeom>
            <a:solidFill>
              <a:srgbClr val="F39F1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717" y="8921"/>
              <a:ext cx="455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sym typeface="+mn-ea"/>
                </a:rPr>
                <a:t>South&amp;South-east Asia, 2023</a:t>
              </a:r>
              <a:endParaRPr lang="en-US" altLang="zh-CN">
                <a:sym typeface="+mn-ea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本框 35"/>
              <p:cNvSpPr txBox="1"/>
              <p:nvPr/>
            </p:nvSpPr>
            <p:spPr>
              <a:xfrm>
                <a:off x="1327150" y="436245"/>
                <a:ext cx="459930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Structural Zero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𝜑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𝛼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𝛽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6" name="文本框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150" y="436245"/>
                <a:ext cx="4599305" cy="8299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本框 51"/>
              <p:cNvSpPr txBox="1"/>
              <p:nvPr/>
            </p:nvSpPr>
            <p:spPr>
              <a:xfrm>
                <a:off x="8669020" y="436245"/>
                <a:ext cx="463105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Actual Construction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2" name="文本框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020" y="436245"/>
                <a:ext cx="4631055" cy="8299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组合 98"/>
          <p:cNvGrpSpPr/>
          <p:nvPr/>
        </p:nvGrpSpPr>
        <p:grpSpPr>
          <a:xfrm rot="0">
            <a:off x="740410" y="1032510"/>
            <a:ext cx="5342890" cy="4728210"/>
            <a:chOff x="1166" y="1626"/>
            <a:chExt cx="8414" cy="7446"/>
          </a:xfrm>
        </p:grpSpPr>
        <p:pic>
          <p:nvPicPr>
            <p:cNvPr id="6" name="图片 5"/>
            <p:cNvPicPr/>
            <p:nvPr/>
          </p:nvPicPr>
          <p:blipFill>
            <a:blip r:embed="rId3"/>
            <a:srcRect r="50879"/>
            <a:stretch>
              <a:fillRect/>
            </a:stretch>
          </p:blipFill>
          <p:spPr>
            <a:xfrm>
              <a:off x="1477" y="1942"/>
              <a:ext cx="8103" cy="6670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1584" y="2085"/>
              <a:ext cx="544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8" name="矩形 7"/>
            <p:cNvSpPr/>
            <p:nvPr/>
          </p:nvSpPr>
          <p:spPr>
            <a:xfrm rot="5400000">
              <a:off x="5542" y="4678"/>
              <a:ext cx="544" cy="7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407" y="8196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50%</a:t>
              </a:r>
              <a:endParaRPr lang="en-US" altLang="zh-CN" sz="20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502" y="8196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100%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50" y="8017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549" y="2050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0.6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166" y="5259"/>
              <a:ext cx="93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0.3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585" y="162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292" y="8636"/>
              <a:ext cx="3099" cy="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925" y="5000"/>
              <a:ext cx="2574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 rot="0">
            <a:off x="8036560" y="1195070"/>
            <a:ext cx="5263515" cy="4522470"/>
            <a:chOff x="9436" y="1819"/>
            <a:chExt cx="8289" cy="7122"/>
          </a:xfrm>
        </p:grpSpPr>
        <p:pic>
          <p:nvPicPr>
            <p:cNvPr id="3" name="图片 2"/>
            <p:cNvPicPr/>
            <p:nvPr/>
          </p:nvPicPr>
          <p:blipFill>
            <a:blip r:embed="rId3"/>
            <a:srcRect l="54304" t="1604" r="1509" b="7631"/>
            <a:stretch>
              <a:fillRect/>
            </a:stretch>
          </p:blipFill>
          <p:spPr>
            <a:xfrm>
              <a:off x="10293" y="1987"/>
              <a:ext cx="7288" cy="6102"/>
            </a:xfrm>
            <a:prstGeom prst="rect">
              <a:avLst/>
            </a:prstGeom>
          </p:spPr>
        </p:pic>
        <p:sp>
          <p:nvSpPr>
            <p:cNvPr id="46" name="文本框 45"/>
            <p:cNvSpPr txBox="1"/>
            <p:nvPr/>
          </p:nvSpPr>
          <p:spPr>
            <a:xfrm>
              <a:off x="16838" y="8048"/>
              <a:ext cx="887" cy="3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70%</a:t>
              </a:r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8086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20%</a:t>
              </a:r>
              <a:endParaRPr lang="en-US" altLang="zh-CN" sz="2000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45" y="25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5043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819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839" y="8428"/>
              <a:ext cx="2741" cy="51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149" y="8060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50%</a:t>
              </a:r>
              <a:endParaRPr lang="en-US" altLang="zh-CN" sz="2000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492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811"/>
              <a:ext cx="257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54" name="文本框 53"/>
          <p:cNvSpPr txBox="1"/>
          <p:nvPr/>
        </p:nvSpPr>
        <p:spPr>
          <a:xfrm>
            <a:off x="-8890" y="3637280"/>
            <a:ext cx="1438275" cy="521970"/>
          </a:xfrm>
          <a:prstGeom prst="rect">
            <a:avLst/>
          </a:prstGeom>
        </p:spPr>
        <p:txBody>
          <a:bodyPr wrap="square">
            <a:spAutoFit/>
          </a:bodyPr>
          <a:p>
            <a:pPr algn="r"/>
            <a:r>
              <a:rPr lang="en-US" altLang="zh-CN" sz="1400" i="1">
                <a:solidFill>
                  <a:schemeClr val="tx1"/>
                </a:solidFill>
              </a:rPr>
              <a:t>Low-Constraint, Flat-Gradient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926455" y="2560320"/>
            <a:ext cx="1489710" cy="431165"/>
          </a:xfrm>
          <a:prstGeom prst="rect">
            <a:avLst/>
          </a:prstGeom>
        </p:spPr>
        <p:txBody>
          <a:bodyPr wrap="square">
            <a:noAutofit/>
          </a:bodyPr>
          <a:p>
            <a:pPr algn="l"/>
            <a:r>
              <a:rPr lang="en-US" altLang="zh-CN" sz="1400" i="1">
                <a:solidFill>
                  <a:schemeClr val="tx1"/>
                </a:solidFill>
              </a:rPr>
              <a:t>High-Constraint, Steep-Gradient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0" y="253111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Low-Constraint,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5938520" y="3637280"/>
            <a:ext cx="1477645" cy="521970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en-US" altLang="zh-CN" sz="1400" i="1">
                <a:solidFill>
                  <a:schemeClr val="tx1"/>
                </a:solidFill>
              </a:rPr>
              <a:t>High-Constraint, Flat-Gradient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7218680" y="2560320"/>
            <a:ext cx="1403985" cy="473710"/>
          </a:xfrm>
          <a:prstGeom prst="rect">
            <a:avLst/>
          </a:prstGeom>
        </p:spPr>
        <p:txBody>
          <a:bodyPr wrap="square">
            <a:no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Low-Intensity, Flat-Gradient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7218680" y="363728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Low-Intensity, 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13157200" y="252857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High-Intensity, Flat-Gradient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3127990" y="363728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High-Intensity, 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grpSp>
        <p:nvGrpSpPr>
          <p:cNvPr id="71" name="组合 70"/>
          <p:cNvGrpSpPr/>
          <p:nvPr/>
        </p:nvGrpSpPr>
        <p:grpSpPr>
          <a:xfrm rot="0">
            <a:off x="758825" y="4088765"/>
            <a:ext cx="527685" cy="524510"/>
            <a:chOff x="493" y="2941"/>
            <a:chExt cx="4304" cy="4270"/>
          </a:xfrm>
        </p:grpSpPr>
        <p:pic>
          <p:nvPicPr>
            <p:cNvPr id="72" name="图片 71"/>
            <p:cNvPicPr>
              <a:picLocks noChangeAspect="1"/>
            </p:cNvPicPr>
            <p:nvPr/>
          </p:nvPicPr>
          <p:blipFill>
            <a:blip r:embed="rId4">
              <a:grayscl/>
            </a:blip>
            <a:stretch>
              <a:fillRect/>
            </a:stretch>
          </p:blipFill>
          <p:spPr>
            <a:xfrm>
              <a:off x="493" y="2941"/>
              <a:ext cx="4304" cy="4271"/>
            </a:xfrm>
            <a:prstGeom prst="rect">
              <a:avLst/>
            </a:prstGeom>
          </p:spPr>
        </p:pic>
        <p:sp>
          <p:nvSpPr>
            <p:cNvPr id="73" name="椭圆 72"/>
            <p:cNvSpPr/>
            <p:nvPr/>
          </p:nvSpPr>
          <p:spPr>
            <a:xfrm>
              <a:off x="59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74" name="组合 73"/>
          <p:cNvGrpSpPr/>
          <p:nvPr/>
        </p:nvGrpSpPr>
        <p:grpSpPr>
          <a:xfrm rot="0">
            <a:off x="739775" y="2015490"/>
            <a:ext cx="527685" cy="524510"/>
            <a:chOff x="4929" y="2941"/>
            <a:chExt cx="4302" cy="4270"/>
          </a:xfrm>
        </p:grpSpPr>
        <p:pic>
          <p:nvPicPr>
            <p:cNvPr id="75" name="图片 74"/>
            <p:cNvPicPr>
              <a:picLocks noChangeAspect="1"/>
            </p:cNvPicPr>
            <p:nvPr/>
          </p:nvPicPr>
          <p:blipFill>
            <a:blip r:embed="rId5">
              <a:grayscl/>
            </a:blip>
            <a:stretch>
              <a:fillRect/>
            </a:stretch>
          </p:blipFill>
          <p:spPr>
            <a:xfrm>
              <a:off x="4929" y="2941"/>
              <a:ext cx="4303" cy="4271"/>
            </a:xfrm>
            <a:prstGeom prst="rect">
              <a:avLst/>
            </a:prstGeom>
          </p:spPr>
        </p:pic>
        <p:sp>
          <p:nvSpPr>
            <p:cNvPr id="76" name="椭圆 75"/>
            <p:cNvSpPr/>
            <p:nvPr/>
          </p:nvSpPr>
          <p:spPr>
            <a:xfrm>
              <a:off x="502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77" name="组合 76"/>
          <p:cNvGrpSpPr/>
          <p:nvPr/>
        </p:nvGrpSpPr>
        <p:grpSpPr>
          <a:xfrm rot="0">
            <a:off x="5963285" y="4088765"/>
            <a:ext cx="527685" cy="524510"/>
            <a:chOff x="9364" y="2941"/>
            <a:chExt cx="4302" cy="4270"/>
          </a:xfrm>
        </p:grpSpPr>
        <p:pic>
          <p:nvPicPr>
            <p:cNvPr id="78" name="图片 77"/>
            <p:cNvPicPr>
              <a:picLocks noChangeAspect="1"/>
            </p:cNvPicPr>
            <p:nvPr/>
          </p:nvPicPr>
          <p:blipFill>
            <a:blip r:embed="rId6">
              <a:grayscl/>
            </a:blip>
            <a:stretch>
              <a:fillRect/>
            </a:stretch>
          </p:blipFill>
          <p:spPr>
            <a:xfrm>
              <a:off x="9364" y="2941"/>
              <a:ext cx="4303" cy="4271"/>
            </a:xfrm>
            <a:prstGeom prst="rect">
              <a:avLst/>
            </a:prstGeom>
          </p:spPr>
        </p:pic>
        <p:sp>
          <p:nvSpPr>
            <p:cNvPr id="79" name="椭圆 78"/>
            <p:cNvSpPr/>
            <p:nvPr/>
          </p:nvSpPr>
          <p:spPr>
            <a:xfrm>
              <a:off x="945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0" name="组合 79"/>
          <p:cNvGrpSpPr/>
          <p:nvPr/>
        </p:nvGrpSpPr>
        <p:grpSpPr>
          <a:xfrm rot="0">
            <a:off x="5965190" y="2015490"/>
            <a:ext cx="527685" cy="524510"/>
            <a:chOff x="13799" y="2941"/>
            <a:chExt cx="4302" cy="4270"/>
          </a:xfrm>
        </p:grpSpPr>
        <p:pic>
          <p:nvPicPr>
            <p:cNvPr id="81" name="图片 80"/>
            <p:cNvPicPr>
              <a:picLocks noChangeAspect="1"/>
            </p:cNvPicPr>
            <p:nvPr/>
          </p:nvPicPr>
          <p:blipFill>
            <a:blip r:embed="rId7">
              <a:grayscl/>
            </a:blip>
            <a:stretch>
              <a:fillRect/>
            </a:stretch>
          </p:blipFill>
          <p:spPr>
            <a:xfrm>
              <a:off x="13799" y="2941"/>
              <a:ext cx="4303" cy="4271"/>
            </a:xfrm>
            <a:prstGeom prst="rect">
              <a:avLst/>
            </a:prstGeom>
          </p:spPr>
        </p:pic>
        <p:sp>
          <p:nvSpPr>
            <p:cNvPr id="82" name="椭圆 81"/>
            <p:cNvSpPr/>
            <p:nvPr/>
          </p:nvSpPr>
          <p:spPr>
            <a:xfrm>
              <a:off x="1388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3" name="组合 82"/>
          <p:cNvGrpSpPr/>
          <p:nvPr/>
        </p:nvGrpSpPr>
        <p:grpSpPr>
          <a:xfrm rot="0">
            <a:off x="7940040" y="2013585"/>
            <a:ext cx="538480" cy="526415"/>
            <a:chOff x="1057" y="2049"/>
            <a:chExt cx="4212" cy="4114"/>
          </a:xfrm>
        </p:grpSpPr>
        <p:pic>
          <p:nvPicPr>
            <p:cNvPr id="84" name="图片 83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7" y="2049"/>
              <a:ext cx="4212" cy="4115"/>
            </a:xfrm>
            <a:prstGeom prst="rect">
              <a:avLst/>
            </a:prstGeom>
          </p:spPr>
        </p:pic>
        <p:sp>
          <p:nvSpPr>
            <p:cNvPr id="85" name="椭圆 84"/>
            <p:cNvSpPr/>
            <p:nvPr/>
          </p:nvSpPr>
          <p:spPr>
            <a:xfrm>
              <a:off x="1280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6" name="组合 85"/>
          <p:cNvGrpSpPr/>
          <p:nvPr/>
        </p:nvGrpSpPr>
        <p:grpSpPr>
          <a:xfrm rot="0">
            <a:off x="7959090" y="4086860"/>
            <a:ext cx="538480" cy="526415"/>
            <a:chOff x="5571" y="2049"/>
            <a:chExt cx="4212" cy="4114"/>
          </a:xfrm>
        </p:grpSpPr>
        <p:pic>
          <p:nvPicPr>
            <p:cNvPr id="87" name="图片 86"/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71" y="2049"/>
              <a:ext cx="4212" cy="4115"/>
            </a:xfrm>
            <a:prstGeom prst="rect">
              <a:avLst/>
            </a:prstGeom>
          </p:spPr>
        </p:pic>
        <p:sp>
          <p:nvSpPr>
            <p:cNvPr id="88" name="椭圆 87"/>
            <p:cNvSpPr/>
            <p:nvPr/>
          </p:nvSpPr>
          <p:spPr>
            <a:xfrm>
              <a:off x="5813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9" name="组合 88"/>
          <p:cNvGrpSpPr/>
          <p:nvPr/>
        </p:nvGrpSpPr>
        <p:grpSpPr>
          <a:xfrm rot="0">
            <a:off x="13241020" y="2013585"/>
            <a:ext cx="538480" cy="526415"/>
            <a:chOff x="10084" y="2049"/>
            <a:chExt cx="4212" cy="4114"/>
          </a:xfrm>
        </p:grpSpPr>
        <p:pic>
          <p:nvPicPr>
            <p:cNvPr id="90" name="图片 89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084" y="2049"/>
              <a:ext cx="4212" cy="4115"/>
            </a:xfrm>
            <a:prstGeom prst="rect">
              <a:avLst/>
            </a:prstGeom>
          </p:spPr>
        </p:pic>
        <p:sp>
          <p:nvSpPr>
            <p:cNvPr id="91" name="椭圆 90"/>
            <p:cNvSpPr/>
            <p:nvPr/>
          </p:nvSpPr>
          <p:spPr>
            <a:xfrm>
              <a:off x="10347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56" name="组合 55"/>
          <p:cNvGrpSpPr/>
          <p:nvPr/>
        </p:nvGrpSpPr>
        <p:grpSpPr>
          <a:xfrm rot="0">
            <a:off x="13208000" y="4107180"/>
            <a:ext cx="538480" cy="525780"/>
            <a:chOff x="22212" y="8641"/>
            <a:chExt cx="848" cy="828"/>
          </a:xfrm>
        </p:grpSpPr>
        <p:pic>
          <p:nvPicPr>
            <p:cNvPr id="93" name="图片 92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2212" y="8641"/>
              <a:ext cx="848" cy="829"/>
            </a:xfrm>
            <a:prstGeom prst="rect">
              <a:avLst/>
            </a:prstGeom>
          </p:spPr>
        </p:pic>
        <p:sp>
          <p:nvSpPr>
            <p:cNvPr id="94" name="椭圆 93"/>
            <p:cNvSpPr/>
            <p:nvPr/>
          </p:nvSpPr>
          <p:spPr>
            <a:xfrm>
              <a:off x="22232" y="8657"/>
              <a:ext cx="778" cy="778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cxnSp>
        <p:nvCxnSpPr>
          <p:cNvPr id="33" name="直接连接符 32"/>
          <p:cNvCxnSpPr/>
          <p:nvPr/>
        </p:nvCxnSpPr>
        <p:spPr>
          <a:xfrm>
            <a:off x="655690" y="-645190"/>
            <a:ext cx="135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4831695" y="-1198880"/>
            <a:ext cx="2746375" cy="913130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heatmap_horizontal_param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250" y="1352550"/>
            <a:ext cx="6903720" cy="5394960"/>
          </a:xfrm>
          <a:prstGeom prst="rect">
            <a:avLst/>
          </a:prstGeom>
        </p:spPr>
      </p:pic>
      <p:pic>
        <p:nvPicPr>
          <p:cNvPr id="5" name="图片 4" descr="heatmap_horizontal_params20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2970" y="1351915"/>
            <a:ext cx="702246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0" name="组合 79"/>
          <p:cNvGrpSpPr/>
          <p:nvPr/>
        </p:nvGrpSpPr>
        <p:grpSpPr>
          <a:xfrm>
            <a:off x="2413000" y="8252460"/>
            <a:ext cx="9902825" cy="670560"/>
            <a:chOff x="3800" y="12996"/>
            <a:chExt cx="15595" cy="1056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86" name="组合 85"/>
          <p:cNvGrpSpPr/>
          <p:nvPr/>
        </p:nvGrpSpPr>
        <p:grpSpPr>
          <a:xfrm>
            <a:off x="114935" y="651510"/>
            <a:ext cx="13805535" cy="6364278"/>
            <a:chOff x="1739" y="1235"/>
            <a:chExt cx="19272" cy="8884"/>
          </a:xfrm>
        </p:grpSpPr>
        <p:pic>
          <p:nvPicPr>
            <p:cNvPr id="81" name="图片 80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1739" y="2783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534" y="-292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1739" y="262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8163" y="2465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03" y="2594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7891" y="1800"/>
                  <a:ext cx="7243" cy="7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1" y="1800"/>
                  <a:ext cx="7243" cy="71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4783" y="8576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46" y="740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2951" y="857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347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998" y="259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6533" y="8576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3" y="3729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59" y="5561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339" y="8616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967" y="81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9498" y="8616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99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673" y="251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363" y="8616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967" y="68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967" y="551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967" y="415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967" y="289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7645" y="8630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5813" y="8630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9845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9395" y="8630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28" y="81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134" y="251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28" y="68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28" y="551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28" y="415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28" y="289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4583" y="9105"/>
              <a:ext cx="14213" cy="1014"/>
              <a:chOff x="3914" y="9142"/>
              <a:chExt cx="14213" cy="1014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4171" y="7650"/>
              <a:ext cx="1485" cy="8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5656" y="4518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7023" y="7650"/>
              <a:ext cx="1485" cy="8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9126" y="66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8442" y="66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5683" y="1235"/>
              <a:ext cx="11340" cy="72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 sz="28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Vertical Profile</a:t>
              </a:r>
              <a:endParaRPr lang="en-US" altLang="zh-CN" sz="28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0512" y="79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635635" y="1951990"/>
            <a:ext cx="5774690" cy="4557395"/>
          </a:xfrm>
          <a:prstGeom prst="rect">
            <a:avLst/>
          </a:prstGeom>
        </p:spPr>
      </p:pic>
      <p:grpSp>
        <p:nvGrpSpPr>
          <p:cNvPr id="99" name="组合 98"/>
          <p:cNvGrpSpPr/>
          <p:nvPr/>
        </p:nvGrpSpPr>
        <p:grpSpPr>
          <a:xfrm rot="0">
            <a:off x="466725" y="2024380"/>
            <a:ext cx="5991225" cy="4761865"/>
            <a:chOff x="869" y="1626"/>
            <a:chExt cx="9435" cy="7499"/>
          </a:xfrm>
        </p:grpSpPr>
        <p:sp>
          <p:nvSpPr>
            <p:cNvPr id="7" name="矩形 6"/>
            <p:cNvSpPr/>
            <p:nvPr/>
          </p:nvSpPr>
          <p:spPr>
            <a:xfrm>
              <a:off x="1352" y="1627"/>
              <a:ext cx="871" cy="69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8" name="矩形 7"/>
            <p:cNvSpPr/>
            <p:nvPr/>
          </p:nvSpPr>
          <p:spPr>
            <a:xfrm rot="5400000">
              <a:off x="5552" y="4127"/>
              <a:ext cx="711" cy="86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836" y="8166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0%</a:t>
              </a:r>
              <a:endParaRPr lang="en-US" altLang="zh-CN" sz="20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9261" y="817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6%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23" y="8101"/>
              <a:ext cx="1073" cy="58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-6%</a:t>
              </a:r>
              <a:endParaRPr lang="en-US" altLang="zh-CN" sz="200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036" y="2507"/>
              <a:ext cx="1092" cy="3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0.08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869" y="5665"/>
              <a:ext cx="1103" cy="40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135" y="1626"/>
              <a:ext cx="993" cy="4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7130" y="8689"/>
              <a:ext cx="3099" cy="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</a:t>
              </a:r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α)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组合 20"/>
          <p:cNvGrpSpPr/>
          <p:nvPr/>
        </p:nvGrpSpPr>
        <p:grpSpPr>
          <a:xfrm>
            <a:off x="6577965" y="2023745"/>
            <a:ext cx="5899150" cy="4883150"/>
            <a:chOff x="11629" y="1511"/>
            <a:chExt cx="9290" cy="7690"/>
          </a:xfrm>
        </p:grpSpPr>
        <p:pic>
          <p:nvPicPr>
            <p:cNvPr id="12" name="图片 11"/>
            <p:cNvPicPr/>
            <p:nvPr/>
          </p:nvPicPr>
          <p:blipFill>
            <a:blip r:embed="rId1"/>
            <a:srcRect l="50166" t="71" r="-5" b="-71"/>
            <a:stretch>
              <a:fillRect/>
            </a:stretch>
          </p:blipFill>
          <p:spPr>
            <a:xfrm>
              <a:off x="11819" y="1511"/>
              <a:ext cx="9094" cy="7177"/>
            </a:xfrm>
            <a:prstGeom prst="rect">
              <a:avLst/>
            </a:prstGeom>
          </p:spPr>
        </p:pic>
        <p:sp>
          <p:nvSpPr>
            <p:cNvPr id="15" name="矩形 14"/>
            <p:cNvSpPr/>
            <p:nvPr/>
          </p:nvSpPr>
          <p:spPr>
            <a:xfrm rot="5400000">
              <a:off x="16243" y="4135"/>
              <a:ext cx="711" cy="86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4" name="矩形 13"/>
            <p:cNvSpPr/>
            <p:nvPr/>
          </p:nvSpPr>
          <p:spPr>
            <a:xfrm>
              <a:off x="11755" y="1655"/>
              <a:ext cx="1069" cy="69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9470" y="8166"/>
              <a:ext cx="887" cy="3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6%</a:t>
              </a:r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3214" y="8178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-2%</a:t>
              </a:r>
              <a:endParaRPr lang="en-US" altLang="zh-CN" sz="2000"/>
            </a:p>
          </p:txBody>
        </p:sp>
        <p:sp useBgFill="1">
          <p:nvSpPr>
            <p:cNvPr id="48" name="文本框 47"/>
            <p:cNvSpPr txBox="1"/>
            <p:nvPr/>
          </p:nvSpPr>
          <p:spPr>
            <a:xfrm>
              <a:off x="11714" y="2673"/>
              <a:ext cx="1069" cy="442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020" y="497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2068" y="1766"/>
              <a:ext cx="853" cy="44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7821" y="8689"/>
              <a:ext cx="3092" cy="51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</a:t>
              </a:r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κ)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844" y="8216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0%</a:t>
              </a:r>
              <a:endParaRPr lang="en-US" altLang="zh-CN" sz="2000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11629" y="7252"/>
              <a:ext cx="115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-0.04</a:t>
              </a:r>
              <a:endParaRPr lang="en-US" altLang="zh-CN" sz="200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本框 35"/>
              <p:cNvSpPr txBox="1"/>
              <p:nvPr/>
            </p:nvSpPr>
            <p:spPr>
              <a:xfrm>
                <a:off x="1167130" y="1193800"/>
                <a:ext cx="516826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Change of Structural Zero Params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𝜑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𝛼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𝛽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6" name="文本框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130" y="1193800"/>
                <a:ext cx="5168265" cy="8299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/>
          <p:cNvSpPr txBox="1"/>
          <p:nvPr/>
        </p:nvSpPr>
        <p:spPr>
          <a:xfrm>
            <a:off x="572770" y="5584825"/>
            <a:ext cx="693420" cy="2457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p>
            <a:pPr algn="r"/>
            <a:r>
              <a:rPr lang="en-US" altLang="zh-CN" sz="2000"/>
              <a:t>-0.04</a:t>
            </a:r>
            <a:endParaRPr lang="en-US" altLang="zh-CN" sz="2000"/>
          </a:p>
        </p:txBody>
      </p:sp>
      <p:sp>
        <p:nvSpPr>
          <p:cNvPr id="18" name="文本框 17"/>
          <p:cNvSpPr txBox="1"/>
          <p:nvPr/>
        </p:nvSpPr>
        <p:spPr>
          <a:xfrm>
            <a:off x="572770" y="3583940"/>
            <a:ext cx="693420" cy="2457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p>
            <a:pPr algn="r"/>
            <a:r>
              <a:rPr lang="en-US" altLang="zh-CN" sz="2000"/>
              <a:t>0.04</a:t>
            </a:r>
            <a:endParaRPr lang="en-US" altLang="zh-CN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6821805" y="1195070"/>
                <a:ext cx="5615940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Change of Actual Construction Params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1805" y="1195070"/>
                <a:ext cx="5615940" cy="82994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3877945" y="5755640"/>
            <a:ext cx="245681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/>
              <a:t>Centralized Zero Growth</a:t>
            </a:r>
            <a:endParaRPr lang="en-US" altLang="zh-CN" sz="1600"/>
          </a:p>
        </p:txBody>
      </p:sp>
      <p:sp>
        <p:nvSpPr>
          <p:cNvPr id="23" name="文本框 22"/>
          <p:cNvSpPr txBox="1"/>
          <p:nvPr/>
        </p:nvSpPr>
        <p:spPr>
          <a:xfrm>
            <a:off x="1379855" y="5755640"/>
            <a:ext cx="2426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/>
              <a:t>Uniform Zero Reduction</a:t>
            </a:r>
            <a:endParaRPr lang="en-US" altLang="zh-CN"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175260" y="9278620"/>
            <a:ext cx="13058775" cy="4356100"/>
            <a:chOff x="992" y="61"/>
            <a:chExt cx="20565" cy="6860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b="1" i="1"/>
                <a:t>Strong Significance ***</a:t>
              </a:r>
              <a:endParaRPr lang="en-US" altLang="zh-CN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Not Significant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</a:t>
              </a:r>
              <a:r>
                <a:rPr lang="en-US" altLang="zh-CN" b="1" i="1">
                  <a:sym typeface="+mn-ea"/>
                </a:rPr>
                <a:t>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Significance *</a:t>
              </a:r>
              <a:endParaRPr lang="en-US" altLang="zh-CN" b="1" i="1">
                <a:sym typeface="+mn-ea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0469245" y="8209915"/>
            <a:ext cx="352044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Population growth ↑ 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Δα ↓, Δβ ↑, Δκ ↑, Δδ ↓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ΔB ↓, ΔC ↑</a:t>
            </a:r>
            <a:endParaRPr lang="en-US" altLang="zh-CN" b="1">
              <a:sym typeface="+mn-ea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09855" y="381635"/>
            <a:ext cx="13811250" cy="7388860"/>
            <a:chOff x="173" y="601"/>
            <a:chExt cx="21750" cy="11636"/>
          </a:xfrm>
        </p:grpSpPr>
        <p:pic>
          <p:nvPicPr>
            <p:cNvPr id="5" name="图片 4"/>
            <p:cNvPicPr/>
            <p:nvPr/>
          </p:nvPicPr>
          <p:blipFill>
            <a:blip r:embed="rId4"/>
            <a:srcRect l="1918" t="1292" r="75749" b="52389"/>
            <a:stretch>
              <a:fillRect/>
            </a:stretch>
          </p:blipFill>
          <p:spPr>
            <a:xfrm>
              <a:off x="173" y="641"/>
              <a:ext cx="5042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𝛼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" name="图片 13"/>
            <p:cNvPicPr/>
            <p:nvPr/>
          </p:nvPicPr>
          <p:blipFill>
            <a:blip r:embed="rId4"/>
            <a:srcRect l="27028" t="1292" r="50577" b="52389"/>
            <a:stretch>
              <a:fillRect/>
            </a:stretch>
          </p:blipFill>
          <p:spPr>
            <a:xfrm>
              <a:off x="5515" y="641"/>
              <a:ext cx="5056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" name="图片 15"/>
            <p:cNvPicPr/>
            <p:nvPr/>
          </p:nvPicPr>
          <p:blipFill>
            <a:blip r:embed="rId4"/>
            <a:srcRect l="52342" t="811" r="25263" b="52513"/>
            <a:stretch>
              <a:fillRect/>
            </a:stretch>
          </p:blipFill>
          <p:spPr>
            <a:xfrm>
              <a:off x="10999" y="601"/>
              <a:ext cx="5056" cy="5237"/>
            </a:xfrm>
            <a:prstGeom prst="rect">
              <a:avLst/>
            </a:prstGeom>
          </p:spPr>
        </p:pic>
        <p:pic>
          <p:nvPicPr>
            <p:cNvPr id="17" name="图片 16"/>
            <p:cNvPicPr/>
            <p:nvPr/>
          </p:nvPicPr>
          <p:blipFill>
            <a:blip r:embed="rId4"/>
            <a:srcRect l="77426" t="935" r="237" b="52389"/>
            <a:stretch>
              <a:fillRect/>
            </a:stretch>
          </p:blipFill>
          <p:spPr>
            <a:xfrm>
              <a:off x="16399" y="601"/>
              <a:ext cx="5043" cy="523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𝜅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本框 22"/>
                <p:cNvSpPr txBox="1"/>
                <p:nvPr/>
              </p:nvSpPr>
              <p:spPr>
                <a:xfrm>
                  <a:off x="16943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𝛿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3" name="文本框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43" y="641"/>
                  <a:ext cx="1199" cy="100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文本框 26"/>
            <p:cNvSpPr txBox="1"/>
            <p:nvPr/>
          </p:nvSpPr>
          <p:spPr>
            <a:xfrm>
              <a:off x="550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5946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1342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6945" y="5681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grpSp>
          <p:nvGrpSpPr>
            <p:cNvPr id="34" name="组合 33"/>
            <p:cNvGrpSpPr/>
            <p:nvPr/>
          </p:nvGrpSpPr>
          <p:grpSpPr>
            <a:xfrm>
              <a:off x="16432" y="10351"/>
              <a:ext cx="5061" cy="1886"/>
              <a:chOff x="16736" y="6695"/>
              <a:chExt cx="5061" cy="1886"/>
            </a:xfrm>
          </p:grpSpPr>
          <p:sp>
            <p:nvSpPr>
              <p:cNvPr id="35" name="椭圆 34"/>
              <p:cNvSpPr/>
              <p:nvPr/>
            </p:nvSpPr>
            <p:spPr>
              <a:xfrm>
                <a:off x="16736" y="8135"/>
                <a:ext cx="257" cy="255"/>
              </a:xfrm>
              <a:prstGeom prst="ellipse">
                <a:avLst/>
              </a:prstGeom>
              <a:solidFill>
                <a:srgbClr val="47A2D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7013" y="7953"/>
                <a:ext cx="3168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Latin America</a:t>
                </a:r>
                <a:endParaRPr lang="en-US" altLang="zh-CN" sz="2000"/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16736" y="6868"/>
                <a:ext cx="257" cy="255"/>
              </a:xfrm>
              <a:prstGeom prst="ellipse">
                <a:avLst/>
              </a:prstGeom>
              <a:solidFill>
                <a:srgbClr val="E85748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7013" y="6695"/>
                <a:ext cx="322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Africa</a:t>
                </a:r>
                <a:endParaRPr lang="en-US" altLang="zh-CN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6736" y="7510"/>
                <a:ext cx="257" cy="255"/>
              </a:xfrm>
              <a:prstGeom prst="ellipse">
                <a:avLst/>
              </a:prstGeom>
              <a:solidFill>
                <a:srgbClr val="F39F1B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7013" y="7324"/>
                <a:ext cx="4784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>
                    <a:sym typeface="+mn-ea"/>
                  </a:rPr>
                  <a:t>South &amp; South-east Asia</a:t>
                </a:r>
                <a:endParaRPr lang="en-US" altLang="zh-CN" sz="2000">
                  <a:sym typeface="+mn-ea"/>
                </a:endParaRPr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245" y="6378"/>
              <a:ext cx="15880" cy="5838"/>
              <a:chOff x="503" y="6892"/>
              <a:chExt cx="15880" cy="5838"/>
            </a:xfrm>
          </p:grpSpPr>
          <p:grpSp>
            <p:nvGrpSpPr>
              <p:cNvPr id="2" name="组合 1"/>
              <p:cNvGrpSpPr/>
              <p:nvPr/>
            </p:nvGrpSpPr>
            <p:grpSpPr>
              <a:xfrm>
                <a:off x="503" y="6892"/>
                <a:ext cx="15881" cy="5230"/>
                <a:chOff x="433" y="6578"/>
                <a:chExt cx="15881" cy="5230"/>
              </a:xfrm>
            </p:grpSpPr>
            <p:pic>
              <p:nvPicPr>
                <p:cNvPr id="18" name="图片 17"/>
                <p:cNvPicPr/>
                <p:nvPr/>
              </p:nvPicPr>
              <p:blipFill>
                <a:blip r:embed="rId4"/>
                <a:srcRect l="1917" t="50579" r="75927" b="3155"/>
                <a:stretch>
                  <a:fillRect/>
                </a:stretch>
              </p:blipFill>
              <p:spPr>
                <a:xfrm>
                  <a:off x="433" y="6597"/>
                  <a:ext cx="5002" cy="5191"/>
                </a:xfrm>
                <a:prstGeom prst="rect">
                  <a:avLst/>
                </a:prstGeom>
              </p:spPr>
            </p:pic>
            <p:pic>
              <p:nvPicPr>
                <p:cNvPr id="19" name="图片 18"/>
                <p:cNvPicPr/>
                <p:nvPr/>
              </p:nvPicPr>
              <p:blipFill>
                <a:blip r:embed="rId4"/>
                <a:srcRect l="27196" t="50579" r="50688" b="2977"/>
                <a:stretch>
                  <a:fillRect/>
                </a:stretch>
              </p:blipFill>
              <p:spPr>
                <a:xfrm>
                  <a:off x="5768" y="6598"/>
                  <a:ext cx="4993" cy="5211"/>
                </a:xfrm>
                <a:prstGeom prst="rect">
                  <a:avLst/>
                </a:prstGeom>
              </p:spPr>
            </p:pic>
            <p:pic>
              <p:nvPicPr>
                <p:cNvPr id="20" name="图片 19"/>
                <p:cNvPicPr/>
                <p:nvPr/>
              </p:nvPicPr>
              <p:blipFill>
                <a:blip r:embed="rId4"/>
                <a:srcRect l="50916" t="50579" r="25356" b="2977"/>
                <a:stretch>
                  <a:fillRect/>
                </a:stretch>
              </p:blipFill>
              <p:spPr>
                <a:xfrm>
                  <a:off x="10958" y="6578"/>
                  <a:ext cx="5357" cy="5211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文本框 24"/>
                    <p:cNvSpPr txBox="1"/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5" name="文本框 2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文本框 25"/>
                    <p:cNvSpPr txBox="1"/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6" name="文本框 2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4" name="文本框 3"/>
              <p:cNvSpPr txBox="1"/>
              <p:nvPr/>
            </p:nvSpPr>
            <p:spPr>
              <a:xfrm>
                <a:off x="810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6206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11602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</p:grpSp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6389" y="6417"/>
              <a:ext cx="5535" cy="38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1" name="组合 30"/>
          <p:cNvGrpSpPr/>
          <p:nvPr/>
        </p:nvGrpSpPr>
        <p:grpSpPr>
          <a:xfrm>
            <a:off x="286385" y="793750"/>
            <a:ext cx="13375640" cy="6555740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2016</a:t>
                </a:r>
                <a:endParaRPr lang="en-US" altLang="zh-CN" sz="2800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2023</a:t>
                </a:r>
                <a:endParaRPr lang="en-US" altLang="zh-CN" sz="2800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886"/>
                <a:chOff x="9225" y="1246"/>
                <a:chExt cx="5334" cy="1886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Latin America</a:t>
                  </a:r>
                  <a:endParaRPr lang="en-US" altLang="zh-CN" sz="2000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Africa</a:t>
                  </a:r>
                  <a:endParaRPr lang="en-US" altLang="zh-CN" sz="2000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>
                      <a:sym typeface="+mn-ea"/>
                    </a:rPr>
                    <a:t>South &amp; South-east Asia</a:t>
                  </a:r>
                  <a:endParaRPr lang="en-US" altLang="zh-CN" sz="2000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7" name="组合 26"/>
          <p:cNvGrpSpPr/>
          <p:nvPr/>
        </p:nvGrpSpPr>
        <p:grpSpPr>
          <a:xfrm rot="0">
            <a:off x="4123055" y="9622155"/>
            <a:ext cx="3387090" cy="1197610"/>
            <a:chOff x="9225" y="1246"/>
            <a:chExt cx="5334" cy="1886"/>
          </a:xfrm>
        </p:grpSpPr>
        <p:sp>
          <p:nvSpPr>
            <p:cNvPr id="35" name="圆角矩形 34"/>
            <p:cNvSpPr/>
            <p:nvPr/>
          </p:nvSpPr>
          <p:spPr>
            <a:xfrm>
              <a:off x="9225" y="2686"/>
              <a:ext cx="530" cy="338"/>
            </a:xfrm>
            <a:prstGeom prst="roundRect">
              <a:avLst/>
            </a:prstGeom>
            <a:solidFill>
              <a:srgbClr val="47A2DE">
                <a:alpha val="20000"/>
              </a:srgbClr>
            </a:solidFill>
            <a:ln w="38100">
              <a:solidFill>
                <a:srgbClr val="47A2DE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9775" y="2504"/>
              <a:ext cx="3168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/>
                <a:t>Latin America</a:t>
              </a:r>
              <a:endParaRPr lang="en-US" altLang="zh-CN" sz="2000"/>
            </a:p>
          </p:txBody>
        </p:sp>
        <p:sp>
          <p:nvSpPr>
            <p:cNvPr id="44" name="圆角矩形 43"/>
            <p:cNvSpPr/>
            <p:nvPr/>
          </p:nvSpPr>
          <p:spPr>
            <a:xfrm>
              <a:off x="9225" y="1419"/>
              <a:ext cx="530" cy="338"/>
            </a:xfrm>
            <a:prstGeom prst="roundRect">
              <a:avLst/>
            </a:prstGeom>
            <a:solidFill>
              <a:srgbClr val="E85748">
                <a:alpha val="20000"/>
              </a:srgbClr>
            </a:solidFill>
            <a:ln w="38100">
              <a:solidFill>
                <a:srgbClr val="E8574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9775" y="1246"/>
              <a:ext cx="322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/>
                <a:t>Africa</a:t>
              </a:r>
              <a:endParaRPr lang="en-US" altLang="zh-CN" sz="2000"/>
            </a:p>
          </p:txBody>
        </p:sp>
        <p:sp>
          <p:nvSpPr>
            <p:cNvPr id="48" name="圆角矩形 47"/>
            <p:cNvSpPr/>
            <p:nvPr/>
          </p:nvSpPr>
          <p:spPr>
            <a:xfrm>
              <a:off x="9225" y="2061"/>
              <a:ext cx="530" cy="338"/>
            </a:xfrm>
            <a:prstGeom prst="roundRect">
              <a:avLst/>
            </a:prstGeom>
            <a:solidFill>
              <a:srgbClr val="F39F1B">
                <a:alpha val="20000"/>
              </a:srgbClr>
            </a:solidFill>
            <a:ln w="38100">
              <a:solidFill>
                <a:srgbClr val="F39F1B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775" y="1875"/>
              <a:ext cx="478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sym typeface="+mn-ea"/>
                </a:rPr>
                <a:t>South &amp; South-east Asia</a:t>
              </a:r>
              <a:endParaRPr lang="en-US" altLang="zh-CN" sz="2000">
                <a:sym typeface="+mn-ea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-1214755" y="1327785"/>
            <a:ext cx="17221200" cy="5675630"/>
            <a:chOff x="451" y="1250"/>
            <a:chExt cx="31393" cy="10346"/>
          </a:xfrm>
        </p:grpSpPr>
        <p:pic>
          <p:nvPicPr>
            <p:cNvPr id="5" name="图片 4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11457" y="2658"/>
              <a:ext cx="8035" cy="8050"/>
            </a:xfrm>
            <a:prstGeom prst="rect">
              <a:avLst/>
            </a:prstGeom>
          </p:spPr>
        </p:pic>
        <p:pic>
          <p:nvPicPr>
            <p:cNvPr id="3" name="图片 2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132" y="2658"/>
              <a:ext cx="8035" cy="8050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 rot="0">
              <a:off x="451" y="2072"/>
              <a:ext cx="10698" cy="9502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 rot="0">
              <a:off x="10818" y="2072"/>
              <a:ext cx="10698" cy="9502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3744" y="1250"/>
              <a:ext cx="2319" cy="8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/>
                <a:t>Africa</a:t>
              </a:r>
              <a:endParaRPr lang="en-US" altLang="zh-CN" sz="24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1088" y="1272"/>
              <a:ext cx="8446" cy="8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/>
                <a:t>South &amp; Southeast Asia</a:t>
              </a:r>
              <a:endParaRPr lang="en-US" altLang="zh-CN" sz="2400"/>
            </a:p>
          </p:txBody>
        </p:sp>
        <p:pic>
          <p:nvPicPr>
            <p:cNvPr id="6" name="图片 5"/>
            <p:cNvPicPr/>
            <p:nvPr/>
          </p:nvPicPr>
          <p:blipFill>
            <a:blip r:embed="rId10"/>
            <a:stretch>
              <a:fillRect/>
            </a:stretch>
          </p:blipFill>
          <p:spPr>
            <a:xfrm>
              <a:off x="21782" y="2658"/>
              <a:ext cx="8035" cy="8050"/>
            </a:xfrm>
            <a:prstGeom prst="rect">
              <a:avLst/>
            </a:prstGeom>
          </p:spPr>
        </p:pic>
        <p:grpSp>
          <p:nvGrpSpPr>
            <p:cNvPr id="10" name="组合 9"/>
            <p:cNvGrpSpPr/>
            <p:nvPr/>
          </p:nvGrpSpPr>
          <p:grpSpPr>
            <a:xfrm rot="0">
              <a:off x="21146" y="2094"/>
              <a:ext cx="10698" cy="9502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22038" y="1272"/>
              <a:ext cx="8446" cy="8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/>
                <a:t>Latin America</a:t>
              </a:r>
              <a:endParaRPr lang="en-US" altLang="zh-CN" sz="2400"/>
            </a:p>
          </p:txBody>
        </p: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4569</Words>
  <Application>WPS 演示</Application>
  <PresentationFormat>宽屏</PresentationFormat>
  <Paragraphs>760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18</cp:revision>
  <dcterms:created xsi:type="dcterms:W3CDTF">2026-03-10T16:30:39Z</dcterms:created>
  <dcterms:modified xsi:type="dcterms:W3CDTF">2026-03-10T16:30:39Z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2052-12.1.2.24722</vt:lpwstr>
  </property>
  <property fmtid="{D5CDD505-2E9C-101B-9397-08002B2CF9AE}" pid="3" name="ICV">
    <vt:lpwstr>0364E104D99840A39D3DA0694DD01CB9_41</vt:lpwstr>
  </property>
</Properties>
</file>