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21"/>
  </p:handoutMasterIdLst>
  <p:sldIdLst>
    <p:sldId id="256" r:id="rId3"/>
    <p:sldId id="257" r:id="rId4"/>
    <p:sldId id="258" r:id="rId6"/>
    <p:sldId id="267" r:id="rId7"/>
    <p:sldId id="262" r:id="rId8"/>
    <p:sldId id="263" r:id="rId9"/>
    <p:sldId id="264" r:id="rId10"/>
    <p:sldId id="260" r:id="rId11"/>
    <p:sldId id="269" r:id="rId12"/>
    <p:sldId id="271" r:id="rId13"/>
    <p:sldId id="259" r:id="rId14"/>
    <p:sldId id="266" r:id="rId15"/>
    <p:sldId id="270" r:id="rId16"/>
    <p:sldId id="261" r:id="rId17"/>
    <p:sldId id="272" r:id="rId18"/>
    <p:sldId id="265" r:id="rId19"/>
    <p:sldId id="268" r:id="rId20"/>
  </p:sldIdLst>
  <p:sldSz cx="14399895" cy="14399895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 used" id="{81244984-FFB1-4A92-8F35-FF698557D6D0}">
          <p14:sldIdLst>
            <p14:sldId id="256"/>
            <p14:sldId id="257"/>
            <p14:sldId id="258"/>
            <p14:sldId id="267"/>
          </p14:sldIdLst>
        </p14:section>
        <p14:section name="无标题节" id="{7174F263-5FF1-488A-9BA9-16647EAD2F01}">
          <p14:sldIdLst>
            <p14:sldId id="262"/>
            <p14:sldId id="263"/>
            <p14:sldId id="264"/>
            <p14:sldId id="260"/>
            <p14:sldId id="269"/>
            <p14:sldId id="271"/>
            <p14:sldId id="259"/>
            <p14:sldId id="266"/>
            <p14:sldId id="270"/>
            <p14:sldId id="261"/>
            <p14:sldId id="272"/>
            <p14:sldId id="265"/>
            <p14:sldId id="2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382" userDrawn="1">
          <p15:clr>
            <a:srgbClr val="A4A3A4"/>
          </p15:clr>
        </p15:guide>
        <p15:guide id="2" pos="4535" userDrawn="1">
          <p15:clr>
            <a:srgbClr val="A4A3A4"/>
          </p15:clr>
        </p15:guide>
        <p15:guide id="3" orient="horz" pos="4563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pril Liang" initials="AL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B3B3"/>
    <a:srgbClr val="E5C494"/>
    <a:srgbClr val="FFD92F"/>
    <a:srgbClr val="A6D854"/>
    <a:srgbClr val="8DA0CB"/>
    <a:srgbClr val="FC8D62"/>
    <a:srgbClr val="66C2A5"/>
    <a:srgbClr val="47A2DE"/>
    <a:srgbClr val="F39F1B"/>
    <a:srgbClr val="E857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2" d="100"/>
          <a:sy n="72" d="100"/>
        </p:scale>
        <p:origin x="730" y="43"/>
      </p:cViewPr>
      <p:guideLst>
        <p:guide orient="horz" pos="2382"/>
        <p:guide pos="4535"/>
        <p:guide orient="horz" pos="4563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90001" cy="90001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5" Type="http://schemas.openxmlformats.org/officeDocument/2006/relationships/commentAuthors" Target="commentAuthors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handoutMaster" Target="handoutMasters/handoutMaster1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microsoft.com/office/2011/relationships/chartColorStyle" Target="colors3.xml"/><Relationship Id="rId2" Type="http://schemas.microsoft.com/office/2011/relationships/chartStyle" Target="style3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microsoft.com/office/2011/relationships/chartColorStyle" Target="colors4.xml"/><Relationship Id="rId2" Type="http://schemas.microsoft.com/office/2011/relationships/chartStyle" Target="style4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Average.xlsx]Sheet2'!$U$2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Average.xlsx]Sheet2'!$U$3:$U$5</c:f>
              <c:numCache>
                <c:formatCode>0%</c:formatCode>
                <c:ptCount val="3"/>
                <c:pt idx="0">
                  <c:v>0.363636363636364</c:v>
                </c:pt>
                <c:pt idx="1">
                  <c:v>0.5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Average.xlsx]Sheet2'!$V$2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Average.xlsx]Sheet2'!$V$3:$V$5</c:f>
              <c:numCache>
                <c:formatCode>0%</c:formatCode>
                <c:ptCount val="3"/>
                <c:pt idx="0">
                  <c:v>0.227272727272727</c:v>
                </c:pt>
                <c:pt idx="1">
                  <c:v>0.3</c:v>
                </c:pt>
                <c:pt idx="2">
                  <c:v>0.333333333333333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Average.xlsx]Sheet2'!$W$2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Average.xlsx]Sheet2'!$W$3:$W$5</c:f>
              <c:numCache>
                <c:formatCode>0%</c:formatCode>
                <c:ptCount val="3"/>
                <c:pt idx="0">
                  <c:v>0</c:v>
                </c:pt>
                <c:pt idx="1">
                  <c:v>0.0333333333333333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Average.xlsx]Sheet2'!$X$2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Average.xlsx]Sheet2'!$X$3:$X$5</c:f>
              <c:numCache>
                <c:formatCode>0%</c:formatCode>
                <c:ptCount val="3"/>
                <c:pt idx="0">
                  <c:v>0.409090909090909</c:v>
                </c:pt>
                <c:pt idx="1">
                  <c:v>0.166666666666667</c:v>
                </c:pt>
                <c:pt idx="2">
                  <c:v>0.133333333333333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bb8adb4-ffa1-4c27-94d4-ea17a12fad3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Average.xlsx]Sheet2'!$U$18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Average.xlsx]Sheet2'!$U$19:$U$21</c:f>
              <c:numCache>
                <c:formatCode>0%</c:formatCode>
                <c:ptCount val="3"/>
                <c:pt idx="0">
                  <c:v>0.454545454545455</c:v>
                </c:pt>
                <c:pt idx="1">
                  <c:v>0.333333333333333</c:v>
                </c:pt>
                <c:pt idx="2">
                  <c:v>0.5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Average.xlsx]Sheet2'!$V$18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Average.xlsx]Sheet2'!$V$19:$V$21</c:f>
              <c:numCache>
                <c:formatCode>0%</c:formatCode>
                <c:ptCount val="3"/>
                <c:pt idx="0">
                  <c:v>0.454545454545455</c:v>
                </c:pt>
                <c:pt idx="1">
                  <c:v>0.2</c:v>
                </c:pt>
                <c:pt idx="2">
                  <c:v>0.233333333333333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Average.xlsx]Sheet2'!$W$18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Average.xlsx]Sheet2'!$W$19:$W$21</c:f>
              <c:numCache>
                <c:formatCode>0%</c:formatCode>
                <c:ptCount val="3"/>
                <c:pt idx="0">
                  <c:v>0.0454545454545455</c:v>
                </c:pt>
                <c:pt idx="1">
                  <c:v>0.166666666666667</c:v>
                </c:pt>
                <c:pt idx="2">
                  <c:v>0.0666666666666667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Average.xlsx]Sheet2'!$X$18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Average.xlsx]Sheet2'!$X$19:$X$21</c:f>
              <c:numCache>
                <c:formatCode>0%</c:formatCode>
                <c:ptCount val="3"/>
                <c:pt idx="0">
                  <c:v>0.0454545454545455</c:v>
                </c:pt>
                <c:pt idx="1">
                  <c:v>0.3</c:v>
                </c:pt>
                <c:pt idx="2">
                  <c:v>0.2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8ed8364-554b-47b0-9384-8bfc9afc102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Average.xlsx]Sheet2'!$U$33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Average.xlsx]Sheet2'!$U$34:$U$36</c:f>
              <c:numCache>
                <c:formatCode>0%</c:formatCode>
                <c:ptCount val="3"/>
                <c:pt idx="0">
                  <c:v>0.363636363636364</c:v>
                </c:pt>
                <c:pt idx="1">
                  <c:v>0.466666666666667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Average.xlsx]Sheet2'!$V$33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Average.xlsx]Sheet2'!$V$34:$V$36</c:f>
              <c:numCache>
                <c:formatCode>0%</c:formatCode>
                <c:ptCount val="3"/>
                <c:pt idx="0">
                  <c:v>0.227272727272727</c:v>
                </c:pt>
                <c:pt idx="1">
                  <c:v>0.366666666666667</c:v>
                </c:pt>
                <c:pt idx="2">
                  <c:v>0.333333333333333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Average.xlsx]Sheet2'!$W$33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Average.xlsx]Sheet2'!$W$34:$W$36</c:f>
              <c:numCache>
                <c:formatCode>0%</c:formatCode>
                <c:ptCount val="3"/>
                <c:pt idx="0">
                  <c:v>0</c:v>
                </c:pt>
                <c:pt idx="1">
                  <c:v>0.0333333333333333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Average.xlsx]Sheet2'!$X$33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Average.xlsx]Sheet2'!$X$34:$X$36</c:f>
              <c:numCache>
                <c:formatCode>0%</c:formatCode>
                <c:ptCount val="3"/>
                <c:pt idx="0">
                  <c:v>0.409090909090909</c:v>
                </c:pt>
                <c:pt idx="1">
                  <c:v>0.133333333333333</c:v>
                </c:pt>
                <c:pt idx="2">
                  <c:v>0.133333333333333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ab19804-f4c2-4642-9de8-99d2b0eed63c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Average.xlsx]Sheet2'!$U$48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Average.xlsx]Sheet2'!$U$49:$U$51</c:f>
              <c:numCache>
                <c:formatCode>0%</c:formatCode>
                <c:ptCount val="3"/>
                <c:pt idx="0">
                  <c:v>0.431818181818182</c:v>
                </c:pt>
                <c:pt idx="1">
                  <c:v>0.266666666666667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Average.xlsx]Sheet2'!$V$48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Average.xlsx]Sheet2'!$V$49:$V$51</c:f>
              <c:numCache>
                <c:formatCode>0%</c:formatCode>
                <c:ptCount val="3"/>
                <c:pt idx="0">
                  <c:v>0.409090909090909</c:v>
                </c:pt>
                <c:pt idx="1">
                  <c:v>0.166666666666667</c:v>
                </c:pt>
                <c:pt idx="2">
                  <c:v>0.166666666666667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Average.xlsx]Sheet2'!$W$48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Average.xlsx]Sheet2'!$W$49:$W$51</c:f>
              <c:numCache>
                <c:formatCode>0%</c:formatCode>
                <c:ptCount val="3"/>
                <c:pt idx="0">
                  <c:v>0.0454545454545455</c:v>
                </c:pt>
                <c:pt idx="1">
                  <c:v>0.3</c:v>
                </c:pt>
                <c:pt idx="2">
                  <c:v>0.0333333333333333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Average.xlsx]Sheet2'!$X$48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Average.xlsx]Sheet2'!$X$49:$X$51</c:f>
              <c:numCache>
                <c:formatCode>0%</c:formatCode>
                <c:ptCount val="3"/>
                <c:pt idx="0">
                  <c:v>0.113636363636364</c:v>
                </c:pt>
                <c:pt idx="1">
                  <c:v>0.266666666666667</c:v>
                </c:pt>
                <c:pt idx="2">
                  <c:v>0.266666666666667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480ab477-e90b-4b03-a63e-2f8def5d979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25624" y="1279525"/>
            <a:ext cx="345440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1825625" y="1279525"/>
            <a:ext cx="3454400" cy="34544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800140" y="2778091"/>
            <a:ext cx="10800847" cy="4592488"/>
          </a:xfrm>
        </p:spPr>
        <p:txBody>
          <a:bodyPr anchor="b">
            <a:normAutofit/>
          </a:bodyPr>
          <a:lstStyle>
            <a:lvl1pPr algn="ctr">
              <a:defRPr sz="945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800140" y="7563927"/>
            <a:ext cx="10800847" cy="3476939"/>
          </a:xfrm>
        </p:spPr>
        <p:txBody>
          <a:bodyPr>
            <a:normAutofit/>
          </a:bodyPr>
          <a:lstStyle>
            <a:lvl1pPr marL="0" indent="0" algn="ctr">
              <a:buNone/>
              <a:defRPr sz="2835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720090" indent="0" algn="ctr">
              <a:buNone/>
              <a:defRPr sz="3145"/>
            </a:lvl2pPr>
            <a:lvl3pPr marL="1440815" indent="0" algn="ctr">
              <a:buNone/>
              <a:defRPr sz="2835"/>
            </a:lvl3pPr>
            <a:lvl4pPr marL="2159635" indent="0" algn="ctr">
              <a:buNone/>
              <a:defRPr sz="2525"/>
            </a:lvl4pPr>
            <a:lvl5pPr marL="2880995" indent="0" algn="ctr">
              <a:buNone/>
              <a:defRPr sz="2525"/>
            </a:lvl5pPr>
            <a:lvl6pPr marL="3600450" indent="0" algn="ctr">
              <a:buNone/>
              <a:defRPr sz="2525"/>
            </a:lvl6pPr>
            <a:lvl7pPr marL="4320540" indent="0" algn="ctr">
              <a:buNone/>
              <a:defRPr sz="2525"/>
            </a:lvl7pPr>
            <a:lvl8pPr marL="5040630" indent="0" algn="ctr">
              <a:buNone/>
              <a:defRPr sz="2525"/>
            </a:lvl8pPr>
            <a:lvl9pPr marL="5761355" indent="0" algn="ctr">
              <a:buNone/>
              <a:defRPr sz="2525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5061" y="3833634"/>
            <a:ext cx="12420973" cy="9137384"/>
          </a:xfrm>
        </p:spPr>
        <p:txBody>
          <a:bodyPr>
            <a:normAutofit/>
          </a:bodyPr>
          <a:lstStyle>
            <a:lvl1pPr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82576" y="7876978"/>
            <a:ext cx="8648179" cy="1703770"/>
          </a:xfrm>
        </p:spPr>
        <p:txBody>
          <a:bodyPr anchor="b">
            <a:normAutofit/>
          </a:bodyPr>
          <a:lstStyle>
            <a:lvl1pPr>
              <a:defRPr sz="630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82576" y="9680607"/>
            <a:ext cx="8648179" cy="1359803"/>
          </a:xfrm>
        </p:spPr>
        <p:txBody>
          <a:bodyPr>
            <a:normAutofit/>
          </a:bodyPr>
          <a:lstStyle>
            <a:lvl1pPr marL="0" indent="0">
              <a:buNone/>
              <a:defRPr sz="2835">
                <a:solidFill>
                  <a:schemeClr val="tx1"/>
                </a:solidFill>
              </a:defRPr>
            </a:lvl1pPr>
            <a:lvl2pPr marL="720090" indent="0">
              <a:buNone/>
              <a:defRPr sz="3145">
                <a:solidFill>
                  <a:schemeClr val="tx1">
                    <a:tint val="75000"/>
                  </a:schemeClr>
                </a:solidFill>
              </a:defRPr>
            </a:lvl2pPr>
            <a:lvl3pPr marL="1440815" indent="0">
              <a:buNone/>
              <a:defRPr sz="2835">
                <a:solidFill>
                  <a:schemeClr val="tx1">
                    <a:tint val="75000"/>
                  </a:schemeClr>
                </a:solidFill>
              </a:defRPr>
            </a:lvl3pPr>
            <a:lvl4pPr marL="215963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4pPr>
            <a:lvl5pPr marL="288099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5pPr>
            <a:lvl6pPr marL="360045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6pPr>
            <a:lvl7pPr marL="432054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7pPr>
            <a:lvl8pPr marL="504063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8pPr>
            <a:lvl9pPr marL="576135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>
            <a:normAutofit/>
          </a:bodyPr>
          <a:lstStyle>
            <a:lvl1pPr>
              <a:defRPr sz="378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65061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065554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1953" y="766727"/>
            <a:ext cx="12420973" cy="278355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1953" y="3664248"/>
            <a:ext cx="6092353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991953" y="5492523"/>
            <a:ext cx="6092353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7290571" y="3664248"/>
            <a:ext cx="6122357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7290571" y="5492523"/>
            <a:ext cx="6122357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0077" y="5808790"/>
            <a:ext cx="12420973" cy="2783553"/>
          </a:xfrm>
        </p:spPr>
        <p:txBody>
          <a:bodyPr>
            <a:normAutofit/>
          </a:bodyPr>
          <a:lstStyle>
            <a:lvl1pPr algn="ctr">
              <a:defRPr sz="7565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3933" y="266688"/>
            <a:ext cx="4919914" cy="3360264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6123315" y="1609269"/>
            <a:ext cx="6871455" cy="10697839"/>
          </a:xfrm>
        </p:spPr>
        <p:txBody>
          <a:bodyPr/>
          <a:lstStyle>
            <a:lvl1pPr marL="0" indent="0">
              <a:buNone/>
              <a:defRPr sz="5040"/>
            </a:lvl1pPr>
            <a:lvl2pPr marL="720090" indent="0">
              <a:buNone/>
              <a:defRPr sz="4410"/>
            </a:lvl2pPr>
            <a:lvl3pPr marL="1440815" indent="0">
              <a:buNone/>
              <a:defRPr sz="3780"/>
            </a:lvl3pPr>
            <a:lvl4pPr marL="2159635" indent="0">
              <a:buNone/>
              <a:defRPr sz="3145"/>
            </a:lvl4pPr>
            <a:lvl5pPr marL="2880995" indent="0">
              <a:buNone/>
              <a:defRPr sz="3145"/>
            </a:lvl5pPr>
            <a:lvl6pPr marL="3600450" indent="0">
              <a:buNone/>
              <a:defRPr sz="3145"/>
            </a:lvl6pPr>
            <a:lvl7pPr marL="4320540" indent="0">
              <a:buNone/>
              <a:defRPr sz="3145"/>
            </a:lvl7pPr>
            <a:lvl8pPr marL="5040630" indent="0">
              <a:buNone/>
              <a:defRPr sz="3145"/>
            </a:lvl8pPr>
            <a:lvl9pPr marL="5761355" indent="0">
              <a:buNone/>
              <a:defRPr sz="3145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9934" y="4320339"/>
            <a:ext cx="4919914" cy="8003963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525"/>
            </a:lvl1pPr>
            <a:lvl2pPr marL="720090" indent="0">
              <a:buNone/>
              <a:defRPr sz="2205"/>
            </a:lvl2pPr>
            <a:lvl3pPr marL="1440815" indent="0">
              <a:buNone/>
              <a:defRPr sz="1885"/>
            </a:lvl3pPr>
            <a:lvl4pPr marL="2159635" indent="0">
              <a:buNone/>
              <a:defRPr sz="1575"/>
            </a:lvl4pPr>
            <a:lvl5pPr marL="2880995" indent="0">
              <a:buNone/>
              <a:defRPr sz="1575"/>
            </a:lvl5pPr>
            <a:lvl6pPr marL="3600450" indent="0">
              <a:buNone/>
              <a:defRPr sz="1575"/>
            </a:lvl6pPr>
            <a:lvl7pPr marL="4320540" indent="0">
              <a:buNone/>
              <a:defRPr sz="1575"/>
            </a:lvl7pPr>
            <a:lvl8pPr marL="5040630" indent="0">
              <a:buNone/>
              <a:defRPr sz="1575"/>
            </a:lvl8pPr>
            <a:lvl9pPr marL="5761355" indent="0">
              <a:buNone/>
              <a:defRPr sz="1575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1604632" y="766727"/>
            <a:ext cx="1806420" cy="12204291"/>
          </a:xfrm>
        </p:spPr>
        <p:txBody>
          <a:bodyPr vert="eaVert">
            <a:normAutofit/>
          </a:bodyPr>
          <a:lstStyle>
            <a:lvl1pPr>
              <a:defRPr sz="567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90077" y="766727"/>
            <a:ext cx="10488962" cy="12204291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990077" y="1158186"/>
            <a:ext cx="12420973" cy="1167329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990077" y="766727"/>
            <a:ext cx="12420973" cy="27835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0077" y="3833634"/>
            <a:ext cx="12420973" cy="91373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99007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770374" y="13347713"/>
            <a:ext cx="4860381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17079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1440815" rtl="0" eaLnBrk="1" latinLnBrk="0" hangingPunct="1">
        <a:lnSpc>
          <a:spcPct val="90000"/>
        </a:lnSpc>
        <a:spcBef>
          <a:spcPct val="0"/>
        </a:spcBef>
        <a:buNone/>
        <a:defRPr sz="630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j-cs"/>
        </a:defRPr>
      </a:lvl1pPr>
    </p:titleStyle>
    <p:bodyStyle>
      <a:lvl1pPr marL="360045" indent="-360045" algn="l" defTabSz="1440815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1pPr>
      <a:lvl2pPr marL="108013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314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2pPr>
      <a:lvl3pPr marL="180086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3pPr>
      <a:lvl4pPr marL="251968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4pPr>
      <a:lvl5pPr marL="324040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5pPr>
      <a:lvl6pPr marL="396049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8058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40067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2013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2009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4081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63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8099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60045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2054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4063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6135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chart" Target="../charts/chart4.xml"/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.png"/><Relationship Id="rId8" Type="http://schemas.openxmlformats.org/officeDocument/2006/relationships/image" Target="../media/image16.png"/><Relationship Id="rId7" Type="http://schemas.openxmlformats.org/officeDocument/2006/relationships/image" Target="../media/image15.png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22.png"/><Relationship Id="rId13" Type="http://schemas.openxmlformats.org/officeDocument/2006/relationships/image" Target="../media/image21.png"/><Relationship Id="rId12" Type="http://schemas.openxmlformats.org/officeDocument/2006/relationships/image" Target="../media/image20.png"/><Relationship Id="rId11" Type="http://schemas.openxmlformats.org/officeDocument/2006/relationships/image" Target="../media/image19.png"/><Relationship Id="rId10" Type="http://schemas.openxmlformats.org/officeDocument/2006/relationships/image" Target="../media/image18.png"/><Relationship Id="rId1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31.png"/><Relationship Id="rId7" Type="http://schemas.openxmlformats.org/officeDocument/2006/relationships/image" Target="../media/image30.png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0" Type="http://schemas.openxmlformats.org/officeDocument/2006/relationships/notesSlide" Target="../notesSlides/notesSlide2.xml"/><Relationship Id="rId1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png"/><Relationship Id="rId8" Type="http://schemas.openxmlformats.org/officeDocument/2006/relationships/image" Target="../media/image16.png"/><Relationship Id="rId7" Type="http://schemas.openxmlformats.org/officeDocument/2006/relationships/image" Target="../media/image15.png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5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4" Type="http://schemas.openxmlformats.org/officeDocument/2006/relationships/notesSlide" Target="../notesSlides/notesSlide3.xml"/><Relationship Id="rId13" Type="http://schemas.openxmlformats.org/officeDocument/2006/relationships/slideLayout" Target="../slideLayouts/slideLayout1.xml"/><Relationship Id="rId12" Type="http://schemas.openxmlformats.org/officeDocument/2006/relationships/image" Target="../media/image21.png"/><Relationship Id="rId11" Type="http://schemas.openxmlformats.org/officeDocument/2006/relationships/image" Target="../media/image20.png"/><Relationship Id="rId10" Type="http://schemas.openxmlformats.org/officeDocument/2006/relationships/image" Target="../media/image19.png"/><Relationship Id="rId1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1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0.png"/><Relationship Id="rId1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4.png"/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image" Target="../media/image45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54.png"/><Relationship Id="rId8" Type="http://schemas.openxmlformats.org/officeDocument/2006/relationships/image" Target="../media/image53.png"/><Relationship Id="rId7" Type="http://schemas.openxmlformats.org/officeDocument/2006/relationships/image" Target="../media/image52.png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Relationship Id="rId3" Type="http://schemas.openxmlformats.org/officeDocument/2006/relationships/image" Target="../media/image48.png"/><Relationship Id="rId2" Type="http://schemas.openxmlformats.org/officeDocument/2006/relationships/tags" Target="../tags/tag2.xml"/><Relationship Id="rId14" Type="http://schemas.openxmlformats.org/officeDocument/2006/relationships/slideLayout" Target="../slideLayouts/slideLayout7.xml"/><Relationship Id="rId13" Type="http://schemas.openxmlformats.org/officeDocument/2006/relationships/image" Target="../media/image58.png"/><Relationship Id="rId12" Type="http://schemas.openxmlformats.org/officeDocument/2006/relationships/image" Target="../media/image57.png"/><Relationship Id="rId11" Type="http://schemas.openxmlformats.org/officeDocument/2006/relationships/image" Target="../media/image56.png"/><Relationship Id="rId10" Type="http://schemas.openxmlformats.org/officeDocument/2006/relationships/image" Target="../media/image55.png"/><Relationship Id="rId1" Type="http://schemas.openxmlformats.org/officeDocument/2006/relationships/tags" Target="../tags/tag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9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68.png"/><Relationship Id="rId8" Type="http://schemas.openxmlformats.org/officeDocument/2006/relationships/image" Target="../media/image67.png"/><Relationship Id="rId7" Type="http://schemas.openxmlformats.org/officeDocument/2006/relationships/image" Target="../media/image66.png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69.png"/><Relationship Id="rId1" Type="http://schemas.openxmlformats.org/officeDocument/2006/relationships/image" Target="../media/image60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78.png"/><Relationship Id="rId8" Type="http://schemas.openxmlformats.org/officeDocument/2006/relationships/image" Target="../media/image77.png"/><Relationship Id="rId7" Type="http://schemas.openxmlformats.org/officeDocument/2006/relationships/image" Target="../media/image76.png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8" Type="http://schemas.openxmlformats.org/officeDocument/2006/relationships/slideLayout" Target="../slideLayouts/slideLayout2.xml"/><Relationship Id="rId17" Type="http://schemas.openxmlformats.org/officeDocument/2006/relationships/image" Target="../media/image86.png"/><Relationship Id="rId16" Type="http://schemas.openxmlformats.org/officeDocument/2006/relationships/image" Target="../media/image85.png"/><Relationship Id="rId15" Type="http://schemas.openxmlformats.org/officeDocument/2006/relationships/image" Target="../media/image84.png"/><Relationship Id="rId14" Type="http://schemas.openxmlformats.org/officeDocument/2006/relationships/image" Target="../media/image83.png"/><Relationship Id="rId13" Type="http://schemas.openxmlformats.org/officeDocument/2006/relationships/image" Target="../media/image82.png"/><Relationship Id="rId12" Type="http://schemas.openxmlformats.org/officeDocument/2006/relationships/image" Target="../media/image81.png"/><Relationship Id="rId11" Type="http://schemas.openxmlformats.org/officeDocument/2006/relationships/image" Target="../media/image80.png"/><Relationship Id="rId10" Type="http://schemas.openxmlformats.org/officeDocument/2006/relationships/image" Target="../media/image79.png"/><Relationship Id="rId1" Type="http://schemas.openxmlformats.org/officeDocument/2006/relationships/image" Target="../media/image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组合 58"/>
          <p:cNvGrpSpPr/>
          <p:nvPr/>
        </p:nvGrpSpPr>
        <p:grpSpPr>
          <a:xfrm>
            <a:off x="4235975" y="5437111"/>
            <a:ext cx="5898681" cy="3612647"/>
            <a:chOff x="1301" y="464"/>
            <a:chExt cx="16514" cy="10114"/>
          </a:xfrm>
        </p:grpSpPr>
        <p:grpSp>
          <p:nvGrpSpPr>
            <p:cNvPr id="33" name="组合 32"/>
            <p:cNvGrpSpPr/>
            <p:nvPr/>
          </p:nvGrpSpPr>
          <p:grpSpPr>
            <a:xfrm>
              <a:off x="1301" y="1635"/>
              <a:ext cx="16514" cy="6542"/>
              <a:chOff x="0" y="1154"/>
              <a:chExt cx="19116" cy="7572"/>
            </a:xfrm>
          </p:grpSpPr>
          <p:pic>
            <p:nvPicPr>
              <p:cNvPr id="6" name="图片 5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0" y="1154"/>
                <a:ext cx="19116" cy="7538"/>
              </a:xfrm>
              <a:prstGeom prst="rect">
                <a:avLst/>
              </a:prstGeom>
            </p:spPr>
          </p:pic>
          <p:sp>
            <p:nvSpPr>
              <p:cNvPr id="7" name="矩形 6"/>
              <p:cNvSpPr/>
              <p:nvPr/>
            </p:nvSpPr>
            <p:spPr>
              <a:xfrm>
                <a:off x="161" y="1193"/>
                <a:ext cx="630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8" name="矩形 7"/>
              <p:cNvSpPr/>
              <p:nvPr/>
            </p:nvSpPr>
            <p:spPr>
              <a:xfrm rot="5400000">
                <a:off x="4742" y="4127"/>
                <a:ext cx="630" cy="8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9418" y="1193"/>
                <a:ext cx="986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>
                <a:off x="14022" y="3732"/>
                <a:ext cx="630" cy="935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984" y="843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  <a:endParaRPr lang="en-US" altLang="zh-CN" sz="900"/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  <a:endParaRPr lang="en-US" altLang="zh-CN" sz="900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1F77B4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1F77B4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  <a:endParaRPr lang="en-US" altLang="zh-CN" sz="900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  <a:endParaRPr lang="en-US" altLang="zh-CN" sz="900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9467BD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9467BD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  <a:endParaRPr lang="en-US" altLang="zh-CN" sz="900"/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  <a:endParaRPr lang="en-US" altLang="zh-CN" sz="900"/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2CA02C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2CA02C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22" name="乘号 21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9467BD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  <a:endParaRPr lang="en-US" altLang="zh-CN" sz="900"/>
              </a:p>
            </p:txBody>
          </p:sp>
          <p:sp>
            <p:nvSpPr>
              <p:cNvPr id="24" name="乘号 23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9467BD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  <a:endParaRPr lang="en-US" altLang="zh-CN" sz="900"/>
              </a:p>
            </p:txBody>
          </p:sp>
          <p:sp>
            <p:nvSpPr>
              <p:cNvPr id="26" name="乘号 25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2CA02C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8" name="乘号 27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2CA02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31" name="乘号 30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1F77B4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4" name="乘号 33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1F77B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  <a:endParaRPr lang="en-US" altLang="zh-CN" sz="90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Structural Zero Params</a:t>
                  </a:r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5263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  <a:endParaRPr lang="en-US" altLang="zh-CN" sz="1015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394" y="7617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100%</a:t>
              </a:r>
              <a:endParaRPr lang="en-US" altLang="zh-CN" sz="1015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06" y="7601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424" y="165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0.6</a:t>
              </a:r>
              <a:endParaRPr lang="en-US" altLang="zh-CN" sz="1015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415" y="484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0.3</a:t>
              </a:r>
              <a:endParaRPr lang="en-US" altLang="zh-CN" sz="101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441" y="1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173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6838" y="7632"/>
              <a:ext cx="7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70%</a:t>
              </a:r>
              <a:endParaRPr lang="en-US" altLang="zh-CN" sz="101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7670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20%</a:t>
              </a:r>
              <a:endParaRPr lang="en-US" altLang="zh-CN" sz="1015"/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66" y="2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4691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  <a:endParaRPr lang="en-US" altLang="zh-CN" sz="1015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4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398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Actual Construction Params</a:t>
                  </a:r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文本框 52"/>
            <p:cNvSpPr txBox="1"/>
            <p:nvPr/>
          </p:nvSpPr>
          <p:spPr>
            <a:xfrm>
              <a:off x="14149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  <a:endParaRPr lang="en-US" altLang="zh-CN" sz="1015"/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076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  <a:endParaRPr lang="en-US" altLang="zh-CN" sz="1015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781" y="4616"/>
              <a:ext cx="2574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  <a:endParaRPr lang="en-US" altLang="zh-CN" sz="9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475"/>
              <a:ext cx="2574" cy="10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  <a:endParaRPr lang="en-US" altLang="zh-CN" sz="9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4247554" y="5312111"/>
            <a:ext cx="5892251" cy="3737664"/>
            <a:chOff x="1333" y="114"/>
            <a:chExt cx="16496" cy="10464"/>
          </a:xfrm>
        </p:grpSpPr>
        <p:grpSp>
          <p:nvGrpSpPr>
            <p:cNvPr id="30" name="组合 29"/>
            <p:cNvGrpSpPr/>
            <p:nvPr/>
          </p:nvGrpSpPr>
          <p:grpSpPr>
            <a:xfrm>
              <a:off x="1333" y="114"/>
              <a:ext cx="16496" cy="10464"/>
              <a:chOff x="1333" y="114"/>
              <a:chExt cx="16496" cy="10464"/>
            </a:xfrm>
          </p:grpSpPr>
          <p:pic>
            <p:nvPicPr>
              <p:cNvPr id="3" name="图片 2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333" y="1508"/>
                <a:ext cx="16496" cy="6670"/>
              </a:xfrm>
              <a:prstGeom prst="rect">
                <a:avLst/>
              </a:prstGeom>
            </p:spPr>
          </p:pic>
          <p:grpSp>
            <p:nvGrpSpPr>
              <p:cNvPr id="33" name="组合 32"/>
              <p:cNvGrpSpPr/>
              <p:nvPr/>
            </p:nvGrpSpPr>
            <p:grpSpPr>
              <a:xfrm>
                <a:off x="1440" y="1669"/>
                <a:ext cx="16289" cy="6551"/>
                <a:chOff x="161" y="1193"/>
                <a:chExt cx="18855" cy="7582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161" y="1193"/>
                  <a:ext cx="630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4742" y="4193"/>
                  <a:ext cx="630" cy="85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9" name="矩形 8"/>
                <p:cNvSpPr/>
                <p:nvPr/>
              </p:nvSpPr>
              <p:spPr>
                <a:xfrm>
                  <a:off x="9418" y="1193"/>
                  <a:ext cx="986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0" name="矩形 9"/>
                <p:cNvSpPr/>
                <p:nvPr/>
              </p:nvSpPr>
              <p:spPr>
                <a:xfrm rot="5400000">
                  <a:off x="14022" y="3732"/>
                  <a:ext cx="630" cy="93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1984" y="8434"/>
                <a:ext cx="15595" cy="2144"/>
                <a:chOff x="2352" y="8858"/>
                <a:chExt cx="15488" cy="2144"/>
              </a:xfrm>
            </p:grpSpPr>
            <p:sp>
              <p:nvSpPr>
                <p:cNvPr id="32" name="文本框 31"/>
                <p:cNvSpPr txBox="1"/>
                <p:nvPr/>
              </p:nvSpPr>
              <p:spPr>
                <a:xfrm>
                  <a:off x="13434" y="9840"/>
                  <a:ext cx="4406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2016</a:t>
                  </a:r>
                  <a:endParaRPr lang="en-US" altLang="zh-CN" sz="900"/>
                </a:p>
              </p:txBody>
            </p:sp>
            <p:sp>
              <p:nvSpPr>
                <p:cNvPr id="4" name="文本框 3"/>
                <p:cNvSpPr txBox="1"/>
                <p:nvPr/>
              </p:nvSpPr>
              <p:spPr>
                <a:xfrm>
                  <a:off x="13434" y="8858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2016</a:t>
                  </a:r>
                  <a:endParaRPr lang="en-US" altLang="zh-CN" sz="900"/>
                </a:p>
              </p:txBody>
            </p:sp>
            <p:sp>
              <p:nvSpPr>
                <p:cNvPr id="11" name="椭圆 10"/>
                <p:cNvSpPr/>
                <p:nvPr/>
              </p:nvSpPr>
              <p:spPr>
                <a:xfrm>
                  <a:off x="13067" y="8972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3067" y="9435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3" name="文本框 12"/>
                <p:cNvSpPr txBox="1"/>
                <p:nvPr/>
              </p:nvSpPr>
              <p:spPr>
                <a:xfrm>
                  <a:off x="13434" y="9349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2023</a:t>
                  </a:r>
                  <a:endParaRPr lang="en-US" altLang="zh-CN" sz="900"/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2848" y="8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2016</a:t>
                  </a:r>
                  <a:endParaRPr lang="en-US" altLang="zh-CN" sz="900"/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465" y="8972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16" name="椭圆 15"/>
                <p:cNvSpPr/>
                <p:nvPr/>
              </p:nvSpPr>
              <p:spPr>
                <a:xfrm>
                  <a:off x="2465" y="9435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2848" y="9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2023</a:t>
                  </a:r>
                  <a:endParaRPr lang="en-US" altLang="zh-CN" sz="900"/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7053" y="8858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South&amp;South-east Asia, 2016</a:t>
                  </a:r>
                  <a:endParaRPr lang="en-US" altLang="zh-CN" sz="900"/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6647" y="8972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0" name="椭圆 19"/>
                <p:cNvSpPr/>
                <p:nvPr/>
              </p:nvSpPr>
              <p:spPr>
                <a:xfrm>
                  <a:off x="6647" y="9435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7053" y="9345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Asia, 2023</a:t>
                  </a:r>
                  <a:endParaRPr lang="en-US" altLang="zh-CN" sz="900"/>
                </a:p>
              </p:txBody>
            </p:sp>
            <p:sp>
              <p:nvSpPr>
                <p:cNvPr id="22" name="乘号 21"/>
                <p:cNvSpPr/>
                <p:nvPr/>
              </p:nvSpPr>
              <p:spPr>
                <a:xfrm>
                  <a:off x="2352" y="9845"/>
                  <a:ext cx="480" cy="480"/>
                </a:xfrm>
                <a:prstGeom prst="mathMultiply">
                  <a:avLst/>
                </a:prstGeom>
                <a:solidFill>
                  <a:srgbClr val="E85748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2848" y="9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2016</a:t>
                  </a:r>
                  <a:endParaRPr lang="en-US" altLang="zh-CN" sz="900"/>
                </a:p>
              </p:txBody>
            </p:sp>
            <p:sp>
              <p:nvSpPr>
                <p:cNvPr id="24" name="乘号 23"/>
                <p:cNvSpPr/>
                <p:nvPr/>
              </p:nvSpPr>
              <p:spPr>
                <a:xfrm>
                  <a:off x="2352" y="10359"/>
                  <a:ext cx="480" cy="480"/>
                </a:xfrm>
                <a:prstGeom prst="mathMultiply">
                  <a:avLst/>
                </a:prstGeom>
                <a:solidFill>
                  <a:srgbClr val="E85748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5" name="文本框 24"/>
                <p:cNvSpPr txBox="1"/>
                <p:nvPr/>
              </p:nvSpPr>
              <p:spPr>
                <a:xfrm>
                  <a:off x="2848" y="10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2023</a:t>
                  </a:r>
                  <a:endParaRPr lang="en-US" altLang="zh-CN" sz="900"/>
                </a:p>
              </p:txBody>
            </p:sp>
            <p:sp>
              <p:nvSpPr>
                <p:cNvPr id="26" name="乘号 25"/>
                <p:cNvSpPr/>
                <p:nvPr/>
              </p:nvSpPr>
              <p:spPr>
                <a:xfrm>
                  <a:off x="6534" y="9845"/>
                  <a:ext cx="480" cy="480"/>
                </a:xfrm>
                <a:prstGeom prst="mathMultiply">
                  <a:avLst/>
                </a:prstGeom>
                <a:solidFill>
                  <a:srgbClr val="F39F1B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7053" y="9832"/>
                  <a:ext cx="5582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2016</a:t>
                  </a:r>
                  <a:endParaRPr lang="zh-CN" altLang="en-US" sz="900">
                    <a:ea typeface="宋体" panose="02010600030101010101" pitchFamily="2" charset="-122"/>
                    <a:sym typeface="+mn-ea"/>
                  </a:endParaRPr>
                </a:p>
              </p:txBody>
            </p:sp>
            <p:sp>
              <p:nvSpPr>
                <p:cNvPr id="28" name="乘号 27"/>
                <p:cNvSpPr/>
                <p:nvPr/>
              </p:nvSpPr>
              <p:spPr>
                <a:xfrm>
                  <a:off x="6534" y="10359"/>
                  <a:ext cx="480" cy="480"/>
                </a:xfrm>
                <a:prstGeom prst="mathMultiply">
                  <a:avLst/>
                </a:prstGeom>
                <a:solidFill>
                  <a:srgbClr val="F39F1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7053" y="10319"/>
                  <a:ext cx="5581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2023</a:t>
                  </a:r>
                  <a:endParaRPr lang="en-US" altLang="zh-CN" sz="900"/>
                </a:p>
              </p:txBody>
            </p:sp>
            <p:sp>
              <p:nvSpPr>
                <p:cNvPr id="31" name="乘号 30"/>
                <p:cNvSpPr/>
                <p:nvPr/>
              </p:nvSpPr>
              <p:spPr>
                <a:xfrm>
                  <a:off x="12954" y="9845"/>
                  <a:ext cx="480" cy="480"/>
                </a:xfrm>
                <a:prstGeom prst="mathMultiply">
                  <a:avLst/>
                </a:prstGeom>
                <a:solidFill>
                  <a:srgbClr val="47A2DE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4" name="乘号 33"/>
                <p:cNvSpPr/>
                <p:nvPr/>
              </p:nvSpPr>
              <p:spPr>
                <a:xfrm>
                  <a:off x="12954" y="10359"/>
                  <a:ext cx="480" cy="480"/>
                </a:xfrm>
                <a:prstGeom prst="mathMultiply">
                  <a:avLst/>
                </a:prstGeom>
                <a:solidFill>
                  <a:srgbClr val="47A2D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13434" y="10331"/>
                  <a:ext cx="4228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2023</a:t>
                  </a:r>
                  <a:endParaRPr lang="en-US" altLang="zh-CN" sz="900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Structural Zero</a:t>
                    </a:r>
                    <a:endParaRPr lang="en-US" altLang="zh-CN" sz="1125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文本框 36"/>
              <p:cNvSpPr txBox="1"/>
              <p:nvPr/>
            </p:nvSpPr>
            <p:spPr>
              <a:xfrm>
                <a:off x="5263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  <a:endParaRPr lang="en-US" altLang="zh-CN" sz="101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8394" y="7617"/>
                <a:ext cx="10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100%</a:t>
                </a:r>
                <a:endParaRPr lang="en-US" altLang="zh-CN" sz="1015"/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1706" y="7601"/>
                <a:ext cx="25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  <a:endParaRPr lang="en-US" altLang="zh-CN" sz="1015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424" y="165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0.6</a:t>
                </a:r>
                <a:endParaRPr lang="en-US" altLang="zh-CN" sz="1015"/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415" y="484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0.3</a:t>
                </a:r>
                <a:endParaRPr lang="en-US" altLang="zh-CN" sz="1015"/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441" y="1210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endParaRPr lang="en-US" altLang="zh-CN" sz="1125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6173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probability(α)</a:t>
                </a:r>
                <a:endParaRPr lang="en-US" altLang="zh-CN" sz="1125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6838" y="7632"/>
                <a:ext cx="7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70%</a:t>
                </a:r>
                <a:endParaRPr lang="en-US" altLang="zh-CN" sz="1015"/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0288" y="7670"/>
                <a:ext cx="871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20%</a:t>
                </a:r>
                <a:endParaRPr lang="en-US" altLang="zh-CN" sz="1015"/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9666" y="2267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  <a:endParaRPr lang="en-US" altLang="zh-CN" sz="101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9483" y="4691"/>
                <a:ext cx="77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-0.2</a:t>
                </a:r>
                <a:endParaRPr lang="en-US" altLang="zh-CN" sz="1015"/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9746" y="140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endParaRPr lang="en-US" altLang="zh-CN" sz="1125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4398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probability(κ)</a:t>
                </a:r>
                <a:endParaRPr lang="en-US" altLang="zh-CN" sz="1125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Actual Construction</a:t>
                    </a:r>
                    <a:endParaRPr lang="en-US" altLang="zh-CN" sz="1125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" name="文本框 52"/>
              <p:cNvSpPr txBox="1"/>
              <p:nvPr/>
            </p:nvSpPr>
            <p:spPr>
              <a:xfrm>
                <a:off x="14149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  <a:endParaRPr lang="en-US" altLang="zh-CN" sz="1015"/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9436" y="7076"/>
                <a:ext cx="76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-0.4</a:t>
                </a:r>
                <a:endParaRPr lang="en-US" altLang="zh-CN" sz="1015"/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6781" y="4584"/>
                <a:ext cx="2574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β = 0.3</a:t>
                </a:r>
                <a:endPara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0380" y="3395"/>
                <a:ext cx="2574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-0.09</a:t>
                </a:r>
                <a:endPara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958" y="114"/>
                <a:ext cx="15623" cy="8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135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Horizontal Construction Params</a:t>
                </a:r>
                <a:endParaRPr lang="en-US" altLang="zh-CN" sz="135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sp>
          <p:nvSpPr>
            <p:cNvPr id="54" name="文本框 53"/>
            <p:cNvSpPr txBox="1"/>
            <p:nvPr/>
          </p:nvSpPr>
          <p:spPr>
            <a:xfrm>
              <a:off x="1984" y="6876"/>
              <a:ext cx="215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Low-Constraint, Flat-Gradient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6781" y="1716"/>
              <a:ext cx="2404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Steep-Gradient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3396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Low-Constraint,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Steep-Gradient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992" y="4969"/>
              <a:ext cx="2151" cy="11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Flat-Gradient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0380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Flat-Gradient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0388" y="6840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Steep-Gradient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264" y="166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Flat-Gradient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5278" y="683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Steep-Gradient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组合 68"/>
          <p:cNvGrpSpPr/>
          <p:nvPr/>
        </p:nvGrpSpPr>
        <p:grpSpPr>
          <a:xfrm>
            <a:off x="3771268" y="5397821"/>
            <a:ext cx="6883818" cy="3555497"/>
            <a:chOff x="0" y="354"/>
            <a:chExt cx="19272" cy="9954"/>
          </a:xfrm>
        </p:grpSpPr>
        <p:pic>
          <p:nvPicPr>
            <p:cNvPr id="4" name="图片 3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0" y="1805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9795" y="-1270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" name="矩形 6"/>
            <p:cNvSpPr/>
            <p:nvPr/>
          </p:nvSpPr>
          <p:spPr>
            <a:xfrm>
              <a:off x="0" y="1648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5" name="矩形 4"/>
            <p:cNvSpPr/>
            <p:nvPr/>
          </p:nvSpPr>
          <p:spPr>
            <a:xfrm>
              <a:off x="6424" y="1487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6" name="矩形 5"/>
            <p:cNvSpPr/>
            <p:nvPr/>
          </p:nvSpPr>
          <p:spPr>
            <a:xfrm>
              <a:off x="12864" y="161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 b="1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Profile Params</a:t>
                  </a:r>
                  <a:endParaRPr lang="en-US" altLang="zh-CN" sz="1350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04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  <a:endParaRPr lang="en-US" altLang="zh-CN" sz="1015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7" y="6430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  <a:endParaRPr lang="en-US" altLang="zh-CN" sz="1015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212" y="7598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  <a:endParaRPr lang="en-US" altLang="zh-CN" sz="101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5608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259" y="161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479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  <a:endParaRPr lang="en-US" altLang="zh-CN" sz="1015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4" y="2751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" y="4583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  <a:endParaRPr lang="en-US" altLang="zh-CN" sz="1015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9600" y="7638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-0.2</a:t>
              </a:r>
              <a:endParaRPr lang="en-US" altLang="zh-CN" sz="1015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228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  <a:endParaRPr lang="en-US" altLang="zh-CN" sz="101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759" y="763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-0.4</a:t>
              </a:r>
              <a:endParaRPr lang="en-US" altLang="zh-CN" sz="1015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060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934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624" y="7638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228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228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  <a:endParaRPr lang="en-US" altLang="zh-CN" sz="1015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228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  <a:endParaRPr lang="en-US" altLang="zh-CN" sz="1015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6228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  <a:endParaRPr lang="en-US" altLang="zh-CN" sz="1015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590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  <a:endParaRPr lang="en-US" altLang="zh-CN" sz="1015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4074" y="765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  <a:endParaRPr lang="en-US" altLang="zh-CN" sz="1015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8106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765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  <a:endParaRPr lang="en-US" altLang="zh-CN" sz="1015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2689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  <a:endParaRPr lang="en-US" altLang="zh-CN" sz="1015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3395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2689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2689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  <a:endParaRPr lang="en-US" altLang="zh-CN" sz="1015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689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  <a:endParaRPr lang="en-US" altLang="zh-CN" sz="1015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689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  <a:endParaRPr lang="en-US" altLang="zh-CN" sz="1015"/>
            </a:p>
          </p:txBody>
        </p:sp>
        <p:grpSp>
          <p:nvGrpSpPr>
            <p:cNvPr id="56" name="组合 55"/>
            <p:cNvGrpSpPr/>
            <p:nvPr/>
          </p:nvGrpSpPr>
          <p:grpSpPr>
            <a:xfrm>
              <a:off x="2061" y="816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  <a:endParaRPr lang="en-US" altLang="zh-CN" sz="900"/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  <a:endParaRPr lang="en-US" altLang="zh-CN" sz="900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  <a:endParaRPr lang="en-US" altLang="zh-CN" sz="900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  <a:endParaRPr lang="en-US" altLang="zh-CN" sz="900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  <a:endParaRPr lang="en-US" altLang="zh-CN" sz="900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  <a:endParaRPr lang="en-US" altLang="zh-CN" sz="900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50" name="乘号 49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E85748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  <a:endParaRPr lang="en-US" altLang="zh-CN" sz="900"/>
              </a:p>
            </p:txBody>
          </p:sp>
          <p:sp>
            <p:nvSpPr>
              <p:cNvPr id="52" name="乘号 51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E8574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  <a:endParaRPr lang="en-US" altLang="zh-CN" sz="900"/>
              </a:p>
            </p:txBody>
          </p:sp>
          <p:sp>
            <p:nvSpPr>
              <p:cNvPr id="54" name="乘号 53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F39F1B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57" name="乘号 56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F39F1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59" name="乘号 58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47A2DE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0" name="乘号 59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47A2D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  <a:endParaRPr lang="en-US" altLang="zh-CN" sz="900"/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2432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3917" y="3540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5284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7387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6703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867771" y="6026836"/>
            <a:ext cx="841189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B </a:t>
            </a:r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= -0.08</a:t>
            </a:r>
            <a:endParaRPr lang="en-US" altLang="zh-CN" sz="790" i="1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3150258" y="4383437"/>
            <a:ext cx="8100119" cy="3554121"/>
            <a:chOff x="0" y="1736"/>
            <a:chExt cx="22678" cy="6706"/>
          </a:xfrm>
        </p:grpSpPr>
        <p:graphicFrame>
          <p:nvGraphicFramePr>
            <p:cNvPr id="3" name="图表 2"/>
            <p:cNvGraphicFramePr/>
            <p:nvPr/>
          </p:nvGraphicFramePr>
          <p:xfrm>
            <a:off x="0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"/>
            </a:graphicData>
          </a:graphic>
        </p:graphicFrame>
        <p:graphicFrame>
          <p:nvGraphicFramePr>
            <p:cNvPr id="2" name="图表 1"/>
            <p:cNvGraphicFramePr/>
            <p:nvPr/>
          </p:nvGraphicFramePr>
          <p:xfrm>
            <a:off x="11554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6" name="图表 5"/>
            <p:cNvGraphicFramePr/>
            <p:nvPr/>
          </p:nvGraphicFramePr>
          <p:xfrm>
            <a:off x="5639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7" name="图表 6"/>
            <p:cNvGraphicFramePr/>
            <p:nvPr/>
          </p:nvGraphicFramePr>
          <p:xfrm>
            <a:off x="17008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sp>
          <p:nvSpPr>
            <p:cNvPr id="9" name="文本框 8"/>
            <p:cNvSpPr txBox="1"/>
            <p:nvPr/>
          </p:nvSpPr>
          <p:spPr>
            <a:xfrm>
              <a:off x="0" y="1736"/>
              <a:ext cx="11307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Structural Zero Part</a:t>
              </a:r>
              <a:endParaRPr lang="en-US" altLang="zh-CN" sz="1125"/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1554" y="1736"/>
              <a:ext cx="11124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Binomial (Real Construction) Part</a:t>
              </a:r>
              <a:endParaRPr lang="en-US" altLang="zh-CN" sz="1125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265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  <a:endParaRPr lang="en-US" altLang="zh-CN" sz="101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7841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  <a:endParaRPr lang="en-US" altLang="zh-CN" sz="1015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3632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  <a:endParaRPr lang="en-US" altLang="zh-CN" sz="1015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19208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  <a:endParaRPr lang="en-US" altLang="zh-CN" sz="1015"/>
            </a:p>
          </p:txBody>
        </p:sp>
      </p:grp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</a:fld>
            <a:endParaRPr lang="de-AT" sz="1065" dirty="0"/>
          </a:p>
        </p:txBody>
      </p:sp>
      <p:grpSp>
        <p:nvGrpSpPr>
          <p:cNvPr id="51" name="组合 50"/>
          <p:cNvGrpSpPr/>
          <p:nvPr/>
        </p:nvGrpSpPr>
        <p:grpSpPr>
          <a:xfrm>
            <a:off x="3235984" y="4052600"/>
            <a:ext cx="7614976" cy="6425612"/>
            <a:chOff x="135" y="6382"/>
            <a:chExt cx="11992" cy="10119"/>
          </a:xfrm>
        </p:grpSpPr>
        <p:grpSp>
          <p:nvGrpSpPr>
            <p:cNvPr id="8" name="组合 7"/>
            <p:cNvGrpSpPr/>
            <p:nvPr/>
          </p:nvGrpSpPr>
          <p:grpSpPr>
            <a:xfrm rot="0">
              <a:off x="193" y="7052"/>
              <a:ext cx="11934" cy="4292"/>
              <a:chOff x="583" y="2529"/>
              <a:chExt cx="21216" cy="7630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1" name="TextBox 30"/>
                  <p:cNvSpPr txBox="1"/>
                  <p:nvPr/>
                </p:nvSpPr>
                <p:spPr>
                  <a:xfrm>
                    <a:off x="11630" y="8665"/>
                    <a:ext cx="3967" cy="78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sz="124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𝛼</m:t>
                        </m:r>
                      </m:oMath>
                    </a14:m>
                    <a:r>
                      <a:rPr lang="en-US" sz="1240" dirty="0">
                        <a:latin typeface="Arial" panose="020B0604020202020204" pitchFamily="34" charset="0"/>
                      </a:rPr>
                      <a:t> large, </a:t>
                    </a:r>
                    <a14:m>
                      <m:oMath xmlns:m="http://schemas.openxmlformats.org/officeDocument/2006/math">
                        <m:r>
                          <a:rPr lang="en-US" sz="124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𝛽</m:t>
                        </m:r>
                        <m:r>
                          <a:rPr lang="en-US" sz="1240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 </m:t>
                        </m:r>
                      </m:oMath>
                    </a14:m>
                    <a:r>
                      <a:rPr lang="en-US" sz="1240" dirty="0">
                        <a:latin typeface="Arial" panose="020B0604020202020204" pitchFamily="34" charset="0"/>
                      </a:rPr>
                      <a:t>small</a:t>
                    </a:r>
                    <a:endParaRPr lang="en-US" sz="1240" dirty="0">
                      <a:latin typeface="Arial" panose="020B0604020202020204" pitchFamily="34" charset="0"/>
                    </a:endParaRPr>
                  </a:p>
                </p:txBody>
              </p:sp>
            </mc:Choice>
            <mc:Fallback>
              <p:sp>
                <p:nvSpPr>
                  <p:cNvPr id="31" name="TextBox 3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630" y="8665"/>
                    <a:ext cx="3967" cy="788"/>
                  </a:xfrm>
                  <a:prstGeom prst="rect">
                    <a:avLst/>
                  </a:prstGeom>
                  <a:blipFill rotWithShape="1">
                    <a:blip r:embed="rId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TextBox 10"/>
                  <p:cNvSpPr txBox="1"/>
                  <p:nvPr/>
                </p:nvSpPr>
                <p:spPr>
                  <a:xfrm>
                    <a:off x="1098" y="8646"/>
                    <a:ext cx="4052" cy="78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sz="124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𝛼</m:t>
                        </m:r>
                      </m:oMath>
                    </a14:m>
                    <a:r>
                      <a:rPr lang="en-US" sz="1240" dirty="0">
                        <a:latin typeface="Arial" panose="020B0604020202020204" pitchFamily="34" charset="0"/>
                      </a:rPr>
                      <a:t> small, </a:t>
                    </a:r>
                    <a14:m>
                      <m:oMath xmlns:m="http://schemas.openxmlformats.org/officeDocument/2006/math">
                        <m:r>
                          <a:rPr lang="en-US" sz="124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𝛽</m:t>
                        </m:r>
                        <m:r>
                          <a:rPr lang="en-US" sz="1240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 </m:t>
                        </m:r>
                      </m:oMath>
                    </a14:m>
                    <a:r>
                      <a:rPr lang="en-US" sz="1240" dirty="0">
                        <a:latin typeface="Arial" panose="020B0604020202020204" pitchFamily="34" charset="0"/>
                      </a:rPr>
                      <a:t>small</a:t>
                    </a:r>
                    <a:endParaRPr lang="en-US" sz="1240" dirty="0">
                      <a:latin typeface="Arial" panose="020B0604020202020204" pitchFamily="34" charset="0"/>
                    </a:endParaRPr>
                  </a:p>
                </p:txBody>
              </p:sp>
            </mc:Choice>
            <mc:Fallback>
              <p:sp>
                <p:nvSpPr>
                  <p:cNvPr id="11" name="TextBox 1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8" y="8646"/>
                    <a:ext cx="4052" cy="788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TextBox 20"/>
                  <p:cNvSpPr txBox="1"/>
                  <p:nvPr/>
                </p:nvSpPr>
                <p:spPr>
                  <a:xfrm>
                    <a:off x="16811" y="8646"/>
                    <a:ext cx="4052" cy="78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sz="124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𝛼</m:t>
                        </m:r>
                      </m:oMath>
                    </a14:m>
                    <a:r>
                      <a:rPr lang="en-US" sz="1240" dirty="0">
                        <a:latin typeface="Arial" panose="020B0604020202020204" pitchFamily="34" charset="0"/>
                      </a:rPr>
                      <a:t> large, </a:t>
                    </a:r>
                    <a14:m>
                      <m:oMath xmlns:m="http://schemas.openxmlformats.org/officeDocument/2006/math">
                        <m:r>
                          <a:rPr lang="en-US" sz="124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𝛽</m:t>
                        </m:r>
                        <m:r>
                          <a:rPr lang="en-US" sz="1240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 </m:t>
                        </m:r>
                      </m:oMath>
                    </a14:m>
                    <a:r>
                      <a:rPr lang="en-US" sz="1240" dirty="0">
                        <a:latin typeface="Arial" panose="020B0604020202020204" pitchFamily="34" charset="0"/>
                      </a:rPr>
                      <a:t>large</a:t>
                    </a:r>
                    <a:endParaRPr lang="en-US" sz="1240" dirty="0">
                      <a:latin typeface="Arial" panose="020B0604020202020204" pitchFamily="34" charset="0"/>
                    </a:endParaRPr>
                  </a:p>
                </p:txBody>
              </p:sp>
            </mc:Choice>
            <mc:Fallback>
              <p:sp>
                <p:nvSpPr>
                  <p:cNvPr id="21" name="TextBox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11" y="8646"/>
                    <a:ext cx="4052" cy="788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8" name="TextBox 57"/>
                  <p:cNvSpPr txBox="1"/>
                  <p:nvPr/>
                </p:nvSpPr>
                <p:spPr>
                  <a:xfrm>
                    <a:off x="6364" y="8637"/>
                    <a:ext cx="4052" cy="78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sz="124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𝛼</m:t>
                        </m:r>
                      </m:oMath>
                    </a14:m>
                    <a:r>
                      <a:rPr lang="en-US" sz="1240" dirty="0">
                        <a:latin typeface="Arial" panose="020B0604020202020204" pitchFamily="34" charset="0"/>
                      </a:rPr>
                      <a:t> </a:t>
                    </a:r>
                    <a:r>
                      <a:rPr lang="en-US" altLang="zh-CN" sz="1240" dirty="0">
                        <a:latin typeface="Arial" panose="020B0604020202020204" pitchFamily="34" charset="0"/>
                      </a:rPr>
                      <a:t>small</a:t>
                    </a:r>
                    <a:r>
                      <a:rPr lang="en-US" sz="1240" dirty="0">
                        <a:latin typeface="Arial" panose="020B0604020202020204" pitchFamily="34" charset="0"/>
                      </a:rPr>
                      <a:t>, </a:t>
                    </a:r>
                    <a14:m>
                      <m:oMath xmlns:m="http://schemas.openxmlformats.org/officeDocument/2006/math">
                        <m:r>
                          <a:rPr lang="en-US" sz="124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𝛽</m:t>
                        </m:r>
                        <m:r>
                          <a:rPr lang="en-US" sz="1240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 </m:t>
                        </m:r>
                      </m:oMath>
                    </a14:m>
                    <a:r>
                      <a:rPr lang="en-US" altLang="zh-CN" sz="1240" dirty="0">
                        <a:latin typeface="Arial" panose="020B0604020202020204" pitchFamily="34" charset="0"/>
                      </a:rPr>
                      <a:t>large</a:t>
                    </a:r>
                    <a:endParaRPr lang="en-US" sz="1240" dirty="0">
                      <a:latin typeface="Arial" panose="020B0604020202020204" pitchFamily="34" charset="0"/>
                    </a:endParaRPr>
                  </a:p>
                </p:txBody>
              </p:sp>
            </mc:Choice>
            <mc:Fallback>
              <p:sp>
                <p:nvSpPr>
                  <p:cNvPr id="58" name="TextBox 5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64" y="8637"/>
                    <a:ext cx="4052" cy="788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" name="TextBox 12"/>
              <p:cNvSpPr txBox="1"/>
              <p:nvPr/>
            </p:nvSpPr>
            <p:spPr>
              <a:xfrm>
                <a:off x="2645" y="2655"/>
                <a:ext cx="7452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Structural Zeros (cannot be constructed)</a:t>
                </a:r>
                <a:endParaRPr lang="en-US" sz="1065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3" name="TextBox 98"/>
              <p:cNvSpPr txBox="1"/>
              <p:nvPr/>
            </p:nvSpPr>
            <p:spPr>
              <a:xfrm>
                <a:off x="10880" y="2676"/>
                <a:ext cx="5239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Constructable Area</a:t>
                </a:r>
                <a:endParaRPr lang="en-US" sz="1065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4" name="矩形 33"/>
              <p:cNvSpPr/>
              <p:nvPr/>
            </p:nvSpPr>
            <p:spPr>
              <a:xfrm>
                <a:off x="1832" y="2529"/>
                <a:ext cx="813" cy="813"/>
              </a:xfrm>
              <a:prstGeom prst="rect">
                <a:avLst/>
              </a:prstGeom>
              <a:solidFill>
                <a:srgbClr val="696969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10068" y="2551"/>
                <a:ext cx="813" cy="813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rgbClr val="696969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grpSp>
            <p:nvGrpSpPr>
              <p:cNvPr id="2" name="组合 1"/>
              <p:cNvGrpSpPr/>
              <p:nvPr/>
            </p:nvGrpSpPr>
            <p:grpSpPr>
              <a:xfrm>
                <a:off x="583" y="3473"/>
                <a:ext cx="5083" cy="5043"/>
                <a:chOff x="493" y="2941"/>
                <a:chExt cx="4304" cy="4270"/>
              </a:xfrm>
            </p:grpSpPr>
            <p:pic>
              <p:nvPicPr>
                <p:cNvPr id="40" name="图片 39"/>
                <p:cNvPicPr>
                  <a:picLocks noChangeAspect="1"/>
                </p:cNvPicPr>
                <p:nvPr/>
              </p:nvPicPr>
              <p:blipFill>
                <a:blip r:embed="rId5">
                  <a:grayscl/>
                </a:blip>
                <a:stretch>
                  <a:fillRect/>
                </a:stretch>
              </p:blipFill>
              <p:spPr>
                <a:xfrm>
                  <a:off x="493" y="2941"/>
                  <a:ext cx="4304" cy="4271"/>
                </a:xfrm>
                <a:prstGeom prst="rect">
                  <a:avLst/>
                </a:prstGeom>
              </p:spPr>
            </p:pic>
            <p:sp>
              <p:nvSpPr>
                <p:cNvPr id="19" name="椭圆 18"/>
                <p:cNvSpPr/>
                <p:nvPr/>
              </p:nvSpPr>
              <p:spPr>
                <a:xfrm>
                  <a:off x="598" y="3013"/>
                  <a:ext cx="4199" cy="4199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3" name="组合 2"/>
              <p:cNvGrpSpPr/>
              <p:nvPr/>
            </p:nvGrpSpPr>
            <p:grpSpPr>
              <a:xfrm>
                <a:off x="5822" y="3473"/>
                <a:ext cx="5081" cy="5043"/>
                <a:chOff x="4929" y="2941"/>
                <a:chExt cx="4302" cy="4270"/>
              </a:xfrm>
            </p:grpSpPr>
            <p:pic>
              <p:nvPicPr>
                <p:cNvPr id="44" name="图片 43"/>
                <p:cNvPicPr>
                  <a:picLocks noChangeAspect="1"/>
                </p:cNvPicPr>
                <p:nvPr/>
              </p:nvPicPr>
              <p:blipFill>
                <a:blip r:embed="rId6">
                  <a:grayscl/>
                </a:blip>
                <a:stretch>
                  <a:fillRect/>
                </a:stretch>
              </p:blipFill>
              <p:spPr>
                <a:xfrm>
                  <a:off x="4929" y="2941"/>
                  <a:ext cx="4303" cy="4271"/>
                </a:xfrm>
                <a:prstGeom prst="rect">
                  <a:avLst/>
                </a:prstGeom>
              </p:spPr>
            </p:pic>
            <p:sp>
              <p:nvSpPr>
                <p:cNvPr id="39" name="椭圆 38"/>
                <p:cNvSpPr/>
                <p:nvPr/>
              </p:nvSpPr>
              <p:spPr>
                <a:xfrm>
                  <a:off x="5028" y="3013"/>
                  <a:ext cx="4199" cy="4199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11060" y="3473"/>
                <a:ext cx="5081" cy="5043"/>
                <a:chOff x="9364" y="2941"/>
                <a:chExt cx="4302" cy="4270"/>
              </a:xfrm>
            </p:grpSpPr>
            <p:pic>
              <p:nvPicPr>
                <p:cNvPr id="46" name="图片 45"/>
                <p:cNvPicPr>
                  <a:picLocks noChangeAspect="1"/>
                </p:cNvPicPr>
                <p:nvPr/>
              </p:nvPicPr>
              <p:blipFill>
                <a:blip r:embed="rId7">
                  <a:grayscl/>
                </a:blip>
                <a:stretch>
                  <a:fillRect/>
                </a:stretch>
              </p:blipFill>
              <p:spPr>
                <a:xfrm>
                  <a:off x="9364" y="2941"/>
                  <a:ext cx="4303" cy="4271"/>
                </a:xfrm>
                <a:prstGeom prst="rect">
                  <a:avLst/>
                </a:prstGeom>
              </p:spPr>
            </p:pic>
            <p:sp>
              <p:nvSpPr>
                <p:cNvPr id="45" name="椭圆 44"/>
                <p:cNvSpPr/>
                <p:nvPr/>
              </p:nvSpPr>
              <p:spPr>
                <a:xfrm>
                  <a:off x="9457" y="3013"/>
                  <a:ext cx="4199" cy="4199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6" name="组合 5"/>
              <p:cNvGrpSpPr/>
              <p:nvPr/>
            </p:nvGrpSpPr>
            <p:grpSpPr>
              <a:xfrm>
                <a:off x="16298" y="3473"/>
                <a:ext cx="5081" cy="5043"/>
                <a:chOff x="13799" y="2941"/>
                <a:chExt cx="4302" cy="4270"/>
              </a:xfrm>
            </p:grpSpPr>
            <p:pic>
              <p:nvPicPr>
                <p:cNvPr id="47" name="图片 46"/>
                <p:cNvPicPr>
                  <a:picLocks noChangeAspect="1"/>
                </p:cNvPicPr>
                <p:nvPr/>
              </p:nvPicPr>
              <p:blipFill>
                <a:blip r:embed="rId8">
                  <a:grayscl/>
                </a:blip>
                <a:stretch>
                  <a:fillRect/>
                </a:stretch>
              </p:blipFill>
              <p:spPr>
                <a:xfrm>
                  <a:off x="13799" y="2941"/>
                  <a:ext cx="4303" cy="4271"/>
                </a:xfrm>
                <a:prstGeom prst="rect">
                  <a:avLst/>
                </a:prstGeom>
              </p:spPr>
            </p:pic>
            <p:sp>
              <p:nvSpPr>
                <p:cNvPr id="48" name="椭圆 47"/>
                <p:cNvSpPr/>
                <p:nvPr/>
              </p:nvSpPr>
              <p:spPr>
                <a:xfrm>
                  <a:off x="13887" y="3013"/>
                  <a:ext cx="4199" cy="4199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" name="TextBox 8"/>
                  <p:cNvSpPr txBox="1"/>
                  <p:nvPr/>
                </p:nvSpPr>
                <p:spPr>
                  <a:xfrm>
                    <a:off x="14972" y="2557"/>
                    <a:ext cx="6827" cy="9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95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𝜑</m:t>
                          </m:r>
                          <m:r>
                            <a:rPr lang="en-US" sz="1595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(</m:t>
                          </m:r>
                          <m:r>
                            <a:rPr lang="en-US" sz="1595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𝑟</m:t>
                          </m:r>
                          <m:r>
                            <a:rPr lang="en-US" sz="1595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)=</m:t>
                          </m:r>
                          <m:r>
                            <a:rPr lang="en-US" sz="1595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sz="1595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(</m:t>
                          </m:r>
                          <m:r>
                            <a:rPr lang="en-US" sz="1595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  <m:r>
                            <a:rPr lang="en-US" sz="1595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+</m:t>
                          </m:r>
                          <m:r>
                            <a:rPr lang="en-US" sz="1595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595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∙</m:t>
                          </m:r>
                          <m:r>
                            <a:rPr lang="en-US" sz="1595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𝑟</m:t>
                          </m:r>
                          <m:r>
                            <a:rPr lang="en-US" sz="1595" b="0" i="1" smtClean="0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595" b="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8" name="TextBox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972" y="2557"/>
                    <a:ext cx="6827" cy="94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1" name="文本框 60"/>
              <p:cNvSpPr txBox="1"/>
              <p:nvPr/>
            </p:nvSpPr>
            <p:spPr>
              <a:xfrm>
                <a:off x="5933" y="9322"/>
                <a:ext cx="4928" cy="8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135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rPr>
                  <a:t>Edge constrained</a:t>
                </a:r>
                <a:endParaRPr lang="en-US" altLang="zh-CN" sz="135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endParaRPr>
              </a:p>
            </p:txBody>
          </p:sp>
          <p:sp>
            <p:nvSpPr>
              <p:cNvPr id="54" name="文本框 53"/>
              <p:cNvSpPr txBox="1"/>
              <p:nvPr/>
            </p:nvSpPr>
            <p:spPr>
              <a:xfrm>
                <a:off x="932" y="9302"/>
                <a:ext cx="4734" cy="8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1350" dirty="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rPr>
                  <a:t>Uniformly Open</a:t>
                </a:r>
                <a:endParaRPr lang="en-US" altLang="zh-CN" sz="135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16422" y="9322"/>
                <a:ext cx="4936" cy="82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133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rPr>
                  <a:t>Locked</a:t>
                </a:r>
                <a:endPara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11095" y="9322"/>
                <a:ext cx="5252" cy="8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135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rPr>
                  <a:t>Uniformly constrained</a:t>
                </a:r>
                <a:endParaRPr lang="en-US" altLang="zh-CN" sz="135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endParaRPr>
              </a:p>
            </p:txBody>
          </p:sp>
        </p:grpSp>
        <p:grpSp>
          <p:nvGrpSpPr>
            <p:cNvPr id="7" name="组合 6"/>
            <p:cNvGrpSpPr/>
            <p:nvPr/>
          </p:nvGrpSpPr>
          <p:grpSpPr>
            <a:xfrm rot="0">
              <a:off x="135" y="12332"/>
              <a:ext cx="11992" cy="4169"/>
              <a:chOff x="775" y="2738"/>
              <a:chExt cx="21319" cy="7412"/>
            </a:xfrm>
          </p:grpSpPr>
          <p:grpSp>
            <p:nvGrpSpPr>
              <p:cNvPr id="9" name="组合 8"/>
              <p:cNvGrpSpPr/>
              <p:nvPr/>
            </p:nvGrpSpPr>
            <p:grpSpPr>
              <a:xfrm>
                <a:off x="775" y="2738"/>
                <a:ext cx="21319" cy="6876"/>
                <a:chOff x="1249" y="1355"/>
                <a:chExt cx="21319" cy="6876"/>
              </a:xfrm>
            </p:grpSpPr>
            <p:sp>
              <p:nvSpPr>
                <p:cNvPr id="126" name="Google Shape;421;p29"/>
                <p:cNvSpPr txBox="1"/>
                <p:nvPr/>
              </p:nvSpPr>
              <p:spPr>
                <a:xfrm>
                  <a:off x="7112" y="7170"/>
                  <a:ext cx="4043" cy="106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80960" tIns="80960" rIns="80960" bIns="80960" anchor="t" anchorCtr="0">
                  <a:spAutoFit/>
                </a:bodyPr>
                <a:lstStyle/>
                <a:p>
                  <a:pPr lvl="0" algn="ctr"/>
                  <a:r>
                    <a:rPr lang="de-AT" sz="1420" dirty="0">
                      <a:solidFill>
                        <a:schemeClr val="dk1"/>
                      </a:solidFill>
                      <a:latin typeface="Arial" panose="020B0604020202020204" pitchFamily="34" charset="0"/>
                    </a:rPr>
                    <a:t>κ small δ large </a:t>
                  </a:r>
                  <a:endParaRPr sz="1420" dirty="0">
                    <a:solidFill>
                      <a:schemeClr val="dk1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27" name="Google Shape;422;p29"/>
                <p:cNvSpPr txBox="1"/>
                <p:nvPr/>
              </p:nvSpPr>
              <p:spPr>
                <a:xfrm>
                  <a:off x="17905" y="7170"/>
                  <a:ext cx="4249" cy="106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80960" tIns="80960" rIns="80960" bIns="80960" anchor="t" anchorCtr="0">
                  <a:spAutoFit/>
                </a:bodyPr>
                <a:lstStyle/>
                <a:p>
                  <a:pPr lvl="0" algn="ctr"/>
                  <a:r>
                    <a:rPr lang="de-AT" sz="1420" dirty="0">
                      <a:solidFill>
                        <a:schemeClr val="dk1"/>
                      </a:solidFill>
                      <a:latin typeface="Arial" panose="020B0604020202020204" pitchFamily="34" charset="0"/>
                    </a:rPr>
                    <a:t>κ large δ large </a:t>
                  </a:r>
                  <a:endParaRPr sz="1420" dirty="0">
                    <a:solidFill>
                      <a:schemeClr val="dk1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28" name="Google Shape;423;p29"/>
                <p:cNvSpPr txBox="1"/>
                <p:nvPr/>
              </p:nvSpPr>
              <p:spPr>
                <a:xfrm>
                  <a:off x="1714" y="7170"/>
                  <a:ext cx="4044" cy="106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80960" tIns="80960" rIns="80960" bIns="80960" anchor="t" anchorCtr="0">
                  <a:spAutoFit/>
                </a:bodyPr>
                <a:lstStyle/>
                <a:p>
                  <a:pPr lvl="0" algn="ctr"/>
                  <a:r>
                    <a:rPr lang="de-AT" sz="1420" dirty="0">
                      <a:solidFill>
                        <a:schemeClr val="dk1"/>
                      </a:solidFill>
                      <a:latin typeface="Arial" panose="020B0604020202020204" pitchFamily="34" charset="0"/>
                    </a:rPr>
                    <a:t>κ small δ small </a:t>
                  </a:r>
                  <a:endParaRPr sz="1420" dirty="0">
                    <a:solidFill>
                      <a:schemeClr val="dk1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29" name="Google Shape;424;p29"/>
                <p:cNvSpPr txBox="1"/>
                <p:nvPr/>
              </p:nvSpPr>
              <p:spPr>
                <a:xfrm>
                  <a:off x="12509" y="7170"/>
                  <a:ext cx="4043" cy="106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80960" tIns="80960" rIns="80960" bIns="80960" anchor="t" anchorCtr="0">
                  <a:spAutoFit/>
                </a:bodyPr>
                <a:lstStyle/>
                <a:p>
                  <a:pPr lvl="0" algn="ctr"/>
                  <a:r>
                    <a:rPr lang="de-AT" sz="1420" dirty="0">
                      <a:solidFill>
                        <a:schemeClr val="dk1"/>
                      </a:solidFill>
                      <a:latin typeface="Arial" panose="020B0604020202020204" pitchFamily="34" charset="0"/>
                    </a:rPr>
                    <a:t>κ large δ small </a:t>
                  </a:r>
                  <a:endParaRPr sz="1420" dirty="0">
                    <a:solidFill>
                      <a:schemeClr val="dk1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32" name="TextBox 12"/>
                <p:cNvSpPr txBox="1"/>
                <p:nvPr/>
              </p:nvSpPr>
              <p:spPr>
                <a:xfrm>
                  <a:off x="2886" y="1378"/>
                  <a:ext cx="2508" cy="7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65" dirty="0">
                      <a:latin typeface="Arial" panose="020B0604020202020204" pitchFamily="34" charset="0"/>
                    </a:rPr>
                    <a:t>Buildings</a:t>
                  </a:r>
                  <a:endParaRPr lang="en-US" sz="1065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" name="TextBox 98"/>
                <p:cNvSpPr txBox="1"/>
                <p:nvPr/>
              </p:nvSpPr>
              <p:spPr>
                <a:xfrm>
                  <a:off x="11123" y="1379"/>
                  <a:ext cx="5239" cy="7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65" dirty="0">
                      <a:latin typeface="Arial" panose="020B0604020202020204" pitchFamily="34" charset="0"/>
                    </a:rPr>
                    <a:t>Constructable Area</a:t>
                  </a:r>
                  <a:endParaRPr lang="en-US" sz="1065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2" name="矩形 11"/>
                <p:cNvSpPr/>
                <p:nvPr/>
              </p:nvSpPr>
              <p:spPr>
                <a:xfrm>
                  <a:off x="2073" y="1357"/>
                  <a:ext cx="813" cy="813"/>
                </a:xfrm>
                <a:prstGeom prst="rect">
                  <a:avLst/>
                </a:prstGeom>
                <a:solidFill>
                  <a:srgbClr val="69A2BC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  <p:sp>
              <p:nvSpPr>
                <p:cNvPr id="13" name="矩形 12"/>
                <p:cNvSpPr/>
                <p:nvPr/>
              </p:nvSpPr>
              <p:spPr>
                <a:xfrm>
                  <a:off x="10309" y="1355"/>
                  <a:ext cx="813" cy="813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  <p:grpSp>
              <p:nvGrpSpPr>
                <p:cNvPr id="14" name="组合 13"/>
                <p:cNvGrpSpPr/>
                <p:nvPr/>
              </p:nvGrpSpPr>
              <p:grpSpPr>
                <a:xfrm>
                  <a:off x="1249" y="2420"/>
                  <a:ext cx="4974" cy="4859"/>
                  <a:chOff x="1057" y="2049"/>
                  <a:chExt cx="4212" cy="4114"/>
                </a:xfrm>
              </p:grpSpPr>
              <p:pic>
                <p:nvPicPr>
                  <p:cNvPr id="15" name="图片 14"/>
                  <p:cNvPicPr>
                    <a:picLocks noChangeAspect="1"/>
                  </p:cNvPicPr>
                  <p:nvPr/>
                </p:nvPicPr>
                <p:blipFill>
                  <a:blip r:embed="rId10">
                    <a:clrChange>
                      <a:clrFrom>
                        <a:srgbClr val="F7F7F7">
                          <a:alpha val="100000"/>
                        </a:srgbClr>
                      </a:clrFrom>
                      <a:clrTo>
                        <a:srgbClr val="F7F7F7">
                          <a:alpha val="100000"/>
                          <a:alpha val="0"/>
                        </a:srgbClr>
                      </a:clrTo>
                    </a:clrChange>
                  </a:blip>
                  <a:stretch>
                    <a:fillRect/>
                  </a:stretch>
                </p:blipFill>
                <p:spPr>
                  <a:xfrm>
                    <a:off x="1057" y="2049"/>
                    <a:ext cx="4212" cy="4115"/>
                  </a:xfrm>
                  <a:prstGeom prst="rect">
                    <a:avLst/>
                  </a:prstGeom>
                </p:spPr>
              </p:pic>
              <p:sp>
                <p:nvSpPr>
                  <p:cNvPr id="27" name="椭圆 26"/>
                  <p:cNvSpPr/>
                  <p:nvPr/>
                </p:nvSpPr>
                <p:spPr>
                  <a:xfrm>
                    <a:off x="1280" y="2210"/>
                    <a:ext cx="3862" cy="3862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grpSp>
              <p:nvGrpSpPr>
                <p:cNvPr id="16" name="组合 15"/>
                <p:cNvGrpSpPr/>
                <p:nvPr/>
              </p:nvGrpSpPr>
              <p:grpSpPr>
                <a:xfrm>
                  <a:off x="6580" y="2420"/>
                  <a:ext cx="4974" cy="4859"/>
                  <a:chOff x="5571" y="2049"/>
                  <a:chExt cx="4212" cy="4114"/>
                </a:xfrm>
              </p:grpSpPr>
              <p:pic>
                <p:nvPicPr>
                  <p:cNvPr id="17" name="图片 16"/>
                  <p:cNvPicPr>
                    <a:picLocks noChangeAspect="1"/>
                  </p:cNvPicPr>
                  <p:nvPr/>
                </p:nvPicPr>
                <p:blipFill>
                  <a:blip r:embed="rId11">
                    <a:clrChange>
                      <a:clrFrom>
                        <a:srgbClr val="F7F7F7">
                          <a:alpha val="100000"/>
                        </a:srgbClr>
                      </a:clrFrom>
                      <a:clrTo>
                        <a:srgbClr val="F7F7F7">
                          <a:alpha val="100000"/>
                          <a:alpha val="0"/>
                        </a:srgbClr>
                      </a:clrTo>
                    </a:clrChange>
                  </a:blip>
                  <a:stretch>
                    <a:fillRect/>
                  </a:stretch>
                </p:blipFill>
                <p:spPr>
                  <a:xfrm>
                    <a:off x="5571" y="2049"/>
                    <a:ext cx="4212" cy="4115"/>
                  </a:xfrm>
                  <a:prstGeom prst="rect">
                    <a:avLst/>
                  </a:prstGeom>
                </p:spPr>
              </p:pic>
              <p:sp>
                <p:nvSpPr>
                  <p:cNvPr id="28" name="椭圆 27"/>
                  <p:cNvSpPr/>
                  <p:nvPr/>
                </p:nvSpPr>
                <p:spPr>
                  <a:xfrm>
                    <a:off x="5813" y="2210"/>
                    <a:ext cx="3862" cy="3862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grpSp>
              <p:nvGrpSpPr>
                <p:cNvPr id="18" name="组合 17"/>
                <p:cNvGrpSpPr/>
                <p:nvPr/>
              </p:nvGrpSpPr>
              <p:grpSpPr>
                <a:xfrm>
                  <a:off x="11910" y="2420"/>
                  <a:ext cx="4974" cy="4859"/>
                  <a:chOff x="10084" y="2049"/>
                  <a:chExt cx="4212" cy="4114"/>
                </a:xfrm>
              </p:grpSpPr>
              <p:pic>
                <p:nvPicPr>
                  <p:cNvPr id="20" name="图片 19"/>
                  <p:cNvPicPr>
                    <a:picLocks noChangeAspect="1"/>
                  </p:cNvPicPr>
                  <p:nvPr/>
                </p:nvPicPr>
                <p:blipFill>
                  <a:blip r:embed="rId12">
                    <a:clrChange>
                      <a:clrFrom>
                        <a:srgbClr val="F7F7F7">
                          <a:alpha val="100000"/>
                        </a:srgbClr>
                      </a:clrFrom>
                      <a:clrTo>
                        <a:srgbClr val="F7F7F7">
                          <a:alpha val="100000"/>
                          <a:alpha val="0"/>
                        </a:srgbClr>
                      </a:clrTo>
                    </a:clrChange>
                  </a:blip>
                  <a:stretch>
                    <a:fillRect/>
                  </a:stretch>
                </p:blipFill>
                <p:spPr>
                  <a:xfrm>
                    <a:off x="10084" y="2049"/>
                    <a:ext cx="4212" cy="4115"/>
                  </a:xfrm>
                  <a:prstGeom prst="rect">
                    <a:avLst/>
                  </a:prstGeom>
                </p:spPr>
              </p:pic>
              <p:sp>
                <p:nvSpPr>
                  <p:cNvPr id="22" name="椭圆 21"/>
                  <p:cNvSpPr/>
                  <p:nvPr/>
                </p:nvSpPr>
                <p:spPr>
                  <a:xfrm>
                    <a:off x="10347" y="2210"/>
                    <a:ext cx="3862" cy="3862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grpSp>
              <p:nvGrpSpPr>
                <p:cNvPr id="23" name="组合 22"/>
                <p:cNvGrpSpPr/>
                <p:nvPr/>
              </p:nvGrpSpPr>
              <p:grpSpPr>
                <a:xfrm>
                  <a:off x="17241" y="2420"/>
                  <a:ext cx="4974" cy="4859"/>
                  <a:chOff x="14598" y="2049"/>
                  <a:chExt cx="4212" cy="4114"/>
                </a:xfrm>
              </p:grpSpPr>
              <p:pic>
                <p:nvPicPr>
                  <p:cNvPr id="24" name="图片 23"/>
                  <p:cNvPicPr>
                    <a:picLocks noChangeAspect="1"/>
                  </p:cNvPicPr>
                  <p:nvPr/>
                </p:nvPicPr>
                <p:blipFill>
                  <a:blip r:embed="rId13">
                    <a:clrChange>
                      <a:clrFrom>
                        <a:srgbClr val="F7F7F7">
                          <a:alpha val="100000"/>
                        </a:srgbClr>
                      </a:clrFrom>
                      <a:clrTo>
                        <a:srgbClr val="F7F7F7">
                          <a:alpha val="100000"/>
                          <a:alpha val="0"/>
                        </a:srgbClr>
                      </a:clrTo>
                    </a:clrChange>
                  </a:blip>
                  <a:stretch>
                    <a:fillRect/>
                  </a:stretch>
                </p:blipFill>
                <p:spPr>
                  <a:xfrm>
                    <a:off x="14598" y="2049"/>
                    <a:ext cx="4212" cy="4115"/>
                  </a:xfrm>
                  <a:prstGeom prst="rect">
                    <a:avLst/>
                  </a:prstGeom>
                </p:spPr>
              </p:pic>
              <p:sp>
                <p:nvSpPr>
                  <p:cNvPr id="30" name="椭圆 29"/>
                  <p:cNvSpPr/>
                  <p:nvPr/>
                </p:nvSpPr>
                <p:spPr>
                  <a:xfrm>
                    <a:off x="14880" y="2210"/>
                    <a:ext cx="3862" cy="3862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sp>
              <p:nvSpPr>
                <p:cNvPr id="25" name="TextBox 12"/>
                <p:cNvSpPr txBox="1"/>
                <p:nvPr/>
              </p:nvSpPr>
              <p:spPr>
                <a:xfrm>
                  <a:off x="6570" y="1378"/>
                  <a:ext cx="3374" cy="7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65" dirty="0">
                      <a:latin typeface="Arial" panose="020B0604020202020204" pitchFamily="34" charset="0"/>
                    </a:rPr>
                    <a:t>Structural Zeros</a:t>
                  </a:r>
                  <a:endParaRPr lang="en-US" sz="1065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6" name="矩形 25"/>
                <p:cNvSpPr/>
                <p:nvPr/>
              </p:nvSpPr>
              <p:spPr>
                <a:xfrm>
                  <a:off x="5768" y="1357"/>
                  <a:ext cx="813" cy="813"/>
                </a:xfrm>
                <a:prstGeom prst="rect">
                  <a:avLst/>
                </a:prstGeom>
                <a:solidFill>
                  <a:srgbClr val="BFBFBF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8" name="文本框 87"/>
                    <p:cNvSpPr txBox="1"/>
                    <p:nvPr/>
                  </p:nvSpPr>
                  <p:spPr>
                    <a:xfrm>
                      <a:off x="15324" y="1378"/>
                      <a:ext cx="7244" cy="9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>
                      <a:spAutoFit/>
                    </a:bodyPr>
                    <a:lstStyle/>
                    <a:p>
                      <a:pPr marL="0" indent="0">
                        <a:lnSpc>
                          <a:spcPct val="100000"/>
                        </a:lnSpc>
                        <a:spcBef>
                          <a:spcPts val="1200"/>
                        </a:spcBef>
                        <a:buFont typeface="Wingdings" panose="05000000000000000000" charset="0"/>
                        <a:buNone/>
                      </a:pPr>
                      <a14:m>
                        <m:oMath xmlns:m="http://schemas.openxmlformats.org/officeDocument/2006/math">
                          <m:r>
                            <a:rPr lang="en-US" sz="1595" i="1" smtClean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sz="1595" i="1" smtClean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 (</m:t>
                          </m:r>
                          <m:r>
                            <a:rPr lang="en-US" sz="1595" i="1" smtClean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sz="1595" i="1" smtClean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sz="1595" i="1" smtClean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sz="1595" i="1" smtClean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sz="1595" i="1" smtClean="0">
                              <a:latin typeface="Cambria Math" panose="02040503050406030204" charset="0"/>
                              <a:ea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sz="1595" i="1" smtClean="0">
                              <a:latin typeface="Cambria Math" panose="02040503050406030204" charset="0"/>
                              <a:ea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sz="1595" i="1" smtClean="0">
                              <a:latin typeface="Cambria Math" panose="02040503050406030204" charset="0"/>
                              <a:ea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sz="159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∙</m:t>
                          </m:r>
                          <m:r>
                            <a:rPr lang="en-US" sz="159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sz="159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 </m:t>
                          </m:r>
                        </m:oMath>
                      </a14:m>
                      <a:r>
                        <a:rPr lang="en-US" sz="1595" dirty="0"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rPr>
                        <a:t> </a:t>
                      </a:r>
                      <a:endParaRPr lang="en-US" altLang="en-US" sz="1595" dirty="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endParaRPr>
                    </a:p>
                  </p:txBody>
                </p:sp>
              </mc:Choice>
              <mc:Fallback>
                <p:sp>
                  <p:nvSpPr>
                    <p:cNvPr id="88" name="文本框 8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324" y="1378"/>
                      <a:ext cx="7244" cy="944"/>
                    </a:xfrm>
                    <a:prstGeom prst="rect">
                      <a:avLst/>
                    </a:prstGeom>
                    <a:blipFill rotWithShape="1">
                      <a:blip r:embed="rId1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35" name="文本框 34"/>
              <p:cNvSpPr txBox="1"/>
              <p:nvPr/>
            </p:nvSpPr>
            <p:spPr>
              <a:xfrm>
                <a:off x="6703" y="9322"/>
                <a:ext cx="4100" cy="82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133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rPr>
                  <a:t>Thinly built</a:t>
                </a:r>
                <a:endPara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endParaRPr>
              </a:p>
            </p:txBody>
          </p:sp>
          <p:sp>
            <p:nvSpPr>
              <p:cNvPr id="36" name="文本框 35"/>
              <p:cNvSpPr txBox="1"/>
              <p:nvPr/>
            </p:nvSpPr>
            <p:spPr>
              <a:xfrm>
                <a:off x="1050" y="9322"/>
                <a:ext cx="4604" cy="82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1330" dirty="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rPr>
                  <a:t>Uniformly sparse</a:t>
                </a:r>
                <a:endParaRPr lang="en-US" altLang="zh-CN" sz="133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endParaRPr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7634" y="9322"/>
                <a:ext cx="3810" cy="82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133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rPr>
                  <a:t>Core-dense</a:t>
                </a:r>
                <a:endPara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endParaRP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1759" y="9322"/>
                <a:ext cx="4599" cy="82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133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rPr>
                  <a:t>Uniformly dense</a:t>
                </a:r>
                <a:endPara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endParaRPr>
              </a:p>
            </p:txBody>
          </p:sp>
        </p:grpSp>
        <p:sp>
          <p:nvSpPr>
            <p:cNvPr id="49" name="文本框 48"/>
            <p:cNvSpPr txBox="1"/>
            <p:nvPr/>
          </p:nvSpPr>
          <p:spPr>
            <a:xfrm>
              <a:off x="448" y="6382"/>
              <a:ext cx="679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Horizontal Constraints Types</a:t>
              </a:r>
              <a:endParaRPr lang="en-US" altLang="zh-CN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528" y="11577"/>
              <a:ext cx="679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Horizontal Construction Types</a:t>
              </a:r>
              <a:endParaRPr lang="en-US" altLang="zh-CN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</a:fld>
            <a:endParaRPr lang="de-AT" sz="106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2" name="文本框 4"/>
              <p:cNvSpPr txBox="1"/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AT" sz="1420" dirty="0">
                        <a:solidFill>
                          <a:schemeClr val="dk1"/>
                        </a:solidFill>
                        <a:latin typeface="Cambria Math" panose="02040503050406030204" charset="0"/>
                      </a:rPr>
                      <m:t>κ</m:t>
                    </m:r>
                  </m:oMath>
                </a14:m>
                <a:r>
                  <a:rPr lang="en-US" altLang="zh-CN" sz="1420" dirty="0">
                    <a:latin typeface="Arial" panose="020B0604020202020204" pitchFamily="34" charset="0"/>
                  </a:rPr>
                  <a:t>: central building presence probability.</a:t>
                </a:r>
                <a:endParaRPr lang="en-US" altLang="zh-CN" sz="1420" dirty="0">
                  <a:latin typeface="Arial" panose="020B0604020202020204" pitchFamily="34" charset="0"/>
                </a:endParaRPr>
              </a:p>
              <a:p>
                <a:pPr algn="ctr"/>
                <a:r>
                  <a:rPr lang="en-US" altLang="zh-CN" sz="1420" dirty="0">
                    <a:latin typeface="Arial" panose="020B0604020202020204" pitchFamily="34" charset="0"/>
                  </a:rPr>
                  <a:t>δ (delta): decay rate.</a:t>
                </a:r>
                <a:endParaRPr lang="en-US" altLang="zh-CN" sz="1420" dirty="0"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82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  <a:blipFill rotWithShape="1">
                <a:blip r:embed="rId1"/>
                <a:stretch>
                  <a:fillRect l="-3" t="-64" r="9" b="6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/>
          <p:cNvGrpSpPr/>
          <p:nvPr/>
        </p:nvGrpSpPr>
        <p:grpSpPr>
          <a:xfrm>
            <a:off x="3427717" y="5909019"/>
            <a:ext cx="7614992" cy="2646798"/>
            <a:chOff x="775" y="2740"/>
            <a:chExt cx="21319" cy="7410"/>
          </a:xfrm>
        </p:grpSpPr>
        <p:grpSp>
          <p:nvGrpSpPr>
            <p:cNvPr id="6" name="组合 5"/>
            <p:cNvGrpSpPr/>
            <p:nvPr/>
          </p:nvGrpSpPr>
          <p:grpSpPr>
            <a:xfrm>
              <a:off x="775" y="2740"/>
              <a:ext cx="21319" cy="6874"/>
              <a:chOff x="1249" y="1357"/>
              <a:chExt cx="21319" cy="6874"/>
            </a:xfrm>
          </p:grpSpPr>
          <p:sp>
            <p:nvSpPr>
              <p:cNvPr id="126" name="Google Shape;421;p29"/>
              <p:cNvSpPr txBox="1"/>
              <p:nvPr/>
            </p:nvSpPr>
            <p:spPr>
              <a:xfrm>
                <a:off x="7112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7" name="Google Shape;422;p29"/>
              <p:cNvSpPr txBox="1"/>
              <p:nvPr/>
            </p:nvSpPr>
            <p:spPr>
              <a:xfrm>
                <a:off x="17905" y="7170"/>
                <a:ext cx="4249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8" name="Google Shape;423;p29"/>
              <p:cNvSpPr txBox="1"/>
              <p:nvPr/>
            </p:nvSpPr>
            <p:spPr>
              <a:xfrm>
                <a:off x="1714" y="7170"/>
                <a:ext cx="4044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9" name="Google Shape;424;p29"/>
              <p:cNvSpPr txBox="1"/>
              <p:nvPr/>
            </p:nvSpPr>
            <p:spPr>
              <a:xfrm>
                <a:off x="12509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32" name="TextBox 12"/>
              <p:cNvSpPr txBox="1"/>
              <p:nvPr/>
            </p:nvSpPr>
            <p:spPr>
              <a:xfrm>
                <a:off x="2886" y="1378"/>
                <a:ext cx="2508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Buildings</a:t>
                </a:r>
                <a:endParaRPr lang="en-US" sz="1065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3" name="TextBox 98"/>
              <p:cNvSpPr txBox="1"/>
              <p:nvPr/>
            </p:nvSpPr>
            <p:spPr>
              <a:xfrm>
                <a:off x="11121" y="1505"/>
                <a:ext cx="5239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Constructable Area</a:t>
                </a:r>
                <a:endParaRPr lang="en-US" sz="1065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4" name="矩形 33"/>
              <p:cNvSpPr/>
              <p:nvPr/>
            </p:nvSpPr>
            <p:spPr>
              <a:xfrm>
                <a:off x="2073" y="1357"/>
                <a:ext cx="813" cy="813"/>
              </a:xfrm>
              <a:prstGeom prst="rect">
                <a:avLst/>
              </a:prstGeom>
              <a:solidFill>
                <a:srgbClr val="69A2BC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10309" y="1379"/>
                <a:ext cx="813" cy="813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grpSp>
            <p:nvGrpSpPr>
              <p:cNvPr id="2" name="组合 1"/>
              <p:cNvGrpSpPr/>
              <p:nvPr/>
            </p:nvGrpSpPr>
            <p:grpSpPr>
              <a:xfrm>
                <a:off x="1249" y="2420"/>
                <a:ext cx="4974" cy="4859"/>
                <a:chOff x="1057" y="2049"/>
                <a:chExt cx="4212" cy="4114"/>
              </a:xfrm>
            </p:grpSpPr>
            <p:pic>
              <p:nvPicPr>
                <p:cNvPr id="38" name="图片 37"/>
                <p:cNvPicPr>
                  <a:picLocks noChangeAspect="1"/>
                </p:cNvPicPr>
                <p:nvPr/>
              </p:nvPicPr>
              <p:blipFill>
                <a:blip r:embed="rId2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57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7" name="椭圆 26"/>
                <p:cNvSpPr/>
                <p:nvPr/>
              </p:nvSpPr>
              <p:spPr>
                <a:xfrm>
                  <a:off x="12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3" name="组合 2"/>
              <p:cNvGrpSpPr/>
              <p:nvPr/>
            </p:nvGrpSpPr>
            <p:grpSpPr>
              <a:xfrm>
                <a:off x="6580" y="2420"/>
                <a:ext cx="4974" cy="4859"/>
                <a:chOff x="5571" y="2049"/>
                <a:chExt cx="4212" cy="4114"/>
              </a:xfrm>
            </p:grpSpPr>
            <p:pic>
              <p:nvPicPr>
                <p:cNvPr id="44" name="图片 43"/>
                <p:cNvPicPr>
                  <a:picLocks noChangeAspect="1"/>
                </p:cNvPicPr>
                <p:nvPr/>
              </p:nvPicPr>
              <p:blipFill>
                <a:blip r:embed="rId3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5571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8" name="椭圆 27"/>
                <p:cNvSpPr/>
                <p:nvPr/>
              </p:nvSpPr>
              <p:spPr>
                <a:xfrm>
                  <a:off x="5813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11910" y="2420"/>
                <a:ext cx="4974" cy="4859"/>
                <a:chOff x="10084" y="2049"/>
                <a:chExt cx="4212" cy="4114"/>
              </a:xfrm>
            </p:grpSpPr>
            <p:pic>
              <p:nvPicPr>
                <p:cNvPr id="45" name="图片 44"/>
                <p:cNvPicPr>
                  <a:picLocks noChangeAspect="1"/>
                </p:cNvPicPr>
                <p:nvPr/>
              </p:nvPicPr>
              <p:blipFill>
                <a:blip r:embed="rId4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084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9" name="椭圆 28"/>
                <p:cNvSpPr/>
                <p:nvPr/>
              </p:nvSpPr>
              <p:spPr>
                <a:xfrm>
                  <a:off x="10347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>
                <a:off x="17241" y="2420"/>
                <a:ext cx="4974" cy="4859"/>
                <a:chOff x="14598" y="2049"/>
                <a:chExt cx="4212" cy="4114"/>
              </a:xfrm>
            </p:grpSpPr>
            <p:pic>
              <p:nvPicPr>
                <p:cNvPr id="46" name="图片 45"/>
                <p:cNvPicPr>
                  <a:picLocks noChangeAspect="1"/>
                </p:cNvPicPr>
                <p:nvPr/>
              </p:nvPicPr>
              <p:blipFill>
                <a:blip r:embed="rId5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4598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30" name="椭圆 29"/>
                <p:cNvSpPr/>
                <p:nvPr/>
              </p:nvSpPr>
              <p:spPr>
                <a:xfrm>
                  <a:off x="148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sp>
            <p:nvSpPr>
              <p:cNvPr id="31" name="TextBox 12"/>
              <p:cNvSpPr txBox="1"/>
              <p:nvPr/>
            </p:nvSpPr>
            <p:spPr>
              <a:xfrm>
                <a:off x="6570" y="1378"/>
                <a:ext cx="3374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Structural Zeros</a:t>
                </a:r>
                <a:endParaRPr lang="en-US" sz="1065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5768" y="1357"/>
                <a:ext cx="813" cy="813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8" name="文本框 87"/>
                  <p:cNvSpPr txBox="1"/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t">
                    <a:spAutoFit/>
                  </a:bodyPr>
                  <a:lstStyle/>
                  <a:p>
                    <a:pPr marL="0" indent="0">
                      <a:lnSpc>
                        <a:spcPct val="100000"/>
                      </a:lnSpc>
                      <a:spcBef>
                        <a:spcPts val="1200"/>
                      </a:spcBef>
                      <a:buFont typeface="Wingdings" panose="05000000000000000000" charset="0"/>
                      <a:buNone/>
                    </a:pPr>
                    <a14:m>
                      <m:oMath xmlns:m="http://schemas.openxmlformats.org/officeDocument/2006/math"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 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 </m:t>
                        </m:r>
                      </m:oMath>
                    </a14:m>
                    <a:r>
                      <a:rPr lang="en-US" sz="1595" dirty="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 </a:t>
                    </a:r>
                    <a:endParaRPr lang="en-US" altLang="en-US" sz="1595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endParaRPr>
                  </a:p>
                </p:txBody>
              </p:sp>
            </mc:Choice>
            <mc:Fallback>
              <p:sp>
                <p:nvSpPr>
                  <p:cNvPr id="88" name="文本框 8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1" name="文本框 60"/>
            <p:cNvSpPr txBox="1"/>
            <p:nvPr/>
          </p:nvSpPr>
          <p:spPr>
            <a:xfrm>
              <a:off x="6703" y="9322"/>
              <a:ext cx="410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Thinly built</a:t>
              </a:r>
              <a:endPara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050" y="9322"/>
              <a:ext cx="4604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sparse</a:t>
              </a:r>
              <a:endParaRPr lang="en-US" altLang="zh-CN" sz="1330" dirty="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7634" y="9322"/>
              <a:ext cx="381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Core-dense</a:t>
              </a:r>
              <a:endPara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1759" y="9322"/>
              <a:ext cx="4599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dense</a:t>
              </a:r>
              <a:endPara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54544" y="9707115"/>
            <a:ext cx="2271669" cy="1398437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5" name="图片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2061" y="9781361"/>
            <a:ext cx="1792024" cy="993460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8536" y="9781361"/>
            <a:ext cx="1673906" cy="927651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3402990" y="5544226"/>
            <a:ext cx="7555285" cy="2620287"/>
            <a:chOff x="398" y="8731"/>
            <a:chExt cx="11898" cy="4126"/>
          </a:xfrm>
        </p:grpSpPr>
        <p:grpSp>
          <p:nvGrpSpPr>
            <p:cNvPr id="78" name="组合 77"/>
            <p:cNvGrpSpPr/>
            <p:nvPr/>
          </p:nvGrpSpPr>
          <p:grpSpPr>
            <a:xfrm>
              <a:off x="430" y="9118"/>
              <a:ext cx="11866" cy="3739"/>
              <a:chOff x="647" y="2057"/>
              <a:chExt cx="17861" cy="5629"/>
            </a:xfrm>
          </p:grpSpPr>
          <p:grpSp>
            <p:nvGrpSpPr>
              <p:cNvPr id="73" name="组合 72"/>
              <p:cNvGrpSpPr/>
              <p:nvPr/>
            </p:nvGrpSpPr>
            <p:grpSpPr>
              <a:xfrm>
                <a:off x="647" y="2057"/>
                <a:ext cx="3551" cy="5629"/>
                <a:chOff x="647" y="2057"/>
                <a:chExt cx="3551" cy="5629"/>
              </a:xfrm>
            </p:grpSpPr>
            <p:sp>
              <p:nvSpPr>
                <p:cNvPr id="5163" name="TextBox 264"/>
                <p:cNvSpPr txBox="1"/>
                <p:nvPr/>
              </p:nvSpPr>
              <p:spPr>
                <a:xfrm>
                  <a:off x="647" y="4712"/>
                  <a:ext cx="3551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B&gt;0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“Bowl” City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</p:txBody>
            </p:sp>
            <p:grpSp>
              <p:nvGrpSpPr>
                <p:cNvPr id="26" name="组合 25"/>
                <p:cNvGrpSpPr/>
                <p:nvPr/>
              </p:nvGrpSpPr>
              <p:grpSpPr>
                <a:xfrm>
                  <a:off x="1094" y="5693"/>
                  <a:ext cx="2657" cy="1993"/>
                  <a:chOff x="3202" y="5108"/>
                  <a:chExt cx="2657" cy="1993"/>
                </a:xfrm>
              </p:grpSpPr>
              <p:cxnSp>
                <p:nvCxnSpPr>
                  <p:cNvPr id="8" name="直接箭头连接符 7"/>
                  <p:cNvCxnSpPr/>
                  <p:nvPr/>
                </p:nvCxnSpPr>
                <p:spPr>
                  <a:xfrm flipV="1">
                    <a:off x="3755" y="5227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" name="直接箭头连接符 8"/>
                  <p:cNvCxnSpPr/>
                  <p:nvPr/>
                </p:nvCxnSpPr>
                <p:spPr>
                  <a:xfrm>
                    <a:off x="3755" y="6786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" name="任意多边形 12"/>
                  <p:cNvSpPr/>
                  <p:nvPr/>
                </p:nvSpPr>
                <p:spPr>
                  <a:xfrm>
                    <a:off x="3755" y="5568"/>
                    <a:ext cx="1606" cy="503"/>
                  </a:xfrm>
                  <a:custGeom>
                    <a:avLst/>
                    <a:gdLst>
                      <a:gd name="connsiteX0" fmla="*/ 0 w 7905"/>
                      <a:gd name="connsiteY0" fmla="*/ 2460 h 2476"/>
                      <a:gd name="connsiteX1" fmla="*/ 7905 w 7905"/>
                      <a:gd name="connsiteY1" fmla="*/ 0 h 247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7905" h="2477">
                        <a:moveTo>
                          <a:pt x="0" y="2460"/>
                        </a:moveTo>
                        <a:cubicBezTo>
                          <a:pt x="4710" y="2655"/>
                          <a:pt x="7095" y="1095"/>
                          <a:pt x="7905" y="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  <p:grpSp>
                <p:nvGrpSpPr>
                  <p:cNvPr id="18" name="组合 17"/>
                  <p:cNvGrpSpPr/>
                  <p:nvPr/>
                </p:nvGrpSpPr>
                <p:grpSpPr>
                  <a:xfrm>
                    <a:off x="3202" y="510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1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14" name="文本框 13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pic>
              <p:nvPicPr>
                <p:cNvPr id="16" name="图片 15"/>
                <p:cNvPicPr>
                  <a:picLocks noChangeAspect="1"/>
                </p:cNvPicPr>
                <p:nvPr/>
              </p:nvPicPr>
              <p:blipFill>
                <a:blip r:embed="rId4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48000"/>
                </a:blip>
                <a:stretch>
                  <a:fillRect/>
                </a:stretch>
              </p:blipFill>
              <p:spPr>
                <a:xfrm>
                  <a:off x="647" y="2057"/>
                  <a:ext cx="3441" cy="273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</p:grpSp>
          <p:grpSp>
            <p:nvGrpSpPr>
              <p:cNvPr id="75" name="组合 74"/>
              <p:cNvGrpSpPr/>
              <p:nvPr/>
            </p:nvGrpSpPr>
            <p:grpSpPr>
              <a:xfrm>
                <a:off x="7659" y="2455"/>
                <a:ext cx="3661" cy="5231"/>
                <a:chOff x="7722" y="2455"/>
                <a:chExt cx="3661" cy="5231"/>
              </a:xfrm>
            </p:grpSpPr>
            <p:pic>
              <p:nvPicPr>
                <p:cNvPr id="2" name="图片 1"/>
                <p:cNvPicPr>
                  <a:picLocks noChangeAspect="1"/>
                </p:cNvPicPr>
                <p:nvPr/>
              </p:nvPicPr>
              <p:blipFill>
                <a:blip r:embed="rId5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7722" y="2455"/>
                  <a:ext cx="3470" cy="2199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3" name="文本框 2"/>
                <p:cNvSpPr txBox="1"/>
                <p:nvPr/>
              </p:nvSpPr>
              <p:spPr>
                <a:xfrm>
                  <a:off x="7740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C=0, B=0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</a:endParaRPr>
                </a:p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“Pancake” City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</a:endParaRPr>
                </a:p>
              </p:txBody>
            </p:sp>
            <p:grpSp>
              <p:nvGrpSpPr>
                <p:cNvPr id="23" name="组合 22"/>
                <p:cNvGrpSpPr/>
                <p:nvPr/>
              </p:nvGrpSpPr>
              <p:grpSpPr>
                <a:xfrm>
                  <a:off x="8233" y="5693"/>
                  <a:ext cx="2657" cy="1993"/>
                  <a:chOff x="5687" y="5068"/>
                  <a:chExt cx="2657" cy="1993"/>
                </a:xfrm>
              </p:grpSpPr>
              <p:cxnSp>
                <p:nvCxnSpPr>
                  <p:cNvPr id="4" name="直接箭头连接符 3"/>
                  <p:cNvCxnSpPr/>
                  <p:nvPr/>
                </p:nvCxnSpPr>
                <p:spPr>
                  <a:xfrm flipV="1">
                    <a:off x="6221" y="521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" name="直接箭头连接符 4"/>
                  <p:cNvCxnSpPr/>
                  <p:nvPr/>
                </p:nvCxnSpPr>
                <p:spPr>
                  <a:xfrm>
                    <a:off x="6221" y="677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" name="直接连接符 5"/>
                  <p:cNvCxnSpPr/>
                  <p:nvPr/>
                </p:nvCxnSpPr>
                <p:spPr>
                  <a:xfrm>
                    <a:off x="6236" y="6085"/>
                    <a:ext cx="1665" cy="0"/>
                  </a:xfrm>
                  <a:prstGeom prst="line">
                    <a:avLst/>
                  </a:pr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9" name="组合 18"/>
                  <p:cNvGrpSpPr/>
                  <p:nvPr/>
                </p:nvGrpSpPr>
                <p:grpSpPr>
                  <a:xfrm>
                    <a:off x="5687" y="506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20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</p:grpSp>
          <p:grpSp>
            <p:nvGrpSpPr>
              <p:cNvPr id="77" name="组合 76"/>
              <p:cNvGrpSpPr/>
              <p:nvPr/>
            </p:nvGrpSpPr>
            <p:grpSpPr>
              <a:xfrm>
                <a:off x="14741" y="2761"/>
                <a:ext cx="3767" cy="4925"/>
                <a:chOff x="14737" y="2761"/>
                <a:chExt cx="3767" cy="4925"/>
              </a:xfrm>
            </p:grpSpPr>
            <p:pic>
              <p:nvPicPr>
                <p:cNvPr id="17" name="图片 16"/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rcRect l="8333" t="26856" r="10968" b="26289"/>
                <a:stretch>
                  <a:fillRect/>
                </a:stretch>
              </p:blipFill>
              <p:spPr>
                <a:xfrm>
                  <a:off x="14737" y="2761"/>
                  <a:ext cx="3767" cy="1736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6" name="TextBox 190"/>
                <p:cNvSpPr txBox="1"/>
                <p:nvPr/>
              </p:nvSpPr>
              <p:spPr>
                <a:xfrm>
                  <a:off x="14861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B&lt;0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“Pyramid”City</a:t>
                  </a:r>
                  <a:endParaRPr lang="en-US" altLang="zh-CN" sz="1065">
                    <a:latin typeface="Arial" panose="020B0604020202020204" pitchFamily="34" charset="0"/>
                    <a:sym typeface="+mn-ea"/>
                  </a:endParaRPr>
                </a:p>
              </p:txBody>
            </p:sp>
            <p:grpSp>
              <p:nvGrpSpPr>
                <p:cNvPr id="49" name="组合 48"/>
                <p:cNvGrpSpPr/>
                <p:nvPr/>
              </p:nvGrpSpPr>
              <p:grpSpPr>
                <a:xfrm>
                  <a:off x="15354" y="5693"/>
                  <a:ext cx="2657" cy="1993"/>
                  <a:chOff x="10870" y="5054"/>
                  <a:chExt cx="2657" cy="1993"/>
                </a:xfrm>
              </p:grpSpPr>
              <p:sp>
                <p:nvSpPr>
                  <p:cNvPr id="37" name="任意多边形 36"/>
                  <p:cNvSpPr/>
                  <p:nvPr/>
                </p:nvSpPr>
                <p:spPr>
                  <a:xfrm>
                    <a:off x="11415" y="6023"/>
                    <a:ext cx="1395" cy="695"/>
                  </a:xfrm>
                  <a:custGeom>
                    <a:avLst/>
                    <a:gdLst>
                      <a:gd name="connsiteX0" fmla="*/ 0 w 6210"/>
                      <a:gd name="connsiteY0" fmla="*/ 0 h 2550"/>
                      <a:gd name="connsiteX1" fmla="*/ 6210 w 6210"/>
                      <a:gd name="connsiteY1" fmla="*/ 2550 h 2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6210" h="2550">
                        <a:moveTo>
                          <a:pt x="0" y="0"/>
                        </a:moveTo>
                        <a:cubicBezTo>
                          <a:pt x="2385" y="1290"/>
                          <a:pt x="4110" y="2085"/>
                          <a:pt x="6210" y="255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  <p:cxnSp>
                <p:nvCxnSpPr>
                  <p:cNvPr id="39" name="直接箭头连接符 38"/>
                  <p:cNvCxnSpPr/>
                  <p:nvPr/>
                </p:nvCxnSpPr>
                <p:spPr>
                  <a:xfrm flipV="1">
                    <a:off x="11423" y="517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直接箭头连接符 39"/>
                  <p:cNvCxnSpPr/>
                  <p:nvPr/>
                </p:nvCxnSpPr>
                <p:spPr>
                  <a:xfrm>
                    <a:off x="11423" y="673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45" name="组合 44"/>
                  <p:cNvGrpSpPr/>
                  <p:nvPr/>
                </p:nvGrpSpPr>
                <p:grpSpPr>
                  <a:xfrm>
                    <a:off x="10870" y="5054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6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47" name="文本框 46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48" name="文本框 47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</p:grpSp>
          <p:grpSp>
            <p:nvGrpSpPr>
              <p:cNvPr id="76" name="组合 75"/>
              <p:cNvGrpSpPr/>
              <p:nvPr/>
            </p:nvGrpSpPr>
            <p:grpSpPr>
              <a:xfrm>
                <a:off x="11209" y="2584"/>
                <a:ext cx="3643" cy="5102"/>
                <a:chOff x="11192" y="2584"/>
                <a:chExt cx="3643" cy="5102"/>
              </a:xfrm>
            </p:grpSpPr>
            <p:pic>
              <p:nvPicPr>
                <p:cNvPr id="4100" name="图片 6"/>
                <p:cNvPicPr>
                  <a:picLocks noChangeAspect="1"/>
                </p:cNvPicPr>
                <p:nvPr/>
              </p:nvPicPr>
              <p:blipFill>
                <a:blip r:embed="rId7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11510" y="2584"/>
                  <a:ext cx="3007" cy="2070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7" name="TextBox 191"/>
                <p:cNvSpPr txBox="1"/>
                <p:nvPr/>
              </p:nvSpPr>
              <p:spPr>
                <a:xfrm>
                  <a:off x="11192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B&gt;0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“Volcanic Cone” City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</p:txBody>
            </p:sp>
            <p:grpSp>
              <p:nvGrpSpPr>
                <p:cNvPr id="52" name="组合 51"/>
                <p:cNvGrpSpPr/>
                <p:nvPr/>
              </p:nvGrpSpPr>
              <p:grpSpPr>
                <a:xfrm>
                  <a:off x="11686" y="5693"/>
                  <a:ext cx="2657" cy="1993"/>
                  <a:chOff x="8290" y="5068"/>
                  <a:chExt cx="2657" cy="1993"/>
                </a:xfrm>
              </p:grpSpPr>
              <p:grpSp>
                <p:nvGrpSpPr>
                  <p:cNvPr id="27" name="组合 26"/>
                  <p:cNvGrpSpPr/>
                  <p:nvPr/>
                </p:nvGrpSpPr>
                <p:grpSpPr>
                  <a:xfrm>
                    <a:off x="8290" y="5068"/>
                    <a:ext cx="2657" cy="1993"/>
                    <a:chOff x="3202" y="5108"/>
                    <a:chExt cx="2657" cy="1993"/>
                  </a:xfrm>
                </p:grpSpPr>
                <p:cxnSp>
                  <p:nvCxnSpPr>
                    <p:cNvPr id="28" name="直接箭头连接符 27"/>
                    <p:cNvCxnSpPr/>
                    <p:nvPr/>
                  </p:nvCxnSpPr>
                  <p:spPr>
                    <a:xfrm flipV="1">
                      <a:off x="3755" y="5227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9" name="直接箭头连接符 28"/>
                    <p:cNvCxnSpPr/>
                    <p:nvPr/>
                  </p:nvCxnSpPr>
                  <p:spPr>
                    <a:xfrm>
                      <a:off x="3755" y="6786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1" name="组合 30"/>
                    <p:cNvGrpSpPr/>
                    <p:nvPr/>
                  </p:nvGrpSpPr>
                  <p:grpSpPr>
                    <a:xfrm>
                      <a:off x="3202" y="5108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32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  <a:endPara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33" name="文本框 32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  <a:endPara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34" name="文本框 33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  <a:endPara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p:grpSp>
              </p:grpSp>
              <p:sp>
                <p:nvSpPr>
                  <p:cNvPr id="51" name="任意多边形 50"/>
                  <p:cNvSpPr/>
                  <p:nvPr/>
                </p:nvSpPr>
                <p:spPr>
                  <a:xfrm>
                    <a:off x="8843" y="5741"/>
                    <a:ext cx="1742" cy="701"/>
                  </a:xfrm>
                  <a:custGeom>
                    <a:avLst/>
                    <a:gdLst>
                      <a:gd name="connsiteX0" fmla="*/ 0 w 6165"/>
                      <a:gd name="connsiteY0" fmla="*/ 895 h 1794"/>
                      <a:gd name="connsiteX1" fmla="*/ 2745 w 6165"/>
                      <a:gd name="connsiteY1" fmla="*/ 25 h 1794"/>
                      <a:gd name="connsiteX2" fmla="*/ 6165 w 6165"/>
                      <a:gd name="connsiteY2" fmla="*/ 1795 h 179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65" h="1795">
                        <a:moveTo>
                          <a:pt x="0" y="895"/>
                        </a:moveTo>
                        <a:cubicBezTo>
                          <a:pt x="411" y="669"/>
                          <a:pt x="1506" y="-152"/>
                          <a:pt x="2745" y="25"/>
                        </a:cubicBezTo>
                        <a:cubicBezTo>
                          <a:pt x="3984" y="202"/>
                          <a:pt x="5415" y="1432"/>
                          <a:pt x="6165" y="1795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</p:grpSp>
          </p:grpSp>
          <p:grpSp>
            <p:nvGrpSpPr>
              <p:cNvPr id="74" name="组合 73"/>
              <p:cNvGrpSpPr/>
              <p:nvPr/>
            </p:nvGrpSpPr>
            <p:grpSpPr>
              <a:xfrm>
                <a:off x="4087" y="2348"/>
                <a:ext cx="3683" cy="5338"/>
                <a:chOff x="4198" y="2348"/>
                <a:chExt cx="3683" cy="5338"/>
              </a:xfrm>
            </p:grpSpPr>
            <p:sp>
              <p:nvSpPr>
                <p:cNvPr id="64" name="TextBox 190"/>
                <p:cNvSpPr txBox="1"/>
                <p:nvPr/>
              </p:nvSpPr>
              <p:spPr>
                <a:xfrm>
                  <a:off x="4218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B&lt;0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“Crown”City</a:t>
                  </a:r>
                  <a:endParaRPr lang="en-US" altLang="zh-CN" sz="1065">
                    <a:latin typeface="Arial" panose="020B0604020202020204" pitchFamily="34" charset="0"/>
                    <a:sym typeface="+mn-ea"/>
                  </a:endParaRPr>
                </a:p>
              </p:txBody>
            </p:sp>
            <p:pic>
              <p:nvPicPr>
                <p:cNvPr id="66" name="图片 65"/>
                <p:cNvPicPr>
                  <a:picLocks noChangeAspect="1"/>
                </p:cNvPicPr>
                <p:nvPr/>
              </p:nvPicPr>
              <p:blipFill>
                <a:blip r:embed="rId8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4198" y="2348"/>
                  <a:ext cx="3683" cy="2478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grpSp>
              <p:nvGrpSpPr>
                <p:cNvPr id="72" name="组合 71"/>
                <p:cNvGrpSpPr/>
                <p:nvPr/>
              </p:nvGrpSpPr>
              <p:grpSpPr>
                <a:xfrm>
                  <a:off x="4712" y="5693"/>
                  <a:ext cx="2657" cy="1993"/>
                  <a:chOff x="4673" y="5693"/>
                  <a:chExt cx="2657" cy="1993"/>
                </a:xfrm>
              </p:grpSpPr>
              <p:grpSp>
                <p:nvGrpSpPr>
                  <p:cNvPr id="56" name="组合 55"/>
                  <p:cNvGrpSpPr/>
                  <p:nvPr/>
                </p:nvGrpSpPr>
                <p:grpSpPr>
                  <a:xfrm>
                    <a:off x="4673" y="5693"/>
                    <a:ext cx="2657" cy="1993"/>
                    <a:chOff x="10870" y="5054"/>
                    <a:chExt cx="2657" cy="1993"/>
                  </a:xfrm>
                </p:grpSpPr>
                <p:cxnSp>
                  <p:nvCxnSpPr>
                    <p:cNvPr id="58" name="直接箭头连接符 57"/>
                    <p:cNvCxnSpPr/>
                    <p:nvPr/>
                  </p:nvCxnSpPr>
                  <p:spPr>
                    <a:xfrm flipV="1">
                      <a:off x="11423" y="5173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9" name="直接箭头连接符 58"/>
                    <p:cNvCxnSpPr/>
                    <p:nvPr/>
                  </p:nvCxnSpPr>
                  <p:spPr>
                    <a:xfrm>
                      <a:off x="11423" y="6732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0" name="组合 59"/>
                    <p:cNvGrpSpPr/>
                    <p:nvPr/>
                  </p:nvGrpSpPr>
                  <p:grpSpPr>
                    <a:xfrm>
                      <a:off x="10870" y="5054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61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  <a:endPara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62" name="文本框 61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  <a:endPara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63" name="文本框 62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  <a:endPara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p:grpSp>
              </p:grpSp>
              <p:sp>
                <p:nvSpPr>
                  <p:cNvPr id="68" name="任意多边形 67"/>
                  <p:cNvSpPr/>
                  <p:nvPr/>
                </p:nvSpPr>
                <p:spPr>
                  <a:xfrm>
                    <a:off x="5227" y="6643"/>
                    <a:ext cx="1770" cy="296"/>
                  </a:xfrm>
                  <a:custGeom>
                    <a:avLst/>
                    <a:gdLst>
                      <a:gd name="connsiteX0" fmla="*/ 0 w 6127"/>
                      <a:gd name="connsiteY0" fmla="*/ 0 h 836"/>
                      <a:gd name="connsiteX1" fmla="*/ 3080 w 6127"/>
                      <a:gd name="connsiteY1" fmla="*/ 836 h 836"/>
                      <a:gd name="connsiteX2" fmla="*/ 6127 w 6127"/>
                      <a:gd name="connsiteY2" fmla="*/ 82 h 83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27" h="836">
                        <a:moveTo>
                          <a:pt x="0" y="0"/>
                        </a:moveTo>
                        <a:cubicBezTo>
                          <a:pt x="492" y="328"/>
                          <a:pt x="1855" y="829"/>
                          <a:pt x="3080" y="836"/>
                        </a:cubicBezTo>
                        <a:cubicBezTo>
                          <a:pt x="4305" y="843"/>
                          <a:pt x="5586" y="344"/>
                          <a:pt x="6127" y="82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</p:grpSp>
          </p:grpSp>
        </p:grpSp>
        <p:sp>
          <p:nvSpPr>
            <p:cNvPr id="7" name="文本框 6"/>
            <p:cNvSpPr txBox="1"/>
            <p:nvPr/>
          </p:nvSpPr>
          <p:spPr>
            <a:xfrm>
              <a:off x="398" y="8731"/>
              <a:ext cx="679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Vertical Profile Types</a:t>
              </a:r>
              <a:endParaRPr lang="en-US" altLang="zh-CN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/>
          <p:cNvGrpSpPr/>
          <p:nvPr/>
        </p:nvGrpSpPr>
        <p:grpSpPr>
          <a:xfrm>
            <a:off x="12919613" y="5287973"/>
            <a:ext cx="5570421" cy="417915"/>
            <a:chOff x="1984" y="9408"/>
            <a:chExt cx="15595" cy="1170"/>
          </a:xfrm>
        </p:grpSpPr>
        <p:sp>
          <p:nvSpPr>
            <p:cNvPr id="32" name="文本框 31"/>
            <p:cNvSpPr txBox="1"/>
            <p:nvPr/>
          </p:nvSpPr>
          <p:spPr>
            <a:xfrm>
              <a:off x="13143" y="9416"/>
              <a:ext cx="4436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2016</a:t>
              </a:r>
              <a:endParaRPr lang="en-US" altLang="zh-CN" sz="900"/>
            </a:p>
          </p:txBody>
        </p:sp>
        <p:sp>
          <p:nvSpPr>
            <p:cNvPr id="22" name="乘号 21"/>
            <p:cNvSpPr/>
            <p:nvPr/>
          </p:nvSpPr>
          <p:spPr>
            <a:xfrm>
              <a:off x="1984" y="9421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2483" y="94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2016</a:t>
              </a:r>
              <a:endParaRPr lang="en-US" altLang="zh-CN" sz="900"/>
            </a:p>
          </p:txBody>
        </p:sp>
        <p:sp>
          <p:nvSpPr>
            <p:cNvPr id="24" name="乘号 23"/>
            <p:cNvSpPr/>
            <p:nvPr/>
          </p:nvSpPr>
          <p:spPr>
            <a:xfrm>
              <a:off x="1984" y="9935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2483" y="99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2023</a:t>
              </a:r>
              <a:endParaRPr lang="en-US" altLang="zh-CN" sz="900"/>
            </a:p>
          </p:txBody>
        </p:sp>
        <p:sp>
          <p:nvSpPr>
            <p:cNvPr id="26" name="乘号 25"/>
            <p:cNvSpPr/>
            <p:nvPr/>
          </p:nvSpPr>
          <p:spPr>
            <a:xfrm>
              <a:off x="6195" y="9421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717" y="9408"/>
              <a:ext cx="5621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2016</a:t>
              </a:r>
              <a:endParaRPr lang="zh-CN" altLang="en-US" sz="9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8" name="乘号 27"/>
            <p:cNvSpPr/>
            <p:nvPr/>
          </p:nvSpPr>
          <p:spPr>
            <a:xfrm>
              <a:off x="6195" y="9935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6717" y="9895"/>
              <a:ext cx="5620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2023</a:t>
              </a:r>
              <a:endParaRPr lang="en-US" altLang="zh-CN" sz="900"/>
            </a:p>
          </p:txBody>
        </p:sp>
        <p:sp>
          <p:nvSpPr>
            <p:cNvPr id="31" name="乘号 30"/>
            <p:cNvSpPr/>
            <p:nvPr/>
          </p:nvSpPr>
          <p:spPr>
            <a:xfrm>
              <a:off x="12659" y="9421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4" name="乘号 33"/>
            <p:cNvSpPr/>
            <p:nvPr/>
          </p:nvSpPr>
          <p:spPr>
            <a:xfrm>
              <a:off x="12659" y="9935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13143" y="9907"/>
              <a:ext cx="425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2023</a:t>
              </a:r>
              <a:endParaRPr lang="en-US" altLang="zh-CN" sz="900"/>
            </a:p>
          </p:txBody>
        </p:sp>
      </p:grpSp>
      <p:grpSp>
        <p:nvGrpSpPr>
          <p:cNvPr id="75" name="组合 74"/>
          <p:cNvGrpSpPr/>
          <p:nvPr/>
        </p:nvGrpSpPr>
        <p:grpSpPr>
          <a:xfrm>
            <a:off x="4065386" y="5192094"/>
            <a:ext cx="6587705" cy="3602288"/>
            <a:chOff x="2562" y="774"/>
            <a:chExt cx="18443" cy="10085"/>
          </a:xfrm>
        </p:grpSpPr>
        <p:sp>
          <p:nvSpPr>
            <p:cNvPr id="66" name="矩形 65"/>
            <p:cNvSpPr/>
            <p:nvPr/>
          </p:nvSpPr>
          <p:spPr>
            <a:xfrm>
              <a:off x="2562" y="775"/>
              <a:ext cx="18361" cy="100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grpSp>
          <p:nvGrpSpPr>
            <p:cNvPr id="149" name="组合 148"/>
            <p:cNvGrpSpPr/>
            <p:nvPr/>
          </p:nvGrpSpPr>
          <p:grpSpPr>
            <a:xfrm>
              <a:off x="5545" y="9577"/>
              <a:ext cx="12840" cy="1259"/>
              <a:chOff x="5545" y="9577"/>
              <a:chExt cx="12840" cy="1113"/>
            </a:xfrm>
          </p:grpSpPr>
          <p:sp>
            <p:nvSpPr>
              <p:cNvPr id="4" name="文本框 3"/>
              <p:cNvSpPr txBox="1"/>
              <p:nvPr/>
            </p:nvSpPr>
            <p:spPr>
              <a:xfrm>
                <a:off x="14588" y="9577"/>
                <a:ext cx="3797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  <a:endParaRPr lang="en-US" altLang="zh-CN" sz="1015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4172" y="9691"/>
                <a:ext cx="290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4172" y="10154"/>
                <a:ext cx="290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4588" y="10067"/>
                <a:ext cx="3797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  <a:endParaRPr lang="en-US" altLang="zh-CN" sz="1015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5979" y="9577"/>
                <a:ext cx="3635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  <a:endParaRPr lang="en-US" altLang="zh-CN" sz="1015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5545" y="9691"/>
                <a:ext cx="290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5545" y="10154"/>
                <a:ext cx="290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979" y="10077"/>
                <a:ext cx="3635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  <a:endParaRPr lang="en-US" altLang="zh-CN" sz="1015"/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9106" y="9577"/>
                <a:ext cx="5356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  <a:endParaRPr lang="en-US" altLang="zh-CN" sz="1015"/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8647" y="9691"/>
                <a:ext cx="290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8647" y="10154"/>
                <a:ext cx="290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9106" y="10064"/>
                <a:ext cx="5358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  <a:endParaRPr lang="en-US" altLang="zh-CN" sz="1015">
                  <a:sym typeface="+mn-ea"/>
                </a:endParaRPr>
              </a:p>
            </p:txBody>
          </p:sp>
        </p:grpSp>
        <p:grpSp>
          <p:nvGrpSpPr>
            <p:cNvPr id="145" name="组合 144"/>
            <p:cNvGrpSpPr/>
            <p:nvPr/>
          </p:nvGrpSpPr>
          <p:grpSpPr>
            <a:xfrm>
              <a:off x="2735" y="774"/>
              <a:ext cx="8414" cy="8385"/>
              <a:chOff x="1166" y="687"/>
              <a:chExt cx="8414" cy="8385"/>
            </a:xfrm>
          </p:grpSpPr>
          <p:grpSp>
            <p:nvGrpSpPr>
              <p:cNvPr id="99" name="组合 98"/>
              <p:cNvGrpSpPr/>
              <p:nvPr/>
            </p:nvGrpSpPr>
            <p:grpSpPr>
              <a:xfrm>
                <a:off x="1166" y="1626"/>
                <a:ext cx="8414" cy="7446"/>
                <a:chOff x="1166" y="1626"/>
                <a:chExt cx="8414" cy="7446"/>
              </a:xfrm>
            </p:grpSpPr>
            <p:pic>
              <p:nvPicPr>
                <p:cNvPr id="6" name="图片 5"/>
                <p:cNvPicPr/>
                <p:nvPr/>
              </p:nvPicPr>
              <p:blipFill>
                <a:blip r:embed="rId1"/>
                <a:srcRect r="50879"/>
                <a:stretch>
                  <a:fillRect/>
                </a:stretch>
              </p:blipFill>
              <p:spPr>
                <a:xfrm>
                  <a:off x="1477" y="1942"/>
                  <a:ext cx="8103" cy="6670"/>
                </a:xfrm>
                <a:prstGeom prst="rect">
                  <a:avLst/>
                </a:prstGeom>
              </p:spPr>
            </p:pic>
            <p:sp>
              <p:nvSpPr>
                <p:cNvPr id="7" name="矩形 6"/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5542" y="4678"/>
                  <a:ext cx="544" cy="737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407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  <a:endParaRPr lang="en-US" altLang="zh-CN" sz="1125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8502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100%</a:t>
                  </a:r>
                  <a:endParaRPr lang="en-US" altLang="zh-CN" sz="1125"/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1850" y="8017"/>
                  <a:ext cx="252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  <a:endParaRPr lang="en-US" altLang="zh-CN" sz="1125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0.6</a:t>
                  </a:r>
                  <a:endParaRPr lang="en-US" altLang="zh-CN" sz="1125"/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1166" y="5259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0.3</a:t>
                  </a:r>
                  <a:endParaRPr lang="en-US" altLang="zh-CN" sz="1125"/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585" y="162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400" y="8636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7" name="文本框 56"/>
                <p:cNvSpPr txBox="1"/>
                <p:nvPr/>
              </p:nvSpPr>
              <p:spPr>
                <a:xfrm>
                  <a:off x="6457" y="4932"/>
                  <a:ext cx="3042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  <a:endPara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endParaRPr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645" y="687"/>
                    <a:ext cx="7243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Constraints</a:t>
                    </a:r>
                    <a:endPara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5" y="687"/>
                    <a:ext cx="7243" cy="1419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4" name="文本框 53"/>
              <p:cNvSpPr txBox="1"/>
              <p:nvPr/>
            </p:nvSpPr>
            <p:spPr>
              <a:xfrm>
                <a:off x="2279" y="6961"/>
                <a:ext cx="2441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altLang="zh-CN" sz="790" i="1">
                    <a:solidFill>
                      <a:schemeClr val="tx1"/>
                    </a:solidFill>
                  </a:rPr>
                  <a:t>29% Uniformly open</a:t>
                </a:r>
                <a:endParaRPr lang="en-US" altLang="zh-CN" sz="790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6924" y="2113"/>
                <a:ext cx="2347" cy="1332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r"/>
                <a:r>
                  <a:rPr lang="en-US" altLang="zh-CN" sz="790" i="1">
                    <a:solidFill>
                      <a:schemeClr val="tx1"/>
                    </a:solidFill>
                  </a:rPr>
                  <a:t>1% Locked</a:t>
                </a:r>
                <a:endParaRPr lang="en-US" altLang="zh-CN" sz="790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3472" y="2112"/>
                <a:ext cx="2309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45% Edge-constrianed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6944" y="5474"/>
                <a:ext cx="2327" cy="1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US" altLang="zh-CN" sz="790" i="1">
                    <a:solidFill>
                      <a:schemeClr val="tx1"/>
                    </a:solidFill>
                  </a:rPr>
                  <a:t>25% Uniform constrianed landscape</a:t>
                </a:r>
                <a:endParaRPr lang="en-US" altLang="zh-CN" sz="790" i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0646" y="774"/>
              <a:ext cx="10359" cy="8463"/>
              <a:chOff x="10646" y="774"/>
              <a:chExt cx="10359" cy="8463"/>
            </a:xfrm>
          </p:grpSpPr>
          <p:pic>
            <p:nvPicPr>
              <p:cNvPr id="129" name="图片 128"/>
              <p:cNvPicPr/>
              <p:nvPr/>
            </p:nvPicPr>
            <p:blipFill>
              <a:blip r:embed="rId3"/>
              <a:srcRect l="50483" b="-95"/>
              <a:stretch>
                <a:fillRect/>
              </a:stretch>
            </p:blipFill>
            <p:spPr>
              <a:xfrm>
                <a:off x="11571" y="2030"/>
                <a:ext cx="8033" cy="6693"/>
              </a:xfrm>
              <a:prstGeom prst="rect">
                <a:avLst/>
              </a:prstGeom>
            </p:spPr>
          </p:pic>
          <p:sp>
            <p:nvSpPr>
              <p:cNvPr id="45" name="矩形 44"/>
              <p:cNvSpPr/>
              <p:nvPr/>
            </p:nvSpPr>
            <p:spPr>
              <a:xfrm rot="5400000">
                <a:off x="15482" y="4679"/>
                <a:ext cx="544" cy="75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" name="矩形 2"/>
              <p:cNvSpPr/>
              <p:nvPr/>
            </p:nvSpPr>
            <p:spPr>
              <a:xfrm>
                <a:off x="11545" y="1757"/>
                <a:ext cx="544" cy="647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646" y="774"/>
                    <a:ext cx="10359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Construction</a:t>
                    </a:r>
                    <a:endPara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46" y="774"/>
                    <a:ext cx="10359" cy="1419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0" name="组合 29"/>
              <p:cNvGrpSpPr/>
              <p:nvPr/>
            </p:nvGrpSpPr>
            <p:grpSpPr>
              <a:xfrm>
                <a:off x="11207" y="1844"/>
                <a:ext cx="8319" cy="7393"/>
                <a:chOff x="9406" y="1694"/>
                <a:chExt cx="8319" cy="7393"/>
              </a:xfrm>
            </p:grpSpPr>
            <p:sp>
              <p:nvSpPr>
                <p:cNvPr id="46" name="文本框 45"/>
                <p:cNvSpPr txBox="1"/>
                <p:nvPr/>
              </p:nvSpPr>
              <p:spPr>
                <a:xfrm>
                  <a:off x="16838" y="8048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70%</a:t>
                  </a:r>
                  <a:endParaRPr lang="en-US" altLang="zh-CN" sz="1125"/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0288" y="8086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20%</a:t>
                  </a:r>
                  <a:endParaRPr lang="en-US" altLang="zh-CN" sz="1125"/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9636" y="708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  <a:endParaRPr lang="en-US" altLang="zh-CN" sz="1125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406" y="4656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0.2</a:t>
                  </a:r>
                  <a:endParaRPr lang="en-US" altLang="zh-CN" sz="1125"/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4812" y="8574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149" y="8060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  <a:endParaRPr lang="en-US" altLang="zh-CN" sz="1125"/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0.4</a:t>
                  </a:r>
                  <a:endParaRPr lang="en-US" altLang="zh-CN" sz="1125"/>
                </a:p>
              </p:txBody>
            </p:sp>
          </p:grpSp>
          <p:sp>
            <p:nvSpPr>
              <p:cNvPr id="65" name="文本框 64"/>
              <p:cNvSpPr txBox="1"/>
              <p:nvPr/>
            </p:nvSpPr>
            <p:spPr>
              <a:xfrm>
                <a:off x="12166" y="7364"/>
                <a:ext cx="2971" cy="747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30% Uniform sparse construction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7" name="文本框 66"/>
              <p:cNvSpPr txBox="1"/>
              <p:nvPr/>
            </p:nvSpPr>
            <p:spPr>
              <a:xfrm>
                <a:off x="16296" y="7316"/>
                <a:ext cx="2990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18% Uniform dense construction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8" name="文本框 67"/>
              <p:cNvSpPr txBox="1"/>
              <p:nvPr/>
            </p:nvSpPr>
            <p:spPr>
              <a:xfrm>
                <a:off x="17437" y="2212"/>
                <a:ext cx="1850" cy="195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10% Dense core, sparse periphery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43" name="文本框 142"/>
              <p:cNvSpPr txBox="1"/>
              <p:nvPr/>
            </p:nvSpPr>
            <p:spPr>
              <a:xfrm>
                <a:off x="12167" y="2212"/>
                <a:ext cx="2759" cy="746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43% Small Core, sparse periphery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48" name="文本框 147"/>
              <p:cNvSpPr txBox="1"/>
              <p:nvPr/>
            </p:nvSpPr>
            <p:spPr>
              <a:xfrm>
                <a:off x="17418" y="5362"/>
                <a:ext cx="1936" cy="11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0.09</a:t>
                </a:r>
                <a:endParaRPr lang="en-US" altLang="zh-CN" sz="1015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</p:grpSp>
      <p:cxnSp>
        <p:nvCxnSpPr>
          <p:cNvPr id="33" name="直接连接符 32"/>
          <p:cNvCxnSpPr/>
          <p:nvPr/>
        </p:nvCxnSpPr>
        <p:spPr>
          <a:xfrm>
            <a:off x="3519238" y="4559148"/>
            <a:ext cx="761534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7" name="组合 96"/>
          <p:cNvGrpSpPr/>
          <p:nvPr/>
        </p:nvGrpSpPr>
        <p:grpSpPr>
          <a:xfrm>
            <a:off x="11493209" y="4247676"/>
            <a:ext cx="1544858" cy="513643"/>
            <a:chOff x="2166" y="1724"/>
            <a:chExt cx="19159" cy="6372"/>
          </a:xfrm>
        </p:grpSpPr>
        <p:cxnSp>
          <p:nvCxnSpPr>
            <p:cNvPr id="70" name="直接箭头连接符 69"/>
            <p:cNvCxnSpPr/>
            <p:nvPr/>
          </p:nvCxnSpPr>
          <p:spPr>
            <a:xfrm flipV="1">
              <a:off x="2166" y="1724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2" name="直接箭头连接符 91"/>
            <p:cNvCxnSpPr/>
            <p:nvPr/>
          </p:nvCxnSpPr>
          <p:spPr>
            <a:xfrm flipV="1">
              <a:off x="2166" y="8047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5" name="直接箭头连接符 94"/>
            <p:cNvCxnSpPr/>
            <p:nvPr/>
          </p:nvCxnSpPr>
          <p:spPr>
            <a:xfrm flipV="1">
              <a:off x="13581" y="1769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/>
            <p:nvPr/>
          </p:nvCxnSpPr>
          <p:spPr>
            <a:xfrm flipV="1">
              <a:off x="13581" y="8092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124" name="组合 123"/>
          <p:cNvGrpSpPr/>
          <p:nvPr/>
        </p:nvGrpSpPr>
        <p:grpSpPr>
          <a:xfrm>
            <a:off x="12071637" y="6387055"/>
            <a:ext cx="8195787" cy="1489137"/>
            <a:chOff x="186" y="3371"/>
            <a:chExt cx="22945" cy="4169"/>
          </a:xfrm>
        </p:grpSpPr>
        <p:sp>
          <p:nvSpPr>
            <p:cNvPr id="5" name="文本框 4"/>
            <p:cNvSpPr txBox="1"/>
            <p:nvPr/>
          </p:nvSpPr>
          <p:spPr>
            <a:xfrm>
              <a:off x="186" y="5928"/>
              <a:ext cx="2265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790" i="1">
                  <a:solidFill>
                    <a:schemeClr val="tx1"/>
                  </a:solidFill>
                </a:rPr>
                <a:t>Low-Constraint, Flat-Gradient</a:t>
              </a:r>
              <a:endParaRPr lang="en-US" altLang="zh-CN" sz="790" i="1">
                <a:solidFill>
                  <a:schemeClr val="tx1"/>
                </a:solidFill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9533" y="4232"/>
              <a:ext cx="2346" cy="679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Steep-Gradient</a:t>
              </a:r>
              <a:endParaRPr lang="en-US" altLang="zh-CN" sz="790" i="1">
                <a:solidFill>
                  <a:schemeClr val="tx1"/>
                </a:solidFill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200" y="4186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Low-Constraint,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Steep-Gradient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9552" y="5928"/>
              <a:ext cx="2327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Flat-Gradient</a:t>
              </a:r>
              <a:endParaRPr lang="en-US" altLang="zh-CN" sz="790" i="1">
                <a:solidFill>
                  <a:schemeClr val="tx1"/>
                </a:solidFill>
              </a:endParaRPr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11568" y="4232"/>
              <a:ext cx="2211" cy="746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Flat-Gradient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568" y="5928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Steep-Gradient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20920" y="4182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Flat-Gradient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20874" y="5928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Steep-Gradient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grpSp>
          <p:nvGrpSpPr>
            <p:cNvPr id="100" name="组合 99"/>
            <p:cNvGrpSpPr/>
            <p:nvPr/>
          </p:nvGrpSpPr>
          <p:grpSpPr>
            <a:xfrm>
              <a:off x="1395" y="6639"/>
              <a:ext cx="831" cy="826"/>
              <a:chOff x="493" y="2941"/>
              <a:chExt cx="4304" cy="4270"/>
            </a:xfrm>
          </p:grpSpPr>
          <p:pic>
            <p:nvPicPr>
              <p:cNvPr id="101" name="图片 100"/>
              <p:cNvPicPr>
                <a:picLocks noChangeAspect="1"/>
              </p:cNvPicPr>
              <p:nvPr/>
            </p:nvPicPr>
            <p:blipFill>
              <a:blip r:embed="rId5">
                <a:grayscl/>
              </a:blip>
              <a:stretch>
                <a:fillRect/>
              </a:stretch>
            </p:blipFill>
            <p:spPr>
              <a:xfrm>
                <a:off x="493" y="2941"/>
                <a:ext cx="4304" cy="4271"/>
              </a:xfrm>
              <a:prstGeom prst="rect">
                <a:avLst/>
              </a:prstGeom>
            </p:spPr>
          </p:pic>
          <p:sp>
            <p:nvSpPr>
              <p:cNvPr id="102" name="椭圆 101"/>
              <p:cNvSpPr/>
              <p:nvPr/>
            </p:nvSpPr>
            <p:spPr>
              <a:xfrm>
                <a:off x="59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3" name="组合 102"/>
            <p:cNvGrpSpPr/>
            <p:nvPr/>
          </p:nvGrpSpPr>
          <p:grpSpPr>
            <a:xfrm>
              <a:off x="1365" y="3374"/>
              <a:ext cx="831" cy="826"/>
              <a:chOff x="4929" y="2941"/>
              <a:chExt cx="4302" cy="4270"/>
            </a:xfrm>
          </p:grpSpPr>
          <p:pic>
            <p:nvPicPr>
              <p:cNvPr id="104" name="图片 103"/>
              <p:cNvPicPr>
                <a:picLocks noChangeAspect="1"/>
              </p:cNvPicPr>
              <p:nvPr/>
            </p:nvPicPr>
            <p:blipFill>
              <a:blip r:embed="rId6">
                <a:grayscl/>
              </a:blip>
              <a:stretch>
                <a:fillRect/>
              </a:stretch>
            </p:blipFill>
            <p:spPr>
              <a:xfrm>
                <a:off x="492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5" name="椭圆 104"/>
              <p:cNvSpPr/>
              <p:nvPr/>
            </p:nvSpPr>
            <p:spPr>
              <a:xfrm>
                <a:off x="502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6" name="组合 105"/>
            <p:cNvGrpSpPr/>
            <p:nvPr/>
          </p:nvGrpSpPr>
          <p:grpSpPr>
            <a:xfrm>
              <a:off x="9591" y="6639"/>
              <a:ext cx="831" cy="826"/>
              <a:chOff x="9364" y="2941"/>
              <a:chExt cx="4302" cy="4270"/>
            </a:xfrm>
          </p:grpSpPr>
          <p:pic>
            <p:nvPicPr>
              <p:cNvPr id="107" name="图片 106"/>
              <p:cNvPicPr>
                <a:picLocks noChangeAspect="1"/>
              </p:cNvPicPr>
              <p:nvPr/>
            </p:nvPicPr>
            <p:blipFill>
              <a:blip r:embed="rId7">
                <a:grayscl/>
              </a:blip>
              <a:stretch>
                <a:fillRect/>
              </a:stretch>
            </p:blipFill>
            <p:spPr>
              <a:xfrm>
                <a:off x="9364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8" name="椭圆 107"/>
              <p:cNvSpPr/>
              <p:nvPr/>
            </p:nvSpPr>
            <p:spPr>
              <a:xfrm>
                <a:off x="945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9" name="组合 108"/>
            <p:cNvGrpSpPr/>
            <p:nvPr/>
          </p:nvGrpSpPr>
          <p:grpSpPr>
            <a:xfrm>
              <a:off x="9594" y="3374"/>
              <a:ext cx="831" cy="826"/>
              <a:chOff x="13799" y="2941"/>
              <a:chExt cx="4302" cy="4270"/>
            </a:xfrm>
          </p:grpSpPr>
          <p:pic>
            <p:nvPicPr>
              <p:cNvPr id="110" name="图片 109"/>
              <p:cNvPicPr>
                <a:picLocks noChangeAspect="1"/>
              </p:cNvPicPr>
              <p:nvPr/>
            </p:nvPicPr>
            <p:blipFill>
              <a:blip r:embed="rId8">
                <a:grayscl/>
              </a:blip>
              <a:stretch>
                <a:fillRect/>
              </a:stretch>
            </p:blipFill>
            <p:spPr>
              <a:xfrm>
                <a:off x="1379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11" name="椭圆 110"/>
              <p:cNvSpPr/>
              <p:nvPr/>
            </p:nvSpPr>
            <p:spPr>
              <a:xfrm>
                <a:off x="1388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2" name="组合 111"/>
            <p:cNvGrpSpPr/>
            <p:nvPr/>
          </p:nvGrpSpPr>
          <p:grpSpPr>
            <a:xfrm>
              <a:off x="12704" y="3371"/>
              <a:ext cx="848" cy="829"/>
              <a:chOff x="1057" y="2049"/>
              <a:chExt cx="4212" cy="4114"/>
            </a:xfrm>
          </p:grpSpPr>
          <p:pic>
            <p:nvPicPr>
              <p:cNvPr id="113" name="图片 112"/>
              <p:cNvPicPr>
                <a:picLocks noChangeAspect="1"/>
              </p:cNvPicPr>
              <p:nvPr/>
            </p:nvPicPr>
            <p:blipFill>
              <a:blip r:embed="rId9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7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4" name="椭圆 113"/>
              <p:cNvSpPr/>
              <p:nvPr/>
            </p:nvSpPr>
            <p:spPr>
              <a:xfrm>
                <a:off x="1280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>
              <a:off x="12734" y="6636"/>
              <a:ext cx="848" cy="829"/>
              <a:chOff x="5571" y="2049"/>
              <a:chExt cx="4212" cy="4114"/>
            </a:xfrm>
          </p:grpSpPr>
          <p:pic>
            <p:nvPicPr>
              <p:cNvPr id="116" name="图片 115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571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7" name="椭圆 116"/>
              <p:cNvSpPr/>
              <p:nvPr/>
            </p:nvSpPr>
            <p:spPr>
              <a:xfrm>
                <a:off x="5813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>
              <a:off x="21052" y="3371"/>
              <a:ext cx="848" cy="829"/>
              <a:chOff x="10084" y="2049"/>
              <a:chExt cx="4212" cy="4114"/>
            </a:xfrm>
          </p:grpSpPr>
          <p:pic>
            <p:nvPicPr>
              <p:cNvPr id="119" name="图片 118"/>
              <p:cNvPicPr>
                <a:picLocks noChangeAspect="1"/>
              </p:cNvPicPr>
              <p:nvPr/>
            </p:nvPicPr>
            <p:blipFill>
              <a:blip r:embed="rId11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084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20" name="椭圆 119"/>
              <p:cNvSpPr/>
              <p:nvPr/>
            </p:nvSpPr>
            <p:spPr>
              <a:xfrm>
                <a:off x="10347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21" name="组合 120"/>
            <p:cNvGrpSpPr/>
            <p:nvPr/>
          </p:nvGrpSpPr>
          <p:grpSpPr>
            <a:xfrm>
              <a:off x="21000" y="6668"/>
              <a:ext cx="848" cy="828"/>
              <a:chOff x="22212" y="8641"/>
              <a:chExt cx="848" cy="828"/>
            </a:xfrm>
          </p:grpSpPr>
          <p:pic>
            <p:nvPicPr>
              <p:cNvPr id="122" name="图片 121"/>
              <p:cNvPicPr>
                <a:picLocks noChangeAspect="1"/>
              </p:cNvPicPr>
              <p:nvPr/>
            </p:nvPicPr>
            <p:blipFill>
              <a:blip r:embed="rId12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22212" y="8641"/>
                <a:ext cx="848" cy="829"/>
              </a:xfrm>
              <a:prstGeom prst="rect">
                <a:avLst/>
              </a:prstGeom>
            </p:spPr>
          </p:pic>
          <p:sp>
            <p:nvSpPr>
              <p:cNvPr id="123" name="椭圆 122"/>
              <p:cNvSpPr/>
              <p:nvPr/>
            </p:nvSpPr>
            <p:spPr>
              <a:xfrm>
                <a:off x="22232" y="8657"/>
                <a:ext cx="778" cy="778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</p:grpSp>
      <p:sp>
        <p:nvSpPr>
          <p:cNvPr id="71" name="文本框 70"/>
          <p:cNvSpPr txBox="1"/>
          <p:nvPr/>
        </p:nvSpPr>
        <p:spPr>
          <a:xfrm>
            <a:off x="4544381" y="4251248"/>
            <a:ext cx="5580422" cy="2990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altLang="zh-CN" sz="135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Horizontal Construction Params</a:t>
            </a:r>
            <a:endParaRPr lang="en-US" altLang="zh-CN" sz="1350" b="1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/>
          <p:cNvSpPr/>
          <p:nvPr/>
        </p:nvSpPr>
        <p:spPr>
          <a:xfrm>
            <a:off x="3556026" y="5311179"/>
            <a:ext cx="7552110" cy="35230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pic>
        <p:nvPicPr>
          <p:cNvPr id="3" name="图片 2"/>
          <p:cNvPicPr/>
          <p:nvPr/>
        </p:nvPicPr>
        <p:blipFill>
          <a:blip r:embed="rId1"/>
          <a:srcRect t="6059" r="30212" b="5321"/>
          <a:stretch>
            <a:fillRect/>
          </a:stretch>
        </p:blipFill>
        <p:spPr>
          <a:xfrm>
            <a:off x="7035217" y="5594391"/>
            <a:ext cx="3516656" cy="2230771"/>
          </a:xfrm>
          <a:prstGeom prst="rect">
            <a:avLst/>
          </a:prstGeom>
        </p:spPr>
      </p:pic>
      <p:pic>
        <p:nvPicPr>
          <p:cNvPr id="2" name="图片 1"/>
          <p:cNvPicPr/>
          <p:nvPr/>
        </p:nvPicPr>
        <p:blipFill>
          <a:blip r:embed="rId2"/>
          <a:srcRect t="6058" r="32331" b="5235"/>
          <a:stretch>
            <a:fillRect/>
          </a:stretch>
        </p:blipFill>
        <p:spPr>
          <a:xfrm>
            <a:off x="3555391" y="5618521"/>
            <a:ext cx="3310914" cy="2169811"/>
          </a:xfrm>
          <a:prstGeom prst="rect">
            <a:avLst/>
          </a:prstGeom>
        </p:spPr>
      </p:pic>
      <p:sp>
        <p:nvSpPr>
          <p:cNvPr id="55" name="文本框 54"/>
          <p:cNvSpPr txBox="1"/>
          <p:nvPr/>
        </p:nvSpPr>
        <p:spPr>
          <a:xfrm>
            <a:off x="7567350" y="7767377"/>
            <a:ext cx="630560" cy="247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15"/>
              <a:t>Africa</a:t>
            </a:r>
            <a:endParaRPr lang="en-US" altLang="zh-CN" sz="1015"/>
          </a:p>
        </p:txBody>
      </p:sp>
      <p:sp>
        <p:nvSpPr>
          <p:cNvPr id="56" name="文本框 55"/>
          <p:cNvSpPr txBox="1"/>
          <p:nvPr/>
        </p:nvSpPr>
        <p:spPr>
          <a:xfrm>
            <a:off x="8377616" y="7766107"/>
            <a:ext cx="1116338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15"/>
              <a:t>South &amp; Southeast Asia</a:t>
            </a:r>
            <a:endParaRPr lang="en-US" altLang="zh-CN" sz="1015"/>
          </a:p>
        </p:txBody>
      </p:sp>
      <p:sp>
        <p:nvSpPr>
          <p:cNvPr id="57" name="文本框 56"/>
          <p:cNvSpPr txBox="1"/>
          <p:nvPr/>
        </p:nvSpPr>
        <p:spPr>
          <a:xfrm>
            <a:off x="9531420" y="7768012"/>
            <a:ext cx="71247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15">
                <a:ea typeface="宋体" panose="02010600030101010101" pitchFamily="2" charset="-122"/>
              </a:rPr>
              <a:t>Latin</a:t>
            </a:r>
            <a:endParaRPr lang="en-US" altLang="zh-CN" sz="1015">
              <a:ea typeface="宋体" panose="02010600030101010101" pitchFamily="2" charset="-122"/>
            </a:endParaRPr>
          </a:p>
          <a:p>
            <a:pPr algn="ctr"/>
            <a:r>
              <a:rPr lang="en-US" altLang="zh-CN" sz="1015">
                <a:ea typeface="宋体" panose="02010600030101010101" pitchFamily="2" charset="-122"/>
              </a:rPr>
              <a:t>America</a:t>
            </a:r>
            <a:endParaRPr lang="en-US" altLang="zh-CN" sz="1015">
              <a:ea typeface="宋体" panose="02010600030101010101" pitchFamily="2" charset="-122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7514645" y="5594391"/>
            <a:ext cx="367033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790"/>
              <a:t>2016</a:t>
            </a:r>
            <a:endParaRPr lang="en-US" altLang="zh-CN" sz="790"/>
          </a:p>
        </p:txBody>
      </p:sp>
      <p:sp>
        <p:nvSpPr>
          <p:cNvPr id="65" name="文本框 64"/>
          <p:cNvSpPr txBox="1"/>
          <p:nvPr/>
        </p:nvSpPr>
        <p:spPr>
          <a:xfrm>
            <a:off x="7898188" y="5594391"/>
            <a:ext cx="367033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790"/>
              <a:t>2023</a:t>
            </a:r>
            <a:endParaRPr lang="en-US" altLang="zh-CN" sz="790"/>
          </a:p>
        </p:txBody>
      </p:sp>
      <p:sp>
        <p:nvSpPr>
          <p:cNvPr id="66" name="文本框 65"/>
          <p:cNvSpPr txBox="1"/>
          <p:nvPr/>
        </p:nvSpPr>
        <p:spPr>
          <a:xfrm>
            <a:off x="8497632" y="5594391"/>
            <a:ext cx="367033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790"/>
              <a:t>2016</a:t>
            </a:r>
            <a:endParaRPr lang="en-US" altLang="zh-CN" sz="790"/>
          </a:p>
        </p:txBody>
      </p:sp>
      <p:sp>
        <p:nvSpPr>
          <p:cNvPr id="67" name="文本框 66"/>
          <p:cNvSpPr txBox="1"/>
          <p:nvPr/>
        </p:nvSpPr>
        <p:spPr>
          <a:xfrm>
            <a:off x="8881175" y="5594391"/>
            <a:ext cx="367033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790"/>
              <a:t>2023</a:t>
            </a:r>
            <a:endParaRPr lang="en-US" altLang="zh-CN" sz="790"/>
          </a:p>
        </p:txBody>
      </p:sp>
      <p:sp>
        <p:nvSpPr>
          <p:cNvPr id="68" name="文本框 67"/>
          <p:cNvSpPr txBox="1"/>
          <p:nvPr/>
        </p:nvSpPr>
        <p:spPr>
          <a:xfrm>
            <a:off x="9516815" y="5594391"/>
            <a:ext cx="367033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790"/>
              <a:t>2016</a:t>
            </a:r>
            <a:endParaRPr lang="en-US" altLang="zh-CN" sz="790"/>
          </a:p>
        </p:txBody>
      </p:sp>
      <p:sp>
        <p:nvSpPr>
          <p:cNvPr id="69" name="文本框 68"/>
          <p:cNvSpPr txBox="1"/>
          <p:nvPr/>
        </p:nvSpPr>
        <p:spPr>
          <a:xfrm>
            <a:off x="9900357" y="5594391"/>
            <a:ext cx="367033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790"/>
              <a:t>2023</a:t>
            </a:r>
            <a:endParaRPr lang="en-US" altLang="zh-CN" sz="790"/>
          </a:p>
        </p:txBody>
      </p:sp>
      <p:sp>
        <p:nvSpPr>
          <p:cNvPr id="14" name="矩形 13"/>
          <p:cNvSpPr/>
          <p:nvPr/>
        </p:nvSpPr>
        <p:spPr>
          <a:xfrm>
            <a:off x="3933854" y="8418892"/>
            <a:ext cx="263527" cy="158116"/>
          </a:xfrm>
          <a:prstGeom prst="rect">
            <a:avLst/>
          </a:prstGeom>
          <a:solidFill>
            <a:srgbClr val="9EDAE5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sp>
        <p:nvSpPr>
          <p:cNvPr id="15" name="文本框 14"/>
          <p:cNvSpPr txBox="1"/>
          <p:nvPr/>
        </p:nvSpPr>
        <p:spPr>
          <a:xfrm>
            <a:off x="4241831" y="8396031"/>
            <a:ext cx="1217939" cy="3524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45"/>
              <a:t>Uniformly Developable</a:t>
            </a:r>
            <a:endParaRPr lang="en-US" altLang="zh-CN" sz="845"/>
          </a:p>
        </p:txBody>
      </p:sp>
      <p:sp>
        <p:nvSpPr>
          <p:cNvPr id="16" name="矩形 15"/>
          <p:cNvSpPr/>
          <p:nvPr/>
        </p:nvSpPr>
        <p:spPr>
          <a:xfrm>
            <a:off x="3933854" y="8615743"/>
            <a:ext cx="263527" cy="158116"/>
          </a:xfrm>
          <a:prstGeom prst="rect">
            <a:avLst/>
          </a:prstGeom>
          <a:solidFill>
            <a:srgbClr val="F7B6D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sp>
        <p:nvSpPr>
          <p:cNvPr id="17" name="文本框 16"/>
          <p:cNvSpPr txBox="1"/>
          <p:nvPr/>
        </p:nvSpPr>
        <p:spPr>
          <a:xfrm>
            <a:off x="4241831" y="8592248"/>
            <a:ext cx="1318270" cy="221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45"/>
              <a:t>Uniformly Constrianed</a:t>
            </a:r>
            <a:endParaRPr lang="en-US" altLang="zh-CN" sz="845"/>
          </a:p>
        </p:txBody>
      </p:sp>
      <p:sp>
        <p:nvSpPr>
          <p:cNvPr id="18" name="矩形 17"/>
          <p:cNvSpPr/>
          <p:nvPr/>
        </p:nvSpPr>
        <p:spPr>
          <a:xfrm>
            <a:off x="5603281" y="8411272"/>
            <a:ext cx="263527" cy="158116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sp>
        <p:nvSpPr>
          <p:cNvPr id="19" name="矩形 18"/>
          <p:cNvSpPr/>
          <p:nvPr/>
        </p:nvSpPr>
        <p:spPr>
          <a:xfrm>
            <a:off x="5603281" y="8608123"/>
            <a:ext cx="263527" cy="158116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sp>
        <p:nvSpPr>
          <p:cNvPr id="20" name="文本框 19"/>
          <p:cNvSpPr txBox="1"/>
          <p:nvPr/>
        </p:nvSpPr>
        <p:spPr>
          <a:xfrm>
            <a:off x="5908083" y="8403652"/>
            <a:ext cx="1442731" cy="221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45"/>
              <a:t>Core-Open, Edge-Locked</a:t>
            </a:r>
            <a:endParaRPr lang="en-US" altLang="zh-CN" sz="845"/>
          </a:p>
        </p:txBody>
      </p:sp>
      <p:sp>
        <p:nvSpPr>
          <p:cNvPr id="21" name="文本框 20"/>
          <p:cNvSpPr txBox="1"/>
          <p:nvPr/>
        </p:nvSpPr>
        <p:spPr>
          <a:xfrm>
            <a:off x="5908083" y="8584628"/>
            <a:ext cx="1442731" cy="3524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45"/>
              <a:t>Core-Limited, Edge-Locked</a:t>
            </a:r>
            <a:endParaRPr lang="en-US" altLang="zh-CN" sz="845"/>
          </a:p>
        </p:txBody>
      </p:sp>
      <p:sp>
        <p:nvSpPr>
          <p:cNvPr id="29" name="文本框 28"/>
          <p:cNvSpPr txBox="1"/>
          <p:nvPr/>
        </p:nvSpPr>
        <p:spPr>
          <a:xfrm>
            <a:off x="4606324" y="8214420"/>
            <a:ext cx="2009155" cy="221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845" b="1">
                <a:latin typeface="Arial" panose="020B0604020202020204" pitchFamily="34" charset="0"/>
                <a:cs typeface="Arial" panose="020B0604020202020204" pitchFamily="34" charset="0"/>
              </a:rPr>
              <a:t>α-β Categories</a:t>
            </a:r>
            <a:endParaRPr lang="en-US" altLang="zh-CN" sz="845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3556026" y="5311179"/>
            <a:ext cx="3310279" cy="299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350"/>
              <a:t>(a) Horizontal Constraint Types</a:t>
            </a:r>
            <a:endParaRPr lang="en-US" altLang="zh-CN" sz="1350"/>
          </a:p>
        </p:txBody>
      </p:sp>
      <p:sp>
        <p:nvSpPr>
          <p:cNvPr id="36" name="文本框 35"/>
          <p:cNvSpPr txBox="1"/>
          <p:nvPr/>
        </p:nvSpPr>
        <p:spPr>
          <a:xfrm>
            <a:off x="6963461" y="5311179"/>
            <a:ext cx="3881783" cy="299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350"/>
              <a:t>(b) Horizontal Construction Types</a:t>
            </a:r>
            <a:endParaRPr lang="en-US" altLang="zh-CN" sz="1350"/>
          </a:p>
        </p:txBody>
      </p:sp>
      <p:sp>
        <p:nvSpPr>
          <p:cNvPr id="46" name="矩形 45"/>
          <p:cNvSpPr/>
          <p:nvPr/>
        </p:nvSpPr>
        <p:spPr>
          <a:xfrm>
            <a:off x="7679746" y="8418892"/>
            <a:ext cx="263527" cy="158116"/>
          </a:xfrm>
          <a:prstGeom prst="rect">
            <a:avLst/>
          </a:prstGeom>
          <a:solidFill>
            <a:srgbClr val="B3B3B3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sp>
        <p:nvSpPr>
          <p:cNvPr id="47" name="文本框 46"/>
          <p:cNvSpPr txBox="1"/>
          <p:nvPr/>
        </p:nvSpPr>
        <p:spPr>
          <a:xfrm>
            <a:off x="7987723" y="8396031"/>
            <a:ext cx="2009155" cy="221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45"/>
              <a:t>Uniformly Sparse</a:t>
            </a:r>
            <a:endParaRPr lang="en-US" altLang="zh-CN" sz="845"/>
          </a:p>
        </p:txBody>
      </p:sp>
      <p:sp>
        <p:nvSpPr>
          <p:cNvPr id="48" name="矩形 47"/>
          <p:cNvSpPr/>
          <p:nvPr/>
        </p:nvSpPr>
        <p:spPr>
          <a:xfrm>
            <a:off x="7679746" y="8615743"/>
            <a:ext cx="263527" cy="158116"/>
          </a:xfrm>
          <a:prstGeom prst="rect">
            <a:avLst/>
          </a:prstGeom>
          <a:solidFill>
            <a:srgbClr val="FFD92F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sp>
        <p:nvSpPr>
          <p:cNvPr id="49" name="文本框 48"/>
          <p:cNvSpPr txBox="1"/>
          <p:nvPr/>
        </p:nvSpPr>
        <p:spPr>
          <a:xfrm>
            <a:off x="7987723" y="8599868"/>
            <a:ext cx="2009790" cy="221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45"/>
              <a:t>Uniformly Dense</a:t>
            </a:r>
            <a:endParaRPr lang="en-US" altLang="zh-CN" sz="845"/>
          </a:p>
        </p:txBody>
      </p:sp>
      <p:sp>
        <p:nvSpPr>
          <p:cNvPr id="50" name="矩形 49"/>
          <p:cNvSpPr/>
          <p:nvPr/>
        </p:nvSpPr>
        <p:spPr>
          <a:xfrm>
            <a:off x="8948486" y="8411272"/>
            <a:ext cx="263527" cy="158116"/>
          </a:xfrm>
          <a:prstGeom prst="rect">
            <a:avLst/>
          </a:prstGeom>
          <a:solidFill>
            <a:srgbClr val="8DA0CB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sp>
        <p:nvSpPr>
          <p:cNvPr id="51" name="矩形 50"/>
          <p:cNvSpPr/>
          <p:nvPr/>
        </p:nvSpPr>
        <p:spPr>
          <a:xfrm>
            <a:off x="8948486" y="8608123"/>
            <a:ext cx="263527" cy="158116"/>
          </a:xfrm>
          <a:prstGeom prst="rect">
            <a:avLst/>
          </a:prstGeom>
          <a:solidFill>
            <a:srgbClr val="66C2A5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sp>
        <p:nvSpPr>
          <p:cNvPr id="52" name="文本框 51"/>
          <p:cNvSpPr txBox="1"/>
          <p:nvPr/>
        </p:nvSpPr>
        <p:spPr>
          <a:xfrm>
            <a:off x="9253288" y="8403652"/>
            <a:ext cx="1591322" cy="3524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45"/>
              <a:t>Small-Core, Sparse-Periphery</a:t>
            </a:r>
            <a:endParaRPr lang="en-US" altLang="zh-CN" sz="845"/>
          </a:p>
        </p:txBody>
      </p:sp>
      <p:sp>
        <p:nvSpPr>
          <p:cNvPr id="53" name="文本框 52"/>
          <p:cNvSpPr txBox="1"/>
          <p:nvPr/>
        </p:nvSpPr>
        <p:spPr>
          <a:xfrm>
            <a:off x="9253288" y="8584628"/>
            <a:ext cx="1591957" cy="3524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45"/>
              <a:t>Dense-Core, Sparse-Periphery</a:t>
            </a:r>
            <a:endParaRPr lang="en-US" altLang="zh-CN" sz="845"/>
          </a:p>
        </p:txBody>
      </p:sp>
      <p:sp>
        <p:nvSpPr>
          <p:cNvPr id="54" name="文本框 53"/>
          <p:cNvSpPr txBox="1"/>
          <p:nvPr/>
        </p:nvSpPr>
        <p:spPr>
          <a:xfrm>
            <a:off x="8224580" y="8191560"/>
            <a:ext cx="2009155" cy="221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845" b="1">
                <a:latin typeface="Arial" panose="020B0604020202020204" pitchFamily="34" charset="0"/>
                <a:cs typeface="Arial" panose="020B0604020202020204" pitchFamily="34" charset="0"/>
              </a:rPr>
              <a:t>κ-δ Categories</a:t>
            </a:r>
            <a:endParaRPr lang="en-US" altLang="zh-CN" sz="845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0" name="组合 69"/>
          <p:cNvGrpSpPr/>
          <p:nvPr/>
        </p:nvGrpSpPr>
        <p:grpSpPr>
          <a:xfrm rot="0">
            <a:off x="3999259" y="5600741"/>
            <a:ext cx="2727345" cy="2569375"/>
            <a:chOff x="3143" y="2576"/>
            <a:chExt cx="6906" cy="6504"/>
          </a:xfrm>
        </p:grpSpPr>
        <p:sp>
          <p:nvSpPr>
            <p:cNvPr id="10" name="文本框 9"/>
            <p:cNvSpPr txBox="1"/>
            <p:nvPr/>
          </p:nvSpPr>
          <p:spPr>
            <a:xfrm>
              <a:off x="3279" y="8057"/>
              <a:ext cx="1602" cy="6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Africa</a:t>
              </a:r>
              <a:endParaRPr lang="en-US" altLang="zh-CN" sz="1015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187" y="8058"/>
              <a:ext cx="2769" cy="10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South &amp; Southeast Asia</a:t>
              </a:r>
              <a:endParaRPr lang="en-US" altLang="zh-CN" sz="101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8099" y="8058"/>
              <a:ext cx="1810" cy="10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Latin</a:t>
              </a:r>
              <a:endParaRPr lang="en-US" altLang="zh-CN" sz="1015"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America</a:t>
              </a:r>
              <a:endParaRPr lang="en-US" altLang="zh-CN" sz="1015">
                <a:ea typeface="宋体" panose="02010600030101010101" pitchFamily="2" charset="-122"/>
              </a:endParaRP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3143" y="2576"/>
              <a:ext cx="933" cy="8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  <a:endParaRPr lang="en-US" altLang="zh-CN" sz="790"/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4118" y="2576"/>
              <a:ext cx="933" cy="8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  <a:endParaRPr lang="en-US" altLang="zh-CN" sz="790"/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5642" y="2576"/>
              <a:ext cx="933" cy="8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  <a:endParaRPr lang="en-US" altLang="zh-CN" sz="790"/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6617" y="2576"/>
              <a:ext cx="933" cy="8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  <a:endParaRPr lang="en-US" altLang="zh-CN" sz="790"/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8141" y="2576"/>
              <a:ext cx="933" cy="8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  <a:endParaRPr lang="en-US" altLang="zh-CN" sz="790"/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9116" y="2576"/>
              <a:ext cx="933" cy="8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  <a:endParaRPr lang="en-US" altLang="zh-CN" sz="79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/>
          <p:cNvGrpSpPr/>
          <p:nvPr/>
        </p:nvGrpSpPr>
        <p:grpSpPr>
          <a:xfrm>
            <a:off x="5099459" y="5311396"/>
            <a:ext cx="3769455" cy="3889114"/>
            <a:chOff x="5457" y="1090"/>
            <a:chExt cx="10553" cy="10888"/>
          </a:xfrm>
        </p:grpSpPr>
        <p:sp>
          <p:nvSpPr>
            <p:cNvPr id="73" name="矩形 72"/>
            <p:cNvSpPr/>
            <p:nvPr/>
          </p:nvSpPr>
          <p:spPr>
            <a:xfrm>
              <a:off x="5457" y="1090"/>
              <a:ext cx="10553" cy="107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8" name="图片 7"/>
            <p:cNvPicPr/>
            <p:nvPr/>
          </p:nvPicPr>
          <p:blipFill>
            <a:blip r:embed="rId1"/>
            <a:srcRect r="23787" b="5455"/>
            <a:stretch>
              <a:fillRect/>
            </a:stretch>
          </p:blipFill>
          <p:spPr>
            <a:xfrm>
              <a:off x="5683" y="2161"/>
              <a:ext cx="9394" cy="5868"/>
            </a:xfrm>
            <a:prstGeom prst="rect">
              <a:avLst/>
            </a:prstGeom>
          </p:spPr>
        </p:pic>
        <p:sp>
          <p:nvSpPr>
            <p:cNvPr id="31" name="文本框 30"/>
            <p:cNvSpPr txBox="1"/>
            <p:nvPr/>
          </p:nvSpPr>
          <p:spPr>
            <a:xfrm>
              <a:off x="6120" y="1175"/>
              <a:ext cx="9268" cy="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dirty="0"/>
                <a:t>Vertical - Height</a:t>
              </a:r>
              <a:endParaRPr lang="en-US" altLang="zh-CN" sz="1350" dirty="0"/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8369" y="9019"/>
              <a:ext cx="56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Vertical Profile Categories</a:t>
              </a:r>
              <a:endParaRPr lang="en-US" altLang="zh-CN" sz="845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70" name="组合 69"/>
            <p:cNvGrpSpPr/>
            <p:nvPr/>
          </p:nvGrpSpPr>
          <p:grpSpPr>
            <a:xfrm>
              <a:off x="6974" y="1967"/>
              <a:ext cx="7820" cy="7632"/>
              <a:chOff x="3143" y="2576"/>
              <a:chExt cx="7072" cy="6901"/>
            </a:xfrm>
          </p:grpSpPr>
          <p:sp>
            <p:nvSpPr>
              <p:cNvPr id="10" name="文本框 9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  <a:endParaRPr lang="en-US" altLang="zh-CN" sz="1015"/>
              </a:p>
            </p:txBody>
          </p:sp>
          <p:sp>
            <p:nvSpPr>
              <p:cNvPr id="11" name="文本框 10"/>
              <p:cNvSpPr txBox="1"/>
              <p:nvPr/>
            </p:nvSpPr>
            <p:spPr>
              <a:xfrm>
                <a:off x="5397" y="8058"/>
                <a:ext cx="2558" cy="14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  <a:endParaRPr lang="en-US" altLang="zh-CN" sz="1015"/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8099" y="8058"/>
                <a:ext cx="2116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  <a:endParaRPr lang="en-US" altLang="zh-CN" sz="1015">
                  <a:ea typeface="宋体" panose="02010600030101010101" pitchFamily="2" charset="-122"/>
                </a:endParaRP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  <a:endParaRPr lang="en-US" altLang="zh-CN" sz="1015">
                  <a:ea typeface="宋体" panose="02010600030101010101" pitchFamily="2" charset="-122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3143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4118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5642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6617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8141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9116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</p:grpSp>
        <p:sp>
          <p:nvSpPr>
            <p:cNvPr id="18" name="矩形 17"/>
            <p:cNvSpPr/>
            <p:nvPr/>
          </p:nvSpPr>
          <p:spPr>
            <a:xfrm>
              <a:off x="7005" y="9636"/>
              <a:ext cx="619" cy="442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9" name="矩形 18"/>
            <p:cNvSpPr/>
            <p:nvPr/>
          </p:nvSpPr>
          <p:spPr>
            <a:xfrm>
              <a:off x="7005" y="10214"/>
              <a:ext cx="619" cy="442"/>
            </a:xfrm>
            <a:prstGeom prst="rect">
              <a:avLst/>
            </a:prstGeom>
            <a:solidFill>
              <a:srgbClr val="FC8D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7740" y="9636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Crown</a:t>
              </a:r>
              <a:endParaRPr lang="en-US" altLang="zh-CN" sz="845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740" y="10182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Pyramid</a:t>
              </a:r>
              <a:endParaRPr lang="en-US" altLang="zh-CN" sz="845"/>
            </a:p>
          </p:txBody>
        </p:sp>
        <p:sp>
          <p:nvSpPr>
            <p:cNvPr id="46" name="矩形 45"/>
            <p:cNvSpPr/>
            <p:nvPr/>
          </p:nvSpPr>
          <p:spPr>
            <a:xfrm>
              <a:off x="7005" y="10792"/>
              <a:ext cx="619" cy="442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7740" y="10728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Volcanic</a:t>
              </a:r>
              <a:endParaRPr lang="en-US" altLang="zh-CN" sz="845"/>
            </a:p>
          </p:txBody>
        </p:sp>
        <p:sp>
          <p:nvSpPr>
            <p:cNvPr id="48" name="矩形 47"/>
            <p:cNvSpPr/>
            <p:nvPr/>
          </p:nvSpPr>
          <p:spPr>
            <a:xfrm>
              <a:off x="11399" y="10812"/>
              <a:ext cx="653" cy="442"/>
            </a:xfrm>
            <a:prstGeom prst="rect">
              <a:avLst/>
            </a:prstGeom>
            <a:solidFill>
              <a:srgbClr val="E5C49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2163" y="10784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Pyramid</a:t>
              </a:r>
              <a:endParaRPr lang="en-US" altLang="zh-CN" sz="845"/>
            </a:p>
          </p:txBody>
        </p:sp>
        <p:sp>
          <p:nvSpPr>
            <p:cNvPr id="50" name="矩形 49"/>
            <p:cNvSpPr/>
            <p:nvPr/>
          </p:nvSpPr>
          <p:spPr>
            <a:xfrm>
              <a:off x="11399" y="9636"/>
              <a:ext cx="653" cy="442"/>
            </a:xfrm>
            <a:prstGeom prst="rect">
              <a:avLst/>
            </a:prstGeom>
            <a:solidFill>
              <a:srgbClr val="A6D85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1" name="矩形 50"/>
            <p:cNvSpPr/>
            <p:nvPr/>
          </p:nvSpPr>
          <p:spPr>
            <a:xfrm>
              <a:off x="11399" y="10242"/>
              <a:ext cx="653" cy="442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2163" y="9636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Bowl</a:t>
              </a:r>
              <a:endParaRPr lang="en-US" altLang="zh-CN" sz="845"/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2163" y="10210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Crown</a:t>
              </a:r>
              <a:endParaRPr lang="en-US" altLang="zh-CN" sz="845"/>
            </a:p>
          </p:txBody>
        </p:sp>
        <p:sp>
          <p:nvSpPr>
            <p:cNvPr id="6" name="矩形 5"/>
            <p:cNvSpPr/>
            <p:nvPr/>
          </p:nvSpPr>
          <p:spPr>
            <a:xfrm>
              <a:off x="11399" y="11403"/>
              <a:ext cx="653" cy="442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2163" y="11358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Volcanic</a:t>
              </a:r>
              <a:endParaRPr lang="en-US" altLang="zh-CN" sz="845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组合 79"/>
          <p:cNvGrpSpPr/>
          <p:nvPr/>
        </p:nvGrpSpPr>
        <p:grpSpPr>
          <a:xfrm>
            <a:off x="4507590" y="9564133"/>
            <a:ext cx="5570421" cy="417915"/>
            <a:chOff x="3800" y="12996"/>
            <a:chExt cx="15595" cy="1170"/>
          </a:xfrm>
        </p:grpSpPr>
        <p:sp>
          <p:nvSpPr>
            <p:cNvPr id="62" name="文本框 61"/>
            <p:cNvSpPr txBox="1"/>
            <p:nvPr/>
          </p:nvSpPr>
          <p:spPr>
            <a:xfrm>
              <a:off x="14959" y="13004"/>
              <a:ext cx="4436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2016</a:t>
              </a:r>
              <a:endParaRPr lang="en-US" altLang="zh-CN" sz="900"/>
            </a:p>
          </p:txBody>
        </p:sp>
        <p:sp>
          <p:nvSpPr>
            <p:cNvPr id="64" name="乘号 63"/>
            <p:cNvSpPr/>
            <p:nvPr/>
          </p:nvSpPr>
          <p:spPr>
            <a:xfrm>
              <a:off x="3800" y="13009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70" name="文本框 69"/>
            <p:cNvSpPr txBox="1"/>
            <p:nvPr/>
          </p:nvSpPr>
          <p:spPr>
            <a:xfrm>
              <a:off x="4299" y="13022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2016</a:t>
              </a:r>
              <a:endParaRPr lang="en-US" altLang="zh-CN" sz="900"/>
            </a:p>
          </p:txBody>
        </p:sp>
        <p:sp>
          <p:nvSpPr>
            <p:cNvPr id="71" name="乘号 70"/>
            <p:cNvSpPr/>
            <p:nvPr/>
          </p:nvSpPr>
          <p:spPr>
            <a:xfrm>
              <a:off x="3800" y="13523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4299" y="13522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2023</a:t>
              </a:r>
              <a:endParaRPr lang="en-US" altLang="zh-CN" sz="900"/>
            </a:p>
          </p:txBody>
        </p:sp>
        <p:sp>
          <p:nvSpPr>
            <p:cNvPr id="73" name="乘号 72"/>
            <p:cNvSpPr/>
            <p:nvPr/>
          </p:nvSpPr>
          <p:spPr>
            <a:xfrm>
              <a:off x="8011" y="13009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74" name="文本框 73"/>
            <p:cNvSpPr txBox="1"/>
            <p:nvPr/>
          </p:nvSpPr>
          <p:spPr>
            <a:xfrm>
              <a:off x="8533" y="12996"/>
              <a:ext cx="5621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2016</a:t>
              </a:r>
              <a:endParaRPr lang="zh-CN" altLang="en-US" sz="9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75" name="乘号 74"/>
            <p:cNvSpPr/>
            <p:nvPr/>
          </p:nvSpPr>
          <p:spPr>
            <a:xfrm>
              <a:off x="8011" y="13523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76" name="文本框 75"/>
            <p:cNvSpPr txBox="1"/>
            <p:nvPr/>
          </p:nvSpPr>
          <p:spPr>
            <a:xfrm>
              <a:off x="8533" y="13483"/>
              <a:ext cx="5620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2023</a:t>
              </a:r>
              <a:endParaRPr lang="en-US" altLang="zh-CN" sz="900"/>
            </a:p>
          </p:txBody>
        </p:sp>
        <p:sp>
          <p:nvSpPr>
            <p:cNvPr id="77" name="乘号 76"/>
            <p:cNvSpPr/>
            <p:nvPr/>
          </p:nvSpPr>
          <p:spPr>
            <a:xfrm>
              <a:off x="14475" y="13009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78" name="乘号 77"/>
            <p:cNvSpPr/>
            <p:nvPr/>
          </p:nvSpPr>
          <p:spPr>
            <a:xfrm>
              <a:off x="14475" y="13523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14959" y="13495"/>
              <a:ext cx="425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2023</a:t>
              </a:r>
              <a:endParaRPr lang="en-US" altLang="zh-CN" sz="900"/>
            </a:p>
          </p:txBody>
        </p:sp>
      </p:grpSp>
      <p:grpSp>
        <p:nvGrpSpPr>
          <p:cNvPr id="30" name="组合 29"/>
          <p:cNvGrpSpPr/>
          <p:nvPr/>
        </p:nvGrpSpPr>
        <p:grpSpPr>
          <a:xfrm>
            <a:off x="3150258" y="5231028"/>
            <a:ext cx="8100059" cy="4051427"/>
            <a:chOff x="0" y="865"/>
            <a:chExt cx="22677" cy="11342"/>
          </a:xfrm>
        </p:grpSpPr>
        <p:sp>
          <p:nvSpPr>
            <p:cNvPr id="66" name="矩形 65"/>
            <p:cNvSpPr/>
            <p:nvPr/>
          </p:nvSpPr>
          <p:spPr>
            <a:xfrm>
              <a:off x="0" y="865"/>
              <a:ext cx="22677" cy="108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4" name="图片 3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314" y="2846"/>
              <a:ext cx="21426" cy="7022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231" y="-696"/>
              <a:ext cx="614" cy="20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7" name="矩形 6"/>
            <p:cNvSpPr/>
            <p:nvPr/>
          </p:nvSpPr>
          <p:spPr>
            <a:xfrm>
              <a:off x="181" y="2595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5" name="矩形 4"/>
            <p:cNvSpPr/>
            <p:nvPr/>
          </p:nvSpPr>
          <p:spPr>
            <a:xfrm>
              <a:off x="7428" y="2414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6" name="矩形 5"/>
            <p:cNvSpPr/>
            <p:nvPr/>
          </p:nvSpPr>
          <p:spPr>
            <a:xfrm>
              <a:off x="14693" y="2559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- Height</a:t>
                  </a:r>
                  <a:endParaRPr lang="en-US" altLang="zh-CN" sz="1575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615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  <a:endParaRPr lang="en-US" altLang="zh-CN" sz="1125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89" y="7990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-0.4</a:t>
              </a:r>
              <a:endParaRPr lang="en-US" altLang="zh-CN" sz="1125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548" y="9308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  <a:endParaRPr lang="en-US" altLang="zh-CN" sz="112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5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73" y="255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5589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  <a:endParaRPr lang="en-US" altLang="zh-CN" sz="1125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01" y="3840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4" y="5906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-0.2</a:t>
              </a:r>
              <a:endParaRPr lang="en-US" altLang="zh-CN" sz="1125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1011" y="9353"/>
              <a:ext cx="792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-0.2</a:t>
              </a:r>
              <a:endParaRPr lang="en-US" altLang="zh-CN" sz="1125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7207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  <a:endParaRPr lang="en-US" altLang="zh-CN" sz="112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934" y="9353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-0.4</a:t>
              </a:r>
              <a:endParaRPr lang="en-US" altLang="zh-CN" sz="1125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786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8003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3294" y="9353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207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07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  <a:endParaRPr lang="en-US" altLang="zh-CN" sz="1125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207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  <a:endParaRPr lang="en-US" altLang="zh-CN" sz="1125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7207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  <a:endParaRPr lang="en-US" altLang="zh-CN" sz="1125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8125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  <a:endParaRPr lang="en-US" altLang="zh-CN" sz="1125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6058" y="936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  <a:endParaRPr lang="en-US" altLang="zh-CN" sz="1125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06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20099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  <a:endParaRPr lang="en-US" altLang="zh-CN" sz="1125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4496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  <a:endParaRPr lang="en-US" altLang="zh-CN" sz="1125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5292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4496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4496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  <a:endParaRPr lang="en-US" altLang="zh-CN" sz="1125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4496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  <a:endParaRPr lang="en-US" altLang="zh-CN" sz="1125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4496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  <a:endParaRPr lang="en-US" altLang="zh-CN" sz="1125"/>
            </a:p>
          </p:txBody>
        </p:sp>
        <p:grpSp>
          <p:nvGrpSpPr>
            <p:cNvPr id="82" name="组合 81"/>
            <p:cNvGrpSpPr/>
            <p:nvPr/>
          </p:nvGrpSpPr>
          <p:grpSpPr>
            <a:xfrm>
              <a:off x="3058" y="10523"/>
              <a:ext cx="16034" cy="1684"/>
              <a:chOff x="3914" y="9142"/>
              <a:chExt cx="14213" cy="1493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14959" y="9142"/>
                <a:ext cx="3168" cy="10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  <a:endParaRPr lang="en-US" altLang="zh-CN" sz="1015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4589" y="9256"/>
                <a:ext cx="257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4589" y="9719"/>
                <a:ext cx="257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4959" y="9633"/>
                <a:ext cx="3168" cy="10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  <a:endParaRPr lang="en-US" altLang="zh-CN" sz="1015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4299" y="91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  <a:endParaRPr lang="en-US" altLang="zh-CN" sz="1015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3914" y="9256"/>
                <a:ext cx="257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3914" y="9719"/>
                <a:ext cx="257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299" y="96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  <a:endParaRPr lang="en-US" altLang="zh-CN" sz="1015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533" y="9142"/>
                <a:ext cx="4557" cy="10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  <a:endParaRPr lang="en-US" altLang="zh-CN" sz="1015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8125" y="9256"/>
                <a:ext cx="257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8125" y="9719"/>
                <a:ext cx="257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8533" y="9629"/>
                <a:ext cx="4557" cy="10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  <a:endParaRPr lang="en-US" altLang="zh-CN" sz="1015">
                  <a:sym typeface="+mn-ea"/>
                </a:endParaRPr>
              </a:p>
            </p:txBody>
          </p:sp>
        </p:grpSp>
        <p:cxnSp>
          <p:nvCxnSpPr>
            <p:cNvPr id="32" name="直接连接符 31"/>
            <p:cNvCxnSpPr/>
            <p:nvPr/>
          </p:nvCxnSpPr>
          <p:spPr>
            <a:xfrm>
              <a:off x="8440" y="7532"/>
              <a:ext cx="5925" cy="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/>
            <p:nvPr/>
          </p:nvCxnSpPr>
          <p:spPr>
            <a:xfrm flipH="1">
              <a:off x="13410" y="3068"/>
              <a:ext cx="27" cy="6191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" name="TextBox 190"/>
            <p:cNvSpPr txBox="1"/>
            <p:nvPr/>
          </p:nvSpPr>
          <p:spPr>
            <a:xfrm>
              <a:off x="8494" y="6734"/>
              <a:ext cx="1830" cy="79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B&lt;0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“Crown”City</a:t>
              </a:r>
              <a:endParaRPr lang="en-US" altLang="zh-CN" sz="79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5126" name="TextBox 190"/>
            <p:cNvSpPr txBox="1"/>
            <p:nvPr/>
          </p:nvSpPr>
          <p:spPr>
            <a:xfrm>
              <a:off x="8494" y="7532"/>
              <a:ext cx="2140" cy="872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B&lt;0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“Pyramid”City</a:t>
              </a:r>
              <a:endParaRPr lang="en-US" altLang="zh-CN" sz="790">
                <a:latin typeface="Arial" panose="020B0604020202020204" pitchFamily="34" charset="0"/>
                <a:sym typeface="+mn-ea"/>
              </a:endParaRPr>
            </a:p>
          </p:txBody>
        </p:sp>
        <p:cxnSp>
          <p:nvCxnSpPr>
            <p:cNvPr id="52" name="曲线连接符 51"/>
            <p:cNvCxnSpPr/>
            <p:nvPr/>
          </p:nvCxnSpPr>
          <p:spPr>
            <a:xfrm rot="5400000" flipV="1">
              <a:off x="13512" y="9267"/>
              <a:ext cx="958" cy="171"/>
            </a:xfrm>
            <a:prstGeom prst="curvedConnector3">
              <a:avLst>
                <a:gd name="adj1" fmla="val 50052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27" name="TextBox 191"/>
            <p:cNvSpPr txBox="1"/>
            <p:nvPr/>
          </p:nvSpPr>
          <p:spPr>
            <a:xfrm>
              <a:off x="13163" y="9839"/>
              <a:ext cx="2894" cy="81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B&gt;0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“Volcanic Cone” City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</p:txBody>
        </p:sp>
        <p:cxnSp>
          <p:nvCxnSpPr>
            <p:cNvPr id="53" name="曲线连接符 52"/>
            <p:cNvCxnSpPr/>
            <p:nvPr/>
          </p:nvCxnSpPr>
          <p:spPr>
            <a:xfrm rot="16200000">
              <a:off x="13764" y="2715"/>
              <a:ext cx="663" cy="622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63" name="TextBox 264"/>
            <p:cNvSpPr txBox="1"/>
            <p:nvPr/>
          </p:nvSpPr>
          <p:spPr>
            <a:xfrm>
              <a:off x="14044" y="1892"/>
              <a:ext cx="1805" cy="80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B&gt;0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“Bowl” City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/>
          <p:nvPr/>
        </p:nvPicPr>
        <p:blipFill>
          <a:blip r:embed="rId1"/>
          <a:srcRect l="50166" t="71" r="-5" b="-71"/>
          <a:stretch>
            <a:fillRect/>
          </a:stretch>
        </p:blipFill>
        <p:spPr>
          <a:xfrm>
            <a:off x="7081879" y="9654860"/>
            <a:ext cx="3248311" cy="2563573"/>
          </a:xfrm>
          <a:prstGeom prst="rect">
            <a:avLst/>
          </a:prstGeom>
        </p:spPr>
      </p:pic>
      <p:pic>
        <p:nvPicPr>
          <p:cNvPr id="6" name="图片 5"/>
          <p:cNvPicPr/>
          <p:nvPr/>
        </p:nvPicPr>
        <p:blipFill>
          <a:blip r:embed="rId1"/>
          <a:srcRect r="50161"/>
          <a:stretch>
            <a:fillRect/>
          </a:stretch>
        </p:blipFill>
        <p:spPr>
          <a:xfrm>
            <a:off x="3507808" y="9663433"/>
            <a:ext cx="3248311" cy="2563573"/>
          </a:xfrm>
          <a:prstGeom prst="rect">
            <a:avLst/>
          </a:prstGeom>
        </p:spPr>
      </p:pic>
      <p:sp>
        <p:nvSpPr>
          <p:cNvPr id="66" name="矩形 65"/>
          <p:cNvSpPr/>
          <p:nvPr/>
        </p:nvSpPr>
        <p:spPr>
          <a:xfrm>
            <a:off x="3324925" y="5370690"/>
            <a:ext cx="7104564" cy="38148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 dirty="0"/>
          </a:p>
        </p:txBody>
      </p:sp>
      <p:grpSp>
        <p:nvGrpSpPr>
          <p:cNvPr id="30" name="Group 29"/>
          <p:cNvGrpSpPr/>
          <p:nvPr/>
        </p:nvGrpSpPr>
        <p:grpSpPr>
          <a:xfrm>
            <a:off x="3381362" y="5443915"/>
            <a:ext cx="6929897" cy="3798388"/>
            <a:chOff x="410845" y="927735"/>
            <a:chExt cx="12319635" cy="6752590"/>
          </a:xfrm>
        </p:grpSpPr>
        <p:grpSp>
          <p:nvGrpSpPr>
            <p:cNvPr id="64" name="组合 63"/>
            <p:cNvGrpSpPr/>
            <p:nvPr/>
          </p:nvGrpSpPr>
          <p:grpSpPr>
            <a:xfrm>
              <a:off x="410845" y="927735"/>
              <a:ext cx="12319635" cy="6752590"/>
              <a:chOff x="647" y="1461"/>
              <a:chExt cx="19401" cy="10634"/>
            </a:xfrm>
          </p:grpSpPr>
          <p:pic>
            <p:nvPicPr>
              <p:cNvPr id="11" name="图片 10"/>
              <p:cNvPicPr>
                <a:picLocks noChangeAspect="1"/>
              </p:cNvPicPr>
              <p:nvPr/>
            </p:nvPicPr>
            <p:blipFill>
              <a:blip r:embed="rId2"/>
              <a:srcRect t="1124"/>
              <a:stretch>
                <a:fillRect/>
              </a:stretch>
            </p:blipFill>
            <p:spPr>
              <a:xfrm>
                <a:off x="647" y="2767"/>
                <a:ext cx="19200" cy="7920"/>
              </a:xfrm>
              <a:prstGeom prst="rect">
                <a:avLst/>
              </a:prstGeom>
            </p:spPr>
          </p:pic>
          <p:grpSp>
            <p:nvGrpSpPr>
              <p:cNvPr id="12" name="组合 11"/>
              <p:cNvGrpSpPr/>
              <p:nvPr/>
            </p:nvGrpSpPr>
            <p:grpSpPr>
              <a:xfrm>
                <a:off x="1609" y="9777"/>
                <a:ext cx="8717" cy="993"/>
                <a:chOff x="1420" y="9835"/>
                <a:chExt cx="8717" cy="993"/>
              </a:xfrm>
            </p:grpSpPr>
            <p:sp>
              <p:nvSpPr>
                <p:cNvPr id="8" name="矩形 7"/>
                <p:cNvSpPr/>
                <p:nvPr/>
              </p:nvSpPr>
              <p:spPr>
                <a:xfrm rot="5400000">
                  <a:off x="5245" y="6010"/>
                  <a:ext cx="993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669" y="992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0%</a:t>
                  </a:r>
                  <a:endParaRPr lang="en-US" altLang="zh-CN" sz="1125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094" y="9937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6%</a:t>
                  </a:r>
                  <a:endParaRPr lang="en-US" altLang="zh-CN" sz="1125"/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2056" y="9861"/>
                  <a:ext cx="1073" cy="5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-6%</a:t>
                  </a:r>
                  <a:endParaRPr lang="en-US" altLang="zh-CN" sz="1125"/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996" y="10251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α)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0507" y="2632"/>
                <a:ext cx="1252" cy="7156"/>
                <a:chOff x="10399" y="3051"/>
                <a:chExt cx="1252" cy="7054"/>
              </a:xfrm>
            </p:grpSpPr>
            <p:sp>
              <p:nvSpPr>
                <p:cNvPr id="14" name="矩形 13"/>
                <p:cNvSpPr/>
                <p:nvPr/>
              </p:nvSpPr>
              <p:spPr>
                <a:xfrm>
                  <a:off x="10399" y="3051"/>
                  <a:ext cx="1252" cy="705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 useBgFill="1">
              <p:nvSpPr>
                <p:cNvPr id="48" name="文本框 47"/>
                <p:cNvSpPr txBox="1"/>
                <p:nvPr/>
              </p:nvSpPr>
              <p:spPr>
                <a:xfrm>
                  <a:off x="10485" y="3678"/>
                  <a:ext cx="1069" cy="442"/>
                </a:xfrm>
                <a:prstGeom prst="rect">
                  <a:avLst/>
                </a:prstGeom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0.04</a:t>
                  </a:r>
                  <a:endParaRPr lang="en-US" altLang="zh-CN" sz="1125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0740" y="6129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  <a:endParaRPr lang="en-US" altLang="zh-CN" sz="1125"/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10798" y="3051"/>
                  <a:ext cx="853" cy="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10400" y="8553"/>
                  <a:ext cx="115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-0.04</a:t>
                  </a:r>
                  <a:endParaRPr lang="en-US" altLang="zh-CN" sz="1125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838" y="1461"/>
                    <a:ext cx="8139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Change of Structural Zero Params</a:t>
                    </a:r>
                    <a:endPara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8" y="1461"/>
                    <a:ext cx="8139" cy="1419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4" name="组合 23"/>
              <p:cNvGrpSpPr/>
              <p:nvPr/>
            </p:nvGrpSpPr>
            <p:grpSpPr>
              <a:xfrm>
                <a:off x="647" y="2767"/>
                <a:ext cx="1442" cy="6919"/>
                <a:chOff x="647" y="3188"/>
                <a:chExt cx="1442" cy="6919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647" y="3189"/>
                  <a:ext cx="1442" cy="691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902" y="4069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0.08</a:t>
                  </a:r>
                  <a:endParaRPr lang="en-US" altLang="zh-CN" sz="1125"/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735" y="7457"/>
                  <a:ext cx="1103" cy="40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  <a:endParaRPr lang="en-US" altLang="zh-CN" sz="1125"/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001" y="3188"/>
                  <a:ext cx="993" cy="42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902" y="9157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-0.04</a:t>
                  </a:r>
                  <a:endParaRPr lang="en-US" altLang="zh-CN" sz="1125"/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902" y="5743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0.04</a:t>
                  </a:r>
                  <a:endParaRPr lang="en-US" altLang="zh-CN" sz="1125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11204" y="1621"/>
                    <a:ext cx="8844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Change of Actual Construction Params</a:t>
                    </a:r>
                    <a:endPara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04" y="1621"/>
                    <a:ext cx="8844" cy="1419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" name="组合 19"/>
              <p:cNvGrpSpPr/>
              <p:nvPr/>
            </p:nvGrpSpPr>
            <p:grpSpPr>
              <a:xfrm>
                <a:off x="11204" y="9686"/>
                <a:ext cx="8643" cy="1009"/>
                <a:chOff x="11000" y="9740"/>
                <a:chExt cx="8643" cy="1009"/>
              </a:xfrm>
            </p:grpSpPr>
            <p:sp>
              <p:nvSpPr>
                <p:cNvPr id="15" name="矩形 14"/>
                <p:cNvSpPr/>
                <p:nvPr/>
              </p:nvSpPr>
              <p:spPr>
                <a:xfrm rot="5400000">
                  <a:off x="14817" y="5923"/>
                  <a:ext cx="1009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6551" y="10182"/>
                  <a:ext cx="3092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κ)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" name="文本框 45"/>
                <p:cNvSpPr txBox="1"/>
                <p:nvPr/>
              </p:nvSpPr>
              <p:spPr>
                <a:xfrm>
                  <a:off x="18460" y="983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6%</a:t>
                  </a:r>
                  <a:endParaRPr lang="en-US" altLang="zh-CN" sz="1125"/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2824" y="983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-2%</a:t>
                  </a:r>
                  <a:endParaRPr lang="en-US" altLang="zh-CN" sz="1125"/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303" y="983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0%</a:t>
                  </a:r>
                  <a:endParaRPr lang="en-US" altLang="zh-CN" sz="1125"/>
                </a:p>
              </p:txBody>
            </p:sp>
            <p:sp>
              <p:nvSpPr>
                <p:cNvPr id="10" name="文本框 9"/>
                <p:cNvSpPr txBox="1"/>
                <p:nvPr/>
              </p:nvSpPr>
              <p:spPr>
                <a:xfrm>
                  <a:off x="15796" y="9844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2%</a:t>
                  </a:r>
                  <a:endParaRPr lang="en-US" altLang="zh-CN" sz="1125"/>
                </a:p>
              </p:txBody>
            </p:sp>
          </p:grpSp>
          <p:grpSp>
            <p:nvGrpSpPr>
              <p:cNvPr id="59" name="组合 58"/>
              <p:cNvGrpSpPr/>
              <p:nvPr/>
            </p:nvGrpSpPr>
            <p:grpSpPr>
              <a:xfrm>
                <a:off x="6986" y="10883"/>
                <a:ext cx="8899" cy="1212"/>
                <a:chOff x="6124" y="10847"/>
                <a:chExt cx="8899" cy="1212"/>
              </a:xfrm>
            </p:grpSpPr>
            <p:sp>
              <p:nvSpPr>
                <p:cNvPr id="33" name="文本框 32"/>
                <p:cNvSpPr txBox="1"/>
                <p:nvPr/>
              </p:nvSpPr>
              <p:spPr>
                <a:xfrm>
                  <a:off x="12483" y="10892"/>
                  <a:ext cx="2540" cy="11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/>
                    <a:t>Latin America</a:t>
                  </a:r>
                  <a:endParaRPr lang="en-US" altLang="zh-CN" sz="1015"/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6331" y="10928"/>
                  <a:ext cx="1310" cy="11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/>
                    <a:t>Africa</a:t>
                  </a:r>
                  <a:endParaRPr lang="en-US" altLang="zh-CN" sz="1015"/>
                </a:p>
              </p:txBody>
            </p:sp>
            <p:sp>
              <p:nvSpPr>
                <p:cNvPr id="31" name="文本框 30"/>
                <p:cNvSpPr txBox="1"/>
                <p:nvPr/>
              </p:nvSpPr>
              <p:spPr>
                <a:xfrm>
                  <a:off x="8012" y="10915"/>
                  <a:ext cx="4471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/>
                    <a:t>South&amp;South-east Asia</a:t>
                  </a:r>
                  <a:endParaRPr lang="en-US" altLang="zh-CN" sz="1015"/>
                </a:p>
              </p:txBody>
            </p:sp>
            <p:sp>
              <p:nvSpPr>
                <p:cNvPr id="56" name="上箭头 55"/>
                <p:cNvSpPr/>
                <p:nvPr/>
              </p:nvSpPr>
              <p:spPr>
                <a:xfrm>
                  <a:off x="12193" y="10847"/>
                  <a:ext cx="290" cy="651"/>
                </a:xfrm>
                <a:prstGeom prst="upArrow">
                  <a:avLst>
                    <a:gd name="adj1" fmla="val 50000"/>
                    <a:gd name="adj2" fmla="val 101034"/>
                  </a:avLst>
                </a:prstGeom>
                <a:solidFill>
                  <a:srgbClr val="47A2DE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7" name="上箭头 56"/>
                <p:cNvSpPr/>
                <p:nvPr/>
              </p:nvSpPr>
              <p:spPr>
                <a:xfrm>
                  <a:off x="6124" y="10860"/>
                  <a:ext cx="290" cy="651"/>
                </a:xfrm>
                <a:prstGeom prst="upArrow">
                  <a:avLst>
                    <a:gd name="adj1" fmla="val 50000"/>
                    <a:gd name="adj2" fmla="val 93103"/>
                  </a:avLst>
                </a:prstGeom>
                <a:solidFill>
                  <a:srgbClr val="E85748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58" name="上箭头 57"/>
                <p:cNvSpPr/>
                <p:nvPr/>
              </p:nvSpPr>
              <p:spPr>
                <a:xfrm>
                  <a:off x="7810" y="10847"/>
                  <a:ext cx="290" cy="651"/>
                </a:xfrm>
                <a:prstGeom prst="upArrow">
                  <a:avLst>
                    <a:gd name="adj1" fmla="val 50000"/>
                    <a:gd name="adj2" fmla="val 108620"/>
                  </a:avLst>
                </a:prstGeom>
                <a:solidFill>
                  <a:srgbClr val="F39F1B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cxnSp>
            <p:nvCxnSpPr>
              <p:cNvPr id="60" name="直接连接符 59"/>
              <p:cNvCxnSpPr/>
              <p:nvPr/>
            </p:nvCxnSpPr>
            <p:spPr>
              <a:xfrm>
                <a:off x="2172" y="7254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1" name="直接连接符 60"/>
              <p:cNvCxnSpPr/>
              <p:nvPr/>
            </p:nvCxnSpPr>
            <p:spPr>
              <a:xfrm>
                <a:off x="11827" y="5929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2" name="直接连接符 61"/>
              <p:cNvCxnSpPr/>
              <p:nvPr/>
            </p:nvCxnSpPr>
            <p:spPr>
              <a:xfrm>
                <a:off x="6161" y="2821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3" name="直接连接符 62"/>
              <p:cNvCxnSpPr/>
              <p:nvPr/>
            </p:nvCxnSpPr>
            <p:spPr>
              <a:xfrm>
                <a:off x="14719" y="2780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2" name="文本框 1"/>
            <p:cNvSpPr txBox="1"/>
            <p:nvPr/>
          </p:nvSpPr>
          <p:spPr>
            <a:xfrm>
              <a:off x="2385695" y="185928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36%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4068445" y="185928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12%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1639570" y="534797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22%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897120" y="534797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30%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7593965" y="185928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8%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593965" y="534797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21%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10901680" y="534797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27%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0901680" y="185928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44%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组合 61"/>
          <p:cNvGrpSpPr/>
          <p:nvPr/>
        </p:nvGrpSpPr>
        <p:grpSpPr>
          <a:xfrm>
            <a:off x="675878" y="5314333"/>
            <a:ext cx="8440822" cy="3483701"/>
            <a:chOff x="-90" y="613"/>
            <a:chExt cx="23631" cy="9753"/>
          </a:xfrm>
        </p:grpSpPr>
        <p:sp>
          <p:nvSpPr>
            <p:cNvPr id="66" name="矩形 65"/>
            <p:cNvSpPr/>
            <p:nvPr/>
          </p:nvSpPr>
          <p:spPr>
            <a:xfrm>
              <a:off x="-90" y="613"/>
              <a:ext cx="23631" cy="943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2" name="图片 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-22" y="2588"/>
              <a:ext cx="15122" cy="6309"/>
            </a:xfrm>
            <a:prstGeom prst="rect">
              <a:avLst/>
            </a:prstGeom>
          </p:spPr>
        </p:pic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2"/>
            <a:srcRect r="49995"/>
            <a:stretch>
              <a:fillRect/>
            </a:stretch>
          </p:blipFill>
          <p:spPr>
            <a:xfrm>
              <a:off x="15100" y="2617"/>
              <a:ext cx="7526" cy="628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994" y="-2399"/>
              <a:ext cx="923" cy="2203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7" name="矩形 6"/>
            <p:cNvSpPr/>
            <p:nvPr/>
          </p:nvSpPr>
          <p:spPr>
            <a:xfrm>
              <a:off x="223" y="2210"/>
              <a:ext cx="924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5" name="矩形 4"/>
            <p:cNvSpPr/>
            <p:nvPr/>
          </p:nvSpPr>
          <p:spPr>
            <a:xfrm>
              <a:off x="7567" y="2103"/>
              <a:ext cx="1157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4559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223" y="7018"/>
              <a:ext cx="92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-0.04</a:t>
              </a:r>
              <a:endParaRPr lang="en-US" altLang="zh-CN" sz="1125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12" y="8234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  <a:endParaRPr lang="en-US" altLang="zh-CN" sz="112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701" y="8234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38" y="2355"/>
              <a:ext cx="73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51" y="5535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320" y="4111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>
                  <a:ea typeface="宋体" panose="02010600030101010101" pitchFamily="2" charset="-122"/>
                </a:rPr>
                <a:t>0.04</a:t>
              </a:r>
              <a:endParaRPr lang="en-US" altLang="zh-CN" sz="1125">
                <a:ea typeface="宋体" panose="02010600030101010101" pitchFamily="2" charset="-122"/>
              </a:endParaRP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9197" y="81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-0.04</a:t>
              </a:r>
              <a:endParaRPr lang="en-US" altLang="zh-CN" sz="112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12792" y="8156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0.04</a:t>
              </a:r>
              <a:endParaRPr lang="en-US" altLang="zh-CN" sz="1125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4077" y="8156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7847" y="2274"/>
              <a:ext cx="96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385" y="8156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674" y="512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59" y="6437"/>
              <a:ext cx="1416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-0.005</a:t>
              </a:r>
              <a:endParaRPr lang="en-US" altLang="zh-CN" sz="1015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573" y="369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0.005</a:t>
              </a:r>
              <a:endParaRPr lang="en-US" altLang="zh-CN" sz="1015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2027" y="8234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5100" y="2263"/>
              <a:ext cx="999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2988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  <a:endParaRPr lang="en-US" altLang="zh-CN" sz="1125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6130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  <a:endParaRPr lang="en-US" altLang="zh-CN" sz="1125"/>
            </a:p>
          </p:txBody>
        </p:sp>
        <p:sp>
          <p:nvSpPr>
            <p:cNvPr id="46" name="矩形 45"/>
            <p:cNvSpPr/>
            <p:nvPr/>
          </p:nvSpPr>
          <p:spPr>
            <a:xfrm>
              <a:off x="15141" y="2103"/>
              <a:ext cx="1157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5248" y="512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14833" y="6437"/>
              <a:ext cx="1416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-0.005</a:t>
              </a:r>
              <a:endParaRPr lang="en-US" altLang="zh-CN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5147" y="369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0.005</a:t>
              </a:r>
              <a:endParaRPr lang="en-US" altLang="zh-CN" sz="1015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9716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6469" y="8234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  <a:endParaRPr lang="en-US" altLang="zh-CN" sz="1125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8145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  <a:endParaRPr lang="en-US" altLang="zh-CN" sz="1125"/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21287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  <a:endParaRPr lang="en-US" altLang="zh-CN" sz="1125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文本框 54"/>
                <p:cNvSpPr txBox="1"/>
                <p:nvPr/>
              </p:nvSpPr>
              <p:spPr>
                <a:xfrm>
                  <a:off x="4785" y="784"/>
                  <a:ext cx="12486" cy="16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>
                      <a:latin typeface="Arial" panose="020B0604020202020204" pitchFamily="34" charset="0"/>
                      <a:cs typeface="Arial" panose="020B0604020202020204" pitchFamily="34" charset="0"/>
                    </a:rPr>
                    <a:t>Change of Vertical Params</a:t>
                  </a:r>
                  <a:endParaRPr lang="en-US" altLang="zh-CN" sz="1575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5" name="文本框 5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784"/>
                  <a:ext cx="12486" cy="1600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文本框 55"/>
            <p:cNvSpPr txBox="1"/>
            <p:nvPr/>
          </p:nvSpPr>
          <p:spPr>
            <a:xfrm>
              <a:off x="13635" y="9199"/>
              <a:ext cx="2540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15"/>
                <a:t>Latin America</a:t>
              </a:r>
              <a:endParaRPr lang="en-US" altLang="zh-CN" sz="1015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7483" y="9235"/>
              <a:ext cx="1310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15"/>
                <a:t>Africa</a:t>
              </a:r>
              <a:endParaRPr lang="en-US" altLang="zh-CN" sz="1015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9164" y="9222"/>
              <a:ext cx="4471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15"/>
                <a:t>South&amp;South-east Asia</a:t>
              </a:r>
              <a:endParaRPr lang="en-US" altLang="zh-CN" sz="1015"/>
            </a:p>
          </p:txBody>
        </p:sp>
        <p:sp>
          <p:nvSpPr>
            <p:cNvPr id="59" name="上箭头 58"/>
            <p:cNvSpPr/>
            <p:nvPr/>
          </p:nvSpPr>
          <p:spPr>
            <a:xfrm>
              <a:off x="13345" y="9154"/>
              <a:ext cx="290" cy="651"/>
            </a:xfrm>
            <a:prstGeom prst="upArrow">
              <a:avLst>
                <a:gd name="adj1" fmla="val 50000"/>
                <a:gd name="adj2" fmla="val 101034"/>
              </a:avLst>
            </a:prstGeom>
            <a:solidFill>
              <a:srgbClr val="47A2DE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60" name="上箭头 59"/>
            <p:cNvSpPr/>
            <p:nvPr/>
          </p:nvSpPr>
          <p:spPr>
            <a:xfrm>
              <a:off x="7276" y="9167"/>
              <a:ext cx="290" cy="651"/>
            </a:xfrm>
            <a:prstGeom prst="upArrow">
              <a:avLst>
                <a:gd name="adj1" fmla="val 50000"/>
                <a:gd name="adj2" fmla="val 93103"/>
              </a:avLst>
            </a:prstGeom>
            <a:solidFill>
              <a:srgbClr val="E85748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>
                <a:solidFill>
                  <a:srgbClr val="9467BD"/>
                </a:solidFill>
              </a:endParaRPr>
            </a:p>
          </p:txBody>
        </p:sp>
        <p:sp>
          <p:nvSpPr>
            <p:cNvPr id="61" name="上箭头 60"/>
            <p:cNvSpPr/>
            <p:nvPr/>
          </p:nvSpPr>
          <p:spPr>
            <a:xfrm>
              <a:off x="8962" y="9154"/>
              <a:ext cx="290" cy="651"/>
            </a:xfrm>
            <a:prstGeom prst="upArrow">
              <a:avLst>
                <a:gd name="adj1" fmla="val 50000"/>
                <a:gd name="adj2" fmla="val 108620"/>
              </a:avLst>
            </a:prstGeom>
            <a:solidFill>
              <a:srgbClr val="F39F1B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</p:grpSp>
      <p:sp>
        <p:nvSpPr>
          <p:cNvPr id="4" name="文本框 3"/>
          <p:cNvSpPr txBox="1"/>
          <p:nvPr/>
        </p:nvSpPr>
        <p:spPr>
          <a:xfrm>
            <a:off x="6490725" y="5911480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  <a:endParaRPr lang="en-US" altLang="zh-CN" sz="1015">
              <a:latin typeface="Arial" panose="020B0604020202020204" pitchFamily="34" charset="0"/>
              <a:ea typeface="东文宋体" charset="0"/>
              <a:cs typeface="Arial" panose="020B0604020202020204" pitchFamily="34" charset="0"/>
            </a:endParaRPr>
          </a:p>
        </p:txBody>
      </p:sp>
      <p:cxnSp>
        <p:nvCxnSpPr>
          <p:cNvPr id="6" name="直接连接符 5"/>
          <p:cNvCxnSpPr/>
          <p:nvPr/>
        </p:nvCxnSpPr>
        <p:spPr>
          <a:xfrm>
            <a:off x="3586033" y="6978772"/>
            <a:ext cx="220245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4876571" y="5849329"/>
            <a:ext cx="0" cy="1985635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2" name="直接连接符 21"/>
          <p:cNvCxnSpPr/>
          <p:nvPr/>
        </p:nvCxnSpPr>
        <p:spPr>
          <a:xfrm>
            <a:off x="6272123" y="6812320"/>
            <a:ext cx="220245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5" name="直接连接符 24"/>
          <p:cNvCxnSpPr/>
          <p:nvPr/>
        </p:nvCxnSpPr>
        <p:spPr>
          <a:xfrm>
            <a:off x="7264047" y="5854687"/>
            <a:ext cx="0" cy="1985635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/>
        </p:nvCxnSpPr>
        <p:spPr>
          <a:xfrm>
            <a:off x="8984287" y="6830537"/>
            <a:ext cx="220245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" name="直接连接符 26"/>
          <p:cNvCxnSpPr/>
          <p:nvPr/>
        </p:nvCxnSpPr>
        <p:spPr>
          <a:xfrm>
            <a:off x="10283397" y="5882547"/>
            <a:ext cx="0" cy="1985635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7765188" y="6840181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  <a:endParaRPr lang="en-US" altLang="zh-CN" sz="1015">
              <a:latin typeface="Arial" panose="020B0604020202020204" pitchFamily="34" charset="0"/>
              <a:ea typeface="东文宋体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表格 31"/>
              <p:cNvGraphicFramePr/>
              <p:nvPr>
                <p:custDataLst>
                  <p:tags r:id="rId1"/>
                </p:custDataLst>
              </p:nvPr>
            </p:nvGraphicFramePr>
            <p:xfrm>
              <a:off x="8618522" y="10530697"/>
              <a:ext cx="1976120" cy="13595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/>
                    <a:gridCol w="784860"/>
                    <a:gridCol w="648335"/>
                  </a:tblGrid>
                  <a:tr h="1549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  <a:endParaRPr lang="en-US" altLang="zh-CN" sz="79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  <a:endParaRPr lang="en-US" altLang="zh-CN" sz="79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表格 31"/>
              <p:cNvGraphicFramePr/>
              <p:nvPr>
                <p:custDataLst>
                  <p:tags r:id="rId2"/>
                </p:custDataLst>
              </p:nvPr>
            </p:nvGraphicFramePr>
            <p:xfrm>
              <a:off x="8618522" y="10530697"/>
              <a:ext cx="1976120" cy="13595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/>
                    <a:gridCol w="784860"/>
                    <a:gridCol w="648335"/>
                  </a:tblGrid>
                  <a:tr h="1549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  <a:endParaRPr lang="en-US" altLang="zh-CN" sz="79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  <a:endParaRPr lang="en-US" altLang="zh-CN" sz="79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Fallback>
      </mc:AlternateContent>
      <p:grpSp>
        <p:nvGrpSpPr>
          <p:cNvPr id="33" name="组合 32"/>
          <p:cNvGrpSpPr/>
          <p:nvPr/>
        </p:nvGrpSpPr>
        <p:grpSpPr>
          <a:xfrm>
            <a:off x="3248843" y="10141356"/>
            <a:ext cx="7346026" cy="2647155"/>
            <a:chOff x="992" y="61"/>
            <a:chExt cx="20566" cy="7411"/>
          </a:xfrm>
        </p:grpSpPr>
        <p:sp>
          <p:nvSpPr>
            <p:cNvPr id="6" name="文本框 5"/>
            <p:cNvSpPr txBox="1"/>
            <p:nvPr/>
          </p:nvSpPr>
          <p:spPr>
            <a:xfrm>
              <a:off x="992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15" b="1" i="1"/>
                <a:t>Strong Significance ***</a:t>
              </a:r>
              <a:endParaRPr lang="en-US" altLang="zh-CN" sz="1015" b="1" i="1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6285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1744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203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992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Not Significant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264" y="634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1744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Significance *</a:t>
              </a:r>
              <a:endParaRPr lang="en-US" altLang="zh-CN" sz="1015" b="1" i="1">
                <a:sym typeface="+mn-ea"/>
              </a:endParaRP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9039295" y="9540201"/>
            <a:ext cx="1980276" cy="560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Population growth ↑ </a:t>
            </a:r>
            <a:endParaRPr lang="en-US" altLang="zh-CN" sz="1015" b="1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Δα ↓, Δβ ↑, Δκ ↑, Δδ ↓</a:t>
            </a:r>
            <a:endParaRPr lang="en-US" altLang="zh-CN" sz="1015" b="1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ΔB ↓, ΔC ↑</a:t>
            </a:r>
            <a:endParaRPr lang="en-US" altLang="zh-CN" sz="1015" b="1">
              <a:sym typeface="+mn-ea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3212053" y="5136729"/>
            <a:ext cx="7769299" cy="4196658"/>
            <a:chOff x="109855" y="381635"/>
            <a:chExt cx="13811885" cy="7460615"/>
          </a:xfrm>
        </p:grpSpPr>
        <p:pic>
          <p:nvPicPr>
            <p:cNvPr id="42" name="图片 41"/>
            <p:cNvPicPr>
              <a:picLocks noChangeAspect="1"/>
            </p:cNvPicPr>
            <p:nvPr/>
          </p:nvPicPr>
          <p:blipFill>
            <a:blip r:embed="rId4"/>
            <a:srcRect l="8417" t="1057" b="7890"/>
            <a:stretch>
              <a:fillRect/>
            </a:stretch>
          </p:blipFill>
          <p:spPr>
            <a:xfrm>
              <a:off x="10466705" y="381635"/>
              <a:ext cx="3247390" cy="3282950"/>
            </a:xfrm>
            <a:prstGeom prst="rect">
              <a:avLst/>
            </a:prstGeom>
          </p:spPr>
        </p:pic>
        <p:grpSp>
          <p:nvGrpSpPr>
            <p:cNvPr id="39" name="组合 38"/>
            <p:cNvGrpSpPr/>
            <p:nvPr/>
          </p:nvGrpSpPr>
          <p:grpSpPr>
            <a:xfrm>
              <a:off x="109855" y="381635"/>
              <a:ext cx="13811885" cy="7460615"/>
              <a:chOff x="173" y="601"/>
              <a:chExt cx="21751" cy="11749"/>
            </a:xfrm>
          </p:grpSpPr>
          <p:pic>
            <p:nvPicPr>
              <p:cNvPr id="5" name="图片 4"/>
              <p:cNvPicPr/>
              <p:nvPr/>
            </p:nvPicPr>
            <p:blipFill>
              <a:blip r:embed="rId5"/>
              <a:srcRect l="1918" t="1292" r="75749" b="52389"/>
              <a:stretch>
                <a:fillRect/>
              </a:stretch>
            </p:blipFill>
            <p:spPr>
              <a:xfrm>
                <a:off x="173" y="641"/>
                <a:ext cx="5042" cy="5197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4" name="图片 13"/>
              <p:cNvPicPr/>
              <p:nvPr/>
            </p:nvPicPr>
            <p:blipFill>
              <a:blip r:embed="rId5"/>
              <a:srcRect l="27028" t="1292" r="50577" b="52389"/>
              <a:stretch>
                <a:fillRect/>
              </a:stretch>
            </p:blipFill>
            <p:spPr>
              <a:xfrm>
                <a:off x="5515" y="641"/>
                <a:ext cx="5056" cy="5197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6" name="图片 15"/>
              <p:cNvPicPr/>
              <p:nvPr/>
            </p:nvPicPr>
            <p:blipFill>
              <a:blip r:embed="rId5"/>
              <a:srcRect l="52342" t="811" r="25263" b="52513"/>
              <a:stretch>
                <a:fillRect/>
              </a:stretch>
            </p:blipFill>
            <p:spPr>
              <a:xfrm>
                <a:off x="10999" y="601"/>
                <a:ext cx="5056" cy="5237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文本框 26"/>
              <p:cNvSpPr txBox="1"/>
              <p:nvPr/>
            </p:nvSpPr>
            <p:spPr>
              <a:xfrm>
                <a:off x="550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  <a:endParaRPr lang="en-US" altLang="zh-CN" sz="1125"/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5946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  <a:endParaRPr lang="en-US" altLang="zh-CN" sz="1125"/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11342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  <a:endParaRPr lang="en-US" altLang="zh-CN" sz="1125"/>
              </a:p>
            </p:txBody>
          </p:sp>
          <p:sp>
            <p:nvSpPr>
              <p:cNvPr id="31" name="文本框 30"/>
              <p:cNvSpPr txBox="1"/>
              <p:nvPr/>
            </p:nvSpPr>
            <p:spPr>
              <a:xfrm>
                <a:off x="16945" y="5681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  <a:endParaRPr lang="en-US" altLang="zh-CN" sz="1125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6432" y="10351"/>
                <a:ext cx="5061" cy="1999"/>
                <a:chOff x="16736" y="6695"/>
                <a:chExt cx="5061" cy="1999"/>
              </a:xfrm>
            </p:grpSpPr>
            <p:sp>
              <p:nvSpPr>
                <p:cNvPr id="35" name="椭圆 34"/>
                <p:cNvSpPr/>
                <p:nvPr/>
              </p:nvSpPr>
              <p:spPr>
                <a:xfrm>
                  <a:off x="16736" y="8135"/>
                  <a:ext cx="257" cy="255"/>
                </a:xfrm>
                <a:prstGeom prst="ellipse">
                  <a:avLst/>
                </a:prstGeom>
                <a:solidFill>
                  <a:srgbClr val="47A2DE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7013" y="7953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  <a:endParaRPr lang="en-US" altLang="zh-CN" sz="1125"/>
                </a:p>
              </p:txBody>
            </p:sp>
            <p:sp>
              <p:nvSpPr>
                <p:cNvPr id="44" name="椭圆 43"/>
                <p:cNvSpPr/>
                <p:nvPr/>
              </p:nvSpPr>
              <p:spPr>
                <a:xfrm>
                  <a:off x="16736" y="6868"/>
                  <a:ext cx="257" cy="255"/>
                </a:xfrm>
                <a:prstGeom prst="ellipse">
                  <a:avLst/>
                </a:prstGeom>
                <a:solidFill>
                  <a:srgbClr val="E85748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17013" y="6695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  <a:endParaRPr lang="en-US" altLang="zh-CN" sz="1125"/>
                </a:p>
              </p:txBody>
            </p:sp>
            <p:sp>
              <p:nvSpPr>
                <p:cNvPr id="48" name="椭圆 47"/>
                <p:cNvSpPr/>
                <p:nvPr/>
              </p:nvSpPr>
              <p:spPr>
                <a:xfrm>
                  <a:off x="16736" y="7510"/>
                  <a:ext cx="257" cy="255"/>
                </a:xfrm>
                <a:prstGeom prst="ellipse">
                  <a:avLst/>
                </a:prstGeom>
                <a:solidFill>
                  <a:srgbClr val="F39F1B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7013" y="7324"/>
                  <a:ext cx="4784" cy="12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  <a:endParaRPr lang="en-US" altLang="zh-CN" sz="1125">
                    <a:sym typeface="+mn-ea"/>
                  </a:endParaRPr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245" y="6378"/>
                <a:ext cx="15881" cy="5951"/>
                <a:chOff x="503" y="6892"/>
                <a:chExt cx="15881" cy="5951"/>
              </a:xfrm>
            </p:grpSpPr>
            <p:grpSp>
              <p:nvGrpSpPr>
                <p:cNvPr id="2" name="组合 1"/>
                <p:cNvGrpSpPr/>
                <p:nvPr/>
              </p:nvGrpSpPr>
              <p:grpSpPr>
                <a:xfrm>
                  <a:off x="503" y="6892"/>
                  <a:ext cx="15881" cy="5230"/>
                  <a:chOff x="433" y="6578"/>
                  <a:chExt cx="15881" cy="5230"/>
                </a:xfrm>
              </p:grpSpPr>
              <p:pic>
                <p:nvPicPr>
                  <p:cNvPr id="18" name="图片 17"/>
                  <p:cNvPicPr/>
                  <p:nvPr/>
                </p:nvPicPr>
                <p:blipFill>
                  <a:blip r:embed="rId5"/>
                  <a:srcRect l="1917" t="50579" r="75927" b="3155"/>
                  <a:stretch>
                    <a:fillRect/>
                  </a:stretch>
                </p:blipFill>
                <p:spPr>
                  <a:xfrm>
                    <a:off x="433" y="6597"/>
                    <a:ext cx="5002" cy="5191"/>
                  </a:xfrm>
                  <a:prstGeom prst="rect">
                    <a:avLst/>
                  </a:prstGeom>
                </p:spPr>
              </p:pic>
              <p:pic>
                <p:nvPicPr>
                  <p:cNvPr id="19" name="图片 18"/>
                  <p:cNvPicPr/>
                  <p:nvPr/>
                </p:nvPicPr>
                <p:blipFill>
                  <a:blip r:embed="rId5"/>
                  <a:srcRect l="27196" t="50579" r="50688" b="2977"/>
                  <a:stretch>
                    <a:fillRect/>
                  </a:stretch>
                </p:blipFill>
                <p:spPr>
                  <a:xfrm>
                    <a:off x="5768" y="6598"/>
                    <a:ext cx="4993" cy="5211"/>
                  </a:xfrm>
                  <a:prstGeom prst="rect">
                    <a:avLst/>
                  </a:prstGeom>
                </p:spPr>
              </p:pic>
              <p:pic>
                <p:nvPicPr>
                  <p:cNvPr id="20" name="图片 19"/>
                  <p:cNvPicPr/>
                  <p:nvPr/>
                </p:nvPicPr>
                <p:blipFill>
                  <a:blip r:embed="rId5"/>
                  <a:srcRect l="50916" t="50579" r="25356" b="2977"/>
                  <a:stretch>
                    <a:fillRect/>
                  </a:stretch>
                </p:blipFill>
                <p:spPr>
                  <a:xfrm>
                    <a:off x="10958" y="6578"/>
                    <a:ext cx="5357" cy="5211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4" name="文本框 23"/>
                      <p:cNvSpPr txBox="1"/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4" name="文本框 23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0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5" name="文本框 24"/>
                      <p:cNvSpPr txBox="1"/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5" name="文本框 24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1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6" name="文本框 25"/>
                      <p:cNvSpPr txBox="1"/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6" name="文本框 25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2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4" name="文本框 3"/>
                <p:cNvSpPr txBox="1"/>
                <p:nvPr/>
              </p:nvSpPr>
              <p:spPr>
                <a:xfrm>
                  <a:off x="810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  <a:endParaRPr lang="en-US" altLang="zh-CN" sz="1125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6206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  <a:endParaRPr lang="en-US" altLang="zh-CN" sz="1125"/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11602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  <a:endParaRPr lang="en-US" altLang="zh-CN" sz="1125"/>
                </a:p>
              </p:txBody>
            </p:sp>
          </p:grpSp>
          <p:pic>
            <p:nvPicPr>
              <p:cNvPr id="37" name="图片 36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6389" y="6417"/>
                <a:ext cx="5535" cy="3825"/>
              </a:xfrm>
              <a:prstGeom prst="rect">
                <a:avLst/>
              </a:prstGeom>
            </p:spPr>
          </p:pic>
        </p:grp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格 1"/>
              <p:cNvGraphicFramePr/>
              <p:nvPr/>
            </p:nvGraphicFramePr>
            <p:xfrm>
              <a:off x="4365428" y="6664085"/>
              <a:ext cx="5669280" cy="1869440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1889760"/>
                    <a:gridCol w="1889760"/>
                    <a:gridCol w="1889760"/>
                  </a:tblGrid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altLang="en-US" sz="1195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Δ</a:t>
                          </a:r>
                          <a:r>
                            <a:rPr lang="en-US" altLang="zh-CN" sz="1195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Param</a:t>
                          </a:r>
                          <a:endParaRPr lang="en-US" altLang="zh-CN" sz="1195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195"/>
                            <a:t>Significance</a:t>
                          </a:r>
                          <a:endParaRPr lang="en-US" altLang="zh-CN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195"/>
                            <a:t>Sign</a:t>
                          </a:r>
                          <a:endParaRPr lang="en-US" altLang="zh-CN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𝛥𝛼</m:t>
                                </m:r>
                              </m:oMath>
                            </m:oMathPara>
                          </a14:m>
                          <a:endParaRPr lang="zh-CN" altLang="en-US" sz="1195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𝛥𝛽</m:t>
                                </m:r>
                              </m:oMath>
                            </m:oMathPara>
                          </a14:m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𝛥𝜅</m:t>
                                </m:r>
                              </m:oMath>
                            </m:oMathPara>
                          </a14:m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𝛥𝛿</m:t>
                                </m:r>
                              </m:oMath>
                            </m:oMathPara>
                          </a14:m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</m:t>
                                </m:r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</m:t>
                                </m:r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</m:t>
                                </m:r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格 1"/>
              <p:cNvGraphicFramePr/>
              <p:nvPr/>
            </p:nvGraphicFramePr>
            <p:xfrm>
              <a:off x="4365428" y="6664085"/>
              <a:ext cx="5669280" cy="1869440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1889760"/>
                    <a:gridCol w="1889760"/>
                    <a:gridCol w="1889760"/>
                  </a:tblGrid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altLang="en-US" sz="1195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Δ</a:t>
                          </a:r>
                          <a:r>
                            <a:rPr lang="en-US" altLang="zh-CN" sz="1195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Param</a:t>
                          </a:r>
                          <a:endParaRPr lang="en-US" altLang="zh-CN" sz="1195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195"/>
                            <a:t>Significance</a:t>
                          </a:r>
                          <a:endParaRPr lang="en-US" altLang="zh-CN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195"/>
                            <a:t>Sign</a:t>
                          </a:r>
                          <a:endParaRPr lang="en-US" altLang="zh-CN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51435" marR="51435" marT="25717" marB="25717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51435" marR="51435" marT="25717" marB="25717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51435" marR="51435" marT="25717" marB="25717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51435" marR="51435" marT="25717" marB="25717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51435" marR="51435" marT="25717" marB="25717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51435" marR="51435" marT="25717" marB="25717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51435" marR="51435" marT="25717" marB="25717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3311352" y="5368547"/>
            <a:ext cx="7523908" cy="3687658"/>
            <a:chOff x="451" y="1250"/>
            <a:chExt cx="21064" cy="10324"/>
          </a:xfrm>
        </p:grpSpPr>
        <p:pic>
          <p:nvPicPr>
            <p:cNvPr id="30" name="图片 29"/>
            <p:cNvPicPr/>
            <p:nvPr/>
          </p:nvPicPr>
          <p:blipFill>
            <a:blip r:embed="rId1"/>
            <a:srcRect t="4937"/>
            <a:stretch>
              <a:fillRect/>
            </a:stretch>
          </p:blipFill>
          <p:spPr>
            <a:xfrm>
              <a:off x="11468" y="2755"/>
              <a:ext cx="8035" cy="7953"/>
            </a:xfrm>
            <a:prstGeom prst="rect">
              <a:avLst/>
            </a:prstGeom>
          </p:spPr>
        </p:pic>
        <p:pic>
          <p:nvPicPr>
            <p:cNvPr id="29" name="图片 28"/>
            <p:cNvPicPr/>
            <p:nvPr/>
          </p:nvPicPr>
          <p:blipFill>
            <a:blip r:embed="rId2"/>
            <a:srcRect t="4937"/>
            <a:stretch>
              <a:fillRect/>
            </a:stretch>
          </p:blipFill>
          <p:spPr>
            <a:xfrm>
              <a:off x="1160" y="2755"/>
              <a:ext cx="8035" cy="7953"/>
            </a:xfrm>
            <a:prstGeom prst="rect">
              <a:avLst/>
            </a:prstGeom>
          </p:spPr>
        </p:pic>
        <p:grpSp>
          <p:nvGrpSpPr>
            <p:cNvPr id="28" name="组合 27"/>
            <p:cNvGrpSpPr/>
            <p:nvPr/>
          </p:nvGrpSpPr>
          <p:grpSpPr>
            <a:xfrm>
              <a:off x="451" y="1250"/>
              <a:ext cx="21065" cy="10324"/>
              <a:chOff x="655" y="941"/>
              <a:chExt cx="21065" cy="10324"/>
            </a:xfrm>
          </p:grpSpPr>
          <p:grpSp>
            <p:nvGrpSpPr>
              <p:cNvPr id="11" name="组合 10"/>
              <p:cNvGrpSpPr/>
              <p:nvPr/>
            </p:nvGrpSpPr>
            <p:grpSpPr>
              <a:xfrm>
                <a:off x="655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3" name="文本框 12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3" name="文本框 1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5" name="文本框 1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2" name="文本框 2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" name="文本框 22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3" name="文本框 2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" name="文本框 6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7" name="文本框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" name="文本框 7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8" name="文本框 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" name="文本框 8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9" name="文本框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组合 13"/>
              <p:cNvGrpSpPr/>
              <p:nvPr/>
            </p:nvGrpSpPr>
            <p:grpSpPr>
              <a:xfrm>
                <a:off x="11022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6" name="文本框 15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6" name="文本框 1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7" name="文本框 16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7" name="文本框 1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8" name="文本框 17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8" name="文本框 1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" name="文本框 18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9" name="文本框 1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" name="文本框 19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0" name="文本框 1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1" name="文本框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文本框 24"/>
              <p:cNvSpPr txBox="1"/>
              <p:nvPr/>
            </p:nvSpPr>
            <p:spPr>
              <a:xfrm>
                <a:off x="3948" y="941"/>
                <a:ext cx="1606" cy="16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2016</a:t>
                </a:r>
                <a:endParaRPr lang="en-US" altLang="zh-CN" sz="1575"/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15261" y="963"/>
                <a:ext cx="1606" cy="16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2023</a:t>
                </a:r>
                <a:endParaRPr lang="en-US" altLang="zh-CN" sz="1575"/>
              </a:p>
            </p:txBody>
          </p:sp>
          <p:grpSp>
            <p:nvGrpSpPr>
              <p:cNvPr id="27" name="组合 26"/>
              <p:cNvGrpSpPr/>
              <p:nvPr/>
            </p:nvGrpSpPr>
            <p:grpSpPr>
              <a:xfrm>
                <a:off x="8849" y="9109"/>
                <a:ext cx="5334" cy="1999"/>
                <a:chOff x="9225" y="1246"/>
                <a:chExt cx="5334" cy="1999"/>
              </a:xfrm>
            </p:grpSpPr>
            <p:sp>
              <p:nvSpPr>
                <p:cNvPr id="35" name="圆角矩形 34"/>
                <p:cNvSpPr/>
                <p:nvPr/>
              </p:nvSpPr>
              <p:spPr>
                <a:xfrm>
                  <a:off x="9225" y="2686"/>
                  <a:ext cx="530" cy="338"/>
                </a:xfrm>
                <a:prstGeom prst="roundRect">
                  <a:avLst/>
                </a:prstGeom>
                <a:solidFill>
                  <a:srgbClr val="47A2DE">
                    <a:alpha val="20000"/>
                  </a:srgbClr>
                </a:solidFill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775" y="2504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  <a:endParaRPr lang="en-US" altLang="zh-CN" sz="1125"/>
                </a:p>
              </p:txBody>
            </p:sp>
            <p:sp>
              <p:nvSpPr>
                <p:cNvPr id="44" name="圆角矩形 43"/>
                <p:cNvSpPr/>
                <p:nvPr/>
              </p:nvSpPr>
              <p:spPr>
                <a:xfrm>
                  <a:off x="9225" y="1419"/>
                  <a:ext cx="530" cy="338"/>
                </a:xfrm>
                <a:prstGeom prst="roundRect">
                  <a:avLst/>
                </a:prstGeom>
                <a:solidFill>
                  <a:srgbClr val="E85748">
                    <a:alpha val="20000"/>
                  </a:srgbClr>
                </a:solidFill>
                <a:ln w="38100"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9775" y="1246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  <a:endParaRPr lang="en-US" altLang="zh-CN" sz="1125"/>
                </a:p>
              </p:txBody>
            </p:sp>
            <p:sp>
              <p:nvSpPr>
                <p:cNvPr id="48" name="圆角矩形 47"/>
                <p:cNvSpPr/>
                <p:nvPr/>
              </p:nvSpPr>
              <p:spPr>
                <a:xfrm>
                  <a:off x="9225" y="2061"/>
                  <a:ext cx="530" cy="338"/>
                </a:xfrm>
                <a:prstGeom prst="roundRect">
                  <a:avLst/>
                </a:prstGeom>
                <a:solidFill>
                  <a:srgbClr val="F39F1B">
                    <a:alpha val="20000"/>
                  </a:srgbClr>
                </a:solidFill>
                <a:ln w="38100"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775" y="1875"/>
                  <a:ext cx="4784" cy="12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  <a:endParaRPr lang="en-US" altLang="zh-CN" sz="1125">
                    <a:sym typeface="+mn-ea"/>
                  </a:endParaRPr>
                </a:p>
              </p:txBody>
            </p:sp>
          </p:grpSp>
        </p:grpSp>
      </p:grp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/>
          <p:nvPr/>
        </p:nvPicPr>
        <p:blipFill>
          <a:blip r:embed="rId1"/>
          <a:stretch>
            <a:fillRect/>
          </a:stretch>
        </p:blipFill>
        <p:spPr>
          <a:xfrm>
            <a:off x="3333498" y="9709868"/>
            <a:ext cx="2053144" cy="2057430"/>
          </a:xfrm>
          <a:prstGeom prst="rect">
            <a:avLst/>
          </a:prstGeom>
        </p:spPr>
      </p:pic>
      <p:grpSp>
        <p:nvGrpSpPr>
          <p:cNvPr id="6" name="组合 5"/>
          <p:cNvGrpSpPr/>
          <p:nvPr/>
        </p:nvGrpSpPr>
        <p:grpSpPr>
          <a:xfrm>
            <a:off x="3187049" y="5614296"/>
            <a:ext cx="8022192" cy="3059355"/>
            <a:chOff x="103" y="1938"/>
            <a:chExt cx="22459" cy="8565"/>
          </a:xfrm>
        </p:grpSpPr>
        <p:pic>
          <p:nvPicPr>
            <p:cNvPr id="56" name="图片 55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15387" y="3027"/>
              <a:ext cx="5750" cy="5761"/>
            </a:xfrm>
            <a:prstGeom prst="rect">
              <a:avLst/>
            </a:prstGeom>
          </p:spPr>
        </p:pic>
        <p:pic>
          <p:nvPicPr>
            <p:cNvPr id="54" name="图片 53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7936" y="3027"/>
              <a:ext cx="5750" cy="5761"/>
            </a:xfrm>
            <a:prstGeom prst="rect">
              <a:avLst/>
            </a:prstGeom>
          </p:spPr>
        </p:pic>
        <p:pic>
          <p:nvPicPr>
            <p:cNvPr id="51" name="图片 50"/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590" y="3027"/>
              <a:ext cx="5750" cy="5761"/>
            </a:xfrm>
            <a:prstGeom prst="rect">
              <a:avLst/>
            </a:prstGeom>
          </p:spPr>
        </p:pic>
        <p:grpSp>
          <p:nvGrpSpPr>
            <p:cNvPr id="11" name="组合 10"/>
            <p:cNvGrpSpPr/>
            <p:nvPr/>
          </p:nvGrpSpPr>
          <p:grpSpPr>
            <a:xfrm>
              <a:off x="103" y="2608"/>
              <a:ext cx="7654" cy="6799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文本框 6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7" name="文本框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文本框 7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8" name="文本框 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文本框 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9" name="文本框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组合 13"/>
            <p:cNvGrpSpPr/>
            <p:nvPr/>
          </p:nvGrpSpPr>
          <p:grpSpPr>
            <a:xfrm>
              <a:off x="7520" y="2608"/>
              <a:ext cx="7654" cy="6799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" name="文本框 15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6" name="文本框 1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" name="文本框 16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7" name="文本框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文本框 17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8" name="文本框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1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文本框 19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0" name="文本框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1" name="文本框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4" name="文本框 23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4" name="文本框 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文本框 24"/>
            <p:cNvSpPr txBox="1"/>
            <p:nvPr/>
          </p:nvSpPr>
          <p:spPr>
            <a:xfrm>
              <a:off x="2474" y="1939"/>
              <a:ext cx="1983" cy="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E85748"/>
                  </a:solidFill>
                </a:rPr>
                <a:t>Africa</a:t>
              </a:r>
              <a:endParaRPr lang="en-US" altLang="zh-CN" sz="1350" b="1">
                <a:solidFill>
                  <a:srgbClr val="E85748"/>
                </a:solidFill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7466" y="1938"/>
              <a:ext cx="7073" cy="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F39F1B"/>
                  </a:solidFill>
                </a:rPr>
                <a:t>South &amp; Southeast Asia</a:t>
              </a:r>
              <a:endParaRPr lang="en-US" altLang="zh-CN" sz="1350" b="1">
                <a:solidFill>
                  <a:srgbClr val="F39F1B"/>
                </a:solidFill>
              </a:endParaRPr>
            </a:p>
          </p:txBody>
        </p:sp>
        <p:grpSp>
          <p:nvGrpSpPr>
            <p:cNvPr id="10" name="组合 9"/>
            <p:cNvGrpSpPr/>
            <p:nvPr/>
          </p:nvGrpSpPr>
          <p:grpSpPr>
            <a:xfrm>
              <a:off x="14908" y="2624"/>
              <a:ext cx="7654" cy="6799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文本框 11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2" name="文本框 1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1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" name="文本框 31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2" name="文本框 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" name="文本框 32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3" name="文本框 3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1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" name="文本框 33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4" name="文本框 3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" name="文本框 36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7" name="文本框 3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" name="文本框 3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9" name="文本框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文本框 51"/>
            <p:cNvSpPr txBox="1"/>
            <p:nvPr/>
          </p:nvSpPr>
          <p:spPr>
            <a:xfrm>
              <a:off x="14999" y="2036"/>
              <a:ext cx="6851" cy="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47A2DE"/>
                  </a:solidFill>
                </a:rPr>
                <a:t>Latin America</a:t>
              </a:r>
              <a:endParaRPr lang="en-US" altLang="zh-CN" sz="1350" b="1">
                <a:solidFill>
                  <a:srgbClr val="47A2DE"/>
                </a:solidFill>
              </a:endParaRP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8962" y="9275"/>
              <a:ext cx="1262" cy="122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2016</a:t>
              </a:r>
              <a:endParaRPr lang="en-US" altLang="zh-CN" sz="1125">
                <a:sym typeface="+mn-ea"/>
              </a:endParaRPr>
            </a:p>
          </p:txBody>
        </p:sp>
        <p:grpSp>
          <p:nvGrpSpPr>
            <p:cNvPr id="31" name="组合 30"/>
            <p:cNvGrpSpPr/>
            <p:nvPr/>
          </p:nvGrpSpPr>
          <p:grpSpPr>
            <a:xfrm>
              <a:off x="6942" y="9400"/>
              <a:ext cx="1883" cy="377"/>
              <a:chOff x="6153" y="11442"/>
              <a:chExt cx="1740" cy="348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6153" y="11442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38100"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29" name="圆角矩形 28"/>
              <p:cNvSpPr/>
              <p:nvPr/>
            </p:nvSpPr>
            <p:spPr>
              <a:xfrm>
                <a:off x="6761" y="11442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38100"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30" name="圆角矩形 29"/>
              <p:cNvSpPr/>
              <p:nvPr/>
            </p:nvSpPr>
            <p:spPr>
              <a:xfrm>
                <a:off x="7363" y="11442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38100"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>
              <a:off x="11813" y="9400"/>
              <a:ext cx="1942" cy="377"/>
              <a:chOff x="5151" y="11234"/>
              <a:chExt cx="1795" cy="348"/>
            </a:xfrm>
          </p:grpSpPr>
          <p:sp>
            <p:nvSpPr>
              <p:cNvPr id="41" name="圆角矩形 40"/>
              <p:cNvSpPr/>
              <p:nvPr/>
            </p:nvSpPr>
            <p:spPr>
              <a:xfrm>
                <a:off x="5151" y="11234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38100">
                <a:solidFill>
                  <a:srgbClr val="E85748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42" name="圆角矩形 41"/>
              <p:cNvSpPr/>
              <p:nvPr/>
            </p:nvSpPr>
            <p:spPr>
              <a:xfrm>
                <a:off x="5787" y="11234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38100">
                <a:solidFill>
                  <a:srgbClr val="F39F1B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43" name="圆角矩形 42"/>
              <p:cNvSpPr/>
              <p:nvPr/>
            </p:nvSpPr>
            <p:spPr>
              <a:xfrm>
                <a:off x="6416" y="11234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38100">
                <a:solidFill>
                  <a:srgbClr val="47A2DE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sp>
          <p:nvSpPr>
            <p:cNvPr id="46" name="文本框 45"/>
            <p:cNvSpPr txBox="1"/>
            <p:nvPr/>
          </p:nvSpPr>
          <p:spPr>
            <a:xfrm>
              <a:off x="13982" y="9275"/>
              <a:ext cx="1262" cy="122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2023</a:t>
              </a:r>
              <a:endParaRPr lang="en-US" altLang="zh-CN" sz="1125">
                <a:sym typeface="+mn-ea"/>
              </a:endParaRPr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5687756" y="9642359"/>
            <a:ext cx="4575639" cy="622587"/>
            <a:chOff x="6709" y="10473"/>
            <a:chExt cx="12810" cy="174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文本框 56"/>
                <p:cNvSpPr txBox="1"/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7" name="文本框 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blipFill rotWithShape="1">
                  <a:blip r:embed="rId1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blipFill rotWithShape="1">
                  <a:blip r:embed="rId1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blipFill rotWithShape="1">
                  <a:blip r:embed="rId1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276*166"/>
  <p:tag name="TABLE_ENDDRAG_RECT" val="820*321*276*166"/>
</p:tagLst>
</file>

<file path=ppt/tags/tag2.xml><?xml version="1.0" encoding="utf-8"?>
<p:tagLst xmlns:p="http://schemas.openxmlformats.org/presentationml/2006/main">
  <p:tag name="TABLE_ENDDRAG_ORIGIN_RECT" val="276*166"/>
  <p:tag name="TABLE_ENDDRAG_RECT" val="820*321*276*166"/>
</p:tagLst>
</file>

<file path=ppt/theme/theme1.xml><?xml version="1.0" encoding="utf-8"?>
<a:theme xmlns:a="http://schemas.openxmlformats.org/drawingml/2006/main" name="WPS">
  <a:themeElements>
    <a:clrScheme name="Custom 1">
      <a:dk1>
        <a:srgbClr val="000000"/>
      </a:dk1>
      <a:lt1>
        <a:srgbClr val="FFFFFF"/>
      </a:lt1>
      <a:dk2>
        <a:srgbClr val="B6E1FF"/>
      </a:dk2>
      <a:lt2>
        <a:srgbClr val="4488FF"/>
      </a:lt2>
      <a:accent1>
        <a:srgbClr val="D3B137"/>
      </a:accent1>
      <a:accent2>
        <a:srgbClr val="FEF436"/>
      </a:accent2>
      <a:accent3>
        <a:srgbClr val="C577E2"/>
      </a:accent3>
      <a:accent4>
        <a:srgbClr val="DAC7FF"/>
      </a:accent4>
      <a:accent5>
        <a:srgbClr val="6EDC8B"/>
      </a:accent5>
      <a:accent6>
        <a:srgbClr val="2AB320"/>
      </a:accent6>
      <a:hlink>
        <a:srgbClr val="B6E1FF"/>
      </a:hlink>
      <a:folHlink>
        <a:srgbClr val="B6E1FF"/>
      </a:folHlink>
    </a:clrScheme>
    <a:fontScheme name="WPS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6061</Words>
  <Application>WPS 演示</Application>
  <PresentationFormat>Custom</PresentationFormat>
  <Paragraphs>1022</Paragraphs>
  <Slides>17</Slides>
  <Notes>4</Notes>
  <HiddenSlides>5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8" baseType="lpstr">
      <vt:lpstr>Arial</vt:lpstr>
      <vt:lpstr>宋体</vt:lpstr>
      <vt:lpstr>Wingdings</vt:lpstr>
      <vt:lpstr>Cambria Math</vt:lpstr>
      <vt:lpstr>MS Mincho</vt:lpstr>
      <vt:lpstr>Wingdings</vt:lpstr>
      <vt:lpstr>微软雅黑</vt:lpstr>
      <vt:lpstr>Arial Unicode MS</vt:lpstr>
      <vt:lpstr>东文宋体</vt:lpstr>
      <vt:lpstr>MS Gothic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April Liang</cp:lastModifiedBy>
  <cp:revision>36</cp:revision>
  <dcterms:created xsi:type="dcterms:W3CDTF">2026-05-20T16:45:17Z</dcterms:created>
  <dcterms:modified xsi:type="dcterms:W3CDTF">2026-05-20T16:45:17Z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2052-12.1.2.25882</vt:lpwstr>
  </property>
  <property fmtid="{D5CDD505-2E9C-101B-9397-08002B2CF9AE}" pid="3" name="ICV">
    <vt:lpwstr>0364E104D99840A39D3DA0694DD01CB9_41</vt:lpwstr>
  </property>
</Properties>
</file>