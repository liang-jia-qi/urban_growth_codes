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1"/>
  </p:handoutMasterIdLst>
  <p:sldIdLst>
    <p:sldId id="256" r:id="rId3"/>
    <p:sldId id="257" r:id="rId4"/>
    <p:sldId id="258" r:id="rId6"/>
    <p:sldId id="267" r:id="rId7"/>
    <p:sldId id="262" r:id="rId8"/>
    <p:sldId id="263" r:id="rId9"/>
    <p:sldId id="264" r:id="rId10"/>
    <p:sldId id="260" r:id="rId11"/>
    <p:sldId id="269" r:id="rId12"/>
    <p:sldId id="271" r:id="rId13"/>
    <p:sldId id="259" r:id="rId14"/>
    <p:sldId id="266" r:id="rId15"/>
    <p:sldId id="270" r:id="rId16"/>
    <p:sldId id="261" r:id="rId17"/>
    <p:sldId id="272" r:id="rId18"/>
    <p:sldId id="265" r:id="rId19"/>
    <p:sldId id="268" r:id="rId20"/>
  </p:sldIdLst>
  <p:sldSz cx="14399895" cy="809942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 used" id="{81244984-ffb1-4a92-8f35-ff698557d6d0}">
          <p14:sldIdLst>
            <p14:sldId id="256"/>
            <p14:sldId id="257"/>
            <p14:sldId id="258"/>
            <p14:sldId id="267"/>
          </p14:sldIdLst>
        </p14:section>
        <p14:section name="无标题节" id="{7174f263-5ff1-488a-9ba9-16647ead2f01}">
          <p14:sldIdLst>
            <p14:sldId id="262"/>
            <p14:sldId id="263"/>
            <p14:sldId id="264"/>
            <p14:sldId id="260"/>
            <p14:sldId id="269"/>
            <p14:sldId id="271"/>
            <p14:sldId id="259"/>
            <p14:sldId id="266"/>
            <p14:sldId id="270"/>
            <p14:sldId id="261"/>
            <p14:sldId id="272"/>
            <p14:sldId id="265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40" userDrawn="1">
          <p15:clr>
            <a:srgbClr val="A4A3A4"/>
          </p15:clr>
        </p15:guide>
        <p15:guide id="2" pos="4533" userDrawn="1">
          <p15:clr>
            <a:srgbClr val="A4A3A4"/>
          </p15:clr>
        </p15:guide>
        <p15:guide id="3" orient="horz" pos="25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B3B3"/>
    <a:srgbClr val="E5C494"/>
    <a:srgbClr val="FFD92F"/>
    <a:srgbClr val="A6D854"/>
    <a:srgbClr val="8DA0CB"/>
    <a:srgbClr val="FC8D62"/>
    <a:srgbClr val="66C2A5"/>
    <a:srgbClr val="47A2DE"/>
    <a:srgbClr val="F39F1B"/>
    <a:srgbClr val="E857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1340"/>
        <p:guide pos="4533"/>
        <p:guide orient="horz" pos="256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0" cy="90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0.363636363636364</c:v>
                </c:pt>
                <c:pt idx="1">
                  <c:v>0.5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0.227272727272727</c:v>
                </c:pt>
                <c:pt idx="1">
                  <c:v>0.3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0.333333333333333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0.166666666666667</c:v>
                </c:pt>
                <c:pt idx="2">
                  <c:v>0.0666666666666667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0.363636363636364</c:v>
                </c:pt>
                <c:pt idx="1">
                  <c:v>0.466666666666667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0.227272727272727</c:v>
                </c:pt>
                <c:pt idx="1">
                  <c:v>0.366666666666667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0.431818181818182</c:v>
                </c:pt>
                <c:pt idx="1">
                  <c:v>0.266666666666667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0.166666666666667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0.0333333333333333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0.113636363636364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000" y="1562554"/>
            <a:ext cx="10800000" cy="2583072"/>
          </a:xfrm>
        </p:spPr>
        <p:txBody>
          <a:bodyPr anchor="b">
            <a:normAutofit/>
          </a:bodyPr>
          <a:lstStyle>
            <a:lvl1pPr algn="ctr">
              <a:defRPr sz="708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000" y="4254376"/>
            <a:ext cx="10800000" cy="1955625"/>
          </a:xfrm>
        </p:spPr>
        <p:txBody>
          <a:bodyPr>
            <a:normAutofit/>
          </a:bodyPr>
          <a:lstStyle>
            <a:lvl1pPr marL="0" indent="0" algn="ctr">
              <a:buNone/>
              <a:defRPr sz="212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539750" indent="0" algn="ctr">
              <a:buNone/>
              <a:defRPr sz="2360"/>
            </a:lvl2pPr>
            <a:lvl3pPr marL="1080135" indent="0" algn="ctr">
              <a:buNone/>
              <a:defRPr sz="2125"/>
            </a:lvl3pPr>
            <a:lvl4pPr marL="1619885" indent="0" algn="ctr">
              <a:buNone/>
              <a:defRPr sz="1890"/>
            </a:lvl4pPr>
            <a:lvl5pPr marL="2160270" indent="0" algn="ctr">
              <a:buNone/>
              <a:defRPr sz="1890"/>
            </a:lvl5pPr>
            <a:lvl6pPr marL="2700020" indent="0" algn="ctr">
              <a:buNone/>
              <a:defRPr sz="1890"/>
            </a:lvl6pPr>
            <a:lvl7pPr marL="3239770" indent="0" algn="ctr">
              <a:buNone/>
              <a:defRPr sz="1890"/>
            </a:lvl7pPr>
            <a:lvl8pPr marL="3780155" indent="0" algn="ctr">
              <a:buNone/>
              <a:defRPr sz="1890"/>
            </a:lvl8pPr>
            <a:lvl9pPr marL="4319905" indent="0" algn="ctr">
              <a:buNone/>
              <a:defRPr sz="189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00" y="2156250"/>
            <a:ext cx="12420000" cy="5139376"/>
          </a:xfrm>
        </p:spPr>
        <p:txBody>
          <a:bodyPr>
            <a:normAutofit/>
          </a:bodyPr>
          <a:lstStyle>
            <a:lvl1pPr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00" y="4430453"/>
            <a:ext cx="8647500" cy="958296"/>
          </a:xfrm>
        </p:spPr>
        <p:txBody>
          <a:bodyPr anchor="b">
            <a:normAutofit/>
          </a:bodyPr>
          <a:lstStyle>
            <a:lvl1pPr>
              <a:defRPr sz="472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00" y="5444915"/>
            <a:ext cx="8647500" cy="764829"/>
          </a:xfrm>
        </p:spPr>
        <p:txBody>
          <a:bodyPr>
            <a:normAutofit/>
          </a:bodyPr>
          <a:lstStyle>
            <a:lvl1pPr marL="0" indent="0">
              <a:buNone/>
              <a:defRPr sz="2125">
                <a:solidFill>
                  <a:schemeClr val="tx1"/>
                </a:solidFill>
              </a:defRPr>
            </a:lvl1pPr>
            <a:lvl2pPr marL="539750" indent="0">
              <a:buNone/>
              <a:defRPr sz="2360">
                <a:solidFill>
                  <a:schemeClr val="tx1">
                    <a:tint val="75000"/>
                  </a:schemeClr>
                </a:solidFill>
              </a:defRPr>
            </a:lvl2pPr>
            <a:lvl3pPr marL="1080135" indent="0">
              <a:buNone/>
              <a:defRPr sz="2125">
                <a:solidFill>
                  <a:schemeClr val="tx1">
                    <a:tint val="75000"/>
                  </a:schemeClr>
                </a:solidFill>
              </a:defRPr>
            </a:lvl3pPr>
            <a:lvl4pPr marL="161988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602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7000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7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8015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0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>
            <a:normAutofit/>
          </a:bodyPr>
          <a:lstStyle>
            <a:lvl1pPr>
              <a:defRPr sz="2835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876" y="431250"/>
            <a:ext cx="12420000" cy="156562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876" y="2060978"/>
            <a:ext cx="6091875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876" y="3089302"/>
            <a:ext cx="6091875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000" y="2060978"/>
            <a:ext cx="6121876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000" y="3089302"/>
            <a:ext cx="6121876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00" y="3267188"/>
            <a:ext cx="12420000" cy="1565626"/>
          </a:xfrm>
        </p:spPr>
        <p:txBody>
          <a:bodyPr>
            <a:normAutofit/>
          </a:bodyPr>
          <a:lstStyle>
            <a:lvl1pPr algn="ctr">
              <a:defRPr sz="567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874" y="150000"/>
            <a:ext cx="4919528" cy="1890000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2835" y="905143"/>
            <a:ext cx="6870916" cy="6017063"/>
          </a:xfrm>
        </p:spPr>
        <p:txBody>
          <a:bodyPr/>
          <a:lstStyle>
            <a:lvl1pPr marL="0" indent="0">
              <a:buNone/>
              <a:defRPr sz="3780"/>
            </a:lvl1pPr>
            <a:lvl2pPr marL="539750" indent="0">
              <a:buNone/>
              <a:defRPr sz="3305"/>
            </a:lvl2pPr>
            <a:lvl3pPr marL="1080135" indent="0">
              <a:buNone/>
              <a:defRPr sz="2835"/>
            </a:lvl3pPr>
            <a:lvl4pPr marL="1619885" indent="0">
              <a:buNone/>
              <a:defRPr sz="2360"/>
            </a:lvl4pPr>
            <a:lvl5pPr marL="2160270" indent="0">
              <a:buNone/>
              <a:defRPr sz="2360"/>
            </a:lvl5pPr>
            <a:lvl6pPr marL="2700020" indent="0">
              <a:buNone/>
              <a:defRPr sz="2360"/>
            </a:lvl6pPr>
            <a:lvl7pPr marL="3239770" indent="0">
              <a:buNone/>
              <a:defRPr sz="2360"/>
            </a:lvl7pPr>
            <a:lvl8pPr marL="3780155" indent="0">
              <a:buNone/>
              <a:defRPr sz="2360"/>
            </a:lvl8pPr>
            <a:lvl9pPr marL="4319905" indent="0">
              <a:buNone/>
              <a:defRPr sz="236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874" y="2430000"/>
            <a:ext cx="4919528" cy="4501876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890"/>
            </a:lvl1pPr>
            <a:lvl2pPr marL="539750" indent="0">
              <a:buNone/>
              <a:defRPr sz="1655"/>
            </a:lvl2pPr>
            <a:lvl3pPr marL="1080135" indent="0">
              <a:buNone/>
              <a:defRPr sz="1415"/>
            </a:lvl3pPr>
            <a:lvl4pPr marL="1619885" indent="0">
              <a:buNone/>
              <a:defRPr sz="1180"/>
            </a:lvl4pPr>
            <a:lvl5pPr marL="2160270" indent="0">
              <a:buNone/>
              <a:defRPr sz="1180"/>
            </a:lvl5pPr>
            <a:lvl6pPr marL="2700020" indent="0">
              <a:buNone/>
              <a:defRPr sz="1180"/>
            </a:lvl6pPr>
            <a:lvl7pPr marL="3239770" indent="0">
              <a:buNone/>
              <a:defRPr sz="1180"/>
            </a:lvl7pPr>
            <a:lvl8pPr marL="3780155" indent="0">
              <a:buNone/>
              <a:defRPr sz="1180"/>
            </a:lvl8pPr>
            <a:lvl9pPr marL="4319905" indent="0">
              <a:buNone/>
              <a:defRPr sz="118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3722" y="431250"/>
            <a:ext cx="1806279" cy="6864376"/>
          </a:xfrm>
        </p:spPr>
        <p:txBody>
          <a:bodyPr vert="eaVert">
            <a:normAutofit/>
          </a:bodyPr>
          <a:lstStyle>
            <a:lvl1pPr>
              <a:defRPr sz="425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00" y="431250"/>
            <a:ext cx="10488140" cy="6864376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00" y="651429"/>
            <a:ext cx="12420000" cy="656571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00" y="431250"/>
            <a:ext cx="12420000" cy="1565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00" y="2156250"/>
            <a:ext cx="12420000" cy="5139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000" y="7507500"/>
            <a:ext cx="486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080135" rtl="0" eaLnBrk="1" latinLnBrk="0" hangingPunct="1">
        <a:lnSpc>
          <a:spcPct val="90000"/>
        </a:lnSpc>
        <a:spcBef>
          <a:spcPct val="0"/>
        </a:spcBef>
        <a:buNone/>
        <a:defRPr sz="47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269875" indent="-269875" algn="l" defTabSz="1080135" rtl="0" eaLnBrk="1" latinLnBrk="0" hangingPunct="1">
        <a:lnSpc>
          <a:spcPct val="90000"/>
        </a:lnSpc>
        <a:spcBef>
          <a:spcPts val="118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8102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35001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18897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243014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296989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5102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405003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5897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3pPr>
      <a:lvl4pPr marL="161988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5pPr>
      <a:lvl6pPr marL="270002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2397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31990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22.png"/><Relationship Id="rId11" Type="http://schemas.openxmlformats.org/officeDocument/2006/relationships/image" Target="../media/image21.png"/><Relationship Id="rId10" Type="http://schemas.openxmlformats.org/officeDocument/2006/relationships/image" Target="../media/image20.png"/><Relationship Id="rId1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54.png"/><Relationship Id="rId8" Type="http://schemas.openxmlformats.org/officeDocument/2006/relationships/image" Target="../media/image53.png"/><Relationship Id="rId7" Type="http://schemas.openxmlformats.org/officeDocument/2006/relationships/image" Target="../media/image52.png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58.png"/><Relationship Id="rId12" Type="http://schemas.openxmlformats.org/officeDocument/2006/relationships/image" Target="../media/image57.png"/><Relationship Id="rId11" Type="http://schemas.openxmlformats.org/officeDocument/2006/relationships/image" Target="../media/image56.png"/><Relationship Id="rId10" Type="http://schemas.openxmlformats.org/officeDocument/2006/relationships/image" Target="../media/image55.png"/><Relationship Id="rId1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68.png"/><Relationship Id="rId8" Type="http://schemas.openxmlformats.org/officeDocument/2006/relationships/image" Target="../media/image67.png"/><Relationship Id="rId7" Type="http://schemas.openxmlformats.org/officeDocument/2006/relationships/image" Target="../media/image66.png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77.png"/><Relationship Id="rId8" Type="http://schemas.openxmlformats.org/officeDocument/2006/relationships/image" Target="../media/image76.png"/><Relationship Id="rId7" Type="http://schemas.openxmlformats.org/officeDocument/2006/relationships/image" Target="../media/image75.png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84.png"/><Relationship Id="rId15" Type="http://schemas.openxmlformats.org/officeDocument/2006/relationships/image" Target="../media/image83.png"/><Relationship Id="rId14" Type="http://schemas.openxmlformats.org/officeDocument/2006/relationships/image" Target="../media/image82.png"/><Relationship Id="rId13" Type="http://schemas.openxmlformats.org/officeDocument/2006/relationships/image" Target="../media/image81.png"/><Relationship Id="rId12" Type="http://schemas.openxmlformats.org/officeDocument/2006/relationships/image" Target="../media/image80.png"/><Relationship Id="rId11" Type="http://schemas.openxmlformats.org/officeDocument/2006/relationships/image" Target="../media/image79.png"/><Relationship Id="rId10" Type="http://schemas.openxmlformats.org/officeDocument/2006/relationships/image" Target="../media/image78.png"/><Relationship Id="rId1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1930135" y="915640"/>
            <a:ext cx="10486390" cy="6350635"/>
            <a:chOff x="1301" y="464"/>
            <a:chExt cx="16514" cy="10001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100%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0.6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0.3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70%</a:t>
              </a:r>
              <a:endParaRPr lang="en-US" altLang="zh-CN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20%</a:t>
              </a:r>
              <a:endParaRPr lang="en-US" altLang="zh-CN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 rot="0">
            <a:off x="1950720" y="693420"/>
            <a:ext cx="10474960" cy="6572885"/>
            <a:chOff x="1333" y="114"/>
            <a:chExt cx="16496" cy="10351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351"/>
              <a:chOff x="1333" y="114"/>
              <a:chExt cx="16496" cy="10351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 rot="0"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 rot="0">
                <a:off x="1984" y="8434"/>
                <a:ext cx="15595" cy="2031"/>
                <a:chOff x="2352" y="8858"/>
                <a:chExt cx="15488" cy="2031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2016</a:t>
                  </a:r>
                  <a:endParaRPr lang="en-US" altLang="zh-CN" sz="16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2016</a:t>
                  </a:r>
                  <a:endParaRPr lang="en-US" altLang="zh-CN" sz="16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2023</a:t>
                  </a:r>
                  <a:endParaRPr lang="en-US" altLang="zh-CN" sz="16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2016</a:t>
                  </a:r>
                  <a:endParaRPr lang="en-US" altLang="zh-CN" sz="16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2023</a:t>
                  </a:r>
                  <a:endParaRPr lang="en-US" altLang="zh-CN" sz="16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South&amp;South-east Asia, 2016</a:t>
                  </a:r>
                  <a:endParaRPr lang="en-US" altLang="zh-CN" sz="16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Asia, 2023</a:t>
                  </a:r>
                  <a:endParaRPr lang="en-US" altLang="zh-CN" sz="16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2016</a:t>
                  </a:r>
                  <a:endParaRPr lang="en-US" altLang="zh-CN" sz="16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2023</a:t>
                  </a:r>
                  <a:endParaRPr lang="en-US" altLang="zh-CN" sz="16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2016</a:t>
                  </a:r>
                  <a:endParaRPr lang="zh-CN" altLang="en-US" sz="16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2023</a:t>
                  </a:r>
                  <a:endParaRPr lang="en-US" altLang="zh-CN" sz="16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2023</a:t>
                  </a:r>
                  <a:endParaRPr lang="en-US" altLang="zh-CN" sz="16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100%</a:t>
                </a:r>
                <a:endParaRPr lang="en-US" altLang="zh-CN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0.6</a:t>
                </a:r>
                <a:endParaRPr lang="en-US" altLang="zh-CN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0.3</a:t>
                </a:r>
                <a:endParaRPr lang="en-US" altLang="zh-CN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70%</a:t>
                </a:r>
                <a:endParaRPr lang="en-US" altLang="zh-CN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20%</a:t>
                </a:r>
                <a:endParaRPr lang="en-US" altLang="zh-CN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-0.2</a:t>
                </a:r>
                <a:endParaRPr lang="en-US" altLang="zh-CN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-0.4</a:t>
                </a:r>
                <a:endParaRPr lang="en-US" altLang="zh-CN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ctr"/>
                <a:r>
                  <a:rPr lang="en-US" altLang="zh-CN" sz="2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2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69" name="组合 68"/>
          <p:cNvGrpSpPr/>
          <p:nvPr/>
        </p:nvGrpSpPr>
        <p:grpSpPr>
          <a:xfrm>
            <a:off x="1104000" y="845790"/>
            <a:ext cx="12237720" cy="6249035"/>
            <a:chOff x="0" y="354"/>
            <a:chExt cx="19272" cy="9841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24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grpSp>
          <p:nvGrpSpPr>
            <p:cNvPr id="56" name="组合 55"/>
            <p:cNvGrpSpPr/>
            <p:nvPr/>
          </p:nvGrpSpPr>
          <p:grpSpPr>
            <a:xfrm rot="0">
              <a:off x="2061" y="816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608815" y="1964025"/>
            <a:ext cx="14954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15" name="组合 14"/>
          <p:cNvGrpSpPr/>
          <p:nvPr/>
        </p:nvGrpSpPr>
        <p:grpSpPr>
          <a:xfrm>
            <a:off x="0" y="1102360"/>
            <a:ext cx="14400530" cy="4257675"/>
            <a:chOff x="0" y="1736"/>
            <a:chExt cx="22678" cy="6705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Horizontal - Structural Zero Part</a:t>
              </a:r>
              <a:endParaRPr lang="en-US" altLang="zh-CN" sz="2000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Horizontal - Binomial (Real Construction) Part</a:t>
              </a:r>
              <a:endParaRPr lang="en-US" altLang="zh-CN" sz="20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2016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2023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2016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2023</a:t>
              </a:r>
              <a:endParaRPr lang="en-US" altLang="zh-CN"/>
            </a:p>
          </p:txBody>
        </p:sp>
      </p:grp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p:grpSp>
        <p:nvGrpSpPr>
          <p:cNvPr id="8" name="组合 7"/>
          <p:cNvGrpSpPr/>
          <p:nvPr/>
        </p:nvGrpSpPr>
        <p:grpSpPr>
          <a:xfrm>
            <a:off x="370205" y="1605915"/>
            <a:ext cx="13336905" cy="5143500"/>
            <a:chOff x="583" y="2529"/>
            <a:chExt cx="21003" cy="810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/>
                <p:cNvSpPr txBox="1"/>
                <p:nvPr/>
              </p:nvSpPr>
              <p:spPr>
                <a:xfrm>
                  <a:off x="11630" y="8665"/>
                  <a:ext cx="3967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small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1" name="TextBox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0" y="8665"/>
                  <a:ext cx="3967" cy="679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1098" y="8646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small,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small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" y="8646"/>
                  <a:ext cx="4052" cy="67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16811" y="8646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large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11" y="8646"/>
                  <a:ext cx="4052" cy="67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6364" y="8637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</a:t>
                  </a:r>
                  <a:r>
                    <a:rPr lang="en-US" altLang="zh-CN" sz="2205" dirty="0">
                      <a:latin typeface="Arial" panose="020B0604020202020204" pitchFamily="34" charset="0"/>
                    </a:rPr>
                    <a:t>small</a:t>
                  </a:r>
                  <a:r>
                    <a:rPr lang="en-US" sz="2205" dirty="0">
                      <a:latin typeface="Arial" panose="020B0604020202020204" pitchFamily="34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altLang="zh-CN" sz="2205" dirty="0">
                      <a:latin typeface="Arial" panose="020B0604020202020204" pitchFamily="34" charset="0"/>
                    </a:rPr>
                    <a:t>large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4" y="8637"/>
                  <a:ext cx="4052" cy="67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12"/>
            <p:cNvSpPr txBox="1"/>
            <p:nvPr/>
          </p:nvSpPr>
          <p:spPr>
            <a:xfrm>
              <a:off x="2645" y="2655"/>
              <a:ext cx="7452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Structural Zeros (cannot be constructed)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3" name="TextBox 98"/>
            <p:cNvSpPr txBox="1"/>
            <p:nvPr/>
          </p:nvSpPr>
          <p:spPr>
            <a:xfrm>
              <a:off x="10880" y="2676"/>
              <a:ext cx="5239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Constructable Area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32" y="2529"/>
              <a:ext cx="813" cy="813"/>
            </a:xfrm>
            <a:prstGeom prst="rect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p:sp>
          <p:nvSpPr>
            <p:cNvPr id="37" name="矩形 36"/>
            <p:cNvSpPr/>
            <p:nvPr/>
          </p:nvSpPr>
          <p:spPr>
            <a:xfrm>
              <a:off x="10068" y="2551"/>
              <a:ext cx="813" cy="81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69696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p:grpSp>
          <p:nvGrpSpPr>
            <p:cNvPr id="2" name="组合 1"/>
            <p:cNvGrpSpPr/>
            <p:nvPr/>
          </p:nvGrpSpPr>
          <p:grpSpPr>
            <a:xfrm>
              <a:off x="583" y="3473"/>
              <a:ext cx="5083" cy="5043"/>
              <a:chOff x="493" y="2941"/>
              <a:chExt cx="4304" cy="4270"/>
            </a:xfrm>
          </p:grpSpPr>
          <p:pic>
            <p:nvPicPr>
              <p:cNvPr id="40" name="图片 39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9" name="椭圆 18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5822" y="3473"/>
              <a:ext cx="5081" cy="5043"/>
              <a:chOff x="4929" y="2941"/>
              <a:chExt cx="4302" cy="4270"/>
            </a:xfrm>
          </p:grpSpPr>
          <p:pic>
            <p:nvPicPr>
              <p:cNvPr id="44" name="图片 4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39" name="椭圆 38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11060" y="3473"/>
              <a:ext cx="5081" cy="5043"/>
              <a:chOff x="9364" y="2941"/>
              <a:chExt cx="4302" cy="4270"/>
            </a:xfrm>
          </p:grpSpPr>
          <p:pic>
            <p:nvPicPr>
              <p:cNvPr id="46" name="图片 45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5" name="椭圆 44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16298" y="3473"/>
              <a:ext cx="5081" cy="5043"/>
              <a:chOff x="13799" y="2941"/>
              <a:chExt cx="4302" cy="4270"/>
            </a:xfrm>
          </p:grpSpPr>
          <p:pic>
            <p:nvPicPr>
              <p:cNvPr id="47" name="图片 46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8" name="椭圆 47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8"/>
                <p:cNvSpPr txBox="1"/>
                <p:nvPr/>
              </p:nvSpPr>
              <p:spPr>
                <a:xfrm>
                  <a:off x="14972" y="2557"/>
                  <a:ext cx="6614" cy="8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𝜑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)=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+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∙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sz="2835" b="0" i="1" dirty="0" smtClean="0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8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2" y="2557"/>
                  <a:ext cx="6614" cy="831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文本框 60"/>
            <p:cNvSpPr txBox="1"/>
            <p:nvPr/>
          </p:nvSpPr>
          <p:spPr>
            <a:xfrm>
              <a:off x="5933" y="9322"/>
              <a:ext cx="4928" cy="130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 open &amp; 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locked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932" y="9302"/>
              <a:ext cx="4734" cy="130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developable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landscape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6422" y="9322"/>
              <a:ext cx="4936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 limited &amp; 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locked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169" y="9322"/>
              <a:ext cx="4945" cy="130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constrained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landscape 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25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25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25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  <a:blipFill rotWithShape="1">
                <a:blip r:embed="rId1"/>
                <a:stretch>
                  <a:fillRect l="-5" t="-24" r="10" b="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492125" y="1739900"/>
            <a:ext cx="13313410" cy="4996815"/>
            <a:chOff x="775" y="2740"/>
            <a:chExt cx="20966" cy="7869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0966" cy="6874"/>
              <a:chOff x="1249" y="1357"/>
              <a:chExt cx="20966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9"/>
                <a:ext cx="2022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Buildings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Constructable Area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2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Structural Zeros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3" y="1378"/>
                    <a:ext cx="6830" cy="8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283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283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3" y="1378"/>
                    <a:ext cx="6830" cy="831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Small core, sparse periphery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sparse construction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Dense core, sparse periphery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dense construction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7595" y="8506646"/>
            <a:ext cx="4038463" cy="2486074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998" y="8638637"/>
            <a:ext cx="3185774" cy="1766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1234" y="8638637"/>
            <a:ext cx="2975789" cy="1649133"/>
          </a:xfrm>
          <a:prstGeom prst="rect">
            <a:avLst/>
          </a:prstGeom>
        </p:spPr>
      </p:pic>
      <p:grpSp>
        <p:nvGrpSpPr>
          <p:cNvPr id="78" name="组合 77"/>
          <p:cNvGrpSpPr/>
          <p:nvPr/>
        </p:nvGrpSpPr>
        <p:grpSpPr>
          <a:xfrm>
            <a:off x="485674" y="1542640"/>
            <a:ext cx="13394799" cy="4149455"/>
            <a:chOff x="647" y="2057"/>
            <a:chExt cx="17861" cy="5533"/>
          </a:xfrm>
        </p:grpSpPr>
        <p:grpSp>
          <p:nvGrpSpPr>
            <p:cNvPr id="73" name="组合 72"/>
            <p:cNvGrpSpPr/>
            <p:nvPr/>
          </p:nvGrpSpPr>
          <p:grpSpPr>
            <a:xfrm>
              <a:off x="647" y="2057"/>
              <a:ext cx="3551" cy="5533"/>
              <a:chOff x="647" y="2057"/>
              <a:chExt cx="3551" cy="5533"/>
            </a:xfrm>
          </p:grpSpPr>
          <p:sp>
            <p:nvSpPr>
              <p:cNvPr id="5163" name="TextBox 264"/>
              <p:cNvSpPr txBox="1"/>
              <p:nvPr/>
            </p:nvSpPr>
            <p:spPr>
              <a:xfrm>
                <a:off x="647" y="4712"/>
                <a:ext cx="3551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“Bowl”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 rot="0">
                <a:off x="1094" y="5693"/>
                <a:ext cx="2657" cy="1897"/>
                <a:chOff x="3202" y="5108"/>
                <a:chExt cx="2657" cy="1897"/>
              </a:xfrm>
            </p:grpSpPr>
            <p:cxnSp>
              <p:nvCxnSpPr>
                <p:cNvPr id="8" name="直接箭头连接符 7"/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直接箭头连接符 8"/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3" name="任意多边形 12"/>
                <p:cNvSpPr/>
                <p:nvPr/>
              </p:nvSpPr>
              <p:spPr>
                <a:xfrm>
                  <a:off x="3755" y="5568"/>
                  <a:ext cx="1606" cy="503"/>
                </a:xfrm>
                <a:custGeom>
                  <a:avLst/>
                  <a:gdLst>
                    <a:gd name="connsiteX0" fmla="*/ 0 w 7905"/>
                    <a:gd name="connsiteY0" fmla="*/ 2460 h 2476"/>
                    <a:gd name="connsiteX1" fmla="*/ 7905 w 7905"/>
                    <a:gd name="connsiteY1" fmla="*/ 0 h 2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905" h="2477">
                      <a:moveTo>
                        <a:pt x="0" y="2460"/>
                      </a:moveTo>
                      <a:cubicBezTo>
                        <a:pt x="4710" y="2655"/>
                        <a:pt x="7095" y="1095"/>
                        <a:pt x="7905" y="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  <p:grpSp>
              <p:nvGrpSpPr>
                <p:cNvPr id="18" name="组合 17"/>
                <p:cNvGrpSpPr/>
                <p:nvPr/>
              </p:nvGrpSpPr>
              <p:grpSpPr>
                <a:xfrm>
                  <a:off x="3202" y="510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1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4" name="文本框 13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48000"/>
              </a:blip>
              <a:stretch>
                <a:fillRect/>
              </a:stretch>
            </p:blipFill>
            <p:spPr>
              <a:xfrm>
                <a:off x="647" y="2057"/>
                <a:ext cx="3441" cy="2731"/>
              </a:xfrm>
              <a:prstGeom prst="rect">
                <a:avLst/>
              </a:prstGeom>
              <a:noFill/>
              <a:ln w="9525">
                <a:noFill/>
              </a:ln>
            </p:spPr>
          </p:pic>
        </p:grpSp>
        <p:grpSp>
          <p:nvGrpSpPr>
            <p:cNvPr id="75" name="组合 74"/>
            <p:cNvGrpSpPr/>
            <p:nvPr/>
          </p:nvGrpSpPr>
          <p:grpSpPr>
            <a:xfrm>
              <a:off x="7659" y="2455"/>
              <a:ext cx="3661" cy="5135"/>
              <a:chOff x="7722" y="2455"/>
              <a:chExt cx="3661" cy="5135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7722" y="2455"/>
                <a:ext cx="3470" cy="2199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3" name="文本框 2"/>
              <p:cNvSpPr txBox="1"/>
              <p:nvPr/>
            </p:nvSpPr>
            <p:spPr>
              <a:xfrm>
                <a:off x="7740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C=0, B=0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“Pancake”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grpSp>
            <p:nvGrpSpPr>
              <p:cNvPr id="23" name="组合 22"/>
              <p:cNvGrpSpPr/>
              <p:nvPr/>
            </p:nvGrpSpPr>
            <p:grpSpPr>
              <a:xfrm rot="0">
                <a:off x="8233" y="5693"/>
                <a:ext cx="2657" cy="1897"/>
                <a:chOff x="5687" y="5068"/>
                <a:chExt cx="2657" cy="1897"/>
              </a:xfrm>
            </p:grpSpPr>
            <p:cxnSp>
              <p:nvCxnSpPr>
                <p:cNvPr id="4" name="直接箭头连接符 3"/>
                <p:cNvCxnSpPr/>
                <p:nvPr/>
              </p:nvCxnSpPr>
              <p:spPr>
                <a:xfrm flipV="1">
                  <a:off x="6221" y="521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接箭头连接符 4"/>
                <p:cNvCxnSpPr/>
                <p:nvPr/>
              </p:nvCxnSpPr>
              <p:spPr>
                <a:xfrm>
                  <a:off x="6221" y="677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接连接符 5"/>
                <p:cNvCxnSpPr/>
                <p:nvPr/>
              </p:nvCxnSpPr>
              <p:spPr>
                <a:xfrm>
                  <a:off x="6236" y="6085"/>
                  <a:ext cx="1665" cy="0"/>
                </a:xfrm>
                <a:prstGeom prst="line">
                  <a:avLst/>
                </a:pr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19" name="组合 18"/>
                <p:cNvGrpSpPr/>
                <p:nvPr/>
              </p:nvGrpSpPr>
              <p:grpSpPr>
                <a:xfrm>
                  <a:off x="5687" y="506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20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7" name="组合 76"/>
            <p:cNvGrpSpPr/>
            <p:nvPr/>
          </p:nvGrpSpPr>
          <p:grpSpPr>
            <a:xfrm>
              <a:off x="14741" y="2761"/>
              <a:ext cx="3767" cy="4829"/>
              <a:chOff x="14737" y="2761"/>
              <a:chExt cx="3767" cy="4829"/>
            </a:xfrm>
          </p:grpSpPr>
          <p:pic>
            <p:nvPicPr>
              <p:cNvPr id="17" name="图片 16"/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rcRect l="8333" t="26856" r="10968" b="26289"/>
              <a:stretch>
                <a:fillRect/>
              </a:stretch>
            </p:blipFill>
            <p:spPr>
              <a:xfrm>
                <a:off x="14737" y="2761"/>
                <a:ext cx="3767" cy="1736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6" name="TextBox 190"/>
              <p:cNvSpPr txBox="1"/>
              <p:nvPr/>
            </p:nvSpPr>
            <p:spPr>
              <a:xfrm>
                <a:off x="14861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“Pyramid”City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 rot="0">
                <a:off x="15354" y="5693"/>
                <a:ext cx="2657" cy="1897"/>
                <a:chOff x="10870" y="5054"/>
                <a:chExt cx="2657" cy="1897"/>
              </a:xfrm>
            </p:grpSpPr>
            <p:sp>
              <p:nvSpPr>
                <p:cNvPr id="37" name="任意多边形 36"/>
                <p:cNvSpPr/>
                <p:nvPr/>
              </p:nvSpPr>
              <p:spPr>
                <a:xfrm>
                  <a:off x="11415" y="6023"/>
                  <a:ext cx="1395" cy="695"/>
                </a:xfrm>
                <a:custGeom>
                  <a:avLst/>
                  <a:gdLst>
                    <a:gd name="connsiteX0" fmla="*/ 0 w 6210"/>
                    <a:gd name="connsiteY0" fmla="*/ 0 h 2550"/>
                    <a:gd name="connsiteX1" fmla="*/ 6210 w 6210"/>
                    <a:gd name="connsiteY1" fmla="*/ 2550 h 25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210" h="2550">
                      <a:moveTo>
                        <a:pt x="0" y="0"/>
                      </a:moveTo>
                      <a:cubicBezTo>
                        <a:pt x="2385" y="1290"/>
                        <a:pt x="4110" y="2085"/>
                        <a:pt x="6210" y="255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  <p:cxnSp>
              <p:nvCxnSpPr>
                <p:cNvPr id="39" name="直接箭头连接符 38"/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箭头连接符 39"/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/>
                <p:cNvGrpSpPr/>
                <p:nvPr/>
              </p:nvGrpSpPr>
              <p:grpSpPr>
                <a:xfrm rot="0">
                  <a:off x="10870" y="5054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6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6" name="组合 75"/>
            <p:cNvGrpSpPr/>
            <p:nvPr/>
          </p:nvGrpSpPr>
          <p:grpSpPr>
            <a:xfrm>
              <a:off x="11209" y="2584"/>
              <a:ext cx="3643" cy="5006"/>
              <a:chOff x="11192" y="2584"/>
              <a:chExt cx="3643" cy="5006"/>
            </a:xfrm>
          </p:grpSpPr>
          <p:pic>
            <p:nvPicPr>
              <p:cNvPr id="4100" name="图片 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11510" y="2584"/>
                <a:ext cx="3007" cy="2070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7" name="TextBox 191"/>
              <p:cNvSpPr txBox="1"/>
              <p:nvPr/>
            </p:nvSpPr>
            <p:spPr>
              <a:xfrm>
                <a:off x="11192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“Volcanic Cone”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 rot="0">
                <a:off x="11686" y="5693"/>
                <a:ext cx="2657" cy="1897"/>
                <a:chOff x="8290" y="5068"/>
                <a:chExt cx="2657" cy="1897"/>
              </a:xfrm>
            </p:grpSpPr>
            <p:grpSp>
              <p:nvGrpSpPr>
                <p:cNvPr id="27" name="组合 26"/>
                <p:cNvGrpSpPr/>
                <p:nvPr/>
              </p:nvGrpSpPr>
              <p:grpSpPr>
                <a:xfrm>
                  <a:off x="8290" y="5068"/>
                  <a:ext cx="2657" cy="1897"/>
                  <a:chOff x="3202" y="5108"/>
                  <a:chExt cx="2657" cy="1897"/>
                </a:xfrm>
              </p:grpSpPr>
              <p:cxnSp>
                <p:nvCxnSpPr>
                  <p:cNvPr id="28" name="直接箭头连接符 2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箭头连接符 2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1" name="组合 30"/>
                  <p:cNvGrpSpPr/>
                  <p:nvPr/>
                </p:nvGrpSpPr>
                <p:grpSpPr>
                  <a:xfrm>
                    <a:off x="3202" y="5108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32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3" name="文本框 32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4" name="文本框 33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51" name="任意多边形 50"/>
                <p:cNvSpPr/>
                <p:nvPr/>
              </p:nvSpPr>
              <p:spPr>
                <a:xfrm>
                  <a:off x="8843" y="5741"/>
                  <a:ext cx="1742" cy="701"/>
                </a:xfrm>
                <a:custGeom>
                  <a:avLst/>
                  <a:gdLst>
                    <a:gd name="connsiteX0" fmla="*/ 0 w 6165"/>
                    <a:gd name="connsiteY0" fmla="*/ 895 h 1794"/>
                    <a:gd name="connsiteX1" fmla="*/ 2745 w 6165"/>
                    <a:gd name="connsiteY1" fmla="*/ 25 h 1794"/>
                    <a:gd name="connsiteX2" fmla="*/ 6165 w 6165"/>
                    <a:gd name="connsiteY2" fmla="*/ 1795 h 1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65" h="1795">
                      <a:moveTo>
                        <a:pt x="0" y="895"/>
                      </a:moveTo>
                      <a:cubicBezTo>
                        <a:pt x="411" y="669"/>
                        <a:pt x="1506" y="-152"/>
                        <a:pt x="2745" y="25"/>
                      </a:cubicBezTo>
                      <a:cubicBezTo>
                        <a:pt x="3984" y="202"/>
                        <a:pt x="5415" y="1432"/>
                        <a:pt x="6165" y="1795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4087" y="2348"/>
              <a:ext cx="3683" cy="5242"/>
              <a:chOff x="4198" y="2348"/>
              <a:chExt cx="3683" cy="5242"/>
            </a:xfrm>
          </p:grpSpPr>
          <p:sp>
            <p:nvSpPr>
              <p:cNvPr id="64" name="TextBox 190"/>
              <p:cNvSpPr txBox="1"/>
              <p:nvPr/>
            </p:nvSpPr>
            <p:spPr>
              <a:xfrm>
                <a:off x="4218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“Crown”City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pic>
            <p:nvPicPr>
              <p:cNvPr id="66" name="图片 6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4198" y="2348"/>
                <a:ext cx="3683" cy="2478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grpSp>
            <p:nvGrpSpPr>
              <p:cNvPr id="72" name="组合 71"/>
              <p:cNvGrpSpPr/>
              <p:nvPr/>
            </p:nvGrpSpPr>
            <p:grpSpPr>
              <a:xfrm>
                <a:off x="4712" y="5693"/>
                <a:ext cx="2657" cy="1897"/>
                <a:chOff x="4673" y="5693"/>
                <a:chExt cx="2657" cy="1897"/>
              </a:xfrm>
            </p:grpSpPr>
            <p:grpSp>
              <p:nvGrpSpPr>
                <p:cNvPr id="56" name="组合 55"/>
                <p:cNvGrpSpPr/>
                <p:nvPr/>
              </p:nvGrpSpPr>
              <p:grpSpPr>
                <a:xfrm rot="0">
                  <a:off x="4673" y="5693"/>
                  <a:ext cx="2657" cy="1897"/>
                  <a:chOff x="10870" y="5054"/>
                  <a:chExt cx="2657" cy="1897"/>
                </a:xfrm>
              </p:grpSpPr>
              <p:cxnSp>
                <p:nvCxnSpPr>
                  <p:cNvPr id="58" name="直接箭头连接符 57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接箭头连接符 58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" name="组合 59"/>
                  <p:cNvGrpSpPr/>
                  <p:nvPr/>
                </p:nvGrpSpPr>
                <p:grpSpPr>
                  <a:xfrm rot="0">
                    <a:off x="10870" y="5054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61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2" name="文本框 61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3" name="文本框 62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68" name="任意多边形 67"/>
                <p:cNvSpPr/>
                <p:nvPr/>
              </p:nvSpPr>
              <p:spPr>
                <a:xfrm>
                  <a:off x="5227" y="6643"/>
                  <a:ext cx="1770" cy="296"/>
                </a:xfrm>
                <a:custGeom>
                  <a:avLst/>
                  <a:gdLst>
                    <a:gd name="connsiteX0" fmla="*/ 0 w 6127"/>
                    <a:gd name="connsiteY0" fmla="*/ 0 h 836"/>
                    <a:gd name="connsiteX1" fmla="*/ 3080 w 6127"/>
                    <a:gd name="connsiteY1" fmla="*/ 836 h 836"/>
                    <a:gd name="connsiteX2" fmla="*/ 6127 w 6127"/>
                    <a:gd name="connsiteY2" fmla="*/ 82 h 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27" h="836">
                      <a:moveTo>
                        <a:pt x="0" y="0"/>
                      </a:moveTo>
                      <a:cubicBezTo>
                        <a:pt x="492" y="328"/>
                        <a:pt x="1855" y="829"/>
                        <a:pt x="3080" y="836"/>
                      </a:cubicBezTo>
                      <a:cubicBezTo>
                        <a:pt x="4305" y="843"/>
                        <a:pt x="5586" y="344"/>
                        <a:pt x="6127" y="82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627505" y="8510905"/>
            <a:ext cx="9902825" cy="671195"/>
            <a:chOff x="1984" y="9408"/>
            <a:chExt cx="15595" cy="1057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grpSp>
        <p:nvGrpSpPr>
          <p:cNvPr id="75" name="组合 74"/>
          <p:cNvGrpSpPr/>
          <p:nvPr/>
        </p:nvGrpSpPr>
        <p:grpSpPr>
          <a:xfrm>
            <a:off x="1626870" y="480060"/>
            <a:ext cx="11659235" cy="6403975"/>
            <a:chOff x="2562" y="774"/>
            <a:chExt cx="18361" cy="10085"/>
          </a:xfrm>
        </p:grpSpPr>
        <p:sp>
          <p:nvSpPr>
            <p:cNvPr id="66" name="矩形 65"/>
            <p:cNvSpPr/>
            <p:nvPr/>
          </p:nvSpPr>
          <p:spPr>
            <a:xfrm>
              <a:off x="2562" y="775"/>
              <a:ext cx="18361" cy="1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149" name="组合 148"/>
            <p:cNvGrpSpPr/>
            <p:nvPr/>
          </p:nvGrpSpPr>
          <p:grpSpPr>
            <a:xfrm rot="0">
              <a:off x="5545" y="9577"/>
              <a:ext cx="12613" cy="1146"/>
              <a:chOff x="5545" y="9577"/>
              <a:chExt cx="12613" cy="10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9" y="9577"/>
                <a:ext cx="3569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2016</a:t>
                </a:r>
                <a:endParaRPr lang="en-US" altLang="zh-CN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9" y="10068"/>
                <a:ext cx="3569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2023</a:t>
                </a:r>
                <a:endParaRPr lang="en-US" altLang="zh-CN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2016</a:t>
                </a:r>
                <a:endParaRPr lang="en-US" altLang="zh-CN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2023</a:t>
                </a:r>
                <a:endParaRPr lang="en-US" altLang="zh-CN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133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South&amp;South-east Asia, 2016</a:t>
                </a:r>
                <a:endParaRPr lang="en-US" altLang="zh-CN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133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>
                    <a:sym typeface="+mn-ea"/>
                  </a:rPr>
                  <a:t>South&amp;South-east Asia, 2023</a:t>
                </a:r>
                <a:endParaRPr lang="en-US" altLang="zh-CN">
                  <a:sym typeface="+mn-ea"/>
                </a:endParaRP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 rot="0">
              <a:off x="2735" y="774"/>
              <a:ext cx="8414" cy="8385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 rot="0"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1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50%</a:t>
                  </a:r>
                  <a:endParaRPr lang="en-US" altLang="zh-CN" sz="20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100%</a:t>
                  </a:r>
                  <a:endParaRPr lang="en-US" altLang="zh-CN" sz="2000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</a:t>
                  </a:r>
                  <a:endParaRPr lang="en-US" altLang="zh-CN" sz="2000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0.6</a:t>
                  </a:r>
                  <a:endParaRPr lang="en-US" altLang="zh-CN" sz="2000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0.3</a:t>
                  </a:r>
                  <a:endParaRPr lang="en-US" altLang="zh-CN" sz="2000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292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925" y="5000"/>
                  <a:ext cx="2574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  <a:endPara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- Structural Zero</a:t>
                    </a:r>
                    <a:endPara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307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199" y="6889"/>
                <a:ext cx="2265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algn="l"/>
                <a:r>
                  <a:rPr lang="en-US" altLang="zh-CN" sz="1400" i="1">
                    <a:solidFill>
                      <a:schemeClr val="tx1"/>
                    </a:solidFill>
                  </a:rPr>
                  <a:t>29% Uniform developable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  <a:p>
                <a:pPr algn="l"/>
                <a:r>
                  <a:rPr lang="en-US" altLang="zh-CN" sz="1400" i="1">
                    <a:solidFill>
                      <a:schemeClr val="tx1"/>
                    </a:solidFill>
                  </a:rPr>
                  <a:t>landscape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5" y="2112"/>
                <a:ext cx="2346" cy="679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algn="r"/>
                <a:r>
                  <a:rPr lang="en-US" altLang="zh-CN" sz="1400" i="1">
                    <a:solidFill>
                      <a:schemeClr val="tx1"/>
                    </a:solidFill>
                  </a:rPr>
                  <a:t>1% Core limited, edge locked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45% Core open, edge locked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algn="r"/>
                <a:r>
                  <a:rPr lang="en-US" altLang="zh-CN" sz="1400" i="1">
                    <a:solidFill>
                      <a:schemeClr val="tx1"/>
                    </a:solidFill>
                  </a:rPr>
                  <a:t>25% Uniform constrianed landscape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 rot="0">
              <a:off x="10646" y="774"/>
              <a:ext cx="10073" cy="8317"/>
              <a:chOff x="10646" y="774"/>
              <a:chExt cx="10073" cy="8317"/>
            </a:xfrm>
          </p:grpSpPr>
          <p:pic>
            <p:nvPicPr>
              <p:cNvPr id="129" name="图片 128"/>
              <p:cNvPicPr/>
              <p:nvPr/>
            </p:nvPicPr>
            <p:blipFill>
              <a:blip r:embed="rId3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073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- Binomial (Actual Construction)</a:t>
                    </a:r>
                    <a:endPara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073" cy="1307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 rot="0">
                <a:off x="11207" y="1844"/>
                <a:ext cx="8319" cy="7247"/>
                <a:chOff x="9406" y="1694"/>
                <a:chExt cx="8319" cy="7247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70%</a:t>
                  </a:r>
                  <a:endParaRPr lang="en-US" altLang="zh-CN" sz="2000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20%</a:t>
                  </a:r>
                  <a:endParaRPr lang="en-US" altLang="zh-CN" sz="2000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</a:t>
                  </a:r>
                  <a:endParaRPr lang="en-US" altLang="zh-CN" sz="20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0.2</a:t>
                  </a:r>
                  <a:endParaRPr lang="en-US" altLang="zh-CN" sz="2000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39" y="8428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50%</a:t>
                  </a:r>
                  <a:endParaRPr lang="en-US" altLang="zh-CN" sz="2000"/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0.4</a:t>
                  </a:r>
                  <a:endParaRPr lang="en-US" altLang="zh-CN" sz="2000"/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5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641" y="7316"/>
                <a:ext cx="2646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r"/>
                <a:r>
                  <a: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  <a:endPara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655955" y="-645160"/>
            <a:ext cx="135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4831695" y="-1198880"/>
            <a:ext cx="2746375" cy="913130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20015" y="10464800"/>
            <a:ext cx="14569440" cy="2619375"/>
            <a:chOff x="186" y="3371"/>
            <a:chExt cx="22944" cy="4125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400" i="1">
                  <a:solidFill>
                    <a:schemeClr val="tx1"/>
                  </a:solidFill>
                </a:rPr>
                <a:t>Low-Constraint, Flat-Gradient</a:t>
              </a:r>
              <a:endParaRPr lang="en-US" altLang="zh-CN" sz="1400" i="1">
                <a:solidFill>
                  <a:schemeClr val="tx1"/>
                </a:solidFill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p>
              <a:pPr algn="l"/>
              <a:r>
                <a:rPr lang="en-US" altLang="zh-CN" sz="1400" i="1">
                  <a:solidFill>
                    <a:schemeClr val="tx1"/>
                  </a:solidFill>
                </a:rPr>
                <a:t>High-Constraint, Steep-Gradient</a:t>
              </a:r>
              <a:endParaRPr lang="en-US" altLang="zh-CN" sz="1400" i="1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Low-Constraint,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Steep-Gradient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l"/>
              <a:r>
                <a:rPr lang="en-US" altLang="zh-CN" sz="1400" i="1">
                  <a:solidFill>
                    <a:schemeClr val="tx1"/>
                  </a:solidFill>
                </a:rPr>
                <a:t>High-Constraint, Flat-Gradient</a:t>
              </a:r>
              <a:endParaRPr lang="en-US" altLang="zh-CN" sz="1400" i="1">
                <a:solidFill>
                  <a:schemeClr val="tx1"/>
                </a:solidFill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Low-Intensity, Flat-Gradient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100" name="组合 99"/>
            <p:cNvGrpSpPr/>
            <p:nvPr/>
          </p:nvGrpSpPr>
          <p:grpSpPr>
            <a:xfrm rot="0"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 rot="0"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 rot="0"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 rot="0"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 rot="0"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 rot="0"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 rot="0"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 rot="0"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2478405" y="-1192530"/>
            <a:ext cx="992060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240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组合 3"/>
          <p:cNvGrpSpPr/>
          <p:nvPr/>
        </p:nvGrpSpPr>
        <p:grpSpPr>
          <a:xfrm>
            <a:off x="720725" y="692150"/>
            <a:ext cx="13425805" cy="6262370"/>
            <a:chOff x="1135" y="1090"/>
            <a:chExt cx="21143" cy="9862"/>
          </a:xfrm>
        </p:grpSpPr>
        <p:sp>
          <p:nvSpPr>
            <p:cNvPr id="73" name="矩形 72"/>
            <p:cNvSpPr/>
            <p:nvPr/>
          </p:nvSpPr>
          <p:spPr>
            <a:xfrm>
              <a:off x="1136" y="1090"/>
              <a:ext cx="21143" cy="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3" name="图片 2"/>
            <p:cNvPicPr/>
            <p:nvPr/>
          </p:nvPicPr>
          <p:blipFill>
            <a:blip r:embed="rId1"/>
            <a:srcRect t="6059" r="30212" b="5321"/>
            <a:stretch>
              <a:fillRect/>
            </a:stretch>
          </p:blipFill>
          <p:spPr>
            <a:xfrm>
              <a:off x="10877" y="1882"/>
              <a:ext cx="9845" cy="6245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2"/>
            <a:srcRect t="6058" r="32331" b="5235"/>
            <a:stretch>
              <a:fillRect/>
            </a:stretch>
          </p:blipFill>
          <p:spPr>
            <a:xfrm>
              <a:off x="1135" y="1950"/>
              <a:ext cx="9269" cy="6075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2366" y="7966"/>
              <a:ext cx="176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Africa</a:t>
              </a:r>
              <a:endParaRPr lang="en-US" altLang="zh-CN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4699" y="7967"/>
              <a:ext cx="2818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South &amp; Southeast Asia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7864" y="7967"/>
              <a:ext cx="19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>
                  <a:ea typeface="宋体" panose="02010600030101010101" pitchFamily="2" charset="-122"/>
                </a:rPr>
                <a:t>Latin</a:t>
              </a:r>
              <a:endParaRPr lang="en-US" altLang="zh-CN">
                <a:ea typeface="宋体" panose="02010600030101010101" pitchFamily="2" charset="-122"/>
              </a:endParaRPr>
            </a:p>
            <a:p>
              <a:pPr algn="ctr"/>
              <a:r>
                <a:rPr lang="en-US" altLang="zh-CN">
                  <a:ea typeface="宋体" panose="02010600030101010101" pitchFamily="2" charset="-122"/>
                </a:rPr>
                <a:t>America</a:t>
              </a:r>
              <a:endParaRPr lang="en-US" altLang="zh-CN">
                <a:ea typeface="宋体" panose="02010600030101010101" pitchFamily="2" charset="-122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2219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2016</a:t>
              </a:r>
              <a:endParaRPr lang="en-US" altLang="zh-CN" sz="1400"/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3293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2023</a:t>
              </a:r>
              <a:endParaRPr lang="en-US" altLang="zh-CN" sz="1400"/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4971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2016</a:t>
              </a:r>
              <a:endParaRPr lang="en-US" altLang="zh-CN" sz="1400"/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6045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2023</a:t>
              </a:r>
              <a:endParaRPr lang="en-US" altLang="zh-CN" sz="1400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7823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2016</a:t>
              </a:r>
              <a:endParaRPr lang="en-US" altLang="zh-CN" sz="1400"/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8897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2023</a:t>
              </a:r>
              <a:endParaRPr lang="en-US" altLang="zh-CN" sz="1400"/>
            </a:p>
          </p:txBody>
        </p:sp>
        <p:sp>
          <p:nvSpPr>
            <p:cNvPr id="14" name="矩形 13"/>
            <p:cNvSpPr/>
            <p:nvPr/>
          </p:nvSpPr>
          <p:spPr>
            <a:xfrm>
              <a:off x="2194" y="9790"/>
              <a:ext cx="737" cy="442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3056" y="9725"/>
              <a:ext cx="3409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Uniformly Developable</a:t>
              </a:r>
              <a:endParaRPr lang="en-US" altLang="zh-CN" sz="1500"/>
            </a:p>
          </p:txBody>
        </p:sp>
        <p:sp>
          <p:nvSpPr>
            <p:cNvPr id="16" name="矩形 15"/>
            <p:cNvSpPr/>
            <p:nvPr/>
          </p:nvSpPr>
          <p:spPr>
            <a:xfrm>
              <a:off x="2194" y="10340"/>
              <a:ext cx="737" cy="442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3056" y="10275"/>
              <a:ext cx="3690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Uniformly Constrianed</a:t>
              </a:r>
              <a:endParaRPr lang="en-US" altLang="zh-CN" sz="1500"/>
            </a:p>
          </p:txBody>
        </p:sp>
        <p:sp>
          <p:nvSpPr>
            <p:cNvPr id="18" name="矩形 17"/>
            <p:cNvSpPr/>
            <p:nvPr/>
          </p:nvSpPr>
          <p:spPr>
            <a:xfrm>
              <a:off x="6868" y="9769"/>
              <a:ext cx="737" cy="442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6868" y="10319"/>
              <a:ext cx="737" cy="442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7721" y="9747"/>
              <a:ext cx="4039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Core-Open, Edge-Locked</a:t>
              </a:r>
              <a:endParaRPr lang="en-US" altLang="zh-CN" sz="15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21" y="10254"/>
              <a:ext cx="4039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Core-Limited, Edge-Locked</a:t>
              </a:r>
              <a:endParaRPr lang="en-US" altLang="zh-CN" sz="1500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4076" y="9218"/>
              <a:ext cx="56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500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  <a:endParaRPr lang="en-US" altLang="zh-CN" sz="1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136" y="1090"/>
              <a:ext cx="9268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/>
                <a:t>(a) Horizontal - Structural Zero Part</a:t>
              </a:r>
              <a:endParaRPr lang="en-US" altLang="zh-CN" sz="240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675" y="1090"/>
              <a:ext cx="10867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/>
                <a:t>(b) Horizontal - Binomial (Real Construction) Part</a:t>
              </a:r>
              <a:endParaRPr lang="en-US" altLang="zh-CN" sz="2400"/>
            </a:p>
          </p:txBody>
        </p:sp>
        <p:sp>
          <p:nvSpPr>
            <p:cNvPr id="46" name="矩形 45"/>
            <p:cNvSpPr/>
            <p:nvPr/>
          </p:nvSpPr>
          <p:spPr>
            <a:xfrm>
              <a:off x="12681" y="9790"/>
              <a:ext cx="737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3543" y="9725"/>
              <a:ext cx="56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Uniformly Sparse</a:t>
              </a:r>
              <a:endParaRPr lang="en-US" altLang="zh-CN" sz="1500"/>
            </a:p>
          </p:txBody>
        </p:sp>
        <p:sp>
          <p:nvSpPr>
            <p:cNvPr id="48" name="矩形 47"/>
            <p:cNvSpPr/>
            <p:nvPr/>
          </p:nvSpPr>
          <p:spPr>
            <a:xfrm>
              <a:off x="12681" y="10340"/>
              <a:ext cx="737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3543" y="10296"/>
              <a:ext cx="5626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Uniformly Dense</a:t>
              </a:r>
              <a:endParaRPr lang="en-US" altLang="zh-CN" sz="1500"/>
            </a:p>
          </p:txBody>
        </p:sp>
        <p:sp>
          <p:nvSpPr>
            <p:cNvPr id="50" name="矩形 49"/>
            <p:cNvSpPr/>
            <p:nvPr/>
          </p:nvSpPr>
          <p:spPr>
            <a:xfrm>
              <a:off x="16233" y="9769"/>
              <a:ext cx="737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1" name="矩形 50"/>
            <p:cNvSpPr/>
            <p:nvPr/>
          </p:nvSpPr>
          <p:spPr>
            <a:xfrm>
              <a:off x="16233" y="10319"/>
              <a:ext cx="737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086" y="9747"/>
              <a:ext cx="445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Small-Core, Sparse-Periphery</a:t>
              </a:r>
              <a:endParaRPr lang="en-US" altLang="zh-CN" sz="1500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7086" y="10254"/>
              <a:ext cx="4456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Dense-Core, Sparse-Periphery</a:t>
              </a:r>
              <a:endParaRPr lang="en-US" altLang="zh-CN" sz="1500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4207" y="9154"/>
              <a:ext cx="56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500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  <a:endParaRPr lang="en-US" altLang="zh-CN" sz="1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0" name="组合 69"/>
            <p:cNvGrpSpPr/>
            <p:nvPr/>
          </p:nvGrpSpPr>
          <p:grpSpPr>
            <a:xfrm rot="0">
              <a:off x="2376" y="1900"/>
              <a:ext cx="7636" cy="7079"/>
              <a:chOff x="3143" y="2576"/>
              <a:chExt cx="6906" cy="6401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Africa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397" y="8058"/>
                <a:ext cx="2558" cy="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South &amp; Southeast Asia</a:t>
                </a:r>
                <a:endParaRPr lang="en-US" altLang="zh-CN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>
                    <a:ea typeface="宋体" panose="02010600030101010101" pitchFamily="2" charset="-122"/>
                  </a:rPr>
                  <a:t>Latin</a:t>
                </a:r>
                <a:endParaRPr lang="en-US" altLang="zh-CN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>
                    <a:ea typeface="宋体" panose="02010600030101010101" pitchFamily="2" charset="-122"/>
                  </a:rPr>
                  <a:t>America</a:t>
                </a:r>
                <a:endParaRPr lang="en-US" altLang="zh-CN">
                  <a:ea typeface="宋体" panose="02010600030101010101" pitchFamily="2" charset="-122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2016</a:t>
                </a:r>
                <a:endParaRPr lang="en-US" altLang="zh-CN" sz="1400"/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2023</a:t>
                </a:r>
                <a:endParaRPr lang="en-US" altLang="zh-CN" sz="1400"/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2016</a:t>
                </a:r>
                <a:endParaRPr lang="en-US" altLang="zh-CN" sz="1400"/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2023</a:t>
                </a:r>
                <a:endParaRPr lang="en-US" altLang="zh-CN" sz="1400"/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2016</a:t>
                </a:r>
                <a:endParaRPr lang="en-US" altLang="zh-CN" sz="1400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2023</a:t>
                </a:r>
                <a:endParaRPr lang="en-US" altLang="zh-CN" sz="1400"/>
              </a:p>
            </p:txBody>
          </p: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3465195" y="692150"/>
            <a:ext cx="6700520" cy="6842760"/>
            <a:chOff x="5457" y="1090"/>
            <a:chExt cx="10552" cy="10776"/>
          </a:xfrm>
        </p:grpSpPr>
        <p:sp>
          <p:nvSpPr>
            <p:cNvPr id="73" name="矩形 72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8" name="图片 7"/>
            <p:cNvPicPr/>
            <p:nvPr/>
          </p:nvPicPr>
          <p:blipFill>
            <a:blip r:embed="rId1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31" name="文本框 30"/>
            <p:cNvSpPr txBox="1"/>
            <p:nvPr/>
          </p:nvSpPr>
          <p:spPr>
            <a:xfrm>
              <a:off x="6120" y="1175"/>
              <a:ext cx="9268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/>
                <a:t>Veritical - Height</a:t>
              </a:r>
              <a:endParaRPr lang="en-US" altLang="zh-CN" sz="2400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8369" y="9019"/>
              <a:ext cx="56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500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  <a:endParaRPr lang="en-US" altLang="zh-CN" sz="1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0" name="组合 69"/>
            <p:cNvGrpSpPr/>
            <p:nvPr/>
          </p:nvGrpSpPr>
          <p:grpSpPr>
            <a:xfrm rot="0">
              <a:off x="6974" y="1967"/>
              <a:ext cx="7820" cy="7079"/>
              <a:chOff x="3143" y="2576"/>
              <a:chExt cx="7072" cy="6401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Africa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397" y="8058"/>
                <a:ext cx="2558" cy="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South &amp; Southeast Asia</a:t>
                </a:r>
                <a:endParaRPr lang="en-US" altLang="zh-CN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2116" cy="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>
                    <a:ea typeface="宋体" panose="02010600030101010101" pitchFamily="2" charset="-122"/>
                  </a:rPr>
                  <a:t>Latin</a:t>
                </a:r>
                <a:endParaRPr lang="en-US" altLang="zh-CN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>
                    <a:ea typeface="宋体" panose="02010600030101010101" pitchFamily="2" charset="-122"/>
                  </a:rPr>
                  <a:t>America</a:t>
                </a:r>
                <a:endParaRPr lang="en-US" altLang="zh-CN">
                  <a:ea typeface="宋体" panose="02010600030101010101" pitchFamily="2" charset="-122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2016</a:t>
                </a:r>
                <a:endParaRPr lang="en-US" altLang="zh-CN" sz="1400"/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2023</a:t>
                </a:r>
                <a:endParaRPr lang="en-US" altLang="zh-CN" sz="1400"/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2016</a:t>
                </a:r>
                <a:endParaRPr lang="en-US" altLang="zh-CN" sz="1400"/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2023</a:t>
                </a:r>
                <a:endParaRPr lang="en-US" altLang="zh-CN" sz="1400"/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2016</a:t>
                </a:r>
                <a:endParaRPr lang="en-US" altLang="zh-CN" sz="1400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400"/>
                  <a:t>2023</a:t>
                </a:r>
                <a:endParaRPr lang="en-US" altLang="zh-CN" sz="1400"/>
              </a:p>
            </p:txBody>
          </p:sp>
        </p:grpSp>
        <p:sp>
          <p:nvSpPr>
            <p:cNvPr id="18" name="矩形 17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7740" y="9636"/>
              <a:ext cx="3393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High-scale, Crown</a:t>
              </a:r>
              <a:endParaRPr lang="en-US" altLang="zh-CN" sz="15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40" y="10182"/>
              <a:ext cx="3393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High-scale, Pyramid</a:t>
              </a:r>
              <a:endParaRPr lang="en-US" altLang="zh-CN" sz="1500"/>
            </a:p>
          </p:txBody>
        </p:sp>
        <p:sp>
          <p:nvSpPr>
            <p:cNvPr id="46" name="矩形 45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7740" y="10728"/>
              <a:ext cx="3393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High-scale, Volcanic</a:t>
              </a:r>
              <a:endParaRPr lang="en-US" altLang="zh-CN" sz="1500"/>
            </a:p>
          </p:txBody>
        </p:sp>
        <p:sp>
          <p:nvSpPr>
            <p:cNvPr id="48" name="矩形 47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163" y="10784"/>
              <a:ext cx="32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Low-scale, Pyramid</a:t>
              </a:r>
              <a:endParaRPr lang="en-US" altLang="zh-CN" sz="1500"/>
            </a:p>
          </p:txBody>
        </p:sp>
        <p:sp>
          <p:nvSpPr>
            <p:cNvPr id="50" name="矩形 49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1" name="矩形 50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2163" y="9636"/>
              <a:ext cx="3224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Low-scale, Bowl</a:t>
              </a:r>
              <a:endParaRPr lang="en-US" altLang="zh-CN" sz="1500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2163" y="10210"/>
              <a:ext cx="3224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Low-scale, Crown</a:t>
              </a:r>
              <a:endParaRPr lang="en-US" altLang="zh-CN" sz="1500"/>
            </a:p>
          </p:txBody>
        </p:sp>
        <p:sp>
          <p:nvSpPr>
            <p:cNvPr id="6" name="矩形 5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2163" y="11358"/>
              <a:ext cx="32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/>
                <a:t>Low-scale, Volcanic</a:t>
              </a:r>
              <a:endParaRPr lang="en-US" altLang="zh-CN" sz="150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0" name="组合 79"/>
          <p:cNvGrpSpPr/>
          <p:nvPr/>
        </p:nvGrpSpPr>
        <p:grpSpPr>
          <a:xfrm>
            <a:off x="2413000" y="8252460"/>
            <a:ext cx="9902825" cy="670560"/>
            <a:chOff x="3800" y="12996"/>
            <a:chExt cx="15595" cy="1056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0" y="549275"/>
            <a:ext cx="14399260" cy="6859270"/>
            <a:chOff x="0" y="865"/>
            <a:chExt cx="22676" cy="10802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4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800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  <a:endParaRPr lang="en-US" altLang="zh-CN" sz="28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47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grpSp>
          <p:nvGrpSpPr>
            <p:cNvPr id="82" name="组合 81"/>
            <p:cNvGrpSpPr/>
            <p:nvPr/>
          </p:nvGrpSpPr>
          <p:grpSpPr>
            <a:xfrm rot="0">
              <a:off x="3058" y="10523"/>
              <a:ext cx="16034" cy="1144"/>
              <a:chOff x="3914" y="9142"/>
              <a:chExt cx="14213" cy="1014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2016</a:t>
                </a:r>
                <a:endParaRPr lang="en-US" altLang="zh-CN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2023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2016</a:t>
                </a:r>
                <a:endParaRPr lang="en-US" altLang="zh-CN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2023</a:t>
                </a:r>
                <a:endParaRPr lang="en-US" altLang="zh-CN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South&amp;South-east Asia, 2016</a:t>
                </a:r>
                <a:endParaRPr lang="en-US" altLang="zh-CN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>
                    <a:sym typeface="+mn-ea"/>
                  </a:rPr>
                  <a:t>South&amp;South-east Asia, 2023</a:t>
                </a:r>
                <a:endParaRPr lang="en-US" altLang="zh-CN">
                  <a:sym typeface="+mn-ea"/>
                </a:endParaRP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4"/>
              <a:ext cx="1830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sym typeface="+mn-ea"/>
                </a:rPr>
                <a:t>“Crown”City</a:t>
              </a:r>
              <a:endParaRPr lang="en-US" altLang="zh-CN" sz="140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2"/>
              <a:ext cx="2140" cy="872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sym typeface="+mn-ea"/>
                </a:rPr>
                <a:t>“Pyramid”City</a:t>
              </a:r>
              <a:endParaRPr lang="en-US" altLang="zh-CN" sz="1400">
                <a:latin typeface="Arial" panose="020B0604020202020204" pitchFamily="34" charset="0"/>
                <a:sym typeface="+mn-ea"/>
              </a:endParaRP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/>
          <p:nvPr/>
        </p:nvPicPr>
        <p:blipFill>
          <a:blip r:embed="rId1"/>
          <a:srcRect l="50166" t="71" r="-5" b="-71"/>
          <a:stretch>
            <a:fillRect/>
          </a:stretch>
        </p:blipFill>
        <p:spPr>
          <a:xfrm>
            <a:off x="6989445" y="8413750"/>
            <a:ext cx="5774690" cy="4557395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635635" y="8428990"/>
            <a:ext cx="5774690" cy="4557395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>
            <a:off x="310515" y="797560"/>
            <a:ext cx="12630150" cy="6781800"/>
            <a:chOff x="489" y="1256"/>
            <a:chExt cx="19890" cy="10680"/>
          </a:xfrm>
        </p:grpSpPr>
        <p:grpSp>
          <p:nvGrpSpPr>
            <p:cNvPr id="65" name="组合 64"/>
            <p:cNvGrpSpPr/>
            <p:nvPr/>
          </p:nvGrpSpPr>
          <p:grpSpPr>
            <a:xfrm>
              <a:off x="489" y="1256"/>
              <a:ext cx="19890" cy="10680"/>
              <a:chOff x="489" y="1256"/>
              <a:chExt cx="19890" cy="10680"/>
            </a:xfrm>
          </p:grpSpPr>
          <p:sp>
            <p:nvSpPr>
              <p:cNvPr id="66" name="矩形 65"/>
              <p:cNvSpPr/>
              <p:nvPr/>
            </p:nvSpPr>
            <p:spPr>
              <a:xfrm>
                <a:off x="489" y="1256"/>
                <a:ext cx="19890" cy="106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grpSp>
            <p:nvGrpSpPr>
              <p:cNvPr id="64" name="组合 63"/>
              <p:cNvGrpSpPr/>
              <p:nvPr/>
            </p:nvGrpSpPr>
            <p:grpSpPr>
              <a:xfrm>
                <a:off x="647" y="1461"/>
                <a:ext cx="19401" cy="10086"/>
                <a:chOff x="647" y="1461"/>
                <a:chExt cx="19401" cy="10086"/>
              </a:xfrm>
            </p:grpSpPr>
            <p:pic>
              <p:nvPicPr>
                <p:cNvPr id="11" name="图片 10"/>
                <p:cNvPicPr>
                  <a:picLocks noChangeAspect="1"/>
                </p:cNvPicPr>
                <p:nvPr/>
              </p:nvPicPr>
              <p:blipFill>
                <a:blip r:embed="rId2"/>
                <a:srcRect t="1124"/>
                <a:stretch>
                  <a:fillRect/>
                </a:stretch>
              </p:blipFill>
              <p:spPr>
                <a:xfrm>
                  <a:off x="647" y="2767"/>
                  <a:ext cx="19200" cy="7920"/>
                </a:xfrm>
                <a:prstGeom prst="rect">
                  <a:avLst/>
                </a:prstGeom>
              </p:spPr>
            </p:pic>
            <p:grpSp>
              <p:nvGrpSpPr>
                <p:cNvPr id="12" name="组合 11"/>
                <p:cNvGrpSpPr/>
                <p:nvPr/>
              </p:nvGrpSpPr>
              <p:grpSpPr>
                <a:xfrm>
                  <a:off x="1609" y="9777"/>
                  <a:ext cx="8717" cy="993"/>
                  <a:chOff x="1420" y="9835"/>
                  <a:chExt cx="8717" cy="993"/>
                </a:xfrm>
              </p:grpSpPr>
              <p:sp>
                <p:nvSpPr>
                  <p:cNvPr id="8" name="矩形 7"/>
                  <p:cNvSpPr/>
                  <p:nvPr/>
                </p:nvSpPr>
                <p:spPr>
                  <a:xfrm rot="5400000">
                    <a:off x="5245" y="6010"/>
                    <a:ext cx="993" cy="864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zh-CN" altLang="en-US" sz="2000"/>
                  </a:p>
                </p:txBody>
              </p:sp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5669" y="9926"/>
                    <a:ext cx="885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r>
                      <a:rPr lang="en-US" altLang="zh-CN" sz="2000"/>
                      <a:t>0%</a:t>
                    </a:r>
                    <a:endParaRPr lang="en-US" altLang="zh-CN" sz="2000"/>
                  </a:p>
                </p:txBody>
              </p:sp>
              <p:sp>
                <p:nvSpPr>
                  <p:cNvPr id="38" name="文本框 37"/>
                  <p:cNvSpPr txBox="1"/>
                  <p:nvPr/>
                </p:nvSpPr>
                <p:spPr>
                  <a:xfrm>
                    <a:off x="9094" y="9937"/>
                    <a:ext cx="1043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r>
                      <a:rPr lang="en-US" altLang="zh-CN" sz="2000"/>
                      <a:t>6%</a:t>
                    </a:r>
                    <a:endParaRPr lang="en-US" altLang="zh-CN" sz="2000"/>
                  </a:p>
                </p:txBody>
              </p:sp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2056" y="9861"/>
                    <a:ext cx="1073" cy="58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r"/>
                    <a:r>
                      <a:rPr lang="en-US" altLang="zh-CN" sz="2000"/>
                      <a:t>-6%</a:t>
                    </a:r>
                    <a:endParaRPr lang="en-US" altLang="zh-CN" sz="2000"/>
                  </a:p>
                </p:txBody>
              </p:sp>
              <p:sp>
                <p:nvSpPr>
                  <p:cNvPr id="43" name="文本框 42"/>
                  <p:cNvSpPr txBox="1"/>
                  <p:nvPr/>
                </p:nvSpPr>
                <p:spPr>
                  <a:xfrm>
                    <a:off x="6996" y="10251"/>
                    <a:ext cx="3099" cy="43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l"/>
                    <a:r>
                      <a:rPr lang="en-US" altLang="zh-CN" sz="240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probability(</a:t>
                    </a:r>
                    <a:r>
                      <a:rPr lang="zh-CN" altLang="en-US" sz="24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240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α)</a:t>
                    </a:r>
                    <a:endPara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" name="组合 25"/>
                <p:cNvGrpSpPr/>
                <p:nvPr/>
              </p:nvGrpSpPr>
              <p:grpSpPr>
                <a:xfrm>
                  <a:off x="10507" y="2632"/>
                  <a:ext cx="1252" cy="7156"/>
                  <a:chOff x="10399" y="3051"/>
                  <a:chExt cx="1252" cy="7054"/>
                </a:xfrm>
              </p:grpSpPr>
              <p:sp>
                <p:nvSpPr>
                  <p:cNvPr id="14" name="矩形 13"/>
                  <p:cNvSpPr/>
                  <p:nvPr/>
                </p:nvSpPr>
                <p:spPr>
                  <a:xfrm>
                    <a:off x="10399" y="3051"/>
                    <a:ext cx="1252" cy="705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zh-CN" altLang="en-US" sz="2000"/>
                  </a:p>
                </p:txBody>
              </p:sp>
              <p:sp useBgFill="1">
                <p:nvSpPr>
                  <p:cNvPr id="48" name="文本框 47"/>
                  <p:cNvSpPr txBox="1"/>
                  <p:nvPr/>
                </p:nvSpPr>
                <p:spPr>
                  <a:xfrm>
                    <a:off x="10485" y="3678"/>
                    <a:ext cx="1069" cy="442"/>
                  </a:xfrm>
                  <a:prstGeom prst="rect">
                    <a:avLst/>
                  </a:prstGeom>
                </p:spPr>
                <p:txBody>
                  <a:bodyPr wrap="square" lIns="0" tIns="0" rIns="0" bIns="0" rtlCol="0">
                    <a:noAutofit/>
                  </a:bodyPr>
                  <a:p>
                    <a:pPr algn="r"/>
                    <a:r>
                      <a:rPr lang="en-US" altLang="zh-CN" sz="2000"/>
                      <a:t>0.04</a:t>
                    </a:r>
                    <a:endParaRPr lang="en-US" altLang="zh-CN" sz="2000"/>
                  </a:p>
                </p:txBody>
              </p:sp>
              <p:sp>
                <p:nvSpPr>
                  <p:cNvPr id="49" name="文本框 48"/>
                  <p:cNvSpPr txBox="1"/>
                  <p:nvPr/>
                </p:nvSpPr>
                <p:spPr>
                  <a:xfrm>
                    <a:off x="10740" y="6129"/>
                    <a:ext cx="773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r"/>
                    <a:r>
                      <a:rPr lang="en-US" altLang="zh-CN" sz="2000"/>
                      <a:t>0</a:t>
                    </a:r>
                    <a:endParaRPr lang="en-US" altLang="zh-CN" sz="2000"/>
                  </a:p>
                </p:txBody>
              </p:sp>
              <p:sp>
                <p:nvSpPr>
                  <p:cNvPr id="50" name="文本框 49"/>
                  <p:cNvSpPr txBox="1"/>
                  <p:nvPr/>
                </p:nvSpPr>
                <p:spPr>
                  <a:xfrm>
                    <a:off x="10798" y="3051"/>
                    <a:ext cx="853" cy="44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ctr"/>
                    <a:r>
                      <a:rPr lang="zh-CN" altLang="en-US" sz="24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240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δ</a:t>
                    </a:r>
                    <a:endPara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5" name="文本框 54"/>
                  <p:cNvSpPr txBox="1"/>
                  <p:nvPr/>
                </p:nvSpPr>
                <p:spPr>
                  <a:xfrm>
                    <a:off x="10400" y="8553"/>
                    <a:ext cx="1154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r"/>
                    <a:r>
                      <a:rPr lang="en-US" altLang="zh-CN" sz="2000"/>
                      <a:t>-0.04</a:t>
                    </a:r>
                    <a:endParaRPr lang="en-US" altLang="zh-CN" sz="2000"/>
                  </a:p>
                </p:txBody>
              </p:sp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6" name="文本框 35"/>
                    <p:cNvSpPr txBox="1"/>
                    <p:nvPr/>
                  </p:nvSpPr>
                  <p:spPr>
                    <a:xfrm>
                      <a:off x="1838" y="1461"/>
                      <a:ext cx="8139" cy="130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pPr algn="ctr"/>
                      <a:r>
                        <a:rPr lang="en-US" altLang="zh-CN" sz="2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Change of Structural Zero Params</a:t>
                      </a:r>
                      <a:endPara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𝜑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)=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+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𝛽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4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36" name="文本框 3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8" y="1461"/>
                      <a:ext cx="8139" cy="1307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4" name="组合 23"/>
                <p:cNvGrpSpPr/>
                <p:nvPr/>
              </p:nvGrpSpPr>
              <p:grpSpPr>
                <a:xfrm>
                  <a:off x="647" y="2767"/>
                  <a:ext cx="1442" cy="6919"/>
                  <a:chOff x="647" y="3188"/>
                  <a:chExt cx="1442" cy="6919"/>
                </a:xfrm>
              </p:grpSpPr>
              <p:sp>
                <p:nvSpPr>
                  <p:cNvPr id="7" name="矩形 6"/>
                  <p:cNvSpPr/>
                  <p:nvPr/>
                </p:nvSpPr>
                <p:spPr>
                  <a:xfrm>
                    <a:off x="647" y="3189"/>
                    <a:ext cx="1442" cy="6918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zh-CN" altLang="en-US" sz="2000"/>
                  </a:p>
                </p:txBody>
              </p:sp>
              <p:sp>
                <p:nvSpPr>
                  <p:cNvPr id="40" name="文本框 39"/>
                  <p:cNvSpPr txBox="1"/>
                  <p:nvPr/>
                </p:nvSpPr>
                <p:spPr>
                  <a:xfrm>
                    <a:off x="902" y="4069"/>
                    <a:ext cx="1092" cy="38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r"/>
                    <a:r>
                      <a:rPr lang="en-US" altLang="zh-CN" sz="2000"/>
                      <a:t>0.08</a:t>
                    </a:r>
                    <a:endParaRPr lang="en-US" altLang="zh-CN" sz="2000"/>
                  </a:p>
                </p:txBody>
              </p:sp>
              <p:sp>
                <p:nvSpPr>
                  <p:cNvPr id="41" name="文本框 40"/>
                  <p:cNvSpPr txBox="1"/>
                  <p:nvPr/>
                </p:nvSpPr>
                <p:spPr>
                  <a:xfrm>
                    <a:off x="735" y="7457"/>
                    <a:ext cx="1103" cy="4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r"/>
                    <a:r>
                      <a:rPr lang="en-US" altLang="zh-CN" sz="2000"/>
                      <a:t>0</a:t>
                    </a:r>
                    <a:endParaRPr lang="en-US" altLang="zh-CN" sz="2000"/>
                  </a:p>
                </p:txBody>
              </p:sp>
              <p:sp>
                <p:nvSpPr>
                  <p:cNvPr id="42" name="文本框 41"/>
                  <p:cNvSpPr txBox="1"/>
                  <p:nvPr/>
                </p:nvSpPr>
                <p:spPr>
                  <a:xfrm>
                    <a:off x="1001" y="3188"/>
                    <a:ext cx="993" cy="42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ctr"/>
                    <a:r>
                      <a:rPr lang="zh-CN" altLang="en-US" sz="24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240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β</a:t>
                    </a:r>
                    <a:endPara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902" y="9157"/>
                    <a:ext cx="1092" cy="38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r"/>
                    <a:r>
                      <a:rPr lang="en-US" altLang="zh-CN" sz="2000"/>
                      <a:t>-0.04</a:t>
                    </a:r>
                    <a:endParaRPr lang="en-US" altLang="zh-CN" sz="2000"/>
                  </a:p>
                </p:txBody>
              </p:sp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902" y="5743"/>
                    <a:ext cx="1092" cy="38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r"/>
                    <a:r>
                      <a:rPr lang="en-US" altLang="zh-CN" sz="2000"/>
                      <a:t>0.04</a:t>
                    </a:r>
                    <a:endParaRPr lang="en-US" altLang="zh-CN" sz="2000"/>
                  </a:p>
                </p:txBody>
              </p:sp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11204" y="1621"/>
                      <a:ext cx="8844" cy="130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pPr algn="ctr"/>
                      <a:r>
                        <a:rPr lang="en-US" altLang="zh-CN" sz="2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Change of Actual Construction Params</a:t>
                      </a:r>
                      <a:endPara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𝜋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)=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𝛿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altLang="zh-CN" sz="24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4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204" y="1621"/>
                      <a:ext cx="8844" cy="1307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" name="组合 19"/>
                <p:cNvGrpSpPr/>
                <p:nvPr/>
              </p:nvGrpSpPr>
              <p:grpSpPr>
                <a:xfrm>
                  <a:off x="11204" y="9686"/>
                  <a:ext cx="8643" cy="1009"/>
                  <a:chOff x="11000" y="9740"/>
                  <a:chExt cx="8643" cy="1009"/>
                </a:xfrm>
              </p:grpSpPr>
              <p:sp>
                <p:nvSpPr>
                  <p:cNvPr id="15" name="矩形 14"/>
                  <p:cNvSpPr/>
                  <p:nvPr/>
                </p:nvSpPr>
                <p:spPr>
                  <a:xfrm rot="5400000">
                    <a:off x="14817" y="5923"/>
                    <a:ext cx="1009" cy="864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zh-CN" altLang="en-US" sz="2000"/>
                  </a:p>
                </p:txBody>
              </p:sp>
              <p:sp>
                <p:nvSpPr>
                  <p:cNvPr id="51" name="文本框 50"/>
                  <p:cNvSpPr txBox="1"/>
                  <p:nvPr/>
                </p:nvSpPr>
                <p:spPr>
                  <a:xfrm>
                    <a:off x="16551" y="10182"/>
                    <a:ext cx="3092" cy="51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l"/>
                    <a:r>
                      <a:rPr lang="en-US" altLang="zh-CN" sz="240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probability(</a:t>
                    </a:r>
                    <a:r>
                      <a:rPr lang="zh-CN" altLang="en-US" sz="24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240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κ)</a:t>
                    </a:r>
                    <a:endPara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" name="文本框 45"/>
                  <p:cNvSpPr txBox="1"/>
                  <p:nvPr/>
                </p:nvSpPr>
                <p:spPr>
                  <a:xfrm>
                    <a:off x="18460" y="9832"/>
                    <a:ext cx="887" cy="38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ctr"/>
                    <a:r>
                      <a:rPr lang="en-US" altLang="zh-CN" sz="2000"/>
                      <a:t>6%</a:t>
                    </a:r>
                    <a:endParaRPr lang="en-US" altLang="zh-CN" sz="2000"/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12824" y="9832"/>
                    <a:ext cx="871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r>
                      <a:rPr lang="en-US" altLang="zh-CN" sz="2000"/>
                      <a:t>-2%</a:t>
                    </a:r>
                    <a:endParaRPr lang="en-US" altLang="zh-CN" sz="2000"/>
                  </a:p>
                </p:txBody>
              </p:sp>
              <p:sp>
                <p:nvSpPr>
                  <p:cNvPr id="53" name="文本框 52"/>
                  <p:cNvSpPr txBox="1"/>
                  <p:nvPr/>
                </p:nvSpPr>
                <p:spPr>
                  <a:xfrm>
                    <a:off x="14303" y="9832"/>
                    <a:ext cx="885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pPr algn="ctr"/>
                    <a:r>
                      <a:rPr lang="en-US" altLang="zh-CN" sz="2000"/>
                      <a:t>0%</a:t>
                    </a:r>
                    <a:endParaRPr lang="en-US" altLang="zh-CN" sz="2000"/>
                  </a:p>
                </p:txBody>
              </p:sp>
              <p:sp>
                <p:nvSpPr>
                  <p:cNvPr id="10" name="文本框 9"/>
                  <p:cNvSpPr txBox="1"/>
                  <p:nvPr/>
                </p:nvSpPr>
                <p:spPr>
                  <a:xfrm>
                    <a:off x="15796" y="9844"/>
                    <a:ext cx="871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p>
                    <a:r>
                      <a:rPr lang="en-US" altLang="zh-CN" sz="2000"/>
                      <a:t>2%</a:t>
                    </a:r>
                    <a:endParaRPr lang="en-US" altLang="zh-CN" sz="2000"/>
                  </a:p>
                </p:txBody>
              </p:sp>
            </p:grpSp>
            <p:grpSp>
              <p:nvGrpSpPr>
                <p:cNvPr id="59" name="组合 58"/>
                <p:cNvGrpSpPr/>
                <p:nvPr/>
              </p:nvGrpSpPr>
              <p:grpSpPr>
                <a:xfrm>
                  <a:off x="6986" y="10883"/>
                  <a:ext cx="8899" cy="664"/>
                  <a:chOff x="6124" y="10847"/>
                  <a:chExt cx="8899" cy="664"/>
                </a:xfrm>
              </p:grpSpPr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12483" y="10892"/>
                    <a:ext cx="2540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/>
                      <a:t>Latin America</a:t>
                    </a:r>
                    <a:endParaRPr lang="en-US" altLang="zh-CN"/>
                  </a:p>
                </p:txBody>
              </p:sp>
              <p:sp>
                <p:nvSpPr>
                  <p:cNvPr id="29" name="文本框 28"/>
                  <p:cNvSpPr txBox="1"/>
                  <p:nvPr/>
                </p:nvSpPr>
                <p:spPr>
                  <a:xfrm>
                    <a:off x="6331" y="10928"/>
                    <a:ext cx="1310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/>
                      <a:t>Africa</a:t>
                    </a:r>
                    <a:endParaRPr lang="en-US" altLang="zh-CN"/>
                  </a:p>
                </p:txBody>
              </p:sp>
              <p:sp>
                <p:nvSpPr>
                  <p:cNvPr id="31" name="文本框 30"/>
                  <p:cNvSpPr txBox="1"/>
                  <p:nvPr/>
                </p:nvSpPr>
                <p:spPr>
                  <a:xfrm>
                    <a:off x="8012" y="10915"/>
                    <a:ext cx="4471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/>
                      <a:t>South&amp;South-east Asia</a:t>
                    </a:r>
                    <a:endParaRPr lang="en-US" altLang="zh-CN"/>
                  </a:p>
                </p:txBody>
              </p:sp>
              <p:sp>
                <p:nvSpPr>
                  <p:cNvPr id="56" name="上箭头 55"/>
                  <p:cNvSpPr/>
                  <p:nvPr/>
                </p:nvSpPr>
                <p:spPr>
                  <a:xfrm>
                    <a:off x="12193" y="10847"/>
                    <a:ext cx="290" cy="651"/>
                  </a:xfrm>
                  <a:prstGeom prst="upArrow">
                    <a:avLst>
                      <a:gd name="adj1" fmla="val 50000"/>
                      <a:gd name="adj2" fmla="val 101034"/>
                    </a:avLst>
                  </a:prstGeom>
                  <a:solidFill>
                    <a:srgbClr val="47A2DE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zh-CN" altLang="en-US" sz="2000"/>
                  </a:p>
                </p:txBody>
              </p:sp>
              <p:sp>
                <p:nvSpPr>
                  <p:cNvPr id="57" name="上箭头 56"/>
                  <p:cNvSpPr/>
                  <p:nvPr/>
                </p:nvSpPr>
                <p:spPr>
                  <a:xfrm>
                    <a:off x="6124" y="10860"/>
                    <a:ext cx="290" cy="651"/>
                  </a:xfrm>
                  <a:prstGeom prst="upArrow">
                    <a:avLst>
                      <a:gd name="adj1" fmla="val 50000"/>
                      <a:gd name="adj2" fmla="val 93103"/>
                    </a:avLst>
                  </a:prstGeom>
                  <a:solidFill>
                    <a:srgbClr val="E85748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zh-CN" altLang="en-US" sz="2000">
                      <a:solidFill>
                        <a:srgbClr val="9467BD"/>
                      </a:solidFill>
                    </a:endParaRPr>
                  </a:p>
                </p:txBody>
              </p:sp>
              <p:sp>
                <p:nvSpPr>
                  <p:cNvPr id="58" name="上箭头 57"/>
                  <p:cNvSpPr/>
                  <p:nvPr/>
                </p:nvSpPr>
                <p:spPr>
                  <a:xfrm>
                    <a:off x="7810" y="10847"/>
                    <a:ext cx="290" cy="651"/>
                  </a:xfrm>
                  <a:prstGeom prst="upArrow">
                    <a:avLst>
                      <a:gd name="adj1" fmla="val 50000"/>
                      <a:gd name="adj2" fmla="val 108620"/>
                    </a:avLst>
                  </a:prstGeom>
                  <a:solidFill>
                    <a:srgbClr val="F39F1B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zh-CN" altLang="en-US" sz="2000"/>
                  </a:p>
                </p:txBody>
              </p:sp>
            </p:grpSp>
            <p:cxnSp>
              <p:nvCxnSpPr>
                <p:cNvPr id="60" name="直接连接符 59"/>
                <p:cNvCxnSpPr/>
                <p:nvPr/>
              </p:nvCxnSpPr>
              <p:spPr>
                <a:xfrm>
                  <a:off x="2172" y="7254"/>
                  <a:ext cx="7944" cy="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直接连接符 60"/>
                <p:cNvCxnSpPr/>
                <p:nvPr/>
              </p:nvCxnSpPr>
              <p:spPr>
                <a:xfrm>
                  <a:off x="11827" y="5929"/>
                  <a:ext cx="7944" cy="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直接连接符 61"/>
                <p:cNvCxnSpPr/>
                <p:nvPr/>
              </p:nvCxnSpPr>
              <p:spPr>
                <a:xfrm>
                  <a:off x="6161" y="2821"/>
                  <a:ext cx="0" cy="683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直接连接符 62"/>
                <p:cNvCxnSpPr/>
                <p:nvPr/>
              </p:nvCxnSpPr>
              <p:spPr>
                <a:xfrm>
                  <a:off x="14719" y="2780"/>
                  <a:ext cx="0" cy="683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" name="文本框 1"/>
            <p:cNvSpPr txBox="1"/>
            <p:nvPr/>
          </p:nvSpPr>
          <p:spPr>
            <a:xfrm>
              <a:off x="3757" y="2928"/>
              <a:ext cx="226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/>
                <a:t>36%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</a:rPr>
                <a:t>↓,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6407" y="2928"/>
              <a:ext cx="226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/>
                <a:t>12%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>
                  <a:latin typeface="东文宋体" charset="0"/>
                  <a:ea typeface="东文宋体" charset="0"/>
                </a:rPr>
                <a:t>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2582" y="8422"/>
              <a:ext cx="226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/>
                <a:t>22%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</a:rPr>
                <a:t>↓,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7712" y="8422"/>
              <a:ext cx="226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/>
                <a:t>30%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>
                  <a:latin typeface="东文宋体" charset="0"/>
                  <a:ea typeface="东文宋体" charset="0"/>
                </a:rPr>
                <a:t>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959" y="2928"/>
              <a:ext cx="226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/>
                <a:t>8%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</a:rPr>
                <a:t>↓,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11959" y="8422"/>
              <a:ext cx="226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/>
                <a:t>21%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</a:rPr>
                <a:t>↓,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7168" y="8422"/>
              <a:ext cx="226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/>
                <a:t>27%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>
                  <a:latin typeface="东文宋体" charset="0"/>
                  <a:ea typeface="东文宋体" charset="0"/>
                </a:rPr>
                <a:t>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7168" y="2928"/>
              <a:ext cx="2265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/>
                <a:t>44%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>
                  <a:latin typeface="东文宋体" charset="0"/>
                  <a:ea typeface="东文宋体" charset="0"/>
                </a:rPr>
                <a:t>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62" name="组合 61"/>
          <p:cNvGrpSpPr/>
          <p:nvPr/>
        </p:nvGrpSpPr>
        <p:grpSpPr>
          <a:xfrm>
            <a:off x="-57150" y="389255"/>
            <a:ext cx="15005050" cy="5993130"/>
            <a:chOff x="-90" y="613"/>
            <a:chExt cx="23630" cy="9438"/>
          </a:xfrm>
        </p:grpSpPr>
        <p:sp>
          <p:nvSpPr>
            <p:cNvPr id="66" name="矩形 65"/>
            <p:cNvSpPr/>
            <p:nvPr/>
          </p:nvSpPr>
          <p:spPr>
            <a:xfrm>
              <a:off x="-90" y="613"/>
              <a:ext cx="23631" cy="94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-22" y="2588"/>
              <a:ext cx="15122" cy="6309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/>
            <a:stretch>
              <a:fillRect/>
            </a:stretch>
          </p:blipFill>
          <p:spPr>
            <a:xfrm>
              <a:off x="15100" y="2617"/>
              <a:ext cx="7526" cy="628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994" y="-2399"/>
              <a:ext cx="923" cy="220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223" y="2210"/>
              <a:ext cx="924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7567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4559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223" y="7018"/>
              <a:ext cx="92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-0.04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2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-2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701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38" y="2355"/>
              <a:ext cx="73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51" y="5535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320" y="4111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>
                  <a:ea typeface="宋体" panose="02010600030101010101" pitchFamily="2" charset="-122"/>
                </a:rPr>
                <a:t>0.04</a:t>
              </a:r>
              <a:endParaRPr lang="en-US" altLang="zh-CN" sz="2000">
                <a:ea typeface="宋体" panose="02010600030101010101" pitchFamily="2" charset="-122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9197" y="81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-0.04</a:t>
              </a:r>
              <a:endParaRPr lang="en-US" altLang="zh-CN" sz="200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2792" y="8156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4077" y="8156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7847" y="2274"/>
              <a:ext cx="96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385" y="8156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674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59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-0.005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573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0.005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2027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5100" y="2263"/>
              <a:ext cx="999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2988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-1</a:t>
              </a:r>
              <a:endParaRPr lang="en-US" altLang="zh-CN" sz="200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130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1</a:t>
              </a:r>
              <a:endParaRPr lang="en-US" altLang="zh-CN" sz="2000"/>
            </a:p>
          </p:txBody>
        </p:sp>
        <p:sp>
          <p:nvSpPr>
            <p:cNvPr id="46" name="矩形 45"/>
            <p:cNvSpPr/>
            <p:nvPr/>
          </p:nvSpPr>
          <p:spPr>
            <a:xfrm>
              <a:off x="15141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5248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4833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-0.005</a:t>
              </a:r>
              <a:endParaRPr lang="en-US" altLang="zh-CN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5147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0.005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9716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469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-2</a:t>
              </a:r>
              <a:endParaRPr lang="en-US" altLang="zh-CN" sz="2000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8145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-1</a:t>
              </a:r>
              <a:endParaRPr lang="en-US" altLang="zh-CN" sz="2000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21287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1</a:t>
              </a:r>
              <a:endParaRPr lang="en-US" altLang="zh-CN" sz="20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4785" y="784"/>
                  <a:ext cx="12486" cy="14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800">
                      <a:latin typeface="Arial" panose="020B0604020202020204" pitchFamily="34" charset="0"/>
                      <a:cs typeface="Arial" panose="020B0604020202020204" pitchFamily="34" charset="0"/>
                    </a:rPr>
                    <a:t>Change of Vertical Params</a:t>
                  </a:r>
                  <a:endParaRPr lang="en-US" altLang="zh-CN" sz="28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784"/>
                  <a:ext cx="12486" cy="147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文本框 55"/>
            <p:cNvSpPr txBox="1"/>
            <p:nvPr/>
          </p:nvSpPr>
          <p:spPr>
            <a:xfrm>
              <a:off x="13635" y="9199"/>
              <a:ext cx="254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Latin America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7483" y="9235"/>
              <a:ext cx="131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Africa</a:t>
              </a:r>
              <a:endParaRPr lang="en-US" altLang="zh-CN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9164" y="9222"/>
              <a:ext cx="447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South&amp;South-east Asia</a:t>
              </a:r>
              <a:endParaRPr lang="en-US" altLang="zh-CN"/>
            </a:p>
          </p:txBody>
        </p:sp>
        <p:sp>
          <p:nvSpPr>
            <p:cNvPr id="59" name="上箭头 58"/>
            <p:cNvSpPr/>
            <p:nvPr/>
          </p:nvSpPr>
          <p:spPr>
            <a:xfrm>
              <a:off x="13345" y="9154"/>
              <a:ext cx="290" cy="651"/>
            </a:xfrm>
            <a:prstGeom prst="upArrow">
              <a:avLst>
                <a:gd name="adj1" fmla="val 50000"/>
                <a:gd name="adj2" fmla="val 101034"/>
              </a:avLst>
            </a:prstGeom>
            <a:solidFill>
              <a:srgbClr val="47A2D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60" name="上箭头 59"/>
            <p:cNvSpPr/>
            <p:nvPr/>
          </p:nvSpPr>
          <p:spPr>
            <a:xfrm>
              <a:off x="7276" y="9167"/>
              <a:ext cx="290" cy="651"/>
            </a:xfrm>
            <a:prstGeom prst="upArrow">
              <a:avLst>
                <a:gd name="adj1" fmla="val 50000"/>
                <a:gd name="adj2" fmla="val 93103"/>
              </a:avLst>
            </a:prstGeom>
            <a:solidFill>
              <a:srgbClr val="E85748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>
                <a:solidFill>
                  <a:srgbClr val="9467BD"/>
                </a:solidFill>
              </a:endParaRPr>
            </a:p>
          </p:txBody>
        </p:sp>
        <p:sp>
          <p:nvSpPr>
            <p:cNvPr id="61" name="上箭头 60"/>
            <p:cNvSpPr/>
            <p:nvPr/>
          </p:nvSpPr>
          <p:spPr>
            <a:xfrm>
              <a:off x="8962" y="9154"/>
              <a:ext cx="290" cy="651"/>
            </a:xfrm>
            <a:prstGeom prst="upArrow">
              <a:avLst>
                <a:gd name="adj1" fmla="val 50000"/>
                <a:gd name="adj2" fmla="val 108620"/>
              </a:avLst>
            </a:prstGeom>
            <a:solidFill>
              <a:srgbClr val="F39F1B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</p:grpSp>
      <p:sp>
        <p:nvSpPr>
          <p:cNvPr id="4" name="文本框 3"/>
          <p:cNvSpPr txBox="1"/>
          <p:nvPr/>
        </p:nvSpPr>
        <p:spPr>
          <a:xfrm>
            <a:off x="5938520" y="1758950"/>
            <a:ext cx="12611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774700" y="3656330"/>
            <a:ext cx="391541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3068955" y="1648460"/>
            <a:ext cx="0" cy="352996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5549900" y="3360420"/>
            <a:ext cx="391541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7313295" y="1657985"/>
            <a:ext cx="0" cy="352996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10371455" y="3392805"/>
            <a:ext cx="391541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12680950" y="1707515"/>
            <a:ext cx="0" cy="352996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8204200" y="3409950"/>
            <a:ext cx="12611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2" name="图片 41"/>
          <p:cNvPicPr>
            <a:picLocks noChangeAspect="1"/>
          </p:cNvPicPr>
          <p:nvPr/>
        </p:nvPicPr>
        <p:blipFill>
          <a:blip r:embed="rId1"/>
          <a:srcRect l="8417" b="7890"/>
          <a:stretch>
            <a:fillRect/>
          </a:stretch>
        </p:blipFill>
        <p:spPr>
          <a:xfrm>
            <a:off x="10466705" y="343535"/>
            <a:ext cx="3247390" cy="33210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grpSp>
        <p:nvGrpSpPr>
          <p:cNvPr id="33" name="组合 32"/>
          <p:cNvGrpSpPr/>
          <p:nvPr/>
        </p:nvGrpSpPr>
        <p:grpSpPr>
          <a:xfrm>
            <a:off x="175260" y="9278620"/>
            <a:ext cx="13058775" cy="4356100"/>
            <a:chOff x="992" y="61"/>
            <a:chExt cx="20565" cy="6860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b="1" i="1"/>
                <a:t>Strong Significance ***</a:t>
              </a:r>
              <a:endParaRPr lang="en-US" altLang="zh-CN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Not Significant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</a:t>
              </a:r>
              <a:r>
                <a:rPr lang="en-US" altLang="zh-CN" b="1" i="1">
                  <a:sym typeface="+mn-ea"/>
                </a:rPr>
                <a:t>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Significance *</a:t>
              </a:r>
              <a:endParaRPr lang="en-US" altLang="zh-CN" b="1" i="1">
                <a:sym typeface="+mn-ea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0469245" y="8209915"/>
            <a:ext cx="352044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Population growth ↑ 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Δα ↓, Δβ ↑, Δκ ↑, Δδ ↓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ΔB ↓, ΔC ↑</a:t>
            </a:r>
            <a:endParaRPr lang="en-US" altLang="zh-CN" b="1">
              <a:sym typeface="+mn-ea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109855" y="381635"/>
            <a:ext cx="13811885" cy="7388860"/>
            <a:chOff x="173" y="601"/>
            <a:chExt cx="21751" cy="11636"/>
          </a:xfrm>
        </p:grpSpPr>
        <p:pic>
          <p:nvPicPr>
            <p:cNvPr id="5" name="图片 4"/>
            <p:cNvPicPr/>
            <p:nvPr/>
          </p:nvPicPr>
          <p:blipFill>
            <a:blip r:embed="rId5"/>
            <a:srcRect l="1918" t="1292" r="75749" b="52389"/>
            <a:stretch>
              <a:fillRect/>
            </a:stretch>
          </p:blipFill>
          <p:spPr>
            <a:xfrm>
              <a:off x="173" y="641"/>
              <a:ext cx="5042" cy="51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732" y="70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𝛼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" y="701"/>
                  <a:ext cx="1199" cy="100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4" name="图片 13"/>
            <p:cNvPicPr/>
            <p:nvPr/>
          </p:nvPicPr>
          <p:blipFill>
            <a:blip r:embed="rId5"/>
            <a:srcRect l="27028" t="1292" r="50577" b="52389"/>
            <a:stretch>
              <a:fillRect/>
            </a:stretch>
          </p:blipFill>
          <p:spPr>
            <a:xfrm>
              <a:off x="5515" y="641"/>
              <a:ext cx="5056" cy="51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文本框 14"/>
                <p:cNvSpPr txBox="1"/>
                <p:nvPr/>
              </p:nvSpPr>
              <p:spPr>
                <a:xfrm>
                  <a:off x="6025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𝛽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" y="641"/>
                  <a:ext cx="1199" cy="1004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" name="图片 15"/>
            <p:cNvPicPr/>
            <p:nvPr/>
          </p:nvPicPr>
          <p:blipFill>
            <a:blip r:embed="rId5"/>
            <a:srcRect l="52342" t="811" r="25263" b="52513"/>
            <a:stretch>
              <a:fillRect/>
            </a:stretch>
          </p:blipFill>
          <p:spPr>
            <a:xfrm>
              <a:off x="10999" y="601"/>
              <a:ext cx="5056" cy="523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/>
                <p:cNvSpPr txBox="1"/>
                <p:nvPr/>
              </p:nvSpPr>
              <p:spPr>
                <a:xfrm>
                  <a:off x="11484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𝜅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84" y="641"/>
                  <a:ext cx="1199" cy="100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本框 22"/>
                <p:cNvSpPr txBox="1"/>
                <p:nvPr/>
              </p:nvSpPr>
              <p:spPr>
                <a:xfrm>
                  <a:off x="17039" y="635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𝛿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3" name="文本框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9" y="635"/>
                  <a:ext cx="1199" cy="1004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文本框 26"/>
            <p:cNvSpPr txBox="1"/>
            <p:nvPr/>
          </p:nvSpPr>
          <p:spPr>
            <a:xfrm>
              <a:off x="550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5946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1342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6945" y="5681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grpSp>
          <p:nvGrpSpPr>
            <p:cNvPr id="34" name="组合 33"/>
            <p:cNvGrpSpPr/>
            <p:nvPr/>
          </p:nvGrpSpPr>
          <p:grpSpPr>
            <a:xfrm>
              <a:off x="16432" y="10351"/>
              <a:ext cx="5061" cy="1886"/>
              <a:chOff x="16736" y="6695"/>
              <a:chExt cx="5061" cy="1886"/>
            </a:xfrm>
          </p:grpSpPr>
          <p:sp>
            <p:nvSpPr>
              <p:cNvPr id="35" name="椭圆 34"/>
              <p:cNvSpPr/>
              <p:nvPr/>
            </p:nvSpPr>
            <p:spPr>
              <a:xfrm>
                <a:off x="16736" y="8135"/>
                <a:ext cx="257" cy="255"/>
              </a:xfrm>
              <a:prstGeom prst="ellipse">
                <a:avLst/>
              </a:prstGeom>
              <a:solidFill>
                <a:srgbClr val="47A2D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7013" y="7953"/>
                <a:ext cx="3168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/>
                  <a:t>Latin America</a:t>
                </a:r>
                <a:endParaRPr lang="en-US" altLang="zh-CN" sz="2000"/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16736" y="6868"/>
                <a:ext cx="257" cy="255"/>
              </a:xfrm>
              <a:prstGeom prst="ellipse">
                <a:avLst/>
              </a:prstGeom>
              <a:solidFill>
                <a:srgbClr val="E85748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7013" y="6695"/>
                <a:ext cx="322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/>
                  <a:t>Africa</a:t>
                </a:r>
                <a:endParaRPr lang="en-US" altLang="zh-CN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6736" y="7510"/>
                <a:ext cx="257" cy="255"/>
              </a:xfrm>
              <a:prstGeom prst="ellipse">
                <a:avLst/>
              </a:prstGeom>
              <a:solidFill>
                <a:srgbClr val="F39F1B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7013" y="7324"/>
                <a:ext cx="4784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>
                    <a:sym typeface="+mn-ea"/>
                  </a:rPr>
                  <a:t>South &amp; South-east Asia</a:t>
                </a:r>
                <a:endParaRPr lang="en-US" altLang="zh-CN" sz="2000">
                  <a:sym typeface="+mn-ea"/>
                </a:endParaRPr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245" y="6378"/>
              <a:ext cx="15880" cy="5838"/>
              <a:chOff x="503" y="6892"/>
              <a:chExt cx="15880" cy="5838"/>
            </a:xfrm>
          </p:grpSpPr>
          <p:grpSp>
            <p:nvGrpSpPr>
              <p:cNvPr id="2" name="组合 1"/>
              <p:cNvGrpSpPr/>
              <p:nvPr/>
            </p:nvGrpSpPr>
            <p:grpSpPr>
              <a:xfrm>
                <a:off x="503" y="6892"/>
                <a:ext cx="15881" cy="5230"/>
                <a:chOff x="433" y="6578"/>
                <a:chExt cx="15881" cy="5230"/>
              </a:xfrm>
            </p:grpSpPr>
            <p:pic>
              <p:nvPicPr>
                <p:cNvPr id="18" name="图片 17"/>
                <p:cNvPicPr/>
                <p:nvPr/>
              </p:nvPicPr>
              <p:blipFill>
                <a:blip r:embed="rId5"/>
                <a:srcRect l="1917" t="50579" r="75927" b="3155"/>
                <a:stretch>
                  <a:fillRect/>
                </a:stretch>
              </p:blipFill>
              <p:spPr>
                <a:xfrm>
                  <a:off x="433" y="6597"/>
                  <a:ext cx="5002" cy="5191"/>
                </a:xfrm>
                <a:prstGeom prst="rect">
                  <a:avLst/>
                </a:prstGeom>
              </p:spPr>
            </p:pic>
            <p:pic>
              <p:nvPicPr>
                <p:cNvPr id="19" name="图片 18"/>
                <p:cNvPicPr/>
                <p:nvPr/>
              </p:nvPicPr>
              <p:blipFill>
                <a:blip r:embed="rId5"/>
                <a:srcRect l="27196" t="50579" r="50688" b="2977"/>
                <a:stretch>
                  <a:fillRect/>
                </a:stretch>
              </p:blipFill>
              <p:spPr>
                <a:xfrm>
                  <a:off x="5768" y="6598"/>
                  <a:ext cx="4993" cy="5211"/>
                </a:xfrm>
                <a:prstGeom prst="rect">
                  <a:avLst/>
                </a:prstGeom>
              </p:spPr>
            </p:pic>
            <p:pic>
              <p:nvPicPr>
                <p:cNvPr id="20" name="图片 19"/>
                <p:cNvPicPr/>
                <p:nvPr/>
              </p:nvPicPr>
              <p:blipFill>
                <a:blip r:embed="rId5"/>
                <a:srcRect l="50916" t="50579" r="25356" b="2977"/>
                <a:stretch>
                  <a:fillRect/>
                </a:stretch>
              </p:blipFill>
              <p:spPr>
                <a:xfrm>
                  <a:off x="10958" y="6578"/>
                  <a:ext cx="5357" cy="5211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810" y="659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0" y="659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文本框 24"/>
                    <p:cNvSpPr txBox="1"/>
                    <p:nvPr/>
                  </p:nvSpPr>
                  <p:spPr>
                    <a:xfrm>
                      <a:off x="6109" y="662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5" name="文本框 2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9" y="662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文本框 25"/>
                    <p:cNvSpPr txBox="1"/>
                    <p:nvPr/>
                  </p:nvSpPr>
                  <p:spPr>
                    <a:xfrm>
                      <a:off x="11744" y="662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6" name="文本框 2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44" y="662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4" name="文本框 3"/>
              <p:cNvSpPr txBox="1"/>
              <p:nvPr/>
            </p:nvSpPr>
            <p:spPr>
              <a:xfrm>
                <a:off x="810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6206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11602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</p:grpSp>
        <p:pic>
          <p:nvPicPr>
            <p:cNvPr id="37" name="图片 36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6389" y="6417"/>
              <a:ext cx="5535" cy="38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1"/>
              <p:cNvGraphicFramePr/>
              <p:nvPr/>
            </p:nvGraphicFramePr>
            <p:xfrm>
              <a:off x="2160270" y="3096895"/>
              <a:ext cx="10079355" cy="332740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3359785"/>
                    <a:gridCol w="3359785"/>
                    <a:gridCol w="3359785"/>
                  </a:tblGrid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zh-CN" altLang="en-US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/>
                            <a:t>Significance</a:t>
                          </a:r>
                          <a:endParaRPr lang="en-US" altLang="zh-CN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/>
                            <a:t>Sign</a:t>
                          </a:r>
                          <a:endParaRPr lang="en-US" altLang="zh-CN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𝛥𝛼</m:t>
                                </m:r>
                              </m:oMath>
                            </m:oMathPara>
                          </a14:m>
                          <a:endParaRPr lang="zh-CN" altLang="en-US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𝛥𝛽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𝛥𝜅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𝛥𝛿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1"/>
              <p:cNvGraphicFramePr/>
              <p:nvPr/>
            </p:nvGraphicFramePr>
            <p:xfrm>
              <a:off x="2160270" y="3096895"/>
              <a:ext cx="10079355" cy="332740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3359785"/>
                    <a:gridCol w="3359785"/>
                    <a:gridCol w="3359785"/>
                  </a:tblGrid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zh-CN" altLang="en-US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/>
                            <a:t>Significance</a:t>
                          </a:r>
                          <a:endParaRPr lang="en-US" altLang="zh-CN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/>
                            <a:t>Sign</a:t>
                          </a:r>
                          <a:endParaRPr lang="en-US" altLang="zh-CN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31" name="组合 30"/>
          <p:cNvGrpSpPr/>
          <p:nvPr/>
        </p:nvGrpSpPr>
        <p:grpSpPr>
          <a:xfrm>
            <a:off x="286385" y="793750"/>
            <a:ext cx="13375640" cy="6555740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8" y="941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800"/>
                  <a:t>2016</a:t>
                </a:r>
                <a:endParaRPr lang="en-US" altLang="zh-CN" sz="2800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3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800"/>
                  <a:t>2023</a:t>
                </a:r>
                <a:endParaRPr lang="en-US" altLang="zh-CN" sz="2800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334" cy="1886"/>
                <a:chOff x="9225" y="1246"/>
                <a:chExt cx="5334" cy="1886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/>
                    <a:t>Latin America</a:t>
                  </a:r>
                  <a:endParaRPr lang="en-US" altLang="zh-CN" sz="2000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/>
                    <a:t>Africa</a:t>
                  </a:r>
                  <a:endParaRPr lang="en-US" altLang="zh-CN" sz="2000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5" y="1875"/>
                  <a:ext cx="4784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>
                      <a:sym typeface="+mn-ea"/>
                    </a:rPr>
                    <a:t>South &amp; South-east Asia</a:t>
                  </a:r>
                  <a:endParaRPr lang="en-US" altLang="zh-CN" sz="2000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325755" y="8511540"/>
            <a:ext cx="3649980" cy="36576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>
            <a:off x="65405" y="1230630"/>
            <a:ext cx="14261465" cy="5057775"/>
            <a:chOff x="103" y="1938"/>
            <a:chExt cx="22459" cy="796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5387" y="3027"/>
              <a:ext cx="5750" cy="576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7936" y="3027"/>
              <a:ext cx="5750" cy="576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90" y="3027"/>
              <a:ext cx="5750" cy="576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 rot="0">
              <a:off x="103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 rot="0">
              <a:off x="7520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2474" y="1939"/>
              <a:ext cx="198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 b="1">
                  <a:solidFill>
                    <a:srgbClr val="E85748"/>
                  </a:solidFill>
                </a:rPr>
                <a:t>Africa</a:t>
              </a:r>
              <a:endParaRPr lang="en-US" altLang="zh-CN" sz="2400" b="1">
                <a:solidFill>
                  <a:srgbClr val="E85748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466" y="1938"/>
              <a:ext cx="707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 b="1">
                  <a:solidFill>
                    <a:srgbClr val="F39F1B"/>
                  </a:solidFill>
                </a:rPr>
                <a:t>South &amp; Southeast Asia</a:t>
              </a:r>
              <a:endParaRPr lang="en-US" altLang="zh-CN" sz="2400" b="1">
                <a:solidFill>
                  <a:srgbClr val="F39F1B"/>
                </a:solidFill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 rot="0">
              <a:off x="14908" y="2624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4999" y="2036"/>
              <a:ext cx="6851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 b="1">
                  <a:solidFill>
                    <a:srgbClr val="47A2DE"/>
                  </a:solidFill>
                </a:rPr>
                <a:t>Latin America</a:t>
              </a:r>
              <a:endParaRPr lang="en-US" altLang="zh-CN" sz="2400" b="1">
                <a:solidFill>
                  <a:srgbClr val="47A2DE"/>
                </a:solidFill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962" y="9275"/>
              <a:ext cx="1262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 sz="2000">
                  <a:sym typeface="+mn-ea"/>
                </a:rPr>
                <a:t>2016</a:t>
              </a:r>
              <a:endParaRPr lang="en-US" altLang="zh-CN" sz="2000">
                <a:sym typeface="+mn-ea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 rot="0">
              <a:off x="6942" y="9400"/>
              <a:ext cx="1883" cy="377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 rot="0">
              <a:off x="11813" y="9400"/>
              <a:ext cx="1942" cy="377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3982" y="9275"/>
              <a:ext cx="1262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 sz="2000">
                  <a:sym typeface="+mn-ea"/>
                </a:rPr>
                <a:t>2023</a:t>
              </a:r>
              <a:endParaRPr lang="en-US" altLang="zh-CN" sz="2000">
                <a:sym typeface="+mn-ea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511040" y="8391525"/>
            <a:ext cx="8133715" cy="1035050"/>
            <a:chOff x="6709" y="10473"/>
            <a:chExt cx="12809" cy="163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7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712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72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725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72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725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5980</Words>
  <Application>WPS 演示</Application>
  <PresentationFormat>宽屏</PresentationFormat>
  <Paragraphs>997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8" baseType="lpstr">
      <vt:lpstr>Arial</vt:lpstr>
      <vt:lpstr>宋体</vt:lpstr>
      <vt:lpstr>Wingdings</vt:lpstr>
      <vt:lpstr>Cambria Math</vt:lpstr>
      <vt:lpstr>MS Mincho</vt:lpstr>
      <vt:lpstr>Wingdings</vt:lpstr>
      <vt:lpstr>微软雅黑</vt:lpstr>
      <vt:lpstr>Arial Unicode MS</vt:lpstr>
      <vt:lpstr>东文宋体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31</cp:revision>
  <dcterms:created xsi:type="dcterms:W3CDTF">2026-03-24T16:19:05Z</dcterms:created>
  <dcterms:modified xsi:type="dcterms:W3CDTF">2026-03-24T16:19:05Z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2052-12.1.2.24722</vt:lpwstr>
  </property>
  <property fmtid="{D5CDD505-2E9C-101B-9397-08002B2CF9AE}" pid="3" name="ICV">
    <vt:lpwstr>0364E104D99840A39D3DA0694DD01CB9_41</vt:lpwstr>
  </property>
</Properties>
</file>