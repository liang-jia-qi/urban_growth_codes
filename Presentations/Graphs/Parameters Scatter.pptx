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1.xml" ContentType="application/vnd.openxmlformats-officedocument.presentationml.tags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tags/tag2.xml" ContentType="application/vnd.openxmlformats-officedocument.presentationml.tag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62" r:id="rId2"/>
    <p:sldId id="264" r:id="rId3"/>
    <p:sldId id="260" r:id="rId4"/>
    <p:sldId id="273" r:id="rId5"/>
    <p:sldId id="259" r:id="rId6"/>
    <p:sldId id="266" r:id="rId7"/>
    <p:sldId id="270" r:id="rId8"/>
    <p:sldId id="261" r:id="rId9"/>
    <p:sldId id="265" r:id="rId10"/>
    <p:sldId id="268" r:id="rId11"/>
    <p:sldId id="274" r:id="rId12"/>
    <p:sldId id="275" r:id="rId13"/>
    <p:sldId id="256" r:id="rId14"/>
    <p:sldId id="257" r:id="rId15"/>
    <p:sldId id="258" r:id="rId16"/>
    <p:sldId id="267" r:id="rId17"/>
    <p:sldId id="263" r:id="rId18"/>
    <p:sldId id="269" r:id="rId19"/>
  </p:sldIdLst>
  <p:sldSz cx="14400213" cy="14400213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无标题节" id="{7174F263-5FF1-488A-9BA9-16647EAD2F01}">
          <p14:sldIdLst>
            <p14:sldId id="262"/>
            <p14:sldId id="264"/>
            <p14:sldId id="260"/>
            <p14:sldId id="273"/>
            <p14:sldId id="259"/>
            <p14:sldId id="266"/>
            <p14:sldId id="270"/>
            <p14:sldId id="261"/>
            <p14:sldId id="265"/>
            <p14:sldId id="268"/>
            <p14:sldId id="274"/>
            <p14:sldId id="275"/>
          </p14:sldIdLst>
        </p14:section>
        <p14:section name="Not used" id="{81244984-FFB1-4A92-8F35-FF698557D6D0}">
          <p14:sldIdLst>
            <p14:sldId id="256"/>
            <p14:sldId id="257"/>
            <p14:sldId id="258"/>
            <p14:sldId id="267"/>
            <p14:sldId id="263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382" userDrawn="1">
          <p15:clr>
            <a:srgbClr val="A4A3A4"/>
          </p15:clr>
        </p15:guide>
        <p15:guide id="2" pos="4537" userDrawn="1">
          <p15:clr>
            <a:srgbClr val="A4A3A4"/>
          </p15:clr>
        </p15:guide>
        <p15:guide id="3" orient="horz" pos="4536" userDrawn="1">
          <p15:clr>
            <a:srgbClr val="A4A3A4"/>
          </p15:clr>
        </p15:guide>
        <p15:guide id="4" orient="horz" pos="3515" userDrawn="1">
          <p15:clr>
            <a:srgbClr val="A4A3A4"/>
          </p15:clr>
        </p15:guide>
        <p15:guide id="5" orient="horz" pos="181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pril Liang" initials="AL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5748"/>
    <a:srgbClr val="47A2DE"/>
    <a:srgbClr val="F39F1B"/>
    <a:srgbClr val="A69ED9"/>
    <a:srgbClr val="F2F2F2"/>
    <a:srgbClr val="D3B472"/>
    <a:srgbClr val="9AD67D"/>
    <a:srgbClr val="F8C474"/>
    <a:srgbClr val="FEEDDE"/>
    <a:srgbClr val="FDAE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39" d="100"/>
          <a:sy n="39" d="100"/>
        </p:scale>
        <p:origin x="2242" y="101"/>
      </p:cViewPr>
      <p:guideLst>
        <p:guide orient="horz" pos="2382"/>
        <p:guide pos="4537"/>
        <p:guide orient="horz" pos="4536"/>
        <p:guide orient="horz" pos="3515"/>
        <p:guide orient="horz" pos="1814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90001" cy="90001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Average.xlsx]Sheet2'!$U$2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Average.xlsx]Sheet2'!$U$3:$U$5</c:f>
              <c:numCache>
                <c:formatCode>0%</c:formatCode>
                <c:ptCount val="3"/>
                <c:pt idx="0">
                  <c:v>0.36363636363636398</c:v>
                </c:pt>
                <c:pt idx="1">
                  <c:v>0.5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6AC-4587-BEB0-655409F68864}"/>
            </c:ext>
          </c:extLst>
        </c:ser>
        <c:ser>
          <c:idx val="1"/>
          <c:order val="1"/>
          <c:tx>
            <c:strRef>
              <c:f>'[Continental Average.xlsx]Sheet2'!$V$2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Average.xlsx]Sheet2'!$V$3:$V$5</c:f>
              <c:numCache>
                <c:formatCode>0%</c:formatCode>
                <c:ptCount val="3"/>
                <c:pt idx="0">
                  <c:v>0.22727272727272699</c:v>
                </c:pt>
                <c:pt idx="1">
                  <c:v>0.3</c:v>
                </c:pt>
                <c:pt idx="2">
                  <c:v>0.33333333333333298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6AC-4587-BEB0-655409F68864}"/>
            </c:ext>
          </c:extLst>
        </c:ser>
        <c:ser>
          <c:idx val="2"/>
          <c:order val="2"/>
          <c:tx>
            <c:strRef>
              <c:f>'[Continental Average.xlsx]Sheet2'!$W$2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Average.xlsx]Sheet2'!$W$3:$W$5</c:f>
              <c:numCache>
                <c:formatCode>0%</c:formatCode>
                <c:ptCount val="3"/>
                <c:pt idx="0">
                  <c:v>0</c:v>
                </c:pt>
                <c:pt idx="1">
                  <c:v>3.3333333333333298E-2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6AC-4587-BEB0-655409F68864}"/>
            </c:ext>
          </c:extLst>
        </c:ser>
        <c:ser>
          <c:idx val="3"/>
          <c:order val="3"/>
          <c:tx>
            <c:strRef>
              <c:f>'[Continental Average.xlsx]Sheet2'!$X$2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Average.xlsx]Sheet2'!$X$3:$X$5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0.16666666666666699</c:v>
                </c:pt>
                <c:pt idx="2">
                  <c:v>0.133333333333333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6AC-4587-BEB0-655409F6886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bb8adb4-ffa1-4c27-94d4-ea17a12fad3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Average.xlsx]Sheet2'!$U$18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Average.xlsx]Sheet2'!$U$19:$U$21</c:f>
              <c:numCache>
                <c:formatCode>0%</c:formatCode>
                <c:ptCount val="3"/>
                <c:pt idx="0">
                  <c:v>0.45454545454545497</c:v>
                </c:pt>
                <c:pt idx="1">
                  <c:v>0.33333333333333298</c:v>
                </c:pt>
                <c:pt idx="2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B8A-4E40-844E-4F595A473CA5}"/>
            </c:ext>
          </c:extLst>
        </c:ser>
        <c:ser>
          <c:idx val="1"/>
          <c:order val="1"/>
          <c:tx>
            <c:strRef>
              <c:f>'[Continental Average.xlsx]Sheet2'!$V$18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Average.xlsx]Sheet2'!$V$19:$V$21</c:f>
              <c:numCache>
                <c:formatCode>0%</c:formatCode>
                <c:ptCount val="3"/>
                <c:pt idx="0">
                  <c:v>0.45454545454545497</c:v>
                </c:pt>
                <c:pt idx="1">
                  <c:v>0.2</c:v>
                </c:pt>
                <c:pt idx="2">
                  <c:v>0.233333333333333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B8A-4E40-844E-4F595A473CA5}"/>
            </c:ext>
          </c:extLst>
        </c:ser>
        <c:ser>
          <c:idx val="2"/>
          <c:order val="2"/>
          <c:tx>
            <c:strRef>
              <c:f>'[Continental Average.xlsx]Sheet2'!$W$18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Average.xlsx]Sheet2'!$W$19:$W$21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0.16666666666666699</c:v>
                </c:pt>
                <c:pt idx="2">
                  <c:v>6.6666666666666693E-2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B8A-4E40-844E-4F595A473CA5}"/>
            </c:ext>
          </c:extLst>
        </c:ser>
        <c:ser>
          <c:idx val="3"/>
          <c:order val="3"/>
          <c:tx>
            <c:strRef>
              <c:f>'[Continental Average.xlsx]Sheet2'!$X$18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Average.xlsx]Sheet2'!$X$19:$X$21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0.3</c:v>
                </c:pt>
                <c:pt idx="2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B8A-4E40-844E-4F595A473CA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8ed8364-554b-47b0-9384-8bfc9afc102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Average.xlsx]Sheet2'!$U$33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Average.xlsx]Sheet2'!$U$34:$U$36</c:f>
              <c:numCache>
                <c:formatCode>0%</c:formatCode>
                <c:ptCount val="3"/>
                <c:pt idx="0">
                  <c:v>0.36363636363636398</c:v>
                </c:pt>
                <c:pt idx="1">
                  <c:v>0.46666666666666701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F32-48A0-B938-866CE2330457}"/>
            </c:ext>
          </c:extLst>
        </c:ser>
        <c:ser>
          <c:idx val="1"/>
          <c:order val="1"/>
          <c:tx>
            <c:strRef>
              <c:f>'[Continental Average.xlsx]Sheet2'!$V$33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Average.xlsx]Sheet2'!$V$34:$V$36</c:f>
              <c:numCache>
                <c:formatCode>0%</c:formatCode>
                <c:ptCount val="3"/>
                <c:pt idx="0">
                  <c:v>0.22727272727272699</c:v>
                </c:pt>
                <c:pt idx="1">
                  <c:v>0.36666666666666697</c:v>
                </c:pt>
                <c:pt idx="2">
                  <c:v>0.33333333333333298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F32-48A0-B938-866CE2330457}"/>
            </c:ext>
          </c:extLst>
        </c:ser>
        <c:ser>
          <c:idx val="2"/>
          <c:order val="2"/>
          <c:tx>
            <c:strRef>
              <c:f>'[Continental Average.xlsx]Sheet2'!$W$33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Average.xlsx]Sheet2'!$W$34:$W$36</c:f>
              <c:numCache>
                <c:formatCode>0%</c:formatCode>
                <c:ptCount val="3"/>
                <c:pt idx="0">
                  <c:v>0</c:v>
                </c:pt>
                <c:pt idx="1">
                  <c:v>3.3333333333333298E-2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F32-48A0-B938-866CE2330457}"/>
            </c:ext>
          </c:extLst>
        </c:ser>
        <c:ser>
          <c:idx val="3"/>
          <c:order val="3"/>
          <c:tx>
            <c:strRef>
              <c:f>'[Continental Average.xlsx]Sheet2'!$X$33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Average.xlsx]Sheet2'!$X$34:$X$36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0.133333333333333</c:v>
                </c:pt>
                <c:pt idx="2">
                  <c:v>0.133333333333333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F32-48A0-B938-866CE233045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bab19804-f4c2-4642-9de8-99d2b0eed63c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Average.xlsx]Sheet2'!$U$48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Average.xlsx]Sheet2'!$U$49:$U$51</c:f>
              <c:numCache>
                <c:formatCode>0%</c:formatCode>
                <c:ptCount val="3"/>
                <c:pt idx="0">
                  <c:v>0.43181818181818199</c:v>
                </c:pt>
                <c:pt idx="1">
                  <c:v>0.266666666666667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CE0-42C5-937C-2597333F3305}"/>
            </c:ext>
          </c:extLst>
        </c:ser>
        <c:ser>
          <c:idx val="1"/>
          <c:order val="1"/>
          <c:tx>
            <c:strRef>
              <c:f>'[Continental Average.xlsx]Sheet2'!$V$48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Average.xlsx]Sheet2'!$V$49:$V$51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0.16666666666666699</c:v>
                </c:pt>
                <c:pt idx="2">
                  <c:v>0.16666666666666699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CE0-42C5-937C-2597333F3305}"/>
            </c:ext>
          </c:extLst>
        </c:ser>
        <c:ser>
          <c:idx val="2"/>
          <c:order val="2"/>
          <c:tx>
            <c:strRef>
              <c:f>'[Continental Average.xlsx]Sheet2'!$W$48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Average.xlsx]Sheet2'!$W$49:$W$51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0.3</c:v>
                </c:pt>
                <c:pt idx="2">
                  <c:v>3.3333333333333298E-2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CE0-42C5-937C-2597333F3305}"/>
            </c:ext>
          </c:extLst>
        </c:ser>
        <c:ser>
          <c:idx val="3"/>
          <c:order val="3"/>
          <c:tx>
            <c:strRef>
              <c:f>'[Continental Average.xlsx]Sheet2'!$X$48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Average.xlsx]Sheet2'!$X$49:$X$51</c:f>
              <c:numCache>
                <c:formatCode>0%</c:formatCode>
                <c:ptCount val="3"/>
                <c:pt idx="0">
                  <c:v>0.11363636363636399</c:v>
                </c:pt>
                <c:pt idx="1">
                  <c:v>0.266666666666667</c:v>
                </c:pt>
                <c:pt idx="2">
                  <c:v>0.266666666666667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CE0-42C5-937C-2597333F330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480ab477-e90b-4b03-a63e-2f8def5d979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  <a:t>2026/8/14</a:t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  <a:t>‹#›</a:t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D6C8D182-E4C8-4120-9249-FC9774456FFA}" type="datetimeFigureOut">
              <a:rPr lang="zh-CN" altLang="en-US" smtClean="0"/>
              <a:t>2026/8/14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25624" y="1279525"/>
            <a:ext cx="345440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85D0DACE-38E0-42D2-9336-2B707D34BC6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1825625" y="1279525"/>
            <a:ext cx="3454400" cy="34544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1825625" y="1279525"/>
            <a:ext cx="3454400" cy="34544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1825625" y="1279525"/>
            <a:ext cx="3454400" cy="34544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800140" y="2778091"/>
            <a:ext cx="10800847" cy="4592488"/>
          </a:xfrm>
        </p:spPr>
        <p:txBody>
          <a:bodyPr anchor="b">
            <a:normAutofit/>
          </a:bodyPr>
          <a:lstStyle>
            <a:lvl1pPr algn="ctr">
              <a:defRPr sz="945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800140" y="7563927"/>
            <a:ext cx="10800847" cy="3476939"/>
          </a:xfrm>
        </p:spPr>
        <p:txBody>
          <a:bodyPr>
            <a:normAutofit/>
          </a:bodyPr>
          <a:lstStyle>
            <a:lvl1pPr marL="0" indent="0" algn="ctr">
              <a:buNone/>
              <a:defRPr sz="2835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720090" indent="0" algn="ctr">
              <a:buNone/>
              <a:defRPr sz="3145"/>
            </a:lvl2pPr>
            <a:lvl3pPr marL="1440815" indent="0" algn="ctr">
              <a:buNone/>
              <a:defRPr sz="2835"/>
            </a:lvl3pPr>
            <a:lvl4pPr marL="2159635" indent="0" algn="ctr">
              <a:buNone/>
              <a:defRPr sz="2525"/>
            </a:lvl4pPr>
            <a:lvl5pPr marL="2880995" indent="0" algn="ctr">
              <a:buNone/>
              <a:defRPr sz="2525"/>
            </a:lvl5pPr>
            <a:lvl6pPr marL="3600450" indent="0" algn="ctr">
              <a:buNone/>
              <a:defRPr sz="2525"/>
            </a:lvl6pPr>
            <a:lvl7pPr marL="4320540" indent="0" algn="ctr">
              <a:buNone/>
              <a:defRPr sz="2525"/>
            </a:lvl7pPr>
            <a:lvl8pPr marL="5040630" indent="0" algn="ctr">
              <a:buNone/>
              <a:defRPr sz="2525"/>
            </a:lvl8pPr>
            <a:lvl9pPr marL="5761355" indent="0" algn="ctr">
              <a:buNone/>
              <a:defRPr sz="2525"/>
            </a:lvl9pPr>
          </a:lstStyle>
          <a:p>
            <a:r>
              <a:rPr lang="zh-CN" altLang="en-US" dirty="0"/>
              <a:t>单击此处添加副标题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61" y="542709"/>
            <a:ext cx="12420973" cy="2783553"/>
          </a:xfrm>
        </p:spPr>
        <p:txBody>
          <a:bodyPr anchor="ctr" anchorCtr="0">
            <a:normAutofit/>
          </a:bodyPr>
          <a:lstStyle>
            <a:lvl1pPr>
              <a:defRPr sz="378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5061" y="3833634"/>
            <a:ext cx="12420973" cy="9137384"/>
          </a:xfrm>
        </p:spPr>
        <p:txBody>
          <a:bodyPr>
            <a:normAutofit/>
          </a:bodyPr>
          <a:lstStyle>
            <a:lvl1pPr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82576" y="7876978"/>
            <a:ext cx="8648179" cy="1703770"/>
          </a:xfrm>
        </p:spPr>
        <p:txBody>
          <a:bodyPr anchor="b">
            <a:normAutofit/>
          </a:bodyPr>
          <a:lstStyle>
            <a:lvl1pPr>
              <a:defRPr sz="630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82576" y="9680607"/>
            <a:ext cx="8648179" cy="1359803"/>
          </a:xfrm>
        </p:spPr>
        <p:txBody>
          <a:bodyPr>
            <a:normAutofit/>
          </a:bodyPr>
          <a:lstStyle>
            <a:lvl1pPr marL="0" indent="0">
              <a:buNone/>
              <a:defRPr sz="2835">
                <a:solidFill>
                  <a:schemeClr val="tx1"/>
                </a:solidFill>
              </a:defRPr>
            </a:lvl1pPr>
            <a:lvl2pPr marL="720090" indent="0">
              <a:buNone/>
              <a:defRPr sz="3145">
                <a:solidFill>
                  <a:schemeClr val="tx1">
                    <a:tint val="75000"/>
                  </a:schemeClr>
                </a:solidFill>
              </a:defRPr>
            </a:lvl2pPr>
            <a:lvl3pPr marL="1440815" indent="0">
              <a:buNone/>
              <a:defRPr sz="2835">
                <a:solidFill>
                  <a:schemeClr val="tx1">
                    <a:tint val="75000"/>
                  </a:schemeClr>
                </a:solidFill>
              </a:defRPr>
            </a:lvl3pPr>
            <a:lvl4pPr marL="215963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4pPr>
            <a:lvl5pPr marL="288099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5pPr>
            <a:lvl6pPr marL="360045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6pPr>
            <a:lvl7pPr marL="432054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7pPr>
            <a:lvl8pPr marL="504063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8pPr>
            <a:lvl9pPr marL="576135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61" y="542709"/>
            <a:ext cx="12420973" cy="2783553"/>
          </a:xfrm>
        </p:spPr>
        <p:txBody>
          <a:bodyPr>
            <a:normAutofit/>
          </a:bodyPr>
          <a:lstStyle>
            <a:lvl1pPr>
              <a:defRPr sz="378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65061" y="3833634"/>
            <a:ext cx="6120479" cy="913738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065554" y="3833634"/>
            <a:ext cx="6120479" cy="913738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1953" y="766727"/>
            <a:ext cx="12420973" cy="278355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1953" y="3664248"/>
            <a:ext cx="6092353" cy="1730134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90" indent="0">
              <a:buNone/>
              <a:defRPr sz="3145" b="1"/>
            </a:lvl2pPr>
            <a:lvl3pPr marL="1440815" indent="0">
              <a:buNone/>
              <a:defRPr sz="2835" b="1"/>
            </a:lvl3pPr>
            <a:lvl4pPr marL="2159635" indent="0">
              <a:buNone/>
              <a:defRPr sz="2525" b="1"/>
            </a:lvl4pPr>
            <a:lvl5pPr marL="2880995" indent="0">
              <a:buNone/>
              <a:defRPr sz="2525" b="1"/>
            </a:lvl5pPr>
            <a:lvl6pPr marL="3600450" indent="0">
              <a:buNone/>
              <a:defRPr sz="2525" b="1"/>
            </a:lvl6pPr>
            <a:lvl7pPr marL="4320540" indent="0">
              <a:buNone/>
              <a:defRPr sz="2525" b="1"/>
            </a:lvl7pPr>
            <a:lvl8pPr marL="5040630" indent="0">
              <a:buNone/>
              <a:defRPr sz="2525" b="1"/>
            </a:lvl8pPr>
            <a:lvl9pPr marL="5761355" indent="0">
              <a:buNone/>
              <a:defRPr sz="2525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991953" y="5492523"/>
            <a:ext cx="6092353" cy="750516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7290571" y="3664248"/>
            <a:ext cx="6122357" cy="1730134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90" indent="0">
              <a:buNone/>
              <a:defRPr sz="3145" b="1"/>
            </a:lvl2pPr>
            <a:lvl3pPr marL="1440815" indent="0">
              <a:buNone/>
              <a:defRPr sz="2835" b="1"/>
            </a:lvl3pPr>
            <a:lvl4pPr marL="2159635" indent="0">
              <a:buNone/>
              <a:defRPr sz="2525" b="1"/>
            </a:lvl4pPr>
            <a:lvl5pPr marL="2880995" indent="0">
              <a:buNone/>
              <a:defRPr sz="2525" b="1"/>
            </a:lvl5pPr>
            <a:lvl6pPr marL="3600450" indent="0">
              <a:buNone/>
              <a:defRPr sz="2525" b="1"/>
            </a:lvl6pPr>
            <a:lvl7pPr marL="4320540" indent="0">
              <a:buNone/>
              <a:defRPr sz="2525" b="1"/>
            </a:lvl7pPr>
            <a:lvl8pPr marL="5040630" indent="0">
              <a:buNone/>
              <a:defRPr sz="2525" b="1"/>
            </a:lvl8pPr>
            <a:lvl9pPr marL="5761355" indent="0">
              <a:buNone/>
              <a:defRPr sz="2525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7290571" y="5492523"/>
            <a:ext cx="6122357" cy="750516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0077" y="5808790"/>
            <a:ext cx="12420973" cy="2783553"/>
          </a:xfrm>
        </p:spPr>
        <p:txBody>
          <a:bodyPr>
            <a:normAutofit/>
          </a:bodyPr>
          <a:lstStyle>
            <a:lvl1pPr algn="ctr">
              <a:defRPr sz="7565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63933" y="266688"/>
            <a:ext cx="4919914" cy="3360264"/>
          </a:xfrm>
        </p:spPr>
        <p:txBody>
          <a:bodyPr anchor="ctr" anchorCtr="0">
            <a:normAutofit/>
          </a:bodyPr>
          <a:lstStyle>
            <a:lvl1pPr>
              <a:defRPr sz="378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6123315" y="1609269"/>
            <a:ext cx="6871455" cy="10697839"/>
          </a:xfrm>
        </p:spPr>
        <p:txBody>
          <a:bodyPr/>
          <a:lstStyle>
            <a:lvl1pPr marL="0" indent="0">
              <a:buNone/>
              <a:defRPr sz="5040"/>
            </a:lvl1pPr>
            <a:lvl2pPr marL="720090" indent="0">
              <a:buNone/>
              <a:defRPr sz="4410"/>
            </a:lvl2pPr>
            <a:lvl3pPr marL="1440815" indent="0">
              <a:buNone/>
              <a:defRPr sz="3780"/>
            </a:lvl3pPr>
            <a:lvl4pPr marL="2159635" indent="0">
              <a:buNone/>
              <a:defRPr sz="3145"/>
            </a:lvl4pPr>
            <a:lvl5pPr marL="2880995" indent="0">
              <a:buNone/>
              <a:defRPr sz="3145"/>
            </a:lvl5pPr>
            <a:lvl6pPr marL="3600450" indent="0">
              <a:buNone/>
              <a:defRPr sz="3145"/>
            </a:lvl6pPr>
            <a:lvl7pPr marL="4320540" indent="0">
              <a:buNone/>
              <a:defRPr sz="3145"/>
            </a:lvl7pPr>
            <a:lvl8pPr marL="5040630" indent="0">
              <a:buNone/>
              <a:defRPr sz="3145"/>
            </a:lvl8pPr>
            <a:lvl9pPr marL="5761355" indent="0">
              <a:buNone/>
              <a:defRPr sz="3145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9934" y="4320339"/>
            <a:ext cx="4919914" cy="8003963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525"/>
            </a:lvl1pPr>
            <a:lvl2pPr marL="720090" indent="0">
              <a:buNone/>
              <a:defRPr sz="2205"/>
            </a:lvl2pPr>
            <a:lvl3pPr marL="1440815" indent="0">
              <a:buNone/>
              <a:defRPr sz="1885"/>
            </a:lvl3pPr>
            <a:lvl4pPr marL="2159635" indent="0">
              <a:buNone/>
              <a:defRPr sz="1575"/>
            </a:lvl4pPr>
            <a:lvl5pPr marL="2880995" indent="0">
              <a:buNone/>
              <a:defRPr sz="1575"/>
            </a:lvl5pPr>
            <a:lvl6pPr marL="3600450" indent="0">
              <a:buNone/>
              <a:defRPr sz="1575"/>
            </a:lvl6pPr>
            <a:lvl7pPr marL="4320540" indent="0">
              <a:buNone/>
              <a:defRPr sz="1575"/>
            </a:lvl7pPr>
            <a:lvl8pPr marL="5040630" indent="0">
              <a:buNone/>
              <a:defRPr sz="1575"/>
            </a:lvl8pPr>
            <a:lvl9pPr marL="5761355" indent="0">
              <a:buNone/>
              <a:defRPr sz="1575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2026/8/14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1604632" y="766727"/>
            <a:ext cx="1806420" cy="12204291"/>
          </a:xfrm>
        </p:spPr>
        <p:txBody>
          <a:bodyPr vert="eaVert">
            <a:normAutofit/>
          </a:bodyPr>
          <a:lstStyle>
            <a:lvl1pPr>
              <a:defRPr sz="567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990077" y="766727"/>
            <a:ext cx="10488962" cy="12204291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990077" y="1158186"/>
            <a:ext cx="12420973" cy="1167329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990077" y="766727"/>
            <a:ext cx="12420973" cy="27835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0077" y="3833634"/>
            <a:ext cx="12420973" cy="91373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990077" y="13347713"/>
            <a:ext cx="3240253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760FBDFE-C587-4B4C-A407-44438C67B59E}" type="datetimeFigureOut">
              <a:rPr lang="zh-CN" altLang="en-US" smtClean="0"/>
              <a:t>2026/8/14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770374" y="13347713"/>
            <a:ext cx="4860381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170797" y="13347713"/>
            <a:ext cx="3240253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1440815" rtl="0" eaLnBrk="1" latinLnBrk="0" hangingPunct="1">
        <a:lnSpc>
          <a:spcPct val="90000"/>
        </a:lnSpc>
        <a:spcBef>
          <a:spcPct val="0"/>
        </a:spcBef>
        <a:buNone/>
        <a:defRPr sz="630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j-cs"/>
        </a:defRPr>
      </a:lvl1pPr>
    </p:titleStyle>
    <p:bodyStyle>
      <a:lvl1pPr marL="360045" indent="-360045" algn="l" defTabSz="1440815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1pPr>
      <a:lvl2pPr marL="108013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314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2pPr>
      <a:lvl3pPr marL="180086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3pPr>
      <a:lvl4pPr marL="251968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4pPr>
      <a:lvl5pPr marL="324040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5pPr>
      <a:lvl6pPr marL="396049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8058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40067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2013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2009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4081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63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8099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60045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2054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4063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6135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microsoft.com/office/2007/relationships/hdphoto" Target="../media/hdphoto1.wdp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0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210.png"/><Relationship Id="rId18" Type="http://schemas.openxmlformats.org/officeDocument/2006/relationships/image" Target="../media/image32.png"/><Relationship Id="rId26" Type="http://schemas.openxmlformats.org/officeDocument/2006/relationships/image" Target="../media/image40.png"/><Relationship Id="rId3" Type="http://schemas.openxmlformats.org/officeDocument/2006/relationships/image" Target="../media/image21.png"/><Relationship Id="rId21" Type="http://schemas.openxmlformats.org/officeDocument/2006/relationships/image" Target="../media/image35.png"/><Relationship Id="rId7" Type="http://schemas.openxmlformats.org/officeDocument/2006/relationships/image" Target="../media/image25.png"/><Relationship Id="rId12" Type="http://schemas.openxmlformats.org/officeDocument/2006/relationships/image" Target="../media/image110.png"/><Relationship Id="rId17" Type="http://schemas.openxmlformats.org/officeDocument/2006/relationships/image" Target="../media/image31.png"/><Relationship Id="rId25" Type="http://schemas.openxmlformats.org/officeDocument/2006/relationships/image" Target="../media/image39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0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24" Type="http://schemas.openxmlformats.org/officeDocument/2006/relationships/image" Target="../media/image38.png"/><Relationship Id="rId5" Type="http://schemas.openxmlformats.org/officeDocument/2006/relationships/image" Target="../media/image23.png"/><Relationship Id="rId15" Type="http://schemas.openxmlformats.org/officeDocument/2006/relationships/image" Target="../media/image43.png"/><Relationship Id="rId23" Type="http://schemas.openxmlformats.org/officeDocument/2006/relationships/image" Target="../media/image37.png"/><Relationship Id="rId10" Type="http://schemas.openxmlformats.org/officeDocument/2006/relationships/image" Target="../media/image28.png"/><Relationship Id="rId19" Type="http://schemas.openxmlformats.org/officeDocument/2006/relationships/image" Target="../media/image3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10.png"/><Relationship Id="rId22" Type="http://schemas.openxmlformats.org/officeDocument/2006/relationships/image" Target="../media/image3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8" Type="http://schemas.openxmlformats.org/officeDocument/2006/relationships/image" Target="../media/image42.png"/><Relationship Id="rId3" Type="http://schemas.openxmlformats.org/officeDocument/2006/relationships/image" Target="../media/image30.png"/><Relationship Id="rId7" Type="http://schemas.openxmlformats.org/officeDocument/2006/relationships/image" Target="../media/image35.png"/><Relationship Id="rId12" Type="http://schemas.openxmlformats.org/officeDocument/2006/relationships/image" Target="../media/image41.png"/><Relationship Id="rId17" Type="http://schemas.openxmlformats.org/officeDocument/2006/relationships/image" Target="../media/image29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8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39.svg"/><Relationship Id="rId5" Type="http://schemas.openxmlformats.org/officeDocument/2006/relationships/image" Target="../media/image32.png"/><Relationship Id="rId10" Type="http://schemas.openxmlformats.org/officeDocument/2006/relationships/image" Target="../media/image38.png"/><Relationship Id="rId19" Type="http://schemas.openxmlformats.org/officeDocument/2006/relationships/image" Target="../media/image44.png"/><Relationship Id="rId4" Type="http://schemas.openxmlformats.org/officeDocument/2006/relationships/image" Target="../media/image31.png"/><Relationship Id="rId9" Type="http://schemas.openxmlformats.org/officeDocument/2006/relationships/image" Target="../media/image3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45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7" Type="http://schemas.openxmlformats.org/officeDocument/2006/relationships/image" Target="../media/image41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0.png"/><Relationship Id="rId5" Type="http://schemas.openxmlformats.org/officeDocument/2006/relationships/image" Target="../media/image51.svg"/><Relationship Id="rId4" Type="http://schemas.openxmlformats.org/officeDocument/2006/relationships/image" Target="../media/image50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0.png"/><Relationship Id="rId13" Type="http://schemas.openxmlformats.org/officeDocument/2006/relationships/image" Target="../media/image620.png"/><Relationship Id="rId3" Type="http://schemas.openxmlformats.org/officeDocument/2006/relationships/tags" Target="../tags/tag2.xml"/><Relationship Id="rId7" Type="http://schemas.openxmlformats.org/officeDocument/2006/relationships/image" Target="../media/image560.png"/><Relationship Id="rId12" Type="http://schemas.openxmlformats.org/officeDocument/2006/relationships/image" Target="../media/image610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6" Type="http://schemas.openxmlformats.org/officeDocument/2006/relationships/image" Target="../media/image62.png"/><Relationship Id="rId11" Type="http://schemas.openxmlformats.org/officeDocument/2006/relationships/image" Target="../media/image600.png"/><Relationship Id="rId5" Type="http://schemas.openxmlformats.org/officeDocument/2006/relationships/image" Target="../media/image61.png"/><Relationship Id="rId10" Type="http://schemas.openxmlformats.org/officeDocument/2006/relationships/image" Target="../media/image590.png"/><Relationship Id="rId4" Type="http://schemas.openxmlformats.org/officeDocument/2006/relationships/image" Target="../media/image530.png"/><Relationship Id="rId9" Type="http://schemas.openxmlformats.org/officeDocument/2006/relationships/image" Target="../media/image580.png"/><Relationship Id="rId14" Type="http://schemas.openxmlformats.org/officeDocument/2006/relationships/image" Target="../media/image6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11" Type="http://schemas.openxmlformats.org/officeDocument/2006/relationships/image" Target="../media/image73.png"/><Relationship Id="rId5" Type="http://schemas.openxmlformats.org/officeDocument/2006/relationships/image" Target="../media/image67.png"/><Relationship Id="rId10" Type="http://schemas.openxmlformats.org/officeDocument/2006/relationships/image" Target="../media/image72.png"/><Relationship Id="rId4" Type="http://schemas.openxmlformats.org/officeDocument/2006/relationships/image" Target="../media/image66.png"/><Relationship Id="rId9" Type="http://schemas.openxmlformats.org/officeDocument/2006/relationships/image" Target="../media/image7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85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12" Type="http://schemas.openxmlformats.org/officeDocument/2006/relationships/image" Target="../media/image84.png"/><Relationship Id="rId17" Type="http://schemas.openxmlformats.org/officeDocument/2006/relationships/image" Target="../media/image89.png"/><Relationship Id="rId2" Type="http://schemas.openxmlformats.org/officeDocument/2006/relationships/image" Target="../media/image74.png"/><Relationship Id="rId16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11" Type="http://schemas.openxmlformats.org/officeDocument/2006/relationships/image" Target="../media/image83.png"/><Relationship Id="rId5" Type="http://schemas.openxmlformats.org/officeDocument/2006/relationships/image" Target="../media/image77.png"/><Relationship Id="rId15" Type="http://schemas.openxmlformats.org/officeDocument/2006/relationships/image" Target="../media/image8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Relationship Id="rId14" Type="http://schemas.openxmlformats.org/officeDocument/2006/relationships/image" Target="../media/image8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0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50.png"/><Relationship Id="rId4" Type="http://schemas.openxmlformats.org/officeDocument/2006/relationships/image" Target="../media/image94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140.png"/><Relationship Id="rId2" Type="http://schemas.openxmlformats.org/officeDocument/2006/relationships/image" Target="../media/image98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  <a:t>1</a:t>
            </a:fld>
            <a:endParaRPr lang="de-AT" sz="1065" dirty="0"/>
          </a:p>
        </p:txBody>
      </p:sp>
      <p:sp>
        <p:nvSpPr>
          <p:cNvPr id="66" name="矩形 65"/>
          <p:cNvSpPr/>
          <p:nvPr/>
        </p:nvSpPr>
        <p:spPr>
          <a:xfrm>
            <a:off x="2883680" y="1453141"/>
            <a:ext cx="8150225" cy="10195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pic>
        <p:nvPicPr>
          <p:cNvPr id="169" name="Picture 168">
            <a:extLst>
              <a:ext uri="{FF2B5EF4-FFF2-40B4-BE49-F238E27FC236}">
                <a16:creationId xmlns:a16="http://schemas.microsoft.com/office/drawing/2014/main" id="{0D1E4D9A-E3E1-A6CD-5742-6DD15BDE37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958794" y="5791591"/>
            <a:ext cx="1690176" cy="1717255"/>
          </a:xfrm>
          <a:prstGeom prst="rect">
            <a:avLst/>
          </a:prstGeom>
        </p:spPr>
      </p:pic>
      <p:pic>
        <p:nvPicPr>
          <p:cNvPr id="165" name="Picture 164">
            <a:extLst>
              <a:ext uri="{FF2B5EF4-FFF2-40B4-BE49-F238E27FC236}">
                <a16:creationId xmlns:a16="http://schemas.microsoft.com/office/drawing/2014/main" id="{3D4210DA-8C4B-AA06-95D8-1A4DECEBE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93228" y="5821322"/>
            <a:ext cx="1681016" cy="1634961"/>
          </a:xfrm>
          <a:prstGeom prst="rect">
            <a:avLst/>
          </a:prstGeom>
        </p:spPr>
      </p:pic>
      <p:pic>
        <p:nvPicPr>
          <p:cNvPr id="161" name="Picture 160">
            <a:extLst>
              <a:ext uri="{FF2B5EF4-FFF2-40B4-BE49-F238E27FC236}">
                <a16:creationId xmlns:a16="http://schemas.microsoft.com/office/drawing/2014/main" id="{86844F16-57F8-8AF7-8446-BBD6E5DDB0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017078" y="5791591"/>
            <a:ext cx="1715636" cy="1704044"/>
          </a:xfrm>
          <a:prstGeom prst="rect">
            <a:avLst/>
          </a:prstGeom>
        </p:spPr>
      </p:pic>
      <p:pic>
        <p:nvPicPr>
          <p:cNvPr id="159" name="Picture 158">
            <a:extLst>
              <a:ext uri="{FF2B5EF4-FFF2-40B4-BE49-F238E27FC236}">
                <a16:creationId xmlns:a16="http://schemas.microsoft.com/office/drawing/2014/main" id="{C7B8F98E-C8B3-1708-61BD-4530938142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998633" y="5781126"/>
            <a:ext cx="1987504" cy="1788073"/>
          </a:xfrm>
          <a:prstGeom prst="rect">
            <a:avLst/>
          </a:prstGeom>
        </p:spPr>
      </p:pic>
      <p:pic>
        <p:nvPicPr>
          <p:cNvPr id="151" name="Picture 150">
            <a:extLst>
              <a:ext uri="{FF2B5EF4-FFF2-40B4-BE49-F238E27FC236}">
                <a16:creationId xmlns:a16="http://schemas.microsoft.com/office/drawing/2014/main" id="{2ECEEEDC-C240-7E4A-FB91-6412FF5EFC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8677275" y="2366729"/>
            <a:ext cx="1939331" cy="1878806"/>
          </a:xfrm>
          <a:prstGeom prst="rect">
            <a:avLst/>
          </a:prstGeom>
        </p:spPr>
      </p:pic>
      <p:pic>
        <p:nvPicPr>
          <p:cNvPr id="155" name="Picture 154">
            <a:extLst>
              <a:ext uri="{FF2B5EF4-FFF2-40B4-BE49-F238E27FC236}">
                <a16:creationId xmlns:a16="http://schemas.microsoft.com/office/drawing/2014/main" id="{85C14ED4-FF5F-6609-F485-68A3CCF4C6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6795338" y="2342744"/>
            <a:ext cx="1973585" cy="1905791"/>
          </a:xfrm>
          <a:prstGeom prst="rect">
            <a:avLst/>
          </a:prstGeom>
        </p:spPr>
      </p:pic>
      <p:pic>
        <p:nvPicPr>
          <p:cNvPr id="149" name="Picture 148">
            <a:extLst>
              <a:ext uri="{FF2B5EF4-FFF2-40B4-BE49-F238E27FC236}">
                <a16:creationId xmlns:a16="http://schemas.microsoft.com/office/drawing/2014/main" id="{18A2EB14-EF62-E18E-1F5B-A30548184AB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863762" y="2339651"/>
            <a:ext cx="2054628" cy="1878805"/>
          </a:xfrm>
          <a:prstGeom prst="rect">
            <a:avLst/>
          </a:prstGeom>
        </p:spPr>
      </p:pic>
      <p:pic>
        <p:nvPicPr>
          <p:cNvPr id="145" name="Picture 144">
            <a:extLst>
              <a:ext uri="{FF2B5EF4-FFF2-40B4-BE49-F238E27FC236}">
                <a16:creationId xmlns:a16="http://schemas.microsoft.com/office/drawing/2014/main" id="{F2BD9228-C6E5-5FF3-0E7D-27487DE8DC1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3064874" y="2371913"/>
            <a:ext cx="1929097" cy="185051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/>
              <p:cNvSpPr txBox="1"/>
              <p:nvPr/>
            </p:nvSpPr>
            <p:spPr>
              <a:xfrm>
                <a:off x="7052168" y="4218456"/>
                <a:ext cx="1417097" cy="281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24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𝛼</m:t>
                    </m:r>
                  </m:oMath>
                </a14:m>
                <a:r>
                  <a:rPr lang="en-US" sz="1240" dirty="0">
                    <a:latin typeface="Arial" panose="020B0604020202020204" pitchFamily="34" charset="0"/>
                  </a:rPr>
                  <a:t> large, </a:t>
                </a:r>
                <a14:m>
                  <m:oMath xmlns:m="http://schemas.openxmlformats.org/officeDocument/2006/math">
                    <m:r>
                      <a:rPr lang="en-US" sz="124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𝛽</m:t>
                    </m:r>
                    <m:r>
                      <a:rPr lang="en-US" sz="1240" b="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 </m:t>
                    </m:r>
                  </m:oMath>
                </a14:m>
                <a:r>
                  <a:rPr lang="en-US" sz="1240" dirty="0">
                    <a:latin typeface="Arial" panose="020B0604020202020204" pitchFamily="34" charset="0"/>
                  </a:rPr>
                  <a:t>small</a:t>
                </a:r>
              </a:p>
            </p:txBody>
          </p:sp>
        </mc:Choice>
        <mc:Fallback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2168" y="4218456"/>
                <a:ext cx="1417097" cy="281500"/>
              </a:xfrm>
              <a:prstGeom prst="rect">
                <a:avLst/>
              </a:prstGeom>
              <a:blipFill>
                <a:blip r:embed="rId10"/>
                <a:stretch>
                  <a:fillRect t="-2174" b="-195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3289914" y="4211668"/>
                <a:ext cx="1447461" cy="281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24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𝛼</m:t>
                    </m:r>
                  </m:oMath>
                </a14:m>
                <a:r>
                  <a:rPr lang="en-US" sz="1240" dirty="0">
                    <a:latin typeface="Arial" panose="020B0604020202020204" pitchFamily="34" charset="0"/>
                  </a:rPr>
                  <a:t> small, </a:t>
                </a:r>
                <a14:m>
                  <m:oMath xmlns:m="http://schemas.openxmlformats.org/officeDocument/2006/math">
                    <m:r>
                      <a:rPr lang="en-US" sz="124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𝛽</m:t>
                    </m:r>
                    <m:r>
                      <a:rPr lang="en-US" sz="1240" b="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 </m:t>
                    </m:r>
                  </m:oMath>
                </a14:m>
                <a:r>
                  <a:rPr lang="en-US" sz="1240" dirty="0">
                    <a:latin typeface="Arial" panose="020B0604020202020204" pitchFamily="34" charset="0"/>
                  </a:rPr>
                  <a:t>small</a:t>
                </a:r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9914" y="4211668"/>
                <a:ext cx="1447461" cy="281500"/>
              </a:xfrm>
              <a:prstGeom prst="rect">
                <a:avLst/>
              </a:prstGeom>
              <a:blipFill>
                <a:blip r:embed="rId11"/>
                <a:stretch>
                  <a:fillRect t="-2174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/>
              <p:cNvSpPr txBox="1"/>
              <p:nvPr/>
            </p:nvSpPr>
            <p:spPr>
              <a:xfrm>
                <a:off x="8902931" y="4211668"/>
                <a:ext cx="1447461" cy="281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24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𝛼</m:t>
                    </m:r>
                  </m:oMath>
                </a14:m>
                <a:r>
                  <a:rPr lang="en-US" sz="1240" dirty="0">
                    <a:latin typeface="Arial" panose="020B0604020202020204" pitchFamily="34" charset="0"/>
                  </a:rPr>
                  <a:t> large, </a:t>
                </a:r>
                <a14:m>
                  <m:oMath xmlns:m="http://schemas.openxmlformats.org/officeDocument/2006/math">
                    <m:r>
                      <a:rPr lang="en-US" sz="124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𝛽</m:t>
                    </m:r>
                    <m:r>
                      <a:rPr lang="en-US" sz="1240" b="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 </m:t>
                    </m:r>
                  </m:oMath>
                </a14:m>
                <a:r>
                  <a:rPr lang="en-US" sz="1240" dirty="0">
                    <a:latin typeface="Arial" panose="020B0604020202020204" pitchFamily="34" charset="0"/>
                  </a:rPr>
                  <a:t>large</a:t>
                </a:r>
              </a:p>
            </p:txBody>
          </p:sp>
        </mc:Choice>
        <mc:Fallback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2931" y="4211668"/>
                <a:ext cx="1447461" cy="281500"/>
              </a:xfrm>
              <a:prstGeom prst="rect">
                <a:avLst/>
              </a:prstGeom>
              <a:blipFill>
                <a:blip r:embed="rId12"/>
                <a:stretch>
                  <a:fillRect t="-2174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/>
              <p:cNvSpPr txBox="1"/>
              <p:nvPr/>
            </p:nvSpPr>
            <p:spPr>
              <a:xfrm>
                <a:off x="5171041" y="4208453"/>
                <a:ext cx="1447461" cy="281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24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𝛼</m:t>
                    </m:r>
                  </m:oMath>
                </a14:m>
                <a:r>
                  <a:rPr lang="en-US" sz="1240" dirty="0">
                    <a:latin typeface="Arial" panose="020B0604020202020204" pitchFamily="34" charset="0"/>
                  </a:rPr>
                  <a:t> </a:t>
                </a:r>
                <a:r>
                  <a:rPr lang="en-US" altLang="zh-CN" sz="1240" dirty="0">
                    <a:latin typeface="Arial" panose="020B0604020202020204" pitchFamily="34" charset="0"/>
                  </a:rPr>
                  <a:t>small</a:t>
                </a:r>
                <a:r>
                  <a:rPr lang="en-US" sz="1240" dirty="0">
                    <a:latin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24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𝛽</m:t>
                    </m:r>
                    <m:r>
                      <a:rPr lang="en-US" sz="1240" b="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 </m:t>
                    </m:r>
                  </m:oMath>
                </a14:m>
                <a:r>
                  <a:rPr lang="en-US" altLang="zh-CN" sz="1240" dirty="0">
                    <a:latin typeface="Arial" panose="020B0604020202020204" pitchFamily="34" charset="0"/>
                  </a:rPr>
                  <a:t>large</a:t>
                </a:r>
                <a:endParaRPr lang="en-US" sz="1240" dirty="0"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58" name="Text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041" y="4208453"/>
                <a:ext cx="1447461" cy="281500"/>
              </a:xfrm>
              <a:prstGeom prst="rect">
                <a:avLst/>
              </a:prstGeom>
              <a:blipFill>
                <a:blip r:embed="rId13"/>
                <a:stretch>
                  <a:fillRect b="-170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12"/>
          <p:cNvSpPr txBox="1"/>
          <p:nvPr/>
        </p:nvSpPr>
        <p:spPr>
          <a:xfrm>
            <a:off x="3842535" y="2071480"/>
            <a:ext cx="2662013" cy="2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65" dirty="0">
                <a:latin typeface="Arial" panose="020B0604020202020204" pitchFamily="34" charset="0"/>
              </a:rPr>
              <a:t>Structural Zeros (cannot be constructed)</a:t>
            </a:r>
          </a:p>
        </p:txBody>
      </p:sp>
      <p:sp>
        <p:nvSpPr>
          <p:cNvPr id="33" name="TextBox 98"/>
          <p:cNvSpPr txBox="1"/>
          <p:nvPr/>
        </p:nvSpPr>
        <p:spPr>
          <a:xfrm>
            <a:off x="6784252" y="2078982"/>
            <a:ext cx="1871482" cy="2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65" dirty="0">
                <a:latin typeface="Arial" panose="020B0604020202020204" pitchFamily="34" charset="0"/>
              </a:rPr>
              <a:t>Constructable Area</a:t>
            </a:r>
          </a:p>
        </p:txBody>
      </p:sp>
      <p:sp>
        <p:nvSpPr>
          <p:cNvPr id="34" name="矩形 33"/>
          <p:cNvSpPr/>
          <p:nvPr/>
        </p:nvSpPr>
        <p:spPr>
          <a:xfrm>
            <a:off x="3552114" y="2026469"/>
            <a:ext cx="290421" cy="290431"/>
          </a:xfrm>
          <a:prstGeom prst="rect">
            <a:avLst/>
          </a:prstGeom>
          <a:solidFill>
            <a:srgbClr val="A69ED9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" dirty="0"/>
          </a:p>
        </p:txBody>
      </p:sp>
      <p:sp>
        <p:nvSpPr>
          <p:cNvPr id="37" name="矩形 36"/>
          <p:cNvSpPr/>
          <p:nvPr/>
        </p:nvSpPr>
        <p:spPr>
          <a:xfrm>
            <a:off x="6494188" y="2034328"/>
            <a:ext cx="290421" cy="290431"/>
          </a:xfrm>
          <a:prstGeom prst="rect">
            <a:avLst/>
          </a:prstGeom>
          <a:solidFill>
            <a:srgbClr val="F2F2F2"/>
          </a:solidFill>
          <a:ln w="3175">
            <a:solidFill>
              <a:srgbClr val="696969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"/>
          </a:p>
        </p:txBody>
      </p:sp>
      <p:sp>
        <p:nvSpPr>
          <p:cNvPr id="19" name="椭圆 18"/>
          <p:cNvSpPr/>
          <p:nvPr/>
        </p:nvSpPr>
        <p:spPr>
          <a:xfrm>
            <a:off x="3150240" y="2394062"/>
            <a:ext cx="1771460" cy="1771523"/>
          </a:xfrm>
          <a:prstGeom prst="ellipse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"/>
          </a:p>
        </p:txBody>
      </p:sp>
      <p:sp>
        <p:nvSpPr>
          <p:cNvPr id="39" name="椭圆 38"/>
          <p:cNvSpPr/>
          <p:nvPr/>
        </p:nvSpPr>
        <p:spPr>
          <a:xfrm>
            <a:off x="5019222" y="2394062"/>
            <a:ext cx="1771460" cy="1771523"/>
          </a:xfrm>
          <a:prstGeom prst="ellipse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"/>
          </a:p>
        </p:txBody>
      </p:sp>
      <p:sp>
        <p:nvSpPr>
          <p:cNvPr id="45" name="椭圆 44"/>
          <p:cNvSpPr/>
          <p:nvPr/>
        </p:nvSpPr>
        <p:spPr>
          <a:xfrm>
            <a:off x="6887846" y="2394062"/>
            <a:ext cx="1771460" cy="1771523"/>
          </a:xfrm>
          <a:prstGeom prst="ellipse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"/>
          </a:p>
        </p:txBody>
      </p:sp>
      <p:sp>
        <p:nvSpPr>
          <p:cNvPr id="48" name="椭圆 47"/>
          <p:cNvSpPr/>
          <p:nvPr/>
        </p:nvSpPr>
        <p:spPr>
          <a:xfrm>
            <a:off x="8756828" y="2394062"/>
            <a:ext cx="1771460" cy="1771523"/>
          </a:xfrm>
          <a:prstGeom prst="ellipse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8"/>
              <p:cNvSpPr txBox="1"/>
              <p:nvPr/>
            </p:nvSpPr>
            <p:spPr>
              <a:xfrm>
                <a:off x="8242429" y="2004320"/>
                <a:ext cx="2463041" cy="3379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595" i="1" smtClean="0">
                          <a:latin typeface="Cambria Math" panose="02040503050406030204" pitchFamily="18" charset="0"/>
                          <a:ea typeface="Cambria Math" panose="02040503050406030204" charset="0"/>
                        </a:rPr>
                        <m:t>𝜓</m:t>
                      </m:r>
                      <m:d>
                        <m:dPr>
                          <m:ctrlPr>
                            <a:rPr lang="en-US" sz="1595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sz="1595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𝑟</m:t>
                          </m:r>
                        </m:e>
                      </m:d>
                      <m:r>
                        <a:rPr lang="en-US" sz="159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595" b="0" i="0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logistic</m:t>
                      </m:r>
                      <m:r>
                        <a:rPr lang="en-US" sz="159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(</m:t>
                      </m:r>
                      <m:r>
                        <a:rPr lang="en-US" sz="159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  <m:r>
                        <a:rPr lang="en-US" sz="159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+</m:t>
                      </m:r>
                      <m:r>
                        <a:rPr lang="en-US" sz="159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159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∙</m:t>
                      </m:r>
                      <m:r>
                        <a:rPr lang="en-US" sz="159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𝑟</m:t>
                      </m:r>
                      <m:r>
                        <a:rPr lang="en-US" sz="1595" b="0" i="1" smtClean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sz="1595" b="0" i="1" dirty="0"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38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429" y="2004320"/>
                <a:ext cx="2463041" cy="337943"/>
              </a:xfrm>
              <a:prstGeom prst="rect">
                <a:avLst/>
              </a:prstGeom>
              <a:blipFill>
                <a:blip r:embed="rId14"/>
                <a:stretch>
                  <a:fillRect b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文本框 60"/>
          <p:cNvSpPr txBox="1"/>
          <p:nvPr/>
        </p:nvSpPr>
        <p:spPr>
          <a:xfrm>
            <a:off x="5017078" y="4453159"/>
            <a:ext cx="1760386" cy="2990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350" dirty="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Edge constrained</a:t>
            </a:r>
          </a:p>
        </p:txBody>
      </p:sp>
      <p:sp>
        <p:nvSpPr>
          <p:cNvPr id="54" name="文本框 53"/>
          <p:cNvSpPr txBox="1"/>
          <p:nvPr/>
        </p:nvSpPr>
        <p:spPr>
          <a:xfrm>
            <a:off x="3178460" y="4454230"/>
            <a:ext cx="1691086" cy="2990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350" dirty="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Uniformly Open</a:t>
            </a:r>
          </a:p>
        </p:txBody>
      </p:sp>
      <p:sp>
        <p:nvSpPr>
          <p:cNvPr id="60" name="文本框 59"/>
          <p:cNvSpPr txBox="1"/>
          <p:nvPr/>
        </p:nvSpPr>
        <p:spPr>
          <a:xfrm>
            <a:off x="8763972" y="4453159"/>
            <a:ext cx="1763244" cy="2957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330" dirty="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Locked</a:t>
            </a:r>
          </a:p>
        </p:txBody>
      </p:sp>
      <p:sp>
        <p:nvSpPr>
          <p:cNvPr id="62" name="文本框 61"/>
          <p:cNvSpPr txBox="1"/>
          <p:nvPr/>
        </p:nvSpPr>
        <p:spPr>
          <a:xfrm>
            <a:off x="6861055" y="4453159"/>
            <a:ext cx="1876126" cy="2990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35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Uniformly constrained</a:t>
            </a:r>
          </a:p>
        </p:txBody>
      </p:sp>
      <p:sp>
        <p:nvSpPr>
          <p:cNvPr id="126" name="Google Shape;421;p29"/>
          <p:cNvSpPr txBox="1"/>
          <p:nvPr/>
        </p:nvSpPr>
        <p:spPr>
          <a:xfrm>
            <a:off x="5163201" y="7456283"/>
            <a:ext cx="1444117" cy="3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0960" tIns="80960" rIns="80960" bIns="80960" anchor="t" anchorCtr="0">
            <a:spAutoFit/>
          </a:bodyPr>
          <a:lstStyle/>
          <a:p>
            <a:pPr lvl="0" algn="ctr"/>
            <a:r>
              <a:rPr lang="de-AT" sz="1420" dirty="0">
                <a:solidFill>
                  <a:schemeClr val="dk1"/>
                </a:solidFill>
                <a:latin typeface="Arial" panose="020B0604020202020204" pitchFamily="34" charset="0"/>
              </a:rPr>
              <a:t>κ small δ large </a:t>
            </a:r>
            <a:endParaRPr sz="1420" dirty="0">
              <a:solidFill>
                <a:schemeClr val="dk1"/>
              </a:solidFill>
              <a:latin typeface="Arial" panose="020B0604020202020204" pitchFamily="34" charset="0"/>
            </a:endParaRPr>
          </a:p>
        </p:txBody>
      </p:sp>
      <p:sp>
        <p:nvSpPr>
          <p:cNvPr id="127" name="Google Shape;422;p29"/>
          <p:cNvSpPr txBox="1"/>
          <p:nvPr/>
        </p:nvSpPr>
        <p:spPr>
          <a:xfrm>
            <a:off x="9018345" y="7456283"/>
            <a:ext cx="1517698" cy="3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0960" tIns="80960" rIns="80960" bIns="80960" anchor="t" anchorCtr="0">
            <a:spAutoFit/>
          </a:bodyPr>
          <a:lstStyle/>
          <a:p>
            <a:pPr lvl="0" algn="ctr"/>
            <a:r>
              <a:rPr lang="de-AT" sz="1420" dirty="0">
                <a:solidFill>
                  <a:schemeClr val="dk1"/>
                </a:solidFill>
                <a:latin typeface="Arial" panose="020B0604020202020204" pitchFamily="34" charset="0"/>
              </a:rPr>
              <a:t>κ large δ large </a:t>
            </a:r>
            <a:endParaRPr sz="1420" dirty="0">
              <a:solidFill>
                <a:schemeClr val="dk1"/>
              </a:solidFill>
              <a:latin typeface="Arial" panose="020B0604020202020204" pitchFamily="34" charset="0"/>
            </a:endParaRPr>
          </a:p>
        </p:txBody>
      </p:sp>
      <p:sp>
        <p:nvSpPr>
          <p:cNvPr id="128" name="Google Shape;423;p29"/>
          <p:cNvSpPr txBox="1"/>
          <p:nvPr/>
        </p:nvSpPr>
        <p:spPr>
          <a:xfrm>
            <a:off x="3235092" y="7456283"/>
            <a:ext cx="1444474" cy="3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0960" tIns="80960" rIns="80960" bIns="80960" anchor="t" anchorCtr="0">
            <a:spAutoFit/>
          </a:bodyPr>
          <a:lstStyle/>
          <a:p>
            <a:pPr lvl="0" algn="ctr"/>
            <a:r>
              <a:rPr lang="de-AT" sz="1420" dirty="0">
                <a:solidFill>
                  <a:schemeClr val="dk1"/>
                </a:solidFill>
                <a:latin typeface="Arial" panose="020B0604020202020204" pitchFamily="34" charset="0"/>
              </a:rPr>
              <a:t>κ small δ small </a:t>
            </a:r>
            <a:endParaRPr sz="1420" dirty="0">
              <a:solidFill>
                <a:schemeClr val="dk1"/>
              </a:solidFill>
              <a:latin typeface="Arial" panose="020B0604020202020204" pitchFamily="34" charset="0"/>
            </a:endParaRPr>
          </a:p>
        </p:txBody>
      </p:sp>
      <p:sp>
        <p:nvSpPr>
          <p:cNvPr id="129" name="Google Shape;424;p29"/>
          <p:cNvSpPr txBox="1"/>
          <p:nvPr/>
        </p:nvSpPr>
        <p:spPr>
          <a:xfrm>
            <a:off x="7090952" y="7456283"/>
            <a:ext cx="1444117" cy="3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0960" tIns="80960" rIns="80960" bIns="80960" anchor="t" anchorCtr="0">
            <a:spAutoFit/>
          </a:bodyPr>
          <a:lstStyle/>
          <a:p>
            <a:pPr lvl="0" algn="ctr"/>
            <a:r>
              <a:rPr lang="de-AT" sz="1420" dirty="0">
                <a:solidFill>
                  <a:schemeClr val="dk1"/>
                </a:solidFill>
                <a:latin typeface="Arial" panose="020B0604020202020204" pitchFamily="34" charset="0"/>
              </a:rPr>
              <a:t>κ large δ small </a:t>
            </a:r>
            <a:endParaRPr sz="1420" dirty="0">
              <a:solidFill>
                <a:schemeClr val="dk1"/>
              </a:solidFill>
              <a:latin typeface="Arial" panose="020B0604020202020204" pitchFamily="34" charset="0"/>
            </a:endParaRPr>
          </a:p>
        </p:txBody>
      </p:sp>
      <p:sp>
        <p:nvSpPr>
          <p:cNvPr id="32" name="TextBox 12"/>
          <p:cNvSpPr txBox="1"/>
          <p:nvPr/>
        </p:nvSpPr>
        <p:spPr>
          <a:xfrm>
            <a:off x="3653718" y="5387637"/>
            <a:ext cx="895831" cy="255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65" dirty="0">
                <a:latin typeface="Arial" panose="020B0604020202020204" pitchFamily="34" charset="0"/>
              </a:rPr>
              <a:t>Buildings</a:t>
            </a:r>
          </a:p>
        </p:txBody>
      </p:sp>
      <p:sp>
        <p:nvSpPr>
          <p:cNvPr id="10" name="TextBox 98"/>
          <p:cNvSpPr txBox="1"/>
          <p:nvPr/>
        </p:nvSpPr>
        <p:spPr>
          <a:xfrm>
            <a:off x="6595887" y="5387994"/>
            <a:ext cx="1871315" cy="255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65" dirty="0">
                <a:latin typeface="Arial" panose="020B0604020202020204" pitchFamily="34" charset="0"/>
              </a:rPr>
              <a:t>Constructable Area</a:t>
            </a:r>
          </a:p>
        </p:txBody>
      </p:sp>
      <p:sp>
        <p:nvSpPr>
          <p:cNvPr id="12" name="矩形 11"/>
          <p:cNvSpPr/>
          <p:nvPr/>
        </p:nvSpPr>
        <p:spPr>
          <a:xfrm>
            <a:off x="3363323" y="5380137"/>
            <a:ext cx="290395" cy="290368"/>
          </a:xfrm>
          <a:prstGeom prst="rect">
            <a:avLst/>
          </a:prstGeom>
          <a:solidFill>
            <a:srgbClr val="9AD67D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"/>
          </a:p>
        </p:txBody>
      </p:sp>
      <p:sp>
        <p:nvSpPr>
          <p:cNvPr id="13" name="矩形 12"/>
          <p:cNvSpPr/>
          <p:nvPr/>
        </p:nvSpPr>
        <p:spPr>
          <a:xfrm>
            <a:off x="6305135" y="5379422"/>
            <a:ext cx="290395" cy="290368"/>
          </a:xfrm>
          <a:prstGeom prst="rect">
            <a:avLst/>
          </a:prstGeom>
          <a:solidFill>
            <a:srgbClr val="F2F2F2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"/>
          </a:p>
        </p:txBody>
      </p:sp>
      <p:sp>
        <p:nvSpPr>
          <p:cNvPr id="27" name="椭圆 26"/>
          <p:cNvSpPr/>
          <p:nvPr/>
        </p:nvSpPr>
        <p:spPr>
          <a:xfrm>
            <a:off x="3162940" y="5827653"/>
            <a:ext cx="1627632" cy="1627632"/>
          </a:xfrm>
          <a:prstGeom prst="ellipse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"/>
          </a:p>
        </p:txBody>
      </p:sp>
      <p:sp>
        <p:nvSpPr>
          <p:cNvPr id="28" name="椭圆 27"/>
          <p:cNvSpPr/>
          <p:nvPr/>
        </p:nvSpPr>
        <p:spPr>
          <a:xfrm>
            <a:off x="5075332" y="5827653"/>
            <a:ext cx="1627632" cy="1627632"/>
          </a:xfrm>
          <a:prstGeom prst="ellipse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"/>
          </a:p>
        </p:txBody>
      </p:sp>
      <p:sp>
        <p:nvSpPr>
          <p:cNvPr id="22" name="椭圆 21"/>
          <p:cNvSpPr/>
          <p:nvPr/>
        </p:nvSpPr>
        <p:spPr>
          <a:xfrm>
            <a:off x="6987931" y="5827708"/>
            <a:ext cx="1627632" cy="1627632"/>
          </a:xfrm>
          <a:prstGeom prst="ellipse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"/>
          </a:p>
        </p:txBody>
      </p:sp>
      <p:sp>
        <p:nvSpPr>
          <p:cNvPr id="30" name="椭圆 29"/>
          <p:cNvSpPr/>
          <p:nvPr/>
        </p:nvSpPr>
        <p:spPr>
          <a:xfrm>
            <a:off x="8900122" y="5827708"/>
            <a:ext cx="1627632" cy="1627632"/>
          </a:xfrm>
          <a:prstGeom prst="ellipse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" dirty="0"/>
          </a:p>
        </p:txBody>
      </p:sp>
      <p:sp>
        <p:nvSpPr>
          <p:cNvPr id="25" name="TextBox 12"/>
          <p:cNvSpPr txBox="1"/>
          <p:nvPr/>
        </p:nvSpPr>
        <p:spPr>
          <a:xfrm>
            <a:off x="4969604" y="5387637"/>
            <a:ext cx="1205157" cy="255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65" dirty="0">
                <a:latin typeface="Arial" panose="020B0604020202020204" pitchFamily="34" charset="0"/>
              </a:rPr>
              <a:t>Structural Zeros</a:t>
            </a:r>
          </a:p>
        </p:txBody>
      </p:sp>
      <p:sp>
        <p:nvSpPr>
          <p:cNvPr id="26" name="矩形 25"/>
          <p:cNvSpPr/>
          <p:nvPr/>
        </p:nvSpPr>
        <p:spPr>
          <a:xfrm>
            <a:off x="4683138" y="5380137"/>
            <a:ext cx="290395" cy="290368"/>
          </a:xfrm>
          <a:prstGeom prst="rect">
            <a:avLst/>
          </a:prstGeom>
          <a:solidFill>
            <a:srgbClr val="A69ED9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8" name="文本框 87"/>
              <p:cNvSpPr txBox="1"/>
              <p:nvPr/>
            </p:nvSpPr>
            <p:spPr>
              <a:xfrm>
                <a:off x="8121800" y="5355850"/>
                <a:ext cx="2587480" cy="33715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1200"/>
                  </a:spcBef>
                  <a:buFont typeface="Wingdings" panose="05000000000000000000" charset="0"/>
                  <a:buNone/>
                </a:pPr>
                <a14:m>
                  <m:oMath xmlns:m="http://schemas.openxmlformats.org/officeDocument/2006/math">
                    <m:r>
                      <a:rPr lang="en-US" sz="1595" i="1" smtClean="0">
                        <a:latin typeface="Cambria Math" panose="02040503050406030204" charset="0"/>
                        <a:cs typeface="Cambria Math" panose="02040503050406030204" charset="0"/>
                      </a:rPr>
                      <m:t>𝜋</m:t>
                    </m:r>
                    <m:r>
                      <a:rPr lang="en-US" sz="1595" i="1" smtClean="0">
                        <a:latin typeface="Cambria Math" panose="02040503050406030204" charset="0"/>
                        <a:cs typeface="Cambria Math" panose="02040503050406030204" charset="0"/>
                      </a:rPr>
                      <m:t> (</m:t>
                    </m:r>
                    <m:r>
                      <a:rPr lang="en-US" sz="1595" i="1" smtClean="0">
                        <a:latin typeface="Cambria Math" panose="02040503050406030204" charset="0"/>
                        <a:cs typeface="Cambria Math" panose="02040503050406030204" charset="0"/>
                      </a:rPr>
                      <m:t>𝑟</m:t>
                    </m:r>
                    <m:r>
                      <a:rPr lang="en-US" sz="1595" i="1" smtClean="0"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m:rPr>
                        <m:sty m:val="p"/>
                      </m:rPr>
                      <a:rPr lang="en-US" sz="1595" i="0" smtClean="0">
                        <a:latin typeface="Cambria Math" panose="02040503050406030204" charset="0"/>
                        <a:cs typeface="Cambria Math" panose="02040503050406030204" charset="0"/>
                      </a:rPr>
                      <m:t>logistic</m:t>
                    </m:r>
                    <m:r>
                      <a:rPr lang="en-US" sz="1595" i="1" smtClean="0"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sz="1595" i="1" smtClean="0">
                        <a:latin typeface="Cambria Math" panose="02040503050406030204" charset="0"/>
                        <a:ea typeface="Cambria Math" panose="02040503050406030204" charset="0"/>
                        <a:cs typeface="Cambria Math" panose="02040503050406030204" charset="0"/>
                      </a:rPr>
                      <m:t>𝜅</m:t>
                    </m:r>
                    <m:r>
                      <a:rPr lang="en-US" sz="1595" i="1" smtClean="0">
                        <a:latin typeface="Cambria Math" panose="02040503050406030204" charset="0"/>
                        <a:ea typeface="Cambria Math" panose="02040503050406030204" charset="0"/>
                        <a:cs typeface="Cambria Math" panose="02040503050406030204" charset="0"/>
                      </a:rPr>
                      <m:t>−</m:t>
                    </m:r>
                    <m:r>
                      <a:rPr lang="en-US" sz="1595" i="1" smtClean="0">
                        <a:latin typeface="Cambria Math" panose="02040503050406030204" charset="0"/>
                        <a:ea typeface="Cambria Math" panose="02040503050406030204" charset="0"/>
                        <a:cs typeface="Cambria Math" panose="02040503050406030204" charset="0"/>
                      </a:rPr>
                      <m:t>𝛿</m:t>
                    </m:r>
                    <m:r>
                      <a:rPr lang="en-US" sz="1595" i="1">
                        <a:latin typeface="Cambria Math" panose="02040503050406030204" charset="0"/>
                        <a:cs typeface="Cambria Math" panose="02040503050406030204" charset="0"/>
                      </a:rPr>
                      <m:t>∙</m:t>
                    </m:r>
                    <m:r>
                      <a:rPr lang="en-US" sz="1595" i="1">
                        <a:latin typeface="Cambria Math" panose="02040503050406030204" charset="0"/>
                        <a:cs typeface="Cambria Math" panose="02040503050406030204" charset="0"/>
                      </a:rPr>
                      <m:t>𝑟</m:t>
                    </m:r>
                    <m:r>
                      <a:rPr lang="en-US" sz="1595" i="1">
                        <a:latin typeface="Cambria Math" panose="02040503050406030204" charset="0"/>
                        <a:cs typeface="Cambria Math" panose="02040503050406030204" charset="0"/>
                      </a:rPr>
                      <m:t>) </m:t>
                    </m:r>
                  </m:oMath>
                </a14:m>
                <a:r>
                  <a:rPr lang="en-US" sz="1595" dirty="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 </a:t>
                </a:r>
                <a:endParaRPr lang="en-US" altLang="en-US" sz="1595" dirty="0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mc:Choice>
        <mc:Fallback>
          <p:sp>
            <p:nvSpPr>
              <p:cNvPr id="88" name="文本框 8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800" y="5355850"/>
                <a:ext cx="2587480" cy="337155"/>
              </a:xfrm>
              <a:prstGeom prst="rect">
                <a:avLst/>
              </a:prstGeom>
              <a:blipFill>
                <a:blip r:embed="rId15"/>
                <a:stretch>
                  <a:fillRect b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文本框 34"/>
          <p:cNvSpPr txBox="1"/>
          <p:nvPr/>
        </p:nvSpPr>
        <p:spPr>
          <a:xfrm>
            <a:off x="5186418" y="7730935"/>
            <a:ext cx="1464476" cy="2957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33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Thinly built</a:t>
            </a:r>
          </a:p>
        </p:txBody>
      </p:sp>
      <p:sp>
        <p:nvSpPr>
          <p:cNvPr id="36" name="文本框 35"/>
          <p:cNvSpPr txBox="1"/>
          <p:nvPr/>
        </p:nvSpPr>
        <p:spPr>
          <a:xfrm>
            <a:off x="3167226" y="7730935"/>
            <a:ext cx="1644500" cy="2957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330" dirty="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Uniformly sparse</a:t>
            </a:r>
          </a:p>
        </p:txBody>
      </p:sp>
      <p:sp>
        <p:nvSpPr>
          <p:cNvPr id="41" name="文本框 40"/>
          <p:cNvSpPr txBox="1"/>
          <p:nvPr/>
        </p:nvSpPr>
        <p:spPr>
          <a:xfrm>
            <a:off x="9090855" y="7730935"/>
            <a:ext cx="1360892" cy="2957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33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Core-dense</a:t>
            </a:r>
          </a:p>
        </p:txBody>
      </p:sp>
      <p:sp>
        <p:nvSpPr>
          <p:cNvPr id="42" name="文本框 41"/>
          <p:cNvSpPr txBox="1"/>
          <p:nvPr/>
        </p:nvSpPr>
        <p:spPr>
          <a:xfrm>
            <a:off x="6992367" y="7730935"/>
            <a:ext cx="1642714" cy="2957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33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Uniformly dense</a:t>
            </a:r>
          </a:p>
        </p:txBody>
      </p:sp>
      <p:sp>
        <p:nvSpPr>
          <p:cNvPr id="49" name="文本框 48"/>
          <p:cNvSpPr txBox="1"/>
          <p:nvPr/>
        </p:nvSpPr>
        <p:spPr>
          <a:xfrm>
            <a:off x="3267715" y="1601095"/>
            <a:ext cx="43148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(a)</a:t>
            </a:r>
            <a:r>
              <a:rPr lang="zh-CN" altLang="en-US" dirty="0"/>
              <a:t> </a:t>
            </a:r>
            <a:r>
              <a:rPr lang="en-US" altLang="zh-CN" dirty="0"/>
              <a:t>Horizontal Constraints Types</a:t>
            </a:r>
          </a:p>
        </p:txBody>
      </p:sp>
      <p:sp>
        <p:nvSpPr>
          <p:cNvPr id="50" name="文本框 49"/>
          <p:cNvSpPr txBox="1"/>
          <p:nvPr/>
        </p:nvSpPr>
        <p:spPr>
          <a:xfrm>
            <a:off x="3318515" y="4899920"/>
            <a:ext cx="43148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(b) Horizontal Construction Types</a:t>
            </a:r>
          </a:p>
        </p:txBody>
      </p:sp>
      <p:sp>
        <p:nvSpPr>
          <p:cNvPr id="109" name="TextBox 264">
            <a:extLst>
              <a:ext uri="{FF2B5EF4-FFF2-40B4-BE49-F238E27FC236}">
                <a16:creationId xmlns:a16="http://schemas.microsoft.com/office/drawing/2014/main" id="{669876EB-EB0B-C515-C175-3AF417F86002}"/>
              </a:ext>
            </a:extLst>
          </p:cNvPr>
          <p:cNvSpPr txBox="1"/>
          <p:nvPr/>
        </p:nvSpPr>
        <p:spPr>
          <a:xfrm>
            <a:off x="3188653" y="10080087"/>
            <a:ext cx="1498049" cy="467983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400" dirty="0"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C&gt;0, B&gt;0</a:t>
            </a:r>
          </a:p>
          <a:p>
            <a:pPr lvl="0" algn="ctr">
              <a:buClrTx/>
              <a:buSzTx/>
              <a:buFontTx/>
            </a:pPr>
            <a:r>
              <a:rPr lang="en-US" altLang="zh-CN" sz="1400" dirty="0"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“Bowl” City</a:t>
            </a:r>
          </a:p>
        </p:txBody>
      </p:sp>
      <p:cxnSp>
        <p:nvCxnSpPr>
          <p:cNvPr id="112" name="直接箭头连接符 7">
            <a:extLst>
              <a:ext uri="{FF2B5EF4-FFF2-40B4-BE49-F238E27FC236}">
                <a16:creationId xmlns:a16="http://schemas.microsoft.com/office/drawing/2014/main" id="{A7DDF74E-3A5A-41A6-3DC6-4AF9168B0FE6}"/>
              </a:ext>
            </a:extLst>
          </p:cNvPr>
          <p:cNvCxnSpPr/>
          <p:nvPr/>
        </p:nvCxnSpPr>
        <p:spPr>
          <a:xfrm flipV="1">
            <a:off x="3709901" y="10723411"/>
            <a:ext cx="0" cy="65173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3" name="直接箭头连接符 8">
            <a:extLst>
              <a:ext uri="{FF2B5EF4-FFF2-40B4-BE49-F238E27FC236}">
                <a16:creationId xmlns:a16="http://schemas.microsoft.com/office/drawing/2014/main" id="{0E88EDB3-704C-0B92-4170-8B68F33F9B8B}"/>
              </a:ext>
            </a:extLst>
          </p:cNvPr>
          <p:cNvCxnSpPr/>
          <p:nvPr/>
        </p:nvCxnSpPr>
        <p:spPr>
          <a:xfrm>
            <a:off x="3709901" y="11381054"/>
            <a:ext cx="73404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4" name="任意多边形 12">
            <a:extLst>
              <a:ext uri="{FF2B5EF4-FFF2-40B4-BE49-F238E27FC236}">
                <a16:creationId xmlns:a16="http://schemas.microsoft.com/office/drawing/2014/main" id="{1504D2CE-3A66-CFB3-ED3C-7B6C2E6AA840}"/>
              </a:ext>
            </a:extLst>
          </p:cNvPr>
          <p:cNvSpPr/>
          <p:nvPr/>
        </p:nvSpPr>
        <p:spPr>
          <a:xfrm>
            <a:off x="3709901" y="10867257"/>
            <a:ext cx="677518" cy="212184"/>
          </a:xfrm>
          <a:custGeom>
            <a:avLst/>
            <a:gdLst>
              <a:gd name="connsiteX0" fmla="*/ 0 w 7905"/>
              <a:gd name="connsiteY0" fmla="*/ 2460 h 2476"/>
              <a:gd name="connsiteX1" fmla="*/ 7905 w 7905"/>
              <a:gd name="connsiteY1" fmla="*/ 0 h 24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905" h="2477">
                <a:moveTo>
                  <a:pt x="0" y="2460"/>
                </a:moveTo>
                <a:cubicBezTo>
                  <a:pt x="4710" y="2655"/>
                  <a:pt x="7095" y="1095"/>
                  <a:pt x="7905" y="0"/>
                </a:cubicBezTo>
              </a:path>
            </a:pathLst>
          </a:custGeom>
          <a:ln w="38100">
            <a:solidFill>
              <a:srgbClr val="D3B472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95"/>
          </a:p>
        </p:txBody>
      </p:sp>
      <p:grpSp>
        <p:nvGrpSpPr>
          <p:cNvPr id="115" name="组合 17">
            <a:extLst>
              <a:ext uri="{FF2B5EF4-FFF2-40B4-BE49-F238E27FC236}">
                <a16:creationId xmlns:a16="http://schemas.microsoft.com/office/drawing/2014/main" id="{5F7B6301-B7A3-EEB4-EB91-E9B50145E318}"/>
              </a:ext>
            </a:extLst>
          </p:cNvPr>
          <p:cNvGrpSpPr/>
          <p:nvPr/>
        </p:nvGrpSpPr>
        <p:grpSpPr>
          <a:xfrm>
            <a:off x="3476609" y="10673212"/>
            <a:ext cx="1120900" cy="840720"/>
            <a:chOff x="3202" y="5108"/>
            <a:chExt cx="2657" cy="1993"/>
          </a:xfrm>
        </p:grpSpPr>
        <p:sp>
          <p:nvSpPr>
            <p:cNvPr id="116" name="TextBox 256">
              <a:extLst>
                <a:ext uri="{FF2B5EF4-FFF2-40B4-BE49-F238E27FC236}">
                  <a16:creationId xmlns:a16="http://schemas.microsoft.com/office/drawing/2014/main" id="{EFBC4691-5FE9-AC71-B419-8FE2433315CB}"/>
                </a:ext>
              </a:extLst>
            </p:cNvPr>
            <p:cNvSpPr txBox="1"/>
            <p:nvPr/>
          </p:nvSpPr>
          <p:spPr>
            <a:xfrm>
              <a:off x="3320" y="6496"/>
              <a:ext cx="613" cy="6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fontAlgn="auto"/>
              <a:r>
                <a:rPr lang="en-US" sz="1065" noProof="1"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17" name="文本框 13">
              <a:extLst>
                <a:ext uri="{FF2B5EF4-FFF2-40B4-BE49-F238E27FC236}">
                  <a16:creationId xmlns:a16="http://schemas.microsoft.com/office/drawing/2014/main" id="{F18C6EDE-9265-C87D-1581-E1E2701E5701}"/>
                </a:ext>
              </a:extLst>
            </p:cNvPr>
            <p:cNvSpPr txBox="1"/>
            <p:nvPr/>
          </p:nvSpPr>
          <p:spPr>
            <a:xfrm>
              <a:off x="3202" y="5108"/>
              <a:ext cx="446" cy="6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65" i="1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</a:p>
          </p:txBody>
        </p:sp>
        <p:sp>
          <p:nvSpPr>
            <p:cNvPr id="118" name="文本框 14">
              <a:extLst>
                <a:ext uri="{FF2B5EF4-FFF2-40B4-BE49-F238E27FC236}">
                  <a16:creationId xmlns:a16="http://schemas.microsoft.com/office/drawing/2014/main" id="{BEFAD256-33FA-D1DD-4D6C-297E1AE4F36B}"/>
                </a:ext>
              </a:extLst>
            </p:cNvPr>
            <p:cNvSpPr txBox="1"/>
            <p:nvPr/>
          </p:nvSpPr>
          <p:spPr>
            <a:xfrm>
              <a:off x="5413" y="6496"/>
              <a:ext cx="446" cy="6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65" i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</a:p>
          </p:txBody>
        </p:sp>
      </p:grpSp>
      <p:sp>
        <p:nvSpPr>
          <p:cNvPr id="100" name="文本框 2">
            <a:extLst>
              <a:ext uri="{FF2B5EF4-FFF2-40B4-BE49-F238E27FC236}">
                <a16:creationId xmlns:a16="http://schemas.microsoft.com/office/drawing/2014/main" id="{896F50B3-6E9F-7A9A-F3F9-18E76A589DC0}"/>
              </a:ext>
            </a:extLst>
          </p:cNvPr>
          <p:cNvSpPr txBox="1"/>
          <p:nvPr/>
        </p:nvSpPr>
        <p:spPr>
          <a:xfrm>
            <a:off x="6181232" y="10062503"/>
            <a:ext cx="1536861" cy="38766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dirty="0">
                <a:latin typeface="Arial" panose="020B0604020202020204" pitchFamily="34" charset="0"/>
                <a:ea typeface="Arial" panose="020B0604020202020204" pitchFamily="34" charset="0"/>
              </a:rPr>
              <a:t>C=0, B=0</a:t>
            </a:r>
          </a:p>
          <a:p>
            <a:pPr algn="ctr"/>
            <a:r>
              <a:rPr lang="en-US" altLang="zh-CN" sz="1400" dirty="0">
                <a:latin typeface="Arial" panose="020B0604020202020204" pitchFamily="34" charset="0"/>
                <a:ea typeface="Arial" panose="020B0604020202020204" pitchFamily="34" charset="0"/>
              </a:rPr>
              <a:t>“Pancake” City</a:t>
            </a:r>
          </a:p>
        </p:txBody>
      </p:sp>
      <p:cxnSp>
        <p:nvCxnSpPr>
          <p:cNvPr id="102" name="直接箭头连接符 3">
            <a:extLst>
              <a:ext uri="{FF2B5EF4-FFF2-40B4-BE49-F238E27FC236}">
                <a16:creationId xmlns:a16="http://schemas.microsoft.com/office/drawing/2014/main" id="{54489C49-ABBF-D566-E231-505DF639F282}"/>
              </a:ext>
            </a:extLst>
          </p:cNvPr>
          <p:cNvCxnSpPr/>
          <p:nvPr/>
        </p:nvCxnSpPr>
        <p:spPr>
          <a:xfrm flipV="1">
            <a:off x="6687017" y="10734378"/>
            <a:ext cx="0" cy="65173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3" name="直接箭头连接符 4">
            <a:extLst>
              <a:ext uri="{FF2B5EF4-FFF2-40B4-BE49-F238E27FC236}">
                <a16:creationId xmlns:a16="http://schemas.microsoft.com/office/drawing/2014/main" id="{B62F857A-23E6-D9B5-85FC-5AA0267002E8}"/>
              </a:ext>
            </a:extLst>
          </p:cNvPr>
          <p:cNvCxnSpPr/>
          <p:nvPr/>
        </p:nvCxnSpPr>
        <p:spPr>
          <a:xfrm>
            <a:off x="6687017" y="11392021"/>
            <a:ext cx="7340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4" name="直接连接符 5">
            <a:extLst>
              <a:ext uri="{FF2B5EF4-FFF2-40B4-BE49-F238E27FC236}">
                <a16:creationId xmlns:a16="http://schemas.microsoft.com/office/drawing/2014/main" id="{31E08928-1A72-4976-CBBD-817B2776C7EE}"/>
              </a:ext>
            </a:extLst>
          </p:cNvPr>
          <p:cNvCxnSpPr/>
          <p:nvPr/>
        </p:nvCxnSpPr>
        <p:spPr>
          <a:xfrm>
            <a:off x="6693345" y="11102220"/>
            <a:ext cx="702409" cy="0"/>
          </a:xfrm>
          <a:prstGeom prst="line">
            <a:avLst/>
          </a:prstGeom>
          <a:ln w="38100">
            <a:solidFill>
              <a:srgbClr val="D3B472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105" name="组合 18">
            <a:extLst>
              <a:ext uri="{FF2B5EF4-FFF2-40B4-BE49-F238E27FC236}">
                <a16:creationId xmlns:a16="http://schemas.microsoft.com/office/drawing/2014/main" id="{1B2FCC48-8D11-7F02-1874-DF8A9DF94D8A}"/>
              </a:ext>
            </a:extLst>
          </p:cNvPr>
          <p:cNvGrpSpPr/>
          <p:nvPr/>
        </p:nvGrpSpPr>
        <p:grpSpPr>
          <a:xfrm>
            <a:off x="6461740" y="10673212"/>
            <a:ext cx="1120901" cy="840720"/>
            <a:chOff x="3202" y="5108"/>
            <a:chExt cx="2657" cy="1993"/>
          </a:xfrm>
        </p:grpSpPr>
        <p:sp>
          <p:nvSpPr>
            <p:cNvPr id="106" name="TextBox 256">
              <a:extLst>
                <a:ext uri="{FF2B5EF4-FFF2-40B4-BE49-F238E27FC236}">
                  <a16:creationId xmlns:a16="http://schemas.microsoft.com/office/drawing/2014/main" id="{6F3B9AD3-4F69-35EA-EF9B-743AB7F5B258}"/>
                </a:ext>
              </a:extLst>
            </p:cNvPr>
            <p:cNvSpPr txBox="1"/>
            <p:nvPr/>
          </p:nvSpPr>
          <p:spPr>
            <a:xfrm>
              <a:off x="3320" y="6496"/>
              <a:ext cx="613" cy="6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fontAlgn="auto"/>
              <a:r>
                <a:rPr lang="en-US" sz="1065" noProof="1"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107" name="文本框 20">
              <a:extLst>
                <a:ext uri="{FF2B5EF4-FFF2-40B4-BE49-F238E27FC236}">
                  <a16:creationId xmlns:a16="http://schemas.microsoft.com/office/drawing/2014/main" id="{24BC5FF0-04C2-E7CB-3E29-276805955EC5}"/>
                </a:ext>
              </a:extLst>
            </p:cNvPr>
            <p:cNvSpPr txBox="1"/>
            <p:nvPr/>
          </p:nvSpPr>
          <p:spPr>
            <a:xfrm>
              <a:off x="3202" y="5108"/>
              <a:ext cx="446" cy="6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65" i="1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</a:p>
          </p:txBody>
        </p:sp>
        <p:sp>
          <p:nvSpPr>
            <p:cNvPr id="108" name="文本框 21">
              <a:extLst>
                <a:ext uri="{FF2B5EF4-FFF2-40B4-BE49-F238E27FC236}">
                  <a16:creationId xmlns:a16="http://schemas.microsoft.com/office/drawing/2014/main" id="{E90FA212-F5EA-39AF-67E7-F651E911B232}"/>
                </a:ext>
              </a:extLst>
            </p:cNvPr>
            <p:cNvSpPr txBox="1"/>
            <p:nvPr/>
          </p:nvSpPr>
          <p:spPr>
            <a:xfrm>
              <a:off x="5413" y="6496"/>
              <a:ext cx="446" cy="6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65" i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</a:p>
          </p:txBody>
        </p:sp>
      </p:grpSp>
      <p:sp>
        <p:nvSpPr>
          <p:cNvPr id="90" name="TextBox 190">
            <a:extLst>
              <a:ext uri="{FF2B5EF4-FFF2-40B4-BE49-F238E27FC236}">
                <a16:creationId xmlns:a16="http://schemas.microsoft.com/office/drawing/2014/main" id="{1F5B0B4F-A516-2530-C5FA-EAD0EC8F7A13}"/>
              </a:ext>
            </a:extLst>
          </p:cNvPr>
          <p:cNvSpPr txBox="1"/>
          <p:nvPr/>
        </p:nvSpPr>
        <p:spPr>
          <a:xfrm>
            <a:off x="9249858" y="10046869"/>
            <a:ext cx="1536861" cy="387668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400" dirty="0"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C&lt;0, B&lt;0</a:t>
            </a:r>
          </a:p>
          <a:p>
            <a:pPr lvl="0" algn="ctr">
              <a:buClrTx/>
              <a:buSzTx/>
              <a:buFontTx/>
            </a:pPr>
            <a:r>
              <a:rPr lang="en-US" altLang="zh-CN" sz="1400" dirty="0">
                <a:latin typeface="Arial" panose="020B0604020202020204" pitchFamily="34" charset="0"/>
                <a:sym typeface="+mn-ea"/>
              </a:rPr>
              <a:t>“</a:t>
            </a:r>
            <a:r>
              <a:rPr lang="en-US" altLang="zh-CN" sz="1400" dirty="0" err="1">
                <a:latin typeface="Arial" panose="020B0604020202020204" pitchFamily="34" charset="0"/>
                <a:sym typeface="+mn-ea"/>
              </a:rPr>
              <a:t>Pyramid”City</a:t>
            </a:r>
            <a:endParaRPr lang="en-US" altLang="zh-CN" sz="1400" dirty="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92" name="任意多边形 36">
            <a:extLst>
              <a:ext uri="{FF2B5EF4-FFF2-40B4-BE49-F238E27FC236}">
                <a16:creationId xmlns:a16="http://schemas.microsoft.com/office/drawing/2014/main" id="{BD7B240D-7171-A89C-215D-25D62F31ACEE}"/>
              </a:ext>
            </a:extLst>
          </p:cNvPr>
          <p:cNvSpPr/>
          <p:nvPr/>
        </p:nvSpPr>
        <p:spPr>
          <a:xfrm>
            <a:off x="9724037" y="11081971"/>
            <a:ext cx="588505" cy="293176"/>
          </a:xfrm>
          <a:custGeom>
            <a:avLst/>
            <a:gdLst>
              <a:gd name="connsiteX0" fmla="*/ 0 w 6210"/>
              <a:gd name="connsiteY0" fmla="*/ 0 h 2550"/>
              <a:gd name="connsiteX1" fmla="*/ 6210 w 6210"/>
              <a:gd name="connsiteY1" fmla="*/ 2550 h 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10" h="2550">
                <a:moveTo>
                  <a:pt x="0" y="0"/>
                </a:moveTo>
                <a:cubicBezTo>
                  <a:pt x="2385" y="1290"/>
                  <a:pt x="4110" y="2085"/>
                  <a:pt x="6210" y="2550"/>
                </a:cubicBezTo>
              </a:path>
            </a:pathLst>
          </a:custGeom>
          <a:ln w="38100">
            <a:solidFill>
              <a:srgbClr val="D3B472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sz="1195">
              <a:sym typeface="+mn-ea"/>
            </a:endParaRPr>
          </a:p>
        </p:txBody>
      </p:sp>
      <p:cxnSp>
        <p:nvCxnSpPr>
          <p:cNvPr id="93" name="直接箭头连接符 38">
            <a:extLst>
              <a:ext uri="{FF2B5EF4-FFF2-40B4-BE49-F238E27FC236}">
                <a16:creationId xmlns:a16="http://schemas.microsoft.com/office/drawing/2014/main" id="{2BD3DC15-6C5A-0E0D-3961-B26610E8C8ED}"/>
              </a:ext>
            </a:extLst>
          </p:cNvPr>
          <p:cNvCxnSpPr/>
          <p:nvPr/>
        </p:nvCxnSpPr>
        <p:spPr>
          <a:xfrm flipV="1">
            <a:off x="9727412" y="10723411"/>
            <a:ext cx="0" cy="65173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4" name="直接箭头连接符 39">
            <a:extLst>
              <a:ext uri="{FF2B5EF4-FFF2-40B4-BE49-F238E27FC236}">
                <a16:creationId xmlns:a16="http://schemas.microsoft.com/office/drawing/2014/main" id="{4E5BB99F-8B3B-0E55-40F4-A65FA5F0885E}"/>
              </a:ext>
            </a:extLst>
          </p:cNvPr>
          <p:cNvCxnSpPr/>
          <p:nvPr/>
        </p:nvCxnSpPr>
        <p:spPr>
          <a:xfrm>
            <a:off x="9727412" y="11381054"/>
            <a:ext cx="7340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95" name="组合 44">
            <a:extLst>
              <a:ext uri="{FF2B5EF4-FFF2-40B4-BE49-F238E27FC236}">
                <a16:creationId xmlns:a16="http://schemas.microsoft.com/office/drawing/2014/main" id="{0342219F-A3F0-FBC0-94BE-EB5D64247B6B}"/>
              </a:ext>
            </a:extLst>
          </p:cNvPr>
          <p:cNvGrpSpPr/>
          <p:nvPr/>
        </p:nvGrpSpPr>
        <p:grpSpPr>
          <a:xfrm>
            <a:off x="9494119" y="10673212"/>
            <a:ext cx="1120901" cy="840720"/>
            <a:chOff x="3202" y="5108"/>
            <a:chExt cx="2657" cy="1993"/>
          </a:xfrm>
        </p:grpSpPr>
        <p:sp>
          <p:nvSpPr>
            <p:cNvPr id="96" name="TextBox 256">
              <a:extLst>
                <a:ext uri="{FF2B5EF4-FFF2-40B4-BE49-F238E27FC236}">
                  <a16:creationId xmlns:a16="http://schemas.microsoft.com/office/drawing/2014/main" id="{1FFE329E-3E7E-7F16-FF4A-69F0C5831472}"/>
                </a:ext>
              </a:extLst>
            </p:cNvPr>
            <p:cNvSpPr txBox="1"/>
            <p:nvPr/>
          </p:nvSpPr>
          <p:spPr>
            <a:xfrm>
              <a:off x="3320" y="6496"/>
              <a:ext cx="613" cy="6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fontAlgn="auto"/>
              <a:r>
                <a:rPr lang="en-US" sz="1065" noProof="1"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97" name="文本框 46">
              <a:extLst>
                <a:ext uri="{FF2B5EF4-FFF2-40B4-BE49-F238E27FC236}">
                  <a16:creationId xmlns:a16="http://schemas.microsoft.com/office/drawing/2014/main" id="{AF27A4EB-862A-46C5-66CF-D178FDD65DE1}"/>
                </a:ext>
              </a:extLst>
            </p:cNvPr>
            <p:cNvSpPr txBox="1"/>
            <p:nvPr/>
          </p:nvSpPr>
          <p:spPr>
            <a:xfrm>
              <a:off x="3202" y="5108"/>
              <a:ext cx="446" cy="6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65" i="1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</a:p>
          </p:txBody>
        </p:sp>
        <p:sp>
          <p:nvSpPr>
            <p:cNvPr id="98" name="文本框 47">
              <a:extLst>
                <a:ext uri="{FF2B5EF4-FFF2-40B4-BE49-F238E27FC236}">
                  <a16:creationId xmlns:a16="http://schemas.microsoft.com/office/drawing/2014/main" id="{DC0CFCE6-A0E0-03A9-FA44-699E5A2740A8}"/>
                </a:ext>
              </a:extLst>
            </p:cNvPr>
            <p:cNvSpPr txBox="1"/>
            <p:nvPr/>
          </p:nvSpPr>
          <p:spPr>
            <a:xfrm>
              <a:off x="5413" y="6496"/>
              <a:ext cx="446" cy="6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65" i="1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</a:p>
          </p:txBody>
        </p:sp>
      </p:grpSp>
      <p:sp>
        <p:nvSpPr>
          <p:cNvPr id="78" name="TextBox 191">
            <a:extLst>
              <a:ext uri="{FF2B5EF4-FFF2-40B4-BE49-F238E27FC236}">
                <a16:creationId xmlns:a16="http://schemas.microsoft.com/office/drawing/2014/main" id="{D09345F9-A137-AEC6-D83B-E8E1A1EAB4E6}"/>
              </a:ext>
            </a:extLst>
          </p:cNvPr>
          <p:cNvSpPr txBox="1"/>
          <p:nvPr/>
        </p:nvSpPr>
        <p:spPr>
          <a:xfrm>
            <a:off x="7586744" y="10062503"/>
            <a:ext cx="1915396" cy="387668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400" dirty="0"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C&lt;0, B&gt;0</a:t>
            </a:r>
          </a:p>
          <a:p>
            <a:pPr lvl="0" algn="ctr">
              <a:buClrTx/>
              <a:buSzTx/>
              <a:buFontTx/>
            </a:pPr>
            <a:r>
              <a:rPr lang="en-US" altLang="zh-CN" sz="1400" dirty="0"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“Volcanic Cone” City</a:t>
            </a:r>
          </a:p>
        </p:txBody>
      </p:sp>
      <p:grpSp>
        <p:nvGrpSpPr>
          <p:cNvPr id="80" name="组合 26">
            <a:extLst>
              <a:ext uri="{FF2B5EF4-FFF2-40B4-BE49-F238E27FC236}">
                <a16:creationId xmlns:a16="http://schemas.microsoft.com/office/drawing/2014/main" id="{73CE2B00-50B4-342E-2698-F49673795586}"/>
              </a:ext>
            </a:extLst>
          </p:cNvPr>
          <p:cNvGrpSpPr/>
          <p:nvPr/>
        </p:nvGrpSpPr>
        <p:grpSpPr>
          <a:xfrm>
            <a:off x="7952195" y="10673212"/>
            <a:ext cx="1120900" cy="840720"/>
            <a:chOff x="3202" y="5108"/>
            <a:chExt cx="2657" cy="1993"/>
          </a:xfrm>
        </p:grpSpPr>
        <p:cxnSp>
          <p:nvCxnSpPr>
            <p:cNvPr id="82" name="直接箭头连接符 27">
              <a:extLst>
                <a:ext uri="{FF2B5EF4-FFF2-40B4-BE49-F238E27FC236}">
                  <a16:creationId xmlns:a16="http://schemas.microsoft.com/office/drawing/2014/main" id="{C5C92019-197E-A9C6-F7F5-8CFD385CC6EF}"/>
                </a:ext>
              </a:extLst>
            </p:cNvPr>
            <p:cNvCxnSpPr/>
            <p:nvPr/>
          </p:nvCxnSpPr>
          <p:spPr>
            <a:xfrm flipV="1">
              <a:off x="3755" y="5227"/>
              <a:ext cx="0" cy="1545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83" name="直接箭头连接符 28">
              <a:extLst>
                <a:ext uri="{FF2B5EF4-FFF2-40B4-BE49-F238E27FC236}">
                  <a16:creationId xmlns:a16="http://schemas.microsoft.com/office/drawing/2014/main" id="{2FD7183A-982B-03EC-5470-492EA3ADD059}"/>
                </a:ext>
              </a:extLst>
            </p:cNvPr>
            <p:cNvCxnSpPr/>
            <p:nvPr/>
          </p:nvCxnSpPr>
          <p:spPr>
            <a:xfrm>
              <a:off x="3755" y="6786"/>
              <a:ext cx="174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84" name="组合 30">
              <a:extLst>
                <a:ext uri="{FF2B5EF4-FFF2-40B4-BE49-F238E27FC236}">
                  <a16:creationId xmlns:a16="http://schemas.microsoft.com/office/drawing/2014/main" id="{5854DB4F-3FE0-3E61-C113-F88A91B9F230}"/>
                </a:ext>
              </a:extLst>
            </p:cNvPr>
            <p:cNvGrpSpPr/>
            <p:nvPr/>
          </p:nvGrpSpPr>
          <p:grpSpPr>
            <a:xfrm>
              <a:off x="3202" y="5108"/>
              <a:ext cx="2657" cy="1993"/>
              <a:chOff x="3202" y="5108"/>
              <a:chExt cx="2657" cy="1993"/>
            </a:xfrm>
          </p:grpSpPr>
          <p:sp>
            <p:nvSpPr>
              <p:cNvPr id="85" name="TextBox 256">
                <a:extLst>
                  <a:ext uri="{FF2B5EF4-FFF2-40B4-BE49-F238E27FC236}">
                    <a16:creationId xmlns:a16="http://schemas.microsoft.com/office/drawing/2014/main" id="{122BE37E-31B3-71A2-27E0-5308608428A3}"/>
                  </a:ext>
                </a:extLst>
              </p:cNvPr>
              <p:cNvSpPr txBox="1"/>
              <p:nvPr/>
            </p:nvSpPr>
            <p:spPr>
              <a:xfrm>
                <a:off x="3320" y="6496"/>
                <a:ext cx="613" cy="6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fontAlgn="auto"/>
                <a:r>
                  <a:rPr lang="en-US" sz="1065" noProof="1"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0</a:t>
                </a:r>
              </a:p>
            </p:txBody>
          </p:sp>
          <p:sp>
            <p:nvSpPr>
              <p:cNvPr id="86" name="文本框 32">
                <a:extLst>
                  <a:ext uri="{FF2B5EF4-FFF2-40B4-BE49-F238E27FC236}">
                    <a16:creationId xmlns:a16="http://schemas.microsoft.com/office/drawing/2014/main" id="{D1F07944-FBAD-D1F4-624A-0A7E5D43788A}"/>
                  </a:ext>
                </a:extLst>
              </p:cNvPr>
              <p:cNvSpPr txBox="1"/>
              <p:nvPr/>
            </p:nvSpPr>
            <p:spPr>
              <a:xfrm>
                <a:off x="3202" y="5108"/>
                <a:ext cx="446" cy="6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65" i="1">
                    <a:latin typeface="Arial" panose="020B0604020202020204" pitchFamily="34" charset="0"/>
                    <a:cs typeface="Arial" panose="020B0604020202020204" pitchFamily="34" charset="0"/>
                  </a:rPr>
                  <a:t>H</a:t>
                </a:r>
              </a:p>
            </p:txBody>
          </p:sp>
          <p:sp>
            <p:nvSpPr>
              <p:cNvPr id="87" name="文本框 33">
                <a:extLst>
                  <a:ext uri="{FF2B5EF4-FFF2-40B4-BE49-F238E27FC236}">
                    <a16:creationId xmlns:a16="http://schemas.microsoft.com/office/drawing/2014/main" id="{65A93CD4-0876-1310-3167-BD54901674EA}"/>
                  </a:ext>
                </a:extLst>
              </p:cNvPr>
              <p:cNvSpPr txBox="1"/>
              <p:nvPr/>
            </p:nvSpPr>
            <p:spPr>
              <a:xfrm>
                <a:off x="5413" y="6496"/>
                <a:ext cx="446" cy="6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65" i="1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</a:p>
            </p:txBody>
          </p:sp>
        </p:grpSp>
      </p:grpSp>
      <p:sp>
        <p:nvSpPr>
          <p:cNvPr id="81" name="任意多边形 50">
            <a:extLst>
              <a:ext uri="{FF2B5EF4-FFF2-40B4-BE49-F238E27FC236}">
                <a16:creationId xmlns:a16="http://schemas.microsoft.com/office/drawing/2014/main" id="{52528737-48A5-6302-7268-E8F264966C26}"/>
              </a:ext>
            </a:extLst>
          </p:cNvPr>
          <p:cNvSpPr/>
          <p:nvPr/>
        </p:nvSpPr>
        <p:spPr>
          <a:xfrm>
            <a:off x="8185487" y="10957108"/>
            <a:ext cx="734892" cy="295707"/>
          </a:xfrm>
          <a:custGeom>
            <a:avLst/>
            <a:gdLst>
              <a:gd name="connsiteX0" fmla="*/ 0 w 6165"/>
              <a:gd name="connsiteY0" fmla="*/ 895 h 1794"/>
              <a:gd name="connsiteX1" fmla="*/ 2745 w 6165"/>
              <a:gd name="connsiteY1" fmla="*/ 25 h 1794"/>
              <a:gd name="connsiteX2" fmla="*/ 6165 w 6165"/>
              <a:gd name="connsiteY2" fmla="*/ 1795 h 1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65" h="1795">
                <a:moveTo>
                  <a:pt x="0" y="895"/>
                </a:moveTo>
                <a:cubicBezTo>
                  <a:pt x="411" y="669"/>
                  <a:pt x="1506" y="-152"/>
                  <a:pt x="2745" y="25"/>
                </a:cubicBezTo>
                <a:cubicBezTo>
                  <a:pt x="3984" y="202"/>
                  <a:pt x="5415" y="1432"/>
                  <a:pt x="6165" y="1795"/>
                </a:cubicBezTo>
              </a:path>
            </a:pathLst>
          </a:custGeom>
          <a:ln w="38100">
            <a:solidFill>
              <a:srgbClr val="D3B472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195"/>
          </a:p>
        </p:txBody>
      </p:sp>
      <p:sp>
        <p:nvSpPr>
          <p:cNvPr id="65" name="TextBox 190">
            <a:extLst>
              <a:ext uri="{FF2B5EF4-FFF2-40B4-BE49-F238E27FC236}">
                <a16:creationId xmlns:a16="http://schemas.microsoft.com/office/drawing/2014/main" id="{19B84113-933D-2638-7E1B-483DD25CE712}"/>
              </a:ext>
            </a:extLst>
          </p:cNvPr>
          <p:cNvSpPr txBox="1"/>
          <p:nvPr/>
        </p:nvSpPr>
        <p:spPr>
          <a:xfrm>
            <a:off x="4679566" y="10062503"/>
            <a:ext cx="1536861" cy="387668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400" dirty="0"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C&gt;0, B&lt;0</a:t>
            </a:r>
          </a:p>
          <a:p>
            <a:pPr lvl="0" algn="ctr">
              <a:buClrTx/>
              <a:buSzTx/>
              <a:buFontTx/>
            </a:pPr>
            <a:r>
              <a:rPr lang="en-US" altLang="zh-CN" sz="1400" dirty="0">
                <a:latin typeface="Arial" panose="020B0604020202020204" pitchFamily="34" charset="0"/>
                <a:sym typeface="+mn-ea"/>
              </a:rPr>
              <a:t>“</a:t>
            </a:r>
            <a:r>
              <a:rPr lang="en-US" altLang="zh-CN" sz="1400" dirty="0" err="1">
                <a:latin typeface="Arial" panose="020B0604020202020204" pitchFamily="34" charset="0"/>
                <a:sym typeface="+mn-ea"/>
              </a:rPr>
              <a:t>Crown”City</a:t>
            </a:r>
            <a:endParaRPr lang="en-US" altLang="zh-CN" sz="1400" dirty="0">
              <a:latin typeface="Arial" panose="020B0604020202020204" pitchFamily="34" charset="0"/>
              <a:sym typeface="+mn-ea"/>
            </a:endParaRPr>
          </a:p>
        </p:txBody>
      </p:sp>
      <p:grpSp>
        <p:nvGrpSpPr>
          <p:cNvPr id="69" name="组合 55">
            <a:extLst>
              <a:ext uri="{FF2B5EF4-FFF2-40B4-BE49-F238E27FC236}">
                <a16:creationId xmlns:a16="http://schemas.microsoft.com/office/drawing/2014/main" id="{E575A636-A30F-2530-49B7-61FDC0A3F9C2}"/>
              </a:ext>
            </a:extLst>
          </p:cNvPr>
          <p:cNvGrpSpPr/>
          <p:nvPr/>
        </p:nvGrpSpPr>
        <p:grpSpPr>
          <a:xfrm>
            <a:off x="4956097" y="10673212"/>
            <a:ext cx="1120901" cy="840720"/>
            <a:chOff x="10870" y="5054"/>
            <a:chExt cx="2657" cy="1993"/>
          </a:xfrm>
        </p:grpSpPr>
        <p:cxnSp>
          <p:nvCxnSpPr>
            <p:cNvPr id="71" name="直接箭头连接符 57">
              <a:extLst>
                <a:ext uri="{FF2B5EF4-FFF2-40B4-BE49-F238E27FC236}">
                  <a16:creationId xmlns:a16="http://schemas.microsoft.com/office/drawing/2014/main" id="{7378784A-F679-CE8B-D80C-E53B6E7FB7B8}"/>
                </a:ext>
              </a:extLst>
            </p:cNvPr>
            <p:cNvCxnSpPr/>
            <p:nvPr/>
          </p:nvCxnSpPr>
          <p:spPr>
            <a:xfrm flipV="1">
              <a:off x="11423" y="5173"/>
              <a:ext cx="0" cy="1545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72" name="直接箭头连接符 58">
              <a:extLst>
                <a:ext uri="{FF2B5EF4-FFF2-40B4-BE49-F238E27FC236}">
                  <a16:creationId xmlns:a16="http://schemas.microsoft.com/office/drawing/2014/main" id="{61BBE699-50E9-CD8D-5095-CC8D299490C6}"/>
                </a:ext>
              </a:extLst>
            </p:cNvPr>
            <p:cNvCxnSpPr/>
            <p:nvPr/>
          </p:nvCxnSpPr>
          <p:spPr>
            <a:xfrm>
              <a:off x="11423" y="6732"/>
              <a:ext cx="174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73" name="组合 59">
              <a:extLst>
                <a:ext uri="{FF2B5EF4-FFF2-40B4-BE49-F238E27FC236}">
                  <a16:creationId xmlns:a16="http://schemas.microsoft.com/office/drawing/2014/main" id="{39ED925F-2FF6-B0BA-74E5-4A44345DC137}"/>
                </a:ext>
              </a:extLst>
            </p:cNvPr>
            <p:cNvGrpSpPr/>
            <p:nvPr/>
          </p:nvGrpSpPr>
          <p:grpSpPr>
            <a:xfrm>
              <a:off x="10870" y="5054"/>
              <a:ext cx="2657" cy="1993"/>
              <a:chOff x="3202" y="5108"/>
              <a:chExt cx="2657" cy="1993"/>
            </a:xfrm>
          </p:grpSpPr>
          <p:sp>
            <p:nvSpPr>
              <p:cNvPr id="74" name="TextBox 256">
                <a:extLst>
                  <a:ext uri="{FF2B5EF4-FFF2-40B4-BE49-F238E27FC236}">
                    <a16:creationId xmlns:a16="http://schemas.microsoft.com/office/drawing/2014/main" id="{E58D25D4-22B8-A38C-9496-0CA689450CD4}"/>
                  </a:ext>
                </a:extLst>
              </p:cNvPr>
              <p:cNvSpPr txBox="1"/>
              <p:nvPr/>
            </p:nvSpPr>
            <p:spPr>
              <a:xfrm>
                <a:off x="3320" y="6496"/>
                <a:ext cx="613" cy="6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fontAlgn="auto"/>
                <a:r>
                  <a:rPr lang="en-US" sz="1065" noProof="1"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0</a:t>
                </a:r>
              </a:p>
            </p:txBody>
          </p:sp>
          <p:sp>
            <p:nvSpPr>
              <p:cNvPr id="75" name="文本框 61">
                <a:extLst>
                  <a:ext uri="{FF2B5EF4-FFF2-40B4-BE49-F238E27FC236}">
                    <a16:creationId xmlns:a16="http://schemas.microsoft.com/office/drawing/2014/main" id="{9335D307-4258-0DDA-F840-968669BBFFBD}"/>
                  </a:ext>
                </a:extLst>
              </p:cNvPr>
              <p:cNvSpPr txBox="1"/>
              <p:nvPr/>
            </p:nvSpPr>
            <p:spPr>
              <a:xfrm>
                <a:off x="3202" y="5108"/>
                <a:ext cx="446" cy="6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65" i="1">
                    <a:latin typeface="Arial" panose="020B0604020202020204" pitchFamily="34" charset="0"/>
                    <a:cs typeface="Arial" panose="020B0604020202020204" pitchFamily="34" charset="0"/>
                  </a:rPr>
                  <a:t>H</a:t>
                </a:r>
              </a:p>
            </p:txBody>
          </p:sp>
          <p:sp>
            <p:nvSpPr>
              <p:cNvPr id="76" name="文本框 62">
                <a:extLst>
                  <a:ext uri="{FF2B5EF4-FFF2-40B4-BE49-F238E27FC236}">
                    <a16:creationId xmlns:a16="http://schemas.microsoft.com/office/drawing/2014/main" id="{BC383C13-16AA-DF0E-66C6-75AF33C5BAA5}"/>
                  </a:ext>
                </a:extLst>
              </p:cNvPr>
              <p:cNvSpPr txBox="1"/>
              <p:nvPr/>
            </p:nvSpPr>
            <p:spPr>
              <a:xfrm>
                <a:off x="5413" y="6496"/>
                <a:ext cx="446" cy="6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65" i="1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</a:p>
            </p:txBody>
          </p:sp>
        </p:grpSp>
      </p:grpSp>
      <p:sp>
        <p:nvSpPr>
          <p:cNvPr id="70" name="任意多边形 67">
            <a:extLst>
              <a:ext uri="{FF2B5EF4-FFF2-40B4-BE49-F238E27FC236}">
                <a16:creationId xmlns:a16="http://schemas.microsoft.com/office/drawing/2014/main" id="{74A0EBC7-3AA0-A581-1C2D-F90A3DA6A26B}"/>
              </a:ext>
            </a:extLst>
          </p:cNvPr>
          <p:cNvSpPr/>
          <p:nvPr/>
        </p:nvSpPr>
        <p:spPr>
          <a:xfrm>
            <a:off x="5189811" y="11073957"/>
            <a:ext cx="746705" cy="124864"/>
          </a:xfrm>
          <a:custGeom>
            <a:avLst/>
            <a:gdLst>
              <a:gd name="connsiteX0" fmla="*/ 0 w 6127"/>
              <a:gd name="connsiteY0" fmla="*/ 0 h 836"/>
              <a:gd name="connsiteX1" fmla="*/ 3080 w 6127"/>
              <a:gd name="connsiteY1" fmla="*/ 836 h 836"/>
              <a:gd name="connsiteX2" fmla="*/ 6127 w 6127"/>
              <a:gd name="connsiteY2" fmla="*/ 82 h 8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27" h="836">
                <a:moveTo>
                  <a:pt x="0" y="0"/>
                </a:moveTo>
                <a:cubicBezTo>
                  <a:pt x="492" y="328"/>
                  <a:pt x="1855" y="829"/>
                  <a:pt x="3080" y="836"/>
                </a:cubicBezTo>
                <a:cubicBezTo>
                  <a:pt x="4305" y="843"/>
                  <a:pt x="5586" y="344"/>
                  <a:pt x="6127" y="82"/>
                </a:cubicBezTo>
              </a:path>
            </a:pathLst>
          </a:custGeom>
          <a:ln w="38100">
            <a:solidFill>
              <a:srgbClr val="D3B472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sz="1195" dirty="0">
              <a:sym typeface="+mn-ea"/>
            </a:endParaRPr>
          </a:p>
        </p:txBody>
      </p:sp>
      <p:sp>
        <p:nvSpPr>
          <p:cNvPr id="55" name="文本框 6">
            <a:extLst>
              <a:ext uri="{FF2B5EF4-FFF2-40B4-BE49-F238E27FC236}">
                <a16:creationId xmlns:a16="http://schemas.microsoft.com/office/drawing/2014/main" id="{D06A3635-D9AB-6B07-3750-A0AD3ED94AAC}"/>
              </a:ext>
            </a:extLst>
          </p:cNvPr>
          <p:cNvSpPr txBox="1"/>
          <p:nvPr/>
        </p:nvSpPr>
        <p:spPr>
          <a:xfrm>
            <a:off x="3267715" y="8349748"/>
            <a:ext cx="4314856" cy="3683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(c) Vertical Profile Types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0D47AB0-237A-6E5B-1C5F-36CD9770AA6C}"/>
                  </a:ext>
                </a:extLst>
              </p:cNvPr>
              <p:cNvSpPr txBox="1"/>
              <p:nvPr/>
            </p:nvSpPr>
            <p:spPr>
              <a:xfrm>
                <a:off x="6040617" y="8364640"/>
                <a:ext cx="247160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zh-CN" sz="1600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r>
                        <a:rPr lang="en-US" altLang="zh-CN" sz="1600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1600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1600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)=</m:t>
                      </m:r>
                      <m:r>
                        <a:rPr lang="en-US" altLang="zh-CN" sz="1600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r>
                        <a:rPr lang="en-US" altLang="zh-CN" sz="1600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en-US" altLang="zh-CN" sz="1600" i="0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exp</m:t>
                      </m:r>
                      <m:r>
                        <a:rPr lang="en-US" altLang="zh-CN" sz="1600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1600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𝐵𝑟</m:t>
                      </m:r>
                      <m:r>
                        <a:rPr lang="en-US" altLang="zh-CN" sz="1600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sz="1600" i="1" smtClean="0">
                          <a:latin typeface="Cambria Math" panose="02040503050406030204" charset="0"/>
                          <a:cs typeface="Cambria Math" panose="02040503050406030204" charset="0"/>
                        </a:rPr>
                        <m:t>𝐶</m:t>
                      </m:r>
                      <m:sSup>
                        <m:sSupPr>
                          <m:ctrlPr>
                            <a:rPr lang="en-US" altLang="zh-CN" sz="16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16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</m:e>
                        <m:sup>
                          <m:r>
                            <a:rPr lang="en-US" altLang="zh-CN" sz="16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2</m:t>
                          </m:r>
                        </m:sup>
                      </m:sSup>
                      <m:r>
                        <a:rPr lang="en-US" altLang="zh-CN" sz="16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altLang="zh-CN" sz="1600" i="1" dirty="0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0D47AB0-237A-6E5B-1C5F-36CD9770AA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0617" y="8364640"/>
                <a:ext cx="2471606" cy="338554"/>
              </a:xfrm>
              <a:prstGeom prst="rect">
                <a:avLst/>
              </a:prstGeom>
              <a:blipFill>
                <a:blip r:embed="rId16"/>
                <a:stretch>
                  <a:fillRect b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1" name="Picture 180">
            <a:extLst>
              <a:ext uri="{FF2B5EF4-FFF2-40B4-BE49-F238E27FC236}">
                <a16:creationId xmlns:a16="http://schemas.microsoft.com/office/drawing/2014/main" id="{1689C317-ACB1-27C0-CD91-538EE103F03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/>
        </p:blipFill>
        <p:spPr>
          <a:xfrm>
            <a:off x="3150240" y="8628855"/>
            <a:ext cx="1485589" cy="1363562"/>
          </a:xfrm>
          <a:prstGeom prst="rect">
            <a:avLst/>
          </a:prstGeom>
        </p:spPr>
      </p:pic>
      <p:pic>
        <p:nvPicPr>
          <p:cNvPr id="183" name="Picture 182">
            <a:extLst>
              <a:ext uri="{FF2B5EF4-FFF2-40B4-BE49-F238E27FC236}">
                <a16:creationId xmlns:a16="http://schemas.microsoft.com/office/drawing/2014/main" id="{91AF0E99-53EB-B334-C9B0-799CCB26E45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/>
        </p:blipFill>
        <p:spPr>
          <a:xfrm>
            <a:off x="4476118" y="8763409"/>
            <a:ext cx="1829017" cy="1246592"/>
          </a:xfrm>
          <a:prstGeom prst="rect">
            <a:avLst/>
          </a:prstGeom>
        </p:spPr>
      </p:pic>
      <p:pic>
        <p:nvPicPr>
          <p:cNvPr id="187" name="Picture 186">
            <a:extLst>
              <a:ext uri="{FF2B5EF4-FFF2-40B4-BE49-F238E27FC236}">
                <a16:creationId xmlns:a16="http://schemas.microsoft.com/office/drawing/2014/main" id="{EB6BA8A9-2223-9D4C-7898-1BDC4E9C1C4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/>
        </p:blipFill>
        <p:spPr>
          <a:xfrm>
            <a:off x="6190363" y="8945054"/>
            <a:ext cx="1536861" cy="961600"/>
          </a:xfrm>
          <a:prstGeom prst="rect">
            <a:avLst/>
          </a:prstGeom>
        </p:spPr>
      </p:pic>
      <p:pic>
        <p:nvPicPr>
          <p:cNvPr id="189" name="Picture 188">
            <a:extLst>
              <a:ext uri="{FF2B5EF4-FFF2-40B4-BE49-F238E27FC236}">
                <a16:creationId xmlns:a16="http://schemas.microsoft.com/office/drawing/2014/main" id="{5FBBD2AE-130D-ACA5-5664-83DAD54FF5F3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7751206" y="8632630"/>
            <a:ext cx="1589173" cy="1356012"/>
          </a:xfrm>
          <a:prstGeom prst="rect">
            <a:avLst/>
          </a:prstGeom>
        </p:spPr>
      </p:pic>
      <p:pic>
        <p:nvPicPr>
          <p:cNvPr id="193" name="Picture 192">
            <a:extLst>
              <a:ext uri="{FF2B5EF4-FFF2-40B4-BE49-F238E27FC236}">
                <a16:creationId xmlns:a16="http://schemas.microsoft.com/office/drawing/2014/main" id="{D77F3894-44A4-91E6-29E6-5473250F1F53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8893228" y="8696963"/>
            <a:ext cx="2032673" cy="117872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4544" y="9707115"/>
            <a:ext cx="2271669" cy="1398437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5" name="图片 3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61" y="9781361"/>
            <a:ext cx="1792024" cy="993460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8536" y="9781361"/>
            <a:ext cx="1673906" cy="927651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8888536" y="3498336"/>
            <a:ext cx="7555285" cy="2620287"/>
            <a:chOff x="398" y="8731"/>
            <a:chExt cx="11898" cy="4126"/>
          </a:xfrm>
        </p:grpSpPr>
        <p:grpSp>
          <p:nvGrpSpPr>
            <p:cNvPr id="78" name="组合 77"/>
            <p:cNvGrpSpPr/>
            <p:nvPr/>
          </p:nvGrpSpPr>
          <p:grpSpPr>
            <a:xfrm>
              <a:off x="430" y="9118"/>
              <a:ext cx="11866" cy="3739"/>
              <a:chOff x="647" y="2057"/>
              <a:chExt cx="17861" cy="5629"/>
            </a:xfrm>
          </p:grpSpPr>
          <p:grpSp>
            <p:nvGrpSpPr>
              <p:cNvPr id="73" name="组合 72"/>
              <p:cNvGrpSpPr/>
              <p:nvPr/>
            </p:nvGrpSpPr>
            <p:grpSpPr>
              <a:xfrm>
                <a:off x="647" y="2057"/>
                <a:ext cx="3551" cy="5629"/>
                <a:chOff x="647" y="2057"/>
                <a:chExt cx="3551" cy="5629"/>
              </a:xfrm>
            </p:grpSpPr>
            <p:sp>
              <p:nvSpPr>
                <p:cNvPr id="5163" name="TextBox 264"/>
                <p:cNvSpPr txBox="1"/>
                <p:nvPr/>
              </p:nvSpPr>
              <p:spPr>
                <a:xfrm>
                  <a:off x="647" y="4712"/>
                  <a:ext cx="3551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C&gt;0, B&gt;0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“Bowl” City</a:t>
                  </a:r>
                </a:p>
              </p:txBody>
            </p:sp>
            <p:grpSp>
              <p:nvGrpSpPr>
                <p:cNvPr id="26" name="组合 25"/>
                <p:cNvGrpSpPr/>
                <p:nvPr/>
              </p:nvGrpSpPr>
              <p:grpSpPr>
                <a:xfrm>
                  <a:off x="1094" y="5693"/>
                  <a:ext cx="2657" cy="1993"/>
                  <a:chOff x="3202" y="5108"/>
                  <a:chExt cx="2657" cy="1993"/>
                </a:xfrm>
              </p:grpSpPr>
              <p:cxnSp>
                <p:nvCxnSpPr>
                  <p:cNvPr id="8" name="直接箭头连接符 7"/>
                  <p:cNvCxnSpPr/>
                  <p:nvPr/>
                </p:nvCxnSpPr>
                <p:spPr>
                  <a:xfrm flipV="1">
                    <a:off x="3755" y="5227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" name="直接箭头连接符 8"/>
                  <p:cNvCxnSpPr/>
                  <p:nvPr/>
                </p:nvCxnSpPr>
                <p:spPr>
                  <a:xfrm>
                    <a:off x="3755" y="6786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" name="任意多边形 12"/>
                  <p:cNvSpPr/>
                  <p:nvPr/>
                </p:nvSpPr>
                <p:spPr>
                  <a:xfrm>
                    <a:off x="3755" y="5568"/>
                    <a:ext cx="1606" cy="503"/>
                  </a:xfrm>
                  <a:custGeom>
                    <a:avLst/>
                    <a:gdLst>
                      <a:gd name="connsiteX0" fmla="*/ 0 w 7905"/>
                      <a:gd name="connsiteY0" fmla="*/ 2460 h 2476"/>
                      <a:gd name="connsiteX1" fmla="*/ 7905 w 7905"/>
                      <a:gd name="connsiteY1" fmla="*/ 0 h 247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7905" h="2477">
                        <a:moveTo>
                          <a:pt x="0" y="2460"/>
                        </a:moveTo>
                        <a:cubicBezTo>
                          <a:pt x="4710" y="2655"/>
                          <a:pt x="7095" y="1095"/>
                          <a:pt x="7905" y="0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95"/>
                  </a:p>
                </p:txBody>
              </p:sp>
              <p:grpSp>
                <p:nvGrpSpPr>
                  <p:cNvPr id="18" name="组合 17"/>
                  <p:cNvGrpSpPr/>
                  <p:nvPr/>
                </p:nvGrpSpPr>
                <p:grpSpPr>
                  <a:xfrm>
                    <a:off x="3202" y="5108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41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14" name="文本框 13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  <p:pic>
              <p:nvPicPr>
                <p:cNvPr id="16" name="图片 15"/>
                <p:cNvPicPr>
                  <a:picLocks noChangeAspect="1"/>
                </p:cNvPicPr>
                <p:nvPr/>
              </p:nvPicPr>
              <p:blipFill>
                <a:blip r:embed="rId6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48000"/>
                </a:blip>
                <a:stretch>
                  <a:fillRect/>
                </a:stretch>
              </p:blipFill>
              <p:spPr>
                <a:xfrm>
                  <a:off x="647" y="2057"/>
                  <a:ext cx="3441" cy="273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</p:grpSp>
          <p:grpSp>
            <p:nvGrpSpPr>
              <p:cNvPr id="75" name="组合 74"/>
              <p:cNvGrpSpPr/>
              <p:nvPr/>
            </p:nvGrpSpPr>
            <p:grpSpPr>
              <a:xfrm>
                <a:off x="7659" y="2455"/>
                <a:ext cx="3661" cy="5231"/>
                <a:chOff x="7722" y="2455"/>
                <a:chExt cx="3661" cy="5231"/>
              </a:xfrm>
            </p:grpSpPr>
            <p:pic>
              <p:nvPicPr>
                <p:cNvPr id="2" name="图片 1"/>
                <p:cNvPicPr>
                  <a:picLocks noChangeAspect="1"/>
                </p:cNvPicPr>
                <p:nvPr/>
              </p:nvPicPr>
              <p:blipFill>
                <a:blip r:embed="rId7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7722" y="2455"/>
                  <a:ext cx="3470" cy="2199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3" name="文本框 2"/>
                <p:cNvSpPr txBox="1"/>
                <p:nvPr/>
              </p:nvSpPr>
              <p:spPr>
                <a:xfrm>
                  <a:off x="7740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</a:rPr>
                    <a:t>C=0, B=0</a:t>
                  </a:r>
                </a:p>
                <a:p>
                  <a:pPr algn="ctr"/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</a:rPr>
                    <a:t>“Pancake” City</a:t>
                  </a:r>
                </a:p>
              </p:txBody>
            </p:sp>
            <p:grpSp>
              <p:nvGrpSpPr>
                <p:cNvPr id="23" name="组合 22"/>
                <p:cNvGrpSpPr/>
                <p:nvPr/>
              </p:nvGrpSpPr>
              <p:grpSpPr>
                <a:xfrm>
                  <a:off x="8233" y="5693"/>
                  <a:ext cx="2657" cy="1993"/>
                  <a:chOff x="5687" y="5068"/>
                  <a:chExt cx="2657" cy="1993"/>
                </a:xfrm>
              </p:grpSpPr>
              <p:cxnSp>
                <p:nvCxnSpPr>
                  <p:cNvPr id="4" name="直接箭头连接符 3"/>
                  <p:cNvCxnSpPr/>
                  <p:nvPr/>
                </p:nvCxnSpPr>
                <p:spPr>
                  <a:xfrm flipV="1">
                    <a:off x="6221" y="521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" name="直接箭头连接符 4"/>
                  <p:cNvCxnSpPr/>
                  <p:nvPr/>
                </p:nvCxnSpPr>
                <p:spPr>
                  <a:xfrm>
                    <a:off x="6221" y="677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" name="直接连接符 5"/>
                  <p:cNvCxnSpPr/>
                  <p:nvPr/>
                </p:nvCxnSpPr>
                <p:spPr>
                  <a:xfrm>
                    <a:off x="6236" y="6085"/>
                    <a:ext cx="1665" cy="0"/>
                  </a:xfrm>
                  <a:prstGeom prst="line">
                    <a:avLst/>
                  </a:pr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9" name="组合 18"/>
                  <p:cNvGrpSpPr/>
                  <p:nvPr/>
                </p:nvGrpSpPr>
                <p:grpSpPr>
                  <a:xfrm>
                    <a:off x="5687" y="5068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20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</p:grpSp>
          <p:grpSp>
            <p:nvGrpSpPr>
              <p:cNvPr id="77" name="组合 76"/>
              <p:cNvGrpSpPr/>
              <p:nvPr/>
            </p:nvGrpSpPr>
            <p:grpSpPr>
              <a:xfrm>
                <a:off x="14741" y="2761"/>
                <a:ext cx="3767" cy="4925"/>
                <a:chOff x="14737" y="2761"/>
                <a:chExt cx="3767" cy="4925"/>
              </a:xfrm>
            </p:grpSpPr>
            <p:pic>
              <p:nvPicPr>
                <p:cNvPr id="17" name="图片 16"/>
                <p:cNvPicPr>
                  <a:picLocks noChangeAspect="1"/>
                </p:cNvPicPr>
                <p:nvPr/>
              </p:nvPicPr>
              <p:blipFill>
                <a:blip r:embed="rId8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rcRect l="8333" t="26856" r="10968" b="26289"/>
                <a:stretch>
                  <a:fillRect/>
                </a:stretch>
              </p:blipFill>
              <p:spPr>
                <a:xfrm>
                  <a:off x="14737" y="2761"/>
                  <a:ext cx="3767" cy="1736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5126" name="TextBox 190"/>
                <p:cNvSpPr txBox="1"/>
                <p:nvPr/>
              </p:nvSpPr>
              <p:spPr>
                <a:xfrm>
                  <a:off x="14861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C&lt;0, B&lt;0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sym typeface="+mn-ea"/>
                    </a:rPr>
                    <a:t>“Pyramid”City</a:t>
                  </a:r>
                </a:p>
              </p:txBody>
            </p:sp>
            <p:grpSp>
              <p:nvGrpSpPr>
                <p:cNvPr id="49" name="组合 48"/>
                <p:cNvGrpSpPr/>
                <p:nvPr/>
              </p:nvGrpSpPr>
              <p:grpSpPr>
                <a:xfrm>
                  <a:off x="15354" y="5693"/>
                  <a:ext cx="2657" cy="1993"/>
                  <a:chOff x="10870" y="5054"/>
                  <a:chExt cx="2657" cy="1993"/>
                </a:xfrm>
              </p:grpSpPr>
              <p:sp>
                <p:nvSpPr>
                  <p:cNvPr id="37" name="任意多边形 36"/>
                  <p:cNvSpPr/>
                  <p:nvPr/>
                </p:nvSpPr>
                <p:spPr>
                  <a:xfrm>
                    <a:off x="11415" y="6023"/>
                    <a:ext cx="1395" cy="695"/>
                  </a:xfrm>
                  <a:custGeom>
                    <a:avLst/>
                    <a:gdLst>
                      <a:gd name="connsiteX0" fmla="*/ 0 w 6210"/>
                      <a:gd name="connsiteY0" fmla="*/ 0 h 2550"/>
                      <a:gd name="connsiteX1" fmla="*/ 6210 w 6210"/>
                      <a:gd name="connsiteY1" fmla="*/ 2550 h 2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6210" h="2550">
                        <a:moveTo>
                          <a:pt x="0" y="0"/>
                        </a:moveTo>
                        <a:cubicBezTo>
                          <a:pt x="2385" y="1290"/>
                          <a:pt x="4110" y="2085"/>
                          <a:pt x="6210" y="2550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vertOverflow="overflow" horzOverflow="overflow" vert="horz" wrap="square" numCol="1" spcCol="0" rtlCol="0" fromWordArt="0" anchor="ctr" anchorCtr="0" forceAA="0" compatLnSpc="1">
                    <a:noAutofit/>
                  </a:bodyPr>
                  <a:lstStyle/>
                  <a:p>
                    <a:pPr lvl="0" algn="ctr">
                      <a:buClrTx/>
                      <a:buSzTx/>
                      <a:buFontTx/>
                    </a:pPr>
                    <a:endParaRPr lang="zh-CN" altLang="en-US" sz="1195">
                      <a:sym typeface="+mn-ea"/>
                    </a:endParaRPr>
                  </a:p>
                </p:txBody>
              </p:sp>
              <p:cxnSp>
                <p:nvCxnSpPr>
                  <p:cNvPr id="39" name="直接箭头连接符 38"/>
                  <p:cNvCxnSpPr/>
                  <p:nvPr/>
                </p:nvCxnSpPr>
                <p:spPr>
                  <a:xfrm flipV="1">
                    <a:off x="11423" y="517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直接箭头连接符 39"/>
                  <p:cNvCxnSpPr/>
                  <p:nvPr/>
                </p:nvCxnSpPr>
                <p:spPr>
                  <a:xfrm>
                    <a:off x="11423" y="673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45" name="组合 44"/>
                  <p:cNvGrpSpPr/>
                  <p:nvPr/>
                </p:nvGrpSpPr>
                <p:grpSpPr>
                  <a:xfrm>
                    <a:off x="10870" y="5054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46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47" name="文本框 46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48" name="文本框 47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</p:grpSp>
          <p:grpSp>
            <p:nvGrpSpPr>
              <p:cNvPr id="76" name="组合 75"/>
              <p:cNvGrpSpPr/>
              <p:nvPr/>
            </p:nvGrpSpPr>
            <p:grpSpPr>
              <a:xfrm>
                <a:off x="11209" y="2584"/>
                <a:ext cx="3643" cy="5102"/>
                <a:chOff x="11192" y="2584"/>
                <a:chExt cx="3643" cy="5102"/>
              </a:xfrm>
            </p:grpSpPr>
            <p:pic>
              <p:nvPicPr>
                <p:cNvPr id="4100" name="图片 6"/>
                <p:cNvPicPr>
                  <a:picLocks noChangeAspect="1"/>
                </p:cNvPicPr>
                <p:nvPr/>
              </p:nvPicPr>
              <p:blipFill>
                <a:blip r:embed="rId9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11510" y="2584"/>
                  <a:ext cx="3007" cy="2070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5127" name="TextBox 191"/>
                <p:cNvSpPr txBox="1"/>
                <p:nvPr/>
              </p:nvSpPr>
              <p:spPr>
                <a:xfrm>
                  <a:off x="11192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C&lt;0, B&gt;0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“Volcanic Cone” City</a:t>
                  </a:r>
                </a:p>
              </p:txBody>
            </p:sp>
            <p:grpSp>
              <p:nvGrpSpPr>
                <p:cNvPr id="52" name="组合 51"/>
                <p:cNvGrpSpPr/>
                <p:nvPr/>
              </p:nvGrpSpPr>
              <p:grpSpPr>
                <a:xfrm>
                  <a:off x="11686" y="5693"/>
                  <a:ext cx="2657" cy="1993"/>
                  <a:chOff x="8290" y="5068"/>
                  <a:chExt cx="2657" cy="1993"/>
                </a:xfrm>
              </p:grpSpPr>
              <p:grpSp>
                <p:nvGrpSpPr>
                  <p:cNvPr id="27" name="组合 26"/>
                  <p:cNvGrpSpPr/>
                  <p:nvPr/>
                </p:nvGrpSpPr>
                <p:grpSpPr>
                  <a:xfrm>
                    <a:off x="8290" y="5068"/>
                    <a:ext cx="2657" cy="1993"/>
                    <a:chOff x="3202" y="5108"/>
                    <a:chExt cx="2657" cy="1993"/>
                  </a:xfrm>
                </p:grpSpPr>
                <p:cxnSp>
                  <p:nvCxnSpPr>
                    <p:cNvPr id="28" name="直接箭头连接符 27"/>
                    <p:cNvCxnSpPr/>
                    <p:nvPr/>
                  </p:nvCxnSpPr>
                  <p:spPr>
                    <a:xfrm flipV="1">
                      <a:off x="3755" y="5227"/>
                      <a:ext cx="0" cy="1545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9" name="直接箭头连接符 28"/>
                    <p:cNvCxnSpPr/>
                    <p:nvPr/>
                  </p:nvCxnSpPr>
                  <p:spPr>
                    <a:xfrm>
                      <a:off x="3755" y="6786"/>
                      <a:ext cx="174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31" name="组合 30"/>
                    <p:cNvGrpSpPr/>
                    <p:nvPr/>
                  </p:nvGrpSpPr>
                  <p:grpSpPr>
                    <a:xfrm>
                      <a:off x="3202" y="5108"/>
                      <a:ext cx="2657" cy="1993"/>
                      <a:chOff x="3202" y="5108"/>
                      <a:chExt cx="2657" cy="1993"/>
                    </a:xfrm>
                  </p:grpSpPr>
                  <p:sp>
                    <p:nvSpPr>
                      <p:cNvPr id="32" name="TextBox 256"/>
                      <p:cNvSpPr txBox="1"/>
                      <p:nvPr/>
                    </p:nvSpPr>
                    <p:spPr>
                      <a:xfrm>
                        <a:off x="3320" y="6496"/>
                        <a:ext cx="613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 fontAlgn="auto"/>
                        <a:r>
                          <a:rPr lang="en-US" sz="1065" noProof="1">
                            <a:latin typeface="Arial" panose="020B0604020202020204" pitchFamily="34" charset="0"/>
                            <a:ea typeface="+mn-ea"/>
                            <a:cs typeface="Arial" panose="020B0604020202020204" pitchFamily="34" charset="0"/>
                          </a:rPr>
                          <a:t>0</a:t>
                        </a:r>
                      </a:p>
                    </p:txBody>
                  </p:sp>
                  <p:sp>
                    <p:nvSpPr>
                      <p:cNvPr id="33" name="文本框 32"/>
                      <p:cNvSpPr txBox="1"/>
                      <p:nvPr/>
                    </p:nvSpPr>
                    <p:spPr>
                      <a:xfrm>
                        <a:off x="3202" y="5108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H</a:t>
                        </a:r>
                      </a:p>
                    </p:txBody>
                  </p:sp>
                  <p:sp>
                    <p:nvSpPr>
                      <p:cNvPr id="34" name="文本框 33"/>
                      <p:cNvSpPr txBox="1"/>
                      <p:nvPr/>
                    </p:nvSpPr>
                    <p:spPr>
                      <a:xfrm>
                        <a:off x="5413" y="6496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r</a:t>
                        </a:r>
                      </a:p>
                    </p:txBody>
                  </p:sp>
                </p:grpSp>
              </p:grpSp>
              <p:sp>
                <p:nvSpPr>
                  <p:cNvPr id="51" name="任意多边形 50"/>
                  <p:cNvSpPr/>
                  <p:nvPr/>
                </p:nvSpPr>
                <p:spPr>
                  <a:xfrm>
                    <a:off x="8843" y="5741"/>
                    <a:ext cx="1742" cy="701"/>
                  </a:xfrm>
                  <a:custGeom>
                    <a:avLst/>
                    <a:gdLst>
                      <a:gd name="connsiteX0" fmla="*/ 0 w 6165"/>
                      <a:gd name="connsiteY0" fmla="*/ 895 h 1794"/>
                      <a:gd name="connsiteX1" fmla="*/ 2745 w 6165"/>
                      <a:gd name="connsiteY1" fmla="*/ 25 h 1794"/>
                      <a:gd name="connsiteX2" fmla="*/ 6165 w 6165"/>
                      <a:gd name="connsiteY2" fmla="*/ 1795 h 179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6165" h="1795">
                        <a:moveTo>
                          <a:pt x="0" y="895"/>
                        </a:moveTo>
                        <a:cubicBezTo>
                          <a:pt x="411" y="669"/>
                          <a:pt x="1506" y="-152"/>
                          <a:pt x="2745" y="25"/>
                        </a:cubicBezTo>
                        <a:cubicBezTo>
                          <a:pt x="3984" y="202"/>
                          <a:pt x="5415" y="1432"/>
                          <a:pt x="6165" y="1795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95"/>
                  </a:p>
                </p:txBody>
              </p:sp>
            </p:grpSp>
          </p:grpSp>
          <p:grpSp>
            <p:nvGrpSpPr>
              <p:cNvPr id="74" name="组合 73"/>
              <p:cNvGrpSpPr/>
              <p:nvPr/>
            </p:nvGrpSpPr>
            <p:grpSpPr>
              <a:xfrm>
                <a:off x="4087" y="2348"/>
                <a:ext cx="3683" cy="5338"/>
                <a:chOff x="4198" y="2348"/>
                <a:chExt cx="3683" cy="5338"/>
              </a:xfrm>
            </p:grpSpPr>
            <p:sp>
              <p:nvSpPr>
                <p:cNvPr id="64" name="TextBox 190"/>
                <p:cNvSpPr txBox="1"/>
                <p:nvPr/>
              </p:nvSpPr>
              <p:spPr>
                <a:xfrm>
                  <a:off x="4218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C&gt;0, B&lt;0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sym typeface="+mn-ea"/>
                    </a:rPr>
                    <a:t>“Crown”City</a:t>
                  </a:r>
                </a:p>
              </p:txBody>
            </p:sp>
            <p:pic>
              <p:nvPicPr>
                <p:cNvPr id="66" name="图片 65"/>
                <p:cNvPicPr>
                  <a:picLocks noChangeAspect="1"/>
                </p:cNvPicPr>
                <p:nvPr/>
              </p:nvPicPr>
              <p:blipFill>
                <a:blip r:embed="rId10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4198" y="2348"/>
                  <a:ext cx="3683" cy="2478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grpSp>
              <p:nvGrpSpPr>
                <p:cNvPr id="72" name="组合 71"/>
                <p:cNvGrpSpPr/>
                <p:nvPr/>
              </p:nvGrpSpPr>
              <p:grpSpPr>
                <a:xfrm>
                  <a:off x="4712" y="5693"/>
                  <a:ext cx="2657" cy="1993"/>
                  <a:chOff x="4673" y="5693"/>
                  <a:chExt cx="2657" cy="1993"/>
                </a:xfrm>
              </p:grpSpPr>
              <p:grpSp>
                <p:nvGrpSpPr>
                  <p:cNvPr id="56" name="组合 55"/>
                  <p:cNvGrpSpPr/>
                  <p:nvPr/>
                </p:nvGrpSpPr>
                <p:grpSpPr>
                  <a:xfrm>
                    <a:off x="4673" y="5693"/>
                    <a:ext cx="2657" cy="1993"/>
                    <a:chOff x="10870" y="5054"/>
                    <a:chExt cx="2657" cy="1993"/>
                  </a:xfrm>
                </p:grpSpPr>
                <p:cxnSp>
                  <p:nvCxnSpPr>
                    <p:cNvPr id="58" name="直接箭头连接符 57"/>
                    <p:cNvCxnSpPr/>
                    <p:nvPr/>
                  </p:nvCxnSpPr>
                  <p:spPr>
                    <a:xfrm flipV="1">
                      <a:off x="11423" y="5173"/>
                      <a:ext cx="0" cy="1545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9" name="直接箭头连接符 58"/>
                    <p:cNvCxnSpPr/>
                    <p:nvPr/>
                  </p:nvCxnSpPr>
                  <p:spPr>
                    <a:xfrm>
                      <a:off x="11423" y="6732"/>
                      <a:ext cx="174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0" name="组合 59"/>
                    <p:cNvGrpSpPr/>
                    <p:nvPr/>
                  </p:nvGrpSpPr>
                  <p:grpSpPr>
                    <a:xfrm>
                      <a:off x="10870" y="5054"/>
                      <a:ext cx="2657" cy="1993"/>
                      <a:chOff x="3202" y="5108"/>
                      <a:chExt cx="2657" cy="1993"/>
                    </a:xfrm>
                  </p:grpSpPr>
                  <p:sp>
                    <p:nvSpPr>
                      <p:cNvPr id="61" name="TextBox 256"/>
                      <p:cNvSpPr txBox="1"/>
                      <p:nvPr/>
                    </p:nvSpPr>
                    <p:spPr>
                      <a:xfrm>
                        <a:off x="3320" y="6496"/>
                        <a:ext cx="613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 fontAlgn="auto"/>
                        <a:r>
                          <a:rPr lang="en-US" sz="1065" noProof="1">
                            <a:latin typeface="Arial" panose="020B0604020202020204" pitchFamily="34" charset="0"/>
                            <a:ea typeface="+mn-ea"/>
                            <a:cs typeface="Arial" panose="020B0604020202020204" pitchFamily="34" charset="0"/>
                          </a:rPr>
                          <a:t>0</a:t>
                        </a:r>
                      </a:p>
                    </p:txBody>
                  </p:sp>
                  <p:sp>
                    <p:nvSpPr>
                      <p:cNvPr id="62" name="文本框 61"/>
                      <p:cNvSpPr txBox="1"/>
                      <p:nvPr/>
                    </p:nvSpPr>
                    <p:spPr>
                      <a:xfrm>
                        <a:off x="3202" y="5108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H</a:t>
                        </a:r>
                      </a:p>
                    </p:txBody>
                  </p:sp>
                  <p:sp>
                    <p:nvSpPr>
                      <p:cNvPr id="63" name="文本框 62"/>
                      <p:cNvSpPr txBox="1"/>
                      <p:nvPr/>
                    </p:nvSpPr>
                    <p:spPr>
                      <a:xfrm>
                        <a:off x="5413" y="6496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r</a:t>
                        </a:r>
                      </a:p>
                    </p:txBody>
                  </p:sp>
                </p:grpSp>
              </p:grpSp>
              <p:sp>
                <p:nvSpPr>
                  <p:cNvPr id="68" name="任意多边形 67"/>
                  <p:cNvSpPr/>
                  <p:nvPr/>
                </p:nvSpPr>
                <p:spPr>
                  <a:xfrm>
                    <a:off x="5227" y="6643"/>
                    <a:ext cx="1770" cy="296"/>
                  </a:xfrm>
                  <a:custGeom>
                    <a:avLst/>
                    <a:gdLst>
                      <a:gd name="connsiteX0" fmla="*/ 0 w 6127"/>
                      <a:gd name="connsiteY0" fmla="*/ 0 h 836"/>
                      <a:gd name="connsiteX1" fmla="*/ 3080 w 6127"/>
                      <a:gd name="connsiteY1" fmla="*/ 836 h 836"/>
                      <a:gd name="connsiteX2" fmla="*/ 6127 w 6127"/>
                      <a:gd name="connsiteY2" fmla="*/ 82 h 83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6127" h="836">
                        <a:moveTo>
                          <a:pt x="0" y="0"/>
                        </a:moveTo>
                        <a:cubicBezTo>
                          <a:pt x="492" y="328"/>
                          <a:pt x="1855" y="829"/>
                          <a:pt x="3080" y="836"/>
                        </a:cubicBezTo>
                        <a:cubicBezTo>
                          <a:pt x="4305" y="843"/>
                          <a:pt x="5586" y="344"/>
                          <a:pt x="6127" y="82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vertOverflow="overflow" horzOverflow="overflow" vert="horz" wrap="square" numCol="1" spcCol="0" rtlCol="0" fromWordArt="0" anchor="ctr" anchorCtr="0" forceAA="0" compatLnSpc="1">
                    <a:noAutofit/>
                  </a:bodyPr>
                  <a:lstStyle/>
                  <a:p>
                    <a:pPr lvl="0" algn="ctr">
                      <a:buClrTx/>
                      <a:buSzTx/>
                      <a:buFontTx/>
                    </a:pPr>
                    <a:endParaRPr lang="zh-CN" altLang="en-US" sz="1195">
                      <a:sym typeface="+mn-ea"/>
                    </a:endParaRPr>
                  </a:p>
                </p:txBody>
              </p:sp>
            </p:grpSp>
          </p:grpSp>
        </p:grpSp>
        <p:sp>
          <p:nvSpPr>
            <p:cNvPr id="7" name="文本框 6"/>
            <p:cNvSpPr txBox="1"/>
            <p:nvPr/>
          </p:nvSpPr>
          <p:spPr>
            <a:xfrm>
              <a:off x="398" y="8731"/>
              <a:ext cx="679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Vertical Profile Types</a:t>
              </a:r>
            </a:p>
          </p:txBody>
        </p:sp>
      </p:grpSp>
      <p:pic>
        <p:nvPicPr>
          <p:cNvPr id="42" name="图片 4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24253" y="7211912"/>
            <a:ext cx="9753600" cy="1514475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D1F56060-5ECD-74E0-005D-CD1AA0C991BD}"/>
              </a:ext>
            </a:extLst>
          </p:cNvPr>
          <p:cNvGrpSpPr/>
          <p:nvPr/>
        </p:nvGrpSpPr>
        <p:grpSpPr>
          <a:xfrm>
            <a:off x="318977" y="1391742"/>
            <a:ext cx="8150225" cy="9831705"/>
            <a:chOff x="3001650" y="1479175"/>
            <a:chExt cx="8150225" cy="9831705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54C4885-419F-BEC0-E0CD-2BA5E0812AB0}"/>
                </a:ext>
              </a:extLst>
            </p:cNvPr>
            <p:cNvGrpSpPr/>
            <p:nvPr/>
          </p:nvGrpSpPr>
          <p:grpSpPr>
            <a:xfrm>
              <a:off x="3001650" y="1479175"/>
              <a:ext cx="8150225" cy="9831705"/>
              <a:chOff x="3001650" y="1479175"/>
              <a:chExt cx="8150225" cy="9831705"/>
            </a:xfrm>
          </p:grpSpPr>
          <p:grpSp>
            <p:nvGrpSpPr>
              <p:cNvPr id="25" name="组合 42">
                <a:extLst>
                  <a:ext uri="{FF2B5EF4-FFF2-40B4-BE49-F238E27FC236}">
                    <a16:creationId xmlns:a16="http://schemas.microsoft.com/office/drawing/2014/main" id="{1929F2AA-6060-DF4C-05C0-82B3E1357963}"/>
                  </a:ext>
                </a:extLst>
              </p:cNvPr>
              <p:cNvGrpSpPr/>
              <p:nvPr/>
            </p:nvGrpSpPr>
            <p:grpSpPr>
              <a:xfrm>
                <a:off x="3001650" y="1479175"/>
                <a:ext cx="8150225" cy="9831705"/>
                <a:chOff x="4862" y="6190"/>
                <a:chExt cx="12835" cy="15483"/>
              </a:xfrm>
            </p:grpSpPr>
            <p:sp>
              <p:nvSpPr>
                <p:cNvPr id="4149" name="矩形 65">
                  <a:extLst>
                    <a:ext uri="{FF2B5EF4-FFF2-40B4-BE49-F238E27FC236}">
                      <a16:creationId xmlns:a16="http://schemas.microsoft.com/office/drawing/2014/main" id="{4993C66F-A925-BA4A-D578-E85BBFCF9C29}"/>
                    </a:ext>
                  </a:extLst>
                </p:cNvPr>
                <p:cNvSpPr/>
                <p:nvPr/>
              </p:nvSpPr>
              <p:spPr>
                <a:xfrm>
                  <a:off x="4862" y="6190"/>
                  <a:ext cx="12835" cy="1548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grpSp>
              <p:nvGrpSpPr>
                <p:cNvPr id="4150" name="组合 50">
                  <a:extLst>
                    <a:ext uri="{FF2B5EF4-FFF2-40B4-BE49-F238E27FC236}">
                      <a16:creationId xmlns:a16="http://schemas.microsoft.com/office/drawing/2014/main" id="{A6723256-C35E-07FC-F25C-BB296ECC55AB}"/>
                    </a:ext>
                  </a:extLst>
                </p:cNvPr>
                <p:cNvGrpSpPr/>
                <p:nvPr/>
              </p:nvGrpSpPr>
              <p:grpSpPr>
                <a:xfrm>
                  <a:off x="5096" y="6382"/>
                  <a:ext cx="12032" cy="10119"/>
                  <a:chOff x="135" y="6382"/>
                  <a:chExt cx="12032" cy="10119"/>
                </a:xfrm>
              </p:grpSpPr>
              <p:grpSp>
                <p:nvGrpSpPr>
                  <p:cNvPr id="4151" name="组合 7">
                    <a:extLst>
                      <a:ext uri="{FF2B5EF4-FFF2-40B4-BE49-F238E27FC236}">
                        <a16:creationId xmlns:a16="http://schemas.microsoft.com/office/drawing/2014/main" id="{041255DB-5339-425C-4B65-B163A2734139}"/>
                      </a:ext>
                    </a:extLst>
                  </p:cNvPr>
                  <p:cNvGrpSpPr/>
                  <p:nvPr/>
                </p:nvGrpSpPr>
                <p:grpSpPr>
                  <a:xfrm>
                    <a:off x="193" y="7052"/>
                    <a:ext cx="11974" cy="4292"/>
                    <a:chOff x="583" y="2529"/>
                    <a:chExt cx="21284" cy="7630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97" name="TextBox 96">
                          <a:extLst>
                            <a:ext uri="{FF2B5EF4-FFF2-40B4-BE49-F238E27FC236}">
                              <a16:creationId xmlns:a16="http://schemas.microsoft.com/office/drawing/2014/main" id="{DA7B18EB-745F-7BFC-6FA4-1D834612F9B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1630" y="8665"/>
                          <a:ext cx="3967" cy="78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 large, </a:t>
                          </a:r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sz="1240" b="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small</a:t>
                          </a:r>
                        </a:p>
                      </p:txBody>
                    </p:sp>
                  </mc:Choice>
                  <mc:Fallback xmlns="">
                    <p:sp>
                      <p:nvSpPr>
                        <p:cNvPr id="31" name="TextBox 30"/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1630" y="8665"/>
                          <a:ext cx="3967" cy="788"/>
                        </a:xfrm>
                        <a:prstGeom prst="rect">
                          <a:avLst/>
                        </a:prstGeom>
                        <a:blipFill rotWithShape="1">
                          <a:blip r:embed="rId12"/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98" name="TextBox 97">
                          <a:extLst>
                            <a:ext uri="{FF2B5EF4-FFF2-40B4-BE49-F238E27FC236}">
                              <a16:creationId xmlns:a16="http://schemas.microsoft.com/office/drawing/2014/main" id="{6A2A7CE1-8849-E834-BA22-A64B3CB7E7C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098" y="8646"/>
                          <a:ext cx="4052" cy="78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 small, </a:t>
                          </a:r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sz="1240" b="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small</a:t>
                          </a:r>
                        </a:p>
                      </p:txBody>
                    </p:sp>
                  </mc:Choice>
                  <mc:Fallback xmlns="">
                    <p:sp>
                      <p:nvSpPr>
                        <p:cNvPr id="11" name="TextBox 10"/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098" y="8646"/>
                          <a:ext cx="4052" cy="788"/>
                        </a:xfrm>
                        <a:prstGeom prst="rect">
                          <a:avLst/>
                        </a:prstGeom>
                        <a:blipFill rotWithShape="1">
                          <a:blip r:embed="rId13"/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99" name="TextBox 98">
                          <a:extLst>
                            <a:ext uri="{FF2B5EF4-FFF2-40B4-BE49-F238E27FC236}">
                              <a16:creationId xmlns:a16="http://schemas.microsoft.com/office/drawing/2014/main" id="{F12BFADB-3146-866B-4420-2308E9EAAA6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6811" y="8646"/>
                          <a:ext cx="4052" cy="78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 large, </a:t>
                          </a:r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sz="1240" b="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large</a:t>
                          </a:r>
                        </a:p>
                      </p:txBody>
                    </p:sp>
                  </mc:Choice>
                  <mc:Fallback xmlns="">
                    <p:sp>
                      <p:nvSpPr>
                        <p:cNvPr id="21" name="TextBox 20"/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6811" y="8646"/>
                          <a:ext cx="4052" cy="788"/>
                        </a:xfrm>
                        <a:prstGeom prst="rect">
                          <a:avLst/>
                        </a:prstGeom>
                        <a:blipFill rotWithShape="1">
                          <a:blip r:embed="rId14"/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00" name="TextBox 99">
                          <a:extLst>
                            <a:ext uri="{FF2B5EF4-FFF2-40B4-BE49-F238E27FC236}">
                              <a16:creationId xmlns:a16="http://schemas.microsoft.com/office/drawing/2014/main" id="{9BD79E6D-A473-16A7-A659-FAF576190FE0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6364" y="8637"/>
                          <a:ext cx="4052" cy="78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 </a:t>
                          </a:r>
                          <a:r>
                            <a:rPr lang="en-US" altLang="zh-CN" sz="1240" dirty="0">
                              <a:latin typeface="Arial" panose="020B0604020202020204" pitchFamily="34" charset="0"/>
                            </a:rPr>
                            <a:t>small</a:t>
                          </a:r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sz="1240" b="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altLang="zh-CN" sz="1240" dirty="0">
                              <a:latin typeface="Arial" panose="020B0604020202020204" pitchFamily="34" charset="0"/>
                            </a:rPr>
                            <a:t>large</a:t>
                          </a:r>
                          <a:endParaRPr lang="en-US" sz="1240" dirty="0">
                            <a:latin typeface="Arial" panose="020B0604020202020204" pitchFamily="34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58" name="TextBox 57"/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6364" y="8637"/>
                          <a:ext cx="4052" cy="788"/>
                        </a:xfrm>
                        <a:prstGeom prst="rect">
                          <a:avLst/>
                        </a:prstGeom>
                        <a:blipFill rotWithShape="1">
                          <a:blip r:embed="rId15"/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101" name="TextBox 12">
                      <a:extLst>
                        <a:ext uri="{FF2B5EF4-FFF2-40B4-BE49-F238E27FC236}">
                          <a16:creationId xmlns:a16="http://schemas.microsoft.com/office/drawing/2014/main" id="{AB4F14AB-75F0-8233-9EFD-CAA1E83632E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45" y="2655"/>
                      <a:ext cx="7452" cy="71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065" dirty="0">
                          <a:latin typeface="Arial" panose="020B0604020202020204" pitchFamily="34" charset="0"/>
                        </a:rPr>
                        <a:t>Structural Zeros (cannot be constructed)</a:t>
                      </a:r>
                    </a:p>
                  </p:txBody>
                </p:sp>
                <p:sp>
                  <p:nvSpPr>
                    <p:cNvPr id="102" name="TextBox 98">
                      <a:extLst>
                        <a:ext uri="{FF2B5EF4-FFF2-40B4-BE49-F238E27FC236}">
                          <a16:creationId xmlns:a16="http://schemas.microsoft.com/office/drawing/2014/main" id="{7CC8B77E-2A63-A9C8-6EB7-6C4A2F7756C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880" y="2676"/>
                      <a:ext cx="5239" cy="71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065" dirty="0">
                          <a:latin typeface="Arial" panose="020B0604020202020204" pitchFamily="34" charset="0"/>
                        </a:rPr>
                        <a:t>Constructable Area</a:t>
                      </a:r>
                    </a:p>
                  </p:txBody>
                </p:sp>
                <p:sp>
                  <p:nvSpPr>
                    <p:cNvPr id="103" name="矩形 33">
                      <a:extLst>
                        <a:ext uri="{FF2B5EF4-FFF2-40B4-BE49-F238E27FC236}">
                          <a16:creationId xmlns:a16="http://schemas.microsoft.com/office/drawing/2014/main" id="{11AF5D71-38A7-2044-1CC9-DADFCEFFF80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32" y="2529"/>
                      <a:ext cx="813" cy="813"/>
                    </a:xfrm>
                    <a:prstGeom prst="rect">
                      <a:avLst/>
                    </a:prstGeom>
                    <a:solidFill>
                      <a:srgbClr val="69696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  <p:sp>
                  <p:nvSpPr>
                    <p:cNvPr id="104" name="矩形 36">
                      <a:extLst>
                        <a:ext uri="{FF2B5EF4-FFF2-40B4-BE49-F238E27FC236}">
                          <a16:creationId xmlns:a16="http://schemas.microsoft.com/office/drawing/2014/main" id="{D055D969-7ACC-72B3-0FF1-284DBC8ADD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068" y="2551"/>
                      <a:ext cx="813" cy="81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>
                      <a:solidFill>
                        <a:srgbClr val="696969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  <p:grpSp>
                  <p:nvGrpSpPr>
                    <p:cNvPr id="105" name="组合 1">
                      <a:extLst>
                        <a:ext uri="{FF2B5EF4-FFF2-40B4-BE49-F238E27FC236}">
                          <a16:creationId xmlns:a16="http://schemas.microsoft.com/office/drawing/2014/main" id="{B0C5AB59-BCFA-CEFE-3A79-4CB07DA9B7D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83" y="3473"/>
                      <a:ext cx="5083" cy="5044"/>
                      <a:chOff x="493" y="2941"/>
                      <a:chExt cx="4304" cy="4271"/>
                    </a:xfrm>
                  </p:grpSpPr>
                  <p:pic>
                    <p:nvPicPr>
                      <p:cNvPr id="120" name="图片 39">
                        <a:extLst>
                          <a:ext uri="{FF2B5EF4-FFF2-40B4-BE49-F238E27FC236}">
                            <a16:creationId xmlns:a16="http://schemas.microsoft.com/office/drawing/2014/main" id="{0D75E14C-0B28-E654-B8DC-BA00C9FF373B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16">
                        <a:grayscl/>
                      </a:blip>
                      <a:stretch>
                        <a:fillRect/>
                      </a:stretch>
                    </p:blipFill>
                    <p:spPr>
                      <a:xfrm>
                        <a:off x="493" y="2941"/>
                        <a:ext cx="4304" cy="4271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121" name="椭圆 18">
                        <a:extLst>
                          <a:ext uri="{FF2B5EF4-FFF2-40B4-BE49-F238E27FC236}">
                            <a16:creationId xmlns:a16="http://schemas.microsoft.com/office/drawing/2014/main" id="{45EFD5BF-7835-6E2B-AF3C-624D390C681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8" y="3013"/>
                        <a:ext cx="4199" cy="4199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</p:grpSp>
                <p:grpSp>
                  <p:nvGrpSpPr>
                    <p:cNvPr id="106" name="组合 2">
                      <a:extLst>
                        <a:ext uri="{FF2B5EF4-FFF2-40B4-BE49-F238E27FC236}">
                          <a16:creationId xmlns:a16="http://schemas.microsoft.com/office/drawing/2014/main" id="{55E45F7F-91E5-F04D-24FE-A0E85D21258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822" y="3473"/>
                      <a:ext cx="5081" cy="5043"/>
                      <a:chOff x="4929" y="2941"/>
                      <a:chExt cx="4302" cy="4270"/>
                    </a:xfrm>
                  </p:grpSpPr>
                  <p:pic>
                    <p:nvPicPr>
                      <p:cNvPr id="118" name="图片 43">
                        <a:extLst>
                          <a:ext uri="{FF2B5EF4-FFF2-40B4-BE49-F238E27FC236}">
                            <a16:creationId xmlns:a16="http://schemas.microsoft.com/office/drawing/2014/main" id="{193B8C55-015D-E8D7-A5E5-815EF74E0716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17">
                        <a:grayscl/>
                      </a:blip>
                      <a:stretch>
                        <a:fillRect/>
                      </a:stretch>
                    </p:blipFill>
                    <p:spPr>
                      <a:xfrm>
                        <a:off x="4929" y="2941"/>
                        <a:ext cx="4303" cy="4271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119" name="椭圆 38">
                        <a:extLst>
                          <a:ext uri="{FF2B5EF4-FFF2-40B4-BE49-F238E27FC236}">
                            <a16:creationId xmlns:a16="http://schemas.microsoft.com/office/drawing/2014/main" id="{8230EBCE-87C8-3FA9-5054-84F5374C70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028" y="3013"/>
                        <a:ext cx="4199" cy="4199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</p:grpSp>
                <p:grpSp>
                  <p:nvGrpSpPr>
                    <p:cNvPr id="107" name="组合 3">
                      <a:extLst>
                        <a:ext uri="{FF2B5EF4-FFF2-40B4-BE49-F238E27FC236}">
                          <a16:creationId xmlns:a16="http://schemas.microsoft.com/office/drawing/2014/main" id="{71ADA175-B304-9CEE-3485-5B4ADE2DA58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060" y="3473"/>
                      <a:ext cx="5081" cy="5043"/>
                      <a:chOff x="9364" y="2941"/>
                      <a:chExt cx="4302" cy="4270"/>
                    </a:xfrm>
                  </p:grpSpPr>
                  <p:pic>
                    <p:nvPicPr>
                      <p:cNvPr id="116" name="图片 45">
                        <a:extLst>
                          <a:ext uri="{FF2B5EF4-FFF2-40B4-BE49-F238E27FC236}">
                            <a16:creationId xmlns:a16="http://schemas.microsoft.com/office/drawing/2014/main" id="{06B3FD18-EB07-07FF-4654-2543D975DB46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18">
                        <a:grayscl/>
                      </a:blip>
                      <a:stretch>
                        <a:fillRect/>
                      </a:stretch>
                    </p:blipFill>
                    <p:spPr>
                      <a:xfrm>
                        <a:off x="9364" y="2941"/>
                        <a:ext cx="4303" cy="4271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117" name="椭圆 44">
                        <a:extLst>
                          <a:ext uri="{FF2B5EF4-FFF2-40B4-BE49-F238E27FC236}">
                            <a16:creationId xmlns:a16="http://schemas.microsoft.com/office/drawing/2014/main" id="{291CAE9C-343F-6D6E-A616-EC98AC66DF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57" y="3013"/>
                        <a:ext cx="4199" cy="4199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</p:grpSp>
                <p:grpSp>
                  <p:nvGrpSpPr>
                    <p:cNvPr id="108" name="组合 5">
                      <a:extLst>
                        <a:ext uri="{FF2B5EF4-FFF2-40B4-BE49-F238E27FC236}">
                          <a16:creationId xmlns:a16="http://schemas.microsoft.com/office/drawing/2014/main" id="{82AD0C8C-434B-F5CF-0D73-08C87DB91DA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298" y="3473"/>
                      <a:ext cx="5081" cy="5043"/>
                      <a:chOff x="13799" y="2941"/>
                      <a:chExt cx="4302" cy="4270"/>
                    </a:xfrm>
                  </p:grpSpPr>
                  <p:pic>
                    <p:nvPicPr>
                      <p:cNvPr id="114" name="图片 46">
                        <a:extLst>
                          <a:ext uri="{FF2B5EF4-FFF2-40B4-BE49-F238E27FC236}">
                            <a16:creationId xmlns:a16="http://schemas.microsoft.com/office/drawing/2014/main" id="{B335D981-7C34-EEE3-6FBB-BA69CE163E5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19">
                        <a:grayscl/>
                      </a:blip>
                      <a:stretch>
                        <a:fillRect/>
                      </a:stretch>
                    </p:blipFill>
                    <p:spPr>
                      <a:xfrm>
                        <a:off x="13799" y="2941"/>
                        <a:ext cx="4303" cy="4271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115" name="椭圆 47">
                        <a:extLst>
                          <a:ext uri="{FF2B5EF4-FFF2-40B4-BE49-F238E27FC236}">
                            <a16:creationId xmlns:a16="http://schemas.microsoft.com/office/drawing/2014/main" id="{7DE9C06F-30D3-5850-6F70-E3595D8BBD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3887" y="3013"/>
                        <a:ext cx="4199" cy="4199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09" name="TextBox 8">
                          <a:extLst>
                            <a:ext uri="{FF2B5EF4-FFF2-40B4-BE49-F238E27FC236}">
                              <a16:creationId xmlns:a16="http://schemas.microsoft.com/office/drawing/2014/main" id="{F87AACE2-C0EE-CC41-6C1C-92DF960B6D1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4972" y="2557"/>
                          <a:ext cx="6895" cy="946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595" i="1" smtClean="0">
                                    <a:latin typeface="Cambria Math" panose="02040503050406030204" pitchFamily="18" charset="0"/>
                                    <a:ea typeface="Cambria Math" panose="02040503050406030204" charset="0"/>
                                  </a:rPr>
                                  <m:t>𝜓</m:t>
                                </m:r>
                                <m:d>
                                  <m:dPr>
                                    <m:ctrlPr>
                                      <a:rPr lang="en-US" sz="1595" b="0" i="1" smtClean="0">
                                        <a:latin typeface="Cambria Math" panose="02040503050406030204" charset="0"/>
                                        <a:ea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595" b="0" i="1" smtClean="0">
                                        <a:latin typeface="Cambria Math" panose="02040503050406030204" charset="0"/>
                                        <a:ea typeface="Cambria Math" panose="02040503050406030204" charset="0"/>
                                      </a:rPr>
                                      <m:t>𝑟</m:t>
                                    </m:r>
                                  </m:e>
                                </m:d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595" b="0" i="0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logistic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𝛼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+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𝛽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∙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𝑟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595" b="0" i="1" dirty="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09" name="TextBox 8">
                          <a:extLst>
                            <a:ext uri="{FF2B5EF4-FFF2-40B4-BE49-F238E27FC236}">
                              <a16:creationId xmlns:a16="http://schemas.microsoft.com/office/drawing/2014/main" id="{F87AACE2-C0EE-CC41-6C1C-92DF960B6D1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4972" y="2557"/>
                          <a:ext cx="6895" cy="946"/>
                        </a:xfrm>
                        <a:prstGeom prst="rect">
                          <a:avLst/>
                        </a:prstGeom>
                        <a:blipFill>
                          <a:blip r:embed="rId20"/>
                          <a:stretch>
                            <a:fillRect b="-1272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110" name="文本框 60">
                      <a:extLst>
                        <a:ext uri="{FF2B5EF4-FFF2-40B4-BE49-F238E27FC236}">
                          <a16:creationId xmlns:a16="http://schemas.microsoft.com/office/drawing/2014/main" id="{9770B7B3-7279-025B-A112-AC93F90242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33" y="9322"/>
                      <a:ext cx="4928" cy="837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5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Edge constrained</a:t>
                      </a:r>
                    </a:p>
                  </p:txBody>
                </p:sp>
                <p:sp>
                  <p:nvSpPr>
                    <p:cNvPr id="111" name="文本框 53">
                      <a:extLst>
                        <a:ext uri="{FF2B5EF4-FFF2-40B4-BE49-F238E27FC236}">
                          <a16:creationId xmlns:a16="http://schemas.microsoft.com/office/drawing/2014/main" id="{378BE5AC-DD40-6232-9ADD-663A8576121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32" y="9302"/>
                      <a:ext cx="4734" cy="837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5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Uniformly Open</a:t>
                      </a:r>
                    </a:p>
                  </p:txBody>
                </p:sp>
                <p:sp>
                  <p:nvSpPr>
                    <p:cNvPr id="112" name="文本框 59">
                      <a:extLst>
                        <a:ext uri="{FF2B5EF4-FFF2-40B4-BE49-F238E27FC236}">
                          <a16:creationId xmlns:a16="http://schemas.microsoft.com/office/drawing/2014/main" id="{39538C1C-69E1-EB06-5CF2-5D4471BA0E8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422" y="9322"/>
                      <a:ext cx="4936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Locked</a:t>
                      </a:r>
                    </a:p>
                  </p:txBody>
                </p:sp>
                <p:sp>
                  <p:nvSpPr>
                    <p:cNvPr id="113" name="文本框 61">
                      <a:extLst>
                        <a:ext uri="{FF2B5EF4-FFF2-40B4-BE49-F238E27FC236}">
                          <a16:creationId xmlns:a16="http://schemas.microsoft.com/office/drawing/2014/main" id="{E72636EA-BF95-4CB0-89A2-AFB5FF69E07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095" y="9322"/>
                      <a:ext cx="5252" cy="837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5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Uniformly constrained</a:t>
                      </a:r>
                    </a:p>
                  </p:txBody>
                </p:sp>
              </p:grpSp>
              <p:grpSp>
                <p:nvGrpSpPr>
                  <p:cNvPr id="4152" name="组合 6">
                    <a:extLst>
                      <a:ext uri="{FF2B5EF4-FFF2-40B4-BE49-F238E27FC236}">
                        <a16:creationId xmlns:a16="http://schemas.microsoft.com/office/drawing/2014/main" id="{10E43E12-39CD-ECF9-77E5-89CA33E5C95E}"/>
                      </a:ext>
                    </a:extLst>
                  </p:cNvPr>
                  <p:cNvGrpSpPr/>
                  <p:nvPr/>
                </p:nvGrpSpPr>
                <p:grpSpPr>
                  <a:xfrm>
                    <a:off x="135" y="12295"/>
                    <a:ext cx="12032" cy="4206"/>
                    <a:chOff x="775" y="2672"/>
                    <a:chExt cx="21390" cy="7478"/>
                  </a:xfrm>
                </p:grpSpPr>
                <p:grpSp>
                  <p:nvGrpSpPr>
                    <p:cNvPr id="4155" name="组合 8">
                      <a:extLst>
                        <a:ext uri="{FF2B5EF4-FFF2-40B4-BE49-F238E27FC236}">
                          <a16:creationId xmlns:a16="http://schemas.microsoft.com/office/drawing/2014/main" id="{462B04BD-E533-19CD-40A0-4779AA687E2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75" y="2672"/>
                      <a:ext cx="21390" cy="6942"/>
                      <a:chOff x="1249" y="1289"/>
                      <a:chExt cx="21390" cy="6942"/>
                    </a:xfrm>
                  </p:grpSpPr>
                  <p:sp>
                    <p:nvSpPr>
                      <p:cNvPr id="65" name="Google Shape;421;p29">
                        <a:extLst>
                          <a:ext uri="{FF2B5EF4-FFF2-40B4-BE49-F238E27FC236}">
                            <a16:creationId xmlns:a16="http://schemas.microsoft.com/office/drawing/2014/main" id="{7AF11088-23BA-ABAC-2AF4-6D454CD6925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112" y="7170"/>
                        <a:ext cx="4043" cy="10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spcFirstLastPara="1" wrap="square" lIns="80960" tIns="80960" rIns="80960" bIns="80960" anchor="t" anchorCtr="0">
                        <a:spAutoFit/>
                      </a:bodyPr>
                      <a:lstStyle/>
                      <a:p>
                        <a:pPr lvl="0" algn="ctr"/>
                        <a:r>
                          <a:rPr lang="de-AT" sz="1420" dirty="0">
                            <a:solidFill>
                              <a:schemeClr val="dk1"/>
                            </a:solidFill>
                            <a:latin typeface="Arial" panose="020B0604020202020204" pitchFamily="34" charset="0"/>
                          </a:rPr>
                          <a:t>κ small δ large </a:t>
                        </a:r>
                        <a:endParaRPr sz="142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67" name="Google Shape;422;p29">
                        <a:extLst>
                          <a:ext uri="{FF2B5EF4-FFF2-40B4-BE49-F238E27FC236}">
                            <a16:creationId xmlns:a16="http://schemas.microsoft.com/office/drawing/2014/main" id="{BA22C9F9-BF3C-FB9B-5171-CADACE085CD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7905" y="7170"/>
                        <a:ext cx="4249" cy="10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spcFirstLastPara="1" wrap="square" lIns="80960" tIns="80960" rIns="80960" bIns="80960" anchor="t" anchorCtr="0">
                        <a:spAutoFit/>
                      </a:bodyPr>
                      <a:lstStyle/>
                      <a:p>
                        <a:pPr lvl="0" algn="ctr"/>
                        <a:r>
                          <a:rPr lang="de-AT" sz="1420" dirty="0">
                            <a:solidFill>
                              <a:schemeClr val="dk1"/>
                            </a:solidFill>
                            <a:latin typeface="Arial" panose="020B0604020202020204" pitchFamily="34" charset="0"/>
                          </a:rPr>
                          <a:t>κ large δ large </a:t>
                        </a:r>
                        <a:endParaRPr sz="142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69" name="Google Shape;423;p29">
                        <a:extLst>
                          <a:ext uri="{FF2B5EF4-FFF2-40B4-BE49-F238E27FC236}">
                            <a16:creationId xmlns:a16="http://schemas.microsoft.com/office/drawing/2014/main" id="{2BD8D195-8FDE-D8A9-7C20-EE7C7CD7FFA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714" y="7170"/>
                        <a:ext cx="4044" cy="10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spcFirstLastPara="1" wrap="square" lIns="80960" tIns="80960" rIns="80960" bIns="80960" anchor="t" anchorCtr="0">
                        <a:spAutoFit/>
                      </a:bodyPr>
                      <a:lstStyle/>
                      <a:p>
                        <a:pPr lvl="0" algn="ctr"/>
                        <a:r>
                          <a:rPr lang="de-AT" sz="1420" dirty="0">
                            <a:solidFill>
                              <a:schemeClr val="dk1"/>
                            </a:solidFill>
                            <a:latin typeface="Arial" panose="020B0604020202020204" pitchFamily="34" charset="0"/>
                          </a:rPr>
                          <a:t>κ small δ small </a:t>
                        </a:r>
                        <a:endParaRPr sz="142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70" name="Google Shape;424;p29">
                        <a:extLst>
                          <a:ext uri="{FF2B5EF4-FFF2-40B4-BE49-F238E27FC236}">
                            <a16:creationId xmlns:a16="http://schemas.microsoft.com/office/drawing/2014/main" id="{006FBC4A-2E35-DE49-A33B-8783F3636C1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2509" y="7170"/>
                        <a:ext cx="4043" cy="10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spcFirstLastPara="1" wrap="square" lIns="80960" tIns="80960" rIns="80960" bIns="80960" anchor="t" anchorCtr="0">
                        <a:spAutoFit/>
                      </a:bodyPr>
                      <a:lstStyle/>
                      <a:p>
                        <a:pPr lvl="0" algn="ctr"/>
                        <a:r>
                          <a:rPr lang="de-AT" sz="1420" dirty="0">
                            <a:solidFill>
                              <a:schemeClr val="dk1"/>
                            </a:solidFill>
                            <a:latin typeface="Arial" panose="020B0604020202020204" pitchFamily="34" charset="0"/>
                          </a:rPr>
                          <a:t>κ large δ small </a:t>
                        </a:r>
                        <a:endParaRPr sz="142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71" name="TextBox 12">
                        <a:extLst>
                          <a:ext uri="{FF2B5EF4-FFF2-40B4-BE49-F238E27FC236}">
                            <a16:creationId xmlns:a16="http://schemas.microsoft.com/office/drawing/2014/main" id="{8C41D3A3-ABA6-1E1D-3BDA-38FEDAADB5B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886" y="1378"/>
                        <a:ext cx="2508" cy="71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sz="1065" dirty="0">
                            <a:latin typeface="Arial" panose="020B0604020202020204" pitchFamily="34" charset="0"/>
                          </a:rPr>
                          <a:t>Buildings</a:t>
                        </a:r>
                      </a:p>
                    </p:txBody>
                  </p:sp>
                  <p:sp>
                    <p:nvSpPr>
                      <p:cNvPr id="79" name="TextBox 98">
                        <a:extLst>
                          <a:ext uri="{FF2B5EF4-FFF2-40B4-BE49-F238E27FC236}">
                            <a16:creationId xmlns:a16="http://schemas.microsoft.com/office/drawing/2014/main" id="{C6D1AEF9-DE7F-6F6F-A4C6-C1169E6BC12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1123" y="1379"/>
                        <a:ext cx="5239" cy="71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sz="1065" dirty="0">
                            <a:latin typeface="Arial" panose="020B0604020202020204" pitchFamily="34" charset="0"/>
                          </a:rPr>
                          <a:t>Constructable Area</a:t>
                        </a:r>
                      </a:p>
                    </p:txBody>
                  </p:sp>
                  <p:sp>
                    <p:nvSpPr>
                      <p:cNvPr id="80" name="矩形 11">
                        <a:extLst>
                          <a:ext uri="{FF2B5EF4-FFF2-40B4-BE49-F238E27FC236}">
                            <a16:creationId xmlns:a16="http://schemas.microsoft.com/office/drawing/2014/main" id="{45D7F29A-F401-61D2-8FC3-8D80B4B492F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073" y="1357"/>
                        <a:ext cx="813" cy="813"/>
                      </a:xfrm>
                      <a:prstGeom prst="rect">
                        <a:avLst/>
                      </a:prstGeom>
                      <a:solidFill>
                        <a:srgbClr val="69A2BC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  <p:sp>
                    <p:nvSpPr>
                      <p:cNvPr id="81" name="矩形 12">
                        <a:extLst>
                          <a:ext uri="{FF2B5EF4-FFF2-40B4-BE49-F238E27FC236}">
                            <a16:creationId xmlns:a16="http://schemas.microsoft.com/office/drawing/2014/main" id="{1A41B0B6-B570-E309-C7EA-6EDCB3D7127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09" y="1355"/>
                        <a:ext cx="813" cy="8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317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  <p:grpSp>
                    <p:nvGrpSpPr>
                      <p:cNvPr id="82" name="组合 13">
                        <a:extLst>
                          <a:ext uri="{FF2B5EF4-FFF2-40B4-BE49-F238E27FC236}">
                            <a16:creationId xmlns:a16="http://schemas.microsoft.com/office/drawing/2014/main" id="{4E455990-F810-0579-32F2-69474A40D76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249" y="2420"/>
                        <a:ext cx="4974" cy="4859"/>
                        <a:chOff x="1057" y="2049"/>
                        <a:chExt cx="4212" cy="4114"/>
                      </a:xfrm>
                    </p:grpSpPr>
                    <p:pic>
                      <p:nvPicPr>
                        <p:cNvPr id="95" name="图片 14">
                          <a:extLst>
                            <a:ext uri="{FF2B5EF4-FFF2-40B4-BE49-F238E27FC236}">
                              <a16:creationId xmlns:a16="http://schemas.microsoft.com/office/drawing/2014/main" id="{A5589235-9844-9A23-72F4-BA385EA05E4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1">
                          <a:clrChange>
                            <a:clrFrom>
                              <a:srgbClr val="F7F7F7">
                                <a:alpha val="100000"/>
                              </a:srgbClr>
                            </a:clrFrom>
                            <a:clrTo>
                              <a:srgbClr val="F7F7F7">
                                <a:alpha val="100000"/>
                                <a:alpha val="0"/>
                              </a:srgbClr>
                            </a:clrTo>
                          </a:clrChange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057" y="2049"/>
                          <a:ext cx="4212" cy="4115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96" name="椭圆 26">
                          <a:extLst>
                            <a:ext uri="{FF2B5EF4-FFF2-40B4-BE49-F238E27FC236}">
                              <a16:creationId xmlns:a16="http://schemas.microsoft.com/office/drawing/2014/main" id="{7717800D-181F-4B86-8A61-9BD48A82B9E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280" y="2210"/>
                          <a:ext cx="3862" cy="3862"/>
                        </a:xfrm>
                        <a:prstGeom prst="ellipse">
                          <a:avLst/>
                        </a:prstGeom>
                        <a:noFill/>
                        <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</a:extLst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 sz="100"/>
                        </a:p>
                      </p:txBody>
                    </p:sp>
                  </p:grpSp>
                  <p:grpSp>
                    <p:nvGrpSpPr>
                      <p:cNvPr id="83" name="组合 15">
                        <a:extLst>
                          <a:ext uri="{FF2B5EF4-FFF2-40B4-BE49-F238E27FC236}">
                            <a16:creationId xmlns:a16="http://schemas.microsoft.com/office/drawing/2014/main" id="{F4A7A386-F0E6-A0F0-20F3-3886655A554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580" y="2420"/>
                        <a:ext cx="4974" cy="4859"/>
                        <a:chOff x="5571" y="2049"/>
                        <a:chExt cx="4212" cy="4114"/>
                      </a:xfrm>
                    </p:grpSpPr>
                    <p:pic>
                      <p:nvPicPr>
                        <p:cNvPr id="93" name="图片 16">
                          <a:extLst>
                            <a:ext uri="{FF2B5EF4-FFF2-40B4-BE49-F238E27FC236}">
                              <a16:creationId xmlns:a16="http://schemas.microsoft.com/office/drawing/2014/main" id="{3F4A5A07-07EF-6847-501F-DB2E4B3E869A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2">
                          <a:clrChange>
                            <a:clrFrom>
                              <a:srgbClr val="F7F7F7">
                                <a:alpha val="100000"/>
                              </a:srgbClr>
                            </a:clrFrom>
                            <a:clrTo>
                              <a:srgbClr val="F7F7F7">
                                <a:alpha val="100000"/>
                                <a:alpha val="0"/>
                              </a:srgbClr>
                            </a:clrTo>
                          </a:clrChange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5571" y="2049"/>
                          <a:ext cx="4212" cy="4115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94" name="椭圆 27">
                          <a:extLst>
                            <a:ext uri="{FF2B5EF4-FFF2-40B4-BE49-F238E27FC236}">
                              <a16:creationId xmlns:a16="http://schemas.microsoft.com/office/drawing/2014/main" id="{573A4951-B56E-CF3F-BFCD-71D1E467548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813" y="2210"/>
                          <a:ext cx="3862" cy="3862"/>
                        </a:xfrm>
                        <a:prstGeom prst="ellipse">
                          <a:avLst/>
                        </a:prstGeom>
                        <a:noFill/>
                        <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</a:extLst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 sz="100"/>
                        </a:p>
                      </p:txBody>
                    </p:sp>
                  </p:grpSp>
                  <p:grpSp>
                    <p:nvGrpSpPr>
                      <p:cNvPr id="84" name="组合 17">
                        <a:extLst>
                          <a:ext uri="{FF2B5EF4-FFF2-40B4-BE49-F238E27FC236}">
                            <a16:creationId xmlns:a16="http://schemas.microsoft.com/office/drawing/2014/main" id="{E340FC0E-00F5-4D3F-C56C-FD4057C10B0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1910" y="2420"/>
                        <a:ext cx="4974" cy="4859"/>
                        <a:chOff x="10084" y="2049"/>
                        <a:chExt cx="4212" cy="4114"/>
                      </a:xfrm>
                    </p:grpSpPr>
                    <p:pic>
                      <p:nvPicPr>
                        <p:cNvPr id="91" name="图片 19">
                          <a:extLst>
                            <a:ext uri="{FF2B5EF4-FFF2-40B4-BE49-F238E27FC236}">
                              <a16:creationId xmlns:a16="http://schemas.microsoft.com/office/drawing/2014/main" id="{4042C26F-D68F-474E-9FCA-4DAC1C3823DD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3">
                          <a:clrChange>
                            <a:clrFrom>
                              <a:srgbClr val="F7F7F7">
                                <a:alpha val="100000"/>
                              </a:srgbClr>
                            </a:clrFrom>
                            <a:clrTo>
                              <a:srgbClr val="F7F7F7">
                                <a:alpha val="100000"/>
                                <a:alpha val="0"/>
                              </a:srgbClr>
                            </a:clrTo>
                          </a:clrChange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0084" y="2049"/>
                          <a:ext cx="4212" cy="4115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92" name="椭圆 21">
                          <a:extLst>
                            <a:ext uri="{FF2B5EF4-FFF2-40B4-BE49-F238E27FC236}">
                              <a16:creationId xmlns:a16="http://schemas.microsoft.com/office/drawing/2014/main" id="{2F7D331C-E351-97AE-4B66-BDCDEE18C57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347" y="2210"/>
                          <a:ext cx="3862" cy="3862"/>
                        </a:xfrm>
                        <a:prstGeom prst="ellipse">
                          <a:avLst/>
                        </a:prstGeom>
                        <a:noFill/>
                        <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</a:extLst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 sz="100"/>
                        </a:p>
                      </p:txBody>
                    </p:sp>
                  </p:grpSp>
                  <p:grpSp>
                    <p:nvGrpSpPr>
                      <p:cNvPr id="85" name="组合 22">
                        <a:extLst>
                          <a:ext uri="{FF2B5EF4-FFF2-40B4-BE49-F238E27FC236}">
                            <a16:creationId xmlns:a16="http://schemas.microsoft.com/office/drawing/2014/main" id="{C714817A-8686-B672-6743-5B0D4D20B98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7241" y="2420"/>
                        <a:ext cx="4974" cy="4859"/>
                        <a:chOff x="14598" y="2049"/>
                        <a:chExt cx="4212" cy="4114"/>
                      </a:xfrm>
                    </p:grpSpPr>
                    <p:pic>
                      <p:nvPicPr>
                        <p:cNvPr id="89" name="图片 23">
                          <a:extLst>
                            <a:ext uri="{FF2B5EF4-FFF2-40B4-BE49-F238E27FC236}">
                              <a16:creationId xmlns:a16="http://schemas.microsoft.com/office/drawing/2014/main" id="{DBFD864E-A845-A2F2-65B1-A119638E065B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4">
                          <a:clrChange>
                            <a:clrFrom>
                              <a:srgbClr val="F7F7F7">
                                <a:alpha val="100000"/>
                              </a:srgbClr>
                            </a:clrFrom>
                            <a:clrTo>
                              <a:srgbClr val="F7F7F7">
                                <a:alpha val="100000"/>
                                <a:alpha val="0"/>
                              </a:srgbClr>
                            </a:clrTo>
                          </a:clrChange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4598" y="2049"/>
                          <a:ext cx="4212" cy="4115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90" name="椭圆 29">
                          <a:extLst>
                            <a:ext uri="{FF2B5EF4-FFF2-40B4-BE49-F238E27FC236}">
                              <a16:creationId xmlns:a16="http://schemas.microsoft.com/office/drawing/2014/main" id="{EB2905AC-5619-76F9-C2A4-97E2CD0A494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4880" y="2210"/>
                          <a:ext cx="3862" cy="3862"/>
                        </a:xfrm>
                        <a:prstGeom prst="ellipse">
                          <a:avLst/>
                        </a:prstGeom>
                        <a:noFill/>
                        <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</a:extLst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 sz="100"/>
                        </a:p>
                      </p:txBody>
                    </p:sp>
                  </p:grpSp>
                  <p:sp>
                    <p:nvSpPr>
                      <p:cNvPr id="86" name="TextBox 12">
                        <a:extLst>
                          <a:ext uri="{FF2B5EF4-FFF2-40B4-BE49-F238E27FC236}">
                            <a16:creationId xmlns:a16="http://schemas.microsoft.com/office/drawing/2014/main" id="{D51D85F4-BF62-408B-0672-8BA388086A2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570" y="1378"/>
                        <a:ext cx="3374" cy="71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sz="1065" dirty="0">
                            <a:latin typeface="Arial" panose="020B0604020202020204" pitchFamily="34" charset="0"/>
                          </a:rPr>
                          <a:t>Structural Zeros</a:t>
                        </a:r>
                      </a:p>
                    </p:txBody>
                  </p:sp>
                  <p:sp>
                    <p:nvSpPr>
                      <p:cNvPr id="87" name="矩形 25">
                        <a:extLst>
                          <a:ext uri="{FF2B5EF4-FFF2-40B4-BE49-F238E27FC236}">
                            <a16:creationId xmlns:a16="http://schemas.microsoft.com/office/drawing/2014/main" id="{D565E2D0-FD3E-DD21-8BFB-884EE2C6E6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68" y="1357"/>
                        <a:ext cx="813" cy="813"/>
                      </a:xfrm>
                      <a:prstGeom prst="rect">
                        <a:avLst/>
                      </a:prstGeom>
                      <a:solidFill>
                        <a:srgbClr val="BFBFBF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88" name="文本框 87">
                            <a:extLst>
                              <a:ext uri="{FF2B5EF4-FFF2-40B4-BE49-F238E27FC236}">
                                <a16:creationId xmlns:a16="http://schemas.microsoft.com/office/drawing/2014/main" id="{193E3D9E-E7D2-EC82-ECAD-B1ACD757F5C9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15395" y="1289"/>
                            <a:ext cx="7244" cy="944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 anchor="t">
                            <a:spAutoFit/>
                          </a:bodyPr>
                          <a:lstStyle/>
                          <a:p>
                            <a:pPr marL="0" indent="0">
                              <a:lnSpc>
                                <a:spcPct val="100000"/>
                              </a:lnSpc>
                              <a:spcBef>
                                <a:spcPts val="1200"/>
                              </a:spcBef>
                              <a:buFont typeface="Wingdings" panose="05000000000000000000" charset="0"/>
                              <a:buNone/>
                            </a:pPr>
                            <a14:m>
                              <m:oMath xmlns:m="http://schemas.openxmlformats.org/officeDocument/2006/math"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𝜋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 (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𝑟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)=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595" i="0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logistic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ea typeface="Cambria Math" panose="02040503050406030204" charset="0"/>
                                    <a:cs typeface="Cambria Math" panose="02040503050406030204" charset="0"/>
                                  </a:rPr>
                                  <m:t>𝜅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ea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ea typeface="Cambria Math" panose="02040503050406030204" charset="0"/>
                                    <a:cs typeface="Cambria Math" panose="02040503050406030204" charset="0"/>
                                  </a:rPr>
                                  <m:t>𝛿</m:t>
                                </m:r>
                                <m:r>
                                  <a:rPr lang="en-US" sz="15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∙</m:t>
                                </m:r>
                                <m:r>
                                  <a:rPr lang="en-US" sz="15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𝑟</m:t>
                                </m:r>
                                <m:r>
                                  <a:rPr lang="en-US" sz="15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 </m:t>
                                </m:r>
                              </m:oMath>
                            </a14:m>
                            <a:r>
                              <a:rPr lang="en-US" sz="1595" dirty="0">
                                <a:latin typeface="Arial" panose="020B0604020202020204" pitchFamily="34" charset="0"/>
                                <a:cs typeface="Arial" panose="020B0604020202020204" pitchFamily="34" charset="0"/>
                                <a:sym typeface="+mn-ea"/>
                              </a:rPr>
                              <a:t> </a:t>
                            </a:r>
                            <a:endParaRPr lang="en-US" altLang="en-US" sz="1595" dirty="0">
                              <a:latin typeface="Arial" panose="020B0604020202020204" pitchFamily="34" charset="0"/>
                              <a:cs typeface="Arial" panose="020B0604020202020204" pitchFamily="34" charset="0"/>
                              <a:sym typeface="+mn-ea"/>
                            </a:endParaRPr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88" name="文本框 87">
                            <a:extLst>
                              <a:ext uri="{FF2B5EF4-FFF2-40B4-BE49-F238E27FC236}">
                                <a16:creationId xmlns:a16="http://schemas.microsoft.com/office/drawing/2014/main" id="{193E3D9E-E7D2-EC82-ECAD-B1ACD757F5C9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15395" y="1289"/>
                            <a:ext cx="7244" cy="944"/>
                          </a:xfrm>
                          <a:prstGeom prst="rect">
                            <a:avLst/>
                          </a:prstGeom>
                          <a:blipFill>
                            <a:blip r:embed="rId25"/>
                            <a:stretch>
                              <a:fillRect b="-10714"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</p:grpSp>
                <p:sp>
                  <p:nvSpPr>
                    <p:cNvPr id="4156" name="文本框 34">
                      <a:extLst>
                        <a:ext uri="{FF2B5EF4-FFF2-40B4-BE49-F238E27FC236}">
                          <a16:creationId xmlns:a16="http://schemas.microsoft.com/office/drawing/2014/main" id="{ECD30F9B-CE5B-154B-560F-9C0BEA0C5C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703" y="9322"/>
                      <a:ext cx="4100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Thinly built</a:t>
                      </a:r>
                    </a:p>
                  </p:txBody>
                </p:sp>
                <p:sp>
                  <p:nvSpPr>
                    <p:cNvPr id="4157" name="文本框 35">
                      <a:extLst>
                        <a:ext uri="{FF2B5EF4-FFF2-40B4-BE49-F238E27FC236}">
                          <a16:creationId xmlns:a16="http://schemas.microsoft.com/office/drawing/2014/main" id="{CECF0B86-6A6A-7060-E6B6-5B16F34AB97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50" y="9322"/>
                      <a:ext cx="4604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Uniformly sparse</a:t>
                      </a:r>
                    </a:p>
                  </p:txBody>
                </p:sp>
                <p:sp>
                  <p:nvSpPr>
                    <p:cNvPr id="4158" name="文本框 40">
                      <a:extLst>
                        <a:ext uri="{FF2B5EF4-FFF2-40B4-BE49-F238E27FC236}">
                          <a16:creationId xmlns:a16="http://schemas.microsoft.com/office/drawing/2014/main" id="{4F35D039-9738-6D64-8C45-B48EFD7FC0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634" y="9322"/>
                      <a:ext cx="3810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Core-dense</a:t>
                      </a:r>
                    </a:p>
                  </p:txBody>
                </p:sp>
                <p:sp>
                  <p:nvSpPr>
                    <p:cNvPr id="4159" name="文本框 41">
                      <a:extLst>
                        <a:ext uri="{FF2B5EF4-FFF2-40B4-BE49-F238E27FC236}">
                          <a16:creationId xmlns:a16="http://schemas.microsoft.com/office/drawing/2014/main" id="{A95C4265-0827-59D3-7251-FC3F84AB635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759" y="9322"/>
                      <a:ext cx="4599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Uniformly dense</a:t>
                      </a:r>
                    </a:p>
                  </p:txBody>
                </p:sp>
              </p:grpSp>
              <p:sp>
                <p:nvSpPr>
                  <p:cNvPr id="4153" name="文本框 48">
                    <a:extLst>
                      <a:ext uri="{FF2B5EF4-FFF2-40B4-BE49-F238E27FC236}">
                        <a16:creationId xmlns:a16="http://schemas.microsoft.com/office/drawing/2014/main" id="{EEEBD3BF-3442-EA5B-5B3B-6B46AC0E1C1C}"/>
                      </a:ext>
                    </a:extLst>
                  </p:cNvPr>
                  <p:cNvSpPr txBox="1"/>
                  <p:nvPr/>
                </p:nvSpPr>
                <p:spPr>
                  <a:xfrm>
                    <a:off x="448" y="6382"/>
                    <a:ext cx="6795" cy="5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dirty="0"/>
                      <a:t>(a)</a:t>
                    </a:r>
                    <a:r>
                      <a:rPr lang="zh-CN" altLang="en-US" dirty="0"/>
                      <a:t> </a:t>
                    </a:r>
                    <a:r>
                      <a:rPr lang="en-US" altLang="zh-CN" dirty="0"/>
                      <a:t>Horizontal Constraints Types</a:t>
                    </a:r>
                  </a:p>
                </p:txBody>
              </p:sp>
              <p:sp>
                <p:nvSpPr>
                  <p:cNvPr id="4154" name="文本框 49">
                    <a:extLst>
                      <a:ext uri="{FF2B5EF4-FFF2-40B4-BE49-F238E27FC236}">
                        <a16:creationId xmlns:a16="http://schemas.microsoft.com/office/drawing/2014/main" id="{DCED6F41-04F9-BEF1-6980-D9B6E2520BA9}"/>
                      </a:ext>
                    </a:extLst>
                  </p:cNvPr>
                  <p:cNvSpPr txBox="1"/>
                  <p:nvPr/>
                </p:nvSpPr>
                <p:spPr>
                  <a:xfrm>
                    <a:off x="528" y="11577"/>
                    <a:ext cx="6795" cy="5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dirty="0"/>
                      <a:t>(b) Horizontal Construction Types</a:t>
                    </a:r>
                  </a:p>
                </p:txBody>
              </p:sp>
            </p:grpSp>
          </p:grpSp>
          <p:grpSp>
            <p:nvGrpSpPr>
              <p:cNvPr id="30" name="组合 9">
                <a:extLst>
                  <a:ext uri="{FF2B5EF4-FFF2-40B4-BE49-F238E27FC236}">
                    <a16:creationId xmlns:a16="http://schemas.microsoft.com/office/drawing/2014/main" id="{A90C9F71-906E-9AE7-834A-2B96F85F2121}"/>
                  </a:ext>
                </a:extLst>
              </p:cNvPr>
              <p:cNvGrpSpPr/>
              <p:nvPr/>
            </p:nvGrpSpPr>
            <p:grpSpPr>
              <a:xfrm>
                <a:off x="3348995" y="8349748"/>
                <a:ext cx="7555285" cy="2620287"/>
                <a:chOff x="398" y="8731"/>
                <a:chExt cx="11898" cy="4126"/>
              </a:xfrm>
            </p:grpSpPr>
            <p:grpSp>
              <p:nvGrpSpPr>
                <p:cNvPr id="36" name="组合 77">
                  <a:extLst>
                    <a:ext uri="{FF2B5EF4-FFF2-40B4-BE49-F238E27FC236}">
                      <a16:creationId xmlns:a16="http://schemas.microsoft.com/office/drawing/2014/main" id="{6B1A4D8C-07DE-B785-76A0-4D9B243541DE}"/>
                    </a:ext>
                  </a:extLst>
                </p:cNvPr>
                <p:cNvGrpSpPr/>
                <p:nvPr/>
              </p:nvGrpSpPr>
              <p:grpSpPr>
                <a:xfrm>
                  <a:off x="430" y="9118"/>
                  <a:ext cx="11866" cy="3739"/>
                  <a:chOff x="647" y="2057"/>
                  <a:chExt cx="17861" cy="5629"/>
                </a:xfrm>
              </p:grpSpPr>
              <p:grpSp>
                <p:nvGrpSpPr>
                  <p:cNvPr id="43" name="组合 72">
                    <a:extLst>
                      <a:ext uri="{FF2B5EF4-FFF2-40B4-BE49-F238E27FC236}">
                        <a16:creationId xmlns:a16="http://schemas.microsoft.com/office/drawing/2014/main" id="{A005AE9D-057A-AB7F-B31E-F93705ABDA16}"/>
                      </a:ext>
                    </a:extLst>
                  </p:cNvPr>
                  <p:cNvGrpSpPr/>
                  <p:nvPr/>
                </p:nvGrpSpPr>
                <p:grpSpPr>
                  <a:xfrm>
                    <a:off x="647" y="2057"/>
                    <a:ext cx="3551" cy="5629"/>
                    <a:chOff x="647" y="2057"/>
                    <a:chExt cx="3551" cy="5629"/>
                  </a:xfrm>
                </p:grpSpPr>
                <p:sp>
                  <p:nvSpPr>
                    <p:cNvPr id="4139" name="TextBox 264">
                      <a:extLst>
                        <a:ext uri="{FF2B5EF4-FFF2-40B4-BE49-F238E27FC236}">
                          <a16:creationId xmlns:a16="http://schemas.microsoft.com/office/drawing/2014/main" id="{55581D6C-685D-B63C-F573-3503187FC24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7" y="4712"/>
                      <a:ext cx="3551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t" anchorCtr="0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C&gt;0, B&gt;0</a:t>
                      </a:r>
                    </a:p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“Bowl” City</a:t>
                      </a:r>
                    </a:p>
                  </p:txBody>
                </p:sp>
                <p:grpSp>
                  <p:nvGrpSpPr>
                    <p:cNvPr id="4140" name="组合 25">
                      <a:extLst>
                        <a:ext uri="{FF2B5EF4-FFF2-40B4-BE49-F238E27FC236}">
                          <a16:creationId xmlns:a16="http://schemas.microsoft.com/office/drawing/2014/main" id="{A8D381BE-0C07-3D5B-4CD9-6762A4A324A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94" y="5693"/>
                      <a:ext cx="2657" cy="1993"/>
                      <a:chOff x="3202" y="5108"/>
                      <a:chExt cx="2657" cy="1993"/>
                    </a:xfrm>
                  </p:grpSpPr>
                  <p:cxnSp>
                    <p:nvCxnSpPr>
                      <p:cNvPr id="4142" name="直接箭头连接符 7">
                        <a:extLst>
                          <a:ext uri="{FF2B5EF4-FFF2-40B4-BE49-F238E27FC236}">
                            <a16:creationId xmlns:a16="http://schemas.microsoft.com/office/drawing/2014/main" id="{B9DDD68F-1610-4BEF-159A-61EA6341886E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3755" y="5227"/>
                        <a:ext cx="0" cy="1545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143" name="直接箭头连接符 8">
                        <a:extLst>
                          <a:ext uri="{FF2B5EF4-FFF2-40B4-BE49-F238E27FC236}">
                            <a16:creationId xmlns:a16="http://schemas.microsoft.com/office/drawing/2014/main" id="{0836401A-4A3D-4034-A96F-166207C78FD5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3755" y="6786"/>
                        <a:ext cx="1740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4144" name="任意多边形 12">
                        <a:extLst>
                          <a:ext uri="{FF2B5EF4-FFF2-40B4-BE49-F238E27FC236}">
                            <a16:creationId xmlns:a16="http://schemas.microsoft.com/office/drawing/2014/main" id="{70F47C13-D482-E2CD-FCB4-D41FC48AE9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755" y="5568"/>
                        <a:ext cx="1606" cy="503"/>
                      </a:xfrm>
                      <a:custGeom>
                        <a:avLst/>
                        <a:gdLst>
                          <a:gd name="connsiteX0" fmla="*/ 0 w 7905"/>
                          <a:gd name="connsiteY0" fmla="*/ 2460 h 2476"/>
                          <a:gd name="connsiteX1" fmla="*/ 7905 w 7905"/>
                          <a:gd name="connsiteY1" fmla="*/ 0 h 247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</a:cxnLst>
                        <a:rect l="l" t="t" r="r" b="b"/>
                        <a:pathLst>
                          <a:path w="7905" h="2477">
                            <a:moveTo>
                              <a:pt x="0" y="2460"/>
                            </a:moveTo>
                            <a:cubicBezTo>
                              <a:pt x="4710" y="2655"/>
                              <a:pt x="7095" y="1095"/>
                              <a:pt x="7905" y="0"/>
                            </a:cubicBezTo>
                          </a:path>
                        </a:pathLst>
                      </a:cu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195"/>
                      </a:p>
                    </p:txBody>
                  </p:sp>
                  <p:grpSp>
                    <p:nvGrpSpPr>
                      <p:cNvPr id="4145" name="组合 17">
                        <a:extLst>
                          <a:ext uri="{FF2B5EF4-FFF2-40B4-BE49-F238E27FC236}">
                            <a16:creationId xmlns:a16="http://schemas.microsoft.com/office/drawing/2014/main" id="{6092A1E0-1693-7D09-6913-3FB06F45EC6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3202" y="5108"/>
                        <a:ext cx="2657" cy="1993"/>
                        <a:chOff x="3202" y="5108"/>
                        <a:chExt cx="2657" cy="1993"/>
                      </a:xfrm>
                    </p:grpSpPr>
                    <p:sp>
                      <p:nvSpPr>
                        <p:cNvPr id="4146" name="TextBox 256">
                          <a:extLst>
                            <a:ext uri="{FF2B5EF4-FFF2-40B4-BE49-F238E27FC236}">
                              <a16:creationId xmlns:a16="http://schemas.microsoft.com/office/drawing/2014/main" id="{7F88CA1D-7587-5272-9B33-2124E9A89C2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320" y="6496"/>
                          <a:ext cx="613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fontAlgn="auto"/>
                          <a:r>
                            <a:rPr lang="en-US" sz="1065" noProof="1">
                              <a:latin typeface="Arial" panose="020B0604020202020204" pitchFamily="34" charset="0"/>
                              <a:ea typeface="+mn-ea"/>
                              <a:cs typeface="Arial" panose="020B0604020202020204" pitchFamily="34" charset="0"/>
                            </a:rPr>
                            <a:t>0</a:t>
                          </a:r>
                        </a:p>
                      </p:txBody>
                    </p:sp>
                    <p:sp>
                      <p:nvSpPr>
                        <p:cNvPr id="4147" name="文本框 13">
                          <a:extLst>
                            <a:ext uri="{FF2B5EF4-FFF2-40B4-BE49-F238E27FC236}">
                              <a16:creationId xmlns:a16="http://schemas.microsoft.com/office/drawing/2014/main" id="{3BBC562E-FF3F-7329-E821-8BE6E96A6534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202" y="5108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H</a:t>
                          </a:r>
                        </a:p>
                      </p:txBody>
                    </p:sp>
                    <p:sp>
                      <p:nvSpPr>
                        <p:cNvPr id="4148" name="文本框 14">
                          <a:extLst>
                            <a:ext uri="{FF2B5EF4-FFF2-40B4-BE49-F238E27FC236}">
                              <a16:creationId xmlns:a16="http://schemas.microsoft.com/office/drawing/2014/main" id="{5DDFAB55-96D6-90C5-3BE3-A550677F58E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413" y="6496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r</a:t>
                          </a:r>
                        </a:p>
                      </p:txBody>
                    </p:sp>
                  </p:grpSp>
                </p:grpSp>
                <p:pic>
                  <p:nvPicPr>
                    <p:cNvPr id="4141" name="图片 15">
                      <a:extLst>
                        <a:ext uri="{FF2B5EF4-FFF2-40B4-BE49-F238E27FC236}">
                          <a16:creationId xmlns:a16="http://schemas.microsoft.com/office/drawing/2014/main" id="{3BDFFF4B-092D-74D6-D124-DA7D46C0684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48000"/>
                    </a:blip>
                    <a:stretch>
                      <a:fillRect/>
                    </a:stretch>
                  </p:blipFill>
                  <p:spPr>
                    <a:xfrm>
                      <a:off x="647" y="2057"/>
                      <a:ext cx="3441" cy="2731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</p:grpSp>
              <p:grpSp>
                <p:nvGrpSpPr>
                  <p:cNvPr id="44" name="组合 74">
                    <a:extLst>
                      <a:ext uri="{FF2B5EF4-FFF2-40B4-BE49-F238E27FC236}">
                        <a16:creationId xmlns:a16="http://schemas.microsoft.com/office/drawing/2014/main" id="{4F869F3F-C066-73F0-84C1-50A06AB6F678}"/>
                      </a:ext>
                    </a:extLst>
                  </p:cNvPr>
                  <p:cNvGrpSpPr/>
                  <p:nvPr/>
                </p:nvGrpSpPr>
                <p:grpSpPr>
                  <a:xfrm>
                    <a:off x="7659" y="2455"/>
                    <a:ext cx="3661" cy="5231"/>
                    <a:chOff x="7722" y="2455"/>
                    <a:chExt cx="3661" cy="5231"/>
                  </a:xfrm>
                </p:grpSpPr>
                <p:pic>
                  <p:nvPicPr>
                    <p:cNvPr id="4129" name="图片 1">
                      <a:extLst>
                        <a:ext uri="{FF2B5EF4-FFF2-40B4-BE49-F238E27FC236}">
                          <a16:creationId xmlns:a16="http://schemas.microsoft.com/office/drawing/2014/main" id="{C75ACCF9-681F-F81A-0696-DDE0AF2DB18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7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36000"/>
                    </a:blip>
                    <a:stretch>
                      <a:fillRect/>
                    </a:stretch>
                  </p:blipFill>
                  <p:spPr>
                    <a:xfrm>
                      <a:off x="7722" y="2455"/>
                      <a:ext cx="3470" cy="2199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  <p:sp>
                  <p:nvSpPr>
                    <p:cNvPr id="4130" name="文本框 2">
                      <a:extLst>
                        <a:ext uri="{FF2B5EF4-FFF2-40B4-BE49-F238E27FC236}">
                          <a16:creationId xmlns:a16="http://schemas.microsoft.com/office/drawing/2014/main" id="{271D9EDE-7E2C-E9DD-2AF3-3690BB2E9C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740" y="4712"/>
                      <a:ext cx="3643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C=0, B=0</a:t>
                      </a:r>
                    </a:p>
                    <a:p>
                      <a:pPr algn="ctr"/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“Pancake” City</a:t>
                      </a:r>
                    </a:p>
                  </p:txBody>
                </p:sp>
                <p:grpSp>
                  <p:nvGrpSpPr>
                    <p:cNvPr id="4131" name="组合 22">
                      <a:extLst>
                        <a:ext uri="{FF2B5EF4-FFF2-40B4-BE49-F238E27FC236}">
                          <a16:creationId xmlns:a16="http://schemas.microsoft.com/office/drawing/2014/main" id="{4440B564-D30C-695E-338E-E894A348587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233" y="5693"/>
                      <a:ext cx="2657" cy="1993"/>
                      <a:chOff x="5687" y="5068"/>
                      <a:chExt cx="2657" cy="1993"/>
                    </a:xfrm>
                  </p:grpSpPr>
                  <p:cxnSp>
                    <p:nvCxnSpPr>
                      <p:cNvPr id="4132" name="直接箭头连接符 3">
                        <a:extLst>
                          <a:ext uri="{FF2B5EF4-FFF2-40B4-BE49-F238E27FC236}">
                            <a16:creationId xmlns:a16="http://schemas.microsoft.com/office/drawing/2014/main" id="{766DF57F-C36E-A988-43ED-F9AE04037A06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6221" y="5213"/>
                        <a:ext cx="0" cy="1545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133" name="直接箭头连接符 4">
                        <a:extLst>
                          <a:ext uri="{FF2B5EF4-FFF2-40B4-BE49-F238E27FC236}">
                            <a16:creationId xmlns:a16="http://schemas.microsoft.com/office/drawing/2014/main" id="{7DB9F130-767D-679D-5830-2455AF5B749E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6221" y="6772"/>
                        <a:ext cx="1740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134" name="直接连接符 5">
                        <a:extLst>
                          <a:ext uri="{FF2B5EF4-FFF2-40B4-BE49-F238E27FC236}">
                            <a16:creationId xmlns:a16="http://schemas.microsoft.com/office/drawing/2014/main" id="{BCC0D799-6A77-4C4E-E411-59B1B0FB3910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6236" y="6085"/>
                        <a:ext cx="1665" cy="0"/>
                      </a:xfrm>
                      <a:prstGeom prst="line">
                        <a:avLst/>
                      </a:pr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4135" name="组合 18">
                        <a:extLst>
                          <a:ext uri="{FF2B5EF4-FFF2-40B4-BE49-F238E27FC236}">
                            <a16:creationId xmlns:a16="http://schemas.microsoft.com/office/drawing/2014/main" id="{63B9291B-03E3-9C0F-B77B-2DF98397E81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687" y="5068"/>
                        <a:ext cx="2657" cy="1993"/>
                        <a:chOff x="3202" y="5108"/>
                        <a:chExt cx="2657" cy="1993"/>
                      </a:xfrm>
                    </p:grpSpPr>
                    <p:sp>
                      <p:nvSpPr>
                        <p:cNvPr id="4136" name="TextBox 256">
                          <a:extLst>
                            <a:ext uri="{FF2B5EF4-FFF2-40B4-BE49-F238E27FC236}">
                              <a16:creationId xmlns:a16="http://schemas.microsoft.com/office/drawing/2014/main" id="{1DC428E8-CDF5-092C-8CB3-9DA8A9AED3C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320" y="6496"/>
                          <a:ext cx="613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fontAlgn="auto"/>
                          <a:r>
                            <a:rPr lang="en-US" sz="1065" noProof="1">
                              <a:latin typeface="Arial" panose="020B0604020202020204" pitchFamily="34" charset="0"/>
                              <a:ea typeface="+mn-ea"/>
                              <a:cs typeface="Arial" panose="020B0604020202020204" pitchFamily="34" charset="0"/>
                            </a:rPr>
                            <a:t>0</a:t>
                          </a:r>
                        </a:p>
                      </p:txBody>
                    </p:sp>
                    <p:sp>
                      <p:nvSpPr>
                        <p:cNvPr id="4137" name="文本框 20">
                          <a:extLst>
                            <a:ext uri="{FF2B5EF4-FFF2-40B4-BE49-F238E27FC236}">
                              <a16:creationId xmlns:a16="http://schemas.microsoft.com/office/drawing/2014/main" id="{8AC58811-C301-1CCD-2770-D6D70D4ACAD9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202" y="5108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H</a:t>
                          </a:r>
                        </a:p>
                      </p:txBody>
                    </p:sp>
                    <p:sp>
                      <p:nvSpPr>
                        <p:cNvPr id="4138" name="文本框 21">
                          <a:extLst>
                            <a:ext uri="{FF2B5EF4-FFF2-40B4-BE49-F238E27FC236}">
                              <a16:creationId xmlns:a16="http://schemas.microsoft.com/office/drawing/2014/main" id="{A20FE4D1-518D-2C16-A6C2-1D061A35240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413" y="6496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r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53" name="组合 76">
                    <a:extLst>
                      <a:ext uri="{FF2B5EF4-FFF2-40B4-BE49-F238E27FC236}">
                        <a16:creationId xmlns:a16="http://schemas.microsoft.com/office/drawing/2014/main" id="{241B60CF-0436-FE37-382C-E206AD456372}"/>
                      </a:ext>
                    </a:extLst>
                  </p:cNvPr>
                  <p:cNvGrpSpPr/>
                  <p:nvPr/>
                </p:nvGrpSpPr>
                <p:grpSpPr>
                  <a:xfrm>
                    <a:off x="14741" y="2761"/>
                    <a:ext cx="3767" cy="4925"/>
                    <a:chOff x="14737" y="2761"/>
                    <a:chExt cx="3767" cy="4925"/>
                  </a:xfrm>
                </p:grpSpPr>
                <p:pic>
                  <p:nvPicPr>
                    <p:cNvPr id="4119" name="图片 16">
                      <a:extLst>
                        <a:ext uri="{FF2B5EF4-FFF2-40B4-BE49-F238E27FC236}">
                          <a16:creationId xmlns:a16="http://schemas.microsoft.com/office/drawing/2014/main" id="{509B69DA-FBEC-AB21-DF01-4048F4A1588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8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36000"/>
                    </a:blip>
                    <a:srcRect l="8333" t="26856" r="10968" b="26289"/>
                    <a:stretch>
                      <a:fillRect/>
                    </a:stretch>
                  </p:blipFill>
                  <p:spPr>
                    <a:xfrm>
                      <a:off x="14737" y="2761"/>
                      <a:ext cx="3767" cy="1736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  <p:sp>
                  <p:nvSpPr>
                    <p:cNvPr id="4120" name="TextBox 190">
                      <a:extLst>
                        <a:ext uri="{FF2B5EF4-FFF2-40B4-BE49-F238E27FC236}">
                          <a16:creationId xmlns:a16="http://schemas.microsoft.com/office/drawing/2014/main" id="{121D063A-2C72-7ACF-96F7-CFD29F1DCB2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861" y="4712"/>
                      <a:ext cx="3643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t" anchorCtr="0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C&lt;0, B&lt;0</a:t>
                      </a:r>
                    </a:p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sym typeface="+mn-ea"/>
                        </a:rPr>
                        <a:t>“Pyramid”City</a:t>
                      </a:r>
                    </a:p>
                  </p:txBody>
                </p:sp>
                <p:grpSp>
                  <p:nvGrpSpPr>
                    <p:cNvPr id="4121" name="组合 48">
                      <a:extLst>
                        <a:ext uri="{FF2B5EF4-FFF2-40B4-BE49-F238E27FC236}">
                          <a16:creationId xmlns:a16="http://schemas.microsoft.com/office/drawing/2014/main" id="{EA5E1381-3F76-86A0-15A6-A5B1C026705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5354" y="5693"/>
                      <a:ext cx="2657" cy="1993"/>
                      <a:chOff x="10870" y="5054"/>
                      <a:chExt cx="2657" cy="1993"/>
                    </a:xfrm>
                  </p:grpSpPr>
                  <p:sp>
                    <p:nvSpPr>
                      <p:cNvPr id="4122" name="任意多边形 36">
                        <a:extLst>
                          <a:ext uri="{FF2B5EF4-FFF2-40B4-BE49-F238E27FC236}">
                            <a16:creationId xmlns:a16="http://schemas.microsoft.com/office/drawing/2014/main" id="{DE9886C2-FEF3-D74C-7079-9EF36730872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415" y="6023"/>
                        <a:ext cx="1395" cy="695"/>
                      </a:xfrm>
                      <a:custGeom>
                        <a:avLst/>
                        <a:gdLst>
                          <a:gd name="connsiteX0" fmla="*/ 0 w 6210"/>
                          <a:gd name="connsiteY0" fmla="*/ 0 h 2550"/>
                          <a:gd name="connsiteX1" fmla="*/ 6210 w 6210"/>
                          <a:gd name="connsiteY1" fmla="*/ 2550 h 255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</a:cxnLst>
                        <a:rect l="l" t="t" r="r" b="b"/>
                        <a:pathLst>
                          <a:path w="6210" h="2550">
                            <a:moveTo>
                              <a:pt x="0" y="0"/>
                            </a:moveTo>
                            <a:cubicBezTo>
                              <a:pt x="2385" y="1290"/>
                              <a:pt x="4110" y="2085"/>
                              <a:pt x="6210" y="2550"/>
                            </a:cubicBezTo>
                          </a:path>
                        </a:pathLst>
                      </a:cu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  <p:txBody>
                      <a:bodyPr vertOverflow="overflow" horzOverflow="overflow" vert="horz" wrap="square" numCol="1" spcCol="0" rtlCol="0" fromWordArt="0" anchor="ctr" anchorCtr="0" forceAA="0" compatLnSpc="1">
                        <a:noAutofit/>
                      </a:bodyPr>
                      <a:lstStyle/>
                      <a:p>
                        <a:pPr lvl="0" algn="ctr">
                          <a:buClrTx/>
                          <a:buSzTx/>
                          <a:buFontTx/>
                        </a:pPr>
                        <a:endParaRPr lang="zh-CN" altLang="en-US" sz="1195">
                          <a:sym typeface="+mn-ea"/>
                        </a:endParaRPr>
                      </a:p>
                    </p:txBody>
                  </p:sp>
                  <p:cxnSp>
                    <p:nvCxnSpPr>
                      <p:cNvPr id="4123" name="直接箭头连接符 38">
                        <a:extLst>
                          <a:ext uri="{FF2B5EF4-FFF2-40B4-BE49-F238E27FC236}">
                            <a16:creationId xmlns:a16="http://schemas.microsoft.com/office/drawing/2014/main" id="{0BF0587E-57C1-3BD1-635C-766AC9880388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11423" y="5173"/>
                        <a:ext cx="0" cy="1545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124" name="直接箭头连接符 39">
                        <a:extLst>
                          <a:ext uri="{FF2B5EF4-FFF2-40B4-BE49-F238E27FC236}">
                            <a16:creationId xmlns:a16="http://schemas.microsoft.com/office/drawing/2014/main" id="{82B6955A-2F0A-51EA-2D5C-37FA037F5E86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11423" y="6732"/>
                        <a:ext cx="1740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4125" name="组合 44">
                        <a:extLst>
                          <a:ext uri="{FF2B5EF4-FFF2-40B4-BE49-F238E27FC236}">
                            <a16:creationId xmlns:a16="http://schemas.microsoft.com/office/drawing/2014/main" id="{160A8AA1-AA2C-1740-DCDF-D4FF7C7C3F3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870" y="5054"/>
                        <a:ext cx="2657" cy="1993"/>
                        <a:chOff x="3202" y="5108"/>
                        <a:chExt cx="2657" cy="1993"/>
                      </a:xfrm>
                    </p:grpSpPr>
                    <p:sp>
                      <p:nvSpPr>
                        <p:cNvPr id="4126" name="TextBox 256">
                          <a:extLst>
                            <a:ext uri="{FF2B5EF4-FFF2-40B4-BE49-F238E27FC236}">
                              <a16:creationId xmlns:a16="http://schemas.microsoft.com/office/drawing/2014/main" id="{3E2EBFF4-91E6-FBDB-2285-409887E953AB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320" y="6496"/>
                          <a:ext cx="613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fontAlgn="auto"/>
                          <a:r>
                            <a:rPr lang="en-US" sz="1065" noProof="1">
                              <a:latin typeface="Arial" panose="020B0604020202020204" pitchFamily="34" charset="0"/>
                              <a:ea typeface="+mn-ea"/>
                              <a:cs typeface="Arial" panose="020B0604020202020204" pitchFamily="34" charset="0"/>
                            </a:rPr>
                            <a:t>0</a:t>
                          </a:r>
                        </a:p>
                      </p:txBody>
                    </p:sp>
                    <p:sp>
                      <p:nvSpPr>
                        <p:cNvPr id="4127" name="文本框 46">
                          <a:extLst>
                            <a:ext uri="{FF2B5EF4-FFF2-40B4-BE49-F238E27FC236}">
                              <a16:creationId xmlns:a16="http://schemas.microsoft.com/office/drawing/2014/main" id="{658AE69F-1CC6-E6E8-5294-AEEC92C742C4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202" y="5108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H</a:t>
                          </a:r>
                        </a:p>
                      </p:txBody>
                    </p:sp>
                    <p:sp>
                      <p:nvSpPr>
                        <p:cNvPr id="4128" name="文本框 47">
                          <a:extLst>
                            <a:ext uri="{FF2B5EF4-FFF2-40B4-BE49-F238E27FC236}">
                              <a16:creationId xmlns:a16="http://schemas.microsoft.com/office/drawing/2014/main" id="{19C4D399-5593-A4BE-0582-8B633185DD2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413" y="6496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r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54" name="组合 75">
                    <a:extLst>
                      <a:ext uri="{FF2B5EF4-FFF2-40B4-BE49-F238E27FC236}">
                        <a16:creationId xmlns:a16="http://schemas.microsoft.com/office/drawing/2014/main" id="{B7F2241A-66C3-3343-FE97-057D525A189D}"/>
                      </a:ext>
                    </a:extLst>
                  </p:cNvPr>
                  <p:cNvGrpSpPr/>
                  <p:nvPr/>
                </p:nvGrpSpPr>
                <p:grpSpPr>
                  <a:xfrm>
                    <a:off x="11209" y="2584"/>
                    <a:ext cx="3643" cy="5102"/>
                    <a:chOff x="11192" y="2584"/>
                    <a:chExt cx="3643" cy="5102"/>
                  </a:xfrm>
                </p:grpSpPr>
                <p:pic>
                  <p:nvPicPr>
                    <p:cNvPr id="4108" name="图片 6">
                      <a:extLst>
                        <a:ext uri="{FF2B5EF4-FFF2-40B4-BE49-F238E27FC236}">
                          <a16:creationId xmlns:a16="http://schemas.microsoft.com/office/drawing/2014/main" id="{71939E17-1133-4569-5C57-161BB2164D4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9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36000"/>
                    </a:blip>
                    <a:stretch>
                      <a:fillRect/>
                    </a:stretch>
                  </p:blipFill>
                  <p:spPr>
                    <a:xfrm>
                      <a:off x="11510" y="2584"/>
                      <a:ext cx="3007" cy="2070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  <p:sp>
                  <p:nvSpPr>
                    <p:cNvPr id="4109" name="TextBox 191">
                      <a:extLst>
                        <a:ext uri="{FF2B5EF4-FFF2-40B4-BE49-F238E27FC236}">
                          <a16:creationId xmlns:a16="http://schemas.microsoft.com/office/drawing/2014/main" id="{5C2E2492-F04C-2FB5-BF75-262C81A7A26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192" y="4712"/>
                      <a:ext cx="3643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t" anchorCtr="0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C&lt;0, B&gt;0</a:t>
                      </a:r>
                    </a:p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“Volcanic Cone” City</a:t>
                      </a:r>
                    </a:p>
                  </p:txBody>
                </p:sp>
                <p:grpSp>
                  <p:nvGrpSpPr>
                    <p:cNvPr id="4110" name="组合 51">
                      <a:extLst>
                        <a:ext uri="{FF2B5EF4-FFF2-40B4-BE49-F238E27FC236}">
                          <a16:creationId xmlns:a16="http://schemas.microsoft.com/office/drawing/2014/main" id="{FD65D97F-DBC7-5620-E9E4-39E525AC25B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686" y="5693"/>
                      <a:ext cx="2657" cy="1993"/>
                      <a:chOff x="8290" y="5068"/>
                      <a:chExt cx="2657" cy="1993"/>
                    </a:xfrm>
                  </p:grpSpPr>
                  <p:grpSp>
                    <p:nvGrpSpPr>
                      <p:cNvPr id="4111" name="组合 26">
                        <a:extLst>
                          <a:ext uri="{FF2B5EF4-FFF2-40B4-BE49-F238E27FC236}">
                            <a16:creationId xmlns:a16="http://schemas.microsoft.com/office/drawing/2014/main" id="{0BB88102-F1EC-E4F9-50EB-840ECB92DF9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8290" y="5068"/>
                        <a:ext cx="2657" cy="1993"/>
                        <a:chOff x="3202" y="5108"/>
                        <a:chExt cx="2657" cy="1993"/>
                      </a:xfrm>
                    </p:grpSpPr>
                    <p:cxnSp>
                      <p:nvCxnSpPr>
                        <p:cNvPr id="4113" name="直接箭头连接符 27">
                          <a:extLst>
                            <a:ext uri="{FF2B5EF4-FFF2-40B4-BE49-F238E27FC236}">
                              <a16:creationId xmlns:a16="http://schemas.microsoft.com/office/drawing/2014/main" id="{00BF78B0-FD07-9D66-B518-86A0674D9C82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 flipV="1">
                          <a:off x="3755" y="5227"/>
                          <a:ext cx="0" cy="1545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4114" name="直接箭头连接符 28">
                          <a:extLst>
                            <a:ext uri="{FF2B5EF4-FFF2-40B4-BE49-F238E27FC236}">
                              <a16:creationId xmlns:a16="http://schemas.microsoft.com/office/drawing/2014/main" id="{ABA6085E-D80B-05BA-76C1-F107FCF51992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>
                          <a:off x="3755" y="6786"/>
                          <a:ext cx="1740" cy="0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grpSp>
                      <p:nvGrpSpPr>
                        <p:cNvPr id="4115" name="组合 30">
                          <a:extLst>
                            <a:ext uri="{FF2B5EF4-FFF2-40B4-BE49-F238E27FC236}">
                              <a16:creationId xmlns:a16="http://schemas.microsoft.com/office/drawing/2014/main" id="{B2134FAF-444E-CF7C-50CF-AC1E677B9F4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3202" y="5108"/>
                          <a:ext cx="2657" cy="1993"/>
                          <a:chOff x="3202" y="5108"/>
                          <a:chExt cx="2657" cy="1993"/>
                        </a:xfrm>
                      </p:grpSpPr>
                      <p:sp>
                        <p:nvSpPr>
                          <p:cNvPr id="4116" name="TextBox 256">
                            <a:extLst>
                              <a:ext uri="{FF2B5EF4-FFF2-40B4-BE49-F238E27FC236}">
                                <a16:creationId xmlns:a16="http://schemas.microsoft.com/office/drawing/2014/main" id="{C84C41DC-7CE6-FD51-9B26-67DFD01F107E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3320" y="6496"/>
                            <a:ext cx="613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fontAlgn="auto"/>
                            <a:r>
                              <a:rPr lang="en-US" sz="1065" noProof="1">
                                <a:latin typeface="Arial" panose="020B0604020202020204" pitchFamily="34" charset="0"/>
                                <a:ea typeface="+mn-ea"/>
                                <a:cs typeface="Arial" panose="020B0604020202020204" pitchFamily="34" charset="0"/>
                              </a:rPr>
                              <a:t>0</a:t>
                            </a:r>
                          </a:p>
                        </p:txBody>
                      </p:sp>
                      <p:sp>
                        <p:nvSpPr>
                          <p:cNvPr id="4117" name="文本框 32">
                            <a:extLst>
                              <a:ext uri="{FF2B5EF4-FFF2-40B4-BE49-F238E27FC236}">
                                <a16:creationId xmlns:a16="http://schemas.microsoft.com/office/drawing/2014/main" id="{392BBB3C-1B24-4377-0129-1DE6D51CFDD9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3202" y="5108"/>
                            <a:ext cx="446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n-US" altLang="zh-CN" sz="1065" i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H</a:t>
                            </a:r>
                          </a:p>
                        </p:txBody>
                      </p:sp>
                      <p:sp>
                        <p:nvSpPr>
                          <p:cNvPr id="4118" name="文本框 33">
                            <a:extLst>
                              <a:ext uri="{FF2B5EF4-FFF2-40B4-BE49-F238E27FC236}">
                                <a16:creationId xmlns:a16="http://schemas.microsoft.com/office/drawing/2014/main" id="{A17DCAE3-361A-26E7-C8F3-46E0F74DD1A7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5413" y="6496"/>
                            <a:ext cx="446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n-US" altLang="zh-CN" sz="1065" i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r</a:t>
                            </a:r>
                          </a:p>
                        </p:txBody>
                      </p:sp>
                    </p:grpSp>
                  </p:grpSp>
                  <p:sp>
                    <p:nvSpPr>
                      <p:cNvPr id="4112" name="任意多边形 50">
                        <a:extLst>
                          <a:ext uri="{FF2B5EF4-FFF2-40B4-BE49-F238E27FC236}">
                            <a16:creationId xmlns:a16="http://schemas.microsoft.com/office/drawing/2014/main" id="{56D8E8B2-6E5D-BDF5-F426-20C8245D8B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843" y="5741"/>
                        <a:ext cx="1742" cy="701"/>
                      </a:xfrm>
                      <a:custGeom>
                        <a:avLst/>
                        <a:gdLst>
                          <a:gd name="connsiteX0" fmla="*/ 0 w 6165"/>
                          <a:gd name="connsiteY0" fmla="*/ 895 h 1794"/>
                          <a:gd name="connsiteX1" fmla="*/ 2745 w 6165"/>
                          <a:gd name="connsiteY1" fmla="*/ 25 h 1794"/>
                          <a:gd name="connsiteX2" fmla="*/ 6165 w 6165"/>
                          <a:gd name="connsiteY2" fmla="*/ 1795 h 179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6165" h="1795">
                            <a:moveTo>
                              <a:pt x="0" y="895"/>
                            </a:moveTo>
                            <a:cubicBezTo>
                              <a:pt x="411" y="669"/>
                              <a:pt x="1506" y="-152"/>
                              <a:pt x="2745" y="25"/>
                            </a:cubicBezTo>
                            <a:cubicBezTo>
                              <a:pt x="3984" y="202"/>
                              <a:pt x="5415" y="1432"/>
                              <a:pt x="6165" y="1795"/>
                            </a:cubicBezTo>
                          </a:path>
                        </a:pathLst>
                      </a:cu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195"/>
                      </a:p>
                    </p:txBody>
                  </p:sp>
                </p:grpSp>
              </p:grpSp>
              <p:grpSp>
                <p:nvGrpSpPr>
                  <p:cNvPr id="55" name="组合 73">
                    <a:extLst>
                      <a:ext uri="{FF2B5EF4-FFF2-40B4-BE49-F238E27FC236}">
                        <a16:creationId xmlns:a16="http://schemas.microsoft.com/office/drawing/2014/main" id="{AEEED697-92D4-5CAB-5701-58B1092B51E4}"/>
                      </a:ext>
                    </a:extLst>
                  </p:cNvPr>
                  <p:cNvGrpSpPr/>
                  <p:nvPr/>
                </p:nvGrpSpPr>
                <p:grpSpPr>
                  <a:xfrm>
                    <a:off x="4087" y="2348"/>
                    <a:ext cx="3683" cy="5338"/>
                    <a:chOff x="4198" y="2348"/>
                    <a:chExt cx="3683" cy="5338"/>
                  </a:xfrm>
                </p:grpSpPr>
                <p:sp>
                  <p:nvSpPr>
                    <p:cNvPr id="57" name="TextBox 190">
                      <a:extLst>
                        <a:ext uri="{FF2B5EF4-FFF2-40B4-BE49-F238E27FC236}">
                          <a16:creationId xmlns:a16="http://schemas.microsoft.com/office/drawing/2014/main" id="{312FEB93-E4A3-7EED-F270-5FA6D80C422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218" y="4712"/>
                      <a:ext cx="3643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t" anchorCtr="0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C&gt;0, B&lt;0</a:t>
                      </a:r>
                    </a:p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sym typeface="+mn-ea"/>
                        </a:rPr>
                        <a:t>“Crown”City</a:t>
                      </a:r>
                    </a:p>
                  </p:txBody>
                </p:sp>
                <p:pic>
                  <p:nvPicPr>
                    <p:cNvPr id="4096" name="图片 65">
                      <a:extLst>
                        <a:ext uri="{FF2B5EF4-FFF2-40B4-BE49-F238E27FC236}">
                          <a16:creationId xmlns:a16="http://schemas.microsoft.com/office/drawing/2014/main" id="{6131E603-85EC-7D4C-3CA3-1AAC1F0C716F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0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36000"/>
                    </a:blip>
                    <a:stretch>
                      <a:fillRect/>
                    </a:stretch>
                  </p:blipFill>
                  <p:spPr>
                    <a:xfrm>
                      <a:off x="4198" y="2348"/>
                      <a:ext cx="3683" cy="2478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  <p:grpSp>
                  <p:nvGrpSpPr>
                    <p:cNvPr id="4097" name="组合 71">
                      <a:extLst>
                        <a:ext uri="{FF2B5EF4-FFF2-40B4-BE49-F238E27FC236}">
                          <a16:creationId xmlns:a16="http://schemas.microsoft.com/office/drawing/2014/main" id="{FBCAB0C2-C803-7720-AEC9-1F03A3D8D33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712" y="5693"/>
                      <a:ext cx="2657" cy="1993"/>
                      <a:chOff x="4673" y="5693"/>
                      <a:chExt cx="2657" cy="1993"/>
                    </a:xfrm>
                  </p:grpSpPr>
                  <p:grpSp>
                    <p:nvGrpSpPr>
                      <p:cNvPr id="4099" name="组合 55">
                        <a:extLst>
                          <a:ext uri="{FF2B5EF4-FFF2-40B4-BE49-F238E27FC236}">
                            <a16:creationId xmlns:a16="http://schemas.microsoft.com/office/drawing/2014/main" id="{98E41A85-64A6-CDC4-7FF4-F22345BBB02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673" y="5693"/>
                        <a:ext cx="2657" cy="1993"/>
                        <a:chOff x="10870" y="5054"/>
                        <a:chExt cx="2657" cy="1993"/>
                      </a:xfrm>
                    </p:grpSpPr>
                    <p:cxnSp>
                      <p:nvCxnSpPr>
                        <p:cNvPr id="4102" name="直接箭头连接符 57">
                          <a:extLst>
                            <a:ext uri="{FF2B5EF4-FFF2-40B4-BE49-F238E27FC236}">
                              <a16:creationId xmlns:a16="http://schemas.microsoft.com/office/drawing/2014/main" id="{09F2B820-AC5E-926F-64DF-472FA5F4FCB4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 flipV="1">
                          <a:off x="11423" y="5173"/>
                          <a:ext cx="0" cy="1545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4103" name="直接箭头连接符 58">
                          <a:extLst>
                            <a:ext uri="{FF2B5EF4-FFF2-40B4-BE49-F238E27FC236}">
                              <a16:creationId xmlns:a16="http://schemas.microsoft.com/office/drawing/2014/main" id="{08D0FD10-A05F-1770-BB92-3873C00403EF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>
                          <a:off x="11423" y="6732"/>
                          <a:ext cx="1740" cy="0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grpSp>
                      <p:nvGrpSpPr>
                        <p:cNvPr id="4104" name="组合 59">
                          <a:extLst>
                            <a:ext uri="{FF2B5EF4-FFF2-40B4-BE49-F238E27FC236}">
                              <a16:creationId xmlns:a16="http://schemas.microsoft.com/office/drawing/2014/main" id="{6DD1C668-D663-918A-CCBC-5CF430C501B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0870" y="5054"/>
                          <a:ext cx="2657" cy="1993"/>
                          <a:chOff x="3202" y="5108"/>
                          <a:chExt cx="2657" cy="1993"/>
                        </a:xfrm>
                      </p:grpSpPr>
                      <p:sp>
                        <p:nvSpPr>
                          <p:cNvPr id="4105" name="TextBox 256">
                            <a:extLst>
                              <a:ext uri="{FF2B5EF4-FFF2-40B4-BE49-F238E27FC236}">
                                <a16:creationId xmlns:a16="http://schemas.microsoft.com/office/drawing/2014/main" id="{991B03C5-C96D-EC10-0321-CFF583E68AC9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3320" y="6496"/>
                            <a:ext cx="613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fontAlgn="auto"/>
                            <a:r>
                              <a:rPr lang="en-US" sz="1065" noProof="1">
                                <a:latin typeface="Arial" panose="020B0604020202020204" pitchFamily="34" charset="0"/>
                                <a:ea typeface="+mn-ea"/>
                                <a:cs typeface="Arial" panose="020B0604020202020204" pitchFamily="34" charset="0"/>
                              </a:rPr>
                              <a:t>0</a:t>
                            </a:r>
                          </a:p>
                        </p:txBody>
                      </p:sp>
                      <p:sp>
                        <p:nvSpPr>
                          <p:cNvPr id="4106" name="文本框 61">
                            <a:extLst>
                              <a:ext uri="{FF2B5EF4-FFF2-40B4-BE49-F238E27FC236}">
                                <a16:creationId xmlns:a16="http://schemas.microsoft.com/office/drawing/2014/main" id="{E03C1D10-1BCD-B268-96F5-36D10E43CC65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3202" y="5108"/>
                            <a:ext cx="446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n-US" altLang="zh-CN" sz="1065" i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H</a:t>
                            </a:r>
                          </a:p>
                        </p:txBody>
                      </p:sp>
                      <p:sp>
                        <p:nvSpPr>
                          <p:cNvPr id="4107" name="文本框 62">
                            <a:extLst>
                              <a:ext uri="{FF2B5EF4-FFF2-40B4-BE49-F238E27FC236}">
                                <a16:creationId xmlns:a16="http://schemas.microsoft.com/office/drawing/2014/main" id="{CC151A6F-416E-0EC5-EA23-3B1CA72CA164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5413" y="6496"/>
                            <a:ext cx="446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n-US" altLang="zh-CN" sz="1065" i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r</a:t>
                            </a:r>
                          </a:p>
                        </p:txBody>
                      </p:sp>
                    </p:grpSp>
                  </p:grpSp>
                  <p:sp>
                    <p:nvSpPr>
                      <p:cNvPr id="4101" name="任意多边形 67">
                        <a:extLst>
                          <a:ext uri="{FF2B5EF4-FFF2-40B4-BE49-F238E27FC236}">
                            <a16:creationId xmlns:a16="http://schemas.microsoft.com/office/drawing/2014/main" id="{9E026BCC-E6DB-5C06-202D-A6580495B2D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27" y="6643"/>
                        <a:ext cx="1770" cy="296"/>
                      </a:xfrm>
                      <a:custGeom>
                        <a:avLst/>
                        <a:gdLst>
                          <a:gd name="connsiteX0" fmla="*/ 0 w 6127"/>
                          <a:gd name="connsiteY0" fmla="*/ 0 h 836"/>
                          <a:gd name="connsiteX1" fmla="*/ 3080 w 6127"/>
                          <a:gd name="connsiteY1" fmla="*/ 836 h 836"/>
                          <a:gd name="connsiteX2" fmla="*/ 6127 w 6127"/>
                          <a:gd name="connsiteY2" fmla="*/ 82 h 83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6127" h="836">
                            <a:moveTo>
                              <a:pt x="0" y="0"/>
                            </a:moveTo>
                            <a:cubicBezTo>
                              <a:pt x="492" y="328"/>
                              <a:pt x="1855" y="829"/>
                              <a:pt x="3080" y="836"/>
                            </a:cubicBezTo>
                            <a:cubicBezTo>
                              <a:pt x="4305" y="843"/>
                              <a:pt x="5586" y="344"/>
                              <a:pt x="6127" y="82"/>
                            </a:cubicBezTo>
                          </a:path>
                        </a:pathLst>
                      </a:cu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  <p:txBody>
                      <a:bodyPr vertOverflow="overflow" horzOverflow="overflow" vert="horz" wrap="square" numCol="1" spcCol="0" rtlCol="0" fromWordArt="0" anchor="ctr" anchorCtr="0" forceAA="0" compatLnSpc="1">
                        <a:noAutofit/>
                      </a:bodyPr>
                      <a:lstStyle/>
                      <a:p>
                        <a:pPr lvl="0" algn="ctr">
                          <a:buClrTx/>
                          <a:buSzTx/>
                          <a:buFontTx/>
                        </a:pPr>
                        <a:endParaRPr lang="zh-CN" altLang="en-US" sz="1195">
                          <a:sym typeface="+mn-ea"/>
                        </a:endParaRPr>
                      </a:p>
                    </p:txBody>
                  </p:sp>
                </p:grpSp>
              </p:grpSp>
            </p:grpSp>
            <p:sp>
              <p:nvSpPr>
                <p:cNvPr id="38" name="文本框 6">
                  <a:extLst>
                    <a:ext uri="{FF2B5EF4-FFF2-40B4-BE49-F238E27FC236}">
                      <a16:creationId xmlns:a16="http://schemas.microsoft.com/office/drawing/2014/main" id="{B8C65915-8BB6-831E-0C90-A91F8EE6DD90}"/>
                    </a:ext>
                  </a:extLst>
                </p:cNvPr>
                <p:cNvSpPr txBox="1"/>
                <p:nvPr/>
              </p:nvSpPr>
              <p:spPr>
                <a:xfrm>
                  <a:off x="398" y="8731"/>
                  <a:ext cx="6795" cy="5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dirty="0"/>
                    <a:t>(c) Vertical Profile Types</a:t>
                  </a:r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BF206E9-28F5-8510-A384-3BC1E00C0706}"/>
                    </a:ext>
                  </a:extLst>
                </p:cNvPr>
                <p:cNvSpPr txBox="1"/>
                <p:nvPr/>
              </p:nvSpPr>
              <p:spPr>
                <a:xfrm>
                  <a:off x="6121897" y="8364640"/>
                  <a:ext cx="2471606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m:rPr>
                            <m:sty m:val="p"/>
                          </m:rPr>
                          <a:rPr lang="en-US" altLang="zh-CN" sz="1600" i="0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600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BF206E9-28F5-8510-A384-3BC1E00C07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1897" y="8364640"/>
                  <a:ext cx="2471606" cy="338554"/>
                </a:xfrm>
                <a:prstGeom prst="rect">
                  <a:avLst/>
                </a:prstGeom>
                <a:blipFill>
                  <a:blip r:embed="rId26"/>
                  <a:stretch>
                    <a:fillRect b="-1272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组合 43"/>
          <p:cNvGrpSpPr/>
          <p:nvPr/>
        </p:nvGrpSpPr>
        <p:grpSpPr>
          <a:xfrm>
            <a:off x="15655230" y="9428326"/>
            <a:ext cx="5570421" cy="417915"/>
            <a:chOff x="1984" y="9408"/>
            <a:chExt cx="15595" cy="1170"/>
          </a:xfrm>
        </p:grpSpPr>
        <p:sp>
          <p:nvSpPr>
            <p:cNvPr id="32" name="文本框 31"/>
            <p:cNvSpPr txBox="1"/>
            <p:nvPr/>
          </p:nvSpPr>
          <p:spPr>
            <a:xfrm>
              <a:off x="13143" y="9416"/>
              <a:ext cx="4436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2016</a:t>
              </a:r>
            </a:p>
          </p:txBody>
        </p:sp>
        <p:sp>
          <p:nvSpPr>
            <p:cNvPr id="22" name="乘号 21"/>
            <p:cNvSpPr/>
            <p:nvPr/>
          </p:nvSpPr>
          <p:spPr>
            <a:xfrm>
              <a:off x="1984" y="9421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2483" y="94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2016</a:t>
              </a:r>
            </a:p>
          </p:txBody>
        </p:sp>
        <p:sp>
          <p:nvSpPr>
            <p:cNvPr id="24" name="乘号 23"/>
            <p:cNvSpPr/>
            <p:nvPr/>
          </p:nvSpPr>
          <p:spPr>
            <a:xfrm>
              <a:off x="1984" y="9935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2483" y="99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2023</a:t>
              </a:r>
            </a:p>
          </p:txBody>
        </p:sp>
        <p:sp>
          <p:nvSpPr>
            <p:cNvPr id="26" name="乘号 25"/>
            <p:cNvSpPr/>
            <p:nvPr/>
          </p:nvSpPr>
          <p:spPr>
            <a:xfrm>
              <a:off x="6195" y="9421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717" y="9408"/>
              <a:ext cx="5621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2016</a:t>
              </a:r>
              <a:endParaRPr lang="zh-CN" altLang="en-US" sz="9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8" name="乘号 27"/>
            <p:cNvSpPr/>
            <p:nvPr/>
          </p:nvSpPr>
          <p:spPr>
            <a:xfrm>
              <a:off x="6195" y="9935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6717" y="9895"/>
              <a:ext cx="5620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2023</a:t>
              </a:r>
              <a:endParaRPr lang="en-US" altLang="zh-CN" sz="900"/>
            </a:p>
          </p:txBody>
        </p:sp>
        <p:sp>
          <p:nvSpPr>
            <p:cNvPr id="31" name="乘号 30"/>
            <p:cNvSpPr/>
            <p:nvPr/>
          </p:nvSpPr>
          <p:spPr>
            <a:xfrm>
              <a:off x="12659" y="9421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4" name="乘号 33"/>
            <p:cNvSpPr/>
            <p:nvPr/>
          </p:nvSpPr>
          <p:spPr>
            <a:xfrm>
              <a:off x="12659" y="9935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13143" y="9907"/>
              <a:ext cx="425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2023</a:t>
              </a:r>
            </a:p>
          </p:txBody>
        </p:sp>
      </p:grpSp>
      <p:cxnSp>
        <p:nvCxnSpPr>
          <p:cNvPr id="33" name="直接连接符 32"/>
          <p:cNvCxnSpPr/>
          <p:nvPr/>
        </p:nvCxnSpPr>
        <p:spPr>
          <a:xfrm>
            <a:off x="15378535" y="10337801"/>
            <a:ext cx="761534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97" name="组合 96"/>
          <p:cNvGrpSpPr/>
          <p:nvPr/>
        </p:nvGrpSpPr>
        <p:grpSpPr>
          <a:xfrm>
            <a:off x="23352506" y="10026329"/>
            <a:ext cx="1544858" cy="513643"/>
            <a:chOff x="2166" y="1724"/>
            <a:chExt cx="19159" cy="6372"/>
          </a:xfrm>
        </p:grpSpPr>
        <p:cxnSp>
          <p:nvCxnSpPr>
            <p:cNvPr id="70" name="直接箭头连接符 69"/>
            <p:cNvCxnSpPr/>
            <p:nvPr/>
          </p:nvCxnSpPr>
          <p:spPr>
            <a:xfrm flipV="1">
              <a:off x="2166" y="1724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2" name="直接箭头连接符 91"/>
            <p:cNvCxnSpPr/>
            <p:nvPr/>
          </p:nvCxnSpPr>
          <p:spPr>
            <a:xfrm flipV="1">
              <a:off x="2166" y="8047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5" name="直接箭头连接符 94"/>
            <p:cNvCxnSpPr/>
            <p:nvPr/>
          </p:nvCxnSpPr>
          <p:spPr>
            <a:xfrm flipV="1">
              <a:off x="13581" y="1769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6" name="直接箭头连接符 95"/>
            <p:cNvCxnSpPr/>
            <p:nvPr/>
          </p:nvCxnSpPr>
          <p:spPr>
            <a:xfrm flipV="1">
              <a:off x="13581" y="8092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124" name="组合 123"/>
          <p:cNvGrpSpPr/>
          <p:nvPr/>
        </p:nvGrpSpPr>
        <p:grpSpPr>
          <a:xfrm>
            <a:off x="14789150" y="7893468"/>
            <a:ext cx="8195787" cy="1489137"/>
            <a:chOff x="186" y="3371"/>
            <a:chExt cx="22945" cy="4169"/>
          </a:xfrm>
        </p:grpSpPr>
        <p:sp>
          <p:nvSpPr>
            <p:cNvPr id="5" name="文本框 4"/>
            <p:cNvSpPr txBox="1"/>
            <p:nvPr/>
          </p:nvSpPr>
          <p:spPr>
            <a:xfrm>
              <a:off x="186" y="5928"/>
              <a:ext cx="2265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790" i="1">
                  <a:solidFill>
                    <a:schemeClr val="tx1"/>
                  </a:solidFill>
                </a:rPr>
                <a:t>Low-Constraint, Flat-Gradient</a:t>
              </a: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9533" y="4232"/>
              <a:ext cx="2346" cy="679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Steep-Gradient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200" y="4186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Low-Constraint,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Steep-Gradient</a:t>
              </a:r>
            </a:p>
          </p:txBody>
        </p:sp>
        <p:sp>
          <p:nvSpPr>
            <p:cNvPr id="59" name="文本框 58"/>
            <p:cNvSpPr txBox="1"/>
            <p:nvPr/>
          </p:nvSpPr>
          <p:spPr>
            <a:xfrm>
              <a:off x="9552" y="5928"/>
              <a:ext cx="2327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Flat-Gradient</a:t>
              </a:r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11568" y="4232"/>
              <a:ext cx="2211" cy="746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Flat-Gradient</a:t>
              </a: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568" y="5928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Steep-Gradient</a:t>
              </a: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20920" y="4182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Flat-Gradient</a:t>
              </a:r>
            </a:p>
          </p:txBody>
        </p:sp>
        <p:sp>
          <p:nvSpPr>
            <p:cNvPr id="98" name="文本框 97"/>
            <p:cNvSpPr txBox="1"/>
            <p:nvPr/>
          </p:nvSpPr>
          <p:spPr>
            <a:xfrm>
              <a:off x="20874" y="5928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Steep-Gradient</a:t>
              </a:r>
            </a:p>
          </p:txBody>
        </p:sp>
        <p:grpSp>
          <p:nvGrpSpPr>
            <p:cNvPr id="100" name="组合 99"/>
            <p:cNvGrpSpPr/>
            <p:nvPr/>
          </p:nvGrpSpPr>
          <p:grpSpPr>
            <a:xfrm>
              <a:off x="1395" y="6639"/>
              <a:ext cx="831" cy="826"/>
              <a:chOff x="493" y="2941"/>
              <a:chExt cx="4304" cy="4270"/>
            </a:xfrm>
          </p:grpSpPr>
          <p:pic>
            <p:nvPicPr>
              <p:cNvPr id="101" name="图片 100"/>
              <p:cNvPicPr>
                <a:picLocks noChangeAspect="1"/>
              </p:cNvPicPr>
              <p:nvPr/>
            </p:nvPicPr>
            <p:blipFill>
              <a:blip r:embed="rId3">
                <a:grayscl/>
              </a:blip>
              <a:stretch>
                <a:fillRect/>
              </a:stretch>
            </p:blipFill>
            <p:spPr>
              <a:xfrm>
                <a:off x="493" y="2941"/>
                <a:ext cx="4304" cy="4271"/>
              </a:xfrm>
              <a:prstGeom prst="rect">
                <a:avLst/>
              </a:prstGeom>
            </p:spPr>
          </p:pic>
          <p:sp>
            <p:nvSpPr>
              <p:cNvPr id="102" name="椭圆 101"/>
              <p:cNvSpPr/>
              <p:nvPr/>
            </p:nvSpPr>
            <p:spPr>
              <a:xfrm>
                <a:off x="59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3" name="组合 102"/>
            <p:cNvGrpSpPr/>
            <p:nvPr/>
          </p:nvGrpSpPr>
          <p:grpSpPr>
            <a:xfrm>
              <a:off x="1365" y="3374"/>
              <a:ext cx="831" cy="826"/>
              <a:chOff x="4929" y="2941"/>
              <a:chExt cx="4302" cy="4270"/>
            </a:xfrm>
          </p:grpSpPr>
          <p:pic>
            <p:nvPicPr>
              <p:cNvPr id="104" name="图片 103"/>
              <p:cNvPicPr>
                <a:picLocks noChangeAspect="1"/>
              </p:cNvPicPr>
              <p:nvPr/>
            </p:nvPicPr>
            <p:blipFill>
              <a:blip r:embed="rId4">
                <a:grayscl/>
              </a:blip>
              <a:stretch>
                <a:fillRect/>
              </a:stretch>
            </p:blipFill>
            <p:spPr>
              <a:xfrm>
                <a:off x="492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5" name="椭圆 104"/>
              <p:cNvSpPr/>
              <p:nvPr/>
            </p:nvSpPr>
            <p:spPr>
              <a:xfrm>
                <a:off x="502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6" name="组合 105"/>
            <p:cNvGrpSpPr/>
            <p:nvPr/>
          </p:nvGrpSpPr>
          <p:grpSpPr>
            <a:xfrm>
              <a:off x="9591" y="6639"/>
              <a:ext cx="831" cy="826"/>
              <a:chOff x="9364" y="2941"/>
              <a:chExt cx="4302" cy="4270"/>
            </a:xfrm>
          </p:grpSpPr>
          <p:pic>
            <p:nvPicPr>
              <p:cNvPr id="107" name="图片 106"/>
              <p:cNvPicPr>
                <a:picLocks noChangeAspect="1"/>
              </p:cNvPicPr>
              <p:nvPr/>
            </p:nvPicPr>
            <p:blipFill>
              <a:blip r:embed="rId5">
                <a:grayscl/>
              </a:blip>
              <a:stretch>
                <a:fillRect/>
              </a:stretch>
            </p:blipFill>
            <p:spPr>
              <a:xfrm>
                <a:off x="9364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8" name="椭圆 107"/>
              <p:cNvSpPr/>
              <p:nvPr/>
            </p:nvSpPr>
            <p:spPr>
              <a:xfrm>
                <a:off x="945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9" name="组合 108"/>
            <p:cNvGrpSpPr/>
            <p:nvPr/>
          </p:nvGrpSpPr>
          <p:grpSpPr>
            <a:xfrm>
              <a:off x="9594" y="3374"/>
              <a:ext cx="831" cy="826"/>
              <a:chOff x="13799" y="2941"/>
              <a:chExt cx="4302" cy="4270"/>
            </a:xfrm>
          </p:grpSpPr>
          <p:pic>
            <p:nvPicPr>
              <p:cNvPr id="110" name="图片 109"/>
              <p:cNvPicPr>
                <a:picLocks noChangeAspect="1"/>
              </p:cNvPicPr>
              <p:nvPr/>
            </p:nvPicPr>
            <p:blipFill>
              <a:blip r:embed="rId6">
                <a:grayscl/>
              </a:blip>
              <a:stretch>
                <a:fillRect/>
              </a:stretch>
            </p:blipFill>
            <p:spPr>
              <a:xfrm>
                <a:off x="1379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11" name="椭圆 110"/>
              <p:cNvSpPr/>
              <p:nvPr/>
            </p:nvSpPr>
            <p:spPr>
              <a:xfrm>
                <a:off x="1388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2" name="组合 111"/>
            <p:cNvGrpSpPr/>
            <p:nvPr/>
          </p:nvGrpSpPr>
          <p:grpSpPr>
            <a:xfrm>
              <a:off x="12704" y="3371"/>
              <a:ext cx="848" cy="829"/>
              <a:chOff x="1057" y="2049"/>
              <a:chExt cx="4212" cy="4114"/>
            </a:xfrm>
          </p:grpSpPr>
          <p:pic>
            <p:nvPicPr>
              <p:cNvPr id="113" name="图片 112"/>
              <p:cNvPicPr>
                <a:picLocks noChangeAspect="1"/>
              </p:cNvPicPr>
              <p:nvPr/>
            </p:nvPicPr>
            <p:blipFill>
              <a:blip r:embed="rId7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57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4" name="椭圆 113"/>
              <p:cNvSpPr/>
              <p:nvPr/>
            </p:nvSpPr>
            <p:spPr>
              <a:xfrm>
                <a:off x="1280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5" name="组合 114"/>
            <p:cNvGrpSpPr/>
            <p:nvPr/>
          </p:nvGrpSpPr>
          <p:grpSpPr>
            <a:xfrm>
              <a:off x="12734" y="6636"/>
              <a:ext cx="848" cy="829"/>
              <a:chOff x="5571" y="2049"/>
              <a:chExt cx="4212" cy="4114"/>
            </a:xfrm>
          </p:grpSpPr>
          <p:pic>
            <p:nvPicPr>
              <p:cNvPr id="116" name="图片 115"/>
              <p:cNvPicPr>
                <a:picLocks noChangeAspect="1"/>
              </p:cNvPicPr>
              <p:nvPr/>
            </p:nvPicPr>
            <p:blipFill>
              <a:blip r:embed="rId8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5571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7" name="椭圆 116"/>
              <p:cNvSpPr/>
              <p:nvPr/>
            </p:nvSpPr>
            <p:spPr>
              <a:xfrm>
                <a:off x="5813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8" name="组合 117"/>
            <p:cNvGrpSpPr/>
            <p:nvPr/>
          </p:nvGrpSpPr>
          <p:grpSpPr>
            <a:xfrm>
              <a:off x="21052" y="3371"/>
              <a:ext cx="848" cy="829"/>
              <a:chOff x="10084" y="2049"/>
              <a:chExt cx="4212" cy="4114"/>
            </a:xfrm>
          </p:grpSpPr>
          <p:pic>
            <p:nvPicPr>
              <p:cNvPr id="119" name="图片 118"/>
              <p:cNvPicPr>
                <a:picLocks noChangeAspect="1"/>
              </p:cNvPicPr>
              <p:nvPr/>
            </p:nvPicPr>
            <p:blipFill>
              <a:blip r:embed="rId9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084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20" name="椭圆 119"/>
              <p:cNvSpPr/>
              <p:nvPr/>
            </p:nvSpPr>
            <p:spPr>
              <a:xfrm>
                <a:off x="10347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21" name="组合 120"/>
            <p:cNvGrpSpPr/>
            <p:nvPr/>
          </p:nvGrpSpPr>
          <p:grpSpPr>
            <a:xfrm>
              <a:off x="21000" y="6668"/>
              <a:ext cx="848" cy="828"/>
              <a:chOff x="22212" y="8641"/>
              <a:chExt cx="848" cy="828"/>
            </a:xfrm>
          </p:grpSpPr>
          <p:pic>
            <p:nvPicPr>
              <p:cNvPr id="122" name="图片 121"/>
              <p:cNvPicPr>
                <a:picLocks noChangeAspect="1"/>
              </p:cNvPicPr>
              <p:nvPr/>
            </p:nvPicPr>
            <p:blipFill>
              <a:blip r:embed="rId10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22212" y="8641"/>
                <a:ext cx="848" cy="829"/>
              </a:xfrm>
              <a:prstGeom prst="rect">
                <a:avLst/>
              </a:prstGeom>
            </p:spPr>
          </p:pic>
          <p:sp>
            <p:nvSpPr>
              <p:cNvPr id="123" name="椭圆 122"/>
              <p:cNvSpPr/>
              <p:nvPr/>
            </p:nvSpPr>
            <p:spPr>
              <a:xfrm>
                <a:off x="22232" y="8657"/>
                <a:ext cx="778" cy="778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</p:grpSp>
      <p:sp>
        <p:nvSpPr>
          <p:cNvPr id="71" name="文本框 70"/>
          <p:cNvSpPr txBox="1"/>
          <p:nvPr/>
        </p:nvSpPr>
        <p:spPr>
          <a:xfrm>
            <a:off x="16403678" y="10029901"/>
            <a:ext cx="5580422" cy="2990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en-US" altLang="zh-CN" sz="1350" b="1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Horizontal Construction Params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9711C53-F9CC-6ED4-42EE-7C3B7F092C76}"/>
              </a:ext>
            </a:extLst>
          </p:cNvPr>
          <p:cNvGrpSpPr/>
          <p:nvPr/>
        </p:nvGrpSpPr>
        <p:grpSpPr>
          <a:xfrm>
            <a:off x="2118170" y="2203787"/>
            <a:ext cx="7280472" cy="4136053"/>
            <a:chOff x="3230662" y="4455045"/>
            <a:chExt cx="7280472" cy="4136053"/>
          </a:xfrm>
        </p:grpSpPr>
        <p:sp>
          <p:nvSpPr>
            <p:cNvPr id="170" name="矩形 169"/>
            <p:cNvSpPr/>
            <p:nvPr/>
          </p:nvSpPr>
          <p:spPr>
            <a:xfrm>
              <a:off x="3230662" y="4455045"/>
              <a:ext cx="7280472" cy="413605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125" name="图片 124" descr="horizontal_scatter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480435" y="5157470"/>
              <a:ext cx="6781800" cy="2667000"/>
            </a:xfrm>
            <a:prstGeom prst="rect">
              <a:avLst/>
            </a:prstGeom>
          </p:spPr>
        </p:pic>
        <p:grpSp>
          <p:nvGrpSpPr>
            <p:cNvPr id="73" name="组合 72"/>
            <p:cNvGrpSpPr/>
            <p:nvPr/>
          </p:nvGrpSpPr>
          <p:grpSpPr>
            <a:xfrm>
              <a:off x="3382645" y="4492625"/>
              <a:ext cx="3509010" cy="3488055"/>
              <a:chOff x="1155" y="-568"/>
              <a:chExt cx="9823" cy="9764"/>
            </a:xfrm>
          </p:grpSpPr>
          <p:grpSp>
            <p:nvGrpSpPr>
              <p:cNvPr id="74" name="组合 73"/>
              <p:cNvGrpSpPr/>
              <p:nvPr/>
            </p:nvGrpSpPr>
            <p:grpSpPr>
              <a:xfrm>
                <a:off x="1155" y="1258"/>
                <a:ext cx="9823" cy="7938"/>
                <a:chOff x="1155" y="1258"/>
                <a:chExt cx="9823" cy="7938"/>
              </a:xfrm>
            </p:grpSpPr>
            <p:sp>
              <p:nvSpPr>
                <p:cNvPr id="77" name="矩形 76"/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8" name="矩形 77"/>
                <p:cNvSpPr/>
                <p:nvPr/>
              </p:nvSpPr>
              <p:spPr>
                <a:xfrm rot="5400000">
                  <a:off x="6142" y="4180"/>
                  <a:ext cx="750" cy="878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9" name="文本框 78"/>
                <p:cNvSpPr txBox="1"/>
                <p:nvPr/>
              </p:nvSpPr>
              <p:spPr>
                <a:xfrm>
                  <a:off x="5929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80" name="文本框 79"/>
                <p:cNvSpPr txBox="1"/>
                <p:nvPr/>
              </p:nvSpPr>
              <p:spPr>
                <a:xfrm>
                  <a:off x="9935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100%</a:t>
                  </a:r>
                </a:p>
              </p:txBody>
            </p:sp>
            <p:sp>
              <p:nvSpPr>
                <p:cNvPr id="81" name="文本框 80"/>
                <p:cNvSpPr txBox="1"/>
                <p:nvPr/>
              </p:nvSpPr>
              <p:spPr>
                <a:xfrm>
                  <a:off x="1946" y="8194"/>
                  <a:ext cx="71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0%</a:t>
                  </a:r>
                </a:p>
              </p:txBody>
            </p:sp>
            <p:sp>
              <p:nvSpPr>
                <p:cNvPr id="82" name="文本框 81"/>
                <p:cNvSpPr txBox="1"/>
                <p:nvPr/>
              </p:nvSpPr>
              <p:spPr>
                <a:xfrm>
                  <a:off x="1368" y="2050"/>
                  <a:ext cx="72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0.6</a:t>
                  </a:r>
                </a:p>
              </p:txBody>
            </p:sp>
            <p:sp>
              <p:nvSpPr>
                <p:cNvPr id="83" name="文本框 82"/>
                <p:cNvSpPr txBox="1"/>
                <p:nvPr/>
              </p:nvSpPr>
              <p:spPr>
                <a:xfrm>
                  <a:off x="1155" y="4932"/>
                  <a:ext cx="936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0.3</a:t>
                  </a:r>
                </a:p>
              </p:txBody>
            </p:sp>
            <p:sp>
              <p:nvSpPr>
                <p:cNvPr id="84" name="文本框 83"/>
                <p:cNvSpPr txBox="1"/>
                <p:nvPr/>
              </p:nvSpPr>
              <p:spPr>
                <a:xfrm>
                  <a:off x="1608" y="1258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</a:p>
              </p:txBody>
            </p:sp>
            <p:sp>
              <p:nvSpPr>
                <p:cNvPr id="85" name="文本框 84"/>
                <p:cNvSpPr txBox="1"/>
                <p:nvPr/>
              </p:nvSpPr>
              <p:spPr>
                <a:xfrm>
                  <a:off x="7700" y="8760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</a:p>
              </p:txBody>
            </p:sp>
            <p:sp>
              <p:nvSpPr>
                <p:cNvPr id="86" name="文本框 85"/>
                <p:cNvSpPr txBox="1"/>
                <p:nvPr/>
              </p:nvSpPr>
              <p:spPr>
                <a:xfrm>
                  <a:off x="7886" y="4932"/>
                  <a:ext cx="3042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文本框 86"/>
                  <p:cNvSpPr txBox="1"/>
                  <p:nvPr/>
                </p:nvSpPr>
                <p:spPr>
                  <a:xfrm>
                    <a:off x="2895" y="-568"/>
                    <a:ext cx="7243" cy="14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Horizontal Constraint</a:t>
                    </a:r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𝜓</m:t>
                          </m:r>
                          <m:d>
                            <m:d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</m:d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en-US" altLang="zh-CN" sz="1400" b="0" i="0" smtClean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logistic</m:t>
                          </m:r>
                          <m:d>
                            <m:d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𝛼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</m:d>
                        </m:oMath>
                      </m:oMathPara>
                    </a14:m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87" name="文本框 8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5" y="-568"/>
                    <a:ext cx="7243" cy="1465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t="-2326" b="-46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8" name="文本框 87"/>
              <p:cNvSpPr txBox="1"/>
              <p:nvPr/>
            </p:nvSpPr>
            <p:spPr>
              <a:xfrm>
                <a:off x="2364" y="7446"/>
                <a:ext cx="3436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open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28% / 30% (2016 / 2023)</a:t>
                </a:r>
              </a:p>
            </p:txBody>
          </p:sp>
          <p:sp>
            <p:nvSpPr>
              <p:cNvPr id="89" name="文本框 88"/>
              <p:cNvSpPr txBox="1"/>
              <p:nvPr/>
            </p:nvSpPr>
            <p:spPr>
              <a:xfrm>
                <a:off x="7972" y="894"/>
                <a:ext cx="282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Locked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1% / 1% (2016 / 2023)</a:t>
                </a:r>
              </a:p>
            </p:txBody>
          </p:sp>
          <p:sp>
            <p:nvSpPr>
              <p:cNvPr id="90" name="文本框 89"/>
              <p:cNvSpPr txBox="1"/>
              <p:nvPr/>
            </p:nvSpPr>
            <p:spPr>
              <a:xfrm>
                <a:off x="2273" y="894"/>
                <a:ext cx="3529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 dirty="0">
                    <a:solidFill>
                      <a:schemeClr val="tx1"/>
                    </a:solidFill>
                    <a:sym typeface="+mn-ea"/>
                  </a:rPr>
                  <a:t>Edge-</a:t>
                </a:r>
                <a:r>
                  <a:rPr lang="en-US" altLang="zh-CN" sz="800" b="1" i="1" dirty="0" err="1">
                    <a:solidFill>
                      <a:schemeClr val="tx1"/>
                    </a:solidFill>
                    <a:sym typeface="+mn-ea"/>
                  </a:rPr>
                  <a:t>constrianed</a:t>
                </a:r>
                <a:endParaRPr lang="en-US" altLang="zh-CN" sz="800" b="1" i="1" dirty="0">
                  <a:solidFill>
                    <a:schemeClr val="tx1"/>
                  </a:solidFill>
                  <a:sym typeface="+mn-ea"/>
                </a:endParaRP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 dirty="0">
                    <a:solidFill>
                      <a:schemeClr val="tx1"/>
                    </a:solidFill>
                    <a:sym typeface="+mn-ea"/>
                  </a:rPr>
                  <a:t>45% / 44% (2016 / 2023)</a:t>
                </a:r>
                <a:endParaRPr lang="en-US" altLang="zh-CN" sz="800" i="1" dirty="0">
                  <a:solidFill>
                    <a:schemeClr val="tx1"/>
                  </a:solidFill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91" name="文本框 90"/>
              <p:cNvSpPr txBox="1"/>
              <p:nvPr/>
            </p:nvSpPr>
            <p:spPr>
              <a:xfrm>
                <a:off x="7570" y="7446"/>
                <a:ext cx="3227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constrianed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26% / 25% (2016/2023)</a:t>
                </a:r>
              </a:p>
            </p:txBody>
          </p:sp>
        </p:grpSp>
        <p:sp>
          <p:nvSpPr>
            <p:cNvPr id="126" name="文本框 125"/>
            <p:cNvSpPr txBox="1"/>
            <p:nvPr/>
          </p:nvSpPr>
          <p:spPr>
            <a:xfrm>
              <a:off x="3454400" y="7355205"/>
              <a:ext cx="254635" cy="13144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grpSp>
          <p:nvGrpSpPr>
            <p:cNvPr id="127" name="组合 126"/>
            <p:cNvGrpSpPr/>
            <p:nvPr/>
          </p:nvGrpSpPr>
          <p:grpSpPr>
            <a:xfrm>
              <a:off x="6813550" y="4507865"/>
              <a:ext cx="3489960" cy="3499485"/>
              <a:chOff x="11191" y="149"/>
              <a:chExt cx="9770" cy="9797"/>
            </a:xfrm>
          </p:grpSpPr>
          <p:sp>
            <p:nvSpPr>
              <p:cNvPr id="130" name="矩形 129"/>
              <p:cNvSpPr/>
              <p:nvPr/>
            </p:nvSpPr>
            <p:spPr>
              <a:xfrm rot="5400000">
                <a:off x="15794" y="4768"/>
                <a:ext cx="731" cy="897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31" name="矩形 130"/>
              <p:cNvSpPr/>
              <p:nvPr/>
            </p:nvSpPr>
            <p:spPr>
              <a:xfrm>
                <a:off x="11358" y="1930"/>
                <a:ext cx="644" cy="630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2" name="文本框 131"/>
                  <p:cNvSpPr txBox="1"/>
                  <p:nvPr/>
                </p:nvSpPr>
                <p:spPr>
                  <a:xfrm>
                    <a:off x="11408" y="149"/>
                    <a:ext cx="9438" cy="14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Horizontal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m:rPr>
                              <m:sty m:val="p"/>
                            </m:rPr>
                            <a:rPr lang="en-US" altLang="zh-CN" sz="1400" i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logistic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2" name="文本框 1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08" y="149"/>
                    <a:ext cx="9438" cy="146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t="-1163" b="-46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3" name="组合 132"/>
              <p:cNvGrpSpPr/>
              <p:nvPr/>
            </p:nvGrpSpPr>
            <p:grpSpPr>
              <a:xfrm>
                <a:off x="11191" y="1844"/>
                <a:ext cx="9656" cy="8102"/>
                <a:chOff x="9390" y="1694"/>
                <a:chExt cx="9656" cy="8102"/>
              </a:xfrm>
            </p:grpSpPr>
            <p:sp>
              <p:nvSpPr>
                <p:cNvPr id="134" name="文本框 133"/>
                <p:cNvSpPr txBox="1"/>
                <p:nvPr/>
              </p:nvSpPr>
              <p:spPr>
                <a:xfrm>
                  <a:off x="17956" y="871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70%</a:t>
                  </a:r>
                </a:p>
              </p:txBody>
            </p:sp>
            <p:sp>
              <p:nvSpPr>
                <p:cNvPr id="135" name="文本框 134"/>
                <p:cNvSpPr txBox="1"/>
                <p:nvPr/>
              </p:nvSpPr>
              <p:spPr>
                <a:xfrm>
                  <a:off x="9969" y="871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20%</a:t>
                  </a:r>
                </a:p>
              </p:txBody>
            </p:sp>
            <p:sp>
              <p:nvSpPr>
                <p:cNvPr id="136" name="文本框 135"/>
                <p:cNvSpPr txBox="1"/>
                <p:nvPr/>
              </p:nvSpPr>
              <p:spPr>
                <a:xfrm>
                  <a:off x="9583" y="7683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137" name="文本框 136"/>
                <p:cNvSpPr txBox="1"/>
                <p:nvPr/>
              </p:nvSpPr>
              <p:spPr>
                <a:xfrm>
                  <a:off x="9390" y="4928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0.2</a:t>
                  </a:r>
                </a:p>
              </p:txBody>
            </p:sp>
            <p:sp>
              <p:nvSpPr>
                <p:cNvPr id="138" name="文本框 137"/>
                <p:cNvSpPr txBox="1"/>
                <p:nvPr/>
              </p:nvSpPr>
              <p:spPr>
                <a:xfrm>
                  <a:off x="9746" y="1694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</a:p>
              </p:txBody>
            </p:sp>
            <p:sp>
              <p:nvSpPr>
                <p:cNvPr id="139" name="文本框 138"/>
                <p:cNvSpPr txBox="1"/>
                <p:nvPr/>
              </p:nvSpPr>
              <p:spPr>
                <a:xfrm>
                  <a:off x="16305" y="9283"/>
                  <a:ext cx="2741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</a:p>
              </p:txBody>
            </p:sp>
            <p:sp>
              <p:nvSpPr>
                <p:cNvPr id="140" name="文本框 139"/>
                <p:cNvSpPr txBox="1"/>
                <p:nvPr/>
              </p:nvSpPr>
              <p:spPr>
                <a:xfrm>
                  <a:off x="14751" y="871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141" name="文本框 140"/>
                <p:cNvSpPr txBox="1"/>
                <p:nvPr/>
              </p:nvSpPr>
              <p:spPr>
                <a:xfrm>
                  <a:off x="9439" y="2187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0.4</a:t>
                  </a:r>
                </a:p>
              </p:txBody>
            </p:sp>
          </p:grpSp>
          <p:sp>
            <p:nvSpPr>
              <p:cNvPr id="142" name="文本框 141"/>
              <p:cNvSpPr txBox="1"/>
              <p:nvPr/>
            </p:nvSpPr>
            <p:spPr>
              <a:xfrm>
                <a:off x="12139" y="8119"/>
                <a:ext cx="336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sparse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43% / 41% (2016 / 2023)</a:t>
                </a:r>
              </a:p>
            </p:txBody>
          </p:sp>
          <p:sp>
            <p:nvSpPr>
              <p:cNvPr id="144" name="文本框 143"/>
              <p:cNvSpPr txBox="1"/>
              <p:nvPr/>
            </p:nvSpPr>
            <p:spPr>
              <a:xfrm>
                <a:off x="17856" y="8119"/>
                <a:ext cx="2990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dense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9% / 12% (2016 / 2023)</a:t>
                </a:r>
              </a:p>
            </p:txBody>
          </p:sp>
          <p:sp>
            <p:nvSpPr>
              <p:cNvPr id="146" name="文本框 145"/>
              <p:cNvSpPr txBox="1"/>
              <p:nvPr/>
            </p:nvSpPr>
            <p:spPr>
              <a:xfrm>
                <a:off x="17571" y="1524"/>
                <a:ext cx="327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Core-dense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16% / 20% (2016 / 2023)</a:t>
                </a:r>
              </a:p>
            </p:txBody>
          </p:sp>
          <p:sp>
            <p:nvSpPr>
              <p:cNvPr id="147" name="文本框 146"/>
              <p:cNvSpPr txBox="1"/>
              <p:nvPr/>
            </p:nvSpPr>
            <p:spPr>
              <a:xfrm>
                <a:off x="12165" y="1553"/>
                <a:ext cx="3291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 dirty="0">
                    <a:sym typeface="+mn-ea"/>
                  </a:rPr>
                  <a:t>Thinly built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 dirty="0">
                    <a:sym typeface="+mn-ea"/>
                  </a:rPr>
                  <a:t>32% / 27% (2016 / 2023)</a:t>
                </a:r>
              </a:p>
            </p:txBody>
          </p:sp>
          <p:sp>
            <p:nvSpPr>
              <p:cNvPr id="150" name="文本框 149"/>
              <p:cNvSpPr txBox="1"/>
              <p:nvPr/>
            </p:nvSpPr>
            <p:spPr>
              <a:xfrm>
                <a:off x="18266" y="5773"/>
                <a:ext cx="2695" cy="11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0.086</a:t>
                </a:r>
              </a:p>
            </p:txBody>
          </p:sp>
        </p:grpSp>
        <p:grpSp>
          <p:nvGrpSpPr>
            <p:cNvPr id="197" name="组合 196"/>
            <p:cNvGrpSpPr/>
            <p:nvPr/>
          </p:nvGrpSpPr>
          <p:grpSpPr>
            <a:xfrm>
              <a:off x="4607560" y="8121650"/>
              <a:ext cx="4501515" cy="353060"/>
              <a:chOff x="3905" y="13468"/>
              <a:chExt cx="7089" cy="556"/>
            </a:xfrm>
          </p:grpSpPr>
          <p:grpSp>
            <p:nvGrpSpPr>
              <p:cNvPr id="195" name="组合 194"/>
              <p:cNvGrpSpPr/>
              <p:nvPr/>
            </p:nvGrpSpPr>
            <p:grpSpPr>
              <a:xfrm>
                <a:off x="8921" y="13468"/>
                <a:ext cx="2073" cy="246"/>
                <a:chOff x="8921" y="13468"/>
                <a:chExt cx="2073" cy="246"/>
              </a:xfrm>
            </p:grpSpPr>
            <p:sp>
              <p:nvSpPr>
                <p:cNvPr id="172" name="文本框 171"/>
                <p:cNvSpPr txBox="1"/>
                <p:nvPr/>
              </p:nvSpPr>
              <p:spPr>
                <a:xfrm>
                  <a:off x="9172" y="1346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Latin America, 2016</a:t>
                  </a:r>
                </a:p>
              </p:txBody>
            </p:sp>
            <p:sp>
              <p:nvSpPr>
                <p:cNvPr id="173" name="椭圆 172"/>
                <p:cNvSpPr/>
                <p:nvPr/>
              </p:nvSpPr>
              <p:spPr>
                <a:xfrm>
                  <a:off x="8921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196" name="组合 195"/>
              <p:cNvGrpSpPr/>
              <p:nvPr/>
            </p:nvGrpSpPr>
            <p:grpSpPr>
              <a:xfrm>
                <a:off x="8921" y="13778"/>
                <a:ext cx="2073" cy="246"/>
                <a:chOff x="8921" y="13778"/>
                <a:chExt cx="2073" cy="246"/>
              </a:xfrm>
            </p:grpSpPr>
            <p:sp>
              <p:nvSpPr>
                <p:cNvPr id="174" name="椭圆 173"/>
                <p:cNvSpPr/>
                <p:nvPr/>
              </p:nvSpPr>
              <p:spPr>
                <a:xfrm>
                  <a:off x="8921" y="13820"/>
                  <a:ext cx="163" cy="162"/>
                </a:xfrm>
                <a:prstGeom prst="ellipse">
                  <a:avLst/>
                </a:prstGeom>
                <a:solidFill>
                  <a:srgbClr val="47A2DE">
                    <a:alpha val="70000"/>
                  </a:srgbClr>
                </a:solidFill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75" name="文本框 174"/>
                <p:cNvSpPr txBox="1"/>
                <p:nvPr/>
              </p:nvSpPr>
              <p:spPr>
                <a:xfrm>
                  <a:off x="9172" y="1377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Latin America, 2023</a:t>
                  </a:r>
                </a:p>
              </p:txBody>
            </p:sp>
          </p:grpSp>
          <p:sp>
            <p:nvSpPr>
              <p:cNvPr id="177" name="椭圆 176"/>
              <p:cNvSpPr/>
              <p:nvPr/>
            </p:nvSpPr>
            <p:spPr>
              <a:xfrm>
                <a:off x="3905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grpSp>
            <p:nvGrpSpPr>
              <p:cNvPr id="190" name="组合 189"/>
              <p:cNvGrpSpPr/>
              <p:nvPr/>
            </p:nvGrpSpPr>
            <p:grpSpPr>
              <a:xfrm>
                <a:off x="3905" y="13778"/>
                <a:ext cx="1336" cy="246"/>
                <a:chOff x="3905" y="13786"/>
                <a:chExt cx="1336" cy="246"/>
              </a:xfrm>
            </p:grpSpPr>
            <p:sp>
              <p:nvSpPr>
                <p:cNvPr id="178" name="椭圆 177"/>
                <p:cNvSpPr/>
                <p:nvPr/>
              </p:nvSpPr>
              <p:spPr>
                <a:xfrm>
                  <a:off x="3905" y="13828"/>
                  <a:ext cx="163" cy="162"/>
                </a:xfrm>
                <a:prstGeom prst="ellipse">
                  <a:avLst/>
                </a:prstGeom>
                <a:solidFill>
                  <a:srgbClr val="E85748">
                    <a:alpha val="70000"/>
                  </a:srgbClr>
                </a:solidFill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79" name="文本框 178"/>
                <p:cNvSpPr txBox="1"/>
                <p:nvPr/>
              </p:nvSpPr>
              <p:spPr>
                <a:xfrm>
                  <a:off x="4149" y="13786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/>
                    <a:t>Africa, 2023</a:t>
                  </a:r>
                </a:p>
              </p:txBody>
            </p:sp>
          </p:grpSp>
          <p:grpSp>
            <p:nvGrpSpPr>
              <p:cNvPr id="191" name="组合 190"/>
              <p:cNvGrpSpPr/>
              <p:nvPr/>
            </p:nvGrpSpPr>
            <p:grpSpPr>
              <a:xfrm>
                <a:off x="5650" y="13468"/>
                <a:ext cx="3239" cy="246"/>
                <a:chOff x="5650" y="13468"/>
                <a:chExt cx="3239" cy="246"/>
              </a:xfrm>
            </p:grpSpPr>
            <p:sp>
              <p:nvSpPr>
                <p:cNvPr id="180" name="文本框 179"/>
                <p:cNvSpPr txBox="1"/>
                <p:nvPr/>
              </p:nvSpPr>
              <p:spPr>
                <a:xfrm>
                  <a:off x="5884" y="13468"/>
                  <a:ext cx="3005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South &amp; Southeast Asia, 2016</a:t>
                  </a:r>
                </a:p>
              </p:txBody>
            </p:sp>
            <p:sp>
              <p:nvSpPr>
                <p:cNvPr id="181" name="椭圆 180"/>
                <p:cNvSpPr/>
                <p:nvPr/>
              </p:nvSpPr>
              <p:spPr>
                <a:xfrm>
                  <a:off x="5650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193" name="组合 192"/>
              <p:cNvGrpSpPr/>
              <p:nvPr/>
            </p:nvGrpSpPr>
            <p:grpSpPr>
              <a:xfrm>
                <a:off x="5650" y="13778"/>
                <a:ext cx="3103" cy="246"/>
                <a:chOff x="5650" y="13778"/>
                <a:chExt cx="3103" cy="246"/>
              </a:xfrm>
            </p:grpSpPr>
            <p:sp>
              <p:nvSpPr>
                <p:cNvPr id="182" name="椭圆 181"/>
                <p:cNvSpPr/>
                <p:nvPr/>
              </p:nvSpPr>
              <p:spPr>
                <a:xfrm>
                  <a:off x="5650" y="13820"/>
                  <a:ext cx="163" cy="162"/>
                </a:xfrm>
                <a:prstGeom prst="ellipse">
                  <a:avLst/>
                </a:prstGeom>
                <a:solidFill>
                  <a:srgbClr val="F39F1B">
                    <a:alpha val="70000"/>
                  </a:srgbClr>
                </a:solidFill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83" name="文本框 182"/>
                <p:cNvSpPr txBox="1"/>
                <p:nvPr/>
              </p:nvSpPr>
              <p:spPr>
                <a:xfrm>
                  <a:off x="5884" y="13778"/>
                  <a:ext cx="2869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South &amp; Southeast Asia, 2023</a:t>
                  </a:r>
                </a:p>
              </p:txBody>
            </p:sp>
          </p:grpSp>
          <p:grpSp>
            <p:nvGrpSpPr>
              <p:cNvPr id="194" name="组合 193"/>
              <p:cNvGrpSpPr/>
              <p:nvPr/>
            </p:nvGrpSpPr>
            <p:grpSpPr>
              <a:xfrm>
                <a:off x="3905" y="13468"/>
                <a:ext cx="1336" cy="246"/>
                <a:chOff x="3905" y="13468"/>
                <a:chExt cx="1336" cy="246"/>
              </a:xfrm>
            </p:grpSpPr>
            <p:sp>
              <p:nvSpPr>
                <p:cNvPr id="176" name="文本框 175"/>
                <p:cNvSpPr txBox="1"/>
                <p:nvPr/>
              </p:nvSpPr>
              <p:spPr>
                <a:xfrm>
                  <a:off x="4149" y="13468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 dirty="0"/>
                    <a:t>Africa, 2016</a:t>
                  </a:r>
                </a:p>
              </p:txBody>
            </p:sp>
            <p:sp>
              <p:nvSpPr>
                <p:cNvPr id="188" name="椭圆 187"/>
                <p:cNvSpPr/>
                <p:nvPr/>
              </p:nvSpPr>
              <p:spPr>
                <a:xfrm>
                  <a:off x="3905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</p:grpSp>
        </p:grpSp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6584665D-B15F-E01B-64D6-125ED15CEE2C}"/>
              </a:ext>
            </a:extLst>
          </p:cNvPr>
          <p:cNvGrpSpPr/>
          <p:nvPr/>
        </p:nvGrpSpPr>
        <p:grpSpPr>
          <a:xfrm>
            <a:off x="15727566" y="2203787"/>
            <a:ext cx="7044055" cy="4353560"/>
            <a:chOff x="3314700" y="4378960"/>
            <a:chExt cx="7044055" cy="4353560"/>
          </a:xfrm>
        </p:grpSpPr>
        <p:sp>
          <p:nvSpPr>
            <p:cNvPr id="160" name="矩形 169">
              <a:extLst>
                <a:ext uri="{FF2B5EF4-FFF2-40B4-BE49-F238E27FC236}">
                  <a16:creationId xmlns:a16="http://schemas.microsoft.com/office/drawing/2014/main" id="{AC26F88F-CE62-4D7A-4A6A-A6A3AEE585AC}"/>
                </a:ext>
              </a:extLst>
            </p:cNvPr>
            <p:cNvSpPr/>
            <p:nvPr/>
          </p:nvSpPr>
          <p:spPr>
            <a:xfrm>
              <a:off x="3314700" y="4378960"/>
              <a:ext cx="7044055" cy="43535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161" name="图片 124" descr="horizontal_scatter">
              <a:extLst>
                <a:ext uri="{FF2B5EF4-FFF2-40B4-BE49-F238E27FC236}">
                  <a16:creationId xmlns:a16="http://schemas.microsoft.com/office/drawing/2014/main" id="{75985CD3-ACD4-4C8A-9822-543F4BB8D5E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480435" y="5157470"/>
              <a:ext cx="6781800" cy="2667000"/>
            </a:xfrm>
            <a:prstGeom prst="rect">
              <a:avLst/>
            </a:prstGeom>
          </p:spPr>
        </p:pic>
        <p:grpSp>
          <p:nvGrpSpPr>
            <p:cNvPr id="162" name="组合 72">
              <a:extLst>
                <a:ext uri="{FF2B5EF4-FFF2-40B4-BE49-F238E27FC236}">
                  <a16:creationId xmlns:a16="http://schemas.microsoft.com/office/drawing/2014/main" id="{6AA09422-499D-82C2-4F24-1EF186D501DE}"/>
                </a:ext>
              </a:extLst>
            </p:cNvPr>
            <p:cNvGrpSpPr/>
            <p:nvPr/>
          </p:nvGrpSpPr>
          <p:grpSpPr>
            <a:xfrm>
              <a:off x="3382645" y="4492625"/>
              <a:ext cx="3509010" cy="3488055"/>
              <a:chOff x="1155" y="-568"/>
              <a:chExt cx="9823" cy="9764"/>
            </a:xfrm>
          </p:grpSpPr>
          <p:grpSp>
            <p:nvGrpSpPr>
              <p:cNvPr id="224" name="组合 73">
                <a:extLst>
                  <a:ext uri="{FF2B5EF4-FFF2-40B4-BE49-F238E27FC236}">
                    <a16:creationId xmlns:a16="http://schemas.microsoft.com/office/drawing/2014/main" id="{85A07510-67EE-878D-5034-A0E9B5803CB0}"/>
                  </a:ext>
                </a:extLst>
              </p:cNvPr>
              <p:cNvGrpSpPr/>
              <p:nvPr/>
            </p:nvGrpSpPr>
            <p:grpSpPr>
              <a:xfrm>
                <a:off x="1155" y="1258"/>
                <a:ext cx="9823" cy="7938"/>
                <a:chOff x="1155" y="1258"/>
                <a:chExt cx="9823" cy="7938"/>
              </a:xfrm>
            </p:grpSpPr>
            <p:sp>
              <p:nvSpPr>
                <p:cNvPr id="230" name="矩形 76">
                  <a:extLst>
                    <a:ext uri="{FF2B5EF4-FFF2-40B4-BE49-F238E27FC236}">
                      <a16:creationId xmlns:a16="http://schemas.microsoft.com/office/drawing/2014/main" id="{0555D13E-6765-949B-3B75-65C74666A1FD}"/>
                    </a:ext>
                  </a:extLst>
                </p:cNvPr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231" name="矩形 77">
                  <a:extLst>
                    <a:ext uri="{FF2B5EF4-FFF2-40B4-BE49-F238E27FC236}">
                      <a16:creationId xmlns:a16="http://schemas.microsoft.com/office/drawing/2014/main" id="{BCF76343-CE3D-1A15-88C3-CCFB3BFBF7ED}"/>
                    </a:ext>
                  </a:extLst>
                </p:cNvPr>
                <p:cNvSpPr/>
                <p:nvPr/>
              </p:nvSpPr>
              <p:spPr>
                <a:xfrm rot="5400000">
                  <a:off x="6142" y="4180"/>
                  <a:ext cx="750" cy="878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232" name="文本框 78">
                  <a:extLst>
                    <a:ext uri="{FF2B5EF4-FFF2-40B4-BE49-F238E27FC236}">
                      <a16:creationId xmlns:a16="http://schemas.microsoft.com/office/drawing/2014/main" id="{AC03A2D5-E3BE-9C89-C867-4B7EC4FDEBE0}"/>
                    </a:ext>
                  </a:extLst>
                </p:cNvPr>
                <p:cNvSpPr txBox="1"/>
                <p:nvPr/>
              </p:nvSpPr>
              <p:spPr>
                <a:xfrm>
                  <a:off x="5929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233" name="文本框 79">
                  <a:extLst>
                    <a:ext uri="{FF2B5EF4-FFF2-40B4-BE49-F238E27FC236}">
                      <a16:creationId xmlns:a16="http://schemas.microsoft.com/office/drawing/2014/main" id="{FB1C04EE-4E2A-BA81-04B1-FDAEEA84E426}"/>
                    </a:ext>
                  </a:extLst>
                </p:cNvPr>
                <p:cNvSpPr txBox="1"/>
                <p:nvPr/>
              </p:nvSpPr>
              <p:spPr>
                <a:xfrm>
                  <a:off x="9935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100%</a:t>
                  </a:r>
                </a:p>
              </p:txBody>
            </p:sp>
            <p:sp>
              <p:nvSpPr>
                <p:cNvPr id="234" name="文本框 80">
                  <a:extLst>
                    <a:ext uri="{FF2B5EF4-FFF2-40B4-BE49-F238E27FC236}">
                      <a16:creationId xmlns:a16="http://schemas.microsoft.com/office/drawing/2014/main" id="{3946BCC0-5D43-BDB5-E8AF-DEC9D0FDB9AB}"/>
                    </a:ext>
                  </a:extLst>
                </p:cNvPr>
                <p:cNvSpPr txBox="1"/>
                <p:nvPr/>
              </p:nvSpPr>
              <p:spPr>
                <a:xfrm>
                  <a:off x="1946" y="8194"/>
                  <a:ext cx="71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0%</a:t>
                  </a:r>
                </a:p>
              </p:txBody>
            </p:sp>
            <p:sp>
              <p:nvSpPr>
                <p:cNvPr id="235" name="文本框 81">
                  <a:extLst>
                    <a:ext uri="{FF2B5EF4-FFF2-40B4-BE49-F238E27FC236}">
                      <a16:creationId xmlns:a16="http://schemas.microsoft.com/office/drawing/2014/main" id="{861D4EEE-EC11-68D0-FFDC-90562AD774BE}"/>
                    </a:ext>
                  </a:extLst>
                </p:cNvPr>
                <p:cNvSpPr txBox="1"/>
                <p:nvPr/>
              </p:nvSpPr>
              <p:spPr>
                <a:xfrm>
                  <a:off x="1368" y="2050"/>
                  <a:ext cx="72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0.6</a:t>
                  </a:r>
                </a:p>
              </p:txBody>
            </p:sp>
            <p:sp>
              <p:nvSpPr>
                <p:cNvPr id="236" name="文本框 82">
                  <a:extLst>
                    <a:ext uri="{FF2B5EF4-FFF2-40B4-BE49-F238E27FC236}">
                      <a16:creationId xmlns:a16="http://schemas.microsoft.com/office/drawing/2014/main" id="{E6B39D20-E2D6-AFA9-EC44-B4DFA8C8BB0B}"/>
                    </a:ext>
                  </a:extLst>
                </p:cNvPr>
                <p:cNvSpPr txBox="1"/>
                <p:nvPr/>
              </p:nvSpPr>
              <p:spPr>
                <a:xfrm>
                  <a:off x="1155" y="4932"/>
                  <a:ext cx="936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0.3</a:t>
                  </a:r>
                </a:p>
              </p:txBody>
            </p:sp>
            <p:sp>
              <p:nvSpPr>
                <p:cNvPr id="237" name="文本框 83">
                  <a:extLst>
                    <a:ext uri="{FF2B5EF4-FFF2-40B4-BE49-F238E27FC236}">
                      <a16:creationId xmlns:a16="http://schemas.microsoft.com/office/drawing/2014/main" id="{853B11E4-A92A-E112-55C6-AE937375B0A6}"/>
                    </a:ext>
                  </a:extLst>
                </p:cNvPr>
                <p:cNvSpPr txBox="1"/>
                <p:nvPr/>
              </p:nvSpPr>
              <p:spPr>
                <a:xfrm>
                  <a:off x="1608" y="1258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</a:p>
              </p:txBody>
            </p:sp>
            <p:sp>
              <p:nvSpPr>
                <p:cNvPr id="238" name="文本框 84">
                  <a:extLst>
                    <a:ext uri="{FF2B5EF4-FFF2-40B4-BE49-F238E27FC236}">
                      <a16:creationId xmlns:a16="http://schemas.microsoft.com/office/drawing/2014/main" id="{51E11E0B-D26E-011B-8416-053CF0416E71}"/>
                    </a:ext>
                  </a:extLst>
                </p:cNvPr>
                <p:cNvSpPr txBox="1"/>
                <p:nvPr/>
              </p:nvSpPr>
              <p:spPr>
                <a:xfrm>
                  <a:off x="7700" y="8760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</a:p>
              </p:txBody>
            </p:sp>
            <p:sp>
              <p:nvSpPr>
                <p:cNvPr id="239" name="文本框 85">
                  <a:extLst>
                    <a:ext uri="{FF2B5EF4-FFF2-40B4-BE49-F238E27FC236}">
                      <a16:creationId xmlns:a16="http://schemas.microsoft.com/office/drawing/2014/main" id="{0273FB50-7F70-6CA6-A02B-B471133F3FC3}"/>
                    </a:ext>
                  </a:extLst>
                </p:cNvPr>
                <p:cNvSpPr txBox="1"/>
                <p:nvPr/>
              </p:nvSpPr>
              <p:spPr>
                <a:xfrm>
                  <a:off x="7886" y="4932"/>
                  <a:ext cx="3042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5" name="文本框 86">
                    <a:extLst>
                      <a:ext uri="{FF2B5EF4-FFF2-40B4-BE49-F238E27FC236}">
                        <a16:creationId xmlns:a16="http://schemas.microsoft.com/office/drawing/2014/main" id="{346208FD-E45A-AD34-606B-23FE1BB02C4C}"/>
                      </a:ext>
                    </a:extLst>
                  </p:cNvPr>
                  <p:cNvSpPr txBox="1"/>
                  <p:nvPr/>
                </p:nvSpPr>
                <p:spPr>
                  <a:xfrm>
                    <a:off x="2895" y="-568"/>
                    <a:ext cx="7243" cy="14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Horizontal Constraints</a:t>
                    </a:r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𝜓</m:t>
                          </m:r>
                          <m:d>
                            <m:d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</m:d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en-US" altLang="zh-CN" sz="1400" b="0" i="0" smtClean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logistic</m:t>
                          </m:r>
                          <m:d>
                            <m:d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𝛼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</m:d>
                        </m:oMath>
                      </m:oMathPara>
                    </a14:m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87" name="文本框 8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5" y="-568"/>
                    <a:ext cx="7243" cy="146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t="-2326" b="-46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26" name="文本框 87">
                <a:extLst>
                  <a:ext uri="{FF2B5EF4-FFF2-40B4-BE49-F238E27FC236}">
                    <a16:creationId xmlns:a16="http://schemas.microsoft.com/office/drawing/2014/main" id="{C1016D71-2FB0-D99D-256B-82550BF59416}"/>
                  </a:ext>
                </a:extLst>
              </p:cNvPr>
              <p:cNvSpPr txBox="1"/>
              <p:nvPr/>
            </p:nvSpPr>
            <p:spPr>
              <a:xfrm>
                <a:off x="2364" y="7446"/>
                <a:ext cx="3436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open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28% / 30% (2016 / 2023)</a:t>
                </a:r>
              </a:p>
            </p:txBody>
          </p:sp>
          <p:sp>
            <p:nvSpPr>
              <p:cNvPr id="227" name="文本框 88">
                <a:extLst>
                  <a:ext uri="{FF2B5EF4-FFF2-40B4-BE49-F238E27FC236}">
                    <a16:creationId xmlns:a16="http://schemas.microsoft.com/office/drawing/2014/main" id="{D9F9B0F5-7B51-C87E-E502-CCA053EF286A}"/>
                  </a:ext>
                </a:extLst>
              </p:cNvPr>
              <p:cNvSpPr txBox="1"/>
              <p:nvPr/>
            </p:nvSpPr>
            <p:spPr>
              <a:xfrm>
                <a:off x="7972" y="894"/>
                <a:ext cx="282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Locked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1% / 1% (2016 / 2023)</a:t>
                </a:r>
              </a:p>
            </p:txBody>
          </p:sp>
          <p:sp>
            <p:nvSpPr>
              <p:cNvPr id="228" name="文本框 89">
                <a:extLst>
                  <a:ext uri="{FF2B5EF4-FFF2-40B4-BE49-F238E27FC236}">
                    <a16:creationId xmlns:a16="http://schemas.microsoft.com/office/drawing/2014/main" id="{F6AFB23F-6A2F-42A3-C075-93A1106E2638}"/>
                  </a:ext>
                </a:extLst>
              </p:cNvPr>
              <p:cNvSpPr txBox="1"/>
              <p:nvPr/>
            </p:nvSpPr>
            <p:spPr>
              <a:xfrm>
                <a:off x="2273" y="894"/>
                <a:ext cx="3529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 dirty="0">
                    <a:solidFill>
                      <a:schemeClr val="tx1"/>
                    </a:solidFill>
                    <a:sym typeface="+mn-ea"/>
                  </a:rPr>
                  <a:t>Edge-</a:t>
                </a:r>
                <a:r>
                  <a:rPr lang="en-US" altLang="zh-CN" sz="800" b="1" i="1" dirty="0" err="1">
                    <a:solidFill>
                      <a:schemeClr val="tx1"/>
                    </a:solidFill>
                    <a:sym typeface="+mn-ea"/>
                  </a:rPr>
                  <a:t>constrianed</a:t>
                </a:r>
                <a:endParaRPr lang="en-US" altLang="zh-CN" sz="800" b="1" i="1" dirty="0">
                  <a:solidFill>
                    <a:schemeClr val="tx1"/>
                  </a:solidFill>
                  <a:sym typeface="+mn-ea"/>
                </a:endParaRP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 dirty="0">
                    <a:solidFill>
                      <a:schemeClr val="tx1"/>
                    </a:solidFill>
                    <a:sym typeface="+mn-ea"/>
                  </a:rPr>
                  <a:t>45% / 44% (2016 / 2023)</a:t>
                </a:r>
                <a:endParaRPr lang="en-US" altLang="zh-CN" sz="800" i="1" dirty="0">
                  <a:solidFill>
                    <a:schemeClr val="tx1"/>
                  </a:solidFill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229" name="文本框 90">
                <a:extLst>
                  <a:ext uri="{FF2B5EF4-FFF2-40B4-BE49-F238E27FC236}">
                    <a16:creationId xmlns:a16="http://schemas.microsoft.com/office/drawing/2014/main" id="{F1F9D5A0-D3FA-1266-E943-D1E95B676B2A}"/>
                  </a:ext>
                </a:extLst>
              </p:cNvPr>
              <p:cNvSpPr txBox="1"/>
              <p:nvPr/>
            </p:nvSpPr>
            <p:spPr>
              <a:xfrm>
                <a:off x="7570" y="7446"/>
                <a:ext cx="3227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constrianed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26% / 25% (2016/2023)</a:t>
                </a:r>
              </a:p>
            </p:txBody>
          </p:sp>
        </p:grpSp>
        <p:sp>
          <p:nvSpPr>
            <p:cNvPr id="163" name="文本框 125">
              <a:extLst>
                <a:ext uri="{FF2B5EF4-FFF2-40B4-BE49-F238E27FC236}">
                  <a16:creationId xmlns:a16="http://schemas.microsoft.com/office/drawing/2014/main" id="{97A06B23-56BF-66F1-E63F-20DC9849D058}"/>
                </a:ext>
              </a:extLst>
            </p:cNvPr>
            <p:cNvSpPr txBox="1"/>
            <p:nvPr/>
          </p:nvSpPr>
          <p:spPr>
            <a:xfrm>
              <a:off x="3454400" y="7355205"/>
              <a:ext cx="254635" cy="13144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grpSp>
          <p:nvGrpSpPr>
            <p:cNvPr id="164" name="组合 126">
              <a:extLst>
                <a:ext uri="{FF2B5EF4-FFF2-40B4-BE49-F238E27FC236}">
                  <a16:creationId xmlns:a16="http://schemas.microsoft.com/office/drawing/2014/main" id="{37319C59-D230-2C97-ED1A-2145A65E3AD0}"/>
                </a:ext>
              </a:extLst>
            </p:cNvPr>
            <p:cNvGrpSpPr/>
            <p:nvPr/>
          </p:nvGrpSpPr>
          <p:grpSpPr>
            <a:xfrm>
              <a:off x="6813550" y="4507865"/>
              <a:ext cx="3489960" cy="3499485"/>
              <a:chOff x="11191" y="149"/>
              <a:chExt cx="9770" cy="9797"/>
            </a:xfrm>
          </p:grpSpPr>
          <p:sp>
            <p:nvSpPr>
              <p:cNvPr id="207" name="矩形 129">
                <a:extLst>
                  <a:ext uri="{FF2B5EF4-FFF2-40B4-BE49-F238E27FC236}">
                    <a16:creationId xmlns:a16="http://schemas.microsoft.com/office/drawing/2014/main" id="{9E7330DA-D96D-985E-AB92-66E4DD9B3339}"/>
                  </a:ext>
                </a:extLst>
              </p:cNvPr>
              <p:cNvSpPr/>
              <p:nvPr/>
            </p:nvSpPr>
            <p:spPr>
              <a:xfrm rot="5400000">
                <a:off x="15794" y="4768"/>
                <a:ext cx="731" cy="897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208" name="矩形 130">
                <a:extLst>
                  <a:ext uri="{FF2B5EF4-FFF2-40B4-BE49-F238E27FC236}">
                    <a16:creationId xmlns:a16="http://schemas.microsoft.com/office/drawing/2014/main" id="{62206564-D0AD-68B8-F5D0-B5DDA47B9B78}"/>
                  </a:ext>
                </a:extLst>
              </p:cNvPr>
              <p:cNvSpPr/>
              <p:nvPr/>
            </p:nvSpPr>
            <p:spPr>
              <a:xfrm>
                <a:off x="11358" y="1930"/>
                <a:ext cx="644" cy="630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9" name="文本框 131">
                    <a:extLst>
                      <a:ext uri="{FF2B5EF4-FFF2-40B4-BE49-F238E27FC236}">
                        <a16:creationId xmlns:a16="http://schemas.microsoft.com/office/drawing/2014/main" id="{A3CF0A04-2C78-5799-E1FB-CB6FAFCE2195}"/>
                      </a:ext>
                    </a:extLst>
                  </p:cNvPr>
                  <p:cNvSpPr txBox="1"/>
                  <p:nvPr/>
                </p:nvSpPr>
                <p:spPr>
                  <a:xfrm>
                    <a:off x="11408" y="149"/>
                    <a:ext cx="9438" cy="14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Horizontal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m:rPr>
                              <m:sty m:val="p"/>
                            </m:rPr>
                            <a:rPr lang="en-US" altLang="zh-CN" sz="1400" i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logistic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2" name="文本框 1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08" y="149"/>
                    <a:ext cx="9438" cy="146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t="-1163" b="-46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10" name="组合 132">
                <a:extLst>
                  <a:ext uri="{FF2B5EF4-FFF2-40B4-BE49-F238E27FC236}">
                    <a16:creationId xmlns:a16="http://schemas.microsoft.com/office/drawing/2014/main" id="{338980C4-6C57-8F5F-3BC4-1D8D2863A2D0}"/>
                  </a:ext>
                </a:extLst>
              </p:cNvPr>
              <p:cNvGrpSpPr/>
              <p:nvPr/>
            </p:nvGrpSpPr>
            <p:grpSpPr>
              <a:xfrm>
                <a:off x="11191" y="1844"/>
                <a:ext cx="9656" cy="8102"/>
                <a:chOff x="9390" y="1694"/>
                <a:chExt cx="9656" cy="8102"/>
              </a:xfrm>
            </p:grpSpPr>
            <p:sp>
              <p:nvSpPr>
                <p:cNvPr id="216" name="文本框 133">
                  <a:extLst>
                    <a:ext uri="{FF2B5EF4-FFF2-40B4-BE49-F238E27FC236}">
                      <a16:creationId xmlns:a16="http://schemas.microsoft.com/office/drawing/2014/main" id="{326D63FA-2EBA-410C-B05B-44A4D52C5585}"/>
                    </a:ext>
                  </a:extLst>
                </p:cNvPr>
                <p:cNvSpPr txBox="1"/>
                <p:nvPr/>
              </p:nvSpPr>
              <p:spPr>
                <a:xfrm>
                  <a:off x="17956" y="871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70%</a:t>
                  </a:r>
                </a:p>
              </p:txBody>
            </p:sp>
            <p:sp>
              <p:nvSpPr>
                <p:cNvPr id="217" name="文本框 134">
                  <a:extLst>
                    <a:ext uri="{FF2B5EF4-FFF2-40B4-BE49-F238E27FC236}">
                      <a16:creationId xmlns:a16="http://schemas.microsoft.com/office/drawing/2014/main" id="{326A87CC-5DE1-CD53-7967-E74672EF389A}"/>
                    </a:ext>
                  </a:extLst>
                </p:cNvPr>
                <p:cNvSpPr txBox="1"/>
                <p:nvPr/>
              </p:nvSpPr>
              <p:spPr>
                <a:xfrm>
                  <a:off x="9969" y="871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20%</a:t>
                  </a:r>
                </a:p>
              </p:txBody>
            </p:sp>
            <p:sp>
              <p:nvSpPr>
                <p:cNvPr id="218" name="文本框 135">
                  <a:extLst>
                    <a:ext uri="{FF2B5EF4-FFF2-40B4-BE49-F238E27FC236}">
                      <a16:creationId xmlns:a16="http://schemas.microsoft.com/office/drawing/2014/main" id="{67D40A03-0EF0-57F9-8EE5-0172D260ECB8}"/>
                    </a:ext>
                  </a:extLst>
                </p:cNvPr>
                <p:cNvSpPr txBox="1"/>
                <p:nvPr/>
              </p:nvSpPr>
              <p:spPr>
                <a:xfrm>
                  <a:off x="9583" y="7683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219" name="文本框 136">
                  <a:extLst>
                    <a:ext uri="{FF2B5EF4-FFF2-40B4-BE49-F238E27FC236}">
                      <a16:creationId xmlns:a16="http://schemas.microsoft.com/office/drawing/2014/main" id="{2050C5F2-19D0-C611-6191-585E6AEAFBEB}"/>
                    </a:ext>
                  </a:extLst>
                </p:cNvPr>
                <p:cNvSpPr txBox="1"/>
                <p:nvPr/>
              </p:nvSpPr>
              <p:spPr>
                <a:xfrm>
                  <a:off x="9390" y="4928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0.2</a:t>
                  </a:r>
                </a:p>
              </p:txBody>
            </p:sp>
            <p:sp>
              <p:nvSpPr>
                <p:cNvPr id="220" name="文本框 137">
                  <a:extLst>
                    <a:ext uri="{FF2B5EF4-FFF2-40B4-BE49-F238E27FC236}">
                      <a16:creationId xmlns:a16="http://schemas.microsoft.com/office/drawing/2014/main" id="{9B3A3EE8-FA7A-E6B6-8DE4-D9A95E7520E4}"/>
                    </a:ext>
                  </a:extLst>
                </p:cNvPr>
                <p:cNvSpPr txBox="1"/>
                <p:nvPr/>
              </p:nvSpPr>
              <p:spPr>
                <a:xfrm>
                  <a:off x="9746" y="1694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</a:p>
              </p:txBody>
            </p:sp>
            <p:sp>
              <p:nvSpPr>
                <p:cNvPr id="221" name="文本框 138">
                  <a:extLst>
                    <a:ext uri="{FF2B5EF4-FFF2-40B4-BE49-F238E27FC236}">
                      <a16:creationId xmlns:a16="http://schemas.microsoft.com/office/drawing/2014/main" id="{ECF4932D-09EA-B6A3-ABDA-1A33B9111304}"/>
                    </a:ext>
                  </a:extLst>
                </p:cNvPr>
                <p:cNvSpPr txBox="1"/>
                <p:nvPr/>
              </p:nvSpPr>
              <p:spPr>
                <a:xfrm>
                  <a:off x="16305" y="9283"/>
                  <a:ext cx="2741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</a:p>
              </p:txBody>
            </p:sp>
            <p:sp>
              <p:nvSpPr>
                <p:cNvPr id="222" name="文本框 139">
                  <a:extLst>
                    <a:ext uri="{FF2B5EF4-FFF2-40B4-BE49-F238E27FC236}">
                      <a16:creationId xmlns:a16="http://schemas.microsoft.com/office/drawing/2014/main" id="{6F343B0E-F9EC-1DEA-CBD4-EE5E984AA7EA}"/>
                    </a:ext>
                  </a:extLst>
                </p:cNvPr>
                <p:cNvSpPr txBox="1"/>
                <p:nvPr/>
              </p:nvSpPr>
              <p:spPr>
                <a:xfrm>
                  <a:off x="14751" y="871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223" name="文本框 140">
                  <a:extLst>
                    <a:ext uri="{FF2B5EF4-FFF2-40B4-BE49-F238E27FC236}">
                      <a16:creationId xmlns:a16="http://schemas.microsoft.com/office/drawing/2014/main" id="{F222AFD0-F83F-4637-5077-8AA7943C1C8E}"/>
                    </a:ext>
                  </a:extLst>
                </p:cNvPr>
                <p:cNvSpPr txBox="1"/>
                <p:nvPr/>
              </p:nvSpPr>
              <p:spPr>
                <a:xfrm>
                  <a:off x="9439" y="2187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0.4</a:t>
                  </a:r>
                </a:p>
              </p:txBody>
            </p:sp>
          </p:grpSp>
          <p:sp>
            <p:nvSpPr>
              <p:cNvPr id="211" name="文本框 141">
                <a:extLst>
                  <a:ext uri="{FF2B5EF4-FFF2-40B4-BE49-F238E27FC236}">
                    <a16:creationId xmlns:a16="http://schemas.microsoft.com/office/drawing/2014/main" id="{7EEDC83B-565D-ED33-C5CE-F1FD4AC24B86}"/>
                  </a:ext>
                </a:extLst>
              </p:cNvPr>
              <p:cNvSpPr txBox="1"/>
              <p:nvPr/>
            </p:nvSpPr>
            <p:spPr>
              <a:xfrm>
                <a:off x="12139" y="8119"/>
                <a:ext cx="336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sparse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43% / 41% (2016 / 2023)</a:t>
                </a:r>
              </a:p>
            </p:txBody>
          </p:sp>
          <p:sp>
            <p:nvSpPr>
              <p:cNvPr id="212" name="文本框 143">
                <a:extLst>
                  <a:ext uri="{FF2B5EF4-FFF2-40B4-BE49-F238E27FC236}">
                    <a16:creationId xmlns:a16="http://schemas.microsoft.com/office/drawing/2014/main" id="{A65BC334-3F3B-22BF-CADB-0A1A80BE89BF}"/>
                  </a:ext>
                </a:extLst>
              </p:cNvPr>
              <p:cNvSpPr txBox="1"/>
              <p:nvPr/>
            </p:nvSpPr>
            <p:spPr>
              <a:xfrm>
                <a:off x="17856" y="8119"/>
                <a:ext cx="2990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dense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9% / 12% (2016 / 2023)</a:t>
                </a:r>
              </a:p>
            </p:txBody>
          </p:sp>
          <p:sp>
            <p:nvSpPr>
              <p:cNvPr id="213" name="文本框 145">
                <a:extLst>
                  <a:ext uri="{FF2B5EF4-FFF2-40B4-BE49-F238E27FC236}">
                    <a16:creationId xmlns:a16="http://schemas.microsoft.com/office/drawing/2014/main" id="{6E00374C-E203-3DC9-1E87-80EFE589B036}"/>
                  </a:ext>
                </a:extLst>
              </p:cNvPr>
              <p:cNvSpPr txBox="1"/>
              <p:nvPr/>
            </p:nvSpPr>
            <p:spPr>
              <a:xfrm>
                <a:off x="17571" y="1524"/>
                <a:ext cx="327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Core-dense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16% / 20% (2016 / 2023)</a:t>
                </a:r>
              </a:p>
            </p:txBody>
          </p:sp>
          <p:sp>
            <p:nvSpPr>
              <p:cNvPr id="214" name="文本框 146">
                <a:extLst>
                  <a:ext uri="{FF2B5EF4-FFF2-40B4-BE49-F238E27FC236}">
                    <a16:creationId xmlns:a16="http://schemas.microsoft.com/office/drawing/2014/main" id="{77AB5692-E992-019B-1100-BAC0DB6933C1}"/>
                  </a:ext>
                </a:extLst>
              </p:cNvPr>
              <p:cNvSpPr txBox="1"/>
              <p:nvPr/>
            </p:nvSpPr>
            <p:spPr>
              <a:xfrm>
                <a:off x="12165" y="1553"/>
                <a:ext cx="3291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 dirty="0">
                    <a:sym typeface="+mn-ea"/>
                  </a:rPr>
                  <a:t>Thinly built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 dirty="0">
                    <a:sym typeface="+mn-ea"/>
                  </a:rPr>
                  <a:t>32% / 27% (2016 / 2023)</a:t>
                </a:r>
              </a:p>
            </p:txBody>
          </p:sp>
          <p:sp>
            <p:nvSpPr>
              <p:cNvPr id="215" name="文本框 149">
                <a:extLst>
                  <a:ext uri="{FF2B5EF4-FFF2-40B4-BE49-F238E27FC236}">
                    <a16:creationId xmlns:a16="http://schemas.microsoft.com/office/drawing/2014/main" id="{5F51FD0D-79E3-FADE-C37A-F1B6E6503197}"/>
                  </a:ext>
                </a:extLst>
              </p:cNvPr>
              <p:cNvSpPr txBox="1"/>
              <p:nvPr/>
            </p:nvSpPr>
            <p:spPr>
              <a:xfrm>
                <a:off x="18266" y="5773"/>
                <a:ext cx="2695" cy="11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0.086</a:t>
                </a:r>
              </a:p>
            </p:txBody>
          </p:sp>
        </p:grpSp>
        <p:grpSp>
          <p:nvGrpSpPr>
            <p:cNvPr id="165" name="组合 196">
              <a:extLst>
                <a:ext uri="{FF2B5EF4-FFF2-40B4-BE49-F238E27FC236}">
                  <a16:creationId xmlns:a16="http://schemas.microsoft.com/office/drawing/2014/main" id="{08F778C3-A094-BA92-0BDB-55AFA93ED48C}"/>
                </a:ext>
              </a:extLst>
            </p:cNvPr>
            <p:cNvGrpSpPr/>
            <p:nvPr/>
          </p:nvGrpSpPr>
          <p:grpSpPr>
            <a:xfrm>
              <a:off x="4607560" y="8121650"/>
              <a:ext cx="4501515" cy="353060"/>
              <a:chOff x="3905" y="13468"/>
              <a:chExt cx="7089" cy="556"/>
            </a:xfrm>
          </p:grpSpPr>
          <p:grpSp>
            <p:nvGrpSpPr>
              <p:cNvPr id="166" name="组合 194">
                <a:extLst>
                  <a:ext uri="{FF2B5EF4-FFF2-40B4-BE49-F238E27FC236}">
                    <a16:creationId xmlns:a16="http://schemas.microsoft.com/office/drawing/2014/main" id="{6B68A283-A5DE-1AA3-E9C2-D8D9C7D22646}"/>
                  </a:ext>
                </a:extLst>
              </p:cNvPr>
              <p:cNvGrpSpPr/>
              <p:nvPr/>
            </p:nvGrpSpPr>
            <p:grpSpPr>
              <a:xfrm>
                <a:off x="8921" y="13468"/>
                <a:ext cx="2073" cy="246"/>
                <a:chOff x="8921" y="13468"/>
                <a:chExt cx="2073" cy="246"/>
              </a:xfrm>
            </p:grpSpPr>
            <p:sp>
              <p:nvSpPr>
                <p:cNvPr id="205" name="文本框 171">
                  <a:extLst>
                    <a:ext uri="{FF2B5EF4-FFF2-40B4-BE49-F238E27FC236}">
                      <a16:creationId xmlns:a16="http://schemas.microsoft.com/office/drawing/2014/main" id="{C7CEE333-A2F3-EA99-3EFC-654CCC58895D}"/>
                    </a:ext>
                  </a:extLst>
                </p:cNvPr>
                <p:cNvSpPr txBox="1"/>
                <p:nvPr/>
              </p:nvSpPr>
              <p:spPr>
                <a:xfrm>
                  <a:off x="9172" y="1346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Latin America, 2016</a:t>
                  </a:r>
                </a:p>
              </p:txBody>
            </p:sp>
            <p:sp>
              <p:nvSpPr>
                <p:cNvPr id="206" name="椭圆 172">
                  <a:extLst>
                    <a:ext uri="{FF2B5EF4-FFF2-40B4-BE49-F238E27FC236}">
                      <a16:creationId xmlns:a16="http://schemas.microsoft.com/office/drawing/2014/main" id="{0D86F742-8A63-4C00-8AF7-CDF318EDC336}"/>
                    </a:ext>
                  </a:extLst>
                </p:cNvPr>
                <p:cNvSpPr/>
                <p:nvPr/>
              </p:nvSpPr>
              <p:spPr>
                <a:xfrm>
                  <a:off x="8921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167" name="组合 195">
                <a:extLst>
                  <a:ext uri="{FF2B5EF4-FFF2-40B4-BE49-F238E27FC236}">
                    <a16:creationId xmlns:a16="http://schemas.microsoft.com/office/drawing/2014/main" id="{6CE5FF20-3530-ADAA-67E6-4AE2D5C7197A}"/>
                  </a:ext>
                </a:extLst>
              </p:cNvPr>
              <p:cNvGrpSpPr/>
              <p:nvPr/>
            </p:nvGrpSpPr>
            <p:grpSpPr>
              <a:xfrm>
                <a:off x="8921" y="13778"/>
                <a:ext cx="2073" cy="246"/>
                <a:chOff x="8921" y="13778"/>
                <a:chExt cx="2073" cy="246"/>
              </a:xfrm>
            </p:grpSpPr>
            <p:sp>
              <p:nvSpPr>
                <p:cNvPr id="203" name="椭圆 173">
                  <a:extLst>
                    <a:ext uri="{FF2B5EF4-FFF2-40B4-BE49-F238E27FC236}">
                      <a16:creationId xmlns:a16="http://schemas.microsoft.com/office/drawing/2014/main" id="{CC4CBE26-A89A-DC78-5235-9BA892A1DED5}"/>
                    </a:ext>
                  </a:extLst>
                </p:cNvPr>
                <p:cNvSpPr/>
                <p:nvPr/>
              </p:nvSpPr>
              <p:spPr>
                <a:xfrm>
                  <a:off x="8921" y="13820"/>
                  <a:ext cx="163" cy="162"/>
                </a:xfrm>
                <a:prstGeom prst="ellipse">
                  <a:avLst/>
                </a:prstGeom>
                <a:solidFill>
                  <a:srgbClr val="47A2DE">
                    <a:alpha val="70000"/>
                  </a:srgbClr>
                </a:solidFill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204" name="文本框 174">
                  <a:extLst>
                    <a:ext uri="{FF2B5EF4-FFF2-40B4-BE49-F238E27FC236}">
                      <a16:creationId xmlns:a16="http://schemas.microsoft.com/office/drawing/2014/main" id="{6A682491-8EBA-16CA-9179-709AADABCA92}"/>
                    </a:ext>
                  </a:extLst>
                </p:cNvPr>
                <p:cNvSpPr txBox="1"/>
                <p:nvPr/>
              </p:nvSpPr>
              <p:spPr>
                <a:xfrm>
                  <a:off x="9172" y="1377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Latin America, 2023</a:t>
                  </a:r>
                </a:p>
              </p:txBody>
            </p:sp>
          </p:grpSp>
          <p:sp>
            <p:nvSpPr>
              <p:cNvPr id="168" name="椭圆 176">
                <a:extLst>
                  <a:ext uri="{FF2B5EF4-FFF2-40B4-BE49-F238E27FC236}">
                    <a16:creationId xmlns:a16="http://schemas.microsoft.com/office/drawing/2014/main" id="{7C162382-FE06-3127-EE0C-7993F01387EC}"/>
                  </a:ext>
                </a:extLst>
              </p:cNvPr>
              <p:cNvSpPr/>
              <p:nvPr/>
            </p:nvSpPr>
            <p:spPr>
              <a:xfrm>
                <a:off x="3905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grpSp>
            <p:nvGrpSpPr>
              <p:cNvPr id="169" name="组合 189">
                <a:extLst>
                  <a:ext uri="{FF2B5EF4-FFF2-40B4-BE49-F238E27FC236}">
                    <a16:creationId xmlns:a16="http://schemas.microsoft.com/office/drawing/2014/main" id="{C29A4923-19C1-F2A7-BD51-2B8E7F2921A1}"/>
                  </a:ext>
                </a:extLst>
              </p:cNvPr>
              <p:cNvGrpSpPr/>
              <p:nvPr/>
            </p:nvGrpSpPr>
            <p:grpSpPr>
              <a:xfrm>
                <a:off x="3905" y="13778"/>
                <a:ext cx="1336" cy="246"/>
                <a:chOff x="3905" y="13786"/>
                <a:chExt cx="1336" cy="246"/>
              </a:xfrm>
            </p:grpSpPr>
            <p:sp>
              <p:nvSpPr>
                <p:cNvPr id="201" name="椭圆 177">
                  <a:extLst>
                    <a:ext uri="{FF2B5EF4-FFF2-40B4-BE49-F238E27FC236}">
                      <a16:creationId xmlns:a16="http://schemas.microsoft.com/office/drawing/2014/main" id="{10CB5295-D81D-5030-5556-08AB0584163D}"/>
                    </a:ext>
                  </a:extLst>
                </p:cNvPr>
                <p:cNvSpPr/>
                <p:nvPr/>
              </p:nvSpPr>
              <p:spPr>
                <a:xfrm>
                  <a:off x="3905" y="13828"/>
                  <a:ext cx="163" cy="162"/>
                </a:xfrm>
                <a:prstGeom prst="ellipse">
                  <a:avLst/>
                </a:prstGeom>
                <a:solidFill>
                  <a:srgbClr val="E85748">
                    <a:alpha val="70000"/>
                  </a:srgbClr>
                </a:solidFill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202" name="文本框 178">
                  <a:extLst>
                    <a:ext uri="{FF2B5EF4-FFF2-40B4-BE49-F238E27FC236}">
                      <a16:creationId xmlns:a16="http://schemas.microsoft.com/office/drawing/2014/main" id="{46D2692D-4992-5218-C2B8-BB859839EB74}"/>
                    </a:ext>
                  </a:extLst>
                </p:cNvPr>
                <p:cNvSpPr txBox="1"/>
                <p:nvPr/>
              </p:nvSpPr>
              <p:spPr>
                <a:xfrm>
                  <a:off x="4149" y="13786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/>
                    <a:t>Africa, 2023</a:t>
                  </a:r>
                </a:p>
              </p:txBody>
            </p:sp>
          </p:grpSp>
          <p:grpSp>
            <p:nvGrpSpPr>
              <p:cNvPr id="171" name="组合 190">
                <a:extLst>
                  <a:ext uri="{FF2B5EF4-FFF2-40B4-BE49-F238E27FC236}">
                    <a16:creationId xmlns:a16="http://schemas.microsoft.com/office/drawing/2014/main" id="{47D06321-B9FE-767C-3429-95CCF2561437}"/>
                  </a:ext>
                </a:extLst>
              </p:cNvPr>
              <p:cNvGrpSpPr/>
              <p:nvPr/>
            </p:nvGrpSpPr>
            <p:grpSpPr>
              <a:xfrm>
                <a:off x="5650" y="13468"/>
                <a:ext cx="3239" cy="246"/>
                <a:chOff x="5650" y="13468"/>
                <a:chExt cx="3239" cy="246"/>
              </a:xfrm>
            </p:grpSpPr>
            <p:sp>
              <p:nvSpPr>
                <p:cNvPr id="198" name="文本框 179">
                  <a:extLst>
                    <a:ext uri="{FF2B5EF4-FFF2-40B4-BE49-F238E27FC236}">
                      <a16:creationId xmlns:a16="http://schemas.microsoft.com/office/drawing/2014/main" id="{E5905743-BAB6-0667-E8E1-2B60602776F8}"/>
                    </a:ext>
                  </a:extLst>
                </p:cNvPr>
                <p:cNvSpPr txBox="1"/>
                <p:nvPr/>
              </p:nvSpPr>
              <p:spPr>
                <a:xfrm>
                  <a:off x="5884" y="13468"/>
                  <a:ext cx="3005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South &amp; Southeast Asia, 2016</a:t>
                  </a:r>
                </a:p>
              </p:txBody>
            </p:sp>
            <p:sp>
              <p:nvSpPr>
                <p:cNvPr id="200" name="椭圆 180">
                  <a:extLst>
                    <a:ext uri="{FF2B5EF4-FFF2-40B4-BE49-F238E27FC236}">
                      <a16:creationId xmlns:a16="http://schemas.microsoft.com/office/drawing/2014/main" id="{98735A98-A2D2-C88F-13E5-DF0F880E784F}"/>
                    </a:ext>
                  </a:extLst>
                </p:cNvPr>
                <p:cNvSpPr/>
                <p:nvPr/>
              </p:nvSpPr>
              <p:spPr>
                <a:xfrm>
                  <a:off x="5650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184" name="组合 192">
                <a:extLst>
                  <a:ext uri="{FF2B5EF4-FFF2-40B4-BE49-F238E27FC236}">
                    <a16:creationId xmlns:a16="http://schemas.microsoft.com/office/drawing/2014/main" id="{7A073C80-B350-39D2-6691-38BB32FD6F1E}"/>
                  </a:ext>
                </a:extLst>
              </p:cNvPr>
              <p:cNvGrpSpPr/>
              <p:nvPr/>
            </p:nvGrpSpPr>
            <p:grpSpPr>
              <a:xfrm>
                <a:off x="5650" y="13778"/>
                <a:ext cx="3103" cy="246"/>
                <a:chOff x="5650" y="13778"/>
                <a:chExt cx="3103" cy="246"/>
              </a:xfrm>
            </p:grpSpPr>
            <p:sp>
              <p:nvSpPr>
                <p:cNvPr id="189" name="椭圆 181">
                  <a:extLst>
                    <a:ext uri="{FF2B5EF4-FFF2-40B4-BE49-F238E27FC236}">
                      <a16:creationId xmlns:a16="http://schemas.microsoft.com/office/drawing/2014/main" id="{CE03A0C0-E0DF-250D-DF79-F89D557005BF}"/>
                    </a:ext>
                  </a:extLst>
                </p:cNvPr>
                <p:cNvSpPr/>
                <p:nvPr/>
              </p:nvSpPr>
              <p:spPr>
                <a:xfrm>
                  <a:off x="5650" y="13820"/>
                  <a:ext cx="163" cy="162"/>
                </a:xfrm>
                <a:prstGeom prst="ellipse">
                  <a:avLst/>
                </a:prstGeom>
                <a:solidFill>
                  <a:srgbClr val="F39F1B">
                    <a:alpha val="70000"/>
                  </a:srgbClr>
                </a:solidFill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92" name="文本框 182">
                  <a:extLst>
                    <a:ext uri="{FF2B5EF4-FFF2-40B4-BE49-F238E27FC236}">
                      <a16:creationId xmlns:a16="http://schemas.microsoft.com/office/drawing/2014/main" id="{7F499EB9-E965-43BF-23D7-C2D282EC6AE8}"/>
                    </a:ext>
                  </a:extLst>
                </p:cNvPr>
                <p:cNvSpPr txBox="1"/>
                <p:nvPr/>
              </p:nvSpPr>
              <p:spPr>
                <a:xfrm>
                  <a:off x="5884" y="13778"/>
                  <a:ext cx="2869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South &amp; Southeast Asia, 2023</a:t>
                  </a:r>
                </a:p>
              </p:txBody>
            </p:sp>
          </p:grpSp>
          <p:grpSp>
            <p:nvGrpSpPr>
              <p:cNvPr id="185" name="组合 193">
                <a:extLst>
                  <a:ext uri="{FF2B5EF4-FFF2-40B4-BE49-F238E27FC236}">
                    <a16:creationId xmlns:a16="http://schemas.microsoft.com/office/drawing/2014/main" id="{41F4C7FA-2BE3-9A22-6241-24765DB120EE}"/>
                  </a:ext>
                </a:extLst>
              </p:cNvPr>
              <p:cNvGrpSpPr/>
              <p:nvPr/>
            </p:nvGrpSpPr>
            <p:grpSpPr>
              <a:xfrm>
                <a:off x="3905" y="13468"/>
                <a:ext cx="1336" cy="246"/>
                <a:chOff x="3905" y="13468"/>
                <a:chExt cx="1336" cy="246"/>
              </a:xfrm>
            </p:grpSpPr>
            <p:sp>
              <p:nvSpPr>
                <p:cNvPr id="186" name="文本框 175">
                  <a:extLst>
                    <a:ext uri="{FF2B5EF4-FFF2-40B4-BE49-F238E27FC236}">
                      <a16:creationId xmlns:a16="http://schemas.microsoft.com/office/drawing/2014/main" id="{43DAFD29-0AB4-4CB7-162E-29148DD231F6}"/>
                    </a:ext>
                  </a:extLst>
                </p:cNvPr>
                <p:cNvSpPr txBox="1"/>
                <p:nvPr/>
              </p:nvSpPr>
              <p:spPr>
                <a:xfrm>
                  <a:off x="4149" y="13468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 dirty="0"/>
                    <a:t>Africa, 2016</a:t>
                  </a:r>
                </a:p>
              </p:txBody>
            </p:sp>
            <p:sp>
              <p:nvSpPr>
                <p:cNvPr id="187" name="椭圆 187">
                  <a:extLst>
                    <a:ext uri="{FF2B5EF4-FFF2-40B4-BE49-F238E27FC236}">
                      <a16:creationId xmlns:a16="http://schemas.microsoft.com/office/drawing/2014/main" id="{7CC552E1-45DD-0915-4BA9-E7B578ADE2FD}"/>
                    </a:ext>
                  </a:extLst>
                </p:cNvPr>
                <p:cNvSpPr/>
                <p:nvPr/>
              </p:nvSpPr>
              <p:spPr>
                <a:xfrm>
                  <a:off x="3905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</p:grpSp>
        </p:grpSp>
      </p:grpSp>
      <p:grpSp>
        <p:nvGrpSpPr>
          <p:cNvPr id="271" name="Group 270">
            <a:extLst>
              <a:ext uri="{FF2B5EF4-FFF2-40B4-BE49-F238E27FC236}">
                <a16:creationId xmlns:a16="http://schemas.microsoft.com/office/drawing/2014/main" id="{D0691935-1E87-77C1-8CB3-BE9FE88DF294}"/>
              </a:ext>
            </a:extLst>
          </p:cNvPr>
          <p:cNvGrpSpPr/>
          <p:nvPr/>
        </p:nvGrpSpPr>
        <p:grpSpPr>
          <a:xfrm>
            <a:off x="10086985" y="5796074"/>
            <a:ext cx="6953438" cy="3545066"/>
            <a:chOff x="2264766" y="6481262"/>
            <a:chExt cx="7259009" cy="3700855"/>
          </a:xfrm>
        </p:grpSpPr>
        <p:grpSp>
          <p:nvGrpSpPr>
            <p:cNvPr id="72" name="组合 36">
              <a:extLst>
                <a:ext uri="{FF2B5EF4-FFF2-40B4-BE49-F238E27FC236}">
                  <a16:creationId xmlns:a16="http://schemas.microsoft.com/office/drawing/2014/main" id="{B18D262E-4DD0-F13C-4CA6-D47BF68152BC}"/>
                </a:ext>
              </a:extLst>
            </p:cNvPr>
            <p:cNvGrpSpPr/>
            <p:nvPr/>
          </p:nvGrpSpPr>
          <p:grpSpPr>
            <a:xfrm>
              <a:off x="2264766" y="9731225"/>
              <a:ext cx="3689056" cy="450892"/>
              <a:chOff x="5468" y="13333"/>
              <a:chExt cx="5626" cy="769"/>
            </a:xfrm>
          </p:grpSpPr>
          <p:sp>
            <p:nvSpPr>
              <p:cNvPr id="151" name="矩形 13">
                <a:extLst>
                  <a:ext uri="{FF2B5EF4-FFF2-40B4-BE49-F238E27FC236}">
                    <a16:creationId xmlns:a16="http://schemas.microsoft.com/office/drawing/2014/main" id="{E01FF8B6-A9CA-8AD3-90EF-AA06352C373E}"/>
                  </a:ext>
                </a:extLst>
              </p:cNvPr>
              <p:cNvSpPr/>
              <p:nvPr/>
            </p:nvSpPr>
            <p:spPr>
              <a:xfrm>
                <a:off x="5468" y="13449"/>
                <a:ext cx="415" cy="249"/>
              </a:xfrm>
              <a:prstGeom prst="rect">
                <a:avLst/>
              </a:prstGeom>
              <a:solidFill>
                <a:srgbClr val="DADAE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52" name="文本框 14">
                <a:extLst>
                  <a:ext uri="{FF2B5EF4-FFF2-40B4-BE49-F238E27FC236}">
                    <a16:creationId xmlns:a16="http://schemas.microsoft.com/office/drawing/2014/main" id="{EC535A0D-3967-C72C-5946-F93C00FE2D88}"/>
                  </a:ext>
                </a:extLst>
              </p:cNvPr>
              <p:cNvSpPr txBox="1"/>
              <p:nvPr/>
            </p:nvSpPr>
            <p:spPr>
              <a:xfrm>
                <a:off x="5880" y="13358"/>
                <a:ext cx="2254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Uniformly open</a:t>
                </a:r>
              </a:p>
            </p:txBody>
          </p:sp>
          <p:sp>
            <p:nvSpPr>
              <p:cNvPr id="153" name="矩形 15">
                <a:extLst>
                  <a:ext uri="{FF2B5EF4-FFF2-40B4-BE49-F238E27FC236}">
                    <a16:creationId xmlns:a16="http://schemas.microsoft.com/office/drawing/2014/main" id="{F80614BC-E6CE-89C8-3D9A-D4B66580B8ED}"/>
                  </a:ext>
                </a:extLst>
              </p:cNvPr>
              <p:cNvSpPr/>
              <p:nvPr/>
            </p:nvSpPr>
            <p:spPr>
              <a:xfrm>
                <a:off x="5468" y="13772"/>
                <a:ext cx="415" cy="249"/>
              </a:xfrm>
              <a:prstGeom prst="rect">
                <a:avLst/>
              </a:prstGeom>
              <a:solidFill>
                <a:srgbClr val="9E9AC8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54" name="文本框 16">
                <a:extLst>
                  <a:ext uri="{FF2B5EF4-FFF2-40B4-BE49-F238E27FC236}">
                    <a16:creationId xmlns:a16="http://schemas.microsoft.com/office/drawing/2014/main" id="{B697D2CF-FC00-8F49-2230-A9ACABEB3CF8}"/>
                  </a:ext>
                </a:extLst>
              </p:cNvPr>
              <p:cNvSpPr txBox="1"/>
              <p:nvPr/>
            </p:nvSpPr>
            <p:spPr>
              <a:xfrm>
                <a:off x="5883" y="13668"/>
                <a:ext cx="2250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Edge constrained</a:t>
                </a:r>
              </a:p>
            </p:txBody>
          </p:sp>
          <p:sp>
            <p:nvSpPr>
              <p:cNvPr id="155" name="矩形 17">
                <a:extLst>
                  <a:ext uri="{FF2B5EF4-FFF2-40B4-BE49-F238E27FC236}">
                    <a16:creationId xmlns:a16="http://schemas.microsoft.com/office/drawing/2014/main" id="{7F331A63-341F-F78B-195A-7447FF3C4E68}"/>
                  </a:ext>
                </a:extLst>
              </p:cNvPr>
              <p:cNvSpPr/>
              <p:nvPr/>
            </p:nvSpPr>
            <p:spPr>
              <a:xfrm>
                <a:off x="8020" y="13449"/>
                <a:ext cx="415" cy="249"/>
              </a:xfrm>
              <a:prstGeom prst="rect">
                <a:avLst/>
              </a:prstGeom>
              <a:solidFill>
                <a:srgbClr val="6A51A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56" name="矩形 18">
                <a:extLst>
                  <a:ext uri="{FF2B5EF4-FFF2-40B4-BE49-F238E27FC236}">
                    <a16:creationId xmlns:a16="http://schemas.microsoft.com/office/drawing/2014/main" id="{A488F9E1-B814-5B84-04DC-09BB116FC54E}"/>
                  </a:ext>
                </a:extLst>
              </p:cNvPr>
              <p:cNvSpPr/>
              <p:nvPr/>
            </p:nvSpPr>
            <p:spPr>
              <a:xfrm>
                <a:off x="8020" y="13772"/>
                <a:ext cx="415" cy="249"/>
              </a:xfrm>
              <a:prstGeom prst="rect">
                <a:avLst/>
              </a:prstGeom>
              <a:solidFill>
                <a:srgbClr val="3F007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57" name="文本框 19">
                <a:extLst>
                  <a:ext uri="{FF2B5EF4-FFF2-40B4-BE49-F238E27FC236}">
                    <a16:creationId xmlns:a16="http://schemas.microsoft.com/office/drawing/2014/main" id="{26EF61BF-3B73-A11C-3CA8-FF66E1EA7F78}"/>
                  </a:ext>
                </a:extLst>
              </p:cNvPr>
              <p:cNvSpPr txBox="1"/>
              <p:nvPr/>
            </p:nvSpPr>
            <p:spPr>
              <a:xfrm>
                <a:off x="8435" y="13333"/>
                <a:ext cx="2659" cy="4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Uniformly constrained</a:t>
                </a:r>
              </a:p>
            </p:txBody>
          </p:sp>
          <p:sp>
            <p:nvSpPr>
              <p:cNvPr id="158" name="文本框 20">
                <a:extLst>
                  <a:ext uri="{FF2B5EF4-FFF2-40B4-BE49-F238E27FC236}">
                    <a16:creationId xmlns:a16="http://schemas.microsoft.com/office/drawing/2014/main" id="{69BC138B-7EDB-9B5B-6E1A-038EBEFA8AD0}"/>
                  </a:ext>
                </a:extLst>
              </p:cNvPr>
              <p:cNvSpPr txBox="1"/>
              <p:nvPr/>
            </p:nvSpPr>
            <p:spPr>
              <a:xfrm>
                <a:off x="8435" y="13668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Locked</a:t>
                </a:r>
              </a:p>
            </p:txBody>
          </p:sp>
        </p:grpSp>
        <p:sp>
          <p:nvSpPr>
            <p:cNvPr id="75" name="文本框 30">
              <a:extLst>
                <a:ext uri="{FF2B5EF4-FFF2-40B4-BE49-F238E27FC236}">
                  <a16:creationId xmlns:a16="http://schemas.microsoft.com/office/drawing/2014/main" id="{9696B86A-5E19-99EE-9CCA-F22D69899D07}"/>
                </a:ext>
              </a:extLst>
            </p:cNvPr>
            <p:cNvSpPr txBox="1"/>
            <p:nvPr/>
          </p:nvSpPr>
          <p:spPr>
            <a:xfrm>
              <a:off x="2615832" y="6481262"/>
              <a:ext cx="3056567" cy="3213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(c) Horizontal Constraint Types</a:t>
              </a:r>
            </a:p>
          </p:txBody>
        </p:sp>
        <p:pic>
          <p:nvPicPr>
            <p:cNvPr id="76" name="图片 5">
              <a:extLst>
                <a:ext uri="{FF2B5EF4-FFF2-40B4-BE49-F238E27FC236}">
                  <a16:creationId xmlns:a16="http://schemas.microsoft.com/office/drawing/2014/main" id="{DF7985EE-88BC-8E63-5422-F751A8EE46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2270480" y="6826614"/>
              <a:ext cx="3573715" cy="2837864"/>
            </a:xfrm>
            <a:prstGeom prst="rect">
              <a:avLst/>
            </a:prstGeom>
          </p:spPr>
        </p:pic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8D98A6FF-93C8-FDFC-1878-51E04151EB21}"/>
                </a:ext>
              </a:extLst>
            </p:cNvPr>
            <p:cNvSpPr txBox="1"/>
            <p:nvPr/>
          </p:nvSpPr>
          <p:spPr>
            <a:xfrm>
              <a:off x="3040473" y="9502449"/>
              <a:ext cx="301952" cy="14209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000" dirty="0"/>
                <a:t>Africa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47C123A6-A96F-1991-719E-21A6BA1C97F0}"/>
                </a:ext>
              </a:extLst>
            </p:cNvPr>
            <p:cNvSpPr txBox="1"/>
            <p:nvPr/>
          </p:nvSpPr>
          <p:spPr>
            <a:xfrm>
              <a:off x="3817722" y="9502449"/>
              <a:ext cx="868850" cy="14209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000" dirty="0"/>
                <a:t>South &amp; SE Asia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3ED46ED9-AC0A-6E47-591B-D7C904AB5D20}"/>
                </a:ext>
              </a:extLst>
            </p:cNvPr>
            <p:cNvSpPr txBox="1"/>
            <p:nvPr/>
          </p:nvSpPr>
          <p:spPr>
            <a:xfrm>
              <a:off x="4895601" y="9502449"/>
              <a:ext cx="868850" cy="16065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1000" dirty="0"/>
                <a:t>Latin America</a:t>
              </a:r>
            </a:p>
          </p:txBody>
        </p:sp>
        <p:pic>
          <p:nvPicPr>
            <p:cNvPr id="256" name="图片 7">
              <a:extLst>
                <a:ext uri="{FF2B5EF4-FFF2-40B4-BE49-F238E27FC236}">
                  <a16:creationId xmlns:a16="http://schemas.microsoft.com/office/drawing/2014/main" id="{B18AAE55-FEE7-0DEF-7605-615C70415E4F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5844195" y="6833154"/>
              <a:ext cx="3679580" cy="2820342"/>
            </a:xfrm>
            <a:prstGeom prst="rect">
              <a:avLst/>
            </a:prstGeom>
          </p:spPr>
        </p:pic>
        <p:sp>
          <p:nvSpPr>
            <p:cNvPr id="257" name="文本框 35">
              <a:extLst>
                <a:ext uri="{FF2B5EF4-FFF2-40B4-BE49-F238E27FC236}">
                  <a16:creationId xmlns:a16="http://schemas.microsoft.com/office/drawing/2014/main" id="{D06B580A-0755-DF23-B3EE-EF31128C76E9}"/>
                </a:ext>
              </a:extLst>
            </p:cNvPr>
            <p:cNvSpPr txBox="1"/>
            <p:nvPr/>
          </p:nvSpPr>
          <p:spPr>
            <a:xfrm>
              <a:off x="6017420" y="6485558"/>
              <a:ext cx="3506355" cy="3213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(d) Horizontal Construction Types</a:t>
              </a:r>
            </a:p>
          </p:txBody>
        </p:sp>
        <p:grpSp>
          <p:nvGrpSpPr>
            <p:cNvPr id="258" name="组合 118">
              <a:extLst>
                <a:ext uri="{FF2B5EF4-FFF2-40B4-BE49-F238E27FC236}">
                  <a16:creationId xmlns:a16="http://schemas.microsoft.com/office/drawing/2014/main" id="{7E427EAF-4DA1-B3BF-335F-238AD6F0CEF2}"/>
                </a:ext>
              </a:extLst>
            </p:cNvPr>
            <p:cNvGrpSpPr/>
            <p:nvPr/>
          </p:nvGrpSpPr>
          <p:grpSpPr>
            <a:xfrm>
              <a:off x="6019819" y="9724048"/>
              <a:ext cx="3503956" cy="441091"/>
              <a:chOff x="11808" y="9013"/>
              <a:chExt cx="5625" cy="769"/>
            </a:xfrm>
          </p:grpSpPr>
          <p:sp>
            <p:nvSpPr>
              <p:cNvPr id="259" name="矩形 38">
                <a:extLst>
                  <a:ext uri="{FF2B5EF4-FFF2-40B4-BE49-F238E27FC236}">
                    <a16:creationId xmlns:a16="http://schemas.microsoft.com/office/drawing/2014/main" id="{7F6F4C7B-55C3-C75A-8E91-017566BC211B}"/>
                  </a:ext>
                </a:extLst>
              </p:cNvPr>
              <p:cNvSpPr/>
              <p:nvPr/>
            </p:nvSpPr>
            <p:spPr>
              <a:xfrm>
                <a:off x="11808" y="9129"/>
                <a:ext cx="415" cy="249"/>
              </a:xfrm>
              <a:prstGeom prst="rect">
                <a:avLst/>
              </a:prstGeom>
              <a:solidFill>
                <a:srgbClr val="C7E9C0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60" name="文本框 39">
                <a:extLst>
                  <a:ext uri="{FF2B5EF4-FFF2-40B4-BE49-F238E27FC236}">
                    <a16:creationId xmlns:a16="http://schemas.microsoft.com/office/drawing/2014/main" id="{D8C62EFA-C66A-4BF1-0D4E-8054A455403B}"/>
                  </a:ext>
                </a:extLst>
              </p:cNvPr>
              <p:cNvSpPr txBox="1"/>
              <p:nvPr/>
            </p:nvSpPr>
            <p:spPr>
              <a:xfrm>
                <a:off x="12220" y="9038"/>
                <a:ext cx="2254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>
                    <a:sym typeface="+mn-ea"/>
                  </a:rPr>
                  <a:t>Uniformly sparse</a:t>
                </a:r>
                <a:endParaRPr lang="en-US" altLang="zh-CN" sz="1200"/>
              </a:p>
            </p:txBody>
          </p:sp>
          <p:sp>
            <p:nvSpPr>
              <p:cNvPr id="261" name="矩形 40">
                <a:extLst>
                  <a:ext uri="{FF2B5EF4-FFF2-40B4-BE49-F238E27FC236}">
                    <a16:creationId xmlns:a16="http://schemas.microsoft.com/office/drawing/2014/main" id="{4CA72ADC-8071-CB5F-8F90-BE6A6E6BA4FB}"/>
                  </a:ext>
                </a:extLst>
              </p:cNvPr>
              <p:cNvSpPr/>
              <p:nvPr/>
            </p:nvSpPr>
            <p:spPr>
              <a:xfrm>
                <a:off x="11808" y="9452"/>
                <a:ext cx="415" cy="249"/>
              </a:xfrm>
              <a:prstGeom prst="rect">
                <a:avLst/>
              </a:prstGeom>
              <a:solidFill>
                <a:srgbClr val="74C476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62" name="文本框 41">
                <a:extLst>
                  <a:ext uri="{FF2B5EF4-FFF2-40B4-BE49-F238E27FC236}">
                    <a16:creationId xmlns:a16="http://schemas.microsoft.com/office/drawing/2014/main" id="{A6EE78D1-7B32-9A89-1923-50ADB17FA641}"/>
                  </a:ext>
                </a:extLst>
              </p:cNvPr>
              <p:cNvSpPr txBox="1"/>
              <p:nvPr/>
            </p:nvSpPr>
            <p:spPr>
              <a:xfrm>
                <a:off x="12223" y="9348"/>
                <a:ext cx="2250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>
                    <a:sym typeface="+mn-ea"/>
                  </a:rPr>
                  <a:t>Thinly built</a:t>
                </a:r>
                <a:endParaRPr lang="en-US" altLang="zh-CN" sz="1200" dirty="0"/>
              </a:p>
            </p:txBody>
          </p:sp>
          <p:sp>
            <p:nvSpPr>
              <p:cNvPr id="263" name="矩形 42">
                <a:extLst>
                  <a:ext uri="{FF2B5EF4-FFF2-40B4-BE49-F238E27FC236}">
                    <a16:creationId xmlns:a16="http://schemas.microsoft.com/office/drawing/2014/main" id="{619CFBDE-3B5C-4153-F7ED-F15DAC51EE63}"/>
                  </a:ext>
                </a:extLst>
              </p:cNvPr>
              <p:cNvSpPr/>
              <p:nvPr/>
            </p:nvSpPr>
            <p:spPr>
              <a:xfrm>
                <a:off x="14360" y="9129"/>
                <a:ext cx="415" cy="249"/>
              </a:xfrm>
              <a:prstGeom prst="rect">
                <a:avLst/>
              </a:prstGeom>
              <a:solidFill>
                <a:srgbClr val="238B45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64" name="矩形 43">
                <a:extLst>
                  <a:ext uri="{FF2B5EF4-FFF2-40B4-BE49-F238E27FC236}">
                    <a16:creationId xmlns:a16="http://schemas.microsoft.com/office/drawing/2014/main" id="{183711F3-7E9F-9DD1-6545-E7E62A1E6FFC}"/>
                  </a:ext>
                </a:extLst>
              </p:cNvPr>
              <p:cNvSpPr/>
              <p:nvPr/>
            </p:nvSpPr>
            <p:spPr>
              <a:xfrm>
                <a:off x="14360" y="9452"/>
                <a:ext cx="415" cy="249"/>
              </a:xfrm>
              <a:prstGeom prst="rect">
                <a:avLst/>
              </a:prstGeom>
              <a:solidFill>
                <a:srgbClr val="00441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65" name="文本框 44">
                <a:extLst>
                  <a:ext uri="{FF2B5EF4-FFF2-40B4-BE49-F238E27FC236}">
                    <a16:creationId xmlns:a16="http://schemas.microsoft.com/office/drawing/2014/main" id="{5275CB96-0B2B-63DB-C9D1-3BD339C2DDFF}"/>
                  </a:ext>
                </a:extLst>
              </p:cNvPr>
              <p:cNvSpPr txBox="1"/>
              <p:nvPr/>
            </p:nvSpPr>
            <p:spPr>
              <a:xfrm>
                <a:off x="14775" y="9013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Uniformly dense</a:t>
                </a:r>
              </a:p>
            </p:txBody>
          </p:sp>
          <p:sp>
            <p:nvSpPr>
              <p:cNvPr id="266" name="文本框 70">
                <a:extLst>
                  <a:ext uri="{FF2B5EF4-FFF2-40B4-BE49-F238E27FC236}">
                    <a16:creationId xmlns:a16="http://schemas.microsoft.com/office/drawing/2014/main" id="{413C117B-7D62-FCD7-ADD3-1E23EEBA5860}"/>
                  </a:ext>
                </a:extLst>
              </p:cNvPr>
              <p:cNvSpPr txBox="1"/>
              <p:nvPr/>
            </p:nvSpPr>
            <p:spPr>
              <a:xfrm>
                <a:off x="14775" y="9348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Core-dense</a:t>
                </a:r>
              </a:p>
            </p:txBody>
          </p:sp>
        </p:grp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65351008-790E-18D0-2AF4-5DD06954AF7B}"/>
                </a:ext>
              </a:extLst>
            </p:cNvPr>
            <p:cNvSpPr txBox="1"/>
            <p:nvPr/>
          </p:nvSpPr>
          <p:spPr>
            <a:xfrm>
              <a:off x="6597451" y="9441072"/>
              <a:ext cx="319448" cy="16739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000" dirty="0"/>
                <a:t>Africa</a:t>
              </a: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0DCE695D-1F63-6A21-4A17-FB84163D4FC6}"/>
                </a:ext>
              </a:extLst>
            </p:cNvPr>
            <p:cNvSpPr txBox="1"/>
            <p:nvPr/>
          </p:nvSpPr>
          <p:spPr>
            <a:xfrm>
              <a:off x="7419737" y="9441072"/>
              <a:ext cx="919196" cy="16739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000" dirty="0"/>
                <a:t>South &amp; SE Asia</a:t>
              </a:r>
            </a:p>
          </p:txBody>
        </p:sp>
        <p:sp>
          <p:nvSpPr>
            <p:cNvPr id="269" name="TextBox 268">
              <a:extLst>
                <a:ext uri="{FF2B5EF4-FFF2-40B4-BE49-F238E27FC236}">
                  <a16:creationId xmlns:a16="http://schemas.microsoft.com/office/drawing/2014/main" id="{64AB442C-3F7D-D7FF-6875-9AD85BE0F729}"/>
                </a:ext>
              </a:extLst>
            </p:cNvPr>
            <p:cNvSpPr txBox="1"/>
            <p:nvPr/>
          </p:nvSpPr>
          <p:spPr>
            <a:xfrm>
              <a:off x="8560073" y="9441072"/>
              <a:ext cx="852204" cy="16739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1000" dirty="0"/>
                <a:t>Latin America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205" y="8985250"/>
            <a:ext cx="1471295" cy="724535"/>
          </a:xfrm>
          <a:prstGeom prst="rect">
            <a:avLst/>
          </a:prstGeom>
        </p:spPr>
      </p:pic>
      <p:pic>
        <p:nvPicPr>
          <p:cNvPr id="33" name="图片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7903845"/>
            <a:ext cx="1419860" cy="699135"/>
          </a:xfrm>
          <a:prstGeom prst="rect">
            <a:avLst/>
          </a:prstGeom>
        </p:spPr>
      </p:pic>
      <p:pic>
        <p:nvPicPr>
          <p:cNvPr id="104" name="图片 10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0060" y="9973310"/>
            <a:ext cx="947420" cy="782320"/>
          </a:xfrm>
          <a:prstGeom prst="rect">
            <a:avLst/>
          </a:prstGeom>
        </p:spPr>
      </p:pic>
      <p:grpSp>
        <p:nvGrpSpPr>
          <p:cNvPr id="2" name="组合 120">
            <a:extLst>
              <a:ext uri="{FF2B5EF4-FFF2-40B4-BE49-F238E27FC236}">
                <a16:creationId xmlns:a16="http://schemas.microsoft.com/office/drawing/2014/main" id="{4EF6E7A0-3BE3-DE17-27AE-A27A6439F771}"/>
              </a:ext>
            </a:extLst>
          </p:cNvPr>
          <p:cNvGrpSpPr/>
          <p:nvPr/>
        </p:nvGrpSpPr>
        <p:grpSpPr>
          <a:xfrm>
            <a:off x="5490845" y="6934835"/>
            <a:ext cx="5536565" cy="3533775"/>
            <a:chOff x="7148" y="11055"/>
            <a:chExt cx="8719" cy="5565"/>
          </a:xfrm>
        </p:grpSpPr>
        <p:sp>
          <p:nvSpPr>
            <p:cNvPr id="3" name="矩形 74">
              <a:extLst>
                <a:ext uri="{FF2B5EF4-FFF2-40B4-BE49-F238E27FC236}">
                  <a16:creationId xmlns:a16="http://schemas.microsoft.com/office/drawing/2014/main" id="{4880BA93-E135-BAE7-CF62-A3AD16164747}"/>
                </a:ext>
              </a:extLst>
            </p:cNvPr>
            <p:cNvSpPr/>
            <p:nvPr/>
          </p:nvSpPr>
          <p:spPr>
            <a:xfrm>
              <a:off x="7148" y="11055"/>
              <a:ext cx="8719" cy="55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" name="文本框 76">
              <a:extLst>
                <a:ext uri="{FF2B5EF4-FFF2-40B4-BE49-F238E27FC236}">
                  <a16:creationId xmlns:a16="http://schemas.microsoft.com/office/drawing/2014/main" id="{7BA4DA73-3D7C-FC6B-0FB4-F1AE15B409B6}"/>
                </a:ext>
              </a:extLst>
            </p:cNvPr>
            <p:cNvSpPr txBox="1"/>
            <p:nvPr/>
          </p:nvSpPr>
          <p:spPr>
            <a:xfrm>
              <a:off x="7398" y="11103"/>
              <a:ext cx="846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Vertical Profile Types</a:t>
              </a:r>
            </a:p>
          </p:txBody>
        </p:sp>
        <p:grpSp>
          <p:nvGrpSpPr>
            <p:cNvPr id="5" name="组合 112">
              <a:extLst>
                <a:ext uri="{FF2B5EF4-FFF2-40B4-BE49-F238E27FC236}">
                  <a16:creationId xmlns:a16="http://schemas.microsoft.com/office/drawing/2014/main" id="{7D042596-710A-1132-C2E2-E68E947B14A2}"/>
                </a:ext>
              </a:extLst>
            </p:cNvPr>
            <p:cNvGrpSpPr/>
            <p:nvPr/>
          </p:nvGrpSpPr>
          <p:grpSpPr>
            <a:xfrm>
              <a:off x="14017" y="13395"/>
              <a:ext cx="1849" cy="348"/>
              <a:chOff x="14132" y="12117"/>
              <a:chExt cx="1849" cy="348"/>
            </a:xfrm>
          </p:grpSpPr>
          <p:sp>
            <p:nvSpPr>
              <p:cNvPr id="30" name="矩形 96">
                <a:extLst>
                  <a:ext uri="{FF2B5EF4-FFF2-40B4-BE49-F238E27FC236}">
                    <a16:creationId xmlns:a16="http://schemas.microsoft.com/office/drawing/2014/main" id="{96AECF25-3588-2D70-489A-9456B52A36FC}"/>
                  </a:ext>
                </a:extLst>
              </p:cNvPr>
              <p:cNvSpPr/>
              <p:nvPr/>
            </p:nvSpPr>
            <p:spPr>
              <a:xfrm>
                <a:off x="14132" y="12167"/>
                <a:ext cx="415" cy="249"/>
              </a:xfrm>
              <a:prstGeom prst="rect">
                <a:avLst/>
              </a:prstGeom>
              <a:solidFill>
                <a:srgbClr val="7F2704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2" name="文本框 98">
                <a:extLst>
                  <a:ext uri="{FF2B5EF4-FFF2-40B4-BE49-F238E27FC236}">
                    <a16:creationId xmlns:a16="http://schemas.microsoft.com/office/drawing/2014/main" id="{EFE41136-F009-7F81-38D8-AA6AD544D4CC}"/>
                  </a:ext>
                </a:extLst>
              </p:cNvPr>
              <p:cNvSpPr txBox="1"/>
              <p:nvPr/>
            </p:nvSpPr>
            <p:spPr>
              <a:xfrm>
                <a:off x="14547" y="12117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Bowl</a:t>
                </a:r>
              </a:p>
            </p:txBody>
          </p:sp>
        </p:grpSp>
        <p:grpSp>
          <p:nvGrpSpPr>
            <p:cNvPr id="7" name="组合 113">
              <a:extLst>
                <a:ext uri="{FF2B5EF4-FFF2-40B4-BE49-F238E27FC236}">
                  <a16:creationId xmlns:a16="http://schemas.microsoft.com/office/drawing/2014/main" id="{D01B572C-3858-8410-BA79-1DF3CD34E171}"/>
                </a:ext>
              </a:extLst>
            </p:cNvPr>
            <p:cNvGrpSpPr/>
            <p:nvPr/>
          </p:nvGrpSpPr>
          <p:grpSpPr>
            <a:xfrm>
              <a:off x="14017" y="13086"/>
              <a:ext cx="1849" cy="348"/>
              <a:chOff x="14132" y="12436"/>
              <a:chExt cx="1849" cy="348"/>
            </a:xfrm>
          </p:grpSpPr>
          <p:sp>
            <p:nvSpPr>
              <p:cNvPr id="28" name="矩形 97">
                <a:extLst>
                  <a:ext uri="{FF2B5EF4-FFF2-40B4-BE49-F238E27FC236}">
                    <a16:creationId xmlns:a16="http://schemas.microsoft.com/office/drawing/2014/main" id="{32EF2F8D-B598-D866-16FE-5AED29E67AB8}"/>
                  </a:ext>
                </a:extLst>
              </p:cNvPr>
              <p:cNvSpPr/>
              <p:nvPr/>
            </p:nvSpPr>
            <p:spPr>
              <a:xfrm>
                <a:off x="14132" y="12486"/>
                <a:ext cx="415" cy="249"/>
              </a:xfrm>
              <a:prstGeom prst="rect">
                <a:avLst/>
              </a:prstGeom>
              <a:solidFill>
                <a:srgbClr val="A6360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9" name="文本框 99">
                <a:extLst>
                  <a:ext uri="{FF2B5EF4-FFF2-40B4-BE49-F238E27FC236}">
                    <a16:creationId xmlns:a16="http://schemas.microsoft.com/office/drawing/2014/main" id="{BD728E36-3F85-5DBB-4D41-5DEB4998E141}"/>
                  </a:ext>
                </a:extLst>
              </p:cNvPr>
              <p:cNvSpPr txBox="1"/>
              <p:nvPr/>
            </p:nvSpPr>
            <p:spPr>
              <a:xfrm>
                <a:off x="14547" y="12436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Crown</a:t>
                </a:r>
              </a:p>
            </p:txBody>
          </p:sp>
        </p:grpSp>
        <p:grpSp>
          <p:nvGrpSpPr>
            <p:cNvPr id="10" name="组合 117">
              <a:extLst>
                <a:ext uri="{FF2B5EF4-FFF2-40B4-BE49-F238E27FC236}">
                  <a16:creationId xmlns:a16="http://schemas.microsoft.com/office/drawing/2014/main" id="{9390624E-2D43-0630-873E-B6EDD6B3A2FB}"/>
                </a:ext>
              </a:extLst>
            </p:cNvPr>
            <p:cNvGrpSpPr/>
            <p:nvPr/>
          </p:nvGrpSpPr>
          <p:grpSpPr>
            <a:xfrm>
              <a:off x="14017" y="12159"/>
              <a:ext cx="1850" cy="349"/>
              <a:chOff x="14132" y="13393"/>
              <a:chExt cx="1850" cy="349"/>
            </a:xfrm>
          </p:grpSpPr>
          <p:sp>
            <p:nvSpPr>
              <p:cNvPr id="26" name="文本框 95">
                <a:extLst>
                  <a:ext uri="{FF2B5EF4-FFF2-40B4-BE49-F238E27FC236}">
                    <a16:creationId xmlns:a16="http://schemas.microsoft.com/office/drawing/2014/main" id="{E3F59847-6ABE-B166-079F-CF4605D598D7}"/>
                  </a:ext>
                </a:extLst>
              </p:cNvPr>
              <p:cNvSpPr txBox="1"/>
              <p:nvPr/>
            </p:nvSpPr>
            <p:spPr>
              <a:xfrm>
                <a:off x="14547" y="13393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 dirty="0"/>
                  <a:t>Pyramid</a:t>
                </a:r>
              </a:p>
            </p:txBody>
          </p:sp>
          <p:sp>
            <p:nvSpPr>
              <p:cNvPr id="27" name="矩形 100">
                <a:extLst>
                  <a:ext uri="{FF2B5EF4-FFF2-40B4-BE49-F238E27FC236}">
                    <a16:creationId xmlns:a16="http://schemas.microsoft.com/office/drawing/2014/main" id="{BEB7F040-9D15-B8A2-A4E1-B657F1AA2F9B}"/>
                  </a:ext>
                </a:extLst>
              </p:cNvPr>
              <p:cNvSpPr/>
              <p:nvPr/>
            </p:nvSpPr>
            <p:spPr>
              <a:xfrm>
                <a:off x="14132" y="13443"/>
                <a:ext cx="415" cy="249"/>
              </a:xfrm>
              <a:prstGeom prst="rect">
                <a:avLst/>
              </a:prstGeom>
              <a:solidFill>
                <a:srgbClr val="FEEDDE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</p:grpSp>
        <p:grpSp>
          <p:nvGrpSpPr>
            <p:cNvPr id="11" name="组合 115">
              <a:extLst>
                <a:ext uri="{FF2B5EF4-FFF2-40B4-BE49-F238E27FC236}">
                  <a16:creationId xmlns:a16="http://schemas.microsoft.com/office/drawing/2014/main" id="{31E711DA-681D-F14A-7700-F678DA0DBABF}"/>
                </a:ext>
              </a:extLst>
            </p:cNvPr>
            <p:cNvGrpSpPr/>
            <p:nvPr/>
          </p:nvGrpSpPr>
          <p:grpSpPr>
            <a:xfrm>
              <a:off x="14017" y="12468"/>
              <a:ext cx="1850" cy="349"/>
              <a:chOff x="14132" y="13074"/>
              <a:chExt cx="1850" cy="349"/>
            </a:xfrm>
          </p:grpSpPr>
          <p:sp>
            <p:nvSpPr>
              <p:cNvPr id="24" name="矩形 94">
                <a:extLst>
                  <a:ext uri="{FF2B5EF4-FFF2-40B4-BE49-F238E27FC236}">
                    <a16:creationId xmlns:a16="http://schemas.microsoft.com/office/drawing/2014/main" id="{47760322-12F7-6EDB-7772-4ABDCF066411}"/>
                  </a:ext>
                </a:extLst>
              </p:cNvPr>
              <p:cNvSpPr/>
              <p:nvPr/>
            </p:nvSpPr>
            <p:spPr>
              <a:xfrm>
                <a:off x="14132" y="13124"/>
                <a:ext cx="415" cy="249"/>
              </a:xfrm>
              <a:prstGeom prst="rect">
                <a:avLst/>
              </a:prstGeom>
              <a:solidFill>
                <a:srgbClr val="FDAE6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5" name="文本框 101">
                <a:extLst>
                  <a:ext uri="{FF2B5EF4-FFF2-40B4-BE49-F238E27FC236}">
                    <a16:creationId xmlns:a16="http://schemas.microsoft.com/office/drawing/2014/main" id="{1330F874-A2D9-7C40-C3CA-EDDB4D873CE6}"/>
                  </a:ext>
                </a:extLst>
              </p:cNvPr>
              <p:cNvSpPr txBox="1"/>
              <p:nvPr/>
            </p:nvSpPr>
            <p:spPr>
              <a:xfrm>
                <a:off x="14547" y="13074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Volcanic Cone</a:t>
                </a:r>
              </a:p>
            </p:txBody>
          </p:sp>
        </p:grpSp>
        <p:grpSp>
          <p:nvGrpSpPr>
            <p:cNvPr id="12" name="组合 114">
              <a:extLst>
                <a:ext uri="{FF2B5EF4-FFF2-40B4-BE49-F238E27FC236}">
                  <a16:creationId xmlns:a16="http://schemas.microsoft.com/office/drawing/2014/main" id="{6C07E41A-049D-573E-C99C-95D0E2C699FA}"/>
                </a:ext>
              </a:extLst>
            </p:cNvPr>
            <p:cNvGrpSpPr/>
            <p:nvPr/>
          </p:nvGrpSpPr>
          <p:grpSpPr>
            <a:xfrm>
              <a:off x="14017" y="12777"/>
              <a:ext cx="1850" cy="349"/>
              <a:chOff x="14132" y="12755"/>
              <a:chExt cx="1850" cy="349"/>
            </a:xfrm>
          </p:grpSpPr>
          <p:sp>
            <p:nvSpPr>
              <p:cNvPr id="22" name="矩形 108">
                <a:extLst>
                  <a:ext uri="{FF2B5EF4-FFF2-40B4-BE49-F238E27FC236}">
                    <a16:creationId xmlns:a16="http://schemas.microsoft.com/office/drawing/2014/main" id="{566A2C99-4213-028B-7B1F-411499B382FC}"/>
                  </a:ext>
                </a:extLst>
              </p:cNvPr>
              <p:cNvSpPr/>
              <p:nvPr/>
            </p:nvSpPr>
            <p:spPr>
              <a:xfrm>
                <a:off x="14132" y="12805"/>
                <a:ext cx="415" cy="249"/>
              </a:xfrm>
              <a:prstGeom prst="rect">
                <a:avLst/>
              </a:prstGeom>
              <a:solidFill>
                <a:srgbClr val="E6550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3" name="文本框 109">
                <a:extLst>
                  <a:ext uri="{FF2B5EF4-FFF2-40B4-BE49-F238E27FC236}">
                    <a16:creationId xmlns:a16="http://schemas.microsoft.com/office/drawing/2014/main" id="{CC032939-5414-D933-9442-E01EB1018B24}"/>
                  </a:ext>
                </a:extLst>
              </p:cNvPr>
              <p:cNvSpPr txBox="1"/>
              <p:nvPr/>
            </p:nvSpPr>
            <p:spPr>
              <a:xfrm>
                <a:off x="14547" y="12755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 dirty="0"/>
                  <a:t>Pancake</a:t>
                </a:r>
              </a:p>
            </p:txBody>
          </p:sp>
        </p:grpSp>
        <p:pic>
          <p:nvPicPr>
            <p:cNvPr id="13" name="图片 111">
              <a:extLst>
                <a:ext uri="{FF2B5EF4-FFF2-40B4-BE49-F238E27FC236}">
                  <a16:creationId xmlns:a16="http://schemas.microsoft.com/office/drawing/2014/main" id="{0A108956-D49A-A5F8-9970-AAE5BB07663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b="2438"/>
            <a:stretch>
              <a:fillRect/>
            </a:stretch>
          </p:blipFill>
          <p:spPr>
            <a:xfrm>
              <a:off x="7359" y="11586"/>
              <a:ext cx="6557" cy="4923"/>
            </a:xfrm>
            <a:prstGeom prst="rect">
              <a:avLst/>
            </a:prstGeom>
          </p:spPr>
        </p:pic>
      </p:grpSp>
      <p:sp>
        <p:nvSpPr>
          <p:cNvPr id="73" name="矩形 72"/>
          <p:cNvSpPr/>
          <p:nvPr/>
        </p:nvSpPr>
        <p:spPr>
          <a:xfrm>
            <a:off x="1336217" y="1877695"/>
            <a:ext cx="12396470" cy="42691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40527" y="2402205"/>
            <a:ext cx="4073525" cy="3122295"/>
          </a:xfrm>
          <a:prstGeom prst="rect">
            <a:avLst/>
          </a:prstGeom>
        </p:spPr>
      </p:pic>
      <p:sp>
        <p:nvSpPr>
          <p:cNvPr id="36" name="文本框 35"/>
          <p:cNvSpPr txBox="1"/>
          <p:nvPr/>
        </p:nvSpPr>
        <p:spPr>
          <a:xfrm>
            <a:off x="5532297" y="2017395"/>
            <a:ext cx="388175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/>
              <a:t>(b) Horizontal Construction Types</a:t>
            </a:r>
          </a:p>
        </p:txBody>
      </p:sp>
      <p:grpSp>
        <p:nvGrpSpPr>
          <p:cNvPr id="119" name="组合 118"/>
          <p:cNvGrpSpPr/>
          <p:nvPr/>
        </p:nvGrpSpPr>
        <p:grpSpPr>
          <a:xfrm>
            <a:off x="5746927" y="5448935"/>
            <a:ext cx="3571875" cy="488315"/>
            <a:chOff x="11808" y="9013"/>
            <a:chExt cx="5625" cy="769"/>
          </a:xfrm>
        </p:grpSpPr>
        <p:sp>
          <p:nvSpPr>
            <p:cNvPr id="39" name="矩形 38"/>
            <p:cNvSpPr/>
            <p:nvPr/>
          </p:nvSpPr>
          <p:spPr>
            <a:xfrm>
              <a:off x="11808" y="9129"/>
              <a:ext cx="415" cy="249"/>
            </a:xfrm>
            <a:prstGeom prst="rect">
              <a:avLst/>
            </a:prstGeom>
            <a:solidFill>
              <a:srgbClr val="C7E9C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220" y="9038"/>
              <a:ext cx="2254" cy="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>
                  <a:sym typeface="+mn-ea"/>
                </a:rPr>
                <a:t>Uniformly sparse</a:t>
              </a:r>
              <a:endParaRPr lang="en-US" altLang="zh-CN" sz="1200"/>
            </a:p>
          </p:txBody>
        </p:sp>
        <p:sp>
          <p:nvSpPr>
            <p:cNvPr id="41" name="矩形 40"/>
            <p:cNvSpPr/>
            <p:nvPr/>
          </p:nvSpPr>
          <p:spPr>
            <a:xfrm>
              <a:off x="11808" y="9452"/>
              <a:ext cx="415" cy="249"/>
            </a:xfrm>
            <a:prstGeom prst="rect">
              <a:avLst/>
            </a:prstGeom>
            <a:solidFill>
              <a:srgbClr val="74C476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2223" y="9348"/>
              <a:ext cx="2250" cy="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>
                  <a:sym typeface="+mn-ea"/>
                </a:rPr>
                <a:t>Thinly built</a:t>
              </a:r>
              <a:endParaRPr lang="en-US" altLang="zh-CN" sz="1200"/>
            </a:p>
          </p:txBody>
        </p:sp>
        <p:sp>
          <p:nvSpPr>
            <p:cNvPr id="43" name="矩形 42"/>
            <p:cNvSpPr/>
            <p:nvPr/>
          </p:nvSpPr>
          <p:spPr>
            <a:xfrm>
              <a:off x="14360" y="9129"/>
              <a:ext cx="415" cy="249"/>
            </a:xfrm>
            <a:prstGeom prst="rect">
              <a:avLst/>
            </a:prstGeom>
            <a:solidFill>
              <a:srgbClr val="238B4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4" name="矩形 43"/>
            <p:cNvSpPr/>
            <p:nvPr/>
          </p:nvSpPr>
          <p:spPr>
            <a:xfrm>
              <a:off x="14360" y="9452"/>
              <a:ext cx="415" cy="249"/>
            </a:xfrm>
            <a:prstGeom prst="rect">
              <a:avLst/>
            </a:prstGeom>
            <a:solidFill>
              <a:srgbClr val="00441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5" name="文本框 44"/>
            <p:cNvSpPr txBox="1"/>
            <p:nvPr/>
          </p:nvSpPr>
          <p:spPr>
            <a:xfrm>
              <a:off x="14775" y="9013"/>
              <a:ext cx="2659" cy="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Uniformly dense</a:t>
              </a:r>
            </a:p>
          </p:txBody>
        </p:sp>
        <p:sp>
          <p:nvSpPr>
            <p:cNvPr id="71" name="文本框 70"/>
            <p:cNvSpPr txBox="1"/>
            <p:nvPr/>
          </p:nvSpPr>
          <p:spPr>
            <a:xfrm>
              <a:off x="14775" y="9348"/>
              <a:ext cx="2659" cy="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/>
                <a:t>Core-dense</a:t>
              </a:r>
            </a:p>
          </p:txBody>
        </p:sp>
      </p:grpSp>
      <p:sp>
        <p:nvSpPr>
          <p:cNvPr id="77" name="文本框 76"/>
          <p:cNvSpPr txBox="1"/>
          <p:nvPr/>
        </p:nvSpPr>
        <p:spPr>
          <a:xfrm>
            <a:off x="9791877" y="2017395"/>
            <a:ext cx="37858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（</a:t>
            </a:r>
            <a:r>
              <a:rPr lang="en-US" altLang="zh-CN" sz="1400" dirty="0"/>
              <a:t>c) Vertical Profile Types</a:t>
            </a:r>
          </a:p>
        </p:txBody>
      </p:sp>
      <p:grpSp>
        <p:nvGrpSpPr>
          <p:cNvPr id="113" name="组合 112"/>
          <p:cNvGrpSpPr/>
          <p:nvPr/>
        </p:nvGrpSpPr>
        <p:grpSpPr>
          <a:xfrm>
            <a:off x="12418237" y="5416869"/>
            <a:ext cx="1139825" cy="276860"/>
            <a:chOff x="14196" y="11967"/>
            <a:chExt cx="1795" cy="436"/>
          </a:xfrm>
        </p:grpSpPr>
        <p:sp>
          <p:nvSpPr>
            <p:cNvPr id="97" name="矩形 96"/>
            <p:cNvSpPr/>
            <p:nvPr/>
          </p:nvSpPr>
          <p:spPr>
            <a:xfrm>
              <a:off x="14196" y="12061"/>
              <a:ext cx="415" cy="249"/>
            </a:xfrm>
            <a:prstGeom prst="rect">
              <a:avLst/>
            </a:prstGeom>
            <a:solidFill>
              <a:srgbClr val="7F270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/>
            </a:p>
          </p:txBody>
        </p:sp>
        <p:sp>
          <p:nvSpPr>
            <p:cNvPr id="99" name="文本框 98"/>
            <p:cNvSpPr txBox="1"/>
            <p:nvPr/>
          </p:nvSpPr>
          <p:spPr>
            <a:xfrm>
              <a:off x="14556" y="11967"/>
              <a:ext cx="1435" cy="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Bowl</a:t>
              </a:r>
            </a:p>
          </p:txBody>
        </p:sp>
      </p:grpSp>
      <p:grpSp>
        <p:nvGrpSpPr>
          <p:cNvPr id="114" name="组合 113"/>
          <p:cNvGrpSpPr/>
          <p:nvPr/>
        </p:nvGrpSpPr>
        <p:grpSpPr>
          <a:xfrm>
            <a:off x="11168557" y="5679440"/>
            <a:ext cx="1155065" cy="276860"/>
            <a:chOff x="14084" y="12365"/>
            <a:chExt cx="1819" cy="436"/>
          </a:xfrm>
        </p:grpSpPr>
        <p:sp>
          <p:nvSpPr>
            <p:cNvPr id="98" name="矩形 97"/>
            <p:cNvSpPr/>
            <p:nvPr/>
          </p:nvSpPr>
          <p:spPr>
            <a:xfrm>
              <a:off x="14084" y="12467"/>
              <a:ext cx="415" cy="249"/>
            </a:xfrm>
            <a:prstGeom prst="rect">
              <a:avLst/>
            </a:prstGeom>
            <a:solidFill>
              <a:srgbClr val="A6360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/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14468" y="12365"/>
              <a:ext cx="1435" cy="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Crown</a:t>
              </a:r>
            </a:p>
          </p:txBody>
        </p:sp>
      </p:grpSp>
      <p:grpSp>
        <p:nvGrpSpPr>
          <p:cNvPr id="118" name="组合 117"/>
          <p:cNvGrpSpPr/>
          <p:nvPr/>
        </p:nvGrpSpPr>
        <p:grpSpPr>
          <a:xfrm>
            <a:off x="9735997" y="5435917"/>
            <a:ext cx="1135380" cy="276860"/>
            <a:chOff x="6824" y="17593"/>
            <a:chExt cx="1788" cy="436"/>
          </a:xfrm>
        </p:grpSpPr>
        <p:sp>
          <p:nvSpPr>
            <p:cNvPr id="96" name="文本框 95"/>
            <p:cNvSpPr txBox="1"/>
            <p:nvPr/>
          </p:nvSpPr>
          <p:spPr>
            <a:xfrm>
              <a:off x="7177" y="17593"/>
              <a:ext cx="1435" cy="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Pyramid</a:t>
              </a:r>
            </a:p>
          </p:txBody>
        </p:sp>
        <p:sp>
          <p:nvSpPr>
            <p:cNvPr id="101" name="矩形 100"/>
            <p:cNvSpPr/>
            <p:nvPr/>
          </p:nvSpPr>
          <p:spPr>
            <a:xfrm>
              <a:off x="6824" y="17706"/>
              <a:ext cx="415" cy="249"/>
            </a:xfrm>
            <a:prstGeom prst="rect">
              <a:avLst/>
            </a:prstGeom>
            <a:solidFill>
              <a:srgbClr val="FEEDD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/>
            </a:p>
          </p:txBody>
        </p:sp>
      </p:grpSp>
      <p:grpSp>
        <p:nvGrpSpPr>
          <p:cNvPr id="116" name="组合 115"/>
          <p:cNvGrpSpPr/>
          <p:nvPr/>
        </p:nvGrpSpPr>
        <p:grpSpPr>
          <a:xfrm>
            <a:off x="9735997" y="5699760"/>
            <a:ext cx="1491615" cy="276860"/>
            <a:chOff x="14132" y="13030"/>
            <a:chExt cx="2349" cy="436"/>
          </a:xfrm>
        </p:grpSpPr>
        <p:sp>
          <p:nvSpPr>
            <p:cNvPr id="95" name="矩形 94"/>
            <p:cNvSpPr/>
            <p:nvPr/>
          </p:nvSpPr>
          <p:spPr>
            <a:xfrm>
              <a:off x="14132" y="13124"/>
              <a:ext cx="415" cy="249"/>
            </a:xfrm>
            <a:prstGeom prst="rect">
              <a:avLst/>
            </a:prstGeom>
            <a:solidFill>
              <a:srgbClr val="FDAE6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/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4485" y="13030"/>
              <a:ext cx="1996" cy="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Volcanic Cone</a:t>
              </a:r>
            </a:p>
          </p:txBody>
        </p:sp>
      </p:grpSp>
      <p:grpSp>
        <p:nvGrpSpPr>
          <p:cNvPr id="115" name="组合 114"/>
          <p:cNvGrpSpPr/>
          <p:nvPr/>
        </p:nvGrpSpPr>
        <p:grpSpPr>
          <a:xfrm>
            <a:off x="11168874" y="5417185"/>
            <a:ext cx="1155065" cy="276860"/>
            <a:chOff x="14132" y="12707"/>
            <a:chExt cx="1819" cy="436"/>
          </a:xfrm>
        </p:grpSpPr>
        <p:sp>
          <p:nvSpPr>
            <p:cNvPr id="109" name="矩形 108"/>
            <p:cNvSpPr/>
            <p:nvPr/>
          </p:nvSpPr>
          <p:spPr>
            <a:xfrm>
              <a:off x="14132" y="12805"/>
              <a:ext cx="415" cy="249"/>
            </a:xfrm>
            <a:prstGeom prst="rect">
              <a:avLst/>
            </a:prstGeom>
            <a:solidFill>
              <a:srgbClr val="E6550D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/>
            </a:p>
          </p:txBody>
        </p:sp>
        <p:sp>
          <p:nvSpPr>
            <p:cNvPr id="110" name="文本框 109"/>
            <p:cNvSpPr txBox="1"/>
            <p:nvPr/>
          </p:nvSpPr>
          <p:spPr>
            <a:xfrm>
              <a:off x="14516" y="12707"/>
              <a:ext cx="1435" cy="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Pancake</a:t>
              </a:r>
            </a:p>
          </p:txBody>
        </p:sp>
      </p:grpSp>
      <p:pic>
        <p:nvPicPr>
          <p:cNvPr id="112" name="图片 111"/>
          <p:cNvPicPr>
            <a:picLocks noChangeAspect="1"/>
          </p:cNvPicPr>
          <p:nvPr/>
        </p:nvPicPr>
        <p:blipFill>
          <a:blip r:embed="rId6"/>
          <a:srcRect b="2438"/>
          <a:stretch>
            <a:fillRect/>
          </a:stretch>
        </p:blipFill>
        <p:spPr>
          <a:xfrm>
            <a:off x="9414052" y="2359342"/>
            <a:ext cx="4163695" cy="3126105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74CA7FE9-4C17-ED5E-D35B-9A3B89227027}"/>
              </a:ext>
            </a:extLst>
          </p:cNvPr>
          <p:cNvGrpSpPr/>
          <p:nvPr/>
        </p:nvGrpSpPr>
        <p:grpSpPr>
          <a:xfrm>
            <a:off x="1470202" y="2017395"/>
            <a:ext cx="3995420" cy="3919855"/>
            <a:chOff x="1470202" y="2017395"/>
            <a:chExt cx="3995420" cy="3919855"/>
          </a:xfrm>
        </p:grpSpPr>
        <p:grpSp>
          <p:nvGrpSpPr>
            <p:cNvPr id="37" name="组合 36"/>
            <p:cNvGrpSpPr/>
            <p:nvPr/>
          </p:nvGrpSpPr>
          <p:grpSpPr>
            <a:xfrm>
              <a:off x="1893747" y="5448935"/>
              <a:ext cx="3571875" cy="488315"/>
              <a:chOff x="5468" y="13333"/>
              <a:chExt cx="5625" cy="769"/>
            </a:xfrm>
          </p:grpSpPr>
          <p:sp>
            <p:nvSpPr>
              <p:cNvPr id="14" name="矩形 13"/>
              <p:cNvSpPr/>
              <p:nvPr/>
            </p:nvSpPr>
            <p:spPr>
              <a:xfrm>
                <a:off x="5468" y="13449"/>
                <a:ext cx="415" cy="249"/>
              </a:xfrm>
              <a:prstGeom prst="rect">
                <a:avLst/>
              </a:prstGeom>
              <a:solidFill>
                <a:srgbClr val="DADAE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5" name="文本框 14"/>
              <p:cNvSpPr txBox="1"/>
              <p:nvPr/>
            </p:nvSpPr>
            <p:spPr>
              <a:xfrm>
                <a:off x="5880" y="13358"/>
                <a:ext cx="2254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Uniformly open</a:t>
                </a:r>
              </a:p>
            </p:txBody>
          </p:sp>
          <p:sp>
            <p:nvSpPr>
              <p:cNvPr id="16" name="矩形 15"/>
              <p:cNvSpPr/>
              <p:nvPr/>
            </p:nvSpPr>
            <p:spPr>
              <a:xfrm>
                <a:off x="5468" y="13772"/>
                <a:ext cx="415" cy="249"/>
              </a:xfrm>
              <a:prstGeom prst="rect">
                <a:avLst/>
              </a:prstGeom>
              <a:solidFill>
                <a:srgbClr val="9E9AC8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5883" y="13668"/>
                <a:ext cx="2250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Edge constrained</a:t>
                </a:r>
              </a:p>
            </p:txBody>
          </p:sp>
          <p:sp>
            <p:nvSpPr>
              <p:cNvPr id="18" name="矩形 17"/>
              <p:cNvSpPr/>
              <p:nvPr/>
            </p:nvSpPr>
            <p:spPr>
              <a:xfrm>
                <a:off x="8020" y="13449"/>
                <a:ext cx="415" cy="249"/>
              </a:xfrm>
              <a:prstGeom prst="rect">
                <a:avLst/>
              </a:prstGeom>
              <a:solidFill>
                <a:srgbClr val="6A51A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9" name="矩形 18"/>
              <p:cNvSpPr/>
              <p:nvPr/>
            </p:nvSpPr>
            <p:spPr>
              <a:xfrm>
                <a:off x="8020" y="13772"/>
                <a:ext cx="415" cy="249"/>
              </a:xfrm>
              <a:prstGeom prst="rect">
                <a:avLst/>
              </a:prstGeom>
              <a:solidFill>
                <a:srgbClr val="3F007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0" name="文本框 19"/>
              <p:cNvSpPr txBox="1"/>
              <p:nvPr/>
            </p:nvSpPr>
            <p:spPr>
              <a:xfrm>
                <a:off x="8435" y="13333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Uniformly constrianed</a:t>
                </a:r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8435" y="13668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Locked</a:t>
                </a:r>
              </a:p>
            </p:txBody>
          </p:sp>
        </p:grpSp>
        <p:sp>
          <p:nvSpPr>
            <p:cNvPr id="31" name="文本框 30"/>
            <p:cNvSpPr txBox="1"/>
            <p:nvPr/>
          </p:nvSpPr>
          <p:spPr>
            <a:xfrm>
              <a:off x="1844217" y="2017395"/>
              <a:ext cx="3310255" cy="3067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(a) Horizontal Constraint Types</a:t>
              </a:r>
            </a:p>
          </p:txBody>
        </p:sp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470202" y="2391410"/>
              <a:ext cx="3870325" cy="3073400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4771466-02D2-60F4-7E70-69240B84EB0F}"/>
                </a:ext>
              </a:extLst>
            </p:cNvPr>
            <p:cNvSpPr txBox="1"/>
            <p:nvPr/>
          </p:nvSpPr>
          <p:spPr>
            <a:xfrm>
              <a:off x="2304103" y="5289334"/>
              <a:ext cx="327013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000" dirty="0"/>
                <a:t>Africa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FC8A874-2EFE-F67D-994F-31FF4B310B16}"/>
                </a:ext>
              </a:extLst>
            </p:cNvPr>
            <p:cNvSpPr txBox="1"/>
            <p:nvPr/>
          </p:nvSpPr>
          <p:spPr>
            <a:xfrm>
              <a:off x="3145862" y="5289334"/>
              <a:ext cx="940963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000" dirty="0"/>
                <a:t>South &amp; SE Asia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D2E7D453-5A7E-8040-CB43-FA9F10966A71}"/>
                </a:ext>
              </a:extLst>
            </p:cNvPr>
            <p:cNvSpPr txBox="1"/>
            <p:nvPr/>
          </p:nvSpPr>
          <p:spPr>
            <a:xfrm>
              <a:off x="4313202" y="5289334"/>
              <a:ext cx="872385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1000" dirty="0"/>
                <a:t>Latin America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5443F634-A740-759F-C09E-E6322FADDD10}"/>
              </a:ext>
            </a:extLst>
          </p:cNvPr>
          <p:cNvSpPr txBox="1"/>
          <p:nvPr/>
        </p:nvSpPr>
        <p:spPr>
          <a:xfrm>
            <a:off x="6174428" y="5289334"/>
            <a:ext cx="353649" cy="185320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000" dirty="0"/>
              <a:t>Africa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E80960-E5A2-5E32-0B9A-49B92FD30C0E}"/>
              </a:ext>
            </a:extLst>
          </p:cNvPr>
          <p:cNvSpPr txBox="1"/>
          <p:nvPr/>
        </p:nvSpPr>
        <p:spPr>
          <a:xfrm>
            <a:off x="7084751" y="5289334"/>
            <a:ext cx="1017607" cy="185320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000" dirty="0"/>
              <a:t>South &amp; SE Asia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683F20C-3996-43B7-D868-97A34C499B16}"/>
              </a:ext>
            </a:extLst>
          </p:cNvPr>
          <p:cNvSpPr txBox="1"/>
          <p:nvPr/>
        </p:nvSpPr>
        <p:spPr>
          <a:xfrm>
            <a:off x="8347174" y="5289334"/>
            <a:ext cx="943443" cy="185320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000" dirty="0"/>
              <a:t>Latin America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342435-D66B-E7FE-42C0-2F39CF2C5CB6}"/>
              </a:ext>
            </a:extLst>
          </p:cNvPr>
          <p:cNvSpPr txBox="1"/>
          <p:nvPr/>
        </p:nvSpPr>
        <p:spPr>
          <a:xfrm>
            <a:off x="10276773" y="5289334"/>
            <a:ext cx="353649" cy="185320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000" dirty="0"/>
              <a:t>Africa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C3AD11D-2F88-82A0-E3A3-6F1BA728B5C3}"/>
              </a:ext>
            </a:extLst>
          </p:cNvPr>
          <p:cNvSpPr txBox="1"/>
          <p:nvPr/>
        </p:nvSpPr>
        <p:spPr>
          <a:xfrm>
            <a:off x="11187096" y="5289334"/>
            <a:ext cx="1017607" cy="185320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000" dirty="0"/>
              <a:t>South &amp; SE Asia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F2252B0-BCFC-F420-2299-D2AA7D1A8BD3}"/>
              </a:ext>
            </a:extLst>
          </p:cNvPr>
          <p:cNvSpPr txBox="1"/>
          <p:nvPr/>
        </p:nvSpPr>
        <p:spPr>
          <a:xfrm>
            <a:off x="12449519" y="5289334"/>
            <a:ext cx="943443" cy="185320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000" dirty="0"/>
              <a:t>Latin America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组合 29"/>
          <p:cNvGrpSpPr/>
          <p:nvPr/>
        </p:nvGrpSpPr>
        <p:grpSpPr>
          <a:xfrm>
            <a:off x="2074082" y="2290729"/>
            <a:ext cx="8100059" cy="3899130"/>
            <a:chOff x="0" y="865"/>
            <a:chExt cx="22677" cy="10916"/>
          </a:xfrm>
        </p:grpSpPr>
        <p:sp>
          <p:nvSpPr>
            <p:cNvPr id="66" name="矩形 65"/>
            <p:cNvSpPr/>
            <p:nvPr/>
          </p:nvSpPr>
          <p:spPr>
            <a:xfrm>
              <a:off x="0" y="865"/>
              <a:ext cx="22677" cy="108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4" name="图片 3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314" y="2846"/>
              <a:ext cx="21426" cy="7022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231" y="-696"/>
              <a:ext cx="614" cy="205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7" name="矩形 6"/>
            <p:cNvSpPr/>
            <p:nvPr/>
          </p:nvSpPr>
          <p:spPr>
            <a:xfrm>
              <a:off x="181" y="2595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5" name="矩形 4"/>
            <p:cNvSpPr/>
            <p:nvPr/>
          </p:nvSpPr>
          <p:spPr>
            <a:xfrm>
              <a:off x="7428" y="2414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6" name="矩形 5"/>
            <p:cNvSpPr/>
            <p:nvPr/>
          </p:nvSpPr>
          <p:spPr>
            <a:xfrm>
              <a:off x="14693" y="2559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575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- Height</a:t>
                  </a: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m:rPr>
                            <m:sty m:val="p"/>
                          </m:rPr>
                          <a:rPr lang="en-US" altLang="zh-CN" sz="1575" i="0">
                            <a:latin typeface="Cambria Math" panose="02040503050406030204" charset="0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57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575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blipFill>
                  <a:blip r:embed="rId3"/>
                  <a:stretch>
                    <a:fillRect t="-3191" b="-74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615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89" y="7990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548" y="9308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5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73" y="255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5589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01" y="3840"/>
              <a:ext cx="530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4" y="5906"/>
              <a:ext cx="82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-0.2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1011" y="9353"/>
              <a:ext cx="792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-0.2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7207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934" y="9353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-0.4</a:t>
              </a: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3786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8003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3294" y="9353"/>
              <a:ext cx="26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0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207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207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207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7207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8125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6058" y="936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206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20099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4496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5292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4496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4496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4496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4496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</a:p>
          </p:txBody>
        </p:sp>
        <p:grpSp>
          <p:nvGrpSpPr>
            <p:cNvPr id="82" name="组合 81"/>
            <p:cNvGrpSpPr/>
            <p:nvPr/>
          </p:nvGrpSpPr>
          <p:grpSpPr>
            <a:xfrm>
              <a:off x="3058" y="10523"/>
              <a:ext cx="17548" cy="1258"/>
              <a:chOff x="3914" y="9142"/>
              <a:chExt cx="15555" cy="1115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14959" y="9142"/>
                <a:ext cx="4510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2016</a:t>
                </a:r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4589" y="9256"/>
                <a:ext cx="257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4589" y="9719"/>
                <a:ext cx="257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4959" y="9634"/>
                <a:ext cx="4510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2023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4299" y="91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3914" y="9256"/>
                <a:ext cx="257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3914" y="9719"/>
                <a:ext cx="257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4299" y="96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533" y="9142"/>
                <a:ext cx="5404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South&amp;South-east Asia, 2016</a:t>
                </a:r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8125" y="9256"/>
                <a:ext cx="257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8125" y="9719"/>
                <a:ext cx="257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8533" y="9629"/>
                <a:ext cx="569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>
                    <a:sym typeface="+mn-ea"/>
                  </a:rPr>
                  <a:t>South&amp;South-east Asia, 2023</a:t>
                </a:r>
              </a:p>
            </p:txBody>
          </p:sp>
        </p:grpSp>
        <p:cxnSp>
          <p:nvCxnSpPr>
            <p:cNvPr id="32" name="直接连接符 31"/>
            <p:cNvCxnSpPr/>
            <p:nvPr/>
          </p:nvCxnSpPr>
          <p:spPr>
            <a:xfrm>
              <a:off x="8440" y="7532"/>
              <a:ext cx="5925" cy="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0" name="直接连接符 49"/>
            <p:cNvCxnSpPr/>
            <p:nvPr/>
          </p:nvCxnSpPr>
          <p:spPr>
            <a:xfrm flipH="1">
              <a:off x="13410" y="3068"/>
              <a:ext cx="27" cy="6191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" name="TextBox 190"/>
            <p:cNvSpPr txBox="1"/>
            <p:nvPr/>
          </p:nvSpPr>
          <p:spPr>
            <a:xfrm>
              <a:off x="8494" y="6733"/>
              <a:ext cx="2309" cy="798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B&lt;0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“Crown”City</a:t>
              </a:r>
            </a:p>
          </p:txBody>
        </p:sp>
        <p:sp>
          <p:nvSpPr>
            <p:cNvPr id="5126" name="TextBox 190"/>
            <p:cNvSpPr txBox="1"/>
            <p:nvPr/>
          </p:nvSpPr>
          <p:spPr>
            <a:xfrm>
              <a:off x="8494" y="7531"/>
              <a:ext cx="2859" cy="87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B&lt;0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“Pyramid”City</a:t>
              </a:r>
            </a:p>
          </p:txBody>
        </p:sp>
        <p:cxnSp>
          <p:nvCxnSpPr>
            <p:cNvPr id="52" name="曲线连接符 51"/>
            <p:cNvCxnSpPr/>
            <p:nvPr/>
          </p:nvCxnSpPr>
          <p:spPr>
            <a:xfrm rot="5400000" flipV="1">
              <a:off x="13512" y="9267"/>
              <a:ext cx="958" cy="171"/>
            </a:xfrm>
            <a:prstGeom prst="curvedConnector3">
              <a:avLst>
                <a:gd name="adj1" fmla="val 50052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27" name="TextBox 191"/>
            <p:cNvSpPr txBox="1"/>
            <p:nvPr/>
          </p:nvSpPr>
          <p:spPr>
            <a:xfrm>
              <a:off x="13163" y="9839"/>
              <a:ext cx="2894" cy="81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B&gt;0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“Volcanic Cone” City</a:t>
              </a:r>
            </a:p>
          </p:txBody>
        </p:sp>
        <p:cxnSp>
          <p:nvCxnSpPr>
            <p:cNvPr id="53" name="曲线连接符 52"/>
            <p:cNvCxnSpPr/>
            <p:nvPr/>
          </p:nvCxnSpPr>
          <p:spPr>
            <a:xfrm rot="16200000">
              <a:off x="13764" y="2715"/>
              <a:ext cx="663" cy="622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63" name="TextBox 264"/>
            <p:cNvSpPr txBox="1"/>
            <p:nvPr/>
          </p:nvSpPr>
          <p:spPr>
            <a:xfrm>
              <a:off x="14044" y="1892"/>
              <a:ext cx="1805" cy="80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dirty="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B&gt;0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 dirty="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“Bowl” City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445605D-761A-B263-55CA-827B6E2B2490}"/>
              </a:ext>
            </a:extLst>
          </p:cNvPr>
          <p:cNvGrpSpPr/>
          <p:nvPr/>
        </p:nvGrpSpPr>
        <p:grpSpPr>
          <a:xfrm>
            <a:off x="1454120" y="7254987"/>
            <a:ext cx="8874078" cy="4445104"/>
            <a:chOff x="1589405" y="6532880"/>
            <a:chExt cx="8874078" cy="4445104"/>
          </a:xfrm>
        </p:grpSpPr>
        <p:sp>
          <p:nvSpPr>
            <p:cNvPr id="57" name="矩形 56"/>
            <p:cNvSpPr/>
            <p:nvPr/>
          </p:nvSpPr>
          <p:spPr>
            <a:xfrm>
              <a:off x="1589405" y="6532880"/>
              <a:ext cx="8705215" cy="44451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55" name="图片 54" descr="vertical_scatter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r="49890"/>
            <a:stretch>
              <a:fillRect/>
            </a:stretch>
          </p:blipFill>
          <p:spPr>
            <a:xfrm>
              <a:off x="1875097" y="7109154"/>
              <a:ext cx="3880234" cy="3045206"/>
            </a:xfrm>
            <a:prstGeom prst="rect">
              <a:avLst/>
            </a:prstGeom>
          </p:spPr>
        </p:pic>
        <p:pic>
          <p:nvPicPr>
            <p:cNvPr id="56" name="图片 55" descr="/home/liang/Documents/Research/Urban_Growth/Python_Codes/Presentations/Graphs/vertical_scatter.svgvertical_scatter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50134" t="35" r="-64" b="-35"/>
            <a:stretch>
              <a:fillRect/>
            </a:stretch>
          </p:blipFill>
          <p:spPr>
            <a:xfrm>
              <a:off x="6341399" y="7110222"/>
              <a:ext cx="3880234" cy="304520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2002782" y="6598753"/>
                  <a:ext cx="4163385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(a) Vertical Profile: Gradient B - Curvature C</a:t>
                  </a: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m:rPr>
                            <m:sty m:val="p"/>
                          </m:rPr>
                          <a:rPr lang="en-US" altLang="zh-CN" sz="1400" i="0">
                            <a:latin typeface="Cambria Math" panose="02040503050406030204" charset="0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400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2782" y="6598753"/>
                  <a:ext cx="4163385" cy="523220"/>
                </a:xfrm>
                <a:prstGeom prst="rect">
                  <a:avLst/>
                </a:prstGeom>
                <a:blipFill>
                  <a:blip r:embed="rId6"/>
                  <a:stretch>
                    <a:fillRect t="-2326" b="-46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399468" y="6598753"/>
                  <a:ext cx="4064015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(b) Vertical Profile: Verticality A</a:t>
                  </a: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m:rPr>
                            <m:sty m:val="p"/>
                          </m:rPr>
                          <a:rPr lang="en-US" altLang="zh-CN" sz="1400" i="0">
                            <a:latin typeface="Cambria Math" panose="02040503050406030204" charset="0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400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9468" y="6598753"/>
                  <a:ext cx="4064015" cy="523220"/>
                </a:xfrm>
                <a:prstGeom prst="rect">
                  <a:avLst/>
                </a:prstGeom>
                <a:blipFill>
                  <a:blip r:embed="rId7"/>
                  <a:stretch>
                    <a:fillRect t="-2326" b="-46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TextBox 190"/>
            <p:cNvSpPr txBox="1"/>
            <p:nvPr/>
          </p:nvSpPr>
          <p:spPr>
            <a:xfrm>
              <a:off x="2414152" y="7110222"/>
              <a:ext cx="1604128" cy="35687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Crown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82 % / 86% (2016 / 2023)</a:t>
              </a:r>
            </a:p>
            <a:p>
              <a:pPr lvl="0" algn="l">
                <a:buClrTx/>
                <a:buSzTx/>
                <a:buFontTx/>
              </a:pPr>
              <a:endParaRPr lang="en-US" altLang="zh-CN" sz="1100" dirty="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1773775" y="7413245"/>
              <a:ext cx="277378" cy="21965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83" name="矩形 82"/>
            <p:cNvSpPr/>
            <p:nvPr/>
          </p:nvSpPr>
          <p:spPr>
            <a:xfrm>
              <a:off x="1774124" y="7413140"/>
              <a:ext cx="518219" cy="23490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84" name="文本框 83"/>
            <p:cNvSpPr txBox="1"/>
            <p:nvPr/>
          </p:nvSpPr>
          <p:spPr>
            <a:xfrm>
              <a:off x="1875097" y="9561880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-0.02</a:t>
              </a:r>
            </a:p>
          </p:txBody>
        </p:sp>
        <p:sp>
          <p:nvSpPr>
            <p:cNvPr id="85" name="文本框 84"/>
            <p:cNvSpPr txBox="1"/>
            <p:nvPr/>
          </p:nvSpPr>
          <p:spPr>
            <a:xfrm>
              <a:off x="1875097" y="8530784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0</a:t>
              </a:r>
            </a:p>
          </p:txBody>
        </p:sp>
        <p:sp>
          <p:nvSpPr>
            <p:cNvPr id="86" name="文本框 85"/>
            <p:cNvSpPr txBox="1"/>
            <p:nvPr/>
          </p:nvSpPr>
          <p:spPr>
            <a:xfrm>
              <a:off x="1875097" y="7529606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0.02</a:t>
              </a:r>
            </a:p>
          </p:txBody>
        </p:sp>
        <p:sp>
          <p:nvSpPr>
            <p:cNvPr id="88" name="TextBox 190"/>
            <p:cNvSpPr txBox="1"/>
            <p:nvPr/>
          </p:nvSpPr>
          <p:spPr>
            <a:xfrm>
              <a:off x="5095451" y="7109154"/>
              <a:ext cx="963866" cy="511808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Bowl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1 % / 1% 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(2016 / 2023)</a:t>
              </a:r>
            </a:p>
            <a:p>
              <a:pPr lvl="0" algn="r">
                <a:buClrTx/>
                <a:buSzTx/>
                <a:buFontTx/>
              </a:pPr>
              <a:endParaRPr lang="en-US" altLang="zh-CN" sz="1100" dirty="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89" name="TextBox 190"/>
            <p:cNvSpPr txBox="1"/>
            <p:nvPr/>
          </p:nvSpPr>
          <p:spPr>
            <a:xfrm>
              <a:off x="5059680" y="9383976"/>
              <a:ext cx="1106487" cy="511808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Volcanic Cone</a:t>
              </a:r>
            </a:p>
            <a:p>
              <a:pPr lvl="0" indent="45720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6 % / 6% 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(2016 / 2023)</a:t>
              </a:r>
            </a:p>
            <a:p>
              <a:pPr lvl="0" algn="r">
                <a:buClrTx/>
                <a:buSzTx/>
                <a:buFontTx/>
              </a:pPr>
              <a:endParaRPr lang="en-US" altLang="zh-CN" sz="1100" dirty="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90" name="TextBox 190"/>
            <p:cNvSpPr txBox="1"/>
            <p:nvPr/>
          </p:nvSpPr>
          <p:spPr>
            <a:xfrm>
              <a:off x="2414152" y="9461442"/>
              <a:ext cx="1547178" cy="35687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Pyramid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12 % / 8% (2016 / 2023)</a:t>
              </a:r>
            </a:p>
          </p:txBody>
        </p:sp>
        <p:sp>
          <p:nvSpPr>
            <p:cNvPr id="91" name="矩形 90"/>
            <p:cNvSpPr/>
            <p:nvPr/>
          </p:nvSpPr>
          <p:spPr>
            <a:xfrm>
              <a:off x="6357427" y="7109154"/>
              <a:ext cx="312000" cy="28480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92" name="矩形 91"/>
            <p:cNvSpPr/>
            <p:nvPr/>
          </p:nvSpPr>
          <p:spPr>
            <a:xfrm rot="5400000">
              <a:off x="3794645" y="8008825"/>
              <a:ext cx="184315" cy="40239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3097453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400"/>
                <a:t>-0.2</a:t>
              </a: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2181754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/>
                <a:t>-0.3</a:t>
              </a: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4968919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400"/>
                <a:t>0</a:t>
              </a:r>
            </a:p>
          </p:txBody>
        </p:sp>
        <p:sp>
          <p:nvSpPr>
            <p:cNvPr id="96" name="文本框 95"/>
            <p:cNvSpPr txBox="1"/>
            <p:nvPr/>
          </p:nvSpPr>
          <p:spPr>
            <a:xfrm>
              <a:off x="3961330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400" dirty="0"/>
                <a:t>-0.1</a:t>
              </a:r>
            </a:p>
          </p:txBody>
        </p:sp>
        <p:sp>
          <p:nvSpPr>
            <p:cNvPr id="97" name="文本框 96"/>
            <p:cNvSpPr txBox="1"/>
            <p:nvPr/>
          </p:nvSpPr>
          <p:spPr>
            <a:xfrm>
              <a:off x="6235618" y="7480455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16</a:t>
              </a:r>
            </a:p>
          </p:txBody>
        </p:sp>
        <p:sp>
          <p:nvSpPr>
            <p:cNvPr id="98" name="文本框 97"/>
            <p:cNvSpPr txBox="1"/>
            <p:nvPr/>
          </p:nvSpPr>
          <p:spPr>
            <a:xfrm>
              <a:off x="6212111" y="8220387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12</a:t>
              </a:r>
            </a:p>
          </p:txBody>
        </p:sp>
        <p:sp>
          <p:nvSpPr>
            <p:cNvPr id="99" name="文本框 98"/>
            <p:cNvSpPr txBox="1"/>
            <p:nvPr/>
          </p:nvSpPr>
          <p:spPr>
            <a:xfrm>
              <a:off x="6212111" y="8949633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8</a:t>
              </a: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212111" y="9662318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4</a:t>
              </a: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6274232" y="7108931"/>
              <a:ext cx="395181" cy="1247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400" b="1" i="1" dirty="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5567690" y="9988520"/>
              <a:ext cx="395181" cy="1247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400" b="1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952976" y="7108931"/>
              <a:ext cx="395181" cy="1247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400" b="1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grpSp>
          <p:nvGrpSpPr>
            <p:cNvPr id="126" name="组合 125"/>
            <p:cNvGrpSpPr/>
            <p:nvPr/>
          </p:nvGrpSpPr>
          <p:grpSpPr>
            <a:xfrm>
              <a:off x="7025906" y="7135847"/>
              <a:ext cx="667185" cy="147210"/>
              <a:chOff x="12739" y="16304"/>
              <a:chExt cx="1142" cy="218"/>
            </a:xfrm>
          </p:grpSpPr>
          <p:sp>
            <p:nvSpPr>
              <p:cNvPr id="124" name="文本框 123"/>
              <p:cNvSpPr txBox="1"/>
              <p:nvPr/>
            </p:nvSpPr>
            <p:spPr>
              <a:xfrm>
                <a:off x="12739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2016</a:t>
                </a:r>
              </a:p>
            </p:txBody>
          </p:sp>
          <p:sp>
            <p:nvSpPr>
              <p:cNvPr id="125" name="文本框 124"/>
              <p:cNvSpPr txBox="1"/>
              <p:nvPr/>
            </p:nvSpPr>
            <p:spPr>
              <a:xfrm>
                <a:off x="13437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127" name="组合 126"/>
            <p:cNvGrpSpPr/>
            <p:nvPr/>
          </p:nvGrpSpPr>
          <p:grpSpPr>
            <a:xfrm>
              <a:off x="8049598" y="7135847"/>
              <a:ext cx="737709" cy="147210"/>
              <a:chOff x="12739" y="16304"/>
              <a:chExt cx="1142" cy="218"/>
            </a:xfrm>
          </p:grpSpPr>
          <p:sp>
            <p:nvSpPr>
              <p:cNvPr id="128" name="文本框 127"/>
              <p:cNvSpPr txBox="1"/>
              <p:nvPr/>
            </p:nvSpPr>
            <p:spPr>
              <a:xfrm>
                <a:off x="12739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2016</a:t>
                </a:r>
              </a:p>
            </p:txBody>
          </p:sp>
          <p:sp>
            <p:nvSpPr>
              <p:cNvPr id="129" name="文本框 128"/>
              <p:cNvSpPr txBox="1"/>
              <p:nvPr/>
            </p:nvSpPr>
            <p:spPr>
              <a:xfrm>
                <a:off x="13437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130" name="组合 129"/>
            <p:cNvGrpSpPr/>
            <p:nvPr/>
          </p:nvGrpSpPr>
          <p:grpSpPr>
            <a:xfrm>
              <a:off x="9082514" y="7135847"/>
              <a:ext cx="706334" cy="147210"/>
              <a:chOff x="12739" y="16304"/>
              <a:chExt cx="1142" cy="218"/>
            </a:xfrm>
          </p:grpSpPr>
          <p:sp>
            <p:nvSpPr>
              <p:cNvPr id="131" name="文本框 130"/>
              <p:cNvSpPr txBox="1"/>
              <p:nvPr/>
            </p:nvSpPr>
            <p:spPr>
              <a:xfrm>
                <a:off x="12739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2016</a:t>
                </a:r>
              </a:p>
            </p:txBody>
          </p:sp>
          <p:sp>
            <p:nvSpPr>
              <p:cNvPr id="132" name="文本框 131"/>
              <p:cNvSpPr txBox="1"/>
              <p:nvPr/>
            </p:nvSpPr>
            <p:spPr>
              <a:xfrm>
                <a:off x="13437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61" name="组合 196">
              <a:extLst>
                <a:ext uri="{FF2B5EF4-FFF2-40B4-BE49-F238E27FC236}">
                  <a16:creationId xmlns:a16="http://schemas.microsoft.com/office/drawing/2014/main" id="{3B2282B5-C147-C190-6EA5-8A9C149F5FC3}"/>
                </a:ext>
              </a:extLst>
            </p:cNvPr>
            <p:cNvGrpSpPr/>
            <p:nvPr/>
          </p:nvGrpSpPr>
          <p:grpSpPr>
            <a:xfrm>
              <a:off x="1850787" y="10400419"/>
              <a:ext cx="4501515" cy="353060"/>
              <a:chOff x="3905" y="13468"/>
              <a:chExt cx="7089" cy="556"/>
            </a:xfrm>
          </p:grpSpPr>
          <p:grpSp>
            <p:nvGrpSpPr>
              <p:cNvPr id="62" name="组合 194">
                <a:extLst>
                  <a:ext uri="{FF2B5EF4-FFF2-40B4-BE49-F238E27FC236}">
                    <a16:creationId xmlns:a16="http://schemas.microsoft.com/office/drawing/2014/main" id="{BBFDA101-1B1C-2A37-426B-9B7E9C8ADBB5}"/>
                  </a:ext>
                </a:extLst>
              </p:cNvPr>
              <p:cNvGrpSpPr/>
              <p:nvPr/>
            </p:nvGrpSpPr>
            <p:grpSpPr>
              <a:xfrm>
                <a:off x="8921" y="13468"/>
                <a:ext cx="2073" cy="246"/>
                <a:chOff x="8921" y="13468"/>
                <a:chExt cx="2073" cy="246"/>
              </a:xfrm>
            </p:grpSpPr>
            <p:sp>
              <p:nvSpPr>
                <p:cNvPr id="80" name="文本框 171">
                  <a:extLst>
                    <a:ext uri="{FF2B5EF4-FFF2-40B4-BE49-F238E27FC236}">
                      <a16:creationId xmlns:a16="http://schemas.microsoft.com/office/drawing/2014/main" id="{776FE342-E14D-E993-BCF9-A1E667307AA3}"/>
                    </a:ext>
                  </a:extLst>
                </p:cNvPr>
                <p:cNvSpPr txBox="1"/>
                <p:nvPr/>
              </p:nvSpPr>
              <p:spPr>
                <a:xfrm>
                  <a:off x="9172" y="1346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Latin America, 2016</a:t>
                  </a:r>
                </a:p>
              </p:txBody>
            </p:sp>
            <p:sp>
              <p:nvSpPr>
                <p:cNvPr id="87" name="椭圆 172">
                  <a:extLst>
                    <a:ext uri="{FF2B5EF4-FFF2-40B4-BE49-F238E27FC236}">
                      <a16:creationId xmlns:a16="http://schemas.microsoft.com/office/drawing/2014/main" id="{B8333978-7EFE-08F1-6D31-ED641EAFFE09}"/>
                    </a:ext>
                  </a:extLst>
                </p:cNvPr>
                <p:cNvSpPr/>
                <p:nvPr/>
              </p:nvSpPr>
              <p:spPr>
                <a:xfrm>
                  <a:off x="8921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63" name="组合 195">
                <a:extLst>
                  <a:ext uri="{FF2B5EF4-FFF2-40B4-BE49-F238E27FC236}">
                    <a16:creationId xmlns:a16="http://schemas.microsoft.com/office/drawing/2014/main" id="{90F82127-F0B9-8498-67A8-55219F2E0BAE}"/>
                  </a:ext>
                </a:extLst>
              </p:cNvPr>
              <p:cNvGrpSpPr/>
              <p:nvPr/>
            </p:nvGrpSpPr>
            <p:grpSpPr>
              <a:xfrm>
                <a:off x="8921" y="13778"/>
                <a:ext cx="2073" cy="246"/>
                <a:chOff x="8921" y="13778"/>
                <a:chExt cx="2073" cy="246"/>
              </a:xfrm>
            </p:grpSpPr>
            <p:sp>
              <p:nvSpPr>
                <p:cNvPr id="78" name="椭圆 173">
                  <a:extLst>
                    <a:ext uri="{FF2B5EF4-FFF2-40B4-BE49-F238E27FC236}">
                      <a16:creationId xmlns:a16="http://schemas.microsoft.com/office/drawing/2014/main" id="{61D5434F-2825-3517-D09F-51B1FE9B6327}"/>
                    </a:ext>
                  </a:extLst>
                </p:cNvPr>
                <p:cNvSpPr/>
                <p:nvPr/>
              </p:nvSpPr>
              <p:spPr>
                <a:xfrm>
                  <a:off x="8921" y="13820"/>
                  <a:ext cx="163" cy="162"/>
                </a:xfrm>
                <a:prstGeom prst="ellipse">
                  <a:avLst/>
                </a:prstGeom>
                <a:solidFill>
                  <a:srgbClr val="47A2DE">
                    <a:alpha val="70000"/>
                  </a:srgbClr>
                </a:solidFill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9" name="文本框 174">
                  <a:extLst>
                    <a:ext uri="{FF2B5EF4-FFF2-40B4-BE49-F238E27FC236}">
                      <a16:creationId xmlns:a16="http://schemas.microsoft.com/office/drawing/2014/main" id="{F836FBE0-7925-2273-E474-6A5B98FF56FC}"/>
                    </a:ext>
                  </a:extLst>
                </p:cNvPr>
                <p:cNvSpPr txBox="1"/>
                <p:nvPr/>
              </p:nvSpPr>
              <p:spPr>
                <a:xfrm>
                  <a:off x="9172" y="1377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Latin America, 2023</a:t>
                  </a:r>
                </a:p>
              </p:txBody>
            </p:sp>
          </p:grpSp>
          <p:sp>
            <p:nvSpPr>
              <p:cNvPr id="64" name="椭圆 176">
                <a:extLst>
                  <a:ext uri="{FF2B5EF4-FFF2-40B4-BE49-F238E27FC236}">
                    <a16:creationId xmlns:a16="http://schemas.microsoft.com/office/drawing/2014/main" id="{F0367C5A-19AE-3B81-BB05-DC3D213ACA86}"/>
                  </a:ext>
                </a:extLst>
              </p:cNvPr>
              <p:cNvSpPr/>
              <p:nvPr/>
            </p:nvSpPr>
            <p:spPr>
              <a:xfrm>
                <a:off x="3905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grpSp>
            <p:nvGrpSpPr>
              <p:cNvPr id="65" name="组合 189">
                <a:extLst>
                  <a:ext uri="{FF2B5EF4-FFF2-40B4-BE49-F238E27FC236}">
                    <a16:creationId xmlns:a16="http://schemas.microsoft.com/office/drawing/2014/main" id="{BEDFE38C-5CF7-BC81-F8A4-6C525C037693}"/>
                  </a:ext>
                </a:extLst>
              </p:cNvPr>
              <p:cNvGrpSpPr/>
              <p:nvPr/>
            </p:nvGrpSpPr>
            <p:grpSpPr>
              <a:xfrm>
                <a:off x="3905" y="13778"/>
                <a:ext cx="1336" cy="246"/>
                <a:chOff x="3905" y="13786"/>
                <a:chExt cx="1336" cy="246"/>
              </a:xfrm>
            </p:grpSpPr>
            <p:sp>
              <p:nvSpPr>
                <p:cNvPr id="76" name="椭圆 177">
                  <a:extLst>
                    <a:ext uri="{FF2B5EF4-FFF2-40B4-BE49-F238E27FC236}">
                      <a16:creationId xmlns:a16="http://schemas.microsoft.com/office/drawing/2014/main" id="{CC8D8228-6A34-5D4D-62C9-975688F71E95}"/>
                    </a:ext>
                  </a:extLst>
                </p:cNvPr>
                <p:cNvSpPr/>
                <p:nvPr/>
              </p:nvSpPr>
              <p:spPr>
                <a:xfrm>
                  <a:off x="3905" y="13828"/>
                  <a:ext cx="163" cy="162"/>
                </a:xfrm>
                <a:prstGeom prst="ellipse">
                  <a:avLst/>
                </a:prstGeom>
                <a:solidFill>
                  <a:srgbClr val="E85748">
                    <a:alpha val="70000"/>
                  </a:srgbClr>
                </a:solidFill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7" name="文本框 178">
                  <a:extLst>
                    <a:ext uri="{FF2B5EF4-FFF2-40B4-BE49-F238E27FC236}">
                      <a16:creationId xmlns:a16="http://schemas.microsoft.com/office/drawing/2014/main" id="{1C832476-83DE-AF5A-FA9F-65EC19E317F6}"/>
                    </a:ext>
                  </a:extLst>
                </p:cNvPr>
                <p:cNvSpPr txBox="1"/>
                <p:nvPr/>
              </p:nvSpPr>
              <p:spPr>
                <a:xfrm>
                  <a:off x="4149" y="13786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/>
                    <a:t>Africa, 2023</a:t>
                  </a:r>
                </a:p>
              </p:txBody>
            </p:sp>
          </p:grpSp>
          <p:grpSp>
            <p:nvGrpSpPr>
              <p:cNvPr id="67" name="组合 190">
                <a:extLst>
                  <a:ext uri="{FF2B5EF4-FFF2-40B4-BE49-F238E27FC236}">
                    <a16:creationId xmlns:a16="http://schemas.microsoft.com/office/drawing/2014/main" id="{F3A856AC-ADB9-5C8B-550B-9986D4522F48}"/>
                  </a:ext>
                </a:extLst>
              </p:cNvPr>
              <p:cNvGrpSpPr/>
              <p:nvPr/>
            </p:nvGrpSpPr>
            <p:grpSpPr>
              <a:xfrm>
                <a:off x="5650" y="13468"/>
                <a:ext cx="3165" cy="246"/>
                <a:chOff x="5650" y="13468"/>
                <a:chExt cx="3165" cy="246"/>
              </a:xfrm>
            </p:grpSpPr>
            <p:sp>
              <p:nvSpPr>
                <p:cNvPr id="74" name="文本框 179">
                  <a:extLst>
                    <a:ext uri="{FF2B5EF4-FFF2-40B4-BE49-F238E27FC236}">
                      <a16:creationId xmlns:a16="http://schemas.microsoft.com/office/drawing/2014/main" id="{4A0D40FD-92F4-BB6C-6643-2B3A984F01B1}"/>
                    </a:ext>
                  </a:extLst>
                </p:cNvPr>
                <p:cNvSpPr txBox="1"/>
                <p:nvPr/>
              </p:nvSpPr>
              <p:spPr>
                <a:xfrm>
                  <a:off x="5884" y="13468"/>
                  <a:ext cx="2931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South &amp; Southeast Asia, 2016</a:t>
                  </a:r>
                </a:p>
              </p:txBody>
            </p:sp>
            <p:sp>
              <p:nvSpPr>
                <p:cNvPr id="75" name="椭圆 180">
                  <a:extLst>
                    <a:ext uri="{FF2B5EF4-FFF2-40B4-BE49-F238E27FC236}">
                      <a16:creationId xmlns:a16="http://schemas.microsoft.com/office/drawing/2014/main" id="{F236C450-E8E5-036C-F75A-50EE0BA19F06}"/>
                    </a:ext>
                  </a:extLst>
                </p:cNvPr>
                <p:cNvSpPr/>
                <p:nvPr/>
              </p:nvSpPr>
              <p:spPr>
                <a:xfrm>
                  <a:off x="5650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68" name="组合 192">
                <a:extLst>
                  <a:ext uri="{FF2B5EF4-FFF2-40B4-BE49-F238E27FC236}">
                    <a16:creationId xmlns:a16="http://schemas.microsoft.com/office/drawing/2014/main" id="{7250680B-6746-0274-2EB9-8FCF489958A3}"/>
                  </a:ext>
                </a:extLst>
              </p:cNvPr>
              <p:cNvGrpSpPr/>
              <p:nvPr/>
            </p:nvGrpSpPr>
            <p:grpSpPr>
              <a:xfrm>
                <a:off x="5650" y="13778"/>
                <a:ext cx="3165" cy="246"/>
                <a:chOff x="5650" y="13778"/>
                <a:chExt cx="3165" cy="246"/>
              </a:xfrm>
            </p:grpSpPr>
            <p:sp>
              <p:nvSpPr>
                <p:cNvPr id="72" name="椭圆 181">
                  <a:extLst>
                    <a:ext uri="{FF2B5EF4-FFF2-40B4-BE49-F238E27FC236}">
                      <a16:creationId xmlns:a16="http://schemas.microsoft.com/office/drawing/2014/main" id="{FF9BF557-2DE3-9DD8-26FD-CF9A023AD402}"/>
                    </a:ext>
                  </a:extLst>
                </p:cNvPr>
                <p:cNvSpPr/>
                <p:nvPr/>
              </p:nvSpPr>
              <p:spPr>
                <a:xfrm>
                  <a:off x="5650" y="13820"/>
                  <a:ext cx="163" cy="162"/>
                </a:xfrm>
                <a:prstGeom prst="ellipse">
                  <a:avLst/>
                </a:prstGeom>
                <a:solidFill>
                  <a:srgbClr val="F39F1B">
                    <a:alpha val="70000"/>
                  </a:srgbClr>
                </a:solidFill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3" name="文本框 182">
                  <a:extLst>
                    <a:ext uri="{FF2B5EF4-FFF2-40B4-BE49-F238E27FC236}">
                      <a16:creationId xmlns:a16="http://schemas.microsoft.com/office/drawing/2014/main" id="{C9D407AC-6BA1-52FB-0364-E5E11D8A7FAE}"/>
                    </a:ext>
                  </a:extLst>
                </p:cNvPr>
                <p:cNvSpPr txBox="1"/>
                <p:nvPr/>
              </p:nvSpPr>
              <p:spPr>
                <a:xfrm>
                  <a:off x="5884" y="13778"/>
                  <a:ext cx="2931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South &amp; Southeast Asia, 2023</a:t>
                  </a:r>
                </a:p>
              </p:txBody>
            </p:sp>
          </p:grpSp>
          <p:grpSp>
            <p:nvGrpSpPr>
              <p:cNvPr id="69" name="组合 193">
                <a:extLst>
                  <a:ext uri="{FF2B5EF4-FFF2-40B4-BE49-F238E27FC236}">
                    <a16:creationId xmlns:a16="http://schemas.microsoft.com/office/drawing/2014/main" id="{35B4AA36-CDCB-99C0-DA50-D8F53882BE83}"/>
                  </a:ext>
                </a:extLst>
              </p:cNvPr>
              <p:cNvGrpSpPr/>
              <p:nvPr/>
            </p:nvGrpSpPr>
            <p:grpSpPr>
              <a:xfrm>
                <a:off x="3905" y="13468"/>
                <a:ext cx="1336" cy="246"/>
                <a:chOff x="3905" y="13468"/>
                <a:chExt cx="1336" cy="246"/>
              </a:xfrm>
            </p:grpSpPr>
            <p:sp>
              <p:nvSpPr>
                <p:cNvPr id="70" name="文本框 175">
                  <a:extLst>
                    <a:ext uri="{FF2B5EF4-FFF2-40B4-BE49-F238E27FC236}">
                      <a16:creationId xmlns:a16="http://schemas.microsoft.com/office/drawing/2014/main" id="{A0710928-809E-7578-8B1D-B0F9D0B8894E}"/>
                    </a:ext>
                  </a:extLst>
                </p:cNvPr>
                <p:cNvSpPr txBox="1"/>
                <p:nvPr/>
              </p:nvSpPr>
              <p:spPr>
                <a:xfrm>
                  <a:off x="4149" y="13468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 dirty="0"/>
                    <a:t>Africa, 2016</a:t>
                  </a:r>
                </a:p>
              </p:txBody>
            </p:sp>
            <p:sp>
              <p:nvSpPr>
                <p:cNvPr id="71" name="椭圆 187">
                  <a:extLst>
                    <a:ext uri="{FF2B5EF4-FFF2-40B4-BE49-F238E27FC236}">
                      <a16:creationId xmlns:a16="http://schemas.microsoft.com/office/drawing/2014/main" id="{ADE9957E-D1F2-DA12-C6D1-F5EE993D72CA}"/>
                    </a:ext>
                  </a:extLst>
                </p:cNvPr>
                <p:cNvSpPr/>
                <p:nvPr/>
              </p:nvSpPr>
              <p:spPr>
                <a:xfrm>
                  <a:off x="3905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</p:grpSp>
        </p:grpSp>
        <p:sp>
          <p:nvSpPr>
            <p:cNvPr id="105" name="矩形 90">
              <a:extLst>
                <a:ext uri="{FF2B5EF4-FFF2-40B4-BE49-F238E27FC236}">
                  <a16:creationId xmlns:a16="http://schemas.microsoft.com/office/drawing/2014/main" id="{4BDC5E15-0ED1-5C00-0A8D-A917B1AC5B07}"/>
                </a:ext>
              </a:extLst>
            </p:cNvPr>
            <p:cNvSpPr/>
            <p:nvPr/>
          </p:nvSpPr>
          <p:spPr>
            <a:xfrm rot="5400000">
              <a:off x="8317149" y="8579122"/>
              <a:ext cx="473301" cy="32289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104" name="文本框 95">
              <a:extLst>
                <a:ext uri="{FF2B5EF4-FFF2-40B4-BE49-F238E27FC236}">
                  <a16:creationId xmlns:a16="http://schemas.microsoft.com/office/drawing/2014/main" id="{46C2990C-DF11-FA5C-9124-BD4990486A68}"/>
                </a:ext>
              </a:extLst>
            </p:cNvPr>
            <p:cNvSpPr txBox="1"/>
            <p:nvPr/>
          </p:nvSpPr>
          <p:spPr>
            <a:xfrm>
              <a:off x="7147744" y="9956956"/>
              <a:ext cx="474770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200" dirty="0"/>
                <a:t>Africa</a:t>
              </a:r>
            </a:p>
          </p:txBody>
        </p:sp>
        <p:sp>
          <p:nvSpPr>
            <p:cNvPr id="106" name="文本框 95">
              <a:extLst>
                <a:ext uri="{FF2B5EF4-FFF2-40B4-BE49-F238E27FC236}">
                  <a16:creationId xmlns:a16="http://schemas.microsoft.com/office/drawing/2014/main" id="{B71C1990-D57B-430A-64FD-1A865DE13C95}"/>
                </a:ext>
              </a:extLst>
            </p:cNvPr>
            <p:cNvSpPr txBox="1"/>
            <p:nvPr/>
          </p:nvSpPr>
          <p:spPr>
            <a:xfrm>
              <a:off x="7797746" y="9956956"/>
              <a:ext cx="1221510" cy="4733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200" dirty="0"/>
                <a:t>South &amp; Southeast Asia</a:t>
              </a:r>
            </a:p>
          </p:txBody>
        </p:sp>
        <p:sp>
          <p:nvSpPr>
            <p:cNvPr id="107" name="文本框 95">
              <a:extLst>
                <a:ext uri="{FF2B5EF4-FFF2-40B4-BE49-F238E27FC236}">
                  <a16:creationId xmlns:a16="http://schemas.microsoft.com/office/drawing/2014/main" id="{65767339-EAB3-2FA9-5AE0-B72666528B62}"/>
                </a:ext>
              </a:extLst>
            </p:cNvPr>
            <p:cNvSpPr txBox="1"/>
            <p:nvPr/>
          </p:nvSpPr>
          <p:spPr>
            <a:xfrm>
              <a:off x="8960626" y="9956956"/>
              <a:ext cx="1035187" cy="4733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200" dirty="0"/>
                <a:t>Latin America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/>
          <p:nvPr/>
        </p:nvPicPr>
        <p:blipFill>
          <a:blip r:embed="rId2"/>
          <a:srcRect l="50166" t="71" r="-5" b="-71"/>
          <a:stretch>
            <a:fillRect/>
          </a:stretch>
        </p:blipFill>
        <p:spPr>
          <a:xfrm>
            <a:off x="7909284" y="10594660"/>
            <a:ext cx="3248311" cy="2563573"/>
          </a:xfrm>
          <a:prstGeom prst="rect">
            <a:avLst/>
          </a:prstGeom>
        </p:spPr>
      </p:pic>
      <p:pic>
        <p:nvPicPr>
          <p:cNvPr id="6" name="图片 5"/>
          <p:cNvPicPr/>
          <p:nvPr/>
        </p:nvPicPr>
        <p:blipFill>
          <a:blip r:embed="rId2"/>
          <a:srcRect r="50161"/>
          <a:stretch>
            <a:fillRect/>
          </a:stretch>
        </p:blipFill>
        <p:spPr>
          <a:xfrm>
            <a:off x="4335213" y="10603233"/>
            <a:ext cx="3248311" cy="2563573"/>
          </a:xfrm>
          <a:prstGeom prst="rect">
            <a:avLst/>
          </a:prstGeom>
        </p:spPr>
      </p:pic>
      <p:grpSp>
        <p:nvGrpSpPr>
          <p:cNvPr id="74" name="Group 73">
            <a:extLst>
              <a:ext uri="{FF2B5EF4-FFF2-40B4-BE49-F238E27FC236}">
                <a16:creationId xmlns:a16="http://schemas.microsoft.com/office/drawing/2014/main" id="{F5513E25-3C40-6667-8277-819694A4503A}"/>
              </a:ext>
            </a:extLst>
          </p:cNvPr>
          <p:cNvGrpSpPr/>
          <p:nvPr/>
        </p:nvGrpSpPr>
        <p:grpSpPr>
          <a:xfrm>
            <a:off x="2895600" y="5146040"/>
            <a:ext cx="7923530" cy="4298902"/>
            <a:chOff x="2895600" y="5146040"/>
            <a:chExt cx="7923530" cy="4298902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4469F714-1AC0-72EA-FC94-3F4D74589D66}"/>
                </a:ext>
              </a:extLst>
            </p:cNvPr>
            <p:cNvGrpSpPr/>
            <p:nvPr/>
          </p:nvGrpSpPr>
          <p:grpSpPr>
            <a:xfrm>
              <a:off x="2895600" y="5146040"/>
              <a:ext cx="7923530" cy="4298902"/>
              <a:chOff x="2895600" y="5146040"/>
              <a:chExt cx="7923530" cy="4298902"/>
            </a:xfrm>
          </p:grpSpPr>
          <p:sp>
            <p:nvSpPr>
              <p:cNvPr id="66" name="矩形 65"/>
              <p:cNvSpPr/>
              <p:nvPr/>
            </p:nvSpPr>
            <p:spPr>
              <a:xfrm>
                <a:off x="2895600" y="5146040"/>
                <a:ext cx="7878717" cy="429890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 dirty="0"/>
              </a:p>
            </p:txBody>
          </p:sp>
          <p:pic>
            <p:nvPicPr>
              <p:cNvPr id="51" name="图片 10">
                <a:extLst>
                  <a:ext uri="{FF2B5EF4-FFF2-40B4-BE49-F238E27FC236}">
                    <a16:creationId xmlns:a16="http://schemas.microsoft.com/office/drawing/2014/main" id="{F902EF66-CFFE-E8AF-34F6-101885D93B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57469" t="1124" r="-59" b="11685"/>
              <a:stretch>
                <a:fillRect/>
              </a:stretch>
            </p:blipFill>
            <p:spPr>
              <a:xfrm>
                <a:off x="7572563" y="5917167"/>
                <a:ext cx="2920762" cy="2494664"/>
              </a:xfrm>
              <a:prstGeom prst="rect">
                <a:avLst/>
              </a:prstGeom>
            </p:spPr>
          </p:pic>
          <p:pic>
            <p:nvPicPr>
              <p:cNvPr id="11" name="图片 10"/>
              <p:cNvPicPr>
                <a:picLocks noChangeAspect="1"/>
              </p:cNvPicPr>
              <p:nvPr/>
            </p:nvPicPr>
            <p:blipFill>
              <a:blip r:embed="rId3"/>
              <a:srcRect t="1124" r="50036"/>
              <a:stretch>
                <a:fillRect/>
              </a:stretch>
            </p:blipFill>
            <p:spPr>
              <a:xfrm>
                <a:off x="3381362" y="5910409"/>
                <a:ext cx="3426550" cy="2828967"/>
              </a:xfrm>
              <a:prstGeom prst="rect">
                <a:avLst/>
              </a:prstGeom>
            </p:spPr>
          </p:pic>
          <p:grpSp>
            <p:nvGrpSpPr>
              <p:cNvPr id="12" name="组合 11"/>
              <p:cNvGrpSpPr/>
              <p:nvPr/>
            </p:nvGrpSpPr>
            <p:grpSpPr>
              <a:xfrm>
                <a:off x="3724981" y="8396114"/>
                <a:ext cx="3462984" cy="354692"/>
                <a:chOff x="1420" y="9784"/>
                <a:chExt cx="9695" cy="993"/>
              </a:xfrm>
            </p:grpSpPr>
            <p:sp>
              <p:nvSpPr>
                <p:cNvPr id="8" name="矩形 7"/>
                <p:cNvSpPr/>
                <p:nvPr/>
              </p:nvSpPr>
              <p:spPr>
                <a:xfrm rot="5400000">
                  <a:off x="5245" y="5959"/>
                  <a:ext cx="993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669" y="992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0%</a:t>
                  </a:r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094" y="9937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6%</a:t>
                  </a:r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2056" y="9861"/>
                  <a:ext cx="1073" cy="58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-6%</a:t>
                  </a:r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9274" y="9839"/>
                  <a:ext cx="1841" cy="62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p</a:t>
                  </a:r>
                  <a:r>
                    <a:rPr lang="en-US" altLang="zh-CN" sz="1350" i="1" baseline="-25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α</a:t>
                  </a:r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7160006" y="5862188"/>
                <a:ext cx="447205" cy="2556072"/>
                <a:chOff x="10399" y="3051"/>
                <a:chExt cx="1252" cy="7054"/>
              </a:xfrm>
            </p:grpSpPr>
            <p:sp>
              <p:nvSpPr>
                <p:cNvPr id="14" name="矩形 13"/>
                <p:cNvSpPr/>
                <p:nvPr/>
              </p:nvSpPr>
              <p:spPr>
                <a:xfrm>
                  <a:off x="10399" y="3051"/>
                  <a:ext cx="1252" cy="705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48" name="文本框 47"/>
                <p:cNvSpPr txBox="1"/>
                <p:nvPr/>
              </p:nvSpPr>
              <p:spPr>
                <a:xfrm>
                  <a:off x="10485" y="3678"/>
                  <a:ext cx="1069" cy="44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 dirty="0"/>
                    <a:t>0.04</a:t>
                  </a:r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0740" y="6129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10798" y="3051"/>
                  <a:ext cx="853" cy="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10400" y="8553"/>
                  <a:ext cx="115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-0.04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3503879" y="5225313"/>
                    <a:ext cx="3355112" cy="51542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Change of Horizontal Constraint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altLang="zh-CN" sz="1350" i="1" dirty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𝜓</m:t>
                          </m:r>
                          <m:d>
                            <m:dPr>
                              <m:ctrlPr>
                                <a:rPr lang="en-US" altLang="zh-CN" sz="1350" i="1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sz="1350" i="1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</m:d>
                          <m:r>
                            <a:rPr lang="en-US" altLang="zh-CN" sz="1350" i="1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en-US" altLang="zh-CN" sz="1350" i="0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  <m:t>logistic</m:t>
                          </m:r>
                          <m:d>
                            <m:dPr>
                              <m:ctrlPr>
                                <a:rPr lang="en-US" altLang="zh-CN" sz="1350" i="1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sz="1350" i="1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𝛼</m:t>
                              </m:r>
                              <m:r>
                                <a:rPr lang="en-US" altLang="zh-CN" sz="1350" i="1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r>
                                <a:rPr lang="en-US" altLang="zh-CN" sz="1350" i="1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altLang="zh-CN" sz="1350" i="1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</m:d>
                        </m:oMath>
                      </m:oMathPara>
                    </a14:m>
                    <a:endParaRPr lang="en-US" altLang="zh-CN" sz="135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03879" y="5225313"/>
                    <a:ext cx="3355112" cy="51542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1176" b="-352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4" name="组合 23"/>
              <p:cNvGrpSpPr/>
              <p:nvPr/>
            </p:nvGrpSpPr>
            <p:grpSpPr>
              <a:xfrm>
                <a:off x="3381362" y="5910409"/>
                <a:ext cx="515072" cy="2471417"/>
                <a:chOff x="647" y="3188"/>
                <a:chExt cx="1442" cy="6919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647" y="3189"/>
                  <a:ext cx="1442" cy="691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902" y="4069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0.08</a:t>
                  </a:r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735" y="7457"/>
                  <a:ext cx="1103" cy="40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001" y="3188"/>
                  <a:ext cx="993" cy="42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902" y="9157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 dirty="0"/>
                    <a:t>-0.04</a:t>
                  </a:r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902" y="5743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0.04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7204298" y="5225313"/>
                    <a:ext cx="3422978" cy="5079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Change of Horizontal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m:rPr>
                              <m:sty m:val="p"/>
                            </m:rPr>
                            <a:rPr lang="en-US" altLang="zh-CN" sz="1350" i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logistic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04298" y="5225313"/>
                    <a:ext cx="3422978" cy="507928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1205" b="-602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" name="组合 19"/>
              <p:cNvGrpSpPr/>
              <p:nvPr/>
            </p:nvGrpSpPr>
            <p:grpSpPr>
              <a:xfrm>
                <a:off x="7408969" y="8381826"/>
                <a:ext cx="3087217" cy="360408"/>
                <a:chOff x="11000" y="9740"/>
                <a:chExt cx="8643" cy="1009"/>
              </a:xfrm>
            </p:grpSpPr>
            <p:sp>
              <p:nvSpPr>
                <p:cNvPr id="15" name="矩形 14"/>
                <p:cNvSpPr/>
                <p:nvPr/>
              </p:nvSpPr>
              <p:spPr>
                <a:xfrm rot="5400000">
                  <a:off x="14817" y="5923"/>
                  <a:ext cx="1009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46" name="文本框 45"/>
                <p:cNvSpPr txBox="1"/>
                <p:nvPr/>
              </p:nvSpPr>
              <p:spPr>
                <a:xfrm>
                  <a:off x="18460" y="983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/>
                    <a:t>6%</a:t>
                  </a:r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2824" y="983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-2%</a:t>
                  </a:r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303" y="983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/>
                    <a:t>0%</a:t>
                  </a:r>
                </a:p>
              </p:txBody>
            </p:sp>
            <p:sp>
              <p:nvSpPr>
                <p:cNvPr id="10" name="文本框 9"/>
                <p:cNvSpPr txBox="1"/>
                <p:nvPr/>
              </p:nvSpPr>
              <p:spPr>
                <a:xfrm>
                  <a:off x="15796" y="9844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2%</a:t>
                  </a:r>
                </a:p>
              </p:txBody>
            </p:sp>
          </p:grpSp>
          <p:grpSp>
            <p:nvGrpSpPr>
              <p:cNvPr id="59" name="组合 58"/>
              <p:cNvGrpSpPr/>
              <p:nvPr/>
            </p:nvGrpSpPr>
            <p:grpSpPr>
              <a:xfrm>
                <a:off x="5645607" y="9049183"/>
                <a:ext cx="3414406" cy="277539"/>
                <a:chOff x="6124" y="11972"/>
                <a:chExt cx="9559" cy="777"/>
              </a:xfrm>
            </p:grpSpPr>
            <p:sp>
              <p:nvSpPr>
                <p:cNvPr id="33" name="文本框 32"/>
                <p:cNvSpPr txBox="1"/>
                <p:nvPr/>
              </p:nvSpPr>
              <p:spPr>
                <a:xfrm>
                  <a:off x="12483" y="12017"/>
                  <a:ext cx="3200" cy="6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Latin America</a:t>
                  </a: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6331" y="12053"/>
                  <a:ext cx="1658" cy="6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Africa</a:t>
                  </a:r>
                </a:p>
              </p:txBody>
            </p:sp>
            <p:sp>
              <p:nvSpPr>
                <p:cNvPr id="31" name="文本框 30"/>
                <p:cNvSpPr txBox="1"/>
                <p:nvPr/>
              </p:nvSpPr>
              <p:spPr>
                <a:xfrm>
                  <a:off x="8012" y="12040"/>
                  <a:ext cx="4471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South &amp; Southeast Asia</a:t>
                  </a:r>
                </a:p>
              </p:txBody>
            </p:sp>
            <p:sp>
              <p:nvSpPr>
                <p:cNvPr id="56" name="上箭头 55"/>
                <p:cNvSpPr/>
                <p:nvPr/>
              </p:nvSpPr>
              <p:spPr>
                <a:xfrm>
                  <a:off x="12193" y="11972"/>
                  <a:ext cx="290" cy="651"/>
                </a:xfrm>
                <a:prstGeom prst="upArrow">
                  <a:avLst>
                    <a:gd name="adj1" fmla="val 50000"/>
                    <a:gd name="adj2" fmla="val 101034"/>
                  </a:avLst>
                </a:prstGeom>
                <a:solidFill>
                  <a:srgbClr val="47A2DE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57" name="上箭头 56"/>
                <p:cNvSpPr/>
                <p:nvPr/>
              </p:nvSpPr>
              <p:spPr>
                <a:xfrm>
                  <a:off x="6124" y="11985"/>
                  <a:ext cx="290" cy="651"/>
                </a:xfrm>
                <a:prstGeom prst="upArrow">
                  <a:avLst>
                    <a:gd name="adj1" fmla="val 50000"/>
                    <a:gd name="adj2" fmla="val 93103"/>
                  </a:avLst>
                </a:prstGeom>
                <a:solidFill>
                  <a:srgbClr val="E85748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58" name="上箭头 57"/>
                <p:cNvSpPr/>
                <p:nvPr/>
              </p:nvSpPr>
              <p:spPr>
                <a:xfrm>
                  <a:off x="7810" y="11972"/>
                  <a:ext cx="290" cy="651"/>
                </a:xfrm>
                <a:prstGeom prst="upArrow">
                  <a:avLst>
                    <a:gd name="adj1" fmla="val 50000"/>
                    <a:gd name="adj2" fmla="val 108620"/>
                  </a:avLst>
                </a:prstGeom>
                <a:solidFill>
                  <a:srgbClr val="F39F1B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cxnSp>
            <p:nvCxnSpPr>
              <p:cNvPr id="60" name="直接连接符 59"/>
              <p:cNvCxnSpPr/>
              <p:nvPr/>
            </p:nvCxnSpPr>
            <p:spPr>
              <a:xfrm>
                <a:off x="3926081" y="7513133"/>
                <a:ext cx="2837539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1" name="直接连接符 60"/>
              <p:cNvCxnSpPr/>
              <p:nvPr/>
            </p:nvCxnSpPr>
            <p:spPr>
              <a:xfrm>
                <a:off x="7631500" y="7039852"/>
                <a:ext cx="2837539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2" name="直接连接符 61"/>
              <p:cNvCxnSpPr/>
              <p:nvPr/>
            </p:nvCxnSpPr>
            <p:spPr>
              <a:xfrm>
                <a:off x="5350923" y="5929697"/>
                <a:ext cx="0" cy="2439627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3" name="直接连接符 62"/>
              <p:cNvCxnSpPr/>
              <p:nvPr/>
            </p:nvCxnSpPr>
            <p:spPr>
              <a:xfrm>
                <a:off x="8664502" y="5915052"/>
                <a:ext cx="0" cy="2439627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2" name="文本框 1"/>
              <p:cNvSpPr txBox="1"/>
              <p:nvPr/>
            </p:nvSpPr>
            <p:spPr>
              <a:xfrm>
                <a:off x="4547796" y="5893329"/>
                <a:ext cx="809042" cy="4047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36% p</a:t>
                </a:r>
                <a:r>
                  <a:rPr lang="en-US" altLang="zh-CN" sz="1015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α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↓,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</a:rPr>
                  <a:t>↑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" name="文本框 2"/>
              <p:cNvSpPr txBox="1"/>
              <p:nvPr/>
            </p:nvSpPr>
            <p:spPr>
              <a:xfrm>
                <a:off x="5934934" y="5902248"/>
                <a:ext cx="809042" cy="4047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12% p</a:t>
                </a:r>
                <a:r>
                  <a:rPr lang="en-US" altLang="zh-CN" sz="1015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α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  <a:sym typeface="+mn-ea"/>
                  </a:rPr>
                  <a:t>↑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</a:rPr>
                  <a:t>↑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4072530" y="7930334"/>
                <a:ext cx="809042" cy="4047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22% p</a:t>
                </a:r>
                <a:r>
                  <a:rPr lang="en-US" altLang="zh-CN" sz="1015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α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↓,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sym typeface="+mn-ea"/>
                  </a:rPr>
                  <a:t>↓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" name="文本框 8"/>
              <p:cNvSpPr txBox="1"/>
              <p:nvPr/>
            </p:nvSpPr>
            <p:spPr>
              <a:xfrm>
                <a:off x="5961323" y="7937507"/>
                <a:ext cx="809042" cy="4047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30% p</a:t>
                </a:r>
                <a:r>
                  <a:rPr lang="en-US" altLang="zh-CN" sz="1015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α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  <a:sym typeface="+mn-ea"/>
                  </a:rPr>
                  <a:t>↑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sym typeface="+mn-ea"/>
                  </a:rPr>
                  <a:t>↓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7888322" y="5902248"/>
                <a:ext cx="809042" cy="4038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8% </a:t>
                </a:r>
                <a:r>
                  <a:rPr lang="en-US" altLang="zh-CN" sz="1015" dirty="0" err="1"/>
                  <a:t>p</a:t>
                </a:r>
                <a:r>
                  <a:rPr lang="en-US" altLang="zh-CN" sz="1015" baseline="-25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κ</a:t>
                </a:r>
                <a:r>
                  <a:rPr lang="en-US" altLang="zh-CN" sz="1015" dirty="0" err="1">
                    <a:latin typeface="东文宋体" charset="0"/>
                    <a:ea typeface="东文宋体" charset="0"/>
                  </a:rPr>
                  <a:t>↓,</a:t>
                </a:r>
                <a:r>
                  <a:rPr lang="en-US" altLang="zh-CN" sz="1015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</a:rPr>
                  <a:t>↑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7678650" y="7930334"/>
                <a:ext cx="809042" cy="4038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21% </a:t>
                </a:r>
                <a:r>
                  <a:rPr lang="en-US" altLang="zh-CN" sz="1015" dirty="0" err="1"/>
                  <a:t>p</a:t>
                </a:r>
                <a:r>
                  <a:rPr lang="en-US" altLang="zh-CN" sz="1015" baseline="-25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κ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↓,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sym typeface="+mn-ea"/>
                  </a:rPr>
                  <a:t>↓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8624138" y="7918548"/>
                <a:ext cx="809042" cy="4038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27% </a:t>
                </a:r>
                <a:r>
                  <a:rPr lang="en-US" altLang="zh-CN" sz="1015" dirty="0" err="1"/>
                  <a:t>p</a:t>
                </a:r>
                <a:r>
                  <a:rPr lang="en-US" altLang="zh-CN" sz="1015" baseline="-25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κ</a:t>
                </a:r>
                <a:r>
                  <a:rPr lang="en-US" altLang="zh-CN" sz="1015" dirty="0" err="1">
                    <a:latin typeface="东文宋体" charset="0"/>
                    <a:ea typeface="东文宋体" charset="0"/>
                    <a:cs typeface="Arial" panose="020B0604020202020204" pitchFamily="34" charset="0"/>
                    <a:sym typeface="+mn-ea"/>
                  </a:rPr>
                  <a:t>↑</a:t>
                </a:r>
                <a:r>
                  <a:rPr lang="en-US" altLang="zh-CN" sz="1015" dirty="0" err="1">
                    <a:latin typeface="东文宋体" charset="0"/>
                    <a:ea typeface="东文宋体" charset="0"/>
                  </a:rPr>
                  <a:t>,</a:t>
                </a:r>
                <a:r>
                  <a:rPr lang="en-US" altLang="zh-CN" sz="1015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sym typeface="+mn-ea"/>
                  </a:rPr>
                  <a:t>↓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9539267" y="5967917"/>
                <a:ext cx="809042" cy="4038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dirty="0"/>
                  <a:t>44% </a:t>
                </a:r>
                <a:r>
                  <a:rPr lang="en-US" altLang="zh-CN" sz="1015" dirty="0" err="1"/>
                  <a:t>p</a:t>
                </a:r>
                <a:r>
                  <a:rPr lang="en-US" altLang="zh-CN" sz="1015" baseline="-25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κ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  <a:sym typeface="+mn-ea"/>
                  </a:rPr>
                  <a:t>↑</a:t>
                </a:r>
                <a:r>
                  <a:rPr lang="en-US" altLang="zh-CN" sz="1015" dirty="0">
                    <a:latin typeface="东文宋体" charset="0"/>
                    <a:ea typeface="东文宋体" charset="0"/>
                  </a:rPr>
                  <a:t>,</a:t>
                </a:r>
                <a:r>
                  <a:rPr lang="en-US" altLang="zh-CN" sz="1015" dirty="0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r>
                  <a:rPr lang="en-US" altLang="zh-CN" sz="1015" dirty="0">
                    <a:latin typeface="东文宋体" charset="0"/>
                    <a:ea typeface="东文宋体" charset="0"/>
                    <a:cs typeface="Arial" panose="020B0604020202020204" pitchFamily="34" charset="0"/>
                  </a:rPr>
                  <a:t>↑</a:t>
                </a:r>
                <a:endParaRPr lang="zh-CN" altLang="en-US" sz="1015" dirty="0">
                  <a:latin typeface="东文宋体" charset="0"/>
                  <a:ea typeface="东文宋体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9" name="Group 108">
                <a:extLst>
                  <a:ext uri="{FF2B5EF4-FFF2-40B4-BE49-F238E27FC236}">
                    <a16:creationId xmlns:a16="http://schemas.microsoft.com/office/drawing/2014/main" id="{0F6436DC-431A-46E4-6789-B55600029762}"/>
                  </a:ext>
                </a:extLst>
              </p:cNvPr>
              <p:cNvGrpSpPr/>
              <p:nvPr/>
            </p:nvGrpSpPr>
            <p:grpSpPr>
              <a:xfrm>
                <a:off x="7389691" y="8631953"/>
                <a:ext cx="3084954" cy="421065"/>
                <a:chOff x="4073064" y="8850559"/>
                <a:chExt cx="3084954" cy="421065"/>
              </a:xfrm>
            </p:grpSpPr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598BCE23-517D-9C03-6885-5CA3C8CB0DB0}"/>
                    </a:ext>
                  </a:extLst>
                </p:cNvPr>
                <p:cNvSpPr txBox="1"/>
                <p:nvPr/>
              </p:nvSpPr>
              <p:spPr>
                <a:xfrm>
                  <a:off x="4073064" y="8856126"/>
                  <a:ext cx="1265146" cy="415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lang="en-US" altLang="zh-CN" sz="1050" dirty="0"/>
                    <a:t>Less construction </a:t>
                  </a:r>
                  <a:r>
                    <a:rPr lang="en-US" sz="1050" dirty="0"/>
                    <a:t>at center</a:t>
                  </a:r>
                </a:p>
              </p:txBody>
            </p:sp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4714F71C-DD42-B0EA-A526-4EB81D068FB0}"/>
                    </a:ext>
                  </a:extLst>
                </p:cNvPr>
                <p:cNvSpPr txBox="1"/>
                <p:nvPr/>
              </p:nvSpPr>
              <p:spPr>
                <a:xfrm>
                  <a:off x="5334029" y="8850559"/>
                  <a:ext cx="1823989" cy="2539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50" dirty="0"/>
                    <a:t>More </a:t>
                  </a:r>
                  <a:r>
                    <a:rPr lang="en-US" altLang="zh-CN" sz="1050" dirty="0"/>
                    <a:t>construction</a:t>
                  </a:r>
                  <a:r>
                    <a:rPr lang="en-US" sz="1050" dirty="0"/>
                    <a:t> at center</a:t>
                  </a:r>
                </a:p>
              </p:txBody>
            </p: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A3F8CE91-FCC6-EEBA-E865-BC82600D4E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39158" y="8866328"/>
                  <a:ext cx="0" cy="213347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6" name="Group 105">
                <a:extLst>
                  <a:ext uri="{FF2B5EF4-FFF2-40B4-BE49-F238E27FC236}">
                    <a16:creationId xmlns:a16="http://schemas.microsoft.com/office/drawing/2014/main" id="{E1D389E1-1325-F9BF-685A-491A82B0FC28}"/>
                  </a:ext>
                </a:extLst>
              </p:cNvPr>
              <p:cNvGrpSpPr/>
              <p:nvPr/>
            </p:nvGrpSpPr>
            <p:grpSpPr>
              <a:xfrm rot="16200000">
                <a:off x="1855558" y="7079035"/>
                <a:ext cx="2859085" cy="520887"/>
                <a:chOff x="1653233" y="7750391"/>
                <a:chExt cx="2859085" cy="520887"/>
              </a:xfrm>
            </p:grpSpPr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4B04F4EF-E614-2EE7-891B-6F6CE6CCAFAE}"/>
                    </a:ext>
                  </a:extLst>
                </p:cNvPr>
                <p:cNvSpPr txBox="1"/>
                <p:nvPr/>
              </p:nvSpPr>
              <p:spPr>
                <a:xfrm>
                  <a:off x="1653233" y="7777045"/>
                  <a:ext cx="1263967" cy="415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050" dirty="0"/>
                    <a:t>Constraints more evenly distributed</a:t>
                  </a:r>
                  <a:endParaRPr lang="en-US" sz="105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E4C55957-56E7-8C06-CF9F-170B8E0B0ADF}"/>
                    </a:ext>
                  </a:extLst>
                </p:cNvPr>
                <p:cNvSpPr txBox="1"/>
                <p:nvPr/>
              </p:nvSpPr>
              <p:spPr>
                <a:xfrm>
                  <a:off x="2924386" y="7786534"/>
                  <a:ext cx="1587932" cy="415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50" dirty="0"/>
                    <a:t>Edge more constrained </a:t>
                  </a:r>
                  <a:r>
                    <a:rPr lang="en-US" altLang="zh-CN" sz="1050" dirty="0"/>
                    <a:t>than city center</a:t>
                  </a:r>
                  <a:endParaRPr lang="en-US" sz="105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FD872709-FAC5-F2B2-558C-1C22DE46DB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2657706" y="8010835"/>
                  <a:ext cx="520887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5" name="文本框 42">
                <a:extLst>
                  <a:ext uri="{FF2B5EF4-FFF2-40B4-BE49-F238E27FC236}">
                    <a16:creationId xmlns:a16="http://schemas.microsoft.com/office/drawing/2014/main" id="{958CB122-05A3-0C7C-7700-6FA842EF781B}"/>
                  </a:ext>
                </a:extLst>
              </p:cNvPr>
              <p:cNvSpPr txBox="1"/>
              <p:nvPr/>
            </p:nvSpPr>
            <p:spPr>
              <a:xfrm>
                <a:off x="10161538" y="8387899"/>
                <a:ext cx="657592" cy="2243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zh-CN" altLang="en-US" sz="1350" dirty="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</a:t>
                </a:r>
                <a:r>
                  <a:rPr lang="en-US" altLang="zh-CN" sz="1350" dirty="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p</a:t>
                </a:r>
                <a:r>
                  <a:rPr lang="en-US" altLang="zh-CN" sz="1350" i="1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κ</a:t>
                </a:r>
                <a:r>
                  <a:rPr lang="en-US" altLang="zh-CN" sz="135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endParaRPr lang="en-US" altLang="zh-CN" sz="1350" i="1" baseline="-25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22" name="Group 121">
                <a:extLst>
                  <a:ext uri="{FF2B5EF4-FFF2-40B4-BE49-F238E27FC236}">
                    <a16:creationId xmlns:a16="http://schemas.microsoft.com/office/drawing/2014/main" id="{19502F88-4075-22D3-2152-87E01702B3CD}"/>
                  </a:ext>
                </a:extLst>
              </p:cNvPr>
              <p:cNvGrpSpPr/>
              <p:nvPr/>
            </p:nvGrpSpPr>
            <p:grpSpPr>
              <a:xfrm rot="16200000">
                <a:off x="5881182" y="6779876"/>
                <a:ext cx="2379484" cy="431400"/>
                <a:chOff x="1777685" y="7770627"/>
                <a:chExt cx="2379484" cy="431400"/>
              </a:xfrm>
            </p:grpSpPr>
            <p:sp>
              <p:nvSpPr>
                <p:cNvPr id="123" name="TextBox 122">
                  <a:extLst>
                    <a:ext uri="{FF2B5EF4-FFF2-40B4-BE49-F238E27FC236}">
                      <a16:creationId xmlns:a16="http://schemas.microsoft.com/office/drawing/2014/main" id="{6A1A724B-25F8-328C-2C2B-8D9CA19ED781}"/>
                    </a:ext>
                  </a:extLst>
                </p:cNvPr>
                <p:cNvSpPr txBox="1"/>
                <p:nvPr/>
              </p:nvSpPr>
              <p:spPr>
                <a:xfrm>
                  <a:off x="1777685" y="7777040"/>
                  <a:ext cx="1139517" cy="415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lang="en-US" sz="1050" dirty="0"/>
                    <a:t>More even construction</a:t>
                  </a:r>
                  <a:endParaRPr lang="en-US" sz="105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1C511E0E-B222-1190-C325-24B30482EEDC}"/>
                    </a:ext>
                  </a:extLst>
                </p:cNvPr>
                <p:cNvSpPr txBox="1"/>
                <p:nvPr/>
              </p:nvSpPr>
              <p:spPr>
                <a:xfrm>
                  <a:off x="2924387" y="7786529"/>
                  <a:ext cx="1232782" cy="415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50" dirty="0"/>
                    <a:t>More c</a:t>
                  </a:r>
                  <a:r>
                    <a:rPr lang="en-US" sz="1050" dirty="0"/>
                    <a:t>entralizing construction</a:t>
                  </a:r>
                  <a:endParaRPr lang="en-US" sz="105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  <p:cxnSp>
              <p:nvCxnSpPr>
                <p:cNvPr id="125" name="Straight Connector 124">
                  <a:extLst>
                    <a:ext uri="{FF2B5EF4-FFF2-40B4-BE49-F238E27FC236}">
                      <a16:creationId xmlns:a16="http://schemas.microsoft.com/office/drawing/2014/main" id="{98D5F85B-BAB8-E92C-8624-C8C27005616C}"/>
                    </a:ext>
                  </a:extLst>
                </p:cNvPr>
                <p:cNvCxnSpPr>
                  <a:cxnSpLocks/>
                  <a:endCxn id="49" idx="1"/>
                </p:cNvCxnSpPr>
                <p:nvPr/>
              </p:nvCxnSpPr>
              <p:spPr>
                <a:xfrm rot="5400000" flipV="1">
                  <a:off x="2704710" y="7983119"/>
                  <a:ext cx="426586" cy="1601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F9739649-0BBA-1707-F0C2-9BC08B63F4E8}"/>
                  </a:ext>
                </a:extLst>
              </p:cNvPr>
              <p:cNvSpPr txBox="1"/>
              <p:nvPr/>
            </p:nvSpPr>
            <p:spPr>
              <a:xfrm>
                <a:off x="3953585" y="5858399"/>
                <a:ext cx="99978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100" dirty="0">
                    <a:solidFill>
                      <a:srgbClr val="E85748"/>
                    </a:solidFill>
                  </a:rPr>
                  <a:t>Nouakchott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4F63B307-6E1E-215F-C666-88C01AFB7C6B}"/>
                  </a:ext>
                </a:extLst>
              </p:cNvPr>
              <p:cNvSpPr txBox="1"/>
              <p:nvPr/>
            </p:nvSpPr>
            <p:spPr>
              <a:xfrm>
                <a:off x="3846751" y="6409693"/>
                <a:ext cx="1116082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>
                  <a:defRPr sz="1100">
                    <a:solidFill>
                      <a:srgbClr val="E85748"/>
                    </a:solidFill>
                  </a:defRPr>
                </a:lvl1pPr>
              </a:lstStyle>
              <a:p>
                <a:r>
                  <a:rPr lang="en-US" altLang="zh-CN" dirty="0"/>
                  <a:t>Antananarivo</a:t>
                </a:r>
                <a:endParaRPr lang="en-US" dirty="0"/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83407E39-9C55-A59B-5B69-C87129545692}"/>
                  </a:ext>
                </a:extLst>
              </p:cNvPr>
              <p:cNvSpPr txBox="1"/>
              <p:nvPr/>
            </p:nvSpPr>
            <p:spPr>
              <a:xfrm>
                <a:off x="3505948" y="7532492"/>
                <a:ext cx="1002777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>
                  <a:defRPr sz="1100">
                    <a:solidFill>
                      <a:srgbClr val="E85748"/>
                    </a:solidFill>
                  </a:defRPr>
                </a:lvl1pPr>
              </a:lstStyle>
              <a:p>
                <a:r>
                  <a:rPr lang="en-US" dirty="0">
                    <a:solidFill>
                      <a:srgbClr val="F39F1B"/>
                    </a:solidFill>
                  </a:rPr>
                  <a:t>Phnom Penh</a:t>
                </a: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7763BF05-0E38-24DE-51EB-21F40AF34DC4}"/>
                  </a:ext>
                </a:extLst>
              </p:cNvPr>
              <p:cNvSpPr txBox="1"/>
              <p:nvPr/>
            </p:nvSpPr>
            <p:spPr>
              <a:xfrm>
                <a:off x="9914357" y="6823037"/>
                <a:ext cx="657592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>
                  <a:defRPr sz="1100">
                    <a:solidFill>
                      <a:srgbClr val="E85748"/>
                    </a:solidFill>
                  </a:defRPr>
                </a:lvl1pPr>
              </a:lstStyle>
              <a:p>
                <a:r>
                  <a:rPr lang="en-US" altLang="zh-CN" dirty="0"/>
                  <a:t>Lagos</a:t>
                </a:r>
                <a:endParaRPr lang="en-US" dirty="0"/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011CA0B3-2320-2884-F5A2-F9D63C5038C1}"/>
                  </a:ext>
                </a:extLst>
              </p:cNvPr>
              <p:cNvSpPr txBox="1"/>
              <p:nvPr/>
            </p:nvSpPr>
            <p:spPr>
              <a:xfrm>
                <a:off x="9387118" y="5827776"/>
                <a:ext cx="1116082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>
                  <a:defRPr sz="1100">
                    <a:solidFill>
                      <a:srgbClr val="E85748"/>
                    </a:solidFill>
                  </a:defRPr>
                </a:lvl1pPr>
              </a:lstStyle>
              <a:p>
                <a:r>
                  <a:rPr lang="en-US" altLang="zh-CN" dirty="0"/>
                  <a:t>Yaoundé</a:t>
                </a:r>
                <a:endParaRPr lang="en-US" dirty="0"/>
              </a:p>
            </p:txBody>
          </p:sp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20441B14-E106-976D-95CD-31EB36724828}"/>
                  </a:ext>
                </a:extLst>
              </p:cNvPr>
              <p:cNvGrpSpPr/>
              <p:nvPr/>
            </p:nvGrpSpPr>
            <p:grpSpPr>
              <a:xfrm>
                <a:off x="3557081" y="8672816"/>
                <a:ext cx="3434163" cy="254618"/>
                <a:chOff x="3580415" y="8824872"/>
                <a:chExt cx="3434163" cy="254618"/>
              </a:xfrm>
            </p:grpSpPr>
            <p:grpSp>
              <p:nvGrpSpPr>
                <p:cNvPr id="118" name="Group 117">
                  <a:extLst>
                    <a:ext uri="{FF2B5EF4-FFF2-40B4-BE49-F238E27FC236}">
                      <a16:creationId xmlns:a16="http://schemas.microsoft.com/office/drawing/2014/main" id="{8B291C49-3E54-B55B-A2ED-7332C4F0DFCA}"/>
                    </a:ext>
                  </a:extLst>
                </p:cNvPr>
                <p:cNvGrpSpPr/>
                <p:nvPr/>
              </p:nvGrpSpPr>
              <p:grpSpPr>
                <a:xfrm>
                  <a:off x="3580415" y="8825574"/>
                  <a:ext cx="1775229" cy="253916"/>
                  <a:chOff x="3628077" y="8845966"/>
                  <a:chExt cx="1711081" cy="253916"/>
                </a:xfrm>
              </p:grpSpPr>
              <p:sp>
                <p:nvSpPr>
                  <p:cNvPr id="119" name="TextBox 118">
                    <a:extLst>
                      <a:ext uri="{FF2B5EF4-FFF2-40B4-BE49-F238E27FC236}">
                        <a16:creationId xmlns:a16="http://schemas.microsoft.com/office/drawing/2014/main" id="{B667504E-BECF-F3E0-024D-6625DCBF0F51}"/>
                      </a:ext>
                    </a:extLst>
                  </p:cNvPr>
                  <p:cNvSpPr txBox="1"/>
                  <p:nvPr/>
                </p:nvSpPr>
                <p:spPr>
                  <a:xfrm>
                    <a:off x="3628077" y="8845966"/>
                    <a:ext cx="1710133" cy="25391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/>
                    <a:r>
                      <a:rPr lang="en-US" altLang="zh-CN" sz="1050" dirty="0"/>
                      <a:t>Less</a:t>
                    </a:r>
                    <a:r>
                      <a:rPr lang="en-US" sz="1050" dirty="0"/>
                      <a:t> </a:t>
                    </a:r>
                    <a:r>
                      <a:rPr lang="en-US" altLang="zh-CN" sz="1050" dirty="0"/>
                      <a:t>constraint </a:t>
                    </a:r>
                    <a:r>
                      <a:rPr lang="en-US" sz="1050" dirty="0"/>
                      <a:t>at center</a:t>
                    </a:r>
                  </a:p>
                </p:txBody>
              </p:sp>
              <p:cxnSp>
                <p:nvCxnSpPr>
                  <p:cNvPr id="121" name="Straight Connector 120">
                    <a:extLst>
                      <a:ext uri="{FF2B5EF4-FFF2-40B4-BE49-F238E27FC236}">
                        <a16:creationId xmlns:a16="http://schemas.microsoft.com/office/drawing/2014/main" id="{BD81F76F-008D-155E-8BFB-70412C53531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39158" y="8866328"/>
                    <a:ext cx="0" cy="213347"/>
                  </a:xfrm>
                  <a:prstGeom prst="line">
                    <a:avLst/>
                  </a:prstGeom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AB55D3A8-19F4-20AB-47FE-CCA2C662A288}"/>
                    </a:ext>
                  </a:extLst>
                </p:cNvPr>
                <p:cNvSpPr txBox="1"/>
                <p:nvPr/>
              </p:nvSpPr>
              <p:spPr>
                <a:xfrm>
                  <a:off x="5240333" y="8824872"/>
                  <a:ext cx="1774245" cy="2539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lang="en-US" altLang="zh-CN" sz="1050" dirty="0"/>
                    <a:t>More</a:t>
                  </a:r>
                  <a:r>
                    <a:rPr lang="en-US" sz="1050" dirty="0"/>
                    <a:t> </a:t>
                  </a:r>
                  <a:r>
                    <a:rPr lang="en-US" altLang="zh-CN" sz="1050" dirty="0"/>
                    <a:t>constraint </a:t>
                  </a:r>
                  <a:r>
                    <a:rPr lang="en-US" sz="1050" dirty="0"/>
                    <a:t>at center</a:t>
                  </a:r>
                </a:p>
              </p:txBody>
            </p:sp>
          </p:grpSp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487CD0B-063D-67BC-6466-9EFAB235AB86}"/>
                </a:ext>
              </a:extLst>
            </p:cNvPr>
            <p:cNvSpPr txBox="1"/>
            <p:nvPr/>
          </p:nvSpPr>
          <p:spPr>
            <a:xfrm>
              <a:off x="7675788" y="7704645"/>
              <a:ext cx="924607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defRPr sz="1100">
                  <a:solidFill>
                    <a:srgbClr val="E85748"/>
                  </a:solidFill>
                </a:defRPr>
              </a:lvl1pPr>
            </a:lstStyle>
            <a:p>
              <a:pPr algn="r"/>
              <a:r>
                <a:rPr lang="en-US" altLang="zh-CN" dirty="0">
                  <a:solidFill>
                    <a:srgbClr val="47A2DE"/>
                  </a:solidFill>
                </a:rPr>
                <a:t>Sao Paulo</a:t>
              </a:r>
              <a:endParaRPr lang="en-US" dirty="0">
                <a:solidFill>
                  <a:srgbClr val="47A2DE"/>
                </a:solidFill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E211F9F-998A-4FA3-7332-95B94294593D}"/>
                </a:ext>
              </a:extLst>
            </p:cNvPr>
            <p:cNvSpPr txBox="1"/>
            <p:nvPr/>
          </p:nvSpPr>
          <p:spPr>
            <a:xfrm>
              <a:off x="8872652" y="7414552"/>
              <a:ext cx="706262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defRPr sz="1100">
                  <a:solidFill>
                    <a:srgbClr val="E85748"/>
                  </a:solidFill>
                </a:defRPr>
              </a:lvl1pPr>
            </a:lstStyle>
            <a:p>
              <a:r>
                <a:rPr lang="en-US" dirty="0">
                  <a:solidFill>
                    <a:srgbClr val="F39F1B"/>
                  </a:solidFill>
                </a:rPr>
                <a:t>Jakarta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0019531" y="6341584"/>
            <a:ext cx="70938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 dirty="0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 dirty="0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</a:p>
        </p:txBody>
      </p:sp>
      <p:sp>
        <p:nvSpPr>
          <p:cNvPr id="29" name="文本框 28"/>
          <p:cNvSpPr txBox="1"/>
          <p:nvPr/>
        </p:nvSpPr>
        <p:spPr>
          <a:xfrm>
            <a:off x="10208170" y="8495030"/>
            <a:ext cx="70938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 dirty="0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 dirty="0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</a:p>
        </p:txBody>
      </p:sp>
      <p:grpSp>
        <p:nvGrpSpPr>
          <p:cNvPr id="30" name="组合 29"/>
          <p:cNvGrpSpPr/>
          <p:nvPr/>
        </p:nvGrpSpPr>
        <p:grpSpPr>
          <a:xfrm>
            <a:off x="10684510" y="2934970"/>
            <a:ext cx="3039110" cy="2609850"/>
            <a:chOff x="16056" y="8978"/>
            <a:chExt cx="4786" cy="4110"/>
          </a:xfrm>
        </p:grpSpPr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2"/>
            <a:srcRect r="49995" b="10558"/>
            <a:stretch>
              <a:fillRect/>
            </a:stretch>
          </p:blipFill>
          <p:spPr>
            <a:xfrm>
              <a:off x="16206" y="9267"/>
              <a:ext cx="4233" cy="3160"/>
            </a:xfrm>
            <a:prstGeom prst="rect">
              <a:avLst/>
            </a:prstGeom>
          </p:spPr>
        </p:pic>
        <p:sp>
          <p:nvSpPr>
            <p:cNvPr id="28" name="文本框 27"/>
            <p:cNvSpPr txBox="1"/>
            <p:nvPr/>
          </p:nvSpPr>
          <p:spPr>
            <a:xfrm>
              <a:off x="20102" y="12427"/>
              <a:ext cx="74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46" name="矩形 45"/>
            <p:cNvSpPr/>
            <p:nvPr/>
          </p:nvSpPr>
          <p:spPr>
            <a:xfrm>
              <a:off x="16229" y="8978"/>
              <a:ext cx="651" cy="41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6289" y="10677"/>
              <a:ext cx="6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16056" y="11416"/>
              <a:ext cx="797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-0.005</a:t>
              </a:r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6232" y="9874"/>
              <a:ext cx="6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0.005</a:t>
              </a: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8802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6976" y="12427"/>
              <a:ext cx="345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7919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9686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6318" y="9207"/>
              <a:ext cx="562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</p:grpSp>
      <p:grpSp>
        <p:nvGrpSpPr>
          <p:cNvPr id="32" name="组合 31"/>
          <p:cNvGrpSpPr/>
          <p:nvPr/>
        </p:nvGrpSpPr>
        <p:grpSpPr>
          <a:xfrm>
            <a:off x="10917555" y="5725795"/>
            <a:ext cx="2783840" cy="2247900"/>
            <a:chOff x="10016" y="12259"/>
            <a:chExt cx="4384" cy="3540"/>
          </a:xfrm>
        </p:grpSpPr>
        <p:pic>
          <p:nvPicPr>
            <p:cNvPr id="31" name="图片 30"/>
            <p:cNvPicPr>
              <a:picLocks noChangeAspect="1"/>
            </p:cNvPicPr>
            <p:nvPr/>
          </p:nvPicPr>
          <p:blipFill>
            <a:blip r:embed="rId3"/>
            <a:srcRect l="7501" r="49976" b="10904"/>
            <a:stretch>
              <a:fillRect/>
            </a:stretch>
          </p:blipFill>
          <p:spPr>
            <a:xfrm>
              <a:off x="10549" y="12339"/>
              <a:ext cx="3617" cy="3162"/>
            </a:xfrm>
            <a:prstGeom prst="rect">
              <a:avLst/>
            </a:prstGeom>
          </p:spPr>
        </p:pic>
        <p:sp>
          <p:nvSpPr>
            <p:cNvPr id="37" name="文本框 36"/>
            <p:cNvSpPr txBox="1"/>
            <p:nvPr/>
          </p:nvSpPr>
          <p:spPr>
            <a:xfrm>
              <a:off x="12455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0016" y="14882"/>
              <a:ext cx="5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0629" y="15566"/>
              <a:ext cx="345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3660" y="15566"/>
              <a:ext cx="74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0137" y="12259"/>
              <a:ext cx="412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0201" y="14048"/>
              <a:ext cx="298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0071" y="13247"/>
              <a:ext cx="46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>
                  <a:ea typeface="宋体" panose="02010600030101010101" pitchFamily="2" charset="-122"/>
                </a:rPr>
                <a:t>0.04</a:t>
              </a: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1572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13339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29A707A2-DF80-EB07-6D64-18CA767D6AB2}"/>
              </a:ext>
            </a:extLst>
          </p:cNvPr>
          <p:cNvGrpSpPr/>
          <p:nvPr/>
        </p:nvGrpSpPr>
        <p:grpSpPr>
          <a:xfrm>
            <a:off x="847407" y="5314315"/>
            <a:ext cx="7445672" cy="3791585"/>
            <a:chOff x="847407" y="5314315"/>
            <a:chExt cx="7445672" cy="3791585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E3735353-7EC8-8838-76D2-BB10359223F5}"/>
                </a:ext>
              </a:extLst>
            </p:cNvPr>
            <p:cNvGrpSpPr/>
            <p:nvPr/>
          </p:nvGrpSpPr>
          <p:grpSpPr>
            <a:xfrm>
              <a:off x="847407" y="5314315"/>
              <a:ext cx="7445672" cy="3791585"/>
              <a:chOff x="847407" y="5314315"/>
              <a:chExt cx="7445672" cy="3791585"/>
            </a:xfrm>
          </p:grpSpPr>
          <p:sp>
            <p:nvSpPr>
              <p:cNvPr id="66" name="矩形 65"/>
              <p:cNvSpPr/>
              <p:nvPr/>
            </p:nvSpPr>
            <p:spPr>
              <a:xfrm>
                <a:off x="847407" y="5314315"/>
                <a:ext cx="7445672" cy="379158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5C5D82E7-4A6F-8F44-126B-CBDAE6DC55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874915" y="6067302"/>
                <a:ext cx="3180716" cy="2578394"/>
              </a:xfrm>
              <a:prstGeom prst="rect">
                <a:avLst/>
              </a:prstGeom>
            </p:spPr>
          </p:pic>
          <p:sp>
            <p:nvSpPr>
              <p:cNvPr id="67" name="矩形 90">
                <a:extLst>
                  <a:ext uri="{FF2B5EF4-FFF2-40B4-BE49-F238E27FC236}">
                    <a16:creationId xmlns:a16="http://schemas.microsoft.com/office/drawing/2014/main" id="{85E55FCA-3904-517E-20F1-188B53E4A164}"/>
                  </a:ext>
                </a:extLst>
              </p:cNvPr>
              <p:cNvSpPr/>
              <p:nvPr/>
            </p:nvSpPr>
            <p:spPr>
              <a:xfrm rot="5400000">
                <a:off x="6449693" y="7262824"/>
                <a:ext cx="473301" cy="289111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125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文本框 54"/>
                  <p:cNvSpPr txBox="1"/>
                  <p:nvPr/>
                </p:nvSpPr>
                <p:spPr>
                  <a:xfrm>
                    <a:off x="934720" y="5421327"/>
                    <a:ext cx="3831047" cy="57150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575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Change of Vertical Params (B-C)</a:t>
                    </a:r>
                  </a:p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𝐴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∙</m:t>
                          </m:r>
                          <m:r>
                            <m:rPr>
                              <m:sty m:val="p"/>
                            </m:rPr>
                            <a:rPr lang="en-US" altLang="zh-CN" sz="1575" i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exp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𝐵𝑟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𝐶</m:t>
                          </m:r>
                          <m:sSup>
                            <m:sSupPr>
                              <m:ctrlPr>
                                <a:rPr lang="en-US" altLang="zh-CN" sz="1575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575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altLang="zh-CN" sz="1575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zh-CN" sz="157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575" i="1" dirty="0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55" name="文本框 5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4720" y="5421327"/>
                    <a:ext cx="3831047" cy="5715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3191" b="-744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AE18A5AC-554D-E23A-5539-FCF025A89B61}"/>
                  </a:ext>
                </a:extLst>
              </p:cNvPr>
              <p:cNvGrpSpPr/>
              <p:nvPr/>
            </p:nvGrpSpPr>
            <p:grpSpPr>
              <a:xfrm>
                <a:off x="1136866" y="6067302"/>
                <a:ext cx="3551302" cy="2796150"/>
                <a:chOff x="1173098" y="5773420"/>
                <a:chExt cx="3551302" cy="2796150"/>
              </a:xfrm>
            </p:grpSpPr>
            <p:pic>
              <p:nvPicPr>
                <p:cNvPr id="2" name="图片 1"/>
                <p:cNvPicPr>
                  <a:picLocks noChangeAspect="1"/>
                </p:cNvPicPr>
                <p:nvPr/>
              </p:nvPicPr>
              <p:blipFill>
                <a:blip r:embed="rId3"/>
                <a:srcRect l="49624"/>
                <a:stretch>
                  <a:fillRect/>
                </a:stretch>
              </p:blipFill>
              <p:spPr>
                <a:xfrm>
                  <a:off x="1199592" y="5809713"/>
                  <a:ext cx="3127732" cy="2590507"/>
                </a:xfrm>
                <a:prstGeom prst="rect">
                  <a:avLst/>
                </a:prstGeom>
              </p:spPr>
            </p:pic>
            <p:sp>
              <p:nvSpPr>
                <p:cNvPr id="8" name="矩形 7"/>
                <p:cNvSpPr/>
                <p:nvPr/>
              </p:nvSpPr>
              <p:spPr>
                <a:xfrm rot="5400000">
                  <a:off x="2537141" y="6747571"/>
                  <a:ext cx="452630" cy="318071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5" name="矩形 4"/>
                <p:cNvSpPr/>
                <p:nvPr/>
              </p:nvSpPr>
              <p:spPr>
                <a:xfrm>
                  <a:off x="1253213" y="5773420"/>
                  <a:ext cx="469900" cy="261048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zh-CN" sz="1125" dirty="0"/>
                </a:p>
              </p:txBody>
            </p:sp>
            <p:sp>
              <p:nvSpPr>
                <p:cNvPr id="14" name="文本框 13"/>
                <p:cNvSpPr txBox="1"/>
                <p:nvPr/>
              </p:nvSpPr>
              <p:spPr>
                <a:xfrm>
                  <a:off x="1935524" y="8103871"/>
                  <a:ext cx="393700" cy="1479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 dirty="0"/>
                    <a:t>-0.04</a:t>
                  </a:r>
                </a:p>
              </p:txBody>
            </p:sp>
            <p:sp>
              <p:nvSpPr>
                <p:cNvPr id="15" name="文本框 14"/>
                <p:cNvSpPr txBox="1"/>
                <p:nvPr/>
              </p:nvSpPr>
              <p:spPr>
                <a:xfrm>
                  <a:off x="3373975" y="8105141"/>
                  <a:ext cx="300990" cy="1479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 dirty="0"/>
                    <a:t>0.04</a:t>
                  </a:r>
                </a:p>
              </p:txBody>
            </p:sp>
            <p:sp>
              <p:nvSpPr>
                <p:cNvPr id="16" name="文本框 15"/>
                <p:cNvSpPr txBox="1"/>
                <p:nvPr/>
              </p:nvSpPr>
              <p:spPr>
                <a:xfrm>
                  <a:off x="3997817" y="8103871"/>
                  <a:ext cx="469900" cy="1479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 b="1" dirty="0">
                      <a:latin typeface="+mj-lt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b="1" i="1" dirty="0">
                      <a:latin typeface="+mj-lt"/>
                      <a:cs typeface="Arial" panose="020B0604020202020204" pitchFamily="34" charset="0"/>
                    </a:rPr>
                    <a:t>B</a:t>
                  </a:r>
                  <a:endParaRPr lang="en-US" altLang="zh-CN" sz="1350" b="1" i="1" dirty="0">
                    <a:latin typeface="+mj-lt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1377080" y="5776983"/>
                  <a:ext cx="344170" cy="1479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 b="1" dirty="0">
                      <a:latin typeface="+mj-lt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b="1" i="1" dirty="0">
                      <a:latin typeface="+mj-lt"/>
                      <a:cs typeface="Arial" panose="020B0604020202020204" pitchFamily="34" charset="0"/>
                    </a:rPr>
                    <a:t>C</a:t>
                  </a:r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2829961" y="8105141"/>
                  <a:ext cx="94615" cy="1479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 dirty="0"/>
                    <a:t>0</a:t>
                  </a:r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1319252" y="6840219"/>
                  <a:ext cx="393700" cy="1479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 dirty="0"/>
                    <a:t>0</a:t>
                  </a: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1206857" y="7402928"/>
                  <a:ext cx="506095" cy="1479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015" dirty="0"/>
                    <a:t>-0.005</a:t>
                  </a:r>
                </a:p>
              </p:txBody>
            </p:sp>
            <p:sp>
              <p:nvSpPr>
                <p:cNvPr id="24" name="文本框 23"/>
                <p:cNvSpPr txBox="1"/>
                <p:nvPr/>
              </p:nvSpPr>
              <p:spPr>
                <a:xfrm>
                  <a:off x="1319252" y="6281050"/>
                  <a:ext cx="393700" cy="1479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015" dirty="0"/>
                    <a:t>0.005</a:t>
                  </a:r>
                </a:p>
              </p:txBody>
            </p:sp>
            <p:sp>
              <p:nvSpPr>
                <p:cNvPr id="56" name="文本框 55"/>
                <p:cNvSpPr txBox="1"/>
                <p:nvPr/>
              </p:nvSpPr>
              <p:spPr>
                <a:xfrm>
                  <a:off x="3677007" y="8308340"/>
                  <a:ext cx="1047393" cy="2485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Latin America</a:t>
                  </a:r>
                </a:p>
              </p:txBody>
            </p:sp>
            <p:sp>
              <p:nvSpPr>
                <p:cNvPr id="57" name="文本框 56"/>
                <p:cNvSpPr txBox="1"/>
                <p:nvPr/>
              </p:nvSpPr>
              <p:spPr>
                <a:xfrm>
                  <a:off x="1410692" y="8321040"/>
                  <a:ext cx="528003" cy="2485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Africa</a:t>
                  </a:r>
                </a:p>
              </p:txBody>
            </p:sp>
            <p:sp>
              <p:nvSpPr>
                <p:cNvPr id="58" name="文本框 57"/>
                <p:cNvSpPr txBox="1"/>
                <p:nvPr/>
              </p:nvSpPr>
              <p:spPr>
                <a:xfrm>
                  <a:off x="2011402" y="8316595"/>
                  <a:ext cx="1597025" cy="24765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South &amp; Southeast Asia</a:t>
                  </a:r>
                </a:p>
              </p:txBody>
            </p:sp>
            <p:sp>
              <p:nvSpPr>
                <p:cNvPr id="59" name="上箭头 58"/>
                <p:cNvSpPr/>
                <p:nvPr/>
              </p:nvSpPr>
              <p:spPr>
                <a:xfrm>
                  <a:off x="3573502" y="8291830"/>
                  <a:ext cx="103505" cy="232410"/>
                </a:xfrm>
                <a:prstGeom prst="upArrow">
                  <a:avLst>
                    <a:gd name="adj1" fmla="val 50000"/>
                    <a:gd name="adj2" fmla="val 101034"/>
                  </a:avLst>
                </a:prstGeom>
                <a:solidFill>
                  <a:srgbClr val="47A2DE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60" name="上箭头 59"/>
                <p:cNvSpPr/>
                <p:nvPr/>
              </p:nvSpPr>
              <p:spPr>
                <a:xfrm>
                  <a:off x="1337032" y="8296910"/>
                  <a:ext cx="103505" cy="232410"/>
                </a:xfrm>
                <a:prstGeom prst="upArrow">
                  <a:avLst>
                    <a:gd name="adj1" fmla="val 50000"/>
                    <a:gd name="adj2" fmla="val 93103"/>
                  </a:avLst>
                </a:prstGeom>
                <a:solidFill>
                  <a:srgbClr val="E85748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61" name="上箭头 60"/>
                <p:cNvSpPr/>
                <p:nvPr/>
              </p:nvSpPr>
              <p:spPr>
                <a:xfrm>
                  <a:off x="1939012" y="8291830"/>
                  <a:ext cx="103505" cy="232410"/>
                </a:xfrm>
                <a:prstGeom prst="upArrow">
                  <a:avLst>
                    <a:gd name="adj1" fmla="val 50000"/>
                    <a:gd name="adj2" fmla="val 108620"/>
                  </a:avLst>
                </a:prstGeom>
                <a:solidFill>
                  <a:srgbClr val="F39F1B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cxnSp>
              <p:nvCxnSpPr>
                <p:cNvPr id="6" name="直接连接符 5"/>
                <p:cNvCxnSpPr>
                  <a:cxnSpLocks/>
                </p:cNvCxnSpPr>
                <p:nvPr/>
              </p:nvCxnSpPr>
              <p:spPr>
                <a:xfrm>
                  <a:off x="1755812" y="6917812"/>
                  <a:ext cx="2571512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直接连接符 9"/>
                <p:cNvCxnSpPr>
                  <a:cxnSpLocks/>
                </p:cNvCxnSpPr>
                <p:nvPr/>
              </p:nvCxnSpPr>
              <p:spPr>
                <a:xfrm>
                  <a:off x="2859533" y="5914734"/>
                  <a:ext cx="0" cy="2189137"/>
                </a:xfrm>
                <a:prstGeom prst="line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prstDash val="sysDash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文本框 54">
                    <a:extLst>
                      <a:ext uri="{FF2B5EF4-FFF2-40B4-BE49-F238E27FC236}">
                        <a16:creationId xmlns:a16="http://schemas.microsoft.com/office/drawing/2014/main" id="{F92D8B7C-D249-25CF-8C22-D4867E022FE4}"/>
                      </a:ext>
                    </a:extLst>
                  </p:cNvPr>
                  <p:cNvSpPr txBox="1"/>
                  <p:nvPr/>
                </p:nvSpPr>
                <p:spPr>
                  <a:xfrm>
                    <a:off x="4873052" y="5421327"/>
                    <a:ext cx="3258848" cy="57150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575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Change of Verticality (A)</a:t>
                    </a:r>
                  </a:p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𝐴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∙</m:t>
                          </m:r>
                          <m:r>
                            <m:rPr>
                              <m:sty m:val="p"/>
                            </m:rPr>
                            <a:rPr lang="en-US" altLang="zh-CN" sz="1575" i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exp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𝐵𝑟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𝐶</m:t>
                          </m:r>
                          <m:sSup>
                            <m:sSupPr>
                              <m:ctrlPr>
                                <a:rPr lang="en-US" altLang="zh-CN" sz="1575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575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altLang="zh-CN" sz="1575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zh-CN" sz="157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575" i="1" dirty="0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5" name="文本框 54">
                    <a:extLst>
                      <a:ext uri="{FF2B5EF4-FFF2-40B4-BE49-F238E27FC236}">
                        <a16:creationId xmlns:a16="http://schemas.microsoft.com/office/drawing/2014/main" id="{F92D8B7C-D249-25CF-8C22-D4867E022F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73052" y="5421327"/>
                    <a:ext cx="3258848" cy="5715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3191" b="-744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0" name="矩形 90">
                <a:extLst>
                  <a:ext uri="{FF2B5EF4-FFF2-40B4-BE49-F238E27FC236}">
                    <a16:creationId xmlns:a16="http://schemas.microsoft.com/office/drawing/2014/main" id="{8EF17E9F-9CFF-9E34-260C-AD9F865A8384}"/>
                  </a:ext>
                </a:extLst>
              </p:cNvPr>
              <p:cNvSpPr/>
              <p:nvPr/>
            </p:nvSpPr>
            <p:spPr>
              <a:xfrm>
                <a:off x="4873052" y="5846033"/>
                <a:ext cx="365399" cy="284806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125"/>
              </a:p>
            </p:txBody>
          </p:sp>
          <p:sp>
            <p:nvSpPr>
              <p:cNvPr id="43" name="文本框 96">
                <a:extLst>
                  <a:ext uri="{FF2B5EF4-FFF2-40B4-BE49-F238E27FC236}">
                    <a16:creationId xmlns:a16="http://schemas.microsoft.com/office/drawing/2014/main" id="{B71210F4-02C1-1FA4-84C1-197DD6D35324}"/>
                  </a:ext>
                </a:extLst>
              </p:cNvPr>
              <p:cNvSpPr txBox="1"/>
              <p:nvPr/>
            </p:nvSpPr>
            <p:spPr>
              <a:xfrm>
                <a:off x="4772344" y="6401962"/>
                <a:ext cx="417247" cy="156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400" dirty="0"/>
                  <a:t>1</a:t>
                </a:r>
              </a:p>
            </p:txBody>
          </p:sp>
          <p:sp>
            <p:nvSpPr>
              <p:cNvPr id="44" name="文本框 97">
                <a:extLst>
                  <a:ext uri="{FF2B5EF4-FFF2-40B4-BE49-F238E27FC236}">
                    <a16:creationId xmlns:a16="http://schemas.microsoft.com/office/drawing/2014/main" id="{F3383067-CEE5-ABF0-2404-9F10459B31A2}"/>
                  </a:ext>
                </a:extLst>
              </p:cNvPr>
              <p:cNvSpPr txBox="1"/>
              <p:nvPr/>
            </p:nvSpPr>
            <p:spPr>
              <a:xfrm>
                <a:off x="4765767" y="7009765"/>
                <a:ext cx="417247" cy="156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400" dirty="0"/>
                  <a:t>0</a:t>
                </a:r>
              </a:p>
            </p:txBody>
          </p:sp>
          <p:sp>
            <p:nvSpPr>
              <p:cNvPr id="45" name="文本框 98">
                <a:extLst>
                  <a:ext uri="{FF2B5EF4-FFF2-40B4-BE49-F238E27FC236}">
                    <a16:creationId xmlns:a16="http://schemas.microsoft.com/office/drawing/2014/main" id="{0CA25434-D3FE-D066-110C-35170CA49DC8}"/>
                  </a:ext>
                </a:extLst>
              </p:cNvPr>
              <p:cNvSpPr txBox="1"/>
              <p:nvPr/>
            </p:nvSpPr>
            <p:spPr>
              <a:xfrm>
                <a:off x="4765947" y="7595072"/>
                <a:ext cx="417247" cy="156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400" dirty="0"/>
                  <a:t>-1</a:t>
                </a:r>
              </a:p>
            </p:txBody>
          </p:sp>
          <p:sp>
            <p:nvSpPr>
              <p:cNvPr id="54" name="文本框 99">
                <a:extLst>
                  <a:ext uri="{FF2B5EF4-FFF2-40B4-BE49-F238E27FC236}">
                    <a16:creationId xmlns:a16="http://schemas.microsoft.com/office/drawing/2014/main" id="{71F36682-AACD-3CA6-9CC3-5361B2BF0EEC}"/>
                  </a:ext>
                </a:extLst>
              </p:cNvPr>
              <p:cNvSpPr txBox="1"/>
              <p:nvPr/>
            </p:nvSpPr>
            <p:spPr>
              <a:xfrm>
                <a:off x="4765947" y="8155357"/>
                <a:ext cx="417247" cy="156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400" dirty="0"/>
                  <a:t>-2</a:t>
                </a:r>
              </a:p>
            </p:txBody>
          </p:sp>
          <p:sp>
            <p:nvSpPr>
              <p:cNvPr id="62" name="文本框 100">
                <a:extLst>
                  <a:ext uri="{FF2B5EF4-FFF2-40B4-BE49-F238E27FC236}">
                    <a16:creationId xmlns:a16="http://schemas.microsoft.com/office/drawing/2014/main" id="{478BBA7A-D828-E78C-FC0B-E942851E0E7F}"/>
                  </a:ext>
                </a:extLst>
              </p:cNvPr>
              <p:cNvSpPr txBox="1"/>
              <p:nvPr/>
            </p:nvSpPr>
            <p:spPr>
              <a:xfrm>
                <a:off x="4688168" y="5845811"/>
                <a:ext cx="535081" cy="11637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4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ΔA(m)</a:t>
                </a:r>
                <a:endParaRPr lang="en-US" altLang="zh-CN" sz="1400" b="1" i="1" dirty="0">
                  <a:latin typeface="Arial" panose="020B0604020202020204" pitchFamily="34" charset="0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  <p:sp>
            <p:nvSpPr>
              <p:cNvPr id="63" name="文本框 95">
                <a:extLst>
                  <a:ext uri="{FF2B5EF4-FFF2-40B4-BE49-F238E27FC236}">
                    <a16:creationId xmlns:a16="http://schemas.microsoft.com/office/drawing/2014/main" id="{066F502D-6591-25BD-D3CE-5D8CC0E1E31B}"/>
                  </a:ext>
                </a:extLst>
              </p:cNvPr>
              <p:cNvSpPr txBox="1"/>
              <p:nvPr/>
            </p:nvSpPr>
            <p:spPr>
              <a:xfrm>
                <a:off x="5485484" y="8535388"/>
                <a:ext cx="474770" cy="1666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200" dirty="0"/>
                  <a:t>Africa</a:t>
                </a:r>
              </a:p>
            </p:txBody>
          </p:sp>
          <p:sp>
            <p:nvSpPr>
              <p:cNvPr id="64" name="文本框 95">
                <a:extLst>
                  <a:ext uri="{FF2B5EF4-FFF2-40B4-BE49-F238E27FC236}">
                    <a16:creationId xmlns:a16="http://schemas.microsoft.com/office/drawing/2014/main" id="{F9A5B2B5-EA42-92FC-2C9C-42FE12849247}"/>
                  </a:ext>
                </a:extLst>
              </p:cNvPr>
              <p:cNvSpPr txBox="1"/>
              <p:nvPr/>
            </p:nvSpPr>
            <p:spPr>
              <a:xfrm>
                <a:off x="6074515" y="8508675"/>
                <a:ext cx="1086611" cy="47330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200" dirty="0"/>
                  <a:t>South &amp; Southeast Asia</a:t>
                </a:r>
              </a:p>
            </p:txBody>
          </p:sp>
          <p:sp>
            <p:nvSpPr>
              <p:cNvPr id="65" name="文本框 95">
                <a:extLst>
                  <a:ext uri="{FF2B5EF4-FFF2-40B4-BE49-F238E27FC236}">
                    <a16:creationId xmlns:a16="http://schemas.microsoft.com/office/drawing/2014/main" id="{18EDECF9-B40F-C189-EDDB-6DA89B58ED8B}"/>
                  </a:ext>
                </a:extLst>
              </p:cNvPr>
              <p:cNvSpPr txBox="1"/>
              <p:nvPr/>
            </p:nvSpPr>
            <p:spPr>
              <a:xfrm>
                <a:off x="7150065" y="8545618"/>
                <a:ext cx="981836" cy="47330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200" dirty="0"/>
                  <a:t>Latin America</a:t>
                </a:r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1F2E5F66-3A58-A8FA-D3F5-1E4FF7CBDE1A}"/>
                  </a:ext>
                </a:extLst>
              </p:cNvPr>
              <p:cNvSpPr txBox="1"/>
              <p:nvPr/>
            </p:nvSpPr>
            <p:spPr>
              <a:xfrm>
                <a:off x="1655485" y="5943466"/>
                <a:ext cx="129427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900" b="1" dirty="0"/>
                  <a:t>Towards </a:t>
                </a:r>
                <a:r>
                  <a:rPr lang="zh-CN" altLang="en-US" sz="900" b="1" dirty="0"/>
                  <a:t>“</a:t>
                </a:r>
                <a:r>
                  <a:rPr lang="en-US" altLang="zh-CN" sz="900" b="1" dirty="0"/>
                  <a:t>Crown”</a:t>
                </a:r>
                <a:endParaRPr lang="" sz="900" b="1" dirty="0"/>
              </a:p>
              <a:p>
                <a:r>
                  <a:rPr lang="" sz="900" dirty="0"/>
                  <a:t>ΔB&lt;0, ΔC&gt;0 52%</a:t>
                </a: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0009DF42-ADE1-E46C-898A-62DF344434C1}"/>
                  </a:ext>
                </a:extLst>
              </p:cNvPr>
              <p:cNvSpPr txBox="1"/>
              <p:nvPr/>
            </p:nvSpPr>
            <p:spPr>
              <a:xfrm>
                <a:off x="2849796" y="5949938"/>
                <a:ext cx="129427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" sz="900" b="1" dirty="0"/>
                  <a:t>Towards </a:t>
                </a:r>
                <a:r>
                  <a:rPr lang="zh-CN" altLang="en-US" sz="900" b="1" dirty="0"/>
                  <a:t>“</a:t>
                </a:r>
                <a:r>
                  <a:rPr lang="en-US" altLang="zh-CN" sz="900" b="1" dirty="0"/>
                  <a:t>Bowl”</a:t>
                </a:r>
                <a:endParaRPr lang="" sz="900" b="1" dirty="0"/>
              </a:p>
              <a:p>
                <a:r>
                  <a:rPr lang="" sz="900" dirty="0"/>
                  <a:t>ΔB&gt;0, ΔC&gt;0 8%</a:t>
                </a:r>
                <a:endParaRPr lang="LID4096" sz="900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F38E65B-0BCF-5B93-7D71-38F4F2593745}"/>
                  </a:ext>
                </a:extLst>
              </p:cNvPr>
              <p:cNvSpPr txBox="1"/>
              <p:nvPr/>
            </p:nvSpPr>
            <p:spPr>
              <a:xfrm>
                <a:off x="1630334" y="7993772"/>
                <a:ext cx="120821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900" b="1" dirty="0"/>
                  <a:t>Towards </a:t>
                </a:r>
                <a:r>
                  <a:rPr lang="zh-CN" altLang="en-US" sz="900" b="1" dirty="0"/>
                  <a:t>“</a:t>
                </a:r>
                <a:r>
                  <a:rPr lang="en-US" altLang="zh-CN" sz="900" b="1" dirty="0"/>
                  <a:t>Pyramid</a:t>
                </a:r>
                <a:r>
                  <a:rPr lang="zh-CN" altLang="en-US" sz="900" b="1" dirty="0"/>
                  <a:t>”</a:t>
                </a:r>
                <a:endParaRPr lang="" sz="900" b="1" dirty="0"/>
              </a:p>
              <a:p>
                <a:r>
                  <a:rPr lang="" sz="900" dirty="0"/>
                  <a:t>ΔB&lt;0, ΔC&lt;0 8%</a:t>
                </a:r>
                <a:endParaRPr lang="LID4096" sz="900" dirty="0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E4821E9A-2DAC-6EE1-3D70-45EE512A9B80}"/>
                  </a:ext>
                </a:extLst>
              </p:cNvPr>
              <p:cNvSpPr txBox="1"/>
              <p:nvPr/>
            </p:nvSpPr>
            <p:spPr>
              <a:xfrm>
                <a:off x="2765560" y="7976330"/>
                <a:ext cx="170940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900" b="1" dirty="0"/>
                  <a:t>Towards </a:t>
                </a:r>
                <a:r>
                  <a:rPr lang="zh-CN" altLang="en-US" sz="900" b="1" dirty="0"/>
                  <a:t>“</a:t>
                </a:r>
                <a:r>
                  <a:rPr lang="en-US" altLang="zh-CN" sz="900" b="1" dirty="0"/>
                  <a:t>Volcanic Cone</a:t>
                </a:r>
                <a:r>
                  <a:rPr lang="zh-CN" altLang="en-US" sz="900" b="1" dirty="0"/>
                  <a:t>”</a:t>
                </a:r>
                <a:endParaRPr lang="" sz="900" dirty="0"/>
              </a:p>
              <a:p>
                <a:r>
                  <a:rPr lang="" sz="900" dirty="0"/>
                  <a:t>ΔB&gt;0, ΔC&lt;0 33%</a:t>
                </a:r>
                <a:endParaRPr lang="LID4096" sz="900" dirty="0"/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53871FB-D9DE-97E4-F45C-3685DDBD6993}"/>
                </a:ext>
              </a:extLst>
            </p:cNvPr>
            <p:cNvSpPr txBox="1"/>
            <p:nvPr/>
          </p:nvSpPr>
          <p:spPr>
            <a:xfrm>
              <a:off x="3770964" y="8182637"/>
              <a:ext cx="94620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00" dirty="0">
                  <a:solidFill>
                    <a:srgbClr val="F39F1B"/>
                  </a:solidFill>
                </a:rPr>
                <a:t>Ahmedabad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F31019B-F05E-BB91-3025-8E1563E936FB}"/>
                </a:ext>
              </a:extLst>
            </p:cNvPr>
            <p:cNvSpPr txBox="1"/>
            <p:nvPr/>
          </p:nvSpPr>
          <p:spPr>
            <a:xfrm>
              <a:off x="3545431" y="7418339"/>
              <a:ext cx="94620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00" dirty="0">
                  <a:solidFill>
                    <a:srgbClr val="F39F1B"/>
                  </a:solidFill>
                </a:rPr>
                <a:t>Jakarta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0049B46-72D5-F21A-DCE7-165DEC2ADCA7}"/>
                </a:ext>
              </a:extLst>
            </p:cNvPr>
            <p:cNvSpPr txBox="1"/>
            <p:nvPr/>
          </p:nvSpPr>
          <p:spPr>
            <a:xfrm>
              <a:off x="1826743" y="6201571"/>
              <a:ext cx="578962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00" dirty="0">
                  <a:solidFill>
                    <a:srgbClr val="47A2DE"/>
                  </a:solidFill>
                </a:rPr>
                <a:t>Bogota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CE6FEB8-E04F-B475-75FC-3157463C692D}"/>
                </a:ext>
              </a:extLst>
            </p:cNvPr>
            <p:cNvSpPr txBox="1"/>
            <p:nvPr/>
          </p:nvSpPr>
          <p:spPr>
            <a:xfrm>
              <a:off x="1609811" y="6447701"/>
              <a:ext cx="578962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00" dirty="0">
                  <a:solidFill>
                    <a:srgbClr val="E85748"/>
                  </a:solidFill>
                </a:rPr>
                <a:t>Nairobi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表格 31"/>
              <p:cNvGraphicFramePr/>
              <p:nvPr>
                <p:custDataLst>
                  <p:tags r:id="rId1"/>
                </p:custDataLst>
              </p:nvPr>
            </p:nvGraphicFramePr>
            <p:xfrm>
              <a:off x="9367822" y="3254867"/>
              <a:ext cx="1976120" cy="13722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8486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4833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1676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𝛼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𝜅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𝛿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表格 31"/>
              <p:cNvGraphicFramePr/>
              <p:nvPr>
                <p:custDataLst>
                  <p:tags r:id="rId3"/>
                </p:custDataLst>
              </p:nvPr>
            </p:nvGraphicFramePr>
            <p:xfrm>
              <a:off x="9367822" y="3254867"/>
              <a:ext cx="1976120" cy="13722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/>
                    <a:gridCol w="784860"/>
                    <a:gridCol w="648335"/>
                  </a:tblGrid>
                  <a:tr h="1676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  <a:endParaRPr lang="en-US" altLang="zh-CN" sz="79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  <a:endParaRPr lang="en-US" altLang="zh-CN" sz="79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Fallback>
      </mc:AlternateContent>
      <p:sp>
        <p:nvSpPr>
          <p:cNvPr id="3" name="文本框 2"/>
          <p:cNvSpPr txBox="1"/>
          <p:nvPr/>
        </p:nvSpPr>
        <p:spPr>
          <a:xfrm>
            <a:off x="9236780" y="2110701"/>
            <a:ext cx="1980276" cy="560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Population growth ↑ </a:t>
            </a: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Δα ↓, Δβ ↑, Δκ ↑, Δδ ↓</a:t>
            </a: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ΔB ↓, ΔC ↑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3212053" y="5136729"/>
            <a:ext cx="7917534" cy="4196658"/>
            <a:chOff x="109855" y="381635"/>
            <a:chExt cx="14075410" cy="7460615"/>
          </a:xfrm>
        </p:grpSpPr>
        <p:pic>
          <p:nvPicPr>
            <p:cNvPr id="42" name="图片 41"/>
            <p:cNvPicPr>
              <a:picLocks noChangeAspect="1"/>
            </p:cNvPicPr>
            <p:nvPr/>
          </p:nvPicPr>
          <p:blipFill>
            <a:blip r:embed="rId5"/>
            <a:srcRect l="8417" t="1057" b="7890"/>
            <a:stretch>
              <a:fillRect/>
            </a:stretch>
          </p:blipFill>
          <p:spPr>
            <a:xfrm>
              <a:off x="10466705" y="381635"/>
              <a:ext cx="3247390" cy="3282950"/>
            </a:xfrm>
            <a:prstGeom prst="rect">
              <a:avLst/>
            </a:prstGeom>
          </p:spPr>
        </p:pic>
        <p:grpSp>
          <p:nvGrpSpPr>
            <p:cNvPr id="39" name="组合 38"/>
            <p:cNvGrpSpPr/>
            <p:nvPr/>
          </p:nvGrpSpPr>
          <p:grpSpPr>
            <a:xfrm>
              <a:off x="109855" y="381635"/>
              <a:ext cx="14075410" cy="7460615"/>
              <a:chOff x="173" y="601"/>
              <a:chExt cx="22166" cy="11749"/>
            </a:xfrm>
          </p:grpSpPr>
          <p:pic>
            <p:nvPicPr>
              <p:cNvPr id="5" name="图片 4"/>
              <p:cNvPicPr/>
              <p:nvPr/>
            </p:nvPicPr>
            <p:blipFill>
              <a:blip r:embed="rId6"/>
              <a:srcRect l="1918" t="1292" r="75749" b="52389"/>
              <a:stretch>
                <a:fillRect/>
              </a:stretch>
            </p:blipFill>
            <p:spPr>
              <a:xfrm>
                <a:off x="173" y="641"/>
                <a:ext cx="5042" cy="519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4" name="图片 13"/>
              <p:cNvPicPr/>
              <p:nvPr/>
            </p:nvPicPr>
            <p:blipFill>
              <a:blip r:embed="rId6"/>
              <a:srcRect l="27028" t="1292" r="50577" b="52389"/>
              <a:stretch>
                <a:fillRect/>
              </a:stretch>
            </p:blipFill>
            <p:spPr>
              <a:xfrm>
                <a:off x="5515" y="641"/>
                <a:ext cx="5056" cy="519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6" name="图片 15"/>
              <p:cNvPicPr/>
              <p:nvPr/>
            </p:nvPicPr>
            <p:blipFill>
              <a:blip r:embed="rId6"/>
              <a:srcRect l="52342" t="811" r="25263" b="52513"/>
              <a:stretch>
                <a:fillRect/>
              </a:stretch>
            </p:blipFill>
            <p:spPr>
              <a:xfrm>
                <a:off x="10999" y="601"/>
                <a:ext cx="5056" cy="523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文本框 26"/>
              <p:cNvSpPr txBox="1"/>
              <p:nvPr/>
            </p:nvSpPr>
            <p:spPr>
              <a:xfrm>
                <a:off x="550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5946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11342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sp>
            <p:nvSpPr>
              <p:cNvPr id="31" name="文本框 30"/>
              <p:cNvSpPr txBox="1"/>
              <p:nvPr/>
            </p:nvSpPr>
            <p:spPr>
              <a:xfrm>
                <a:off x="16945" y="5681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6432" y="10351"/>
                <a:ext cx="5907" cy="1999"/>
                <a:chOff x="16736" y="6695"/>
                <a:chExt cx="5907" cy="1999"/>
              </a:xfrm>
            </p:grpSpPr>
            <p:sp>
              <p:nvSpPr>
                <p:cNvPr id="35" name="椭圆 34"/>
                <p:cNvSpPr/>
                <p:nvPr/>
              </p:nvSpPr>
              <p:spPr>
                <a:xfrm>
                  <a:off x="16736" y="8135"/>
                  <a:ext cx="257" cy="255"/>
                </a:xfrm>
                <a:prstGeom prst="ellipse">
                  <a:avLst/>
                </a:prstGeom>
                <a:solidFill>
                  <a:srgbClr val="47A2DE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17013" y="7953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</a:p>
              </p:txBody>
            </p:sp>
            <p:sp>
              <p:nvSpPr>
                <p:cNvPr id="44" name="椭圆 43"/>
                <p:cNvSpPr/>
                <p:nvPr/>
              </p:nvSpPr>
              <p:spPr>
                <a:xfrm>
                  <a:off x="16736" y="6868"/>
                  <a:ext cx="257" cy="255"/>
                </a:xfrm>
                <a:prstGeom prst="ellipse">
                  <a:avLst/>
                </a:prstGeom>
                <a:solidFill>
                  <a:srgbClr val="E85748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17013" y="6695"/>
                  <a:ext cx="322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</a:p>
              </p:txBody>
            </p:sp>
            <p:sp>
              <p:nvSpPr>
                <p:cNvPr id="48" name="椭圆 47"/>
                <p:cNvSpPr/>
                <p:nvPr/>
              </p:nvSpPr>
              <p:spPr>
                <a:xfrm>
                  <a:off x="16736" y="7510"/>
                  <a:ext cx="257" cy="255"/>
                </a:xfrm>
                <a:prstGeom prst="ellipse">
                  <a:avLst/>
                </a:prstGeom>
                <a:solidFill>
                  <a:srgbClr val="F39F1B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7013" y="7324"/>
                  <a:ext cx="5630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245" y="6378"/>
                <a:ext cx="15881" cy="5951"/>
                <a:chOff x="503" y="6892"/>
                <a:chExt cx="15881" cy="5951"/>
              </a:xfrm>
            </p:grpSpPr>
            <p:grpSp>
              <p:nvGrpSpPr>
                <p:cNvPr id="2" name="组合 1"/>
                <p:cNvGrpSpPr/>
                <p:nvPr/>
              </p:nvGrpSpPr>
              <p:grpSpPr>
                <a:xfrm>
                  <a:off x="503" y="6892"/>
                  <a:ext cx="15881" cy="5230"/>
                  <a:chOff x="433" y="6578"/>
                  <a:chExt cx="15881" cy="5230"/>
                </a:xfrm>
              </p:grpSpPr>
              <p:pic>
                <p:nvPicPr>
                  <p:cNvPr id="18" name="图片 17"/>
                  <p:cNvPicPr/>
                  <p:nvPr/>
                </p:nvPicPr>
                <p:blipFill>
                  <a:blip r:embed="rId6"/>
                  <a:srcRect l="1917" t="50579" r="75927" b="3155"/>
                  <a:stretch>
                    <a:fillRect/>
                  </a:stretch>
                </p:blipFill>
                <p:spPr>
                  <a:xfrm>
                    <a:off x="433" y="6597"/>
                    <a:ext cx="5002" cy="5191"/>
                  </a:xfrm>
                  <a:prstGeom prst="rect">
                    <a:avLst/>
                  </a:prstGeom>
                </p:spPr>
              </p:pic>
              <p:pic>
                <p:nvPicPr>
                  <p:cNvPr id="19" name="图片 18"/>
                  <p:cNvPicPr/>
                  <p:nvPr/>
                </p:nvPicPr>
                <p:blipFill>
                  <a:blip r:embed="rId6"/>
                  <a:srcRect l="27196" t="50579" r="50688" b="2977"/>
                  <a:stretch>
                    <a:fillRect/>
                  </a:stretch>
                </p:blipFill>
                <p:spPr>
                  <a:xfrm>
                    <a:off x="5768" y="6598"/>
                    <a:ext cx="4993" cy="5211"/>
                  </a:xfrm>
                  <a:prstGeom prst="rect">
                    <a:avLst/>
                  </a:prstGeom>
                </p:spPr>
              </p:pic>
              <p:pic>
                <p:nvPicPr>
                  <p:cNvPr id="20" name="图片 19"/>
                  <p:cNvPicPr/>
                  <p:nvPr/>
                </p:nvPicPr>
                <p:blipFill>
                  <a:blip r:embed="rId6"/>
                  <a:srcRect l="50916" t="50579" r="25356" b="2977"/>
                  <a:stretch>
                    <a:fillRect/>
                  </a:stretch>
                </p:blipFill>
                <p:spPr>
                  <a:xfrm>
                    <a:off x="10958" y="6578"/>
                    <a:ext cx="5357" cy="5211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4" name="文本框 23"/>
                      <p:cNvSpPr txBox="1"/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4" name="文本框 23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1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" name="文本框 24"/>
                      <p:cNvSpPr txBox="1"/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𝐵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" name="文本框 24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2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6" name="文本框 25"/>
                      <p:cNvSpPr txBox="1"/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6" name="文本框 25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3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4" name="文本框 3"/>
                <p:cNvSpPr txBox="1"/>
                <p:nvPr/>
              </p:nvSpPr>
              <p:spPr>
                <a:xfrm>
                  <a:off x="810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6206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11602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</a:p>
              </p:txBody>
            </p:sp>
          </p:grpSp>
          <p:pic>
            <p:nvPicPr>
              <p:cNvPr id="37" name="图片 36"/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6389" y="6417"/>
                <a:ext cx="5535" cy="3825"/>
              </a:xfrm>
              <a:prstGeom prst="rect">
                <a:avLst/>
              </a:prstGeom>
            </p:spPr>
          </p:pic>
        </p:grpSp>
      </p:grpSp>
      <p:grpSp>
        <p:nvGrpSpPr>
          <p:cNvPr id="33" name="组合 32"/>
          <p:cNvGrpSpPr/>
          <p:nvPr/>
        </p:nvGrpSpPr>
        <p:grpSpPr>
          <a:xfrm>
            <a:off x="1189538" y="1749196"/>
            <a:ext cx="7346026" cy="2647155"/>
            <a:chOff x="992" y="61"/>
            <a:chExt cx="20566" cy="7411"/>
          </a:xfrm>
        </p:grpSpPr>
        <p:sp>
          <p:nvSpPr>
            <p:cNvPr id="6" name="文本框 5"/>
            <p:cNvSpPr txBox="1"/>
            <p:nvPr/>
          </p:nvSpPr>
          <p:spPr>
            <a:xfrm>
              <a:off x="992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15" b="1" i="1"/>
                <a:t>Strong Significance ***</a:t>
              </a: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6285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1744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7203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992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Not Significant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6264" y="634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1744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Significance *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3311352" y="5368547"/>
            <a:ext cx="7523908" cy="3687658"/>
            <a:chOff x="451" y="1250"/>
            <a:chExt cx="21064" cy="10324"/>
          </a:xfrm>
        </p:grpSpPr>
        <p:pic>
          <p:nvPicPr>
            <p:cNvPr id="30" name="图片 29"/>
            <p:cNvPicPr/>
            <p:nvPr/>
          </p:nvPicPr>
          <p:blipFill>
            <a:blip r:embed="rId2"/>
            <a:srcRect t="4937"/>
            <a:stretch>
              <a:fillRect/>
            </a:stretch>
          </p:blipFill>
          <p:spPr>
            <a:xfrm>
              <a:off x="11468" y="2755"/>
              <a:ext cx="8035" cy="7953"/>
            </a:xfrm>
            <a:prstGeom prst="rect">
              <a:avLst/>
            </a:prstGeom>
          </p:spPr>
        </p:pic>
        <p:pic>
          <p:nvPicPr>
            <p:cNvPr id="29" name="图片 28"/>
            <p:cNvPicPr/>
            <p:nvPr/>
          </p:nvPicPr>
          <p:blipFill>
            <a:blip r:embed="rId3"/>
            <a:srcRect t="4937"/>
            <a:stretch>
              <a:fillRect/>
            </a:stretch>
          </p:blipFill>
          <p:spPr>
            <a:xfrm>
              <a:off x="1160" y="2755"/>
              <a:ext cx="8035" cy="7953"/>
            </a:xfrm>
            <a:prstGeom prst="rect">
              <a:avLst/>
            </a:prstGeom>
          </p:spPr>
        </p:pic>
        <p:grpSp>
          <p:nvGrpSpPr>
            <p:cNvPr id="28" name="组合 27"/>
            <p:cNvGrpSpPr/>
            <p:nvPr/>
          </p:nvGrpSpPr>
          <p:grpSpPr>
            <a:xfrm>
              <a:off x="451" y="1250"/>
              <a:ext cx="21065" cy="10324"/>
              <a:chOff x="655" y="941"/>
              <a:chExt cx="21065" cy="10324"/>
            </a:xfrm>
          </p:grpSpPr>
          <p:grpSp>
            <p:nvGrpSpPr>
              <p:cNvPr id="11" name="组合 10"/>
              <p:cNvGrpSpPr/>
              <p:nvPr/>
            </p:nvGrpSpPr>
            <p:grpSpPr>
              <a:xfrm>
                <a:off x="655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文本框 12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文本框 1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5" name="文本框 1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2" name="文本框 2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文本框 22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3" name="文本框 2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" name="文本框 6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7" name="文本框 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" name="文本框 7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8" name="文本框 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文本框 8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9" name="文本框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组合 13"/>
              <p:cNvGrpSpPr/>
              <p:nvPr/>
            </p:nvGrpSpPr>
            <p:grpSpPr>
              <a:xfrm>
                <a:off x="11022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文本框 15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6" name="文本框 1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11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文本框 16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7" name="文本框 1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文本框 17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8" name="文本框 1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文本框 18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9" name="文本框 1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" name="文本框 19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0" name="文本框 1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1" name="文本框 2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文本框 23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4" name="文本框 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文本框 24"/>
              <p:cNvSpPr txBox="1"/>
              <p:nvPr/>
            </p:nvSpPr>
            <p:spPr>
              <a:xfrm>
                <a:off x="3947" y="941"/>
                <a:ext cx="2060" cy="9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2016</a:t>
                </a:r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15261" y="962"/>
                <a:ext cx="2583" cy="9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2023</a:t>
                </a:r>
              </a:p>
            </p:txBody>
          </p:sp>
          <p:grpSp>
            <p:nvGrpSpPr>
              <p:cNvPr id="27" name="组合 26"/>
              <p:cNvGrpSpPr/>
              <p:nvPr/>
            </p:nvGrpSpPr>
            <p:grpSpPr>
              <a:xfrm>
                <a:off x="8849" y="9109"/>
                <a:ext cx="5633" cy="1999"/>
                <a:chOff x="9225" y="1246"/>
                <a:chExt cx="5633" cy="1999"/>
              </a:xfrm>
            </p:grpSpPr>
            <p:sp>
              <p:nvSpPr>
                <p:cNvPr id="35" name="圆角矩形 34"/>
                <p:cNvSpPr/>
                <p:nvPr/>
              </p:nvSpPr>
              <p:spPr>
                <a:xfrm>
                  <a:off x="9225" y="2686"/>
                  <a:ext cx="530" cy="338"/>
                </a:xfrm>
                <a:prstGeom prst="roundRect">
                  <a:avLst/>
                </a:prstGeom>
                <a:solidFill>
                  <a:srgbClr val="47A2DE">
                    <a:alpha val="20000"/>
                  </a:srgbClr>
                </a:solidFill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775" y="2504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</a:p>
              </p:txBody>
            </p:sp>
            <p:sp>
              <p:nvSpPr>
                <p:cNvPr id="44" name="圆角矩形 43"/>
                <p:cNvSpPr/>
                <p:nvPr/>
              </p:nvSpPr>
              <p:spPr>
                <a:xfrm>
                  <a:off x="9225" y="1419"/>
                  <a:ext cx="530" cy="338"/>
                </a:xfrm>
                <a:prstGeom prst="roundRect">
                  <a:avLst/>
                </a:prstGeom>
                <a:solidFill>
                  <a:srgbClr val="E85748">
                    <a:alpha val="20000"/>
                  </a:srgbClr>
                </a:solidFill>
                <a:ln w="38100"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9775" y="1246"/>
                  <a:ext cx="322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</a:p>
              </p:txBody>
            </p:sp>
            <p:sp>
              <p:nvSpPr>
                <p:cNvPr id="48" name="圆角矩形 47"/>
                <p:cNvSpPr/>
                <p:nvPr/>
              </p:nvSpPr>
              <p:spPr>
                <a:xfrm>
                  <a:off x="9225" y="2061"/>
                  <a:ext cx="530" cy="338"/>
                </a:xfrm>
                <a:prstGeom prst="roundRect">
                  <a:avLst/>
                </a:prstGeom>
                <a:solidFill>
                  <a:srgbClr val="F39F1B">
                    <a:alpha val="20000"/>
                  </a:srgbClr>
                </a:solidFill>
                <a:ln w="38100"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774" y="1875"/>
                  <a:ext cx="5084" cy="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</a:p>
              </p:txBody>
            </p:sp>
          </p:grpSp>
        </p:grpSp>
      </p:grp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65">
            <a:extLst>
              <a:ext uri="{FF2B5EF4-FFF2-40B4-BE49-F238E27FC236}">
                <a16:creationId xmlns:a16="http://schemas.microsoft.com/office/drawing/2014/main" id="{FC6C2096-2BCF-1450-0878-6CF17EA9FF1D}"/>
              </a:ext>
            </a:extLst>
          </p:cNvPr>
          <p:cNvSpPr/>
          <p:nvPr/>
        </p:nvSpPr>
        <p:spPr>
          <a:xfrm>
            <a:off x="3101341" y="5580063"/>
            <a:ext cx="8168640" cy="30126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grpSp>
        <p:nvGrpSpPr>
          <p:cNvPr id="5" name="组合 4"/>
          <p:cNvGrpSpPr/>
          <p:nvPr/>
        </p:nvGrpSpPr>
        <p:grpSpPr>
          <a:xfrm>
            <a:off x="3187065" y="5614035"/>
            <a:ext cx="8021955" cy="2886075"/>
            <a:chOff x="5019" y="8841"/>
            <a:chExt cx="12633" cy="4545"/>
          </a:xfrm>
        </p:grpSpPr>
        <p:pic>
          <p:nvPicPr>
            <p:cNvPr id="56" name="图片 55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13616" y="9454"/>
              <a:ext cx="3234" cy="3241"/>
            </a:xfrm>
            <a:prstGeom prst="rect">
              <a:avLst/>
            </a:prstGeom>
          </p:spPr>
        </p:pic>
        <p:pic>
          <p:nvPicPr>
            <p:cNvPr id="54" name="图片 53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9425" y="9454"/>
              <a:ext cx="3234" cy="3241"/>
            </a:xfrm>
            <a:prstGeom prst="rect">
              <a:avLst/>
            </a:prstGeom>
          </p:spPr>
        </p:pic>
        <p:pic>
          <p:nvPicPr>
            <p:cNvPr id="51" name="图片 50"/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5293" y="9454"/>
              <a:ext cx="3234" cy="3241"/>
            </a:xfrm>
            <a:prstGeom prst="rect">
              <a:avLst/>
            </a:prstGeom>
          </p:spPr>
        </p:pic>
        <p:grpSp>
          <p:nvGrpSpPr>
            <p:cNvPr id="11" name="组合 10"/>
            <p:cNvGrpSpPr/>
            <p:nvPr/>
          </p:nvGrpSpPr>
          <p:grpSpPr>
            <a:xfrm>
              <a:off x="5019" y="9179"/>
              <a:ext cx="4305" cy="3863"/>
              <a:chOff x="655" y="1665"/>
              <a:chExt cx="10698" cy="96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905"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文本框 6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7" name="文本框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文本框 7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8" name="文本框 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文本框 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9" name="文本框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" name="组合 13"/>
            <p:cNvGrpSpPr/>
            <p:nvPr/>
          </p:nvGrpSpPr>
          <p:grpSpPr>
            <a:xfrm>
              <a:off x="9191" y="9179"/>
              <a:ext cx="4305" cy="3863"/>
              <a:chOff x="655" y="1665"/>
              <a:chExt cx="10698" cy="96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文本框 15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6" name="文本框 1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16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7" name="文本框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文本框 17"/>
                  <p:cNvSpPr txBox="1"/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8" name="文本框 1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887"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1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文本框 19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0" name="文本框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1" name="文本框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文本框 23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4" name="文本框 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文本框 24"/>
            <p:cNvSpPr txBox="1"/>
            <p:nvPr/>
          </p:nvSpPr>
          <p:spPr>
            <a:xfrm>
              <a:off x="6353" y="8841"/>
              <a:ext cx="1115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E85748"/>
                  </a:solidFill>
                </a:rPr>
                <a:t>Africa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9161" y="8841"/>
              <a:ext cx="3979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F39F1B"/>
                  </a:solidFill>
                </a:rPr>
                <a:t>South &amp; Southeast Asia</a:t>
              </a:r>
            </a:p>
          </p:txBody>
        </p:sp>
        <p:grpSp>
          <p:nvGrpSpPr>
            <p:cNvPr id="10" name="组合 9"/>
            <p:cNvGrpSpPr/>
            <p:nvPr/>
          </p:nvGrpSpPr>
          <p:grpSpPr>
            <a:xfrm>
              <a:off x="13347" y="9179"/>
              <a:ext cx="4305" cy="3872"/>
              <a:chOff x="655" y="1643"/>
              <a:chExt cx="10698" cy="962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文本框 11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2" name="文本框 1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1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2" name="文本框 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文本框 32"/>
                  <p:cNvSpPr txBox="1"/>
                  <p:nvPr/>
                </p:nvSpPr>
                <p:spPr>
                  <a:xfrm>
                    <a:off x="3496" y="164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3" name="文本框 3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643"/>
                    <a:ext cx="2510" cy="100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887"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文本框 33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4" name="文本框 3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文本框 36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7" name="文本框 3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文本框 3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9" name="文本框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文本框 51"/>
            <p:cNvSpPr txBox="1"/>
            <p:nvPr/>
          </p:nvSpPr>
          <p:spPr>
            <a:xfrm>
              <a:off x="13398" y="8841"/>
              <a:ext cx="3854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47A2DE"/>
                  </a:solidFill>
                </a:rPr>
                <a:t>Latin America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9955" y="12969"/>
              <a:ext cx="888" cy="41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2016</a:t>
              </a:r>
            </a:p>
          </p:txBody>
        </p:sp>
        <p:grpSp>
          <p:nvGrpSpPr>
            <p:cNvPr id="31" name="组合 30"/>
            <p:cNvGrpSpPr/>
            <p:nvPr/>
          </p:nvGrpSpPr>
          <p:grpSpPr>
            <a:xfrm>
              <a:off x="8866" y="13072"/>
              <a:ext cx="1059" cy="212"/>
              <a:chOff x="6153" y="11442"/>
              <a:chExt cx="1740" cy="348"/>
            </a:xfrm>
          </p:grpSpPr>
          <p:sp>
            <p:nvSpPr>
              <p:cNvPr id="4" name="圆角矩形 3"/>
              <p:cNvSpPr/>
              <p:nvPr/>
            </p:nvSpPr>
            <p:spPr>
              <a:xfrm>
                <a:off x="6153" y="11442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19050"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29" name="圆角矩形 28"/>
              <p:cNvSpPr/>
              <p:nvPr/>
            </p:nvSpPr>
            <p:spPr>
              <a:xfrm>
                <a:off x="6761" y="11442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19050">
                <a:solidFill>
                  <a:srgbClr val="F39F1B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30" name="圆角矩形 29"/>
              <p:cNvSpPr/>
              <p:nvPr/>
            </p:nvSpPr>
            <p:spPr>
              <a:xfrm>
                <a:off x="7363" y="11442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19050">
                <a:solidFill>
                  <a:srgbClr val="47A2D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grpSp>
          <p:nvGrpSpPr>
            <p:cNvPr id="40" name="组合 39"/>
            <p:cNvGrpSpPr/>
            <p:nvPr/>
          </p:nvGrpSpPr>
          <p:grpSpPr>
            <a:xfrm>
              <a:off x="11606" y="13072"/>
              <a:ext cx="1092" cy="212"/>
              <a:chOff x="5151" y="11234"/>
              <a:chExt cx="1795" cy="348"/>
            </a:xfrm>
          </p:grpSpPr>
          <p:sp>
            <p:nvSpPr>
              <p:cNvPr id="41" name="圆角矩形 40"/>
              <p:cNvSpPr/>
              <p:nvPr/>
            </p:nvSpPr>
            <p:spPr>
              <a:xfrm>
                <a:off x="5151" y="11234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19050">
                <a:solidFill>
                  <a:srgbClr val="E85748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>
                  <a:solidFill>
                    <a:srgbClr val="47A2DE"/>
                  </a:solidFill>
                </a:endParaRPr>
              </a:p>
            </p:txBody>
          </p:sp>
          <p:sp>
            <p:nvSpPr>
              <p:cNvPr id="42" name="圆角矩形 41"/>
              <p:cNvSpPr/>
              <p:nvPr/>
            </p:nvSpPr>
            <p:spPr>
              <a:xfrm>
                <a:off x="5787" y="11234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19050">
                <a:solidFill>
                  <a:srgbClr val="F39F1B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43" name="圆角矩形 42"/>
              <p:cNvSpPr/>
              <p:nvPr/>
            </p:nvSpPr>
            <p:spPr>
              <a:xfrm>
                <a:off x="6416" y="11234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19050">
                <a:solidFill>
                  <a:srgbClr val="47A2DE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sp>
          <p:nvSpPr>
            <p:cNvPr id="46" name="文本框 45"/>
            <p:cNvSpPr txBox="1"/>
            <p:nvPr/>
          </p:nvSpPr>
          <p:spPr>
            <a:xfrm>
              <a:off x="12759" y="12969"/>
              <a:ext cx="888" cy="41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2023</a:t>
              </a:r>
            </a:p>
          </p:txBody>
        </p:sp>
      </p:grpSp>
      <p:grpSp>
        <p:nvGrpSpPr>
          <p:cNvPr id="60" name="组合 59"/>
          <p:cNvGrpSpPr/>
          <p:nvPr/>
        </p:nvGrpSpPr>
        <p:grpSpPr>
          <a:xfrm>
            <a:off x="4914961" y="11522594"/>
            <a:ext cx="4575639" cy="622587"/>
            <a:chOff x="6709" y="10473"/>
            <a:chExt cx="12810" cy="17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文本框 56"/>
                <p:cNvSpPr txBox="1"/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7" name="文本框 5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blipFill rotWithShape="1">
                  <a:blip r:embed="rId1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blipFill rotWithShape="1">
                  <a:blip r:embed="rId1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blipFill rotWithShape="1">
                  <a:blip r:embed="rId17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B7400A26-E240-556A-34B7-4DB3459DA89F}"/>
              </a:ext>
            </a:extLst>
          </p:cNvPr>
          <p:cNvGrpSpPr/>
          <p:nvPr/>
        </p:nvGrpSpPr>
        <p:grpSpPr>
          <a:xfrm>
            <a:off x="304800" y="3028950"/>
            <a:ext cx="13658850" cy="7429500"/>
            <a:chOff x="304800" y="3028950"/>
            <a:chExt cx="13658850" cy="74295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F537375-AF2E-5A8D-C842-6D93D2163B79}"/>
                </a:ext>
              </a:extLst>
            </p:cNvPr>
            <p:cNvSpPr/>
            <p:nvPr/>
          </p:nvSpPr>
          <p:spPr>
            <a:xfrm>
              <a:off x="304800" y="3028950"/>
              <a:ext cx="13658850" cy="74295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90BEA7B-7FED-8CE6-9AE0-D9391D4EE732}"/>
                </a:ext>
              </a:extLst>
            </p:cNvPr>
            <p:cNvGrpSpPr/>
            <p:nvPr/>
          </p:nvGrpSpPr>
          <p:grpSpPr>
            <a:xfrm>
              <a:off x="780152" y="3218069"/>
              <a:ext cx="12839908" cy="6999357"/>
              <a:chOff x="634896" y="415234"/>
              <a:chExt cx="15306710" cy="8344073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2300E0D1-031A-E5AA-2946-6B5D3F4A71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426381" y="1068905"/>
                <a:ext cx="7515225" cy="3714750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CAAB1438-B65B-4A08-B1A6-A7FDE080A6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416856" y="5044557"/>
                <a:ext cx="7524750" cy="3714750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C9BF385A-541D-88D4-6BB2-F69E905F4D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9659" y="1068905"/>
                <a:ext cx="7515225" cy="371475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0C08E515-B285-444C-1B75-2B0CE1F408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34896" y="5044557"/>
                <a:ext cx="7524750" cy="3714750"/>
              </a:xfrm>
              <a:prstGeom prst="rect">
                <a:avLst/>
              </a:prstGeom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04821A-775A-4983-81D5-FC1A4B892548}"/>
                  </a:ext>
                </a:extLst>
              </p:cNvPr>
              <p:cNvSpPr txBox="1"/>
              <p:nvPr/>
            </p:nvSpPr>
            <p:spPr>
              <a:xfrm>
                <a:off x="634896" y="415234"/>
                <a:ext cx="305583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800" dirty="0"/>
                  <a:t>Permutation Tests</a:t>
                </a:r>
                <a:endParaRPr lang="en-US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86303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Screenshot from 2025-05-14 13-41-46">
            <a:extLst>
              <a:ext uri="{FF2B5EF4-FFF2-40B4-BE49-F238E27FC236}">
                <a16:creationId xmlns:a16="http://schemas.microsoft.com/office/drawing/2014/main" id="{540E81D7-A862-C3C6-A148-CFA39289B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851" y="11503378"/>
            <a:ext cx="2254504" cy="2073222"/>
          </a:xfrm>
          <a:prstGeom prst="rect">
            <a:avLst/>
          </a:prstGeom>
        </p:spPr>
      </p:pic>
      <p:pic>
        <p:nvPicPr>
          <p:cNvPr id="4" name="Picture 3" descr="Screenshot from 2025-05-14 13-41-39">
            <a:extLst>
              <a:ext uri="{FF2B5EF4-FFF2-40B4-BE49-F238E27FC236}">
                <a16:creationId xmlns:a16="http://schemas.microsoft.com/office/drawing/2014/main" id="{2A6A0C6E-7BDD-AFA8-42F2-A2602277E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9278" y="11502763"/>
            <a:ext cx="2255734" cy="2073837"/>
          </a:xfrm>
          <a:prstGeom prst="rect">
            <a:avLst/>
          </a:prstGeom>
        </p:spPr>
      </p:pic>
      <p:sp>
        <p:nvSpPr>
          <p:cNvPr id="9" name="Text Box 10">
            <a:extLst>
              <a:ext uri="{FF2B5EF4-FFF2-40B4-BE49-F238E27FC236}">
                <a16:creationId xmlns:a16="http://schemas.microsoft.com/office/drawing/2014/main" id="{21BA8384-8C73-E612-303F-90C148E7C4C1}"/>
              </a:ext>
            </a:extLst>
          </p:cNvPr>
          <p:cNvSpPr txBox="1"/>
          <p:nvPr/>
        </p:nvSpPr>
        <p:spPr>
          <a:xfrm>
            <a:off x="5367626" y="11205621"/>
            <a:ext cx="2685105" cy="306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ctr"/>
            <a:r>
              <a:rPr lang="en-US" dirty="0"/>
              <a:t>Abidjan (2016–2023)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74E6FAC-D73D-CB39-7A84-37175CA8510A}"/>
              </a:ext>
            </a:extLst>
          </p:cNvPr>
          <p:cNvGrpSpPr/>
          <p:nvPr/>
        </p:nvGrpSpPr>
        <p:grpSpPr>
          <a:xfrm>
            <a:off x="4331237" y="4876125"/>
            <a:ext cx="4579620" cy="3175197"/>
            <a:chOff x="4331237" y="4876125"/>
            <a:chExt cx="4579620" cy="317519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43E8DA7-1ADA-8EA4-5DEB-CA5D2D5742CC}"/>
                </a:ext>
              </a:extLst>
            </p:cNvPr>
            <p:cNvGrpSpPr/>
            <p:nvPr/>
          </p:nvGrpSpPr>
          <p:grpSpPr>
            <a:xfrm>
              <a:off x="4331237" y="4876125"/>
              <a:ext cx="4579620" cy="3175197"/>
              <a:chOff x="4331237" y="4876125"/>
              <a:chExt cx="4579620" cy="3175197"/>
            </a:xfrm>
          </p:grpSpPr>
          <p:pic>
            <p:nvPicPr>
              <p:cNvPr id="5" name="Picture 4" descr="Screenshot from 2025-05-14 13-41-03">
                <a:extLst>
                  <a:ext uri="{FF2B5EF4-FFF2-40B4-BE49-F238E27FC236}">
                    <a16:creationId xmlns:a16="http://schemas.microsoft.com/office/drawing/2014/main" id="{8F61D98F-94F4-7C26-45A5-7920C65E11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655738" y="5438570"/>
                <a:ext cx="2255119" cy="2073837"/>
              </a:xfrm>
              <a:prstGeom prst="rect">
                <a:avLst/>
              </a:prstGeom>
            </p:spPr>
          </p:pic>
          <p:pic>
            <p:nvPicPr>
              <p:cNvPr id="6" name="Picture 5" descr="Screenshot from 2025-05-14 13-40-46">
                <a:extLst>
                  <a:ext uri="{FF2B5EF4-FFF2-40B4-BE49-F238E27FC236}">
                    <a16:creationId xmlns:a16="http://schemas.microsoft.com/office/drawing/2014/main" id="{6B6D4404-2EC0-88B5-1254-5E25D75E10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386471" y="5438570"/>
                <a:ext cx="2255119" cy="2073837"/>
              </a:xfrm>
              <a:prstGeom prst="rect">
                <a:avLst/>
              </a:prstGeom>
            </p:spPr>
          </p:pic>
          <p:grpSp>
            <p:nvGrpSpPr>
              <p:cNvPr id="7" name="Google Shape;156;p16">
                <a:extLst>
                  <a:ext uri="{FF2B5EF4-FFF2-40B4-BE49-F238E27FC236}">
                    <a16:creationId xmlns:a16="http://schemas.microsoft.com/office/drawing/2014/main" id="{F7FAB4F4-1AD0-A463-A35D-4B3D25A3E4B2}"/>
                  </a:ext>
                </a:extLst>
              </p:cNvPr>
              <p:cNvGrpSpPr/>
              <p:nvPr/>
            </p:nvGrpSpPr>
            <p:grpSpPr>
              <a:xfrm>
                <a:off x="5130180" y="7512407"/>
                <a:ext cx="2609442" cy="538915"/>
                <a:chOff x="4807925" y="4484375"/>
                <a:chExt cx="2693250" cy="555510"/>
              </a:xfrm>
            </p:grpSpPr>
            <p:sp>
              <p:nvSpPr>
                <p:cNvPr id="15" name="Google Shape;157;p16">
                  <a:extLst>
                    <a:ext uri="{FF2B5EF4-FFF2-40B4-BE49-F238E27FC236}">
                      <a16:creationId xmlns:a16="http://schemas.microsoft.com/office/drawing/2014/main" id="{CE2C030D-FA55-ED01-83A5-E427F322E3D5}"/>
                    </a:ext>
                  </a:extLst>
                </p:cNvPr>
                <p:cNvSpPr/>
                <p:nvPr/>
              </p:nvSpPr>
              <p:spPr>
                <a:xfrm>
                  <a:off x="4913433" y="4758200"/>
                  <a:ext cx="432300" cy="2346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" name="Google Shape;158;p16">
                  <a:extLst>
                    <a:ext uri="{FF2B5EF4-FFF2-40B4-BE49-F238E27FC236}">
                      <a16:creationId xmlns:a16="http://schemas.microsoft.com/office/drawing/2014/main" id="{96614342-B1FD-770D-0BDB-348787A8278B}"/>
                    </a:ext>
                  </a:extLst>
                </p:cNvPr>
                <p:cNvSpPr txBox="1"/>
                <p:nvPr/>
              </p:nvSpPr>
              <p:spPr>
                <a:xfrm>
                  <a:off x="4807925" y="4484375"/>
                  <a:ext cx="800100" cy="3172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de-AT" sz="800" b="1" dirty="0">
                      <a:solidFill>
                        <a:schemeClr val="dk1"/>
                      </a:solidFill>
                    </a:rPr>
                    <a:t>No Building</a:t>
                  </a:r>
                  <a:endParaRPr sz="800" b="1" dirty="0">
                    <a:solidFill>
                      <a:schemeClr val="dk1"/>
                    </a:solidFill>
                  </a:endParaRPr>
                </a:p>
              </p:txBody>
            </p:sp>
            <p:sp>
              <p:nvSpPr>
                <p:cNvPr id="17" name="Google Shape;159;p16">
                  <a:extLst>
                    <a:ext uri="{FF2B5EF4-FFF2-40B4-BE49-F238E27FC236}">
                      <a16:creationId xmlns:a16="http://schemas.microsoft.com/office/drawing/2014/main" id="{728BFD29-04FC-3F2F-DA6A-273BAE01C350}"/>
                    </a:ext>
                  </a:extLst>
                </p:cNvPr>
                <p:cNvSpPr/>
                <p:nvPr/>
              </p:nvSpPr>
              <p:spPr>
                <a:xfrm>
                  <a:off x="5890875" y="4753925"/>
                  <a:ext cx="1009200" cy="234600"/>
                </a:xfrm>
                <a:prstGeom prst="rect">
                  <a:avLst/>
                </a:prstGeom>
                <a:gradFill>
                  <a:gsLst>
                    <a:gs pos="0">
                      <a:srgbClr val="1D4877"/>
                    </a:gs>
                    <a:gs pos="24000">
                      <a:srgbClr val="1B8A5A"/>
                    </a:gs>
                    <a:gs pos="50000">
                      <a:srgbClr val="FBB021"/>
                    </a:gs>
                    <a:gs pos="75000">
                      <a:srgbClr val="F68838"/>
                    </a:gs>
                    <a:gs pos="100000">
                      <a:srgbClr val="EE3E32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" name="Google Shape;160;p16">
                  <a:extLst>
                    <a:ext uri="{FF2B5EF4-FFF2-40B4-BE49-F238E27FC236}">
                      <a16:creationId xmlns:a16="http://schemas.microsoft.com/office/drawing/2014/main" id="{D9EE729B-FD1A-DCC4-7944-6509FE297A1E}"/>
                    </a:ext>
                  </a:extLst>
                </p:cNvPr>
                <p:cNvSpPr txBox="1"/>
                <p:nvPr/>
              </p:nvSpPr>
              <p:spPr>
                <a:xfrm>
                  <a:off x="5647975" y="4709675"/>
                  <a:ext cx="233100" cy="3302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de-AT" sz="900">
                      <a:solidFill>
                        <a:schemeClr val="dk1"/>
                      </a:solidFill>
                    </a:rPr>
                    <a:t>0</a:t>
                  </a:r>
                  <a:endParaRPr sz="900">
                    <a:solidFill>
                      <a:schemeClr val="dk1"/>
                    </a:solidFill>
                  </a:endParaRPr>
                </a:p>
              </p:txBody>
            </p:sp>
            <p:sp>
              <p:nvSpPr>
                <p:cNvPr id="19" name="Google Shape;161;p16">
                  <a:extLst>
                    <a:ext uri="{FF2B5EF4-FFF2-40B4-BE49-F238E27FC236}">
                      <a16:creationId xmlns:a16="http://schemas.microsoft.com/office/drawing/2014/main" id="{68CC7BDE-3EA3-04DD-7EBE-13C558CA8040}"/>
                    </a:ext>
                  </a:extLst>
                </p:cNvPr>
                <p:cNvSpPr txBox="1"/>
                <p:nvPr/>
              </p:nvSpPr>
              <p:spPr>
                <a:xfrm>
                  <a:off x="6909875" y="4709675"/>
                  <a:ext cx="591300" cy="3302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de-AT" sz="900">
                      <a:solidFill>
                        <a:schemeClr val="dk1"/>
                      </a:solidFill>
                    </a:rPr>
                    <a:t>100m</a:t>
                  </a:r>
                  <a:endParaRPr sz="900">
                    <a:solidFill>
                      <a:schemeClr val="dk1"/>
                    </a:solidFill>
                  </a:endParaRPr>
                </a:p>
              </p:txBody>
            </p:sp>
            <p:sp>
              <p:nvSpPr>
                <p:cNvPr id="20" name="Google Shape;162;p16">
                  <a:extLst>
                    <a:ext uri="{FF2B5EF4-FFF2-40B4-BE49-F238E27FC236}">
                      <a16:creationId xmlns:a16="http://schemas.microsoft.com/office/drawing/2014/main" id="{DE6DF54B-EE9F-2D9C-5C0E-79123FB4D51C}"/>
                    </a:ext>
                  </a:extLst>
                </p:cNvPr>
                <p:cNvSpPr txBox="1"/>
                <p:nvPr/>
              </p:nvSpPr>
              <p:spPr>
                <a:xfrm>
                  <a:off x="5819375" y="4484375"/>
                  <a:ext cx="1681800" cy="31383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de-AT" sz="800" b="1">
                      <a:solidFill>
                        <a:schemeClr val="dk1"/>
                      </a:solidFill>
                    </a:rPr>
                    <a:t>Building Height (pixel)</a:t>
                  </a:r>
                  <a:endParaRPr sz="800" b="1">
                    <a:solidFill>
                      <a:schemeClr val="dk1"/>
                    </a:solidFill>
                  </a:endParaRPr>
                </a:p>
              </p:txBody>
            </p:sp>
          </p:grpSp>
          <p:sp>
            <p:nvSpPr>
              <p:cNvPr id="8" name="Text Box 9">
                <a:extLst>
                  <a:ext uri="{FF2B5EF4-FFF2-40B4-BE49-F238E27FC236}">
                    <a16:creationId xmlns:a16="http://schemas.microsoft.com/office/drawing/2014/main" id="{F9A5AB32-0084-07B4-A8B4-34B2750D8F72}"/>
                  </a:ext>
                </a:extLst>
              </p:cNvPr>
              <p:cNvSpPr txBox="1"/>
              <p:nvPr/>
            </p:nvSpPr>
            <p:spPr>
              <a:xfrm>
                <a:off x="4331237" y="4876125"/>
                <a:ext cx="457962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algn="ctr"/>
                <a:r>
                  <a:rPr lang="en-US" altLang="zh-CN" dirty="0"/>
                  <a:t>Sample Data: </a:t>
                </a:r>
                <a:r>
                  <a:rPr lang="en-US" dirty="0"/>
                  <a:t>Antananarivo,</a:t>
                </a:r>
                <a:r>
                  <a:rPr lang="zh-CN" altLang="en-US" dirty="0"/>
                  <a:t> </a:t>
                </a:r>
                <a:r>
                  <a:rPr lang="en-US" altLang="zh-CN" dirty="0"/>
                  <a:t>Madagascar</a:t>
                </a:r>
                <a:endParaRPr lang="en-US" dirty="0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2D372EA2-0F01-ECCC-AF30-DDEAEA365ECE}"/>
                  </a:ext>
                </a:extLst>
              </p:cNvPr>
              <p:cNvGrpSpPr/>
              <p:nvPr/>
            </p:nvGrpSpPr>
            <p:grpSpPr>
              <a:xfrm>
                <a:off x="7771610" y="7589923"/>
                <a:ext cx="729561" cy="319904"/>
                <a:chOff x="9532" y="3515"/>
                <a:chExt cx="1186" cy="520"/>
              </a:xfrm>
            </p:grpSpPr>
            <p:cxnSp>
              <p:nvCxnSpPr>
                <p:cNvPr id="11" name="Straight Arrow Connector 10">
                  <a:extLst>
                    <a:ext uri="{FF2B5EF4-FFF2-40B4-BE49-F238E27FC236}">
                      <a16:creationId xmlns:a16="http://schemas.microsoft.com/office/drawing/2014/main" id="{F51E5B86-7501-6ED1-283D-7D49CBDDA8AF}"/>
                    </a:ext>
                  </a:extLst>
                </p:cNvPr>
                <p:cNvCxnSpPr/>
                <p:nvPr/>
              </p:nvCxnSpPr>
              <p:spPr>
                <a:xfrm>
                  <a:off x="9532" y="4006"/>
                  <a:ext cx="1186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none"/>
                  <a:tailEnd type="non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Arrow Connector 11">
                  <a:extLst>
                    <a:ext uri="{FF2B5EF4-FFF2-40B4-BE49-F238E27FC236}">
                      <a16:creationId xmlns:a16="http://schemas.microsoft.com/office/drawing/2014/main" id="{F474C72B-6B23-9ED5-5C49-5C1122514613}"/>
                    </a:ext>
                  </a:extLst>
                </p:cNvPr>
                <p:cNvCxnSpPr/>
                <p:nvPr/>
              </p:nvCxnSpPr>
              <p:spPr>
                <a:xfrm flipV="1">
                  <a:off x="9551" y="3894"/>
                  <a:ext cx="3" cy="13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none"/>
                  <a:tailEnd type="non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Arrow Connector 12">
                  <a:extLst>
                    <a:ext uri="{FF2B5EF4-FFF2-40B4-BE49-F238E27FC236}">
                      <a16:creationId xmlns:a16="http://schemas.microsoft.com/office/drawing/2014/main" id="{C52C1364-11BD-8CBD-3B43-D9B52D61FAF0}"/>
                    </a:ext>
                  </a:extLst>
                </p:cNvPr>
                <p:cNvCxnSpPr/>
                <p:nvPr/>
              </p:nvCxnSpPr>
              <p:spPr>
                <a:xfrm flipV="1">
                  <a:off x="10706" y="3894"/>
                  <a:ext cx="3" cy="13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none"/>
                  <a:tailEnd type="non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sp>
              <p:nvSpPr>
                <p:cNvPr id="14" name="Google Shape;161;p16">
                  <a:extLst>
                    <a:ext uri="{FF2B5EF4-FFF2-40B4-BE49-F238E27FC236}">
                      <a16:creationId xmlns:a16="http://schemas.microsoft.com/office/drawing/2014/main" id="{838D57E2-84FC-E38F-E249-126CA7E0C18F}"/>
                    </a:ext>
                  </a:extLst>
                </p:cNvPr>
                <p:cNvSpPr txBox="1"/>
                <p:nvPr/>
              </p:nvSpPr>
              <p:spPr>
                <a:xfrm>
                  <a:off x="9677" y="3515"/>
                  <a:ext cx="931" cy="5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altLang="de-AT" sz="900">
                      <a:solidFill>
                        <a:schemeClr val="dk1"/>
                      </a:solidFill>
                    </a:rPr>
                    <a:t>10 km</a:t>
                  </a:r>
                </a:p>
              </p:txBody>
            </p:sp>
          </p:grp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A161376-C606-9ECD-A4E1-6346214EE5BB}"/>
                </a:ext>
              </a:extLst>
            </p:cNvPr>
            <p:cNvSpPr txBox="1"/>
            <p:nvPr/>
          </p:nvSpPr>
          <p:spPr>
            <a:xfrm>
              <a:off x="5093597" y="5186802"/>
              <a:ext cx="69646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2016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6286242-B70A-E3B8-904F-5A4952EB270F}"/>
                </a:ext>
              </a:extLst>
            </p:cNvPr>
            <p:cNvSpPr txBox="1"/>
            <p:nvPr/>
          </p:nvSpPr>
          <p:spPr>
            <a:xfrm>
              <a:off x="7391390" y="5162907"/>
              <a:ext cx="69646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2023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337323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组合 58"/>
          <p:cNvGrpSpPr/>
          <p:nvPr/>
        </p:nvGrpSpPr>
        <p:grpSpPr>
          <a:xfrm>
            <a:off x="4235975" y="5437111"/>
            <a:ext cx="5898681" cy="3612647"/>
            <a:chOff x="1301" y="464"/>
            <a:chExt cx="16514" cy="10114"/>
          </a:xfrm>
        </p:grpSpPr>
        <p:grpSp>
          <p:nvGrpSpPr>
            <p:cNvPr id="33" name="组合 32"/>
            <p:cNvGrpSpPr/>
            <p:nvPr/>
          </p:nvGrpSpPr>
          <p:grpSpPr>
            <a:xfrm>
              <a:off x="1301" y="1635"/>
              <a:ext cx="16514" cy="6542"/>
              <a:chOff x="0" y="1154"/>
              <a:chExt cx="19116" cy="7572"/>
            </a:xfrm>
          </p:grpSpPr>
          <p:pic>
            <p:nvPicPr>
              <p:cNvPr id="6" name="图片 5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0" y="1154"/>
                <a:ext cx="19116" cy="7538"/>
              </a:xfrm>
              <a:prstGeom prst="rect">
                <a:avLst/>
              </a:prstGeom>
            </p:spPr>
          </p:pic>
          <p:sp>
            <p:nvSpPr>
              <p:cNvPr id="7" name="矩形 6"/>
              <p:cNvSpPr/>
              <p:nvPr/>
            </p:nvSpPr>
            <p:spPr>
              <a:xfrm>
                <a:off x="161" y="1193"/>
                <a:ext cx="630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8" name="矩形 7"/>
              <p:cNvSpPr/>
              <p:nvPr/>
            </p:nvSpPr>
            <p:spPr>
              <a:xfrm rot="5400000">
                <a:off x="4742" y="4127"/>
                <a:ext cx="630" cy="853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9418" y="1193"/>
                <a:ext cx="986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0" name="矩形 9"/>
              <p:cNvSpPr/>
              <p:nvPr/>
            </p:nvSpPr>
            <p:spPr>
              <a:xfrm rot="5400000">
                <a:off x="14022" y="3732"/>
                <a:ext cx="630" cy="935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984" y="843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1F77B4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1F77B4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9467BD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9467BD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2CA02C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2CA02C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22" name="乘号 21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9467BD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</a:p>
            </p:txBody>
          </p:sp>
          <p:sp>
            <p:nvSpPr>
              <p:cNvPr id="24" name="乘号 23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9467BD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</a:p>
            </p:txBody>
          </p:sp>
          <p:sp>
            <p:nvSpPr>
              <p:cNvPr id="26" name="乘号 25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2CA02C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28" name="乘号 27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2CA02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31" name="乘号 30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1F77B4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4" name="乘号 33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1F77B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Structural Zero Params</a:t>
                  </a: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5263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8394" y="7617"/>
              <a:ext cx="10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100%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06" y="7601"/>
              <a:ext cx="25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424" y="165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0.6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415" y="484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0.3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441" y="1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6173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probability(α)</a:t>
              </a: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6838" y="7632"/>
              <a:ext cx="7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70%</a:t>
              </a: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0288" y="7670"/>
              <a:ext cx="871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20%</a:t>
              </a: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9666" y="2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483" y="4691"/>
              <a:ext cx="77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9746" y="140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4398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probability(κ)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本框 51"/>
                <p:cNvSpPr txBox="1"/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Actual Construction Params</a:t>
                  </a: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52" name="文本框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文本框 52"/>
            <p:cNvSpPr txBox="1"/>
            <p:nvPr/>
          </p:nvSpPr>
          <p:spPr>
            <a:xfrm>
              <a:off x="14149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9436" y="7076"/>
              <a:ext cx="76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6781" y="4616"/>
              <a:ext cx="2574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β = 0.3</a:t>
              </a: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10380" y="3475"/>
              <a:ext cx="2574" cy="10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 = -0.09</a:t>
              </a:r>
            </a:p>
          </p:txBody>
        </p:sp>
      </p:grp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4247554" y="5312111"/>
            <a:ext cx="5892251" cy="3737664"/>
            <a:chOff x="1333" y="114"/>
            <a:chExt cx="16496" cy="10464"/>
          </a:xfrm>
        </p:grpSpPr>
        <p:grpSp>
          <p:nvGrpSpPr>
            <p:cNvPr id="30" name="组合 29"/>
            <p:cNvGrpSpPr/>
            <p:nvPr/>
          </p:nvGrpSpPr>
          <p:grpSpPr>
            <a:xfrm>
              <a:off x="1333" y="114"/>
              <a:ext cx="16496" cy="10464"/>
              <a:chOff x="1333" y="114"/>
              <a:chExt cx="16496" cy="10464"/>
            </a:xfrm>
          </p:grpSpPr>
          <p:pic>
            <p:nvPicPr>
              <p:cNvPr id="3" name="图片 2"/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33" y="1508"/>
                <a:ext cx="16496" cy="6670"/>
              </a:xfrm>
              <a:prstGeom prst="rect">
                <a:avLst/>
              </a:prstGeom>
            </p:spPr>
          </p:pic>
          <p:grpSp>
            <p:nvGrpSpPr>
              <p:cNvPr id="33" name="组合 32"/>
              <p:cNvGrpSpPr/>
              <p:nvPr/>
            </p:nvGrpSpPr>
            <p:grpSpPr>
              <a:xfrm>
                <a:off x="1440" y="1669"/>
                <a:ext cx="16289" cy="6551"/>
                <a:chOff x="161" y="1193"/>
                <a:chExt cx="18855" cy="7582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161" y="1193"/>
                  <a:ext cx="630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4742" y="4193"/>
                  <a:ext cx="630" cy="853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9" name="矩形 8"/>
                <p:cNvSpPr/>
                <p:nvPr/>
              </p:nvSpPr>
              <p:spPr>
                <a:xfrm>
                  <a:off x="9418" y="1193"/>
                  <a:ext cx="986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0" name="矩形 9"/>
                <p:cNvSpPr/>
                <p:nvPr/>
              </p:nvSpPr>
              <p:spPr>
                <a:xfrm rot="5400000">
                  <a:off x="14022" y="3732"/>
                  <a:ext cx="630" cy="935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>
                <a:off x="1984" y="8434"/>
                <a:ext cx="15595" cy="2144"/>
                <a:chOff x="2352" y="8858"/>
                <a:chExt cx="15488" cy="2144"/>
              </a:xfrm>
            </p:grpSpPr>
            <p:sp>
              <p:nvSpPr>
                <p:cNvPr id="32" name="文本框 31"/>
                <p:cNvSpPr txBox="1"/>
                <p:nvPr/>
              </p:nvSpPr>
              <p:spPr>
                <a:xfrm>
                  <a:off x="13434" y="9840"/>
                  <a:ext cx="4406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2016</a:t>
                  </a:r>
                </a:p>
              </p:txBody>
            </p:sp>
            <p:sp>
              <p:nvSpPr>
                <p:cNvPr id="4" name="文本框 3"/>
                <p:cNvSpPr txBox="1"/>
                <p:nvPr/>
              </p:nvSpPr>
              <p:spPr>
                <a:xfrm>
                  <a:off x="13434" y="8858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2016</a:t>
                  </a:r>
                </a:p>
              </p:txBody>
            </p:sp>
            <p:sp>
              <p:nvSpPr>
                <p:cNvPr id="11" name="椭圆 10"/>
                <p:cNvSpPr/>
                <p:nvPr/>
              </p:nvSpPr>
              <p:spPr>
                <a:xfrm>
                  <a:off x="13067" y="8972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3067" y="9435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3" name="文本框 12"/>
                <p:cNvSpPr txBox="1"/>
                <p:nvPr/>
              </p:nvSpPr>
              <p:spPr>
                <a:xfrm>
                  <a:off x="13434" y="9349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2023</a:t>
                  </a:r>
                </a:p>
              </p:txBody>
            </p:sp>
            <p:sp>
              <p:nvSpPr>
                <p:cNvPr id="14" name="文本框 13"/>
                <p:cNvSpPr txBox="1"/>
                <p:nvPr/>
              </p:nvSpPr>
              <p:spPr>
                <a:xfrm>
                  <a:off x="2848" y="8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2016</a:t>
                  </a:r>
                </a:p>
              </p:txBody>
            </p:sp>
            <p:sp>
              <p:nvSpPr>
                <p:cNvPr id="15" name="椭圆 14"/>
                <p:cNvSpPr/>
                <p:nvPr/>
              </p:nvSpPr>
              <p:spPr>
                <a:xfrm>
                  <a:off x="2465" y="8972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16" name="椭圆 15"/>
                <p:cNvSpPr/>
                <p:nvPr/>
              </p:nvSpPr>
              <p:spPr>
                <a:xfrm>
                  <a:off x="2465" y="9435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2848" y="9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2023</a:t>
                  </a:r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7053" y="8858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South&amp;South-east Asia, 2016</a:t>
                  </a:r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6647" y="8972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0" name="椭圆 19"/>
                <p:cNvSpPr/>
                <p:nvPr/>
              </p:nvSpPr>
              <p:spPr>
                <a:xfrm>
                  <a:off x="6647" y="9435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7053" y="9345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Asia, 2023</a:t>
                  </a:r>
                  <a:endParaRPr lang="en-US" altLang="zh-CN" sz="900"/>
                </a:p>
              </p:txBody>
            </p:sp>
            <p:sp>
              <p:nvSpPr>
                <p:cNvPr id="22" name="乘号 21"/>
                <p:cNvSpPr/>
                <p:nvPr/>
              </p:nvSpPr>
              <p:spPr>
                <a:xfrm>
                  <a:off x="2352" y="9845"/>
                  <a:ext cx="480" cy="480"/>
                </a:xfrm>
                <a:prstGeom prst="mathMultiply">
                  <a:avLst/>
                </a:prstGeom>
                <a:solidFill>
                  <a:srgbClr val="E85748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2848" y="9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2016</a:t>
                  </a:r>
                </a:p>
              </p:txBody>
            </p:sp>
            <p:sp>
              <p:nvSpPr>
                <p:cNvPr id="24" name="乘号 23"/>
                <p:cNvSpPr/>
                <p:nvPr/>
              </p:nvSpPr>
              <p:spPr>
                <a:xfrm>
                  <a:off x="2352" y="10359"/>
                  <a:ext cx="480" cy="480"/>
                </a:xfrm>
                <a:prstGeom prst="mathMultiply">
                  <a:avLst/>
                </a:prstGeom>
                <a:solidFill>
                  <a:srgbClr val="E85748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5" name="文本框 24"/>
                <p:cNvSpPr txBox="1"/>
                <p:nvPr/>
              </p:nvSpPr>
              <p:spPr>
                <a:xfrm>
                  <a:off x="2848" y="10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2023</a:t>
                  </a:r>
                </a:p>
              </p:txBody>
            </p:sp>
            <p:sp>
              <p:nvSpPr>
                <p:cNvPr id="26" name="乘号 25"/>
                <p:cNvSpPr/>
                <p:nvPr/>
              </p:nvSpPr>
              <p:spPr>
                <a:xfrm>
                  <a:off x="6534" y="9845"/>
                  <a:ext cx="480" cy="480"/>
                </a:xfrm>
                <a:prstGeom prst="mathMultiply">
                  <a:avLst/>
                </a:prstGeom>
                <a:solidFill>
                  <a:srgbClr val="F39F1B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7053" y="9832"/>
                  <a:ext cx="5582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2016</a:t>
                  </a:r>
                  <a:endParaRPr lang="zh-CN" altLang="en-US" sz="900">
                    <a:ea typeface="宋体" panose="02010600030101010101" pitchFamily="2" charset="-122"/>
                    <a:sym typeface="+mn-ea"/>
                  </a:endParaRPr>
                </a:p>
              </p:txBody>
            </p:sp>
            <p:sp>
              <p:nvSpPr>
                <p:cNvPr id="28" name="乘号 27"/>
                <p:cNvSpPr/>
                <p:nvPr/>
              </p:nvSpPr>
              <p:spPr>
                <a:xfrm>
                  <a:off x="6534" y="10359"/>
                  <a:ext cx="480" cy="480"/>
                </a:xfrm>
                <a:prstGeom prst="mathMultiply">
                  <a:avLst/>
                </a:prstGeom>
                <a:solidFill>
                  <a:srgbClr val="F39F1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7053" y="10319"/>
                  <a:ext cx="5581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2023</a:t>
                  </a:r>
                  <a:endParaRPr lang="en-US" altLang="zh-CN" sz="900"/>
                </a:p>
              </p:txBody>
            </p:sp>
            <p:sp>
              <p:nvSpPr>
                <p:cNvPr id="31" name="乘号 30"/>
                <p:cNvSpPr/>
                <p:nvPr/>
              </p:nvSpPr>
              <p:spPr>
                <a:xfrm>
                  <a:off x="12954" y="9845"/>
                  <a:ext cx="480" cy="480"/>
                </a:xfrm>
                <a:prstGeom prst="mathMultiply">
                  <a:avLst/>
                </a:prstGeom>
                <a:solidFill>
                  <a:srgbClr val="47A2DE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4" name="乘号 33"/>
                <p:cNvSpPr/>
                <p:nvPr/>
              </p:nvSpPr>
              <p:spPr>
                <a:xfrm>
                  <a:off x="12954" y="10359"/>
                  <a:ext cx="480" cy="480"/>
                </a:xfrm>
                <a:prstGeom prst="mathMultiply">
                  <a:avLst/>
                </a:prstGeom>
                <a:solidFill>
                  <a:srgbClr val="47A2DE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13434" y="10331"/>
                  <a:ext cx="4228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2023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Structural Zero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文本框 36"/>
              <p:cNvSpPr txBox="1"/>
              <p:nvPr/>
            </p:nvSpPr>
            <p:spPr>
              <a:xfrm>
                <a:off x="5263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8394" y="7617"/>
                <a:ext cx="10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100%</a:t>
                </a:r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1706" y="7601"/>
                <a:ext cx="25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424" y="165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0.6</a:t>
                </a:r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415" y="484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0.3</a:t>
                </a:r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441" y="1210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</a:p>
            </p:txBody>
          </p:sp>
          <p:sp>
            <p:nvSpPr>
              <p:cNvPr id="43" name="文本框 42"/>
              <p:cNvSpPr txBox="1"/>
              <p:nvPr/>
            </p:nvSpPr>
            <p:spPr>
              <a:xfrm>
                <a:off x="6173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probability(α)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16838" y="7632"/>
                <a:ext cx="7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70%</a:t>
                </a:r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10288" y="7670"/>
                <a:ext cx="871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20%</a:t>
                </a: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9666" y="2267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9483" y="4691"/>
                <a:ext cx="77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-0.2</a:t>
                </a: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9746" y="140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4398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probability(κ)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Actual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" name="文本框 52"/>
              <p:cNvSpPr txBox="1"/>
              <p:nvPr/>
            </p:nvSpPr>
            <p:spPr>
              <a:xfrm>
                <a:off x="14149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9436" y="7076"/>
                <a:ext cx="76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-0.4</a:t>
                </a:r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6781" y="4584"/>
                <a:ext cx="2574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β = 0.3</a:t>
                </a: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10380" y="3395"/>
                <a:ext cx="2574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-0.09</a:t>
                </a: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958" y="114"/>
                <a:ext cx="15623" cy="83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sz="135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Horizontal Construction Params</a:t>
                </a:r>
              </a:p>
            </p:txBody>
          </p:sp>
        </p:grpSp>
        <p:sp>
          <p:nvSpPr>
            <p:cNvPr id="54" name="文本框 53"/>
            <p:cNvSpPr txBox="1"/>
            <p:nvPr/>
          </p:nvSpPr>
          <p:spPr>
            <a:xfrm>
              <a:off x="1984" y="6876"/>
              <a:ext cx="215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Low-Constraint, Flat-Gradient</a:t>
              </a: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6781" y="1716"/>
              <a:ext cx="2404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Steep-Gradient</a:t>
              </a:r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3396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Low-Constraint,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Steep-Gradient</a:t>
              </a: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6992" y="4969"/>
              <a:ext cx="2151" cy="11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Flat-Gradient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0380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Flat-Gradient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0388" y="6840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Steep-Gradient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5264" y="166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Flat-Gradient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5278" y="683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Steep-Gradient</a:t>
              </a:r>
            </a:p>
          </p:txBody>
        </p:sp>
      </p:grp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组合 68"/>
          <p:cNvGrpSpPr/>
          <p:nvPr/>
        </p:nvGrpSpPr>
        <p:grpSpPr>
          <a:xfrm>
            <a:off x="3771268" y="5397821"/>
            <a:ext cx="6883818" cy="3555497"/>
            <a:chOff x="0" y="354"/>
            <a:chExt cx="19272" cy="9954"/>
          </a:xfrm>
        </p:grpSpPr>
        <p:pic>
          <p:nvPicPr>
            <p:cNvPr id="4" name="图片 3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0" y="1805"/>
              <a:ext cx="19192" cy="629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9795" y="-1270"/>
              <a:ext cx="544" cy="182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" name="矩形 6"/>
            <p:cNvSpPr/>
            <p:nvPr/>
          </p:nvSpPr>
          <p:spPr>
            <a:xfrm>
              <a:off x="0" y="1648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5" name="矩形 4"/>
            <p:cNvSpPr/>
            <p:nvPr/>
          </p:nvSpPr>
          <p:spPr>
            <a:xfrm>
              <a:off x="6424" y="1487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6" name="矩形 5"/>
            <p:cNvSpPr/>
            <p:nvPr/>
          </p:nvSpPr>
          <p:spPr>
            <a:xfrm>
              <a:off x="12864" y="1616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 b="1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Profile Params</a:t>
                  </a: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04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7" y="6430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212" y="7598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5608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259" y="161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479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84" y="2751"/>
              <a:ext cx="47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" y="4583"/>
              <a:ext cx="73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9600" y="7638"/>
              <a:ext cx="70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-0.2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228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759" y="7638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-0.4</a:t>
              </a: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060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934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624" y="7638"/>
              <a:ext cx="23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0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228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228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228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6228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590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4074" y="765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8106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765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2689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3395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2689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2689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689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2689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</a:p>
          </p:txBody>
        </p:sp>
        <p:grpSp>
          <p:nvGrpSpPr>
            <p:cNvPr id="56" name="组合 55"/>
            <p:cNvGrpSpPr/>
            <p:nvPr/>
          </p:nvGrpSpPr>
          <p:grpSpPr>
            <a:xfrm>
              <a:off x="2061" y="816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50" name="乘号 49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E85748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</a:p>
            </p:txBody>
          </p:sp>
          <p:sp>
            <p:nvSpPr>
              <p:cNvPr id="52" name="乘号 51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E8574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</a:p>
            </p:txBody>
          </p:sp>
          <p:sp>
            <p:nvSpPr>
              <p:cNvPr id="54" name="乘号 53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F39F1B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57" name="乘号 56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F39F1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59" name="乘号 58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47A2DE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0" name="乘号 59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47A2D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</a:p>
            </p:txBody>
          </p:sp>
        </p:grpSp>
        <p:sp>
          <p:nvSpPr>
            <p:cNvPr id="63" name="文本框 62"/>
            <p:cNvSpPr txBox="1"/>
            <p:nvPr/>
          </p:nvSpPr>
          <p:spPr>
            <a:xfrm>
              <a:off x="2432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3917" y="3540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5284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7387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6703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867771" y="6026836"/>
            <a:ext cx="841189" cy="333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B </a:t>
            </a:r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= -0.08</a:t>
            </a:r>
          </a:p>
        </p:txBody>
      </p:sp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/>
          <p:cNvGrpSpPr/>
          <p:nvPr/>
        </p:nvGrpSpPr>
        <p:grpSpPr>
          <a:xfrm>
            <a:off x="3150258" y="4383437"/>
            <a:ext cx="8100119" cy="3554121"/>
            <a:chOff x="0" y="1736"/>
            <a:chExt cx="22678" cy="6706"/>
          </a:xfrm>
        </p:grpSpPr>
        <p:graphicFrame>
          <p:nvGraphicFramePr>
            <p:cNvPr id="3" name="图表 2"/>
            <p:cNvGraphicFramePr/>
            <p:nvPr/>
          </p:nvGraphicFramePr>
          <p:xfrm>
            <a:off x="0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2" name="图表 1"/>
            <p:cNvGraphicFramePr/>
            <p:nvPr/>
          </p:nvGraphicFramePr>
          <p:xfrm>
            <a:off x="11554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6" name="图表 5"/>
            <p:cNvGraphicFramePr/>
            <p:nvPr/>
          </p:nvGraphicFramePr>
          <p:xfrm>
            <a:off x="5639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aphicFrame>
          <p:nvGraphicFramePr>
            <p:cNvPr id="7" name="图表 6"/>
            <p:cNvGraphicFramePr/>
            <p:nvPr/>
          </p:nvGraphicFramePr>
          <p:xfrm>
            <a:off x="17008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  <p:sp>
          <p:nvSpPr>
            <p:cNvPr id="9" name="文本框 8"/>
            <p:cNvSpPr txBox="1"/>
            <p:nvPr/>
          </p:nvSpPr>
          <p:spPr>
            <a:xfrm>
              <a:off x="0" y="1736"/>
              <a:ext cx="11307" cy="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Structural Zero Part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1554" y="1736"/>
              <a:ext cx="11124" cy="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Binomial (Real Construction) Part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265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7841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3632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19208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</a:p>
          </p:txBody>
        </p:sp>
      </p:grp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  <a:t>17</a:t>
            </a:fld>
            <a:endParaRPr lang="de-AT" sz="106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文本框 4"/>
              <p:cNvSpPr txBox="1"/>
              <p:nvPr/>
            </p:nvSpPr>
            <p:spPr>
              <a:xfrm>
                <a:off x="5489682" y="11274130"/>
                <a:ext cx="3511748" cy="52705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AT" sz="1420" i="0" dirty="0">
                        <a:solidFill>
                          <a:schemeClr val="dk1"/>
                        </a:solidFill>
                        <a:latin typeface="Cambria Math" panose="02040503050406030204" charset="0"/>
                      </a:rPr>
                      <m:t>κ</m:t>
                    </m:r>
                  </m:oMath>
                </a14:m>
                <a:r>
                  <a:rPr lang="en-US" altLang="zh-CN" sz="1420" dirty="0">
                    <a:latin typeface="Arial" panose="020B0604020202020204" pitchFamily="34" charset="0"/>
                  </a:rPr>
                  <a:t>: central building presence probability.</a:t>
                </a:r>
              </a:p>
              <a:p>
                <a:pPr algn="ctr"/>
                <a:r>
                  <a:rPr lang="en-US" altLang="zh-CN" sz="1420" dirty="0">
                    <a:latin typeface="Arial" panose="020B0604020202020204" pitchFamily="34" charset="0"/>
                  </a:rPr>
                  <a:t>δ (delta): decay rate.</a:t>
                </a:r>
              </a:p>
            </p:txBody>
          </p:sp>
        </mc:Choice>
        <mc:Fallback xmlns="">
          <p:sp>
            <p:nvSpPr>
              <p:cNvPr id="182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682" y="11274130"/>
                <a:ext cx="3511748" cy="527050"/>
              </a:xfrm>
              <a:prstGeom prst="rect">
                <a:avLst/>
              </a:prstGeom>
              <a:blipFill rotWithShape="1">
                <a:blip r:embed="rId2"/>
                <a:stretch>
                  <a:fillRect l="-3" t="-65" r="9" b="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/>
          <p:cNvGrpSpPr/>
          <p:nvPr/>
        </p:nvGrpSpPr>
        <p:grpSpPr>
          <a:xfrm>
            <a:off x="3427717" y="5909019"/>
            <a:ext cx="7614992" cy="2646798"/>
            <a:chOff x="775" y="2740"/>
            <a:chExt cx="21319" cy="7410"/>
          </a:xfrm>
        </p:grpSpPr>
        <p:grpSp>
          <p:nvGrpSpPr>
            <p:cNvPr id="6" name="组合 5"/>
            <p:cNvGrpSpPr/>
            <p:nvPr/>
          </p:nvGrpSpPr>
          <p:grpSpPr>
            <a:xfrm>
              <a:off x="775" y="2740"/>
              <a:ext cx="21319" cy="6874"/>
              <a:chOff x="1249" y="1357"/>
              <a:chExt cx="21319" cy="6874"/>
            </a:xfrm>
          </p:grpSpPr>
          <p:sp>
            <p:nvSpPr>
              <p:cNvPr id="126" name="Google Shape;421;p29"/>
              <p:cNvSpPr txBox="1"/>
              <p:nvPr/>
            </p:nvSpPr>
            <p:spPr>
              <a:xfrm>
                <a:off x="7112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7" name="Google Shape;422;p29"/>
              <p:cNvSpPr txBox="1"/>
              <p:nvPr/>
            </p:nvSpPr>
            <p:spPr>
              <a:xfrm>
                <a:off x="17905" y="7170"/>
                <a:ext cx="4249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8" name="Google Shape;423;p29"/>
              <p:cNvSpPr txBox="1"/>
              <p:nvPr/>
            </p:nvSpPr>
            <p:spPr>
              <a:xfrm>
                <a:off x="1714" y="7170"/>
                <a:ext cx="4044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9" name="Google Shape;424;p29"/>
              <p:cNvSpPr txBox="1"/>
              <p:nvPr/>
            </p:nvSpPr>
            <p:spPr>
              <a:xfrm>
                <a:off x="12509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32" name="TextBox 12"/>
              <p:cNvSpPr txBox="1"/>
              <p:nvPr/>
            </p:nvSpPr>
            <p:spPr>
              <a:xfrm>
                <a:off x="2886" y="1378"/>
                <a:ext cx="2508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Buildings</a:t>
                </a:r>
              </a:p>
            </p:txBody>
          </p:sp>
          <p:sp>
            <p:nvSpPr>
              <p:cNvPr id="33" name="TextBox 98"/>
              <p:cNvSpPr txBox="1"/>
              <p:nvPr/>
            </p:nvSpPr>
            <p:spPr>
              <a:xfrm>
                <a:off x="11121" y="1505"/>
                <a:ext cx="5239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Constructable Area</a:t>
                </a:r>
              </a:p>
            </p:txBody>
          </p:sp>
          <p:sp>
            <p:nvSpPr>
              <p:cNvPr id="34" name="矩形 33"/>
              <p:cNvSpPr/>
              <p:nvPr/>
            </p:nvSpPr>
            <p:spPr>
              <a:xfrm>
                <a:off x="2073" y="1357"/>
                <a:ext cx="813" cy="813"/>
              </a:xfrm>
              <a:prstGeom prst="rect">
                <a:avLst/>
              </a:prstGeom>
              <a:solidFill>
                <a:srgbClr val="69A2BC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sp>
            <p:nvSpPr>
              <p:cNvPr id="37" name="矩形 36"/>
              <p:cNvSpPr/>
              <p:nvPr/>
            </p:nvSpPr>
            <p:spPr>
              <a:xfrm>
                <a:off x="10309" y="1379"/>
                <a:ext cx="813" cy="813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grpSp>
            <p:nvGrpSpPr>
              <p:cNvPr id="2" name="组合 1"/>
              <p:cNvGrpSpPr/>
              <p:nvPr/>
            </p:nvGrpSpPr>
            <p:grpSpPr>
              <a:xfrm>
                <a:off x="1249" y="2420"/>
                <a:ext cx="4974" cy="4859"/>
                <a:chOff x="1057" y="2049"/>
                <a:chExt cx="4212" cy="4114"/>
              </a:xfrm>
            </p:grpSpPr>
            <p:pic>
              <p:nvPicPr>
                <p:cNvPr id="38" name="图片 37"/>
                <p:cNvPicPr>
                  <a:picLocks noChangeAspect="1"/>
                </p:cNvPicPr>
                <p:nvPr/>
              </p:nvPicPr>
              <p:blipFill>
                <a:blip r:embed="rId3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57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7" name="椭圆 26"/>
                <p:cNvSpPr/>
                <p:nvPr/>
              </p:nvSpPr>
              <p:spPr>
                <a:xfrm>
                  <a:off x="12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3" name="组合 2"/>
              <p:cNvGrpSpPr/>
              <p:nvPr/>
            </p:nvGrpSpPr>
            <p:grpSpPr>
              <a:xfrm>
                <a:off x="6580" y="2420"/>
                <a:ext cx="4974" cy="4859"/>
                <a:chOff x="5571" y="2049"/>
                <a:chExt cx="4212" cy="4114"/>
              </a:xfrm>
            </p:grpSpPr>
            <p:pic>
              <p:nvPicPr>
                <p:cNvPr id="44" name="图片 43"/>
                <p:cNvPicPr>
                  <a:picLocks noChangeAspect="1"/>
                </p:cNvPicPr>
                <p:nvPr/>
              </p:nvPicPr>
              <p:blipFill>
                <a:blip r:embed="rId4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5571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8" name="椭圆 27"/>
                <p:cNvSpPr/>
                <p:nvPr/>
              </p:nvSpPr>
              <p:spPr>
                <a:xfrm>
                  <a:off x="5813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4" name="组合 3"/>
              <p:cNvGrpSpPr/>
              <p:nvPr/>
            </p:nvGrpSpPr>
            <p:grpSpPr>
              <a:xfrm>
                <a:off x="11910" y="2420"/>
                <a:ext cx="4974" cy="4859"/>
                <a:chOff x="10084" y="2049"/>
                <a:chExt cx="4212" cy="4114"/>
              </a:xfrm>
            </p:grpSpPr>
            <p:pic>
              <p:nvPicPr>
                <p:cNvPr id="45" name="图片 44"/>
                <p:cNvPicPr>
                  <a:picLocks noChangeAspect="1"/>
                </p:cNvPicPr>
                <p:nvPr/>
              </p:nvPicPr>
              <p:blipFill>
                <a:blip r:embed="rId5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084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9" name="椭圆 28"/>
                <p:cNvSpPr/>
                <p:nvPr/>
              </p:nvSpPr>
              <p:spPr>
                <a:xfrm>
                  <a:off x="10347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7" name="组合 6"/>
              <p:cNvGrpSpPr/>
              <p:nvPr/>
            </p:nvGrpSpPr>
            <p:grpSpPr>
              <a:xfrm>
                <a:off x="17241" y="2420"/>
                <a:ext cx="4974" cy="4859"/>
                <a:chOff x="14598" y="2049"/>
                <a:chExt cx="4212" cy="4114"/>
              </a:xfrm>
            </p:grpSpPr>
            <p:pic>
              <p:nvPicPr>
                <p:cNvPr id="46" name="图片 45"/>
                <p:cNvPicPr>
                  <a:picLocks noChangeAspect="1"/>
                </p:cNvPicPr>
                <p:nvPr/>
              </p:nvPicPr>
              <p:blipFill>
                <a:blip r:embed="rId6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4598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30" name="椭圆 29"/>
                <p:cNvSpPr/>
                <p:nvPr/>
              </p:nvSpPr>
              <p:spPr>
                <a:xfrm>
                  <a:off x="148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sp>
            <p:nvSpPr>
              <p:cNvPr id="31" name="TextBox 12"/>
              <p:cNvSpPr txBox="1"/>
              <p:nvPr/>
            </p:nvSpPr>
            <p:spPr>
              <a:xfrm>
                <a:off x="6570" y="1378"/>
                <a:ext cx="3374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Structural Zeros</a:t>
                </a: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5768" y="1357"/>
                <a:ext cx="813" cy="813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文本框 87"/>
                  <p:cNvSpPr txBox="1"/>
                  <p:nvPr/>
                </p:nvSpPr>
                <p:spPr>
                  <a:xfrm>
                    <a:off x="15324" y="1378"/>
                    <a:ext cx="7244" cy="94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t">
                    <a:spAutoFit/>
                  </a:bodyPr>
                  <a:lstStyle/>
                  <a:p>
                    <a:pPr marL="0" indent="0">
                      <a:lnSpc>
                        <a:spcPct val="100000"/>
                      </a:lnSpc>
                      <a:spcBef>
                        <a:spcPts val="1200"/>
                      </a:spcBef>
                      <a:buFont typeface="Wingdings" panose="05000000000000000000" charset="0"/>
                      <a:buNone/>
                    </a:pPr>
                    <a14:m>
                      <m:oMath xmlns:m="http://schemas.openxmlformats.org/officeDocument/2006/math"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 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 </m:t>
                        </m:r>
                      </m:oMath>
                    </a14:m>
                    <a:r>
                      <a:rPr lang="en-US" sz="1595" dirty="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 </a:t>
                    </a:r>
                    <a:endParaRPr lang="en-US" altLang="en-US" sz="1595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endParaRPr>
                  </a:p>
                </p:txBody>
              </p:sp>
            </mc:Choice>
            <mc:Fallback xmlns="">
              <p:sp>
                <p:nvSpPr>
                  <p:cNvPr id="88" name="文本框 8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24" y="1378"/>
                    <a:ext cx="7244" cy="94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1" name="文本框 60"/>
            <p:cNvSpPr txBox="1"/>
            <p:nvPr/>
          </p:nvSpPr>
          <p:spPr>
            <a:xfrm>
              <a:off x="6703" y="9322"/>
              <a:ext cx="4100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Thinly built</a:t>
              </a: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050" y="9322"/>
              <a:ext cx="4604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sparse</a:t>
              </a: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7634" y="9322"/>
              <a:ext cx="3810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Core-dense</a:t>
              </a: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1759" y="9322"/>
              <a:ext cx="4599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dense</a:t>
              </a:r>
            </a:p>
          </p:txBody>
        </p:sp>
      </p:grpSp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组合 71"/>
          <p:cNvGrpSpPr/>
          <p:nvPr/>
        </p:nvGrpSpPr>
        <p:grpSpPr>
          <a:xfrm>
            <a:off x="3554730" y="2071370"/>
            <a:ext cx="7552055" cy="3625215"/>
            <a:chOff x="5599" y="8364"/>
            <a:chExt cx="11893" cy="5709"/>
          </a:xfrm>
        </p:grpSpPr>
        <p:sp>
          <p:nvSpPr>
            <p:cNvPr id="73" name="矩形 72"/>
            <p:cNvSpPr/>
            <p:nvPr/>
          </p:nvSpPr>
          <p:spPr>
            <a:xfrm>
              <a:off x="5600" y="8364"/>
              <a:ext cx="11893" cy="55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3" name="图片 2"/>
            <p:cNvPicPr/>
            <p:nvPr/>
          </p:nvPicPr>
          <p:blipFill>
            <a:blip r:embed="rId3"/>
            <a:srcRect t="6059" r="30212" b="5321"/>
            <a:stretch>
              <a:fillRect/>
            </a:stretch>
          </p:blipFill>
          <p:spPr>
            <a:xfrm>
              <a:off x="11079" y="8810"/>
              <a:ext cx="5538" cy="3513"/>
            </a:xfrm>
            <a:prstGeom prst="rect">
              <a:avLst/>
            </a:prstGeom>
          </p:spPr>
        </p:pic>
        <p:pic>
          <p:nvPicPr>
            <p:cNvPr id="2" name="图片 1"/>
            <p:cNvPicPr/>
            <p:nvPr/>
          </p:nvPicPr>
          <p:blipFill>
            <a:blip r:embed="rId4"/>
            <a:srcRect t="6058" r="32331" b="5235"/>
            <a:stretch>
              <a:fillRect/>
            </a:stretch>
          </p:blipFill>
          <p:spPr>
            <a:xfrm>
              <a:off x="5599" y="8848"/>
              <a:ext cx="5214" cy="3417"/>
            </a:xfrm>
            <a:prstGeom prst="rect">
              <a:avLst/>
            </a:prstGeom>
          </p:spPr>
        </p:pic>
        <p:sp>
          <p:nvSpPr>
            <p:cNvPr id="55" name="文本框 54"/>
            <p:cNvSpPr txBox="1"/>
            <p:nvPr/>
          </p:nvSpPr>
          <p:spPr>
            <a:xfrm>
              <a:off x="11917" y="12232"/>
              <a:ext cx="993" cy="3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Africa</a:t>
              </a:r>
            </a:p>
          </p:txBody>
        </p:sp>
        <p:sp>
          <p:nvSpPr>
            <p:cNvPr id="56" name="文本框 55"/>
            <p:cNvSpPr txBox="1"/>
            <p:nvPr/>
          </p:nvSpPr>
          <p:spPr>
            <a:xfrm>
              <a:off x="13193" y="12230"/>
              <a:ext cx="1758" cy="6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South &amp; Southeast Asia</a:t>
              </a:r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15010" y="12233"/>
              <a:ext cx="1122" cy="6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Latin</a:t>
              </a:r>
            </a:p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America</a:t>
              </a: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834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2438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3382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3986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4987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5591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6195" y="13258"/>
              <a:ext cx="415" cy="249"/>
            </a:xfrm>
            <a:prstGeom prst="rect">
              <a:avLst/>
            </a:prstGeom>
            <a:solidFill>
              <a:srgbClr val="9EDAE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6680" y="13222"/>
              <a:ext cx="1918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Developable</a:t>
              </a:r>
            </a:p>
          </p:txBody>
        </p:sp>
        <p:sp>
          <p:nvSpPr>
            <p:cNvPr id="16" name="矩形 15"/>
            <p:cNvSpPr/>
            <p:nvPr/>
          </p:nvSpPr>
          <p:spPr>
            <a:xfrm>
              <a:off x="6195" y="13568"/>
              <a:ext cx="415" cy="249"/>
            </a:xfrm>
            <a:prstGeom prst="rect">
              <a:avLst/>
            </a:prstGeom>
            <a:solidFill>
              <a:srgbClr val="F7B6D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680" y="13531"/>
              <a:ext cx="2076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Constrianed</a:t>
              </a:r>
            </a:p>
          </p:txBody>
        </p:sp>
        <p:sp>
          <p:nvSpPr>
            <p:cNvPr id="18" name="矩形 17"/>
            <p:cNvSpPr/>
            <p:nvPr/>
          </p:nvSpPr>
          <p:spPr>
            <a:xfrm>
              <a:off x="8824" y="13246"/>
              <a:ext cx="415" cy="249"/>
            </a:xfrm>
            <a:prstGeom prst="rect">
              <a:avLst/>
            </a:prstGeom>
            <a:solidFill>
              <a:srgbClr val="D6272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9" name="矩形 18"/>
            <p:cNvSpPr/>
            <p:nvPr/>
          </p:nvSpPr>
          <p:spPr>
            <a:xfrm>
              <a:off x="8824" y="13556"/>
              <a:ext cx="415" cy="249"/>
            </a:xfrm>
            <a:prstGeom prst="rect">
              <a:avLst/>
            </a:prstGeom>
            <a:solidFill>
              <a:srgbClr val="1F77B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9304" y="13234"/>
              <a:ext cx="2272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Core-Open, Edge-Locked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9304" y="13519"/>
              <a:ext cx="2272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Core-Limited, Edge-Locked</a:t>
              </a: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7254" y="12936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α-β Categories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5600" y="8364"/>
              <a:ext cx="5213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/>
                <a:t>(a) Horizontal Constraint Types</a:t>
              </a: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0966" y="8364"/>
              <a:ext cx="6113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/>
                <a:t>(b) Horizontal Construction Types</a:t>
              </a:r>
            </a:p>
          </p:txBody>
        </p:sp>
        <p:sp>
          <p:nvSpPr>
            <p:cNvPr id="46" name="矩形 45"/>
            <p:cNvSpPr/>
            <p:nvPr/>
          </p:nvSpPr>
          <p:spPr>
            <a:xfrm>
              <a:off x="12094" y="13258"/>
              <a:ext cx="415" cy="249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2579" y="13222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Sparse</a:t>
              </a:r>
            </a:p>
          </p:txBody>
        </p:sp>
        <p:sp>
          <p:nvSpPr>
            <p:cNvPr id="48" name="矩形 47"/>
            <p:cNvSpPr/>
            <p:nvPr/>
          </p:nvSpPr>
          <p:spPr>
            <a:xfrm>
              <a:off x="12094" y="13568"/>
              <a:ext cx="415" cy="249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2579" y="13543"/>
              <a:ext cx="3165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Dense</a:t>
              </a:r>
            </a:p>
          </p:txBody>
        </p:sp>
        <p:sp>
          <p:nvSpPr>
            <p:cNvPr id="50" name="矩形 49"/>
            <p:cNvSpPr/>
            <p:nvPr/>
          </p:nvSpPr>
          <p:spPr>
            <a:xfrm>
              <a:off x="14092" y="13246"/>
              <a:ext cx="415" cy="249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1" name="矩形 50"/>
            <p:cNvSpPr/>
            <p:nvPr/>
          </p:nvSpPr>
          <p:spPr>
            <a:xfrm>
              <a:off x="14092" y="13556"/>
              <a:ext cx="415" cy="249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4572" y="13234"/>
              <a:ext cx="2506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Small-Core, Sparse-Periphery</a:t>
              </a: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4572" y="13519"/>
              <a:ext cx="2507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Dense-Core, Sparse-Periphery</a:t>
              </a: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2952" y="12900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κ-δ Categories</a:t>
              </a:r>
            </a:p>
          </p:txBody>
        </p:sp>
        <p:grpSp>
          <p:nvGrpSpPr>
            <p:cNvPr id="70" name="组合 69"/>
            <p:cNvGrpSpPr/>
            <p:nvPr/>
          </p:nvGrpSpPr>
          <p:grpSpPr>
            <a:xfrm>
              <a:off x="6298" y="8820"/>
              <a:ext cx="4295" cy="4046"/>
              <a:chOff x="3143" y="2576"/>
              <a:chExt cx="6906" cy="6504"/>
            </a:xfrm>
          </p:grpSpPr>
          <p:sp>
            <p:nvSpPr>
              <p:cNvPr id="10" name="文本框 9"/>
              <p:cNvSpPr txBox="1"/>
              <p:nvPr/>
            </p:nvSpPr>
            <p:spPr>
              <a:xfrm>
                <a:off x="3279" y="8057"/>
                <a:ext cx="1602" cy="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Africa</a:t>
                </a:r>
              </a:p>
            </p:txBody>
          </p:sp>
          <p:sp>
            <p:nvSpPr>
              <p:cNvPr id="11" name="文本框 10"/>
              <p:cNvSpPr txBox="1"/>
              <p:nvPr/>
            </p:nvSpPr>
            <p:spPr>
              <a:xfrm>
                <a:off x="5187" y="8058"/>
                <a:ext cx="2769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South &amp; Southeast Asia</a:t>
                </a:r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8099" y="8058"/>
                <a:ext cx="1810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Latin</a:t>
                </a:r>
              </a:p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America</a:t>
                </a: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3143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4118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5642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6617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8141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9116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</p:grpSp>
      </p:grpSp>
      <p:grpSp>
        <p:nvGrpSpPr>
          <p:cNvPr id="9" name="组合 8"/>
          <p:cNvGrpSpPr/>
          <p:nvPr/>
        </p:nvGrpSpPr>
        <p:grpSpPr>
          <a:xfrm>
            <a:off x="5178425" y="7110730"/>
            <a:ext cx="4069715" cy="3889375"/>
            <a:chOff x="5457" y="1090"/>
            <a:chExt cx="10553" cy="10888"/>
          </a:xfrm>
        </p:grpSpPr>
        <p:sp>
          <p:nvSpPr>
            <p:cNvPr id="4" name="矩形 3"/>
            <p:cNvSpPr/>
            <p:nvPr/>
          </p:nvSpPr>
          <p:spPr>
            <a:xfrm>
              <a:off x="5457" y="1090"/>
              <a:ext cx="10553" cy="1077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8" name="图片 7"/>
            <p:cNvPicPr/>
            <p:nvPr/>
          </p:nvPicPr>
          <p:blipFill>
            <a:blip r:embed="rId5"/>
            <a:srcRect r="23787" b="5455"/>
            <a:stretch>
              <a:fillRect/>
            </a:stretch>
          </p:blipFill>
          <p:spPr>
            <a:xfrm>
              <a:off x="5683" y="2161"/>
              <a:ext cx="9394" cy="5868"/>
            </a:xfrm>
            <a:prstGeom prst="rect">
              <a:avLst/>
            </a:prstGeom>
          </p:spPr>
        </p:pic>
        <p:sp>
          <p:nvSpPr>
            <p:cNvPr id="5" name="文本框 4"/>
            <p:cNvSpPr txBox="1"/>
            <p:nvPr/>
          </p:nvSpPr>
          <p:spPr>
            <a:xfrm>
              <a:off x="6120" y="1175"/>
              <a:ext cx="9268" cy="8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dirty="0"/>
                <a:t>Vertical - Height</a:t>
              </a:r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8369" y="9019"/>
              <a:ext cx="56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Vertical Profile Categories</a:t>
              </a:r>
            </a:p>
          </p:txBody>
        </p:sp>
        <p:grpSp>
          <p:nvGrpSpPr>
            <p:cNvPr id="7" name="组合 6"/>
            <p:cNvGrpSpPr/>
            <p:nvPr/>
          </p:nvGrpSpPr>
          <p:grpSpPr>
            <a:xfrm>
              <a:off x="6974" y="1967"/>
              <a:ext cx="7820" cy="7193"/>
              <a:chOff x="3143" y="2576"/>
              <a:chExt cx="7072" cy="6504"/>
            </a:xfrm>
          </p:grpSpPr>
          <p:sp>
            <p:nvSpPr>
              <p:cNvPr id="13" name="文本框 12"/>
              <p:cNvSpPr txBox="1"/>
              <p:nvPr/>
            </p:nvSpPr>
            <p:spPr>
              <a:xfrm>
                <a:off x="3279" y="8057"/>
                <a:ext cx="1602" cy="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Africa</a:t>
                </a:r>
              </a:p>
            </p:txBody>
          </p:sp>
          <p:sp>
            <p:nvSpPr>
              <p:cNvPr id="22" name="文本框 21"/>
              <p:cNvSpPr txBox="1"/>
              <p:nvPr/>
            </p:nvSpPr>
            <p:spPr>
              <a:xfrm>
                <a:off x="5397" y="8058"/>
                <a:ext cx="2558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South &amp; Southeast Asia</a:t>
                </a: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8099" y="7743"/>
                <a:ext cx="2116" cy="9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Latin</a:t>
                </a:r>
              </a:p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America</a:t>
                </a:r>
              </a:p>
            </p:txBody>
          </p:sp>
          <p:sp>
            <p:nvSpPr>
              <p:cNvPr id="24" name="文本框 23"/>
              <p:cNvSpPr txBox="1"/>
              <p:nvPr/>
            </p:nvSpPr>
            <p:spPr>
              <a:xfrm>
                <a:off x="3143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4118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5642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6617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8141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9116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</p:grpSp>
        <p:sp>
          <p:nvSpPr>
            <p:cNvPr id="32" name="矩形 31"/>
            <p:cNvSpPr/>
            <p:nvPr/>
          </p:nvSpPr>
          <p:spPr>
            <a:xfrm>
              <a:off x="7005" y="9636"/>
              <a:ext cx="619" cy="442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3" name="矩形 32"/>
            <p:cNvSpPr/>
            <p:nvPr/>
          </p:nvSpPr>
          <p:spPr>
            <a:xfrm>
              <a:off x="7005" y="10214"/>
              <a:ext cx="619" cy="442"/>
            </a:xfrm>
            <a:prstGeom prst="rect">
              <a:avLst/>
            </a:prstGeom>
            <a:solidFill>
              <a:srgbClr val="FC8D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4" name="文本框 33"/>
            <p:cNvSpPr txBox="1"/>
            <p:nvPr/>
          </p:nvSpPr>
          <p:spPr>
            <a:xfrm>
              <a:off x="7740" y="9636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Crown</a:t>
              </a: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7740" y="10182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Pyramid</a:t>
              </a:r>
            </a:p>
          </p:txBody>
        </p:sp>
        <p:sp>
          <p:nvSpPr>
            <p:cNvPr id="37" name="矩形 36"/>
            <p:cNvSpPr/>
            <p:nvPr/>
          </p:nvSpPr>
          <p:spPr>
            <a:xfrm>
              <a:off x="7005" y="10792"/>
              <a:ext cx="619" cy="442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7740" y="10728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Volcanic</a:t>
              </a:r>
            </a:p>
          </p:txBody>
        </p:sp>
        <p:sp>
          <p:nvSpPr>
            <p:cNvPr id="39" name="矩形 38"/>
            <p:cNvSpPr/>
            <p:nvPr/>
          </p:nvSpPr>
          <p:spPr>
            <a:xfrm>
              <a:off x="11399" y="10812"/>
              <a:ext cx="653" cy="442"/>
            </a:xfrm>
            <a:prstGeom prst="rect">
              <a:avLst/>
            </a:prstGeom>
            <a:solidFill>
              <a:srgbClr val="E5C49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163" y="10784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Pyramid</a:t>
              </a:r>
            </a:p>
          </p:txBody>
        </p:sp>
        <p:sp>
          <p:nvSpPr>
            <p:cNvPr id="41" name="矩形 40"/>
            <p:cNvSpPr/>
            <p:nvPr/>
          </p:nvSpPr>
          <p:spPr>
            <a:xfrm>
              <a:off x="11399" y="9636"/>
              <a:ext cx="653" cy="442"/>
            </a:xfrm>
            <a:prstGeom prst="rect">
              <a:avLst/>
            </a:prstGeom>
            <a:solidFill>
              <a:srgbClr val="A6D85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2" name="矩形 41"/>
            <p:cNvSpPr/>
            <p:nvPr/>
          </p:nvSpPr>
          <p:spPr>
            <a:xfrm>
              <a:off x="11399" y="10242"/>
              <a:ext cx="653" cy="442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12163" y="9636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Bowl</a:t>
              </a: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12163" y="10210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Crown</a:t>
              </a:r>
            </a:p>
          </p:txBody>
        </p:sp>
        <p:sp>
          <p:nvSpPr>
            <p:cNvPr id="45" name="矩形 44"/>
            <p:cNvSpPr/>
            <p:nvPr/>
          </p:nvSpPr>
          <p:spPr>
            <a:xfrm>
              <a:off x="11399" y="11403"/>
              <a:ext cx="653" cy="442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1" name="文本框 70"/>
            <p:cNvSpPr txBox="1"/>
            <p:nvPr/>
          </p:nvSpPr>
          <p:spPr>
            <a:xfrm>
              <a:off x="12163" y="11358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Volcanic</a:t>
              </a:r>
            </a:p>
          </p:txBody>
        </p:sp>
      </p:grp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276*166"/>
  <p:tag name="TABLE_ENDDRAG_RECT" val="820*321*276*166"/>
</p:tagLst>
</file>

<file path=ppt/tags/tag2.xml><?xml version="1.0" encoding="utf-8"?>
<p:tagLst xmlns:p="http://schemas.openxmlformats.org/presentationml/2006/main">
  <p:tag name="TABLE_ENDDRAG_ORIGIN_RECT" val="276*166"/>
  <p:tag name="TABLE_ENDDRAG_RECT" val="820*321*276*166"/>
</p:tagLst>
</file>

<file path=ppt/theme/theme1.xml><?xml version="1.0" encoding="utf-8"?>
<a:theme xmlns:a="http://schemas.openxmlformats.org/drawingml/2006/main" name="WPS">
  <a:themeElements>
    <a:clrScheme name="Custom 1">
      <a:dk1>
        <a:srgbClr val="000000"/>
      </a:dk1>
      <a:lt1>
        <a:srgbClr val="FFFFFF"/>
      </a:lt1>
      <a:dk2>
        <a:srgbClr val="B6E1FF"/>
      </a:dk2>
      <a:lt2>
        <a:srgbClr val="4488FF"/>
      </a:lt2>
      <a:accent1>
        <a:srgbClr val="D3B137"/>
      </a:accent1>
      <a:accent2>
        <a:srgbClr val="FEF436"/>
      </a:accent2>
      <a:accent3>
        <a:srgbClr val="C577E2"/>
      </a:accent3>
      <a:accent4>
        <a:srgbClr val="DAC7FF"/>
      </a:accent4>
      <a:accent5>
        <a:srgbClr val="6EDC8B"/>
      </a:accent5>
      <a:accent6>
        <a:srgbClr val="2AB320"/>
      </a:accent6>
      <a:hlink>
        <a:srgbClr val="B6E1FF"/>
      </a:hlink>
      <a:folHlink>
        <a:srgbClr val="B6E1FF"/>
      </a:folHlink>
    </a:clrScheme>
    <a:fontScheme name="WPS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981</TotalTime>
  <Words>2440</Words>
  <Application>Microsoft Office PowerPoint</Application>
  <PresentationFormat>Custom</PresentationFormat>
  <Paragraphs>779</Paragraphs>
  <Slides>18</Slides>
  <Notes>5</Notes>
  <HiddenSlides>7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宋体</vt:lpstr>
      <vt:lpstr>东文宋体</vt:lpstr>
      <vt:lpstr>Arial</vt:lpstr>
      <vt:lpstr>Cambria Math</vt:lpstr>
      <vt:lpstr>Wingdings</vt:lpstr>
      <vt:lpstr>WPS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April Liang</dc:creator>
  <cp:lastModifiedBy>Jiaqi Liang</cp:lastModifiedBy>
  <cp:revision>54</cp:revision>
  <dcterms:created xsi:type="dcterms:W3CDTF">2026-05-22T16:15:56Z</dcterms:created>
  <dcterms:modified xsi:type="dcterms:W3CDTF">2026-08-14T14:52:17Z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2052-12.1.2.25882</vt:lpwstr>
  </property>
  <property fmtid="{D5CDD505-2E9C-101B-9397-08002B2CF9AE}" pid="3" name="ICV">
    <vt:lpwstr>0364E104D99840A39D3DA0694DD01CB9_41</vt:lpwstr>
  </property>
</Properties>
</file>